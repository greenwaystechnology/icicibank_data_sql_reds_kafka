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27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5 of the Kafka 101 series: replication - how Kafka keeps copies of every partition on several brokers, so that losing a machine does not mean losing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problem. Storing each partition on only one broker would be no good at all. Whether the brokers are bare-metal servers or cloud instances, disks and servers fail - you cannot count on any machine living forever. Here each partition has a single copy; when broker 2 dies, partition 1 goes with it. So Kafka copies partition data to several other brokers.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copying is configurable. You choose a replication factor - here, three - so each partition has three copies in total, each on a different broker. Trainer note: it is set per topic when the topic is created. The broker default (default.replication.factor) is 1, which is fine on a laptop but not in production; and Kafka refuses a factor larger than the number of brokers, because two copies on one broker would not protect anything.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Of the three copies of each partition, one is the leader - the solid one - and the others, drawn ghosted, are followers. There is always exactly one leader, so with a replication factor of n there are n minus one followers. When an application writes or reads, it is almost always talking to the leader. Trainer note: Kafka spreads leadership across the brokers so that each one does a share of the work; by default it also moves leadership back to the 'preferred' broker after a failure is fixed (auto.leader.rebalance.enable).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are the followers doing all day? Keeping up. As new messages are written to the leader, the followers pick them up and write them to their own copy of the log, trying to replicate everything as quickly as possible. Trainer note: followers pull - they send the same kind of fetch request a consumer does. Followers that are caught up form the in-sync replica set (ISR); one that falls more than replica.lag.time.max.ms (30 seconds by default) behind drops out of it. With the default unclean.leader.election.enable=false, only an in-sync replica can be elected leader.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Thanks to replication, if one broker fails you still have two replicas of every partition it held. Broker 2 was the leader of partition 1, so the cluster elects a new leader for P1 from the remaining replicas - here the follower on broker 3. P0 and P2 keep their leaders. Trainer note: 'no data lost' is about acknowledged messages. Producers wait for all in-sync replicas by default (acks=all since Kafka 3.0), and min.insync.replicas - usually 2 with a replication factor of 3 - sets how many copies must have a message before a write succeeds.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a broker down, some partitions now have two copies instead of three - they are under-replicated. Something has to bring the count back to three: restoring the failed broker to health, or making new copies elsewhere. Meanwhile a new leader has been elected, no data has been lost, and the cluster is still up and moving along. Trainer note: Apache Kafka does not create the missing copies on another broker by itself. Either the broker comes back and its replicas catch up from the leaders, or an operator reassigns them (kafka-reassign-partitions.sh, or a tool such as Cruise Control). Managed services such as Confluent Cloud handle this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repeat the rule: when you write, you write to the leader - always, whichever broker happens to be the leader right now. When you read, by default you also read from the leader. Trainer note: clients learn which broker leads each partition from the cluster metadata. If they reach a broker that is no longer the leader, they get an error, refresh the metadata and retry against the new leader - no application code needed.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is one exception to 'read from the leader'. In fairly recent versions of Kafka - since 2.4 - a consumer can be configured to read from the nearest replica. If it sits closer on the network to a broker holding a follower, for example in the same cloud availability zone, it can fetch from that follower because it is faster, and it avoids paying for traffic between zones. If you are pressed for performance, it is an option. Trainer note: this is KIP-392. Each broker sets broker.rack and replica.selector.class; the consumer sets client.rack. Writes are unaffected.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Replication is another feature that matters a great deal if you operate Kafka yourself - running the servers and managing the cluster. With a cloud service it just happens, and you do not need to know how. Either way it is a cornerstone of Kafka's reliability: it is how Kafka delivers fault tolerance, load balancing and healthy performance at scale - and it is all built 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points to leave with. Quick check: with a replication factor of 3, how many brokers can fail before a partition is unavailable? (Two can fail and the last copy still serves - though with min.insync.replicas=2, writes pause until a second copy is back.) And where does a producer send its writes? (Always the current leader.)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Replication</a:t>
            </a:r>
          </a:p>
          <a:p>
            <a:pPr algn="l"/>
            <a:r>
              <a:rPr sz="1450" b="0">
                <a:solidFill>
                  <a:srgbClr val="D6D3D1"/>
                </a:solidFill>
                <a:latin typeface="Segoe UI"/>
              </a:rPr>
              <a:t>copies that keep Kafka running when a broker fails</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FDBA74"/>
                </a:solidFill>
                <a:latin typeface="Consolas"/>
              </a:rPr>
              <a:t>COPIES</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FDBA74"/>
                </a:solidFill>
                <a:latin typeface="Consolas"/>
              </a:rPr>
              <a:t>LEADERS</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FDBA74"/>
                </a:solidFill>
                <a:latin typeface="Consolas"/>
              </a:rPr>
              <a:t>FOLLOWERS</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FDBA74"/>
                </a:solidFill>
                <a:latin typeface="Consolas"/>
              </a:rPr>
              <a:t>FAILOVER</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5  ·  Following the Kafka 101 Replication lesson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A8A29E"/>
                </a:solidFill>
                <a:latin typeface="Consolas"/>
              </a:rPr>
              <a:t>3 partitions  ·  replication factor 3</a:t>
            </a:r>
          </a:p>
        </p:txBody>
      </p:sp>
      <p:sp>
        <p:nvSpPr>
          <p:cNvPr id="50" name="a0fd1100_tb49"/>
          <p:cNvSpPr/>
          <p:nvPr/>
        </p:nvSpPr>
        <p:spPr>
          <a:xfrm>
            <a:off x="5961888" y="1609344"/>
            <a:ext cx="795528" cy="1188720"/>
          </a:xfrm>
          <a:prstGeom prst="roundRect">
            <a:avLst>
              <a:gd name="adj" fmla="val 6896"/>
            </a:avLst>
          </a:prstGeom>
          <a:solidFill>
            <a:srgbClr val="18181B"/>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a0fd1100_tbn50"/>
          <p:cNvSpPr txBox="1"/>
          <p:nvPr/>
        </p:nvSpPr>
        <p:spPr>
          <a:xfrm>
            <a:off x="5961888" y="1664208"/>
            <a:ext cx="795528" cy="219456"/>
          </a:xfrm>
          <a:prstGeom prst="rect">
            <a:avLst/>
          </a:prstGeom>
          <a:noFill/>
        </p:spPr>
        <p:txBody>
          <a:bodyPr wrap="square" lIns="0" tIns="0" rIns="0" bIns="0" anchor="ctr">
            <a:spAutoFit/>
          </a:bodyPr>
          <a:lstStyle/>
          <a:p>
            <a:pPr algn="ctr"/>
            <a:r>
              <a:rPr sz="950" b="1">
                <a:solidFill>
                  <a:srgbClr val="D6D3D1"/>
                </a:solidFill>
                <a:latin typeface="Consolas"/>
              </a:rPr>
              <a:t>B1</a:t>
            </a:r>
          </a:p>
        </p:txBody>
      </p:sp>
      <p:sp>
        <p:nvSpPr>
          <p:cNvPr id="52" name="a0fd1200_tc51"/>
          <p:cNvSpPr/>
          <p:nvPr/>
        </p:nvSpPr>
        <p:spPr>
          <a:xfrm>
            <a:off x="6071616" y="1956816"/>
            <a:ext cx="576072" cy="210312"/>
          </a:xfrm>
          <a:prstGeom prst="roundRect">
            <a:avLst>
              <a:gd name="adj" fmla="val 1304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a0fd1200_tct52"/>
          <p:cNvSpPr txBox="1"/>
          <p:nvPr/>
        </p:nvSpPr>
        <p:spPr>
          <a:xfrm>
            <a:off x="6071616" y="1956816"/>
            <a:ext cx="576072" cy="210312"/>
          </a:xfrm>
          <a:prstGeom prst="rect">
            <a:avLst/>
          </a:prstGeom>
          <a:noFill/>
        </p:spPr>
        <p:txBody>
          <a:bodyPr wrap="square" lIns="0" tIns="0" rIns="0" bIns="0" anchor="ctr">
            <a:spAutoFit/>
          </a:bodyPr>
          <a:lstStyle/>
          <a:p>
            <a:pPr algn="ctr"/>
            <a:r>
              <a:rPr sz="750" b="1">
                <a:solidFill>
                  <a:srgbClr val="FFFFFF"/>
                </a:solidFill>
                <a:latin typeface="Consolas"/>
              </a:rPr>
              <a:t>P0</a:t>
            </a:r>
          </a:p>
        </p:txBody>
      </p:sp>
      <p:sp>
        <p:nvSpPr>
          <p:cNvPr id="54" name="a0fd1280_tc53"/>
          <p:cNvSpPr/>
          <p:nvPr/>
        </p:nvSpPr>
        <p:spPr>
          <a:xfrm>
            <a:off x="6071616" y="2221992"/>
            <a:ext cx="576072" cy="210312"/>
          </a:xfrm>
          <a:prstGeom prst="roundRect">
            <a:avLst>
              <a:gd name="adj" fmla="val 13043"/>
            </a:avLst>
          </a:prstGeom>
          <a:solidFill>
            <a:srgbClr val="18181B"/>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a0fd1280_tct54"/>
          <p:cNvSpPr txBox="1"/>
          <p:nvPr/>
        </p:nvSpPr>
        <p:spPr>
          <a:xfrm>
            <a:off x="6071616" y="2221992"/>
            <a:ext cx="576072" cy="210312"/>
          </a:xfrm>
          <a:prstGeom prst="rect">
            <a:avLst/>
          </a:prstGeom>
          <a:noFill/>
        </p:spPr>
        <p:txBody>
          <a:bodyPr wrap="square" lIns="0" tIns="0" rIns="0" bIns="0" anchor="ctr">
            <a:spAutoFit/>
          </a:bodyPr>
          <a:lstStyle/>
          <a:p>
            <a:pPr algn="ctr"/>
            <a:r>
              <a:rPr sz="750" b="0">
                <a:solidFill>
                  <a:srgbClr val="A5B4FC"/>
                </a:solidFill>
                <a:latin typeface="Consolas"/>
              </a:rPr>
              <a:t>P1</a:t>
            </a:r>
          </a:p>
        </p:txBody>
      </p:sp>
      <p:sp>
        <p:nvSpPr>
          <p:cNvPr id="56" name="a0fd1360_tc55"/>
          <p:cNvSpPr/>
          <p:nvPr/>
        </p:nvSpPr>
        <p:spPr>
          <a:xfrm>
            <a:off x="6071616" y="2487168"/>
            <a:ext cx="576072" cy="210312"/>
          </a:xfrm>
          <a:prstGeom prst="roundRect">
            <a:avLst>
              <a:gd name="adj" fmla="val 13043"/>
            </a:avLst>
          </a:prstGeom>
          <a:solidFill>
            <a:srgbClr val="18181B"/>
          </a:solidFill>
          <a:ln w="12700">
            <a:solidFill>
              <a:srgbClr val="C2410C"/>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a0fd1360_tct56"/>
          <p:cNvSpPr txBox="1"/>
          <p:nvPr/>
        </p:nvSpPr>
        <p:spPr>
          <a:xfrm>
            <a:off x="6071616" y="2487168"/>
            <a:ext cx="576072" cy="210312"/>
          </a:xfrm>
          <a:prstGeom prst="rect">
            <a:avLst/>
          </a:prstGeom>
          <a:noFill/>
        </p:spPr>
        <p:txBody>
          <a:bodyPr wrap="square" lIns="0" tIns="0" rIns="0" bIns="0" anchor="ctr">
            <a:spAutoFit/>
          </a:bodyPr>
          <a:lstStyle/>
          <a:p>
            <a:pPr algn="ctr"/>
            <a:r>
              <a:rPr sz="750" b="0">
                <a:solidFill>
                  <a:srgbClr val="FDBA74"/>
                </a:solidFill>
                <a:latin typeface="Consolas"/>
              </a:rPr>
              <a:t>P2</a:t>
            </a:r>
          </a:p>
        </p:txBody>
      </p:sp>
      <p:sp>
        <p:nvSpPr>
          <p:cNvPr id="58" name="a0fd1350_tb57"/>
          <p:cNvSpPr/>
          <p:nvPr/>
        </p:nvSpPr>
        <p:spPr>
          <a:xfrm>
            <a:off x="6848855" y="1609344"/>
            <a:ext cx="795528" cy="1188720"/>
          </a:xfrm>
          <a:prstGeom prst="roundRect">
            <a:avLst>
              <a:gd name="adj" fmla="val 6896"/>
            </a:avLst>
          </a:prstGeom>
          <a:solidFill>
            <a:srgbClr val="18181B"/>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9" name="a0fd1350_tbn58"/>
          <p:cNvSpPr txBox="1"/>
          <p:nvPr/>
        </p:nvSpPr>
        <p:spPr>
          <a:xfrm>
            <a:off x="6848855" y="1664208"/>
            <a:ext cx="795528" cy="219456"/>
          </a:xfrm>
          <a:prstGeom prst="rect">
            <a:avLst/>
          </a:prstGeom>
          <a:noFill/>
        </p:spPr>
        <p:txBody>
          <a:bodyPr wrap="square" lIns="0" tIns="0" rIns="0" bIns="0" anchor="ctr">
            <a:spAutoFit/>
          </a:bodyPr>
          <a:lstStyle/>
          <a:p>
            <a:pPr algn="ctr"/>
            <a:r>
              <a:rPr sz="950" b="1">
                <a:solidFill>
                  <a:srgbClr val="D6D3D1"/>
                </a:solidFill>
                <a:latin typeface="Consolas"/>
              </a:rPr>
              <a:t>B2</a:t>
            </a:r>
          </a:p>
        </p:txBody>
      </p:sp>
      <p:sp>
        <p:nvSpPr>
          <p:cNvPr id="60" name="a0fd1450_tc59"/>
          <p:cNvSpPr/>
          <p:nvPr/>
        </p:nvSpPr>
        <p:spPr>
          <a:xfrm>
            <a:off x="6958583" y="1956816"/>
            <a:ext cx="576072" cy="210312"/>
          </a:xfrm>
          <a:prstGeom prst="roundRect">
            <a:avLst>
              <a:gd name="adj" fmla="val 13043"/>
            </a:avLst>
          </a:prstGeom>
          <a:solidFill>
            <a:srgbClr val="18181B"/>
          </a:solidFill>
          <a:ln w="12700">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1" name="a0fd1450_tct60"/>
          <p:cNvSpPr txBox="1"/>
          <p:nvPr/>
        </p:nvSpPr>
        <p:spPr>
          <a:xfrm>
            <a:off x="6958583" y="1956816"/>
            <a:ext cx="576072" cy="210312"/>
          </a:xfrm>
          <a:prstGeom prst="rect">
            <a:avLst/>
          </a:prstGeom>
          <a:noFill/>
        </p:spPr>
        <p:txBody>
          <a:bodyPr wrap="square" lIns="0" tIns="0" rIns="0" bIns="0" anchor="ctr">
            <a:spAutoFit/>
          </a:bodyPr>
          <a:lstStyle/>
          <a:p>
            <a:pPr algn="ctr"/>
            <a:r>
              <a:rPr sz="750" b="0">
                <a:solidFill>
                  <a:srgbClr val="22D3EE"/>
                </a:solidFill>
                <a:latin typeface="Consolas"/>
              </a:rPr>
              <a:t>P0</a:t>
            </a:r>
          </a:p>
        </p:txBody>
      </p:sp>
      <p:sp>
        <p:nvSpPr>
          <p:cNvPr id="62" name="a0fd1530_tc61"/>
          <p:cNvSpPr/>
          <p:nvPr/>
        </p:nvSpPr>
        <p:spPr>
          <a:xfrm>
            <a:off x="6958583" y="2221992"/>
            <a:ext cx="576072" cy="210312"/>
          </a:xfrm>
          <a:prstGeom prst="roundRect">
            <a:avLst>
              <a:gd name="adj" fmla="val 13043"/>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a0fd1530_tct62"/>
          <p:cNvSpPr txBox="1"/>
          <p:nvPr/>
        </p:nvSpPr>
        <p:spPr>
          <a:xfrm>
            <a:off x="6958583" y="2221992"/>
            <a:ext cx="576072" cy="210312"/>
          </a:xfrm>
          <a:prstGeom prst="rect">
            <a:avLst/>
          </a:prstGeom>
          <a:noFill/>
        </p:spPr>
        <p:txBody>
          <a:bodyPr wrap="square" lIns="0" tIns="0" rIns="0" bIns="0" anchor="ctr">
            <a:spAutoFit/>
          </a:bodyPr>
          <a:lstStyle/>
          <a:p>
            <a:pPr algn="ctr"/>
            <a:r>
              <a:rPr sz="750" b="1">
                <a:solidFill>
                  <a:srgbClr val="FFFFFF"/>
                </a:solidFill>
                <a:latin typeface="Consolas"/>
              </a:rPr>
              <a:t>P1</a:t>
            </a:r>
          </a:p>
        </p:txBody>
      </p:sp>
      <p:sp>
        <p:nvSpPr>
          <p:cNvPr id="64" name="a0fd1610_tc63"/>
          <p:cNvSpPr/>
          <p:nvPr/>
        </p:nvSpPr>
        <p:spPr>
          <a:xfrm>
            <a:off x="6958583" y="2487168"/>
            <a:ext cx="576072" cy="210312"/>
          </a:xfrm>
          <a:prstGeom prst="roundRect">
            <a:avLst>
              <a:gd name="adj" fmla="val 13043"/>
            </a:avLst>
          </a:prstGeom>
          <a:solidFill>
            <a:srgbClr val="18181B"/>
          </a:solidFill>
          <a:ln w="12700">
            <a:solidFill>
              <a:srgbClr val="C2410C"/>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5" name="a0fd1610_tct64"/>
          <p:cNvSpPr txBox="1"/>
          <p:nvPr/>
        </p:nvSpPr>
        <p:spPr>
          <a:xfrm>
            <a:off x="6958583" y="2487168"/>
            <a:ext cx="576072" cy="210312"/>
          </a:xfrm>
          <a:prstGeom prst="rect">
            <a:avLst/>
          </a:prstGeom>
          <a:noFill/>
        </p:spPr>
        <p:txBody>
          <a:bodyPr wrap="square" lIns="0" tIns="0" rIns="0" bIns="0" anchor="ctr">
            <a:spAutoFit/>
          </a:bodyPr>
          <a:lstStyle/>
          <a:p>
            <a:pPr algn="ctr"/>
            <a:r>
              <a:rPr sz="750" b="0">
                <a:solidFill>
                  <a:srgbClr val="FDBA74"/>
                </a:solidFill>
                <a:latin typeface="Consolas"/>
              </a:rPr>
              <a:t>P2</a:t>
            </a:r>
          </a:p>
        </p:txBody>
      </p:sp>
      <p:sp>
        <p:nvSpPr>
          <p:cNvPr id="66" name="a0fd1600_tb65"/>
          <p:cNvSpPr/>
          <p:nvPr/>
        </p:nvSpPr>
        <p:spPr>
          <a:xfrm>
            <a:off x="7735823" y="1609344"/>
            <a:ext cx="795528" cy="1188720"/>
          </a:xfrm>
          <a:prstGeom prst="roundRect">
            <a:avLst>
              <a:gd name="adj" fmla="val 6896"/>
            </a:avLst>
          </a:prstGeom>
          <a:solidFill>
            <a:srgbClr val="18181B"/>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7" name="a0fd1600_tbn66"/>
          <p:cNvSpPr txBox="1"/>
          <p:nvPr/>
        </p:nvSpPr>
        <p:spPr>
          <a:xfrm>
            <a:off x="7735823" y="1664208"/>
            <a:ext cx="795528" cy="219456"/>
          </a:xfrm>
          <a:prstGeom prst="rect">
            <a:avLst/>
          </a:prstGeom>
          <a:noFill/>
        </p:spPr>
        <p:txBody>
          <a:bodyPr wrap="square" lIns="0" tIns="0" rIns="0" bIns="0" anchor="ctr">
            <a:spAutoFit/>
          </a:bodyPr>
          <a:lstStyle/>
          <a:p>
            <a:pPr algn="ctr"/>
            <a:r>
              <a:rPr sz="950" b="1">
                <a:solidFill>
                  <a:srgbClr val="D6D3D1"/>
                </a:solidFill>
                <a:latin typeface="Consolas"/>
              </a:rPr>
              <a:t>B3</a:t>
            </a:r>
          </a:p>
        </p:txBody>
      </p:sp>
      <p:sp>
        <p:nvSpPr>
          <p:cNvPr id="68" name="a0fd1700_tc67"/>
          <p:cNvSpPr/>
          <p:nvPr/>
        </p:nvSpPr>
        <p:spPr>
          <a:xfrm>
            <a:off x="7845551" y="1956816"/>
            <a:ext cx="576072" cy="210312"/>
          </a:xfrm>
          <a:prstGeom prst="roundRect">
            <a:avLst>
              <a:gd name="adj" fmla="val 13043"/>
            </a:avLst>
          </a:prstGeom>
          <a:solidFill>
            <a:srgbClr val="18181B"/>
          </a:solidFill>
          <a:ln w="12700">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9" name="a0fd1700_tct68"/>
          <p:cNvSpPr txBox="1"/>
          <p:nvPr/>
        </p:nvSpPr>
        <p:spPr>
          <a:xfrm>
            <a:off x="7845551" y="1956816"/>
            <a:ext cx="576072" cy="210312"/>
          </a:xfrm>
          <a:prstGeom prst="rect">
            <a:avLst/>
          </a:prstGeom>
          <a:noFill/>
        </p:spPr>
        <p:txBody>
          <a:bodyPr wrap="square" lIns="0" tIns="0" rIns="0" bIns="0" anchor="ctr">
            <a:spAutoFit/>
          </a:bodyPr>
          <a:lstStyle/>
          <a:p>
            <a:pPr algn="ctr"/>
            <a:r>
              <a:rPr sz="750" b="0">
                <a:solidFill>
                  <a:srgbClr val="22D3EE"/>
                </a:solidFill>
                <a:latin typeface="Consolas"/>
              </a:rPr>
              <a:t>P0</a:t>
            </a:r>
          </a:p>
        </p:txBody>
      </p:sp>
      <p:sp>
        <p:nvSpPr>
          <p:cNvPr id="70" name="a0fd1780_tc69"/>
          <p:cNvSpPr/>
          <p:nvPr/>
        </p:nvSpPr>
        <p:spPr>
          <a:xfrm>
            <a:off x="7845551" y="2221992"/>
            <a:ext cx="576072" cy="210312"/>
          </a:xfrm>
          <a:prstGeom prst="roundRect">
            <a:avLst>
              <a:gd name="adj" fmla="val 13043"/>
            </a:avLst>
          </a:prstGeom>
          <a:solidFill>
            <a:srgbClr val="18181B"/>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1" name="a0fd1780_tct70"/>
          <p:cNvSpPr txBox="1"/>
          <p:nvPr/>
        </p:nvSpPr>
        <p:spPr>
          <a:xfrm>
            <a:off x="7845551" y="2221992"/>
            <a:ext cx="576072" cy="210312"/>
          </a:xfrm>
          <a:prstGeom prst="rect">
            <a:avLst/>
          </a:prstGeom>
          <a:noFill/>
        </p:spPr>
        <p:txBody>
          <a:bodyPr wrap="square" lIns="0" tIns="0" rIns="0" bIns="0" anchor="ctr">
            <a:spAutoFit/>
          </a:bodyPr>
          <a:lstStyle/>
          <a:p>
            <a:pPr algn="ctr"/>
            <a:r>
              <a:rPr sz="750" b="0">
                <a:solidFill>
                  <a:srgbClr val="A5B4FC"/>
                </a:solidFill>
                <a:latin typeface="Consolas"/>
              </a:rPr>
              <a:t>P1</a:t>
            </a:r>
          </a:p>
        </p:txBody>
      </p:sp>
      <p:sp>
        <p:nvSpPr>
          <p:cNvPr id="72" name="a0fd1860_tc71"/>
          <p:cNvSpPr/>
          <p:nvPr/>
        </p:nvSpPr>
        <p:spPr>
          <a:xfrm>
            <a:off x="7845551" y="2487168"/>
            <a:ext cx="576072" cy="210312"/>
          </a:xfrm>
          <a:prstGeom prst="roundRect">
            <a:avLst>
              <a:gd name="adj" fmla="val 1304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3" name="a0fd1860_tct72"/>
          <p:cNvSpPr txBox="1"/>
          <p:nvPr/>
        </p:nvSpPr>
        <p:spPr>
          <a:xfrm>
            <a:off x="7845551" y="2487168"/>
            <a:ext cx="576072" cy="210312"/>
          </a:xfrm>
          <a:prstGeom prst="rect">
            <a:avLst/>
          </a:prstGeom>
          <a:noFill/>
        </p:spPr>
        <p:txBody>
          <a:bodyPr wrap="square" lIns="0" tIns="0" rIns="0" bIns="0" anchor="ctr">
            <a:spAutoFit/>
          </a:bodyPr>
          <a:lstStyle/>
          <a:p>
            <a:pPr algn="ctr"/>
            <a:r>
              <a:rPr sz="750" b="1">
                <a:solidFill>
                  <a:srgbClr val="FFFFFF"/>
                </a:solidFill>
                <a:latin typeface="Consolas"/>
              </a:rPr>
              <a:t>P2</a:t>
            </a:r>
          </a:p>
        </p:txBody>
      </p:sp>
      <p:sp>
        <p:nvSpPr>
          <p:cNvPr id="74" name="a0fd2100_cap73"/>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A8A29E"/>
                </a:solidFill>
                <a:latin typeface="Segoe UI"/>
              </a:rPr>
              <a:t>every partition on every broker - one leader each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ppt_x"/>
                                          </p:val>
                                        </p:tav>
                                        <p:tav tm="100000">
                                          <p:val>
                                            <p:strVal val="#ppt_x"/>
                                          </p:val>
                                        </p:tav>
                                      </p:tavLst>
                                    </p:anim>
                                    <p:anim calcmode="lin" valueType="num">
                                      <p:cBhvr additive="base">
                                        <p:cTn id="11" dur="500" fill="hold"/>
                                        <p:tgtEl>
                                          <p:spTgt spid="4"/>
                                        </p:tgtEl>
                                        <p:attrNameLst>
                                          <p:attrName>ppt_y</p:attrName>
                                        </p:attrNameLst>
                                      </p:cBhvr>
                                      <p:tavLst>
                                        <p:tav tm="0">
                                          <p:val>
                                            <p:strVal val="#ppt_y+0.1"/>
                                          </p:val>
                                        </p:tav>
                                        <p:tav tm="100000">
                                          <p:val>
                                            <p:strVal val="#ppt_y"/>
                                          </p:val>
                                        </p:tav>
                                      </p:tavLst>
                                    </p:anim>
                                    <p:animEffect transition="in" filter="fade">
                                      <p:cBhvr>
                                        <p:cTn id="12" dur="500"/>
                                        <p:tgtEl>
                                          <p:spTgt spid="4"/>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2" presetClass="entr" presetSubtype="4" fill="hold" grpId="0" nodeType="withEffect">
                                  <p:stCondLst>
                                    <p:cond delay="80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ppt_y+0.1"/>
                                          </p:val>
                                        </p:tav>
                                        <p:tav tm="100000">
                                          <p:val>
                                            <p:strVal val="#ppt_y"/>
                                          </p:val>
                                        </p:tav>
                                      </p:tavLst>
                                    </p:anim>
                                    <p:animEffect transition="in" filter="fade">
                                      <p:cBhvr>
                                        <p:cTn id="20" dur="500"/>
                                        <p:tgtEl>
                                          <p:spTgt spid="6"/>
                                        </p:tgtEl>
                                      </p:cBhvr>
                                    </p:animEffect>
                                  </p:childTnLst>
                                </p:cTn>
                              </p:par>
                              <p:par>
                                <p:cTn id="21" presetID="10" presetClass="entr" presetSubtype="0" fill="hold" grpId="0" nodeType="withEffect">
                                  <p:stCondLst>
                                    <p:cond delay="90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par>
                                <p:cTn id="24" presetID="10" presetClass="entr" presetSubtype="0" fill="hold" grpId="0" nodeType="withEffect">
                                  <p:stCondLst>
                                    <p:cond delay="90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500"/>
                                        <p:tgtEl>
                                          <p:spTgt spid="49"/>
                                        </p:tgtEl>
                                      </p:cBhvr>
                                    </p:animEffect>
                                  </p:childTnLst>
                                </p:cTn>
                              </p:par>
                              <p:par>
                                <p:cTn id="27" presetID="2" presetClass="entr" presetSubtype="4" fill="hold" grpId="0" nodeType="withEffect">
                                  <p:stCondLst>
                                    <p:cond delay="95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ppt_y+0.1"/>
                                          </p:val>
                                        </p:tav>
                                        <p:tav tm="100000">
                                          <p:val>
                                            <p:strVal val="#ppt_y"/>
                                          </p:val>
                                        </p:tav>
                                      </p:tavLst>
                                    </p:anim>
                                    <p:animEffect transition="in" filter="fade">
                                      <p:cBhvr>
                                        <p:cTn id="31" dur="500"/>
                                        <p:tgtEl>
                                          <p:spTgt spid="7"/>
                                        </p:tgtEl>
                                      </p:cBhvr>
                                    </p:animEffect>
                                  </p:childTnLst>
                                </p:cTn>
                              </p:par>
                              <p:par>
                                <p:cTn id="32" presetID="2" presetClass="entr" presetSubtype="4" fill="hold" grpId="0" nodeType="withEffect">
                                  <p:stCondLst>
                                    <p:cond delay="110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ppt_x"/>
                                          </p:val>
                                        </p:tav>
                                        <p:tav tm="100000">
                                          <p:val>
                                            <p:strVal val="#ppt_x"/>
                                          </p:val>
                                        </p:tav>
                                      </p:tavLst>
                                    </p:anim>
                                    <p:anim calcmode="lin" valueType="num">
                                      <p:cBhvr additive="base">
                                        <p:cTn id="35" dur="500" fill="hold"/>
                                        <p:tgtEl>
                                          <p:spTgt spid="8"/>
                                        </p:tgtEl>
                                        <p:attrNameLst>
                                          <p:attrName>ppt_y</p:attrName>
                                        </p:attrNameLst>
                                      </p:cBhvr>
                                      <p:tavLst>
                                        <p:tav tm="0">
                                          <p:val>
                                            <p:strVal val="#ppt_y+0.1"/>
                                          </p:val>
                                        </p:tav>
                                        <p:tav tm="100000">
                                          <p:val>
                                            <p:strVal val="#ppt_y"/>
                                          </p:val>
                                        </p:tav>
                                      </p:tavLst>
                                    </p:anim>
                                    <p:animEffect transition="in" filter="fade">
                                      <p:cBhvr>
                                        <p:cTn id="36" dur="500"/>
                                        <p:tgtEl>
                                          <p:spTgt spid="8"/>
                                        </p:tgtEl>
                                      </p:cBhvr>
                                    </p:animEffect>
                                  </p:childTnLst>
                                </p:cTn>
                              </p:par>
                              <p:par>
                                <p:cTn id="37" presetID="10" presetClass="entr" presetSubtype="0" fill="hold" grpId="0" nodeType="withEffect">
                                  <p:stCondLst>
                                    <p:cond delay="1100"/>
                                  </p:stCondLst>
                                  <p:childTnLst>
                                    <p:set>
                                      <p:cBhvr>
                                        <p:cTn id="38" dur="1" fill="hold">
                                          <p:stCondLst>
                                            <p:cond delay="0"/>
                                          </p:stCondLst>
                                        </p:cTn>
                                        <p:tgtEl>
                                          <p:spTgt spid="50"/>
                                        </p:tgtEl>
                                        <p:attrNameLst>
                                          <p:attrName>style.visibility</p:attrName>
                                        </p:attrNameLst>
                                      </p:cBhvr>
                                      <p:to>
                                        <p:strVal val="visible"/>
                                      </p:to>
                                    </p:set>
                                    <p:animEffect transition="in" filter="fade">
                                      <p:cBhvr>
                                        <p:cTn id="39" dur="500"/>
                                        <p:tgtEl>
                                          <p:spTgt spid="50"/>
                                        </p:tgtEl>
                                      </p:cBhvr>
                                    </p:animEffect>
                                  </p:childTnLst>
                                </p:cTn>
                              </p:par>
                              <p:par>
                                <p:cTn id="40" presetID="10" presetClass="entr" presetSubtype="0" fill="hold" grpId="0" nodeType="withEffect">
                                  <p:stCondLst>
                                    <p:cond delay="110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500"/>
                                        <p:tgtEl>
                                          <p:spTgt spid="51"/>
                                        </p:tgtEl>
                                      </p:cBhvr>
                                    </p:animEffect>
                                  </p:childTnLst>
                                </p:cTn>
                              </p:par>
                              <p:par>
                                <p:cTn id="43" presetID="10" presetClass="entr" presetSubtype="0" fill="hold" grpId="0" nodeType="withEffect">
                                  <p:stCondLst>
                                    <p:cond delay="1200"/>
                                  </p:stCondLst>
                                  <p:childTnLst>
                                    <p:set>
                                      <p:cBhvr>
                                        <p:cTn id="44" dur="1" fill="hold">
                                          <p:stCondLst>
                                            <p:cond delay="0"/>
                                          </p:stCondLst>
                                        </p:cTn>
                                        <p:tgtEl>
                                          <p:spTgt spid="52"/>
                                        </p:tgtEl>
                                        <p:attrNameLst>
                                          <p:attrName>style.visibility</p:attrName>
                                        </p:attrNameLst>
                                      </p:cBhvr>
                                      <p:to>
                                        <p:strVal val="visible"/>
                                      </p:to>
                                    </p:set>
                                    <p:animEffect transition="in" filter="fade">
                                      <p:cBhvr>
                                        <p:cTn id="45" dur="500"/>
                                        <p:tgtEl>
                                          <p:spTgt spid="52"/>
                                        </p:tgtEl>
                                      </p:cBhvr>
                                    </p:animEffect>
                                  </p:childTnLst>
                                </p:cTn>
                              </p:par>
                              <p:par>
                                <p:cTn id="46" presetID="10" presetClass="entr" presetSubtype="0" fill="hold" grpId="0" nodeType="withEffect">
                                  <p:stCondLst>
                                    <p:cond delay="1200"/>
                                  </p:stCondLst>
                                  <p:childTnLst>
                                    <p:set>
                                      <p:cBhvr>
                                        <p:cTn id="47" dur="1" fill="hold">
                                          <p:stCondLst>
                                            <p:cond delay="0"/>
                                          </p:stCondLst>
                                        </p:cTn>
                                        <p:tgtEl>
                                          <p:spTgt spid="53"/>
                                        </p:tgtEl>
                                        <p:attrNameLst>
                                          <p:attrName>style.visibility</p:attrName>
                                        </p:attrNameLst>
                                      </p:cBhvr>
                                      <p:to>
                                        <p:strVal val="visible"/>
                                      </p:to>
                                    </p:set>
                                    <p:animEffect transition="in" filter="fade">
                                      <p:cBhvr>
                                        <p:cTn id="48" dur="500"/>
                                        <p:tgtEl>
                                          <p:spTgt spid="53"/>
                                        </p:tgtEl>
                                      </p:cBhvr>
                                    </p:animEffect>
                                  </p:childTnLst>
                                </p:cTn>
                              </p:par>
                              <p:par>
                                <p:cTn id="49" presetID="2" presetClass="entr" presetSubtype="4" fill="hold" grpId="0" nodeType="withEffect">
                                  <p:stCondLst>
                                    <p:cond delay="125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500" fill="hold"/>
                                        <p:tgtEl>
                                          <p:spTgt spid="9"/>
                                        </p:tgtEl>
                                        <p:attrNameLst>
                                          <p:attrName>ppt_x</p:attrName>
                                        </p:attrNameLst>
                                      </p:cBhvr>
                                      <p:tavLst>
                                        <p:tav tm="0">
                                          <p:val>
                                            <p:strVal val="#ppt_x"/>
                                          </p:val>
                                        </p:tav>
                                        <p:tav tm="100000">
                                          <p:val>
                                            <p:strVal val="#ppt_x"/>
                                          </p:val>
                                        </p:tav>
                                      </p:tavLst>
                                    </p:anim>
                                    <p:anim calcmode="lin" valueType="num">
                                      <p:cBhvr additive="base">
                                        <p:cTn id="52" dur="500" fill="hold"/>
                                        <p:tgtEl>
                                          <p:spTgt spid="9"/>
                                        </p:tgtEl>
                                        <p:attrNameLst>
                                          <p:attrName>ppt_y</p:attrName>
                                        </p:attrNameLst>
                                      </p:cBhvr>
                                      <p:tavLst>
                                        <p:tav tm="0">
                                          <p:val>
                                            <p:strVal val="#ppt_y+0.1"/>
                                          </p:val>
                                        </p:tav>
                                        <p:tav tm="100000">
                                          <p:val>
                                            <p:strVal val="#ppt_y"/>
                                          </p:val>
                                        </p:tav>
                                      </p:tavLst>
                                    </p:anim>
                                    <p:animEffect transition="in" filter="fade">
                                      <p:cBhvr>
                                        <p:cTn id="53" dur="500"/>
                                        <p:tgtEl>
                                          <p:spTgt spid="9"/>
                                        </p:tgtEl>
                                      </p:cBhvr>
                                    </p:animEffect>
                                  </p:childTnLst>
                                </p:cTn>
                              </p:par>
                              <p:par>
                                <p:cTn id="54" presetID="10" presetClass="entr" presetSubtype="0" fill="hold" grpId="0" nodeType="withEffect">
                                  <p:stCondLst>
                                    <p:cond delay="1280"/>
                                  </p:stCondLst>
                                  <p:childTnLst>
                                    <p:set>
                                      <p:cBhvr>
                                        <p:cTn id="55" dur="1" fill="hold">
                                          <p:stCondLst>
                                            <p:cond delay="0"/>
                                          </p:stCondLst>
                                        </p:cTn>
                                        <p:tgtEl>
                                          <p:spTgt spid="54"/>
                                        </p:tgtEl>
                                        <p:attrNameLst>
                                          <p:attrName>style.visibility</p:attrName>
                                        </p:attrNameLst>
                                      </p:cBhvr>
                                      <p:to>
                                        <p:strVal val="visible"/>
                                      </p:to>
                                    </p:set>
                                    <p:animEffect transition="in" filter="fade">
                                      <p:cBhvr>
                                        <p:cTn id="56" dur="500"/>
                                        <p:tgtEl>
                                          <p:spTgt spid="54"/>
                                        </p:tgtEl>
                                      </p:cBhvr>
                                    </p:animEffect>
                                  </p:childTnLst>
                                </p:cTn>
                              </p:par>
                              <p:par>
                                <p:cTn id="57" presetID="10" presetClass="entr" presetSubtype="0" fill="hold" grpId="0" nodeType="withEffect">
                                  <p:stCondLst>
                                    <p:cond delay="1280"/>
                                  </p:stCondLst>
                                  <p:childTnLst>
                                    <p:set>
                                      <p:cBhvr>
                                        <p:cTn id="58" dur="1" fill="hold">
                                          <p:stCondLst>
                                            <p:cond delay="0"/>
                                          </p:stCondLst>
                                        </p:cTn>
                                        <p:tgtEl>
                                          <p:spTgt spid="55"/>
                                        </p:tgtEl>
                                        <p:attrNameLst>
                                          <p:attrName>style.visibility</p:attrName>
                                        </p:attrNameLst>
                                      </p:cBhvr>
                                      <p:to>
                                        <p:strVal val="visible"/>
                                      </p:to>
                                    </p:set>
                                    <p:animEffect transition="in" filter="fade">
                                      <p:cBhvr>
                                        <p:cTn id="59" dur="500"/>
                                        <p:tgtEl>
                                          <p:spTgt spid="55"/>
                                        </p:tgtEl>
                                      </p:cBhvr>
                                    </p:animEffect>
                                  </p:childTnLst>
                                </p:cTn>
                              </p:par>
                              <p:par>
                                <p:cTn id="60" presetID="10" presetClass="entr" presetSubtype="0" fill="hold" grpId="0" nodeType="withEffect">
                                  <p:stCondLst>
                                    <p:cond delay="1350"/>
                                  </p:stCondLst>
                                  <p:childTnLst>
                                    <p:set>
                                      <p:cBhvr>
                                        <p:cTn id="61" dur="1" fill="hold">
                                          <p:stCondLst>
                                            <p:cond delay="0"/>
                                          </p:stCondLst>
                                        </p:cTn>
                                        <p:tgtEl>
                                          <p:spTgt spid="58"/>
                                        </p:tgtEl>
                                        <p:attrNameLst>
                                          <p:attrName>style.visibility</p:attrName>
                                        </p:attrNameLst>
                                      </p:cBhvr>
                                      <p:to>
                                        <p:strVal val="visible"/>
                                      </p:to>
                                    </p:set>
                                    <p:animEffect transition="in" filter="fade">
                                      <p:cBhvr>
                                        <p:cTn id="62" dur="500"/>
                                        <p:tgtEl>
                                          <p:spTgt spid="58"/>
                                        </p:tgtEl>
                                      </p:cBhvr>
                                    </p:animEffect>
                                  </p:childTnLst>
                                </p:cTn>
                              </p:par>
                              <p:par>
                                <p:cTn id="63" presetID="10" presetClass="entr" presetSubtype="0" fill="hold" grpId="0" nodeType="withEffect">
                                  <p:stCondLst>
                                    <p:cond delay="1350"/>
                                  </p:stCondLst>
                                  <p:childTnLst>
                                    <p:set>
                                      <p:cBhvr>
                                        <p:cTn id="64" dur="1" fill="hold">
                                          <p:stCondLst>
                                            <p:cond delay="0"/>
                                          </p:stCondLst>
                                        </p:cTn>
                                        <p:tgtEl>
                                          <p:spTgt spid="59"/>
                                        </p:tgtEl>
                                        <p:attrNameLst>
                                          <p:attrName>style.visibility</p:attrName>
                                        </p:attrNameLst>
                                      </p:cBhvr>
                                      <p:to>
                                        <p:strVal val="visible"/>
                                      </p:to>
                                    </p:set>
                                    <p:animEffect transition="in" filter="fade">
                                      <p:cBhvr>
                                        <p:cTn id="65" dur="500"/>
                                        <p:tgtEl>
                                          <p:spTgt spid="59"/>
                                        </p:tgtEl>
                                      </p:cBhvr>
                                    </p:animEffect>
                                  </p:childTnLst>
                                </p:cTn>
                              </p:par>
                              <p:par>
                                <p:cTn id="66" presetID="10" presetClass="entr" presetSubtype="0" fill="hold" grpId="0" nodeType="withEffect">
                                  <p:stCondLst>
                                    <p:cond delay="1360"/>
                                  </p:stCondLst>
                                  <p:childTnLst>
                                    <p:set>
                                      <p:cBhvr>
                                        <p:cTn id="67" dur="1" fill="hold">
                                          <p:stCondLst>
                                            <p:cond delay="0"/>
                                          </p:stCondLst>
                                        </p:cTn>
                                        <p:tgtEl>
                                          <p:spTgt spid="56"/>
                                        </p:tgtEl>
                                        <p:attrNameLst>
                                          <p:attrName>style.visibility</p:attrName>
                                        </p:attrNameLst>
                                      </p:cBhvr>
                                      <p:to>
                                        <p:strVal val="visible"/>
                                      </p:to>
                                    </p:set>
                                    <p:animEffect transition="in" filter="fade">
                                      <p:cBhvr>
                                        <p:cTn id="68" dur="500"/>
                                        <p:tgtEl>
                                          <p:spTgt spid="56"/>
                                        </p:tgtEl>
                                      </p:cBhvr>
                                    </p:animEffect>
                                  </p:childTnLst>
                                </p:cTn>
                              </p:par>
                              <p:par>
                                <p:cTn id="69" presetID="10" presetClass="entr" presetSubtype="0" fill="hold" grpId="0" nodeType="withEffect">
                                  <p:stCondLst>
                                    <p:cond delay="1360"/>
                                  </p:stCondLst>
                                  <p:childTnLst>
                                    <p:set>
                                      <p:cBhvr>
                                        <p:cTn id="70" dur="1" fill="hold">
                                          <p:stCondLst>
                                            <p:cond delay="0"/>
                                          </p:stCondLst>
                                        </p:cTn>
                                        <p:tgtEl>
                                          <p:spTgt spid="57"/>
                                        </p:tgtEl>
                                        <p:attrNameLst>
                                          <p:attrName>style.visibility</p:attrName>
                                        </p:attrNameLst>
                                      </p:cBhvr>
                                      <p:to>
                                        <p:strVal val="visible"/>
                                      </p:to>
                                    </p:set>
                                    <p:animEffect transition="in" filter="fade">
                                      <p:cBhvr>
                                        <p:cTn id="71" dur="500"/>
                                        <p:tgtEl>
                                          <p:spTgt spid="57"/>
                                        </p:tgtEl>
                                      </p:cBhvr>
                                    </p:animEffect>
                                  </p:childTnLst>
                                </p:cTn>
                              </p:par>
                              <p:par>
                                <p:cTn id="72" presetID="10" presetClass="entr" presetSubtype="0" fill="hold" grpId="0" nodeType="withEffect">
                                  <p:stCondLst>
                                    <p:cond delay="140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500"/>
                                        <p:tgtEl>
                                          <p:spTgt spid="10"/>
                                        </p:tgtEl>
                                      </p:cBhvr>
                                    </p:animEffect>
                                  </p:childTnLst>
                                </p:cTn>
                              </p:par>
                              <p:par>
                                <p:cTn id="75" presetID="10" presetClass="entr" presetSubtype="0" fill="hold" grpId="0" nodeType="withEffect">
                                  <p:stCondLst>
                                    <p:cond delay="1450"/>
                                  </p:stCondLst>
                                  <p:childTnLst>
                                    <p:set>
                                      <p:cBhvr>
                                        <p:cTn id="76" dur="1" fill="hold">
                                          <p:stCondLst>
                                            <p:cond delay="0"/>
                                          </p:stCondLst>
                                        </p:cTn>
                                        <p:tgtEl>
                                          <p:spTgt spid="60"/>
                                        </p:tgtEl>
                                        <p:attrNameLst>
                                          <p:attrName>style.visibility</p:attrName>
                                        </p:attrNameLst>
                                      </p:cBhvr>
                                      <p:to>
                                        <p:strVal val="visible"/>
                                      </p:to>
                                    </p:set>
                                    <p:animEffect transition="in" filter="fade">
                                      <p:cBhvr>
                                        <p:cTn id="77" dur="500"/>
                                        <p:tgtEl>
                                          <p:spTgt spid="60"/>
                                        </p:tgtEl>
                                      </p:cBhvr>
                                    </p:animEffect>
                                  </p:childTnLst>
                                </p:cTn>
                              </p:par>
                              <p:par>
                                <p:cTn id="78" presetID="10" presetClass="entr" presetSubtype="0" fill="hold" grpId="0" nodeType="withEffect">
                                  <p:stCondLst>
                                    <p:cond delay="1450"/>
                                  </p:stCondLst>
                                  <p:childTnLst>
                                    <p:set>
                                      <p:cBhvr>
                                        <p:cTn id="79" dur="1" fill="hold">
                                          <p:stCondLst>
                                            <p:cond delay="0"/>
                                          </p:stCondLst>
                                        </p:cTn>
                                        <p:tgtEl>
                                          <p:spTgt spid="61"/>
                                        </p:tgtEl>
                                        <p:attrNameLst>
                                          <p:attrName>style.visibility</p:attrName>
                                        </p:attrNameLst>
                                      </p:cBhvr>
                                      <p:to>
                                        <p:strVal val="visible"/>
                                      </p:to>
                                    </p:set>
                                    <p:animEffect transition="in" filter="fade">
                                      <p:cBhvr>
                                        <p:cTn id="80" dur="500"/>
                                        <p:tgtEl>
                                          <p:spTgt spid="61"/>
                                        </p:tgtEl>
                                      </p:cBhvr>
                                    </p:animEffect>
                                  </p:childTnLst>
                                </p:cTn>
                              </p:par>
                              <p:par>
                                <p:cTn id="81" presetID="10" presetClass="entr" presetSubtype="0" fill="hold" grpId="0" nodeType="withEffect">
                                  <p:stCondLst>
                                    <p:cond delay="1530"/>
                                  </p:stCondLst>
                                  <p:childTnLst>
                                    <p:set>
                                      <p:cBhvr>
                                        <p:cTn id="82" dur="1" fill="hold">
                                          <p:stCondLst>
                                            <p:cond delay="0"/>
                                          </p:stCondLst>
                                        </p:cTn>
                                        <p:tgtEl>
                                          <p:spTgt spid="62"/>
                                        </p:tgtEl>
                                        <p:attrNameLst>
                                          <p:attrName>style.visibility</p:attrName>
                                        </p:attrNameLst>
                                      </p:cBhvr>
                                      <p:to>
                                        <p:strVal val="visible"/>
                                      </p:to>
                                    </p:set>
                                    <p:animEffect transition="in" filter="fade">
                                      <p:cBhvr>
                                        <p:cTn id="83" dur="500"/>
                                        <p:tgtEl>
                                          <p:spTgt spid="62"/>
                                        </p:tgtEl>
                                      </p:cBhvr>
                                    </p:animEffect>
                                  </p:childTnLst>
                                </p:cTn>
                              </p:par>
                              <p:par>
                                <p:cTn id="84" presetID="10" presetClass="entr" presetSubtype="0" fill="hold" grpId="0" nodeType="withEffect">
                                  <p:stCondLst>
                                    <p:cond delay="1530"/>
                                  </p:stCondLst>
                                  <p:childTnLst>
                                    <p:set>
                                      <p:cBhvr>
                                        <p:cTn id="85" dur="1" fill="hold">
                                          <p:stCondLst>
                                            <p:cond delay="0"/>
                                          </p:stCondLst>
                                        </p:cTn>
                                        <p:tgtEl>
                                          <p:spTgt spid="63"/>
                                        </p:tgtEl>
                                        <p:attrNameLst>
                                          <p:attrName>style.visibility</p:attrName>
                                        </p:attrNameLst>
                                      </p:cBhvr>
                                      <p:to>
                                        <p:strVal val="visible"/>
                                      </p:to>
                                    </p:set>
                                    <p:animEffect transition="in" filter="fade">
                                      <p:cBhvr>
                                        <p:cTn id="86" dur="500"/>
                                        <p:tgtEl>
                                          <p:spTgt spid="63"/>
                                        </p:tgtEl>
                                      </p:cBhvr>
                                    </p:animEffect>
                                  </p:childTnLst>
                                </p:cTn>
                              </p:par>
                              <p:par>
                                <p:cTn id="87" presetID="10" presetClass="entr" presetSubtype="0" fill="hold" grpId="0" nodeType="withEffect">
                                  <p:stCondLst>
                                    <p:cond delay="1600"/>
                                  </p:stCondLst>
                                  <p:childTnLst>
                                    <p:set>
                                      <p:cBhvr>
                                        <p:cTn id="88" dur="1" fill="hold">
                                          <p:stCondLst>
                                            <p:cond delay="0"/>
                                          </p:stCondLst>
                                        </p:cTn>
                                        <p:tgtEl>
                                          <p:spTgt spid="11"/>
                                        </p:tgtEl>
                                        <p:attrNameLst>
                                          <p:attrName>style.visibility</p:attrName>
                                        </p:attrNameLst>
                                      </p:cBhvr>
                                      <p:to>
                                        <p:strVal val="visible"/>
                                      </p:to>
                                    </p:set>
                                    <p:animEffect transition="in" filter="fade">
                                      <p:cBhvr>
                                        <p:cTn id="89" dur="500"/>
                                        <p:tgtEl>
                                          <p:spTgt spid="11"/>
                                        </p:tgtEl>
                                      </p:cBhvr>
                                    </p:animEffect>
                                  </p:childTnLst>
                                </p:cTn>
                              </p:par>
                              <p:par>
                                <p:cTn id="90" presetID="10" presetClass="entr" presetSubtype="0" fill="hold" grpId="0" nodeType="withEffect">
                                  <p:stCondLst>
                                    <p:cond delay="1600"/>
                                  </p:stCondLst>
                                  <p:childTnLst>
                                    <p:set>
                                      <p:cBhvr>
                                        <p:cTn id="91" dur="1" fill="hold">
                                          <p:stCondLst>
                                            <p:cond delay="0"/>
                                          </p:stCondLst>
                                        </p:cTn>
                                        <p:tgtEl>
                                          <p:spTgt spid="12"/>
                                        </p:tgtEl>
                                        <p:attrNameLst>
                                          <p:attrName>style.visibility</p:attrName>
                                        </p:attrNameLst>
                                      </p:cBhvr>
                                      <p:to>
                                        <p:strVal val="visible"/>
                                      </p:to>
                                    </p:set>
                                    <p:animEffect transition="in" filter="fade">
                                      <p:cBhvr>
                                        <p:cTn id="92" dur="500"/>
                                        <p:tgtEl>
                                          <p:spTgt spid="12"/>
                                        </p:tgtEl>
                                      </p:cBhvr>
                                    </p:animEffect>
                                  </p:childTnLst>
                                </p:cTn>
                              </p:par>
                              <p:par>
                                <p:cTn id="93" presetID="10" presetClass="entr" presetSubtype="0" fill="hold" grpId="0" nodeType="withEffect">
                                  <p:stCondLst>
                                    <p:cond delay="1600"/>
                                  </p:stCondLst>
                                  <p:childTnLst>
                                    <p:set>
                                      <p:cBhvr>
                                        <p:cTn id="94" dur="1" fill="hold">
                                          <p:stCondLst>
                                            <p:cond delay="0"/>
                                          </p:stCondLst>
                                        </p:cTn>
                                        <p:tgtEl>
                                          <p:spTgt spid="66"/>
                                        </p:tgtEl>
                                        <p:attrNameLst>
                                          <p:attrName>style.visibility</p:attrName>
                                        </p:attrNameLst>
                                      </p:cBhvr>
                                      <p:to>
                                        <p:strVal val="visible"/>
                                      </p:to>
                                    </p:set>
                                    <p:animEffect transition="in" filter="fade">
                                      <p:cBhvr>
                                        <p:cTn id="95" dur="500"/>
                                        <p:tgtEl>
                                          <p:spTgt spid="66"/>
                                        </p:tgtEl>
                                      </p:cBhvr>
                                    </p:animEffect>
                                  </p:childTnLst>
                                </p:cTn>
                              </p:par>
                              <p:par>
                                <p:cTn id="96" presetID="10" presetClass="entr" presetSubtype="0" fill="hold" grpId="0" nodeType="withEffect">
                                  <p:stCondLst>
                                    <p:cond delay="1600"/>
                                  </p:stCondLst>
                                  <p:childTnLst>
                                    <p:set>
                                      <p:cBhvr>
                                        <p:cTn id="97" dur="1" fill="hold">
                                          <p:stCondLst>
                                            <p:cond delay="0"/>
                                          </p:stCondLst>
                                        </p:cTn>
                                        <p:tgtEl>
                                          <p:spTgt spid="67"/>
                                        </p:tgtEl>
                                        <p:attrNameLst>
                                          <p:attrName>style.visibility</p:attrName>
                                        </p:attrNameLst>
                                      </p:cBhvr>
                                      <p:to>
                                        <p:strVal val="visible"/>
                                      </p:to>
                                    </p:set>
                                    <p:animEffect transition="in" filter="fade">
                                      <p:cBhvr>
                                        <p:cTn id="98" dur="500"/>
                                        <p:tgtEl>
                                          <p:spTgt spid="67"/>
                                        </p:tgtEl>
                                      </p:cBhvr>
                                    </p:animEffect>
                                  </p:childTnLst>
                                </p:cTn>
                              </p:par>
                              <p:par>
                                <p:cTn id="99" presetID="10" presetClass="entr" presetSubtype="0" fill="hold" grpId="0" nodeType="withEffect">
                                  <p:stCondLst>
                                    <p:cond delay="1610"/>
                                  </p:stCondLst>
                                  <p:childTnLst>
                                    <p:set>
                                      <p:cBhvr>
                                        <p:cTn id="100" dur="1" fill="hold">
                                          <p:stCondLst>
                                            <p:cond delay="0"/>
                                          </p:stCondLst>
                                        </p:cTn>
                                        <p:tgtEl>
                                          <p:spTgt spid="64"/>
                                        </p:tgtEl>
                                        <p:attrNameLst>
                                          <p:attrName>style.visibility</p:attrName>
                                        </p:attrNameLst>
                                      </p:cBhvr>
                                      <p:to>
                                        <p:strVal val="visible"/>
                                      </p:to>
                                    </p:set>
                                    <p:animEffect transition="in" filter="fade">
                                      <p:cBhvr>
                                        <p:cTn id="101" dur="500"/>
                                        <p:tgtEl>
                                          <p:spTgt spid="64"/>
                                        </p:tgtEl>
                                      </p:cBhvr>
                                    </p:animEffect>
                                  </p:childTnLst>
                                </p:cTn>
                              </p:par>
                              <p:par>
                                <p:cTn id="102" presetID="10" presetClass="entr" presetSubtype="0" fill="hold" grpId="0" nodeType="withEffect">
                                  <p:stCondLst>
                                    <p:cond delay="1610"/>
                                  </p:stCondLst>
                                  <p:childTnLst>
                                    <p:set>
                                      <p:cBhvr>
                                        <p:cTn id="103" dur="1" fill="hold">
                                          <p:stCondLst>
                                            <p:cond delay="0"/>
                                          </p:stCondLst>
                                        </p:cTn>
                                        <p:tgtEl>
                                          <p:spTgt spid="65"/>
                                        </p:tgtEl>
                                        <p:attrNameLst>
                                          <p:attrName>style.visibility</p:attrName>
                                        </p:attrNameLst>
                                      </p:cBhvr>
                                      <p:to>
                                        <p:strVal val="visible"/>
                                      </p:to>
                                    </p:set>
                                    <p:animEffect transition="in" filter="fade">
                                      <p:cBhvr>
                                        <p:cTn id="104" dur="500"/>
                                        <p:tgtEl>
                                          <p:spTgt spid="65"/>
                                        </p:tgtEl>
                                      </p:cBhvr>
                                    </p:animEffect>
                                  </p:childTnLst>
                                </p:cTn>
                              </p:par>
                              <p:par>
                                <p:cTn id="105" presetID="10" presetClass="entr" presetSubtype="0" fill="hold" grpId="0" nodeType="withEffect">
                                  <p:stCondLst>
                                    <p:cond delay="1645"/>
                                  </p:stCondLst>
                                  <p:childTnLst>
                                    <p:set>
                                      <p:cBhvr>
                                        <p:cTn id="106" dur="1" fill="hold">
                                          <p:stCondLst>
                                            <p:cond delay="0"/>
                                          </p:stCondLst>
                                        </p:cTn>
                                        <p:tgtEl>
                                          <p:spTgt spid="13"/>
                                        </p:tgtEl>
                                        <p:attrNameLst>
                                          <p:attrName>style.visibility</p:attrName>
                                        </p:attrNameLst>
                                      </p:cBhvr>
                                      <p:to>
                                        <p:strVal val="visible"/>
                                      </p:to>
                                    </p:set>
                                    <p:animEffect transition="in" filter="fade">
                                      <p:cBhvr>
                                        <p:cTn id="107" dur="500"/>
                                        <p:tgtEl>
                                          <p:spTgt spid="13"/>
                                        </p:tgtEl>
                                      </p:cBhvr>
                                    </p:animEffect>
                                  </p:childTnLst>
                                </p:cTn>
                              </p:par>
                              <p:par>
                                <p:cTn id="108" presetID="10" presetClass="entr" presetSubtype="0" fill="hold" grpId="0" nodeType="withEffect">
                                  <p:stCondLst>
                                    <p:cond delay="1645"/>
                                  </p:stCondLst>
                                  <p:childTnLst>
                                    <p:set>
                                      <p:cBhvr>
                                        <p:cTn id="109" dur="1" fill="hold">
                                          <p:stCondLst>
                                            <p:cond delay="0"/>
                                          </p:stCondLst>
                                        </p:cTn>
                                        <p:tgtEl>
                                          <p:spTgt spid="14"/>
                                        </p:tgtEl>
                                        <p:attrNameLst>
                                          <p:attrName>style.visibility</p:attrName>
                                        </p:attrNameLst>
                                      </p:cBhvr>
                                      <p:to>
                                        <p:strVal val="visible"/>
                                      </p:to>
                                    </p:set>
                                    <p:animEffect transition="in" filter="fade">
                                      <p:cBhvr>
                                        <p:cTn id="110" dur="500"/>
                                        <p:tgtEl>
                                          <p:spTgt spid="14"/>
                                        </p:tgtEl>
                                      </p:cBhvr>
                                    </p:animEffect>
                                  </p:childTnLst>
                                </p:cTn>
                              </p:par>
                              <p:par>
                                <p:cTn id="111" presetID="10" presetClass="entr" presetSubtype="0" fill="hold" grpId="0" nodeType="withEffect">
                                  <p:stCondLst>
                                    <p:cond delay="1690"/>
                                  </p:stCondLst>
                                  <p:childTnLst>
                                    <p:set>
                                      <p:cBhvr>
                                        <p:cTn id="112" dur="1" fill="hold">
                                          <p:stCondLst>
                                            <p:cond delay="0"/>
                                          </p:stCondLst>
                                        </p:cTn>
                                        <p:tgtEl>
                                          <p:spTgt spid="15"/>
                                        </p:tgtEl>
                                        <p:attrNameLst>
                                          <p:attrName>style.visibility</p:attrName>
                                        </p:attrNameLst>
                                      </p:cBhvr>
                                      <p:to>
                                        <p:strVal val="visible"/>
                                      </p:to>
                                    </p:set>
                                    <p:animEffect transition="in" filter="fade">
                                      <p:cBhvr>
                                        <p:cTn id="113" dur="500"/>
                                        <p:tgtEl>
                                          <p:spTgt spid="15"/>
                                        </p:tgtEl>
                                      </p:cBhvr>
                                    </p:animEffect>
                                  </p:childTnLst>
                                </p:cTn>
                              </p:par>
                              <p:par>
                                <p:cTn id="114" presetID="10" presetClass="entr" presetSubtype="0" fill="hold" grpId="0" nodeType="withEffect">
                                  <p:stCondLst>
                                    <p:cond delay="1690"/>
                                  </p:stCondLst>
                                  <p:childTnLst>
                                    <p:set>
                                      <p:cBhvr>
                                        <p:cTn id="115" dur="1" fill="hold">
                                          <p:stCondLst>
                                            <p:cond delay="0"/>
                                          </p:stCondLst>
                                        </p:cTn>
                                        <p:tgtEl>
                                          <p:spTgt spid="16"/>
                                        </p:tgtEl>
                                        <p:attrNameLst>
                                          <p:attrName>style.visibility</p:attrName>
                                        </p:attrNameLst>
                                      </p:cBhvr>
                                      <p:to>
                                        <p:strVal val="visible"/>
                                      </p:to>
                                    </p:set>
                                    <p:animEffect transition="in" filter="fade">
                                      <p:cBhvr>
                                        <p:cTn id="116" dur="500"/>
                                        <p:tgtEl>
                                          <p:spTgt spid="16"/>
                                        </p:tgtEl>
                                      </p:cBhvr>
                                    </p:animEffect>
                                  </p:childTnLst>
                                </p:cTn>
                              </p:par>
                              <p:par>
                                <p:cTn id="117" presetID="10" presetClass="entr" presetSubtype="0" fill="hold" grpId="0" nodeType="withEffect">
                                  <p:stCondLst>
                                    <p:cond delay="1700"/>
                                  </p:stCondLst>
                                  <p:childTnLst>
                                    <p:set>
                                      <p:cBhvr>
                                        <p:cTn id="118" dur="1" fill="hold">
                                          <p:stCondLst>
                                            <p:cond delay="0"/>
                                          </p:stCondLst>
                                        </p:cTn>
                                        <p:tgtEl>
                                          <p:spTgt spid="68"/>
                                        </p:tgtEl>
                                        <p:attrNameLst>
                                          <p:attrName>style.visibility</p:attrName>
                                        </p:attrNameLst>
                                      </p:cBhvr>
                                      <p:to>
                                        <p:strVal val="visible"/>
                                      </p:to>
                                    </p:set>
                                    <p:animEffect transition="in" filter="fade">
                                      <p:cBhvr>
                                        <p:cTn id="119" dur="500"/>
                                        <p:tgtEl>
                                          <p:spTgt spid="68"/>
                                        </p:tgtEl>
                                      </p:cBhvr>
                                    </p:animEffect>
                                  </p:childTnLst>
                                </p:cTn>
                              </p:par>
                              <p:par>
                                <p:cTn id="120" presetID="10" presetClass="entr" presetSubtype="0" fill="hold" grpId="0" nodeType="withEffect">
                                  <p:stCondLst>
                                    <p:cond delay="1700"/>
                                  </p:stCondLst>
                                  <p:childTnLst>
                                    <p:set>
                                      <p:cBhvr>
                                        <p:cTn id="121" dur="1" fill="hold">
                                          <p:stCondLst>
                                            <p:cond delay="0"/>
                                          </p:stCondLst>
                                        </p:cTn>
                                        <p:tgtEl>
                                          <p:spTgt spid="69"/>
                                        </p:tgtEl>
                                        <p:attrNameLst>
                                          <p:attrName>style.visibility</p:attrName>
                                        </p:attrNameLst>
                                      </p:cBhvr>
                                      <p:to>
                                        <p:strVal val="visible"/>
                                      </p:to>
                                    </p:set>
                                    <p:animEffect transition="in" filter="fade">
                                      <p:cBhvr>
                                        <p:cTn id="122" dur="500"/>
                                        <p:tgtEl>
                                          <p:spTgt spid="69"/>
                                        </p:tgtEl>
                                      </p:cBhvr>
                                    </p:animEffect>
                                  </p:childTnLst>
                                </p:cTn>
                              </p:par>
                              <p:par>
                                <p:cTn id="123" presetID="10" presetClass="entr" presetSubtype="0" fill="hold" grpId="0" nodeType="withEffect">
                                  <p:stCondLst>
                                    <p:cond delay="1735"/>
                                  </p:stCondLst>
                                  <p:childTnLst>
                                    <p:set>
                                      <p:cBhvr>
                                        <p:cTn id="124" dur="1" fill="hold">
                                          <p:stCondLst>
                                            <p:cond delay="0"/>
                                          </p:stCondLst>
                                        </p:cTn>
                                        <p:tgtEl>
                                          <p:spTgt spid="17"/>
                                        </p:tgtEl>
                                        <p:attrNameLst>
                                          <p:attrName>style.visibility</p:attrName>
                                        </p:attrNameLst>
                                      </p:cBhvr>
                                      <p:to>
                                        <p:strVal val="visible"/>
                                      </p:to>
                                    </p:set>
                                    <p:animEffect transition="in" filter="fade">
                                      <p:cBhvr>
                                        <p:cTn id="125" dur="500"/>
                                        <p:tgtEl>
                                          <p:spTgt spid="17"/>
                                        </p:tgtEl>
                                      </p:cBhvr>
                                    </p:animEffect>
                                  </p:childTnLst>
                                </p:cTn>
                              </p:par>
                              <p:par>
                                <p:cTn id="126" presetID="10" presetClass="entr" presetSubtype="0" fill="hold" grpId="0" nodeType="withEffect">
                                  <p:stCondLst>
                                    <p:cond delay="1735"/>
                                  </p:stCondLst>
                                  <p:childTnLst>
                                    <p:set>
                                      <p:cBhvr>
                                        <p:cTn id="127" dur="1" fill="hold">
                                          <p:stCondLst>
                                            <p:cond delay="0"/>
                                          </p:stCondLst>
                                        </p:cTn>
                                        <p:tgtEl>
                                          <p:spTgt spid="18"/>
                                        </p:tgtEl>
                                        <p:attrNameLst>
                                          <p:attrName>style.visibility</p:attrName>
                                        </p:attrNameLst>
                                      </p:cBhvr>
                                      <p:to>
                                        <p:strVal val="visible"/>
                                      </p:to>
                                    </p:set>
                                    <p:animEffect transition="in" filter="fade">
                                      <p:cBhvr>
                                        <p:cTn id="128" dur="500"/>
                                        <p:tgtEl>
                                          <p:spTgt spid="18"/>
                                        </p:tgtEl>
                                      </p:cBhvr>
                                    </p:animEffect>
                                  </p:childTnLst>
                                </p:cTn>
                              </p:par>
                              <p:par>
                                <p:cTn id="129" presetID="10" presetClass="entr" presetSubtype="0" fill="hold" grpId="0" nodeType="withEffect">
                                  <p:stCondLst>
                                    <p:cond delay="1780"/>
                                  </p:stCondLst>
                                  <p:childTnLst>
                                    <p:set>
                                      <p:cBhvr>
                                        <p:cTn id="130" dur="1" fill="hold">
                                          <p:stCondLst>
                                            <p:cond delay="0"/>
                                          </p:stCondLst>
                                        </p:cTn>
                                        <p:tgtEl>
                                          <p:spTgt spid="19"/>
                                        </p:tgtEl>
                                        <p:attrNameLst>
                                          <p:attrName>style.visibility</p:attrName>
                                        </p:attrNameLst>
                                      </p:cBhvr>
                                      <p:to>
                                        <p:strVal val="visible"/>
                                      </p:to>
                                    </p:set>
                                    <p:animEffect transition="in" filter="fade">
                                      <p:cBhvr>
                                        <p:cTn id="131" dur="500"/>
                                        <p:tgtEl>
                                          <p:spTgt spid="19"/>
                                        </p:tgtEl>
                                      </p:cBhvr>
                                    </p:animEffect>
                                  </p:childTnLst>
                                </p:cTn>
                              </p:par>
                              <p:par>
                                <p:cTn id="132" presetID="10" presetClass="entr" presetSubtype="0" fill="hold" grpId="0" nodeType="withEffect">
                                  <p:stCondLst>
                                    <p:cond delay="1780"/>
                                  </p:stCondLst>
                                  <p:childTnLst>
                                    <p:set>
                                      <p:cBhvr>
                                        <p:cTn id="133" dur="1" fill="hold">
                                          <p:stCondLst>
                                            <p:cond delay="0"/>
                                          </p:stCondLst>
                                        </p:cTn>
                                        <p:tgtEl>
                                          <p:spTgt spid="20"/>
                                        </p:tgtEl>
                                        <p:attrNameLst>
                                          <p:attrName>style.visibility</p:attrName>
                                        </p:attrNameLst>
                                      </p:cBhvr>
                                      <p:to>
                                        <p:strVal val="visible"/>
                                      </p:to>
                                    </p:set>
                                    <p:animEffect transition="in" filter="fade">
                                      <p:cBhvr>
                                        <p:cTn id="134" dur="500"/>
                                        <p:tgtEl>
                                          <p:spTgt spid="20"/>
                                        </p:tgtEl>
                                      </p:cBhvr>
                                    </p:animEffect>
                                  </p:childTnLst>
                                </p:cTn>
                              </p:par>
                              <p:par>
                                <p:cTn id="135" presetID="10" presetClass="entr" presetSubtype="0" fill="hold" grpId="0" nodeType="withEffect">
                                  <p:stCondLst>
                                    <p:cond delay="1780"/>
                                  </p:stCondLst>
                                  <p:childTnLst>
                                    <p:set>
                                      <p:cBhvr>
                                        <p:cTn id="136" dur="1" fill="hold">
                                          <p:stCondLst>
                                            <p:cond delay="0"/>
                                          </p:stCondLst>
                                        </p:cTn>
                                        <p:tgtEl>
                                          <p:spTgt spid="70"/>
                                        </p:tgtEl>
                                        <p:attrNameLst>
                                          <p:attrName>style.visibility</p:attrName>
                                        </p:attrNameLst>
                                      </p:cBhvr>
                                      <p:to>
                                        <p:strVal val="visible"/>
                                      </p:to>
                                    </p:set>
                                    <p:animEffect transition="in" filter="fade">
                                      <p:cBhvr>
                                        <p:cTn id="137" dur="500"/>
                                        <p:tgtEl>
                                          <p:spTgt spid="70"/>
                                        </p:tgtEl>
                                      </p:cBhvr>
                                    </p:animEffect>
                                  </p:childTnLst>
                                </p:cTn>
                              </p:par>
                              <p:par>
                                <p:cTn id="138" presetID="10" presetClass="entr" presetSubtype="0" fill="hold" grpId="0" nodeType="withEffect">
                                  <p:stCondLst>
                                    <p:cond delay="1780"/>
                                  </p:stCondLst>
                                  <p:childTnLst>
                                    <p:set>
                                      <p:cBhvr>
                                        <p:cTn id="139" dur="1" fill="hold">
                                          <p:stCondLst>
                                            <p:cond delay="0"/>
                                          </p:stCondLst>
                                        </p:cTn>
                                        <p:tgtEl>
                                          <p:spTgt spid="71"/>
                                        </p:tgtEl>
                                        <p:attrNameLst>
                                          <p:attrName>style.visibility</p:attrName>
                                        </p:attrNameLst>
                                      </p:cBhvr>
                                      <p:to>
                                        <p:strVal val="visible"/>
                                      </p:to>
                                    </p:set>
                                    <p:animEffect transition="in" filter="fade">
                                      <p:cBhvr>
                                        <p:cTn id="140" dur="500"/>
                                        <p:tgtEl>
                                          <p:spTgt spid="71"/>
                                        </p:tgtEl>
                                      </p:cBhvr>
                                    </p:animEffect>
                                  </p:childTnLst>
                                </p:cTn>
                              </p:par>
                              <p:par>
                                <p:cTn id="141" presetID="10" presetClass="entr" presetSubtype="0" fill="hold" grpId="0" nodeType="withEffect">
                                  <p:stCondLst>
                                    <p:cond delay="1825"/>
                                  </p:stCondLst>
                                  <p:childTnLst>
                                    <p:set>
                                      <p:cBhvr>
                                        <p:cTn id="142" dur="1" fill="hold">
                                          <p:stCondLst>
                                            <p:cond delay="0"/>
                                          </p:stCondLst>
                                        </p:cTn>
                                        <p:tgtEl>
                                          <p:spTgt spid="21"/>
                                        </p:tgtEl>
                                        <p:attrNameLst>
                                          <p:attrName>style.visibility</p:attrName>
                                        </p:attrNameLst>
                                      </p:cBhvr>
                                      <p:to>
                                        <p:strVal val="visible"/>
                                      </p:to>
                                    </p:set>
                                    <p:animEffect transition="in" filter="fade">
                                      <p:cBhvr>
                                        <p:cTn id="143" dur="500"/>
                                        <p:tgtEl>
                                          <p:spTgt spid="21"/>
                                        </p:tgtEl>
                                      </p:cBhvr>
                                    </p:animEffect>
                                  </p:childTnLst>
                                </p:cTn>
                              </p:par>
                              <p:par>
                                <p:cTn id="144" presetID="10" presetClass="entr" presetSubtype="0" fill="hold" grpId="0" nodeType="withEffect">
                                  <p:stCondLst>
                                    <p:cond delay="1825"/>
                                  </p:stCondLst>
                                  <p:childTnLst>
                                    <p:set>
                                      <p:cBhvr>
                                        <p:cTn id="145" dur="1" fill="hold">
                                          <p:stCondLst>
                                            <p:cond delay="0"/>
                                          </p:stCondLst>
                                        </p:cTn>
                                        <p:tgtEl>
                                          <p:spTgt spid="22"/>
                                        </p:tgtEl>
                                        <p:attrNameLst>
                                          <p:attrName>style.visibility</p:attrName>
                                        </p:attrNameLst>
                                      </p:cBhvr>
                                      <p:to>
                                        <p:strVal val="visible"/>
                                      </p:to>
                                    </p:set>
                                    <p:animEffect transition="in" filter="fade">
                                      <p:cBhvr>
                                        <p:cTn id="146" dur="500"/>
                                        <p:tgtEl>
                                          <p:spTgt spid="22"/>
                                        </p:tgtEl>
                                      </p:cBhvr>
                                    </p:animEffect>
                                  </p:childTnLst>
                                </p:cTn>
                              </p:par>
                              <p:par>
                                <p:cTn id="147" presetID="10" presetClass="entr" presetSubtype="0" fill="hold" grpId="0" nodeType="withEffect">
                                  <p:stCondLst>
                                    <p:cond delay="1860"/>
                                  </p:stCondLst>
                                  <p:childTnLst>
                                    <p:set>
                                      <p:cBhvr>
                                        <p:cTn id="148" dur="1" fill="hold">
                                          <p:stCondLst>
                                            <p:cond delay="0"/>
                                          </p:stCondLst>
                                        </p:cTn>
                                        <p:tgtEl>
                                          <p:spTgt spid="72"/>
                                        </p:tgtEl>
                                        <p:attrNameLst>
                                          <p:attrName>style.visibility</p:attrName>
                                        </p:attrNameLst>
                                      </p:cBhvr>
                                      <p:to>
                                        <p:strVal val="visible"/>
                                      </p:to>
                                    </p:set>
                                    <p:animEffect transition="in" filter="fade">
                                      <p:cBhvr>
                                        <p:cTn id="149" dur="500"/>
                                        <p:tgtEl>
                                          <p:spTgt spid="72"/>
                                        </p:tgtEl>
                                      </p:cBhvr>
                                    </p:animEffect>
                                  </p:childTnLst>
                                </p:cTn>
                              </p:par>
                              <p:par>
                                <p:cTn id="150" presetID="10" presetClass="entr" presetSubtype="0" fill="hold" grpId="0" nodeType="withEffect">
                                  <p:stCondLst>
                                    <p:cond delay="1860"/>
                                  </p:stCondLst>
                                  <p:childTnLst>
                                    <p:set>
                                      <p:cBhvr>
                                        <p:cTn id="151" dur="1" fill="hold">
                                          <p:stCondLst>
                                            <p:cond delay="0"/>
                                          </p:stCondLst>
                                        </p:cTn>
                                        <p:tgtEl>
                                          <p:spTgt spid="73"/>
                                        </p:tgtEl>
                                        <p:attrNameLst>
                                          <p:attrName>style.visibility</p:attrName>
                                        </p:attrNameLst>
                                      </p:cBhvr>
                                      <p:to>
                                        <p:strVal val="visible"/>
                                      </p:to>
                                    </p:set>
                                    <p:animEffect transition="in" filter="fade">
                                      <p:cBhvr>
                                        <p:cTn id="152" dur="500"/>
                                        <p:tgtEl>
                                          <p:spTgt spid="73"/>
                                        </p:tgtEl>
                                      </p:cBhvr>
                                    </p:animEffect>
                                  </p:childTnLst>
                                </p:cTn>
                              </p:par>
                              <p:par>
                                <p:cTn id="153" presetID="10" presetClass="entr" presetSubtype="0" fill="hold" grpId="0" nodeType="withEffect">
                                  <p:stCondLst>
                                    <p:cond delay="1870"/>
                                  </p:stCondLst>
                                  <p:childTnLst>
                                    <p:set>
                                      <p:cBhvr>
                                        <p:cTn id="154" dur="1" fill="hold">
                                          <p:stCondLst>
                                            <p:cond delay="0"/>
                                          </p:stCondLst>
                                        </p:cTn>
                                        <p:tgtEl>
                                          <p:spTgt spid="23"/>
                                        </p:tgtEl>
                                        <p:attrNameLst>
                                          <p:attrName>style.visibility</p:attrName>
                                        </p:attrNameLst>
                                      </p:cBhvr>
                                      <p:to>
                                        <p:strVal val="visible"/>
                                      </p:to>
                                    </p:set>
                                    <p:animEffect transition="in" filter="fade">
                                      <p:cBhvr>
                                        <p:cTn id="155" dur="500"/>
                                        <p:tgtEl>
                                          <p:spTgt spid="23"/>
                                        </p:tgtEl>
                                      </p:cBhvr>
                                    </p:animEffect>
                                  </p:childTnLst>
                                </p:cTn>
                              </p:par>
                              <p:par>
                                <p:cTn id="156" presetID="10" presetClass="entr" presetSubtype="0" fill="hold" grpId="0" nodeType="withEffect">
                                  <p:stCondLst>
                                    <p:cond delay="1870"/>
                                  </p:stCondLst>
                                  <p:childTnLst>
                                    <p:set>
                                      <p:cBhvr>
                                        <p:cTn id="157" dur="1" fill="hold">
                                          <p:stCondLst>
                                            <p:cond delay="0"/>
                                          </p:stCondLst>
                                        </p:cTn>
                                        <p:tgtEl>
                                          <p:spTgt spid="24"/>
                                        </p:tgtEl>
                                        <p:attrNameLst>
                                          <p:attrName>style.visibility</p:attrName>
                                        </p:attrNameLst>
                                      </p:cBhvr>
                                      <p:to>
                                        <p:strVal val="visible"/>
                                      </p:to>
                                    </p:set>
                                    <p:animEffect transition="in" filter="fade">
                                      <p:cBhvr>
                                        <p:cTn id="158" dur="500"/>
                                        <p:tgtEl>
                                          <p:spTgt spid="24"/>
                                        </p:tgtEl>
                                      </p:cBhvr>
                                    </p:animEffect>
                                  </p:childTnLst>
                                </p:cTn>
                              </p:par>
                              <p:par>
                                <p:cTn id="159" presetID="10" presetClass="entr" presetSubtype="0" fill="hold" grpId="0" nodeType="withEffect">
                                  <p:stCondLst>
                                    <p:cond delay="1915"/>
                                  </p:stCondLst>
                                  <p:childTnLst>
                                    <p:set>
                                      <p:cBhvr>
                                        <p:cTn id="160" dur="1" fill="hold">
                                          <p:stCondLst>
                                            <p:cond delay="0"/>
                                          </p:stCondLst>
                                        </p:cTn>
                                        <p:tgtEl>
                                          <p:spTgt spid="25"/>
                                        </p:tgtEl>
                                        <p:attrNameLst>
                                          <p:attrName>style.visibility</p:attrName>
                                        </p:attrNameLst>
                                      </p:cBhvr>
                                      <p:to>
                                        <p:strVal val="visible"/>
                                      </p:to>
                                    </p:set>
                                    <p:animEffect transition="in" filter="fade">
                                      <p:cBhvr>
                                        <p:cTn id="161" dur="500"/>
                                        <p:tgtEl>
                                          <p:spTgt spid="25"/>
                                        </p:tgtEl>
                                      </p:cBhvr>
                                    </p:animEffect>
                                  </p:childTnLst>
                                </p:cTn>
                              </p:par>
                              <p:par>
                                <p:cTn id="162" presetID="10" presetClass="entr" presetSubtype="0" fill="hold" grpId="0" nodeType="withEffect">
                                  <p:stCondLst>
                                    <p:cond delay="1915"/>
                                  </p:stCondLst>
                                  <p:childTnLst>
                                    <p:set>
                                      <p:cBhvr>
                                        <p:cTn id="163" dur="1" fill="hold">
                                          <p:stCondLst>
                                            <p:cond delay="0"/>
                                          </p:stCondLst>
                                        </p:cTn>
                                        <p:tgtEl>
                                          <p:spTgt spid="26"/>
                                        </p:tgtEl>
                                        <p:attrNameLst>
                                          <p:attrName>style.visibility</p:attrName>
                                        </p:attrNameLst>
                                      </p:cBhvr>
                                      <p:to>
                                        <p:strVal val="visible"/>
                                      </p:to>
                                    </p:set>
                                    <p:animEffect transition="in" filter="fade">
                                      <p:cBhvr>
                                        <p:cTn id="164" dur="500"/>
                                        <p:tgtEl>
                                          <p:spTgt spid="26"/>
                                        </p:tgtEl>
                                      </p:cBhvr>
                                    </p:animEffect>
                                  </p:childTnLst>
                                </p:cTn>
                              </p:par>
                              <p:par>
                                <p:cTn id="165" presetID="10" presetClass="entr" presetSubtype="0" fill="hold" grpId="0" nodeType="withEffect">
                                  <p:stCondLst>
                                    <p:cond delay="1960"/>
                                  </p:stCondLst>
                                  <p:childTnLst>
                                    <p:set>
                                      <p:cBhvr>
                                        <p:cTn id="166" dur="1" fill="hold">
                                          <p:stCondLst>
                                            <p:cond delay="0"/>
                                          </p:stCondLst>
                                        </p:cTn>
                                        <p:tgtEl>
                                          <p:spTgt spid="27"/>
                                        </p:tgtEl>
                                        <p:attrNameLst>
                                          <p:attrName>style.visibility</p:attrName>
                                        </p:attrNameLst>
                                      </p:cBhvr>
                                      <p:to>
                                        <p:strVal val="visible"/>
                                      </p:to>
                                    </p:set>
                                    <p:animEffect transition="in" filter="fade">
                                      <p:cBhvr>
                                        <p:cTn id="167" dur="500"/>
                                        <p:tgtEl>
                                          <p:spTgt spid="27"/>
                                        </p:tgtEl>
                                      </p:cBhvr>
                                    </p:animEffect>
                                  </p:childTnLst>
                                </p:cTn>
                              </p:par>
                              <p:par>
                                <p:cTn id="168" presetID="10" presetClass="entr" presetSubtype="0" fill="hold" grpId="0" nodeType="withEffect">
                                  <p:stCondLst>
                                    <p:cond delay="1960"/>
                                  </p:stCondLst>
                                  <p:childTnLst>
                                    <p:set>
                                      <p:cBhvr>
                                        <p:cTn id="169" dur="1" fill="hold">
                                          <p:stCondLst>
                                            <p:cond delay="0"/>
                                          </p:stCondLst>
                                        </p:cTn>
                                        <p:tgtEl>
                                          <p:spTgt spid="28"/>
                                        </p:tgtEl>
                                        <p:attrNameLst>
                                          <p:attrName>style.visibility</p:attrName>
                                        </p:attrNameLst>
                                      </p:cBhvr>
                                      <p:to>
                                        <p:strVal val="visible"/>
                                      </p:to>
                                    </p:set>
                                    <p:animEffect transition="in" filter="fade">
                                      <p:cBhvr>
                                        <p:cTn id="170" dur="500"/>
                                        <p:tgtEl>
                                          <p:spTgt spid="28"/>
                                        </p:tgtEl>
                                      </p:cBhvr>
                                    </p:animEffect>
                                  </p:childTnLst>
                                </p:cTn>
                              </p:par>
                              <p:par>
                                <p:cTn id="171" presetID="10" presetClass="entr" presetSubtype="0" fill="hold" grpId="0" nodeType="withEffect">
                                  <p:stCondLst>
                                    <p:cond delay="2005"/>
                                  </p:stCondLst>
                                  <p:childTnLst>
                                    <p:set>
                                      <p:cBhvr>
                                        <p:cTn id="172" dur="1" fill="hold">
                                          <p:stCondLst>
                                            <p:cond delay="0"/>
                                          </p:stCondLst>
                                        </p:cTn>
                                        <p:tgtEl>
                                          <p:spTgt spid="29"/>
                                        </p:tgtEl>
                                        <p:attrNameLst>
                                          <p:attrName>style.visibility</p:attrName>
                                        </p:attrNameLst>
                                      </p:cBhvr>
                                      <p:to>
                                        <p:strVal val="visible"/>
                                      </p:to>
                                    </p:set>
                                    <p:animEffect transition="in" filter="fade">
                                      <p:cBhvr>
                                        <p:cTn id="173" dur="500"/>
                                        <p:tgtEl>
                                          <p:spTgt spid="29"/>
                                        </p:tgtEl>
                                      </p:cBhvr>
                                    </p:animEffect>
                                  </p:childTnLst>
                                </p:cTn>
                              </p:par>
                              <p:par>
                                <p:cTn id="174" presetID="10" presetClass="entr" presetSubtype="0" fill="hold" grpId="0" nodeType="withEffect">
                                  <p:stCondLst>
                                    <p:cond delay="2005"/>
                                  </p:stCondLst>
                                  <p:childTnLst>
                                    <p:set>
                                      <p:cBhvr>
                                        <p:cTn id="175" dur="1" fill="hold">
                                          <p:stCondLst>
                                            <p:cond delay="0"/>
                                          </p:stCondLst>
                                        </p:cTn>
                                        <p:tgtEl>
                                          <p:spTgt spid="30"/>
                                        </p:tgtEl>
                                        <p:attrNameLst>
                                          <p:attrName>style.visibility</p:attrName>
                                        </p:attrNameLst>
                                      </p:cBhvr>
                                      <p:to>
                                        <p:strVal val="visible"/>
                                      </p:to>
                                    </p:set>
                                    <p:animEffect transition="in" filter="fade">
                                      <p:cBhvr>
                                        <p:cTn id="176" dur="500"/>
                                        <p:tgtEl>
                                          <p:spTgt spid="30"/>
                                        </p:tgtEl>
                                      </p:cBhvr>
                                    </p:animEffect>
                                  </p:childTnLst>
                                </p:cTn>
                              </p:par>
                              <p:par>
                                <p:cTn id="177" presetID="10" presetClass="entr" presetSubtype="0" fill="hold" grpId="0" nodeType="withEffect">
                                  <p:stCondLst>
                                    <p:cond delay="2050"/>
                                  </p:stCondLst>
                                  <p:childTnLst>
                                    <p:set>
                                      <p:cBhvr>
                                        <p:cTn id="178" dur="1" fill="hold">
                                          <p:stCondLst>
                                            <p:cond delay="0"/>
                                          </p:stCondLst>
                                        </p:cTn>
                                        <p:tgtEl>
                                          <p:spTgt spid="31"/>
                                        </p:tgtEl>
                                        <p:attrNameLst>
                                          <p:attrName>style.visibility</p:attrName>
                                        </p:attrNameLst>
                                      </p:cBhvr>
                                      <p:to>
                                        <p:strVal val="visible"/>
                                      </p:to>
                                    </p:set>
                                    <p:animEffect transition="in" filter="fade">
                                      <p:cBhvr>
                                        <p:cTn id="179" dur="500"/>
                                        <p:tgtEl>
                                          <p:spTgt spid="31"/>
                                        </p:tgtEl>
                                      </p:cBhvr>
                                    </p:animEffect>
                                  </p:childTnLst>
                                </p:cTn>
                              </p:par>
                              <p:par>
                                <p:cTn id="180" presetID="10" presetClass="entr" presetSubtype="0" fill="hold" grpId="0" nodeType="withEffect">
                                  <p:stCondLst>
                                    <p:cond delay="2050"/>
                                  </p:stCondLst>
                                  <p:childTnLst>
                                    <p:set>
                                      <p:cBhvr>
                                        <p:cTn id="181" dur="1" fill="hold">
                                          <p:stCondLst>
                                            <p:cond delay="0"/>
                                          </p:stCondLst>
                                        </p:cTn>
                                        <p:tgtEl>
                                          <p:spTgt spid="32"/>
                                        </p:tgtEl>
                                        <p:attrNameLst>
                                          <p:attrName>style.visibility</p:attrName>
                                        </p:attrNameLst>
                                      </p:cBhvr>
                                      <p:to>
                                        <p:strVal val="visible"/>
                                      </p:to>
                                    </p:set>
                                    <p:animEffect transition="in" filter="fade">
                                      <p:cBhvr>
                                        <p:cTn id="182" dur="500"/>
                                        <p:tgtEl>
                                          <p:spTgt spid="32"/>
                                        </p:tgtEl>
                                      </p:cBhvr>
                                    </p:animEffect>
                                  </p:childTnLst>
                                </p:cTn>
                              </p:par>
                              <p:par>
                                <p:cTn id="183" presetID="10" presetClass="entr" presetSubtype="0" fill="hold" grpId="0" nodeType="withEffect">
                                  <p:stCondLst>
                                    <p:cond delay="2095"/>
                                  </p:stCondLst>
                                  <p:childTnLst>
                                    <p:set>
                                      <p:cBhvr>
                                        <p:cTn id="184" dur="1" fill="hold">
                                          <p:stCondLst>
                                            <p:cond delay="0"/>
                                          </p:stCondLst>
                                        </p:cTn>
                                        <p:tgtEl>
                                          <p:spTgt spid="33"/>
                                        </p:tgtEl>
                                        <p:attrNameLst>
                                          <p:attrName>style.visibility</p:attrName>
                                        </p:attrNameLst>
                                      </p:cBhvr>
                                      <p:to>
                                        <p:strVal val="visible"/>
                                      </p:to>
                                    </p:set>
                                    <p:animEffect transition="in" filter="fade">
                                      <p:cBhvr>
                                        <p:cTn id="185" dur="500"/>
                                        <p:tgtEl>
                                          <p:spTgt spid="33"/>
                                        </p:tgtEl>
                                      </p:cBhvr>
                                    </p:animEffect>
                                  </p:childTnLst>
                                </p:cTn>
                              </p:par>
                              <p:par>
                                <p:cTn id="186" presetID="10" presetClass="entr" presetSubtype="0" fill="hold" grpId="0" nodeType="withEffect">
                                  <p:stCondLst>
                                    <p:cond delay="2095"/>
                                  </p:stCondLst>
                                  <p:childTnLst>
                                    <p:set>
                                      <p:cBhvr>
                                        <p:cTn id="187" dur="1" fill="hold">
                                          <p:stCondLst>
                                            <p:cond delay="0"/>
                                          </p:stCondLst>
                                        </p:cTn>
                                        <p:tgtEl>
                                          <p:spTgt spid="34"/>
                                        </p:tgtEl>
                                        <p:attrNameLst>
                                          <p:attrName>style.visibility</p:attrName>
                                        </p:attrNameLst>
                                      </p:cBhvr>
                                      <p:to>
                                        <p:strVal val="visible"/>
                                      </p:to>
                                    </p:set>
                                    <p:animEffect transition="in" filter="fade">
                                      <p:cBhvr>
                                        <p:cTn id="188" dur="500"/>
                                        <p:tgtEl>
                                          <p:spTgt spid="34"/>
                                        </p:tgtEl>
                                      </p:cBhvr>
                                    </p:animEffect>
                                  </p:childTnLst>
                                </p:cTn>
                              </p:par>
                              <p:par>
                                <p:cTn id="189" presetID="10" presetClass="entr" presetSubtype="0" fill="hold" grpId="0" nodeType="withEffect">
                                  <p:stCondLst>
                                    <p:cond delay="2100"/>
                                  </p:stCondLst>
                                  <p:childTnLst>
                                    <p:set>
                                      <p:cBhvr>
                                        <p:cTn id="190" dur="1" fill="hold">
                                          <p:stCondLst>
                                            <p:cond delay="0"/>
                                          </p:stCondLst>
                                        </p:cTn>
                                        <p:tgtEl>
                                          <p:spTgt spid="74"/>
                                        </p:tgtEl>
                                        <p:attrNameLst>
                                          <p:attrName>style.visibility</p:attrName>
                                        </p:attrNameLst>
                                      </p:cBhvr>
                                      <p:to>
                                        <p:strVal val="visible"/>
                                      </p:to>
                                    </p:set>
                                    <p:animEffect transition="in" filter="fade">
                                      <p:cBhvr>
                                        <p:cTn id="191" dur="500"/>
                                        <p:tgtEl>
                                          <p:spTgt spid="74"/>
                                        </p:tgtEl>
                                      </p:cBhvr>
                                    </p:animEffect>
                                  </p:childTnLst>
                                </p:cTn>
                              </p:par>
                              <p:par>
                                <p:cTn id="192" presetID="10" presetClass="entr" presetSubtype="0" fill="hold" grpId="0" nodeType="withEffect">
                                  <p:stCondLst>
                                    <p:cond delay="2140"/>
                                  </p:stCondLst>
                                  <p:childTnLst>
                                    <p:set>
                                      <p:cBhvr>
                                        <p:cTn id="193" dur="1" fill="hold">
                                          <p:stCondLst>
                                            <p:cond delay="0"/>
                                          </p:stCondLst>
                                        </p:cTn>
                                        <p:tgtEl>
                                          <p:spTgt spid="35"/>
                                        </p:tgtEl>
                                        <p:attrNameLst>
                                          <p:attrName>style.visibility</p:attrName>
                                        </p:attrNameLst>
                                      </p:cBhvr>
                                      <p:to>
                                        <p:strVal val="visible"/>
                                      </p:to>
                                    </p:set>
                                    <p:animEffect transition="in" filter="fade">
                                      <p:cBhvr>
                                        <p:cTn id="194" dur="500"/>
                                        <p:tgtEl>
                                          <p:spTgt spid="35"/>
                                        </p:tgtEl>
                                      </p:cBhvr>
                                    </p:animEffect>
                                  </p:childTnLst>
                                </p:cTn>
                              </p:par>
                              <p:par>
                                <p:cTn id="195" presetID="10" presetClass="entr" presetSubtype="0" fill="hold" grpId="0" nodeType="withEffect">
                                  <p:stCondLst>
                                    <p:cond delay="2140"/>
                                  </p:stCondLst>
                                  <p:childTnLst>
                                    <p:set>
                                      <p:cBhvr>
                                        <p:cTn id="196" dur="1" fill="hold">
                                          <p:stCondLst>
                                            <p:cond delay="0"/>
                                          </p:stCondLst>
                                        </p:cTn>
                                        <p:tgtEl>
                                          <p:spTgt spid="36"/>
                                        </p:tgtEl>
                                        <p:attrNameLst>
                                          <p:attrName>style.visibility</p:attrName>
                                        </p:attrNameLst>
                                      </p:cBhvr>
                                      <p:to>
                                        <p:strVal val="visible"/>
                                      </p:to>
                                    </p:set>
                                    <p:animEffect transition="in" filter="fade">
                                      <p:cBhvr>
                                        <p:cTn id="197" dur="500"/>
                                        <p:tgtEl>
                                          <p:spTgt spid="36"/>
                                        </p:tgtEl>
                                      </p:cBhvr>
                                    </p:animEffect>
                                  </p:childTnLst>
                                </p:cTn>
                              </p:par>
                              <p:par>
                                <p:cTn id="198" presetID="10" presetClass="entr" presetSubtype="0" fill="hold" grpId="0" nodeType="withEffect">
                                  <p:stCondLst>
                                    <p:cond delay="2185"/>
                                  </p:stCondLst>
                                  <p:childTnLst>
                                    <p:set>
                                      <p:cBhvr>
                                        <p:cTn id="199" dur="1" fill="hold">
                                          <p:stCondLst>
                                            <p:cond delay="0"/>
                                          </p:stCondLst>
                                        </p:cTn>
                                        <p:tgtEl>
                                          <p:spTgt spid="37"/>
                                        </p:tgtEl>
                                        <p:attrNameLst>
                                          <p:attrName>style.visibility</p:attrName>
                                        </p:attrNameLst>
                                      </p:cBhvr>
                                      <p:to>
                                        <p:strVal val="visible"/>
                                      </p:to>
                                    </p:set>
                                    <p:animEffect transition="in" filter="fade">
                                      <p:cBhvr>
                                        <p:cTn id="200" dur="500"/>
                                        <p:tgtEl>
                                          <p:spTgt spid="37"/>
                                        </p:tgtEl>
                                      </p:cBhvr>
                                    </p:animEffect>
                                  </p:childTnLst>
                                </p:cTn>
                              </p:par>
                              <p:par>
                                <p:cTn id="201" presetID="10" presetClass="entr" presetSubtype="0" fill="hold" grpId="0" nodeType="withEffect">
                                  <p:stCondLst>
                                    <p:cond delay="2185"/>
                                  </p:stCondLst>
                                  <p:childTnLst>
                                    <p:set>
                                      <p:cBhvr>
                                        <p:cTn id="202" dur="1" fill="hold">
                                          <p:stCondLst>
                                            <p:cond delay="0"/>
                                          </p:stCondLst>
                                        </p:cTn>
                                        <p:tgtEl>
                                          <p:spTgt spid="38"/>
                                        </p:tgtEl>
                                        <p:attrNameLst>
                                          <p:attrName>style.visibility</p:attrName>
                                        </p:attrNameLst>
                                      </p:cBhvr>
                                      <p:to>
                                        <p:strVal val="visible"/>
                                      </p:to>
                                    </p:set>
                                    <p:animEffect transition="in" filter="fade">
                                      <p:cBhvr>
                                        <p:cTn id="203" dur="500"/>
                                        <p:tgtEl>
                                          <p:spTgt spid="38"/>
                                        </p:tgtEl>
                                      </p:cBhvr>
                                    </p:animEffect>
                                  </p:childTnLst>
                                </p:cTn>
                              </p:par>
                              <p:par>
                                <p:cTn id="204" presetID="10" presetClass="entr" presetSubtype="0" fill="hold" grpId="0" nodeType="withEffect">
                                  <p:stCondLst>
                                    <p:cond delay="2230"/>
                                  </p:stCondLst>
                                  <p:childTnLst>
                                    <p:set>
                                      <p:cBhvr>
                                        <p:cTn id="205" dur="1" fill="hold">
                                          <p:stCondLst>
                                            <p:cond delay="0"/>
                                          </p:stCondLst>
                                        </p:cTn>
                                        <p:tgtEl>
                                          <p:spTgt spid="39"/>
                                        </p:tgtEl>
                                        <p:attrNameLst>
                                          <p:attrName>style.visibility</p:attrName>
                                        </p:attrNameLst>
                                      </p:cBhvr>
                                      <p:to>
                                        <p:strVal val="visible"/>
                                      </p:to>
                                    </p:set>
                                    <p:animEffect transition="in" filter="fade">
                                      <p:cBhvr>
                                        <p:cTn id="206" dur="500"/>
                                        <p:tgtEl>
                                          <p:spTgt spid="39"/>
                                        </p:tgtEl>
                                      </p:cBhvr>
                                    </p:animEffect>
                                  </p:childTnLst>
                                </p:cTn>
                              </p:par>
                              <p:par>
                                <p:cTn id="207" presetID="10" presetClass="entr" presetSubtype="0" fill="hold" grpId="0" nodeType="withEffect">
                                  <p:stCondLst>
                                    <p:cond delay="2230"/>
                                  </p:stCondLst>
                                  <p:childTnLst>
                                    <p:set>
                                      <p:cBhvr>
                                        <p:cTn id="208" dur="1" fill="hold">
                                          <p:stCondLst>
                                            <p:cond delay="0"/>
                                          </p:stCondLst>
                                        </p:cTn>
                                        <p:tgtEl>
                                          <p:spTgt spid="40"/>
                                        </p:tgtEl>
                                        <p:attrNameLst>
                                          <p:attrName>style.visibility</p:attrName>
                                        </p:attrNameLst>
                                      </p:cBhvr>
                                      <p:to>
                                        <p:strVal val="visible"/>
                                      </p:to>
                                    </p:set>
                                    <p:animEffect transition="in" filter="fade">
                                      <p:cBhvr>
                                        <p:cTn id="209" dur="500"/>
                                        <p:tgtEl>
                                          <p:spTgt spid="40"/>
                                        </p:tgtEl>
                                      </p:cBhvr>
                                    </p:animEffect>
                                  </p:childTnLst>
                                </p:cTn>
                              </p:par>
                              <p:par>
                                <p:cTn id="210" presetID="10" presetClass="entr" presetSubtype="0" fill="hold" grpId="0" nodeType="withEffect">
                                  <p:stCondLst>
                                    <p:cond delay="2275"/>
                                  </p:stCondLst>
                                  <p:childTnLst>
                                    <p:set>
                                      <p:cBhvr>
                                        <p:cTn id="211" dur="1" fill="hold">
                                          <p:stCondLst>
                                            <p:cond delay="0"/>
                                          </p:stCondLst>
                                        </p:cTn>
                                        <p:tgtEl>
                                          <p:spTgt spid="41"/>
                                        </p:tgtEl>
                                        <p:attrNameLst>
                                          <p:attrName>style.visibility</p:attrName>
                                        </p:attrNameLst>
                                      </p:cBhvr>
                                      <p:to>
                                        <p:strVal val="visible"/>
                                      </p:to>
                                    </p:set>
                                    <p:animEffect transition="in" filter="fade">
                                      <p:cBhvr>
                                        <p:cTn id="212" dur="500"/>
                                        <p:tgtEl>
                                          <p:spTgt spid="41"/>
                                        </p:tgtEl>
                                      </p:cBhvr>
                                    </p:animEffect>
                                  </p:childTnLst>
                                </p:cTn>
                              </p:par>
                              <p:par>
                                <p:cTn id="213" presetID="10" presetClass="entr" presetSubtype="0" fill="hold" grpId="0" nodeType="withEffect">
                                  <p:stCondLst>
                                    <p:cond delay="2275"/>
                                  </p:stCondLst>
                                  <p:childTnLst>
                                    <p:set>
                                      <p:cBhvr>
                                        <p:cTn id="214" dur="1" fill="hold">
                                          <p:stCondLst>
                                            <p:cond delay="0"/>
                                          </p:stCondLst>
                                        </p:cTn>
                                        <p:tgtEl>
                                          <p:spTgt spid="42"/>
                                        </p:tgtEl>
                                        <p:attrNameLst>
                                          <p:attrName>style.visibility</p:attrName>
                                        </p:attrNameLst>
                                      </p:cBhvr>
                                      <p:to>
                                        <p:strVal val="visible"/>
                                      </p:to>
                                    </p:set>
                                    <p:animEffect transition="in" filter="fade">
                                      <p:cBhvr>
                                        <p:cTn id="215" dur="500"/>
                                        <p:tgtEl>
                                          <p:spTgt spid="42"/>
                                        </p:tgtEl>
                                      </p:cBhvr>
                                    </p:animEffect>
                                  </p:childTnLst>
                                </p:cTn>
                              </p:par>
                              <p:par>
                                <p:cTn id="216" presetID="10" presetClass="entr" presetSubtype="0" fill="hold" grpId="0" nodeType="withEffect">
                                  <p:stCondLst>
                                    <p:cond delay="2320"/>
                                  </p:stCondLst>
                                  <p:childTnLst>
                                    <p:set>
                                      <p:cBhvr>
                                        <p:cTn id="217" dur="1" fill="hold">
                                          <p:stCondLst>
                                            <p:cond delay="0"/>
                                          </p:stCondLst>
                                        </p:cTn>
                                        <p:tgtEl>
                                          <p:spTgt spid="43"/>
                                        </p:tgtEl>
                                        <p:attrNameLst>
                                          <p:attrName>style.visibility</p:attrName>
                                        </p:attrNameLst>
                                      </p:cBhvr>
                                      <p:to>
                                        <p:strVal val="visible"/>
                                      </p:to>
                                    </p:set>
                                    <p:animEffect transition="in" filter="fade">
                                      <p:cBhvr>
                                        <p:cTn id="218" dur="500"/>
                                        <p:tgtEl>
                                          <p:spTgt spid="43"/>
                                        </p:tgtEl>
                                      </p:cBhvr>
                                    </p:animEffect>
                                  </p:childTnLst>
                                </p:cTn>
                              </p:par>
                              <p:par>
                                <p:cTn id="219" presetID="10" presetClass="entr" presetSubtype="0" fill="hold" grpId="0" nodeType="withEffect">
                                  <p:stCondLst>
                                    <p:cond delay="2320"/>
                                  </p:stCondLst>
                                  <p:childTnLst>
                                    <p:set>
                                      <p:cBhvr>
                                        <p:cTn id="220" dur="1" fill="hold">
                                          <p:stCondLst>
                                            <p:cond delay="0"/>
                                          </p:stCondLst>
                                        </p:cTn>
                                        <p:tgtEl>
                                          <p:spTgt spid="44"/>
                                        </p:tgtEl>
                                        <p:attrNameLst>
                                          <p:attrName>style.visibility</p:attrName>
                                        </p:attrNameLst>
                                      </p:cBhvr>
                                      <p:to>
                                        <p:strVal val="visible"/>
                                      </p:to>
                                    </p:set>
                                    <p:animEffect transition="in" filter="fade">
                                      <p:cBhvr>
                                        <p:cTn id="221" dur="500"/>
                                        <p:tgtEl>
                                          <p:spTgt spid="44"/>
                                        </p:tgtEl>
                                      </p:cBhvr>
                                    </p:animEffect>
                                  </p:childTnLst>
                                </p:cTn>
                              </p:par>
                              <p:par>
                                <p:cTn id="222" presetID="10" presetClass="entr" presetSubtype="0" fill="hold" grpId="0" nodeType="withEffect">
                                  <p:stCondLst>
                                    <p:cond delay="2365"/>
                                  </p:stCondLst>
                                  <p:childTnLst>
                                    <p:set>
                                      <p:cBhvr>
                                        <p:cTn id="223" dur="1" fill="hold">
                                          <p:stCondLst>
                                            <p:cond delay="0"/>
                                          </p:stCondLst>
                                        </p:cTn>
                                        <p:tgtEl>
                                          <p:spTgt spid="45"/>
                                        </p:tgtEl>
                                        <p:attrNameLst>
                                          <p:attrName>style.visibility</p:attrName>
                                        </p:attrNameLst>
                                      </p:cBhvr>
                                      <p:to>
                                        <p:strVal val="visible"/>
                                      </p:to>
                                    </p:set>
                                    <p:animEffect transition="in" filter="fade">
                                      <p:cBhvr>
                                        <p:cTn id="224" dur="500"/>
                                        <p:tgtEl>
                                          <p:spTgt spid="45"/>
                                        </p:tgtEl>
                                      </p:cBhvr>
                                    </p:animEffect>
                                  </p:childTnLst>
                                </p:cTn>
                              </p:par>
                              <p:par>
                                <p:cTn id="225" presetID="10" presetClass="entr" presetSubtype="0" fill="hold" grpId="0" nodeType="withEffect">
                                  <p:stCondLst>
                                    <p:cond delay="2365"/>
                                  </p:stCondLst>
                                  <p:childTnLst>
                                    <p:set>
                                      <p:cBhvr>
                                        <p:cTn id="226" dur="1" fill="hold">
                                          <p:stCondLst>
                                            <p:cond delay="0"/>
                                          </p:stCondLst>
                                        </p:cTn>
                                        <p:tgtEl>
                                          <p:spTgt spid="46"/>
                                        </p:tgtEl>
                                        <p:attrNameLst>
                                          <p:attrName>style.visibility</p:attrName>
                                        </p:attrNameLst>
                                      </p:cBhvr>
                                      <p:to>
                                        <p:strVal val="visible"/>
                                      </p:to>
                                    </p:set>
                                    <p:animEffect transition="in" filter="fade">
                                      <p:cBhvr>
                                        <p:cTn id="227" dur="500"/>
                                        <p:tgtEl>
                                          <p:spTgt spid="46"/>
                                        </p:tgtEl>
                                      </p:cBhvr>
                                    </p:animEffect>
                                  </p:childTnLst>
                                </p:cTn>
                              </p:par>
                              <p:par>
                                <p:cTn id="228" presetID="10" presetClass="entr" presetSubtype="0" fill="hold" grpId="0" nodeType="withEffect">
                                  <p:stCondLst>
                                    <p:cond delay="2410"/>
                                  </p:stCondLst>
                                  <p:childTnLst>
                                    <p:set>
                                      <p:cBhvr>
                                        <p:cTn id="229" dur="1" fill="hold">
                                          <p:stCondLst>
                                            <p:cond delay="0"/>
                                          </p:stCondLst>
                                        </p:cTn>
                                        <p:tgtEl>
                                          <p:spTgt spid="47"/>
                                        </p:tgtEl>
                                        <p:attrNameLst>
                                          <p:attrName>style.visibility</p:attrName>
                                        </p:attrNameLst>
                                      </p:cBhvr>
                                      <p:to>
                                        <p:strVal val="visible"/>
                                      </p:to>
                                    </p:set>
                                    <p:animEffect transition="in" filter="fade">
                                      <p:cBhvr>
                                        <p:cTn id="23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One Copy Is Not Enough</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Disks and servers fail - on bare metal and in the cloud alike</a:t>
            </a:r>
          </a:p>
        </p:txBody>
      </p:sp>
      <p:sp>
        <p:nvSpPr>
          <p:cNvPr id="11" name="a0f_cl10"/>
          <p:cNvSpPr/>
          <p:nvPr/>
        </p:nvSpPr>
        <p:spPr>
          <a:xfrm>
            <a:off x="457200" y="1280160"/>
            <a:ext cx="5486400" cy="2487168"/>
          </a:xfrm>
          <a:prstGeom prst="roundRect">
            <a:avLst>
              <a:gd name="adj" fmla="val 3676"/>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0f_clh11"/>
          <p:cNvSpPr txBox="1"/>
          <p:nvPr/>
        </p:nvSpPr>
        <p:spPr>
          <a:xfrm>
            <a:off x="640080" y="1371600"/>
            <a:ext cx="16459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bk12"/>
          <p:cNvSpPr/>
          <p:nvPr/>
        </p:nvSpPr>
        <p:spPr>
          <a:xfrm>
            <a:off x="64008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0f_bkn13"/>
          <p:cNvSpPr txBox="1"/>
          <p:nvPr/>
        </p:nvSpPr>
        <p:spPr>
          <a:xfrm>
            <a:off x="76809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1</a:t>
            </a:r>
          </a:p>
        </p:txBody>
      </p:sp>
      <p:sp>
        <p:nvSpPr>
          <p:cNvPr id="15" name="a0f_bk14"/>
          <p:cNvSpPr/>
          <p:nvPr/>
        </p:nvSpPr>
        <p:spPr>
          <a:xfrm>
            <a:off x="242316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0f_bkn15"/>
          <p:cNvSpPr txBox="1"/>
          <p:nvPr/>
        </p:nvSpPr>
        <p:spPr>
          <a:xfrm>
            <a:off x="255117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2</a:t>
            </a:r>
          </a:p>
        </p:txBody>
      </p:sp>
      <p:sp>
        <p:nvSpPr>
          <p:cNvPr id="17" name="a0f_bk16"/>
          <p:cNvSpPr/>
          <p:nvPr/>
        </p:nvSpPr>
        <p:spPr>
          <a:xfrm>
            <a:off x="420624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0f_bkn17"/>
          <p:cNvSpPr txBox="1"/>
          <p:nvPr/>
        </p:nvSpPr>
        <p:spPr>
          <a:xfrm>
            <a:off x="4334255"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3</a:t>
            </a:r>
          </a:p>
        </p:txBody>
      </p:sp>
      <p:sp>
        <p:nvSpPr>
          <p:cNvPr id="19" name="a0f_rp18"/>
          <p:cNvSpPr/>
          <p:nvPr/>
        </p:nvSpPr>
        <p:spPr>
          <a:xfrm>
            <a:off x="768096" y="2286000"/>
            <a:ext cx="1344168" cy="347472"/>
          </a:xfrm>
          <a:prstGeom prst="roundRect">
            <a:avLst>
              <a:gd name="adj" fmla="val 13157"/>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0f_rpn19"/>
          <p:cNvSpPr txBox="1"/>
          <p:nvPr/>
        </p:nvSpPr>
        <p:spPr>
          <a:xfrm>
            <a:off x="859536" y="2286000"/>
            <a:ext cx="365760" cy="347472"/>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21" name="a0f_rpt20"/>
          <p:cNvSpPr txBox="1"/>
          <p:nvPr/>
        </p:nvSpPr>
        <p:spPr>
          <a:xfrm>
            <a:off x="1225295" y="2286000"/>
            <a:ext cx="795528" cy="347472"/>
          </a:xfrm>
          <a:prstGeom prst="rect">
            <a:avLst/>
          </a:prstGeom>
          <a:noFill/>
        </p:spPr>
        <p:txBody>
          <a:bodyPr wrap="square" lIns="0" tIns="0" rIns="0" bIns="0" anchor="ctr">
            <a:spAutoFit/>
          </a:bodyPr>
          <a:lstStyle/>
          <a:p>
            <a:pPr algn="r"/>
            <a:r>
              <a:rPr sz="800" b="0">
                <a:solidFill>
                  <a:srgbClr val="0E7490"/>
                </a:solidFill>
                <a:latin typeface="Segoe UI"/>
              </a:rPr>
              <a:t>only copy</a:t>
            </a:r>
          </a:p>
        </p:txBody>
      </p:sp>
      <p:sp>
        <p:nvSpPr>
          <p:cNvPr id="22" name="a0f_rp21"/>
          <p:cNvSpPr/>
          <p:nvPr/>
        </p:nvSpPr>
        <p:spPr>
          <a:xfrm>
            <a:off x="2551176" y="2286000"/>
            <a:ext cx="1344168" cy="347472"/>
          </a:xfrm>
          <a:prstGeom prst="roundRect">
            <a:avLst>
              <a:gd name="adj" fmla="val 13157"/>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0f_rpn22"/>
          <p:cNvSpPr txBox="1"/>
          <p:nvPr/>
        </p:nvSpPr>
        <p:spPr>
          <a:xfrm>
            <a:off x="2642616" y="2286000"/>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24" name="a0f_rpt23"/>
          <p:cNvSpPr txBox="1"/>
          <p:nvPr/>
        </p:nvSpPr>
        <p:spPr>
          <a:xfrm>
            <a:off x="3008376" y="2286000"/>
            <a:ext cx="795528" cy="347472"/>
          </a:xfrm>
          <a:prstGeom prst="rect">
            <a:avLst/>
          </a:prstGeom>
          <a:noFill/>
        </p:spPr>
        <p:txBody>
          <a:bodyPr wrap="square" lIns="0" tIns="0" rIns="0" bIns="0" anchor="ctr">
            <a:spAutoFit/>
          </a:bodyPr>
          <a:lstStyle/>
          <a:p>
            <a:pPr algn="r"/>
            <a:r>
              <a:rPr sz="800" b="0">
                <a:solidFill>
                  <a:srgbClr val="4F46E5"/>
                </a:solidFill>
                <a:latin typeface="Segoe UI"/>
              </a:rPr>
              <a:t>only copy</a:t>
            </a:r>
          </a:p>
        </p:txBody>
      </p:sp>
      <p:sp>
        <p:nvSpPr>
          <p:cNvPr id="25" name="a0f_rp24"/>
          <p:cNvSpPr/>
          <p:nvPr/>
        </p:nvSpPr>
        <p:spPr>
          <a:xfrm>
            <a:off x="4334255" y="2286000"/>
            <a:ext cx="1344168" cy="347472"/>
          </a:xfrm>
          <a:prstGeom prst="roundRect">
            <a:avLst>
              <a:gd name="adj" fmla="val 13157"/>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0f_rpn25"/>
          <p:cNvSpPr txBox="1"/>
          <p:nvPr/>
        </p:nvSpPr>
        <p:spPr>
          <a:xfrm>
            <a:off x="4425695" y="2286000"/>
            <a:ext cx="365760" cy="347472"/>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27" name="a0f_rpt26"/>
          <p:cNvSpPr txBox="1"/>
          <p:nvPr/>
        </p:nvSpPr>
        <p:spPr>
          <a:xfrm>
            <a:off x="4791455" y="2286000"/>
            <a:ext cx="795528" cy="347472"/>
          </a:xfrm>
          <a:prstGeom prst="rect">
            <a:avLst/>
          </a:prstGeom>
          <a:noFill/>
        </p:spPr>
        <p:txBody>
          <a:bodyPr wrap="square" lIns="0" tIns="0" rIns="0" bIns="0" anchor="ctr">
            <a:spAutoFit/>
          </a:bodyPr>
          <a:lstStyle/>
          <a:p>
            <a:pPr algn="r"/>
            <a:r>
              <a:rPr sz="800" b="0">
                <a:solidFill>
                  <a:srgbClr val="C2410C"/>
                </a:solidFill>
                <a:latin typeface="Segoe UI"/>
              </a:rPr>
              <a:t>only copy</a:t>
            </a:r>
          </a:p>
        </p:txBody>
      </p:sp>
      <p:sp>
        <p:nvSpPr>
          <p:cNvPr id="28" name="a1u_dot27"/>
          <p:cNvSpPr/>
          <p:nvPr/>
        </p:nvSpPr>
        <p:spPr>
          <a:xfrm>
            <a:off x="6217920" y="1449324"/>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1u_b28"/>
          <p:cNvSpPr txBox="1"/>
          <p:nvPr/>
        </p:nvSpPr>
        <p:spPr>
          <a:xfrm>
            <a:off x="6437376" y="1353312"/>
            <a:ext cx="2249424" cy="566928"/>
          </a:xfrm>
          <a:prstGeom prst="rect">
            <a:avLst/>
          </a:prstGeom>
          <a:noFill/>
        </p:spPr>
        <p:txBody>
          <a:bodyPr wrap="square" lIns="0" tIns="0" rIns="0" bIns="0" anchor="t">
            <a:spAutoFit/>
          </a:bodyPr>
          <a:lstStyle/>
          <a:p>
            <a:pPr algn="l"/>
            <a:r>
              <a:rPr sz="950" b="1">
                <a:solidFill>
                  <a:srgbClr val="1C1917"/>
                </a:solidFill>
                <a:latin typeface="Segoe UI"/>
              </a:rPr>
              <a:t>Disks fail  </a:t>
            </a:r>
            <a:r>
              <a:rPr sz="950" b="0">
                <a:solidFill>
                  <a:srgbClr val="44403C"/>
                </a:solidFill>
                <a:latin typeface="Segoe UI"/>
              </a:rPr>
              <a:t>and so do whole servers</a:t>
            </a:r>
          </a:p>
        </p:txBody>
      </p:sp>
      <p:sp>
        <p:nvSpPr>
          <p:cNvPr id="30" name="a1ud120_dot29"/>
          <p:cNvSpPr/>
          <p:nvPr/>
        </p:nvSpPr>
        <p:spPr>
          <a:xfrm>
            <a:off x="6217920" y="2052828"/>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a1ud120_b30"/>
          <p:cNvSpPr txBox="1"/>
          <p:nvPr/>
        </p:nvSpPr>
        <p:spPr>
          <a:xfrm>
            <a:off x="6437376" y="1956816"/>
            <a:ext cx="2249424" cy="566928"/>
          </a:xfrm>
          <a:prstGeom prst="rect">
            <a:avLst/>
          </a:prstGeom>
          <a:noFill/>
        </p:spPr>
        <p:txBody>
          <a:bodyPr wrap="square" lIns="0" tIns="0" rIns="0" bIns="0" anchor="t">
            <a:spAutoFit/>
          </a:bodyPr>
          <a:lstStyle/>
          <a:p>
            <a:pPr algn="l"/>
            <a:r>
              <a:rPr sz="950" b="1">
                <a:solidFill>
                  <a:srgbClr val="1C1917"/>
                </a:solidFill>
                <a:latin typeface="Segoe UI"/>
              </a:rPr>
              <a:t>Cloud too  </a:t>
            </a:r>
            <a:r>
              <a:rPr sz="950" b="0">
                <a:solidFill>
                  <a:srgbClr val="44403C"/>
                </a:solidFill>
                <a:latin typeface="Segoe UI"/>
              </a:rPr>
              <a:t>instances can vanish like any machine</a:t>
            </a:r>
          </a:p>
        </p:txBody>
      </p:sp>
      <p:sp>
        <p:nvSpPr>
          <p:cNvPr id="32" name="a1ud240_dot31"/>
          <p:cNvSpPr/>
          <p:nvPr/>
        </p:nvSpPr>
        <p:spPr>
          <a:xfrm>
            <a:off x="6217920" y="2656332"/>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a1ud240_b32"/>
          <p:cNvSpPr txBox="1"/>
          <p:nvPr/>
        </p:nvSpPr>
        <p:spPr>
          <a:xfrm>
            <a:off x="6437376" y="2560320"/>
            <a:ext cx="2249424" cy="566928"/>
          </a:xfrm>
          <a:prstGeom prst="rect">
            <a:avLst/>
          </a:prstGeom>
          <a:noFill/>
        </p:spPr>
        <p:txBody>
          <a:bodyPr wrap="square" lIns="0" tIns="0" rIns="0" bIns="0" anchor="t">
            <a:spAutoFit/>
          </a:bodyPr>
          <a:lstStyle/>
          <a:p>
            <a:pPr algn="l"/>
            <a:r>
              <a:rPr sz="950" b="1">
                <a:solidFill>
                  <a:srgbClr val="1C1917"/>
                </a:solidFill>
                <a:latin typeface="Segoe UI"/>
              </a:rPr>
              <a:t>One copy?  </a:t>
            </a:r>
            <a:r>
              <a:rPr sz="950" b="0">
                <a:solidFill>
                  <a:srgbClr val="44403C"/>
                </a:solidFill>
                <a:latin typeface="Segoe UI"/>
              </a:rPr>
              <a:t>then a failure takes the data with it</a:t>
            </a:r>
          </a:p>
        </p:txBody>
      </p:sp>
      <p:sp>
        <p:nvSpPr>
          <p:cNvPr id="34" name="a2u_fx33"/>
          <p:cNvSpPr/>
          <p:nvPr/>
        </p:nvSpPr>
        <p:spPr>
          <a:xfrm>
            <a:off x="2423160" y="1719072"/>
            <a:ext cx="1600200" cy="1920240"/>
          </a:xfrm>
          <a:prstGeom prst="roundRect">
            <a:avLst>
              <a:gd name="adj" fmla="val 4571"/>
            </a:avLst>
          </a:prstGeom>
          <a:noFill/>
          <a:ln w="28575">
            <a:solidFill>
              <a:srgbClr val="E11D4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a2u_pill34"/>
          <p:cNvSpPr/>
          <p:nvPr/>
        </p:nvSpPr>
        <p:spPr>
          <a:xfrm>
            <a:off x="3236976" y="1819656"/>
            <a:ext cx="658368" cy="219456"/>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a:solidFill>
                  <a:srgbClr val="FFFFFF"/>
                </a:solidFill>
                <a:latin typeface="Consolas"/>
              </a:rPr>
              <a:t>OFFLINE</a:t>
            </a:r>
          </a:p>
        </p:txBody>
      </p:sp>
      <p:sp>
        <p:nvSpPr>
          <p:cNvPr id="36" name="a2u_rp35"/>
          <p:cNvSpPr/>
          <p:nvPr/>
        </p:nvSpPr>
        <p:spPr>
          <a:xfrm>
            <a:off x="2551176" y="2286000"/>
            <a:ext cx="1344168" cy="347472"/>
          </a:xfrm>
          <a:prstGeom prst="roundRect">
            <a:avLst>
              <a:gd name="adj" fmla="val 13157"/>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a2u_rpn36"/>
          <p:cNvSpPr txBox="1"/>
          <p:nvPr/>
        </p:nvSpPr>
        <p:spPr>
          <a:xfrm>
            <a:off x="2642616" y="2286000"/>
            <a:ext cx="365760" cy="347472"/>
          </a:xfrm>
          <a:prstGeom prst="rect">
            <a:avLst/>
          </a:prstGeom>
          <a:noFill/>
        </p:spPr>
        <p:txBody>
          <a:bodyPr wrap="square" lIns="0" tIns="0" rIns="0" bIns="0" anchor="ctr">
            <a:spAutoFit/>
          </a:bodyPr>
          <a:lstStyle/>
          <a:p>
            <a:pPr algn="l"/>
            <a:r>
              <a:rPr sz="1000" b="1">
                <a:solidFill>
                  <a:srgbClr val="A8A29E"/>
                </a:solidFill>
                <a:latin typeface="Consolas"/>
              </a:rPr>
              <a:t>P0</a:t>
            </a:r>
          </a:p>
        </p:txBody>
      </p:sp>
      <p:sp>
        <p:nvSpPr>
          <p:cNvPr id="38" name="a2u_rpt37"/>
          <p:cNvSpPr txBox="1"/>
          <p:nvPr/>
        </p:nvSpPr>
        <p:spPr>
          <a:xfrm>
            <a:off x="3008376" y="2286000"/>
            <a:ext cx="795528" cy="347472"/>
          </a:xfrm>
          <a:prstGeom prst="rect">
            <a:avLst/>
          </a:prstGeom>
          <a:noFill/>
        </p:spPr>
        <p:txBody>
          <a:bodyPr wrap="square" lIns="0" tIns="0" rIns="0" bIns="0" anchor="ctr">
            <a:spAutoFit/>
          </a:bodyPr>
          <a:lstStyle/>
          <a:p>
            <a:pPr algn="r"/>
            <a:r>
              <a:rPr sz="800" b="0">
                <a:solidFill>
                  <a:srgbClr val="A8A29E"/>
                </a:solidFill>
                <a:latin typeface="Segoe UI"/>
              </a:rPr>
              <a:t>offline</a:t>
            </a:r>
          </a:p>
        </p:txBody>
      </p:sp>
      <p:sp>
        <p:nvSpPr>
          <p:cNvPr id="39" name="a2u_rp38"/>
          <p:cNvSpPr/>
          <p:nvPr/>
        </p:nvSpPr>
        <p:spPr>
          <a:xfrm>
            <a:off x="2551176" y="2286000"/>
            <a:ext cx="1344168" cy="347472"/>
          </a:xfrm>
          <a:prstGeom prst="roundRect">
            <a:avLst>
              <a:gd name="adj" fmla="val 13157"/>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a2u_rpn39"/>
          <p:cNvSpPr txBox="1"/>
          <p:nvPr/>
        </p:nvSpPr>
        <p:spPr>
          <a:xfrm>
            <a:off x="2642616" y="2286000"/>
            <a:ext cx="365760" cy="347472"/>
          </a:xfrm>
          <a:prstGeom prst="rect">
            <a:avLst/>
          </a:prstGeom>
          <a:noFill/>
        </p:spPr>
        <p:txBody>
          <a:bodyPr wrap="square" lIns="0" tIns="0" rIns="0" bIns="0" anchor="ctr">
            <a:spAutoFit/>
          </a:bodyPr>
          <a:lstStyle/>
          <a:p>
            <a:pPr algn="l"/>
            <a:r>
              <a:rPr sz="1000" b="1">
                <a:solidFill>
                  <a:srgbClr val="A8A29E"/>
                </a:solidFill>
                <a:latin typeface="Consolas"/>
              </a:rPr>
              <a:t>P1</a:t>
            </a:r>
          </a:p>
        </p:txBody>
      </p:sp>
      <p:sp>
        <p:nvSpPr>
          <p:cNvPr id="41" name="a2u_rpt40"/>
          <p:cNvSpPr txBox="1"/>
          <p:nvPr/>
        </p:nvSpPr>
        <p:spPr>
          <a:xfrm>
            <a:off x="3008376" y="2286000"/>
            <a:ext cx="795528" cy="347472"/>
          </a:xfrm>
          <a:prstGeom prst="rect">
            <a:avLst/>
          </a:prstGeom>
          <a:noFill/>
        </p:spPr>
        <p:txBody>
          <a:bodyPr wrap="square" lIns="0" tIns="0" rIns="0" bIns="0" anchor="ctr">
            <a:spAutoFit/>
          </a:bodyPr>
          <a:lstStyle/>
          <a:p>
            <a:pPr algn="r"/>
            <a:r>
              <a:rPr sz="800" b="0">
                <a:solidFill>
                  <a:srgbClr val="A8A29E"/>
                </a:solidFill>
                <a:latin typeface="Segoe UI"/>
              </a:rPr>
              <a:t>lost</a:t>
            </a:r>
          </a:p>
        </p:txBody>
      </p:sp>
      <p:sp>
        <p:nvSpPr>
          <p:cNvPr id="42" name="a2ud200_lb41"/>
          <p:cNvSpPr txBox="1"/>
          <p:nvPr/>
        </p:nvSpPr>
        <p:spPr>
          <a:xfrm>
            <a:off x="2423160" y="2752344"/>
            <a:ext cx="1600200" cy="201168"/>
          </a:xfrm>
          <a:prstGeom prst="rect">
            <a:avLst/>
          </a:prstGeom>
          <a:noFill/>
        </p:spPr>
        <p:txBody>
          <a:bodyPr wrap="square" lIns="0" tIns="0" rIns="0" bIns="0" anchor="ctr">
            <a:spAutoFit/>
          </a:bodyPr>
          <a:lstStyle/>
          <a:p>
            <a:pPr algn="ctr"/>
            <a:r>
              <a:rPr sz="900" b="1">
                <a:solidFill>
                  <a:srgbClr val="9F1239"/>
                </a:solidFill>
                <a:latin typeface="Segoe UI"/>
              </a:rPr>
              <a:t>P1's data is gone</a:t>
            </a:r>
          </a:p>
        </p:txBody>
      </p:sp>
      <p:sp>
        <p:nvSpPr>
          <p:cNvPr id="43" name="a3u_nb42"/>
          <p:cNvSpPr/>
          <p:nvPr/>
        </p:nvSpPr>
        <p:spPr>
          <a:xfrm>
            <a:off x="457200" y="3931920"/>
            <a:ext cx="8229600" cy="548640"/>
          </a:xfrm>
          <a:prstGeom prst="roundRect">
            <a:avLst>
              <a:gd name="adj" fmla="val 1333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3u_nacc43"/>
          <p:cNvSpPr/>
          <p:nvPr/>
        </p:nvSpPr>
        <p:spPr>
          <a:xfrm>
            <a:off x="457200" y="3931920"/>
            <a:ext cx="54864" cy="5486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a3u_nt44"/>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So Kafka copies each partition's data to several brokers. That is replication.</a:t>
            </a:r>
          </a:p>
        </p:txBody>
      </p:sp>
      <p:sp>
        <p:nvSpPr>
          <p:cNvPr id="46" name="ft4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47" name="ft4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ft4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49" name="ft4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 calcmode="lin" valueType="num">
                                      <p:cBhvr additive="base">
                                        <p:cTn id="60" dur="500" fill="hold"/>
                                        <p:tgtEl>
                                          <p:spTgt spid="28"/>
                                        </p:tgtEl>
                                        <p:attrNameLst>
                                          <p:attrName>ppt_x</p:attrName>
                                        </p:attrNameLst>
                                      </p:cBhvr>
                                      <p:tavLst>
                                        <p:tav tm="0">
                                          <p:val>
                                            <p:strVal val="#ppt_x"/>
                                          </p:val>
                                        </p:tav>
                                        <p:tav tm="100000">
                                          <p:val>
                                            <p:strVal val="#ppt_x"/>
                                          </p:val>
                                        </p:tav>
                                      </p:tavLst>
                                    </p:anim>
                                    <p:anim calcmode="lin" valueType="num">
                                      <p:cBhvr additive="base">
                                        <p:cTn id="61" dur="500" fill="hold"/>
                                        <p:tgtEl>
                                          <p:spTgt spid="28"/>
                                        </p:tgtEl>
                                        <p:attrNameLst>
                                          <p:attrName>ppt_y</p:attrName>
                                        </p:attrNameLst>
                                      </p:cBhvr>
                                      <p:tavLst>
                                        <p:tav tm="0">
                                          <p:val>
                                            <p:strVal val="#ppt_y+0.1"/>
                                          </p:val>
                                        </p:tav>
                                        <p:tav tm="100000">
                                          <p:val>
                                            <p:strVal val="#ppt_y"/>
                                          </p:val>
                                        </p:tav>
                                      </p:tavLst>
                                    </p:anim>
                                    <p:animEffect transition="in" filter="fade">
                                      <p:cBhvr>
                                        <p:cTn id="62" dur="500"/>
                                        <p:tgtEl>
                                          <p:spTgt spid="28"/>
                                        </p:tgtEl>
                                      </p:cBhvr>
                                    </p:animEffect>
                                  </p:childTnLst>
                                </p:cTn>
                              </p:par>
                              <p:par>
                                <p:cTn id="63" presetID="2" presetClass="entr" presetSubtype="4"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ppt_y+0.1"/>
                                          </p:val>
                                        </p:tav>
                                        <p:tav tm="100000">
                                          <p:val>
                                            <p:strVal val="#ppt_y"/>
                                          </p:val>
                                        </p:tav>
                                      </p:tavLst>
                                    </p:anim>
                                    <p:animEffect transition="in" filter="fade">
                                      <p:cBhvr>
                                        <p:cTn id="67" dur="500"/>
                                        <p:tgtEl>
                                          <p:spTgt spid="29"/>
                                        </p:tgtEl>
                                      </p:cBhvr>
                                    </p:animEffect>
                                  </p:childTnLst>
                                </p:cTn>
                              </p:par>
                              <p:par>
                                <p:cTn id="68" presetID="2" presetClass="entr" presetSubtype="4" fill="hold" grpId="0" nodeType="withEffect">
                                  <p:stCondLst>
                                    <p:cond delay="120"/>
                                  </p:stCondLst>
                                  <p:childTnLst>
                                    <p:set>
                                      <p:cBhvr>
                                        <p:cTn id="69" dur="1" fill="hold">
                                          <p:stCondLst>
                                            <p:cond delay="0"/>
                                          </p:stCondLst>
                                        </p:cTn>
                                        <p:tgtEl>
                                          <p:spTgt spid="30"/>
                                        </p:tgtEl>
                                        <p:attrNameLst>
                                          <p:attrName>style.visibility</p:attrName>
                                        </p:attrNameLst>
                                      </p:cBhvr>
                                      <p:to>
                                        <p:strVal val="visible"/>
                                      </p:to>
                                    </p:set>
                                    <p:anim calcmode="lin" valueType="num">
                                      <p:cBhvr additive="base">
                                        <p:cTn id="70" dur="500" fill="hold"/>
                                        <p:tgtEl>
                                          <p:spTgt spid="30"/>
                                        </p:tgtEl>
                                        <p:attrNameLst>
                                          <p:attrName>ppt_x</p:attrName>
                                        </p:attrNameLst>
                                      </p:cBhvr>
                                      <p:tavLst>
                                        <p:tav tm="0">
                                          <p:val>
                                            <p:strVal val="#ppt_x"/>
                                          </p:val>
                                        </p:tav>
                                        <p:tav tm="100000">
                                          <p:val>
                                            <p:strVal val="#ppt_x"/>
                                          </p:val>
                                        </p:tav>
                                      </p:tavLst>
                                    </p:anim>
                                    <p:anim calcmode="lin" valueType="num">
                                      <p:cBhvr additive="base">
                                        <p:cTn id="71" dur="500" fill="hold"/>
                                        <p:tgtEl>
                                          <p:spTgt spid="30"/>
                                        </p:tgtEl>
                                        <p:attrNameLst>
                                          <p:attrName>ppt_y</p:attrName>
                                        </p:attrNameLst>
                                      </p:cBhvr>
                                      <p:tavLst>
                                        <p:tav tm="0">
                                          <p:val>
                                            <p:strVal val="#ppt_y+0.1"/>
                                          </p:val>
                                        </p:tav>
                                        <p:tav tm="100000">
                                          <p:val>
                                            <p:strVal val="#ppt_y"/>
                                          </p:val>
                                        </p:tav>
                                      </p:tavLst>
                                    </p:anim>
                                    <p:animEffect transition="in" filter="fade">
                                      <p:cBhvr>
                                        <p:cTn id="72" dur="500"/>
                                        <p:tgtEl>
                                          <p:spTgt spid="30"/>
                                        </p:tgtEl>
                                      </p:cBhvr>
                                    </p:animEffect>
                                  </p:childTnLst>
                                </p:cTn>
                              </p:par>
                              <p:par>
                                <p:cTn id="73" presetID="2" presetClass="entr" presetSubtype="4" fill="hold" grpId="0" nodeType="withEffect">
                                  <p:stCondLst>
                                    <p:cond delay="120"/>
                                  </p:stCondLst>
                                  <p:childTnLst>
                                    <p:set>
                                      <p:cBhvr>
                                        <p:cTn id="74" dur="1" fill="hold">
                                          <p:stCondLst>
                                            <p:cond delay="0"/>
                                          </p:stCondLst>
                                        </p:cTn>
                                        <p:tgtEl>
                                          <p:spTgt spid="31"/>
                                        </p:tgtEl>
                                        <p:attrNameLst>
                                          <p:attrName>style.visibility</p:attrName>
                                        </p:attrNameLst>
                                      </p:cBhvr>
                                      <p:to>
                                        <p:strVal val="visible"/>
                                      </p:to>
                                    </p:set>
                                    <p:anim calcmode="lin" valueType="num">
                                      <p:cBhvr additive="base">
                                        <p:cTn id="75" dur="500" fill="hold"/>
                                        <p:tgtEl>
                                          <p:spTgt spid="31"/>
                                        </p:tgtEl>
                                        <p:attrNameLst>
                                          <p:attrName>ppt_x</p:attrName>
                                        </p:attrNameLst>
                                      </p:cBhvr>
                                      <p:tavLst>
                                        <p:tav tm="0">
                                          <p:val>
                                            <p:strVal val="#ppt_x"/>
                                          </p:val>
                                        </p:tav>
                                        <p:tav tm="100000">
                                          <p:val>
                                            <p:strVal val="#ppt_x"/>
                                          </p:val>
                                        </p:tav>
                                      </p:tavLst>
                                    </p:anim>
                                    <p:anim calcmode="lin" valueType="num">
                                      <p:cBhvr additive="base">
                                        <p:cTn id="76" dur="500" fill="hold"/>
                                        <p:tgtEl>
                                          <p:spTgt spid="31"/>
                                        </p:tgtEl>
                                        <p:attrNameLst>
                                          <p:attrName>ppt_y</p:attrName>
                                        </p:attrNameLst>
                                      </p:cBhvr>
                                      <p:tavLst>
                                        <p:tav tm="0">
                                          <p:val>
                                            <p:strVal val="#ppt_y+0.1"/>
                                          </p:val>
                                        </p:tav>
                                        <p:tav tm="100000">
                                          <p:val>
                                            <p:strVal val="#ppt_y"/>
                                          </p:val>
                                        </p:tav>
                                      </p:tavLst>
                                    </p:anim>
                                    <p:animEffect transition="in" filter="fade">
                                      <p:cBhvr>
                                        <p:cTn id="77" dur="500"/>
                                        <p:tgtEl>
                                          <p:spTgt spid="31"/>
                                        </p:tgtEl>
                                      </p:cBhvr>
                                    </p:animEffect>
                                  </p:childTnLst>
                                </p:cTn>
                              </p:par>
                              <p:par>
                                <p:cTn id="78" presetID="2" presetClass="entr" presetSubtype="4" fill="hold" grpId="0" nodeType="withEffect">
                                  <p:stCondLst>
                                    <p:cond delay="240"/>
                                  </p:stCondLst>
                                  <p:childTnLst>
                                    <p:set>
                                      <p:cBhvr>
                                        <p:cTn id="79" dur="1" fill="hold">
                                          <p:stCondLst>
                                            <p:cond delay="0"/>
                                          </p:stCondLst>
                                        </p:cTn>
                                        <p:tgtEl>
                                          <p:spTgt spid="32"/>
                                        </p:tgtEl>
                                        <p:attrNameLst>
                                          <p:attrName>style.visibility</p:attrName>
                                        </p:attrNameLst>
                                      </p:cBhvr>
                                      <p:to>
                                        <p:strVal val="visible"/>
                                      </p:to>
                                    </p:set>
                                    <p:anim calcmode="lin" valueType="num">
                                      <p:cBhvr additive="base">
                                        <p:cTn id="80" dur="500" fill="hold"/>
                                        <p:tgtEl>
                                          <p:spTgt spid="32"/>
                                        </p:tgtEl>
                                        <p:attrNameLst>
                                          <p:attrName>ppt_x</p:attrName>
                                        </p:attrNameLst>
                                      </p:cBhvr>
                                      <p:tavLst>
                                        <p:tav tm="0">
                                          <p:val>
                                            <p:strVal val="#ppt_x"/>
                                          </p:val>
                                        </p:tav>
                                        <p:tav tm="100000">
                                          <p:val>
                                            <p:strVal val="#ppt_x"/>
                                          </p:val>
                                        </p:tav>
                                      </p:tavLst>
                                    </p:anim>
                                    <p:anim calcmode="lin" valueType="num">
                                      <p:cBhvr additive="base">
                                        <p:cTn id="81" dur="500" fill="hold"/>
                                        <p:tgtEl>
                                          <p:spTgt spid="32"/>
                                        </p:tgtEl>
                                        <p:attrNameLst>
                                          <p:attrName>ppt_y</p:attrName>
                                        </p:attrNameLst>
                                      </p:cBhvr>
                                      <p:tavLst>
                                        <p:tav tm="0">
                                          <p:val>
                                            <p:strVal val="#ppt_y+0.1"/>
                                          </p:val>
                                        </p:tav>
                                        <p:tav tm="100000">
                                          <p:val>
                                            <p:strVal val="#ppt_y"/>
                                          </p:val>
                                        </p:tav>
                                      </p:tavLst>
                                    </p:anim>
                                    <p:animEffect transition="in" filter="fade">
                                      <p:cBhvr>
                                        <p:cTn id="82" dur="500"/>
                                        <p:tgtEl>
                                          <p:spTgt spid="32"/>
                                        </p:tgtEl>
                                      </p:cBhvr>
                                    </p:animEffect>
                                  </p:childTnLst>
                                </p:cTn>
                              </p:par>
                              <p:par>
                                <p:cTn id="83" presetID="2" presetClass="entr" presetSubtype="4" fill="hold" grpId="0" nodeType="withEffect">
                                  <p:stCondLst>
                                    <p:cond delay="24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500" fill="hold"/>
                                        <p:tgtEl>
                                          <p:spTgt spid="33"/>
                                        </p:tgtEl>
                                        <p:attrNameLst>
                                          <p:attrName>ppt_x</p:attrName>
                                        </p:attrNameLst>
                                      </p:cBhvr>
                                      <p:tavLst>
                                        <p:tav tm="0">
                                          <p:val>
                                            <p:strVal val="#ppt_x"/>
                                          </p:val>
                                        </p:tav>
                                        <p:tav tm="100000">
                                          <p:val>
                                            <p:strVal val="#ppt_x"/>
                                          </p:val>
                                        </p:tav>
                                      </p:tavLst>
                                    </p:anim>
                                    <p:anim calcmode="lin" valueType="num">
                                      <p:cBhvr additive="base">
                                        <p:cTn id="86" dur="500" fill="hold"/>
                                        <p:tgtEl>
                                          <p:spTgt spid="33"/>
                                        </p:tgtEl>
                                        <p:attrNameLst>
                                          <p:attrName>ppt_y</p:attrName>
                                        </p:attrNameLst>
                                      </p:cBhvr>
                                      <p:tavLst>
                                        <p:tav tm="0">
                                          <p:val>
                                            <p:strVal val="#ppt_y+0.1"/>
                                          </p:val>
                                        </p:tav>
                                        <p:tav tm="100000">
                                          <p:val>
                                            <p:strVal val="#ppt_y"/>
                                          </p:val>
                                        </p:tav>
                                      </p:tavLst>
                                    </p:anim>
                                    <p:animEffect transition="in" filter="fade">
                                      <p:cBhvr>
                                        <p:cTn id="87" dur="500"/>
                                        <p:tgtEl>
                                          <p:spTgt spid="33"/>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34"/>
                                        </p:tgtEl>
                                        <p:attrNameLst>
                                          <p:attrName>style.visibility</p:attrName>
                                        </p:attrNameLst>
                                      </p:cBhvr>
                                      <p:to>
                                        <p:strVal val="visible"/>
                                      </p:to>
                                    </p:set>
                                    <p:anim calcmode="lin" valueType="num">
                                      <p:cBhvr additive="base">
                                        <p:cTn id="92" dur="500" fill="hold"/>
                                        <p:tgtEl>
                                          <p:spTgt spid="34"/>
                                        </p:tgtEl>
                                        <p:attrNameLst>
                                          <p:attrName>ppt_x</p:attrName>
                                        </p:attrNameLst>
                                      </p:cBhvr>
                                      <p:tavLst>
                                        <p:tav tm="0">
                                          <p:val>
                                            <p:strVal val="#ppt_x"/>
                                          </p:val>
                                        </p:tav>
                                        <p:tav tm="100000">
                                          <p:val>
                                            <p:strVal val="#ppt_x"/>
                                          </p:val>
                                        </p:tav>
                                      </p:tavLst>
                                    </p:anim>
                                    <p:anim calcmode="lin" valueType="num">
                                      <p:cBhvr additive="base">
                                        <p:cTn id="93" dur="500" fill="hold"/>
                                        <p:tgtEl>
                                          <p:spTgt spid="34"/>
                                        </p:tgtEl>
                                        <p:attrNameLst>
                                          <p:attrName>ppt_y</p:attrName>
                                        </p:attrNameLst>
                                      </p:cBhvr>
                                      <p:tavLst>
                                        <p:tav tm="0">
                                          <p:val>
                                            <p:strVal val="#ppt_y+0.1"/>
                                          </p:val>
                                        </p:tav>
                                        <p:tav tm="100000">
                                          <p:val>
                                            <p:strVal val="#ppt_y"/>
                                          </p:val>
                                        </p:tav>
                                      </p:tavLst>
                                    </p:anim>
                                    <p:animEffect transition="in" filter="fade">
                                      <p:cBhvr>
                                        <p:cTn id="94" dur="500"/>
                                        <p:tgtEl>
                                          <p:spTgt spid="34"/>
                                        </p:tgtEl>
                                      </p:cBhvr>
                                    </p:animEffect>
                                  </p:childTnLst>
                                </p:cTn>
                              </p:par>
                              <p:par>
                                <p:cTn id="95" presetID="2" presetClass="entr" presetSubtype="4"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 calcmode="lin" valueType="num">
                                      <p:cBhvr additive="base">
                                        <p:cTn id="97" dur="500" fill="hold"/>
                                        <p:tgtEl>
                                          <p:spTgt spid="35"/>
                                        </p:tgtEl>
                                        <p:attrNameLst>
                                          <p:attrName>ppt_x</p:attrName>
                                        </p:attrNameLst>
                                      </p:cBhvr>
                                      <p:tavLst>
                                        <p:tav tm="0">
                                          <p:val>
                                            <p:strVal val="#ppt_x"/>
                                          </p:val>
                                        </p:tav>
                                        <p:tav tm="100000">
                                          <p:val>
                                            <p:strVal val="#ppt_x"/>
                                          </p:val>
                                        </p:tav>
                                      </p:tavLst>
                                    </p:anim>
                                    <p:anim calcmode="lin" valueType="num">
                                      <p:cBhvr additive="base">
                                        <p:cTn id="98" dur="500" fill="hold"/>
                                        <p:tgtEl>
                                          <p:spTgt spid="35"/>
                                        </p:tgtEl>
                                        <p:attrNameLst>
                                          <p:attrName>ppt_y</p:attrName>
                                        </p:attrNameLst>
                                      </p:cBhvr>
                                      <p:tavLst>
                                        <p:tav tm="0">
                                          <p:val>
                                            <p:strVal val="#ppt_y+0.1"/>
                                          </p:val>
                                        </p:tav>
                                        <p:tav tm="100000">
                                          <p:val>
                                            <p:strVal val="#ppt_y"/>
                                          </p:val>
                                        </p:tav>
                                      </p:tavLst>
                                    </p:anim>
                                    <p:animEffect transition="in" filter="fade">
                                      <p:cBhvr>
                                        <p:cTn id="99" dur="500"/>
                                        <p:tgtEl>
                                          <p:spTgt spid="35"/>
                                        </p:tgtEl>
                                      </p:cBhvr>
                                    </p:animEffect>
                                  </p:childTnLst>
                                </p:cTn>
                              </p:par>
                              <p:par>
                                <p:cTn id="100" presetID="2" presetClass="entr" presetSubtype="4" fill="hold" grpId="0" nodeType="withEffect">
                                  <p:stCondLst>
                                    <p:cond delay="0"/>
                                  </p:stCondLst>
                                  <p:childTnLst>
                                    <p:set>
                                      <p:cBhvr>
                                        <p:cTn id="101" dur="1" fill="hold">
                                          <p:stCondLst>
                                            <p:cond delay="0"/>
                                          </p:stCondLst>
                                        </p:cTn>
                                        <p:tgtEl>
                                          <p:spTgt spid="36"/>
                                        </p:tgtEl>
                                        <p:attrNameLst>
                                          <p:attrName>style.visibility</p:attrName>
                                        </p:attrNameLst>
                                      </p:cBhvr>
                                      <p:to>
                                        <p:strVal val="visible"/>
                                      </p:to>
                                    </p:set>
                                    <p:anim calcmode="lin" valueType="num">
                                      <p:cBhvr additive="base">
                                        <p:cTn id="102" dur="500" fill="hold"/>
                                        <p:tgtEl>
                                          <p:spTgt spid="36"/>
                                        </p:tgtEl>
                                        <p:attrNameLst>
                                          <p:attrName>ppt_x</p:attrName>
                                        </p:attrNameLst>
                                      </p:cBhvr>
                                      <p:tavLst>
                                        <p:tav tm="0">
                                          <p:val>
                                            <p:strVal val="#ppt_x"/>
                                          </p:val>
                                        </p:tav>
                                        <p:tav tm="100000">
                                          <p:val>
                                            <p:strVal val="#ppt_x"/>
                                          </p:val>
                                        </p:tav>
                                      </p:tavLst>
                                    </p:anim>
                                    <p:anim calcmode="lin" valueType="num">
                                      <p:cBhvr additive="base">
                                        <p:cTn id="103" dur="500" fill="hold"/>
                                        <p:tgtEl>
                                          <p:spTgt spid="36"/>
                                        </p:tgtEl>
                                        <p:attrNameLst>
                                          <p:attrName>ppt_y</p:attrName>
                                        </p:attrNameLst>
                                      </p:cBhvr>
                                      <p:tavLst>
                                        <p:tav tm="0">
                                          <p:val>
                                            <p:strVal val="#ppt_y+0.1"/>
                                          </p:val>
                                        </p:tav>
                                        <p:tav tm="100000">
                                          <p:val>
                                            <p:strVal val="#ppt_y"/>
                                          </p:val>
                                        </p:tav>
                                      </p:tavLst>
                                    </p:anim>
                                    <p:animEffect transition="in" filter="fade">
                                      <p:cBhvr>
                                        <p:cTn id="104" dur="500"/>
                                        <p:tgtEl>
                                          <p:spTgt spid="36"/>
                                        </p:tgtEl>
                                      </p:cBhvr>
                                    </p:animEffect>
                                  </p:childTnLst>
                                </p:cTn>
                              </p:par>
                              <p:par>
                                <p:cTn id="105" presetID="2" presetClass="entr" presetSubtype="4"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 calcmode="lin" valueType="num">
                                      <p:cBhvr additive="base">
                                        <p:cTn id="107" dur="500" fill="hold"/>
                                        <p:tgtEl>
                                          <p:spTgt spid="37"/>
                                        </p:tgtEl>
                                        <p:attrNameLst>
                                          <p:attrName>ppt_x</p:attrName>
                                        </p:attrNameLst>
                                      </p:cBhvr>
                                      <p:tavLst>
                                        <p:tav tm="0">
                                          <p:val>
                                            <p:strVal val="#ppt_x"/>
                                          </p:val>
                                        </p:tav>
                                        <p:tav tm="100000">
                                          <p:val>
                                            <p:strVal val="#ppt_x"/>
                                          </p:val>
                                        </p:tav>
                                      </p:tavLst>
                                    </p:anim>
                                    <p:anim calcmode="lin" valueType="num">
                                      <p:cBhvr additive="base">
                                        <p:cTn id="108" dur="500" fill="hold"/>
                                        <p:tgtEl>
                                          <p:spTgt spid="37"/>
                                        </p:tgtEl>
                                        <p:attrNameLst>
                                          <p:attrName>ppt_y</p:attrName>
                                        </p:attrNameLst>
                                      </p:cBhvr>
                                      <p:tavLst>
                                        <p:tav tm="0">
                                          <p:val>
                                            <p:strVal val="#ppt_y+0.1"/>
                                          </p:val>
                                        </p:tav>
                                        <p:tav tm="100000">
                                          <p:val>
                                            <p:strVal val="#ppt_y"/>
                                          </p:val>
                                        </p:tav>
                                      </p:tavLst>
                                    </p:anim>
                                    <p:animEffect transition="in" filter="fade">
                                      <p:cBhvr>
                                        <p:cTn id="109" dur="500"/>
                                        <p:tgtEl>
                                          <p:spTgt spid="37"/>
                                        </p:tgtEl>
                                      </p:cBhvr>
                                    </p:animEffect>
                                  </p:childTnLst>
                                </p:cTn>
                              </p:par>
                              <p:par>
                                <p:cTn id="110" presetID="2" presetClass="entr" presetSubtype="4"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 calcmode="lin" valueType="num">
                                      <p:cBhvr additive="base">
                                        <p:cTn id="112" dur="500" fill="hold"/>
                                        <p:tgtEl>
                                          <p:spTgt spid="38"/>
                                        </p:tgtEl>
                                        <p:attrNameLst>
                                          <p:attrName>ppt_x</p:attrName>
                                        </p:attrNameLst>
                                      </p:cBhvr>
                                      <p:tavLst>
                                        <p:tav tm="0">
                                          <p:val>
                                            <p:strVal val="#ppt_x"/>
                                          </p:val>
                                        </p:tav>
                                        <p:tav tm="100000">
                                          <p:val>
                                            <p:strVal val="#ppt_x"/>
                                          </p:val>
                                        </p:tav>
                                      </p:tavLst>
                                    </p:anim>
                                    <p:anim calcmode="lin" valueType="num">
                                      <p:cBhvr additive="base">
                                        <p:cTn id="113" dur="500" fill="hold"/>
                                        <p:tgtEl>
                                          <p:spTgt spid="38"/>
                                        </p:tgtEl>
                                        <p:attrNameLst>
                                          <p:attrName>ppt_y</p:attrName>
                                        </p:attrNameLst>
                                      </p:cBhvr>
                                      <p:tavLst>
                                        <p:tav tm="0">
                                          <p:val>
                                            <p:strVal val="#ppt_y+0.1"/>
                                          </p:val>
                                        </p:tav>
                                        <p:tav tm="100000">
                                          <p:val>
                                            <p:strVal val="#ppt_y"/>
                                          </p:val>
                                        </p:tav>
                                      </p:tavLst>
                                    </p:anim>
                                    <p:animEffect transition="in" filter="fade">
                                      <p:cBhvr>
                                        <p:cTn id="114" dur="500"/>
                                        <p:tgtEl>
                                          <p:spTgt spid="38"/>
                                        </p:tgtEl>
                                      </p:cBhvr>
                                    </p:animEffect>
                                  </p:childTnLst>
                                </p:cTn>
                              </p:par>
                              <p:par>
                                <p:cTn id="115" presetID="2" presetClass="entr" presetSubtype="4" fill="hold" grpId="0" nodeType="withEffect">
                                  <p:stCondLst>
                                    <p:cond delay="0"/>
                                  </p:stCondLst>
                                  <p:childTnLst>
                                    <p:set>
                                      <p:cBhvr>
                                        <p:cTn id="116" dur="1" fill="hold">
                                          <p:stCondLst>
                                            <p:cond delay="0"/>
                                          </p:stCondLst>
                                        </p:cTn>
                                        <p:tgtEl>
                                          <p:spTgt spid="39"/>
                                        </p:tgtEl>
                                        <p:attrNameLst>
                                          <p:attrName>style.visibility</p:attrName>
                                        </p:attrNameLst>
                                      </p:cBhvr>
                                      <p:to>
                                        <p:strVal val="visible"/>
                                      </p:to>
                                    </p:set>
                                    <p:anim calcmode="lin" valueType="num">
                                      <p:cBhvr additive="base">
                                        <p:cTn id="117" dur="500" fill="hold"/>
                                        <p:tgtEl>
                                          <p:spTgt spid="39"/>
                                        </p:tgtEl>
                                        <p:attrNameLst>
                                          <p:attrName>ppt_x</p:attrName>
                                        </p:attrNameLst>
                                      </p:cBhvr>
                                      <p:tavLst>
                                        <p:tav tm="0">
                                          <p:val>
                                            <p:strVal val="#ppt_x"/>
                                          </p:val>
                                        </p:tav>
                                        <p:tav tm="100000">
                                          <p:val>
                                            <p:strVal val="#ppt_x"/>
                                          </p:val>
                                        </p:tav>
                                      </p:tavLst>
                                    </p:anim>
                                    <p:anim calcmode="lin" valueType="num">
                                      <p:cBhvr additive="base">
                                        <p:cTn id="118" dur="500" fill="hold"/>
                                        <p:tgtEl>
                                          <p:spTgt spid="39"/>
                                        </p:tgtEl>
                                        <p:attrNameLst>
                                          <p:attrName>ppt_y</p:attrName>
                                        </p:attrNameLst>
                                      </p:cBhvr>
                                      <p:tavLst>
                                        <p:tav tm="0">
                                          <p:val>
                                            <p:strVal val="#ppt_y+0.1"/>
                                          </p:val>
                                        </p:tav>
                                        <p:tav tm="100000">
                                          <p:val>
                                            <p:strVal val="#ppt_y"/>
                                          </p:val>
                                        </p:tav>
                                      </p:tavLst>
                                    </p:anim>
                                    <p:animEffect transition="in" filter="fade">
                                      <p:cBhvr>
                                        <p:cTn id="119" dur="500"/>
                                        <p:tgtEl>
                                          <p:spTgt spid="39"/>
                                        </p:tgtEl>
                                      </p:cBhvr>
                                    </p:animEffect>
                                  </p:childTnLst>
                                </p:cTn>
                              </p:par>
                              <p:par>
                                <p:cTn id="120" presetID="2" presetClass="entr" presetSubtype="4" fill="hold" grpId="0" nodeType="withEffect">
                                  <p:stCondLst>
                                    <p:cond delay="0"/>
                                  </p:stCondLst>
                                  <p:childTnLst>
                                    <p:set>
                                      <p:cBhvr>
                                        <p:cTn id="121" dur="1" fill="hold">
                                          <p:stCondLst>
                                            <p:cond delay="0"/>
                                          </p:stCondLst>
                                        </p:cTn>
                                        <p:tgtEl>
                                          <p:spTgt spid="40"/>
                                        </p:tgtEl>
                                        <p:attrNameLst>
                                          <p:attrName>style.visibility</p:attrName>
                                        </p:attrNameLst>
                                      </p:cBhvr>
                                      <p:to>
                                        <p:strVal val="visible"/>
                                      </p:to>
                                    </p:set>
                                    <p:anim calcmode="lin" valueType="num">
                                      <p:cBhvr additive="base">
                                        <p:cTn id="122" dur="500" fill="hold"/>
                                        <p:tgtEl>
                                          <p:spTgt spid="40"/>
                                        </p:tgtEl>
                                        <p:attrNameLst>
                                          <p:attrName>ppt_x</p:attrName>
                                        </p:attrNameLst>
                                      </p:cBhvr>
                                      <p:tavLst>
                                        <p:tav tm="0">
                                          <p:val>
                                            <p:strVal val="#ppt_x"/>
                                          </p:val>
                                        </p:tav>
                                        <p:tav tm="100000">
                                          <p:val>
                                            <p:strVal val="#ppt_x"/>
                                          </p:val>
                                        </p:tav>
                                      </p:tavLst>
                                    </p:anim>
                                    <p:anim calcmode="lin" valueType="num">
                                      <p:cBhvr additive="base">
                                        <p:cTn id="123" dur="500" fill="hold"/>
                                        <p:tgtEl>
                                          <p:spTgt spid="40"/>
                                        </p:tgtEl>
                                        <p:attrNameLst>
                                          <p:attrName>ppt_y</p:attrName>
                                        </p:attrNameLst>
                                      </p:cBhvr>
                                      <p:tavLst>
                                        <p:tav tm="0">
                                          <p:val>
                                            <p:strVal val="#ppt_y+0.1"/>
                                          </p:val>
                                        </p:tav>
                                        <p:tav tm="100000">
                                          <p:val>
                                            <p:strVal val="#ppt_y"/>
                                          </p:val>
                                        </p:tav>
                                      </p:tavLst>
                                    </p:anim>
                                    <p:animEffect transition="in" filter="fade">
                                      <p:cBhvr>
                                        <p:cTn id="124" dur="500"/>
                                        <p:tgtEl>
                                          <p:spTgt spid="40"/>
                                        </p:tgtEl>
                                      </p:cBhvr>
                                    </p:animEffect>
                                  </p:childTnLst>
                                </p:cTn>
                              </p:par>
                              <p:par>
                                <p:cTn id="125" presetID="2" presetClass="entr" presetSubtype="4" fill="hold" grpId="0" nodeType="withEffect">
                                  <p:stCondLst>
                                    <p:cond delay="0"/>
                                  </p:stCondLst>
                                  <p:childTnLst>
                                    <p:set>
                                      <p:cBhvr>
                                        <p:cTn id="126" dur="1" fill="hold">
                                          <p:stCondLst>
                                            <p:cond delay="0"/>
                                          </p:stCondLst>
                                        </p:cTn>
                                        <p:tgtEl>
                                          <p:spTgt spid="41"/>
                                        </p:tgtEl>
                                        <p:attrNameLst>
                                          <p:attrName>style.visibility</p:attrName>
                                        </p:attrNameLst>
                                      </p:cBhvr>
                                      <p:to>
                                        <p:strVal val="visible"/>
                                      </p:to>
                                    </p:set>
                                    <p:anim calcmode="lin" valueType="num">
                                      <p:cBhvr additive="base">
                                        <p:cTn id="127" dur="500" fill="hold"/>
                                        <p:tgtEl>
                                          <p:spTgt spid="41"/>
                                        </p:tgtEl>
                                        <p:attrNameLst>
                                          <p:attrName>ppt_x</p:attrName>
                                        </p:attrNameLst>
                                      </p:cBhvr>
                                      <p:tavLst>
                                        <p:tav tm="0">
                                          <p:val>
                                            <p:strVal val="#ppt_x"/>
                                          </p:val>
                                        </p:tav>
                                        <p:tav tm="100000">
                                          <p:val>
                                            <p:strVal val="#ppt_x"/>
                                          </p:val>
                                        </p:tav>
                                      </p:tavLst>
                                    </p:anim>
                                    <p:anim calcmode="lin" valueType="num">
                                      <p:cBhvr additive="base">
                                        <p:cTn id="128" dur="500" fill="hold"/>
                                        <p:tgtEl>
                                          <p:spTgt spid="41"/>
                                        </p:tgtEl>
                                        <p:attrNameLst>
                                          <p:attrName>ppt_y</p:attrName>
                                        </p:attrNameLst>
                                      </p:cBhvr>
                                      <p:tavLst>
                                        <p:tav tm="0">
                                          <p:val>
                                            <p:strVal val="#ppt_y+0.1"/>
                                          </p:val>
                                        </p:tav>
                                        <p:tav tm="100000">
                                          <p:val>
                                            <p:strVal val="#ppt_y"/>
                                          </p:val>
                                        </p:tav>
                                      </p:tavLst>
                                    </p:anim>
                                    <p:animEffect transition="in" filter="fade">
                                      <p:cBhvr>
                                        <p:cTn id="129" dur="500"/>
                                        <p:tgtEl>
                                          <p:spTgt spid="41"/>
                                        </p:tgtEl>
                                      </p:cBhvr>
                                    </p:animEffect>
                                  </p:childTnLst>
                                </p:cTn>
                              </p:par>
                              <p:par>
                                <p:cTn id="130" presetID="2" presetClass="entr" presetSubtype="4" fill="hold" grpId="0" nodeType="withEffect">
                                  <p:stCondLst>
                                    <p:cond delay="200"/>
                                  </p:stCondLst>
                                  <p:childTnLst>
                                    <p:set>
                                      <p:cBhvr>
                                        <p:cTn id="131" dur="1" fill="hold">
                                          <p:stCondLst>
                                            <p:cond delay="0"/>
                                          </p:stCondLst>
                                        </p:cTn>
                                        <p:tgtEl>
                                          <p:spTgt spid="42"/>
                                        </p:tgtEl>
                                        <p:attrNameLst>
                                          <p:attrName>style.visibility</p:attrName>
                                        </p:attrNameLst>
                                      </p:cBhvr>
                                      <p:to>
                                        <p:strVal val="visible"/>
                                      </p:to>
                                    </p:set>
                                    <p:anim calcmode="lin" valueType="num">
                                      <p:cBhvr additive="base">
                                        <p:cTn id="132" dur="500" fill="hold"/>
                                        <p:tgtEl>
                                          <p:spTgt spid="42"/>
                                        </p:tgtEl>
                                        <p:attrNameLst>
                                          <p:attrName>ppt_x</p:attrName>
                                        </p:attrNameLst>
                                      </p:cBhvr>
                                      <p:tavLst>
                                        <p:tav tm="0">
                                          <p:val>
                                            <p:strVal val="#ppt_x"/>
                                          </p:val>
                                        </p:tav>
                                        <p:tav tm="100000">
                                          <p:val>
                                            <p:strVal val="#ppt_x"/>
                                          </p:val>
                                        </p:tav>
                                      </p:tavLst>
                                    </p:anim>
                                    <p:anim calcmode="lin" valueType="num">
                                      <p:cBhvr additive="base">
                                        <p:cTn id="133" dur="500" fill="hold"/>
                                        <p:tgtEl>
                                          <p:spTgt spid="42"/>
                                        </p:tgtEl>
                                        <p:attrNameLst>
                                          <p:attrName>ppt_y</p:attrName>
                                        </p:attrNameLst>
                                      </p:cBhvr>
                                      <p:tavLst>
                                        <p:tav tm="0">
                                          <p:val>
                                            <p:strVal val="#ppt_y+0.1"/>
                                          </p:val>
                                        </p:tav>
                                        <p:tav tm="100000">
                                          <p:val>
                                            <p:strVal val="#ppt_y"/>
                                          </p:val>
                                        </p:tav>
                                      </p:tavLst>
                                    </p:anim>
                                    <p:animEffect transition="in" filter="fade">
                                      <p:cBhvr>
                                        <p:cTn id="134" dur="500"/>
                                        <p:tgtEl>
                                          <p:spTgt spid="42"/>
                                        </p:tgtEl>
                                      </p:cBhvr>
                                    </p:animEffect>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43"/>
                                        </p:tgtEl>
                                        <p:attrNameLst>
                                          <p:attrName>style.visibility</p:attrName>
                                        </p:attrNameLst>
                                      </p:cBhvr>
                                      <p:to>
                                        <p:strVal val="visible"/>
                                      </p:to>
                                    </p:set>
                                    <p:anim calcmode="lin" valueType="num">
                                      <p:cBhvr additive="base">
                                        <p:cTn id="139" dur="500" fill="hold"/>
                                        <p:tgtEl>
                                          <p:spTgt spid="43"/>
                                        </p:tgtEl>
                                        <p:attrNameLst>
                                          <p:attrName>ppt_x</p:attrName>
                                        </p:attrNameLst>
                                      </p:cBhvr>
                                      <p:tavLst>
                                        <p:tav tm="0">
                                          <p:val>
                                            <p:strVal val="#ppt_x"/>
                                          </p:val>
                                        </p:tav>
                                        <p:tav tm="100000">
                                          <p:val>
                                            <p:strVal val="#ppt_x"/>
                                          </p:val>
                                        </p:tav>
                                      </p:tavLst>
                                    </p:anim>
                                    <p:anim calcmode="lin" valueType="num">
                                      <p:cBhvr additive="base">
                                        <p:cTn id="140" dur="500" fill="hold"/>
                                        <p:tgtEl>
                                          <p:spTgt spid="43"/>
                                        </p:tgtEl>
                                        <p:attrNameLst>
                                          <p:attrName>ppt_y</p:attrName>
                                        </p:attrNameLst>
                                      </p:cBhvr>
                                      <p:tavLst>
                                        <p:tav tm="0">
                                          <p:val>
                                            <p:strVal val="#ppt_y+0.1"/>
                                          </p:val>
                                        </p:tav>
                                        <p:tav tm="100000">
                                          <p:val>
                                            <p:strVal val="#ppt_y"/>
                                          </p:val>
                                        </p:tav>
                                      </p:tavLst>
                                    </p:anim>
                                    <p:animEffect transition="in" filter="fade">
                                      <p:cBhvr>
                                        <p:cTn id="141" dur="500"/>
                                        <p:tgtEl>
                                          <p:spTgt spid="43"/>
                                        </p:tgtEl>
                                      </p:cBhvr>
                                    </p:animEffect>
                                  </p:childTnLst>
                                </p:cTn>
                              </p:par>
                              <p:par>
                                <p:cTn id="142" presetID="2" presetClass="entr" presetSubtype="4" fill="hold" grpId="0" nodeType="withEffect">
                                  <p:stCondLst>
                                    <p:cond delay="0"/>
                                  </p:stCondLst>
                                  <p:childTnLst>
                                    <p:set>
                                      <p:cBhvr>
                                        <p:cTn id="143" dur="1" fill="hold">
                                          <p:stCondLst>
                                            <p:cond delay="0"/>
                                          </p:stCondLst>
                                        </p:cTn>
                                        <p:tgtEl>
                                          <p:spTgt spid="44"/>
                                        </p:tgtEl>
                                        <p:attrNameLst>
                                          <p:attrName>style.visibility</p:attrName>
                                        </p:attrNameLst>
                                      </p:cBhvr>
                                      <p:to>
                                        <p:strVal val="visible"/>
                                      </p:to>
                                    </p:set>
                                    <p:anim calcmode="lin" valueType="num">
                                      <p:cBhvr additive="base">
                                        <p:cTn id="144" dur="500" fill="hold"/>
                                        <p:tgtEl>
                                          <p:spTgt spid="44"/>
                                        </p:tgtEl>
                                        <p:attrNameLst>
                                          <p:attrName>ppt_x</p:attrName>
                                        </p:attrNameLst>
                                      </p:cBhvr>
                                      <p:tavLst>
                                        <p:tav tm="0">
                                          <p:val>
                                            <p:strVal val="#ppt_x"/>
                                          </p:val>
                                        </p:tav>
                                        <p:tav tm="100000">
                                          <p:val>
                                            <p:strVal val="#ppt_x"/>
                                          </p:val>
                                        </p:tav>
                                      </p:tavLst>
                                    </p:anim>
                                    <p:anim calcmode="lin" valueType="num">
                                      <p:cBhvr additive="base">
                                        <p:cTn id="145" dur="500" fill="hold"/>
                                        <p:tgtEl>
                                          <p:spTgt spid="44"/>
                                        </p:tgtEl>
                                        <p:attrNameLst>
                                          <p:attrName>ppt_y</p:attrName>
                                        </p:attrNameLst>
                                      </p:cBhvr>
                                      <p:tavLst>
                                        <p:tav tm="0">
                                          <p:val>
                                            <p:strVal val="#ppt_y+0.1"/>
                                          </p:val>
                                        </p:tav>
                                        <p:tav tm="100000">
                                          <p:val>
                                            <p:strVal val="#ppt_y"/>
                                          </p:val>
                                        </p:tav>
                                      </p:tavLst>
                                    </p:anim>
                                    <p:animEffect transition="in" filter="fade">
                                      <p:cBhvr>
                                        <p:cTn id="146" dur="500"/>
                                        <p:tgtEl>
                                          <p:spTgt spid="44"/>
                                        </p:tgtEl>
                                      </p:cBhvr>
                                    </p:animEffect>
                                  </p:childTnLst>
                                </p:cTn>
                              </p:par>
                              <p:par>
                                <p:cTn id="147" presetID="2" presetClass="entr" presetSubtype="4" fill="hold" grpId="0" nodeType="withEffect">
                                  <p:stCondLst>
                                    <p:cond delay="0"/>
                                  </p:stCondLst>
                                  <p:childTnLst>
                                    <p:set>
                                      <p:cBhvr>
                                        <p:cTn id="148" dur="1" fill="hold">
                                          <p:stCondLst>
                                            <p:cond delay="0"/>
                                          </p:stCondLst>
                                        </p:cTn>
                                        <p:tgtEl>
                                          <p:spTgt spid="45"/>
                                        </p:tgtEl>
                                        <p:attrNameLst>
                                          <p:attrName>style.visibility</p:attrName>
                                        </p:attrNameLst>
                                      </p:cBhvr>
                                      <p:to>
                                        <p:strVal val="visible"/>
                                      </p:to>
                                    </p:set>
                                    <p:anim calcmode="lin" valueType="num">
                                      <p:cBhvr additive="base">
                                        <p:cTn id="149" dur="500" fill="hold"/>
                                        <p:tgtEl>
                                          <p:spTgt spid="45"/>
                                        </p:tgtEl>
                                        <p:attrNameLst>
                                          <p:attrName>ppt_x</p:attrName>
                                        </p:attrNameLst>
                                      </p:cBhvr>
                                      <p:tavLst>
                                        <p:tav tm="0">
                                          <p:val>
                                            <p:strVal val="#ppt_x"/>
                                          </p:val>
                                        </p:tav>
                                        <p:tav tm="100000">
                                          <p:val>
                                            <p:strVal val="#ppt_x"/>
                                          </p:val>
                                        </p:tav>
                                      </p:tavLst>
                                    </p:anim>
                                    <p:anim calcmode="lin" valueType="num">
                                      <p:cBhvr additive="base">
                                        <p:cTn id="150" dur="500" fill="hold"/>
                                        <p:tgtEl>
                                          <p:spTgt spid="45"/>
                                        </p:tgtEl>
                                        <p:attrNameLst>
                                          <p:attrName>ppt_y</p:attrName>
                                        </p:attrNameLst>
                                      </p:cBhvr>
                                      <p:tavLst>
                                        <p:tav tm="0">
                                          <p:val>
                                            <p:strVal val="#ppt_y+0.1"/>
                                          </p:val>
                                        </p:tav>
                                        <p:tav tm="100000">
                                          <p:val>
                                            <p:strVal val="#ppt_y"/>
                                          </p:val>
                                        </p:tav>
                                      </p:tavLst>
                                    </p:anim>
                                    <p:animEffect transition="in" filter="fade">
                                      <p:cBhvr>
                                        <p:cTn id="15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Replication Factor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You choose how many copies of each partition Kafka keeps - here, three</a:t>
            </a:r>
          </a:p>
        </p:txBody>
      </p:sp>
      <p:sp>
        <p:nvSpPr>
          <p:cNvPr id="11" name="a0f_cl10"/>
          <p:cNvSpPr/>
          <p:nvPr/>
        </p:nvSpPr>
        <p:spPr>
          <a:xfrm>
            <a:off x="457200" y="1280160"/>
            <a:ext cx="5486400" cy="2487168"/>
          </a:xfrm>
          <a:prstGeom prst="roundRect">
            <a:avLst>
              <a:gd name="adj" fmla="val 3676"/>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0f_clh11"/>
          <p:cNvSpPr txBox="1"/>
          <p:nvPr/>
        </p:nvSpPr>
        <p:spPr>
          <a:xfrm>
            <a:off x="640080" y="1371600"/>
            <a:ext cx="16459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bk12"/>
          <p:cNvSpPr/>
          <p:nvPr/>
        </p:nvSpPr>
        <p:spPr>
          <a:xfrm>
            <a:off x="64008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0f_bkn13"/>
          <p:cNvSpPr txBox="1"/>
          <p:nvPr/>
        </p:nvSpPr>
        <p:spPr>
          <a:xfrm>
            <a:off x="76809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1</a:t>
            </a:r>
          </a:p>
        </p:txBody>
      </p:sp>
      <p:sp>
        <p:nvSpPr>
          <p:cNvPr id="15" name="a0f_bk14"/>
          <p:cNvSpPr/>
          <p:nvPr/>
        </p:nvSpPr>
        <p:spPr>
          <a:xfrm>
            <a:off x="242316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0f_bkn15"/>
          <p:cNvSpPr txBox="1"/>
          <p:nvPr/>
        </p:nvSpPr>
        <p:spPr>
          <a:xfrm>
            <a:off x="255117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2</a:t>
            </a:r>
          </a:p>
        </p:txBody>
      </p:sp>
      <p:sp>
        <p:nvSpPr>
          <p:cNvPr id="17" name="a0f_bk16"/>
          <p:cNvSpPr/>
          <p:nvPr/>
        </p:nvSpPr>
        <p:spPr>
          <a:xfrm>
            <a:off x="420624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0f_bkn17"/>
          <p:cNvSpPr txBox="1"/>
          <p:nvPr/>
        </p:nvSpPr>
        <p:spPr>
          <a:xfrm>
            <a:off x="4334255"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3</a:t>
            </a:r>
          </a:p>
        </p:txBody>
      </p:sp>
      <p:sp>
        <p:nvSpPr>
          <p:cNvPr id="19" name="a1u_rp18"/>
          <p:cNvSpPr/>
          <p:nvPr/>
        </p:nvSpPr>
        <p:spPr>
          <a:xfrm>
            <a:off x="768096" y="2286000"/>
            <a:ext cx="1344168" cy="347472"/>
          </a:xfrm>
          <a:prstGeom prst="roundRect">
            <a:avLst>
              <a:gd name="adj" fmla="val 13157"/>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1u_rpn19"/>
          <p:cNvSpPr txBox="1"/>
          <p:nvPr/>
        </p:nvSpPr>
        <p:spPr>
          <a:xfrm>
            <a:off x="859536" y="2286000"/>
            <a:ext cx="365760" cy="347472"/>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21" name="a1u_rpt20"/>
          <p:cNvSpPr txBox="1"/>
          <p:nvPr/>
        </p:nvSpPr>
        <p:spPr>
          <a:xfrm>
            <a:off x="1225295" y="2286000"/>
            <a:ext cx="795528" cy="347472"/>
          </a:xfrm>
          <a:prstGeom prst="rect">
            <a:avLst/>
          </a:prstGeom>
          <a:noFill/>
        </p:spPr>
        <p:txBody>
          <a:bodyPr wrap="square" lIns="0" tIns="0" rIns="0" bIns="0" anchor="ctr">
            <a:spAutoFit/>
          </a:bodyPr>
          <a:lstStyle/>
          <a:p>
            <a:pPr algn="r"/>
            <a:r>
              <a:rPr sz="800" b="0">
                <a:solidFill>
                  <a:srgbClr val="0E7490"/>
                </a:solidFill>
                <a:latin typeface="Segoe UI"/>
              </a:rPr>
              <a:t>copy 1</a:t>
            </a:r>
          </a:p>
        </p:txBody>
      </p:sp>
      <p:sp>
        <p:nvSpPr>
          <p:cNvPr id="22" name="a1ud80_rp21"/>
          <p:cNvSpPr/>
          <p:nvPr/>
        </p:nvSpPr>
        <p:spPr>
          <a:xfrm>
            <a:off x="2551176" y="2286000"/>
            <a:ext cx="1344168" cy="347472"/>
          </a:xfrm>
          <a:prstGeom prst="roundRect">
            <a:avLst>
              <a:gd name="adj" fmla="val 13157"/>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1ud80_rpn22"/>
          <p:cNvSpPr txBox="1"/>
          <p:nvPr/>
        </p:nvSpPr>
        <p:spPr>
          <a:xfrm>
            <a:off x="2642616" y="2286000"/>
            <a:ext cx="365760" cy="347472"/>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24" name="a1ud80_rpt23"/>
          <p:cNvSpPr txBox="1"/>
          <p:nvPr/>
        </p:nvSpPr>
        <p:spPr>
          <a:xfrm>
            <a:off x="3008376" y="2286000"/>
            <a:ext cx="795528" cy="347472"/>
          </a:xfrm>
          <a:prstGeom prst="rect">
            <a:avLst/>
          </a:prstGeom>
          <a:noFill/>
        </p:spPr>
        <p:txBody>
          <a:bodyPr wrap="square" lIns="0" tIns="0" rIns="0" bIns="0" anchor="ctr">
            <a:spAutoFit/>
          </a:bodyPr>
          <a:lstStyle/>
          <a:p>
            <a:pPr algn="r"/>
            <a:r>
              <a:rPr sz="800" b="0">
                <a:solidFill>
                  <a:srgbClr val="0E7490"/>
                </a:solidFill>
                <a:latin typeface="Segoe UI"/>
              </a:rPr>
              <a:t>copy 2</a:t>
            </a:r>
          </a:p>
        </p:txBody>
      </p:sp>
      <p:sp>
        <p:nvSpPr>
          <p:cNvPr id="25" name="a1ud160_rp24"/>
          <p:cNvSpPr/>
          <p:nvPr/>
        </p:nvSpPr>
        <p:spPr>
          <a:xfrm>
            <a:off x="4334255" y="2286000"/>
            <a:ext cx="1344168" cy="347472"/>
          </a:xfrm>
          <a:prstGeom prst="roundRect">
            <a:avLst>
              <a:gd name="adj" fmla="val 13157"/>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1ud160_rpn25"/>
          <p:cNvSpPr txBox="1"/>
          <p:nvPr/>
        </p:nvSpPr>
        <p:spPr>
          <a:xfrm>
            <a:off x="4425695" y="2286000"/>
            <a:ext cx="365760" cy="347472"/>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27" name="a1ud160_rpt26"/>
          <p:cNvSpPr txBox="1"/>
          <p:nvPr/>
        </p:nvSpPr>
        <p:spPr>
          <a:xfrm>
            <a:off x="4791455" y="2286000"/>
            <a:ext cx="795528" cy="347472"/>
          </a:xfrm>
          <a:prstGeom prst="rect">
            <a:avLst/>
          </a:prstGeom>
          <a:noFill/>
        </p:spPr>
        <p:txBody>
          <a:bodyPr wrap="square" lIns="0" tIns="0" rIns="0" bIns="0" anchor="ctr">
            <a:spAutoFit/>
          </a:bodyPr>
          <a:lstStyle/>
          <a:p>
            <a:pPr algn="r"/>
            <a:r>
              <a:rPr sz="800" b="0">
                <a:solidFill>
                  <a:srgbClr val="0E7490"/>
                </a:solidFill>
                <a:latin typeface="Segoe UI"/>
              </a:rPr>
              <a:t>copy 3</a:t>
            </a:r>
          </a:p>
        </p:txBody>
      </p:sp>
      <p:sp>
        <p:nvSpPr>
          <p:cNvPr id="28" name="a1ud250_rp27"/>
          <p:cNvSpPr/>
          <p:nvPr/>
        </p:nvSpPr>
        <p:spPr>
          <a:xfrm>
            <a:off x="768096" y="2706624"/>
            <a:ext cx="1344168" cy="347472"/>
          </a:xfrm>
          <a:prstGeom prst="roundRect">
            <a:avLst>
              <a:gd name="adj" fmla="val 13157"/>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1ud250_rpn28"/>
          <p:cNvSpPr txBox="1"/>
          <p:nvPr/>
        </p:nvSpPr>
        <p:spPr>
          <a:xfrm>
            <a:off x="859536" y="2706624"/>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30" name="a1ud250_rpt29"/>
          <p:cNvSpPr txBox="1"/>
          <p:nvPr/>
        </p:nvSpPr>
        <p:spPr>
          <a:xfrm>
            <a:off x="1225295" y="2706624"/>
            <a:ext cx="795528" cy="347472"/>
          </a:xfrm>
          <a:prstGeom prst="rect">
            <a:avLst/>
          </a:prstGeom>
          <a:noFill/>
        </p:spPr>
        <p:txBody>
          <a:bodyPr wrap="square" lIns="0" tIns="0" rIns="0" bIns="0" anchor="ctr">
            <a:spAutoFit/>
          </a:bodyPr>
          <a:lstStyle/>
          <a:p>
            <a:pPr algn="r"/>
            <a:r>
              <a:rPr sz="800" b="0">
                <a:solidFill>
                  <a:srgbClr val="4F46E5"/>
                </a:solidFill>
                <a:latin typeface="Segoe UI"/>
              </a:rPr>
              <a:t>copy 3</a:t>
            </a:r>
          </a:p>
        </p:txBody>
      </p:sp>
      <p:sp>
        <p:nvSpPr>
          <p:cNvPr id="31" name="a1ud330_rp30"/>
          <p:cNvSpPr/>
          <p:nvPr/>
        </p:nvSpPr>
        <p:spPr>
          <a:xfrm>
            <a:off x="2551176" y="2706624"/>
            <a:ext cx="1344168" cy="347472"/>
          </a:xfrm>
          <a:prstGeom prst="roundRect">
            <a:avLst>
              <a:gd name="adj" fmla="val 13157"/>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1ud330_rpn31"/>
          <p:cNvSpPr txBox="1"/>
          <p:nvPr/>
        </p:nvSpPr>
        <p:spPr>
          <a:xfrm>
            <a:off x="2642616" y="2706624"/>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33" name="a1ud330_rpt32"/>
          <p:cNvSpPr txBox="1"/>
          <p:nvPr/>
        </p:nvSpPr>
        <p:spPr>
          <a:xfrm>
            <a:off x="3008376" y="2706624"/>
            <a:ext cx="795528" cy="347472"/>
          </a:xfrm>
          <a:prstGeom prst="rect">
            <a:avLst/>
          </a:prstGeom>
          <a:noFill/>
        </p:spPr>
        <p:txBody>
          <a:bodyPr wrap="square" lIns="0" tIns="0" rIns="0" bIns="0" anchor="ctr">
            <a:spAutoFit/>
          </a:bodyPr>
          <a:lstStyle/>
          <a:p>
            <a:pPr algn="r"/>
            <a:r>
              <a:rPr sz="800" b="0">
                <a:solidFill>
                  <a:srgbClr val="4F46E5"/>
                </a:solidFill>
                <a:latin typeface="Segoe UI"/>
              </a:rPr>
              <a:t>copy 1</a:t>
            </a:r>
          </a:p>
        </p:txBody>
      </p:sp>
      <p:sp>
        <p:nvSpPr>
          <p:cNvPr id="34" name="a1ud410_rp33"/>
          <p:cNvSpPr/>
          <p:nvPr/>
        </p:nvSpPr>
        <p:spPr>
          <a:xfrm>
            <a:off x="4334255" y="2706624"/>
            <a:ext cx="1344168" cy="347472"/>
          </a:xfrm>
          <a:prstGeom prst="roundRect">
            <a:avLst>
              <a:gd name="adj" fmla="val 13157"/>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a1ud410_rpn34"/>
          <p:cNvSpPr txBox="1"/>
          <p:nvPr/>
        </p:nvSpPr>
        <p:spPr>
          <a:xfrm>
            <a:off x="4425695" y="2706624"/>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36" name="a1ud410_rpt35"/>
          <p:cNvSpPr txBox="1"/>
          <p:nvPr/>
        </p:nvSpPr>
        <p:spPr>
          <a:xfrm>
            <a:off x="4791455" y="2706624"/>
            <a:ext cx="795528" cy="347472"/>
          </a:xfrm>
          <a:prstGeom prst="rect">
            <a:avLst/>
          </a:prstGeom>
          <a:noFill/>
        </p:spPr>
        <p:txBody>
          <a:bodyPr wrap="square" lIns="0" tIns="0" rIns="0" bIns="0" anchor="ctr">
            <a:spAutoFit/>
          </a:bodyPr>
          <a:lstStyle/>
          <a:p>
            <a:pPr algn="r"/>
            <a:r>
              <a:rPr sz="800" b="0">
                <a:solidFill>
                  <a:srgbClr val="4F46E5"/>
                </a:solidFill>
                <a:latin typeface="Segoe UI"/>
              </a:rPr>
              <a:t>copy 2</a:t>
            </a:r>
          </a:p>
        </p:txBody>
      </p:sp>
      <p:sp>
        <p:nvSpPr>
          <p:cNvPr id="37" name="a1ud500_rp36"/>
          <p:cNvSpPr/>
          <p:nvPr/>
        </p:nvSpPr>
        <p:spPr>
          <a:xfrm>
            <a:off x="768096" y="3127248"/>
            <a:ext cx="1344168" cy="347472"/>
          </a:xfrm>
          <a:prstGeom prst="roundRect">
            <a:avLst>
              <a:gd name="adj" fmla="val 13157"/>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1ud500_rpn37"/>
          <p:cNvSpPr txBox="1"/>
          <p:nvPr/>
        </p:nvSpPr>
        <p:spPr>
          <a:xfrm>
            <a:off x="859536" y="3127248"/>
            <a:ext cx="365760" cy="347472"/>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39" name="a1ud500_rpt38"/>
          <p:cNvSpPr txBox="1"/>
          <p:nvPr/>
        </p:nvSpPr>
        <p:spPr>
          <a:xfrm>
            <a:off x="1225295" y="3127248"/>
            <a:ext cx="795528" cy="347472"/>
          </a:xfrm>
          <a:prstGeom prst="rect">
            <a:avLst/>
          </a:prstGeom>
          <a:noFill/>
        </p:spPr>
        <p:txBody>
          <a:bodyPr wrap="square" lIns="0" tIns="0" rIns="0" bIns="0" anchor="ctr">
            <a:spAutoFit/>
          </a:bodyPr>
          <a:lstStyle/>
          <a:p>
            <a:pPr algn="r"/>
            <a:r>
              <a:rPr sz="800" b="0">
                <a:solidFill>
                  <a:srgbClr val="C2410C"/>
                </a:solidFill>
                <a:latin typeface="Segoe UI"/>
              </a:rPr>
              <a:t>copy 2</a:t>
            </a:r>
          </a:p>
        </p:txBody>
      </p:sp>
      <p:sp>
        <p:nvSpPr>
          <p:cNvPr id="40" name="a1ud580_rp39"/>
          <p:cNvSpPr/>
          <p:nvPr/>
        </p:nvSpPr>
        <p:spPr>
          <a:xfrm>
            <a:off x="2551176" y="3127248"/>
            <a:ext cx="1344168" cy="347472"/>
          </a:xfrm>
          <a:prstGeom prst="roundRect">
            <a:avLst>
              <a:gd name="adj" fmla="val 13157"/>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a1ud580_rpn40"/>
          <p:cNvSpPr txBox="1"/>
          <p:nvPr/>
        </p:nvSpPr>
        <p:spPr>
          <a:xfrm>
            <a:off x="2642616" y="3127248"/>
            <a:ext cx="365760" cy="347472"/>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42" name="a1ud580_rpt41"/>
          <p:cNvSpPr txBox="1"/>
          <p:nvPr/>
        </p:nvSpPr>
        <p:spPr>
          <a:xfrm>
            <a:off x="3008376" y="3127248"/>
            <a:ext cx="795528" cy="347472"/>
          </a:xfrm>
          <a:prstGeom prst="rect">
            <a:avLst/>
          </a:prstGeom>
          <a:noFill/>
        </p:spPr>
        <p:txBody>
          <a:bodyPr wrap="square" lIns="0" tIns="0" rIns="0" bIns="0" anchor="ctr">
            <a:spAutoFit/>
          </a:bodyPr>
          <a:lstStyle/>
          <a:p>
            <a:pPr algn="r"/>
            <a:r>
              <a:rPr sz="800" b="0">
                <a:solidFill>
                  <a:srgbClr val="C2410C"/>
                </a:solidFill>
                <a:latin typeface="Segoe UI"/>
              </a:rPr>
              <a:t>copy 3</a:t>
            </a:r>
          </a:p>
        </p:txBody>
      </p:sp>
      <p:sp>
        <p:nvSpPr>
          <p:cNvPr id="43" name="a1ud660_rp42"/>
          <p:cNvSpPr/>
          <p:nvPr/>
        </p:nvSpPr>
        <p:spPr>
          <a:xfrm>
            <a:off x="4334255" y="3127248"/>
            <a:ext cx="1344168" cy="347472"/>
          </a:xfrm>
          <a:prstGeom prst="roundRect">
            <a:avLst>
              <a:gd name="adj" fmla="val 13157"/>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1ud660_rpn43"/>
          <p:cNvSpPr txBox="1"/>
          <p:nvPr/>
        </p:nvSpPr>
        <p:spPr>
          <a:xfrm>
            <a:off x="4425695" y="3127248"/>
            <a:ext cx="365760" cy="347472"/>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45" name="a1ud660_rpt44"/>
          <p:cNvSpPr txBox="1"/>
          <p:nvPr/>
        </p:nvSpPr>
        <p:spPr>
          <a:xfrm>
            <a:off x="4791455" y="3127248"/>
            <a:ext cx="795528" cy="347472"/>
          </a:xfrm>
          <a:prstGeom prst="rect">
            <a:avLst/>
          </a:prstGeom>
          <a:noFill/>
        </p:spPr>
        <p:txBody>
          <a:bodyPr wrap="square" lIns="0" tIns="0" rIns="0" bIns="0" anchor="ctr">
            <a:spAutoFit/>
          </a:bodyPr>
          <a:lstStyle/>
          <a:p>
            <a:pPr algn="r"/>
            <a:r>
              <a:rPr sz="800" b="0">
                <a:solidFill>
                  <a:srgbClr val="C2410C"/>
                </a:solidFill>
                <a:latin typeface="Segoe UI"/>
              </a:rPr>
              <a:t>copy 1</a:t>
            </a:r>
          </a:p>
        </p:txBody>
      </p:sp>
      <p:sp>
        <p:nvSpPr>
          <p:cNvPr id="46" name="a2f_codebg45"/>
          <p:cNvSpPr/>
          <p:nvPr/>
        </p:nvSpPr>
        <p:spPr>
          <a:xfrm>
            <a:off x="6172200" y="1280160"/>
            <a:ext cx="2514600" cy="1444752"/>
          </a:xfrm>
          <a:prstGeom prst="roundRect">
            <a:avLst>
              <a:gd name="adj" fmla="val 5063"/>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a2f_codeh46"/>
          <p:cNvSpPr txBox="1"/>
          <p:nvPr/>
        </p:nvSpPr>
        <p:spPr>
          <a:xfrm>
            <a:off x="6300216" y="1335024"/>
            <a:ext cx="2258568" cy="219456"/>
          </a:xfrm>
          <a:prstGeom prst="rect">
            <a:avLst/>
          </a:prstGeom>
          <a:noFill/>
        </p:spPr>
        <p:txBody>
          <a:bodyPr wrap="square" lIns="0" tIns="0" rIns="0" bIns="0" anchor="ctr">
            <a:spAutoFit/>
          </a:bodyPr>
          <a:lstStyle/>
          <a:p>
            <a:pPr algn="l"/>
            <a:r>
              <a:rPr sz="950" b="1">
                <a:solidFill>
                  <a:srgbClr val="A8A29E"/>
                </a:solidFill>
                <a:latin typeface="Consolas"/>
              </a:rPr>
              <a:t>set per topic</a:t>
            </a:r>
          </a:p>
        </p:txBody>
      </p:sp>
      <p:sp>
        <p:nvSpPr>
          <p:cNvPr id="48" name="a2f_codesep47"/>
          <p:cNvSpPr/>
          <p:nvPr/>
        </p:nvSpPr>
        <p:spPr>
          <a:xfrm>
            <a:off x="6300216" y="1609343"/>
            <a:ext cx="225856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a2w_code48"/>
          <p:cNvSpPr txBox="1"/>
          <p:nvPr/>
        </p:nvSpPr>
        <p:spPr>
          <a:xfrm>
            <a:off x="6300216" y="1682495"/>
            <a:ext cx="2258568" cy="182880"/>
          </a:xfrm>
          <a:prstGeom prst="rect">
            <a:avLst/>
          </a:prstGeom>
          <a:noFill/>
        </p:spPr>
        <p:txBody>
          <a:bodyPr wrap="none" lIns="0" tIns="0" rIns="0" bIns="0" anchor="ctr">
            <a:spAutoFit/>
          </a:bodyPr>
          <a:lstStyle/>
          <a:p>
            <a:pPr algn="l"/>
            <a:r>
              <a:rPr sz="800" b="0">
                <a:solidFill>
                  <a:srgbClr val="E7E5E4"/>
                </a:solidFill>
                <a:latin typeface="Consolas"/>
              </a:rPr>
              <a:t>kafka-topics.sh --create \</a:t>
            </a:r>
          </a:p>
        </p:txBody>
      </p:sp>
      <p:sp>
        <p:nvSpPr>
          <p:cNvPr id="50" name="a2wd90_code49"/>
          <p:cNvSpPr txBox="1"/>
          <p:nvPr/>
        </p:nvSpPr>
        <p:spPr>
          <a:xfrm>
            <a:off x="6300216" y="1865376"/>
            <a:ext cx="2258568" cy="182880"/>
          </a:xfrm>
          <a:prstGeom prst="rect">
            <a:avLst/>
          </a:prstGeom>
          <a:noFill/>
        </p:spPr>
        <p:txBody>
          <a:bodyPr wrap="none" lIns="0" tIns="0" rIns="0" bIns="0" anchor="ctr">
            <a:spAutoFit/>
          </a:bodyPr>
          <a:lstStyle/>
          <a:p>
            <a:pPr algn="l"/>
            <a:r>
              <a:rPr sz="800" b="0">
                <a:solidFill>
                  <a:srgbClr val="E7E5E4"/>
                </a:solidFill>
                <a:latin typeface="Consolas"/>
              </a:rPr>
              <a:t>  --topic thermostat_readings \</a:t>
            </a:r>
          </a:p>
        </p:txBody>
      </p:sp>
      <p:sp>
        <p:nvSpPr>
          <p:cNvPr id="51" name="a2wd180_code50"/>
          <p:cNvSpPr txBox="1"/>
          <p:nvPr/>
        </p:nvSpPr>
        <p:spPr>
          <a:xfrm>
            <a:off x="6300216" y="2048255"/>
            <a:ext cx="2258568" cy="182880"/>
          </a:xfrm>
          <a:prstGeom prst="rect">
            <a:avLst/>
          </a:prstGeom>
          <a:noFill/>
        </p:spPr>
        <p:txBody>
          <a:bodyPr wrap="none" lIns="0" tIns="0" rIns="0" bIns="0" anchor="ctr">
            <a:spAutoFit/>
          </a:bodyPr>
          <a:lstStyle/>
          <a:p>
            <a:pPr algn="l"/>
            <a:r>
              <a:rPr sz="800" b="0">
                <a:solidFill>
                  <a:srgbClr val="E7E5E4"/>
                </a:solidFill>
                <a:latin typeface="Consolas"/>
              </a:rPr>
              <a:t>  --partitions 3 \</a:t>
            </a:r>
          </a:p>
        </p:txBody>
      </p:sp>
      <p:sp>
        <p:nvSpPr>
          <p:cNvPr id="52" name="a2wd270_code51"/>
          <p:cNvSpPr txBox="1"/>
          <p:nvPr/>
        </p:nvSpPr>
        <p:spPr>
          <a:xfrm>
            <a:off x="6300216" y="2231136"/>
            <a:ext cx="2258568" cy="182880"/>
          </a:xfrm>
          <a:prstGeom prst="rect">
            <a:avLst/>
          </a:prstGeom>
          <a:noFill/>
        </p:spPr>
        <p:txBody>
          <a:bodyPr wrap="none" lIns="0" tIns="0" rIns="0" bIns="0" anchor="ctr">
            <a:spAutoFit/>
          </a:bodyPr>
          <a:lstStyle/>
          <a:p>
            <a:pPr algn="l"/>
            <a:r>
              <a:rPr sz="800" b="1">
                <a:solidFill>
                  <a:srgbClr val="FDBA74"/>
                </a:solidFill>
                <a:latin typeface="Consolas"/>
              </a:rPr>
              <a:t>  --replication-factor 3 \</a:t>
            </a:r>
          </a:p>
        </p:txBody>
      </p:sp>
      <p:sp>
        <p:nvSpPr>
          <p:cNvPr id="53" name="a2wd360_code52"/>
          <p:cNvSpPr txBox="1"/>
          <p:nvPr/>
        </p:nvSpPr>
        <p:spPr>
          <a:xfrm>
            <a:off x="6300216" y="2414015"/>
            <a:ext cx="2258568" cy="182880"/>
          </a:xfrm>
          <a:prstGeom prst="rect">
            <a:avLst/>
          </a:prstGeom>
          <a:noFill/>
        </p:spPr>
        <p:txBody>
          <a:bodyPr wrap="none" lIns="0" tIns="0" rIns="0" bIns="0" anchor="ctr">
            <a:spAutoFit/>
          </a:bodyPr>
          <a:lstStyle/>
          <a:p>
            <a:pPr algn="l"/>
            <a:r>
              <a:rPr sz="800" b="0">
                <a:solidFill>
                  <a:srgbClr val="E7E5E4"/>
                </a:solidFill>
                <a:latin typeface="Consolas"/>
              </a:rPr>
              <a:t>  --bootstrap-server localhost:9092</a:t>
            </a:r>
          </a:p>
        </p:txBody>
      </p:sp>
      <p:sp>
        <p:nvSpPr>
          <p:cNvPr id="54" name="a3u_dot53"/>
          <p:cNvSpPr/>
          <p:nvPr/>
        </p:nvSpPr>
        <p:spPr>
          <a:xfrm>
            <a:off x="6172200" y="300380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a3u_b54"/>
          <p:cNvSpPr txBox="1"/>
          <p:nvPr/>
        </p:nvSpPr>
        <p:spPr>
          <a:xfrm>
            <a:off x="6391656" y="2907792"/>
            <a:ext cx="2295144" cy="365760"/>
          </a:xfrm>
          <a:prstGeom prst="rect">
            <a:avLst/>
          </a:prstGeom>
          <a:noFill/>
        </p:spPr>
        <p:txBody>
          <a:bodyPr wrap="square" lIns="0" tIns="0" rIns="0" bIns="0" anchor="t">
            <a:spAutoFit/>
          </a:bodyPr>
          <a:lstStyle/>
          <a:p>
            <a:pPr algn="l"/>
            <a:r>
              <a:rPr sz="950" b="1">
                <a:solidFill>
                  <a:srgbClr val="1C1917"/>
                </a:solidFill>
                <a:latin typeface="Segoe UI"/>
              </a:rPr>
              <a:t>3 x 3  </a:t>
            </a:r>
            <a:r>
              <a:rPr sz="950" b="0">
                <a:solidFill>
                  <a:srgbClr val="44403C"/>
                </a:solidFill>
                <a:latin typeface="Segoe UI"/>
              </a:rPr>
              <a:t>= 9 replicas over 3 brokers</a:t>
            </a:r>
          </a:p>
        </p:txBody>
      </p:sp>
      <p:sp>
        <p:nvSpPr>
          <p:cNvPr id="56" name="a3ud120_dot55"/>
          <p:cNvSpPr/>
          <p:nvPr/>
        </p:nvSpPr>
        <p:spPr>
          <a:xfrm>
            <a:off x="6172200" y="3406140"/>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a3ud120_b56"/>
          <p:cNvSpPr txBox="1"/>
          <p:nvPr/>
        </p:nvSpPr>
        <p:spPr>
          <a:xfrm>
            <a:off x="6391656" y="3310128"/>
            <a:ext cx="2295144" cy="365760"/>
          </a:xfrm>
          <a:prstGeom prst="rect">
            <a:avLst/>
          </a:prstGeom>
          <a:noFill/>
        </p:spPr>
        <p:txBody>
          <a:bodyPr wrap="square" lIns="0" tIns="0" rIns="0" bIns="0" anchor="t">
            <a:spAutoFit/>
          </a:bodyPr>
          <a:lstStyle/>
          <a:p>
            <a:pPr algn="l"/>
            <a:r>
              <a:rPr sz="950" b="1">
                <a:solidFill>
                  <a:srgbClr val="1C1917"/>
                </a:solidFill>
                <a:latin typeface="Segoe UI"/>
              </a:rPr>
              <a:t>Same data  </a:t>
            </a:r>
            <a:r>
              <a:rPr sz="950" b="0">
                <a:solidFill>
                  <a:srgbClr val="44403C"/>
                </a:solidFill>
                <a:latin typeface="Segoe UI"/>
              </a:rPr>
              <a:t>every copy of P0 holds the same messages</a:t>
            </a:r>
          </a:p>
        </p:txBody>
      </p:sp>
      <p:sp>
        <p:nvSpPr>
          <p:cNvPr id="58" name="a4u_nb57"/>
          <p:cNvSpPr/>
          <p:nvPr/>
        </p:nvSpPr>
        <p:spPr>
          <a:xfrm>
            <a:off x="457200" y="3931920"/>
            <a:ext cx="8229600" cy="548640"/>
          </a:xfrm>
          <a:prstGeom prst="roundRect">
            <a:avLst>
              <a:gd name="adj" fmla="val 1333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9" name="a4u_nacc58"/>
          <p:cNvSpPr/>
          <p:nvPr/>
        </p:nvSpPr>
        <p:spPr>
          <a:xfrm>
            <a:off x="457200" y="3931920"/>
            <a:ext cx="54864" cy="54864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a4u_nt59"/>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A16207"/>
                </a:solidFill>
                <a:latin typeface="Segoe UI"/>
              </a:rPr>
              <a:t>!  </a:t>
            </a:r>
            <a:r>
              <a:rPr sz="950" b="0">
                <a:solidFill>
                  <a:srgbClr val="44403C"/>
                </a:solidFill>
                <a:latin typeface="Segoe UI"/>
              </a:rPr>
              <a:t>Three is the usual choice in production. The factor cannot be larger than the number of brokers.</a:t>
            </a:r>
          </a:p>
        </p:txBody>
      </p:sp>
      <p:sp>
        <p:nvSpPr>
          <p:cNvPr id="61" name="ft6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62" name="ft6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ft6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64" name="ft6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ppt_y+0.1"/>
                                          </p:val>
                                        </p:tav>
                                        <p:tav tm="100000">
                                          <p:val>
                                            <p:strVal val="#ppt_y"/>
                                          </p:val>
                                        </p:tav>
                                      </p:tavLst>
                                    </p:anim>
                                    <p:animEffect transition="in" filter="fade">
                                      <p:cBhvr>
                                        <p:cTn id="35" dur="500"/>
                                        <p:tgtEl>
                                          <p:spTgt spid="19"/>
                                        </p:tgtEl>
                                      </p:cBhvr>
                                    </p:animEffect>
                                  </p:childTnLst>
                                </p:cTn>
                              </p:par>
                              <p:par>
                                <p:cTn id="36" presetID="2" presetClass="entr" presetSubtype="4"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500" fill="hold"/>
                                        <p:tgtEl>
                                          <p:spTgt spid="20"/>
                                        </p:tgtEl>
                                        <p:attrNameLst>
                                          <p:attrName>ppt_x</p:attrName>
                                        </p:attrNameLst>
                                      </p:cBhvr>
                                      <p:tavLst>
                                        <p:tav tm="0">
                                          <p:val>
                                            <p:strVal val="#ppt_x"/>
                                          </p:val>
                                        </p:tav>
                                        <p:tav tm="100000">
                                          <p:val>
                                            <p:strVal val="#ppt_x"/>
                                          </p:val>
                                        </p:tav>
                                      </p:tavLst>
                                    </p:anim>
                                    <p:anim calcmode="lin" valueType="num">
                                      <p:cBhvr additive="base">
                                        <p:cTn id="39" dur="500" fill="hold"/>
                                        <p:tgtEl>
                                          <p:spTgt spid="20"/>
                                        </p:tgtEl>
                                        <p:attrNameLst>
                                          <p:attrName>ppt_y</p:attrName>
                                        </p:attrNameLst>
                                      </p:cBhvr>
                                      <p:tavLst>
                                        <p:tav tm="0">
                                          <p:val>
                                            <p:strVal val="#ppt_y+0.1"/>
                                          </p:val>
                                        </p:tav>
                                        <p:tav tm="100000">
                                          <p:val>
                                            <p:strVal val="#ppt_y"/>
                                          </p:val>
                                        </p:tav>
                                      </p:tavLst>
                                    </p:anim>
                                    <p:animEffect transition="in" filter="fade">
                                      <p:cBhvr>
                                        <p:cTn id="40" dur="500"/>
                                        <p:tgtEl>
                                          <p:spTgt spid="20"/>
                                        </p:tgtEl>
                                      </p:cBhvr>
                                    </p:animEffect>
                                  </p:childTnLst>
                                </p:cTn>
                              </p:par>
                              <p:par>
                                <p:cTn id="41" presetID="2" presetClass="entr" presetSubtype="4"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
                                          </p:val>
                                        </p:tav>
                                        <p:tav tm="100000">
                                          <p:val>
                                            <p:strVal val="#ppt_x"/>
                                          </p:val>
                                        </p:tav>
                                      </p:tavLst>
                                    </p:anim>
                                    <p:anim calcmode="lin" valueType="num">
                                      <p:cBhvr additive="base">
                                        <p:cTn id="44" dur="500" fill="hold"/>
                                        <p:tgtEl>
                                          <p:spTgt spid="21"/>
                                        </p:tgtEl>
                                        <p:attrNameLst>
                                          <p:attrName>ppt_y</p:attrName>
                                        </p:attrNameLst>
                                      </p:cBhvr>
                                      <p:tavLst>
                                        <p:tav tm="0">
                                          <p:val>
                                            <p:strVal val="#ppt_y+0.1"/>
                                          </p:val>
                                        </p:tav>
                                        <p:tav tm="100000">
                                          <p:val>
                                            <p:strVal val="#ppt_y"/>
                                          </p:val>
                                        </p:tav>
                                      </p:tavLst>
                                    </p:anim>
                                    <p:animEffect transition="in" filter="fade">
                                      <p:cBhvr>
                                        <p:cTn id="45" dur="500"/>
                                        <p:tgtEl>
                                          <p:spTgt spid="21"/>
                                        </p:tgtEl>
                                      </p:cBhvr>
                                    </p:animEffect>
                                  </p:childTnLst>
                                </p:cTn>
                              </p:par>
                              <p:par>
                                <p:cTn id="46" presetID="2" presetClass="entr" presetSubtype="4" fill="hold" grpId="0" nodeType="withEffect">
                                  <p:stCondLst>
                                    <p:cond delay="80"/>
                                  </p:stCondLst>
                                  <p:childTnLst>
                                    <p:set>
                                      <p:cBhvr>
                                        <p:cTn id="47" dur="1" fill="hold">
                                          <p:stCondLst>
                                            <p:cond delay="0"/>
                                          </p:stCondLst>
                                        </p:cTn>
                                        <p:tgtEl>
                                          <p:spTgt spid="22"/>
                                        </p:tgtEl>
                                        <p:attrNameLst>
                                          <p:attrName>style.visibility</p:attrName>
                                        </p:attrNameLst>
                                      </p:cBhvr>
                                      <p:to>
                                        <p:strVal val="visible"/>
                                      </p:to>
                                    </p:set>
                                    <p:anim calcmode="lin" valueType="num">
                                      <p:cBhvr additive="base">
                                        <p:cTn id="48" dur="500" fill="hold"/>
                                        <p:tgtEl>
                                          <p:spTgt spid="22"/>
                                        </p:tgtEl>
                                        <p:attrNameLst>
                                          <p:attrName>ppt_x</p:attrName>
                                        </p:attrNameLst>
                                      </p:cBhvr>
                                      <p:tavLst>
                                        <p:tav tm="0">
                                          <p:val>
                                            <p:strVal val="#ppt_x"/>
                                          </p:val>
                                        </p:tav>
                                        <p:tav tm="100000">
                                          <p:val>
                                            <p:strVal val="#ppt_x"/>
                                          </p:val>
                                        </p:tav>
                                      </p:tavLst>
                                    </p:anim>
                                    <p:anim calcmode="lin" valueType="num">
                                      <p:cBhvr additive="base">
                                        <p:cTn id="49" dur="500" fill="hold"/>
                                        <p:tgtEl>
                                          <p:spTgt spid="22"/>
                                        </p:tgtEl>
                                        <p:attrNameLst>
                                          <p:attrName>ppt_y</p:attrName>
                                        </p:attrNameLst>
                                      </p:cBhvr>
                                      <p:tavLst>
                                        <p:tav tm="0">
                                          <p:val>
                                            <p:strVal val="#ppt_y+0.1"/>
                                          </p:val>
                                        </p:tav>
                                        <p:tav tm="100000">
                                          <p:val>
                                            <p:strVal val="#ppt_y"/>
                                          </p:val>
                                        </p:tav>
                                      </p:tavLst>
                                    </p:anim>
                                    <p:animEffect transition="in" filter="fade">
                                      <p:cBhvr>
                                        <p:cTn id="50" dur="500"/>
                                        <p:tgtEl>
                                          <p:spTgt spid="22"/>
                                        </p:tgtEl>
                                      </p:cBhvr>
                                    </p:animEffect>
                                  </p:childTnLst>
                                </p:cTn>
                              </p:par>
                              <p:par>
                                <p:cTn id="51" presetID="2" presetClass="entr" presetSubtype="4" fill="hold" grpId="0" nodeType="withEffect">
                                  <p:stCondLst>
                                    <p:cond delay="8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ppt_y+0.1"/>
                                          </p:val>
                                        </p:tav>
                                        <p:tav tm="100000">
                                          <p:val>
                                            <p:strVal val="#ppt_y"/>
                                          </p:val>
                                        </p:tav>
                                      </p:tavLst>
                                    </p:anim>
                                    <p:animEffect transition="in" filter="fade">
                                      <p:cBhvr>
                                        <p:cTn id="55" dur="500"/>
                                        <p:tgtEl>
                                          <p:spTgt spid="23"/>
                                        </p:tgtEl>
                                      </p:cBhvr>
                                    </p:animEffect>
                                  </p:childTnLst>
                                </p:cTn>
                              </p:par>
                              <p:par>
                                <p:cTn id="56" presetID="2" presetClass="entr" presetSubtype="4" fill="hold" grpId="0" nodeType="withEffect">
                                  <p:stCondLst>
                                    <p:cond delay="80"/>
                                  </p:stCondLst>
                                  <p:childTnLst>
                                    <p:set>
                                      <p:cBhvr>
                                        <p:cTn id="57" dur="1" fill="hold">
                                          <p:stCondLst>
                                            <p:cond delay="0"/>
                                          </p:stCondLst>
                                        </p:cTn>
                                        <p:tgtEl>
                                          <p:spTgt spid="24"/>
                                        </p:tgtEl>
                                        <p:attrNameLst>
                                          <p:attrName>style.visibility</p:attrName>
                                        </p:attrNameLst>
                                      </p:cBhvr>
                                      <p:to>
                                        <p:strVal val="visible"/>
                                      </p:to>
                                    </p:set>
                                    <p:anim calcmode="lin" valueType="num">
                                      <p:cBhvr additive="base">
                                        <p:cTn id="58" dur="500" fill="hold"/>
                                        <p:tgtEl>
                                          <p:spTgt spid="24"/>
                                        </p:tgtEl>
                                        <p:attrNameLst>
                                          <p:attrName>ppt_x</p:attrName>
                                        </p:attrNameLst>
                                      </p:cBhvr>
                                      <p:tavLst>
                                        <p:tav tm="0">
                                          <p:val>
                                            <p:strVal val="#ppt_x"/>
                                          </p:val>
                                        </p:tav>
                                        <p:tav tm="100000">
                                          <p:val>
                                            <p:strVal val="#ppt_x"/>
                                          </p:val>
                                        </p:tav>
                                      </p:tavLst>
                                    </p:anim>
                                    <p:anim calcmode="lin" valueType="num">
                                      <p:cBhvr additive="base">
                                        <p:cTn id="59" dur="500" fill="hold"/>
                                        <p:tgtEl>
                                          <p:spTgt spid="24"/>
                                        </p:tgtEl>
                                        <p:attrNameLst>
                                          <p:attrName>ppt_y</p:attrName>
                                        </p:attrNameLst>
                                      </p:cBhvr>
                                      <p:tavLst>
                                        <p:tav tm="0">
                                          <p:val>
                                            <p:strVal val="#ppt_y+0.1"/>
                                          </p:val>
                                        </p:tav>
                                        <p:tav tm="100000">
                                          <p:val>
                                            <p:strVal val="#ppt_y"/>
                                          </p:val>
                                        </p:tav>
                                      </p:tavLst>
                                    </p:anim>
                                    <p:animEffect transition="in" filter="fade">
                                      <p:cBhvr>
                                        <p:cTn id="60" dur="500"/>
                                        <p:tgtEl>
                                          <p:spTgt spid="24"/>
                                        </p:tgtEl>
                                      </p:cBhvr>
                                    </p:animEffect>
                                  </p:childTnLst>
                                </p:cTn>
                              </p:par>
                              <p:par>
                                <p:cTn id="61" presetID="2" presetClass="entr" presetSubtype="4" fill="hold" grpId="0" nodeType="withEffect">
                                  <p:stCondLst>
                                    <p:cond delay="160"/>
                                  </p:stCondLst>
                                  <p:childTnLst>
                                    <p:set>
                                      <p:cBhvr>
                                        <p:cTn id="62" dur="1" fill="hold">
                                          <p:stCondLst>
                                            <p:cond delay="0"/>
                                          </p:stCondLst>
                                        </p:cTn>
                                        <p:tgtEl>
                                          <p:spTgt spid="25"/>
                                        </p:tgtEl>
                                        <p:attrNameLst>
                                          <p:attrName>style.visibility</p:attrName>
                                        </p:attrNameLst>
                                      </p:cBhvr>
                                      <p:to>
                                        <p:strVal val="visible"/>
                                      </p:to>
                                    </p:set>
                                    <p:anim calcmode="lin" valueType="num">
                                      <p:cBhvr additive="base">
                                        <p:cTn id="63" dur="500" fill="hold"/>
                                        <p:tgtEl>
                                          <p:spTgt spid="25"/>
                                        </p:tgtEl>
                                        <p:attrNameLst>
                                          <p:attrName>ppt_x</p:attrName>
                                        </p:attrNameLst>
                                      </p:cBhvr>
                                      <p:tavLst>
                                        <p:tav tm="0">
                                          <p:val>
                                            <p:strVal val="#ppt_x"/>
                                          </p:val>
                                        </p:tav>
                                        <p:tav tm="100000">
                                          <p:val>
                                            <p:strVal val="#ppt_x"/>
                                          </p:val>
                                        </p:tav>
                                      </p:tavLst>
                                    </p:anim>
                                    <p:anim calcmode="lin" valueType="num">
                                      <p:cBhvr additive="base">
                                        <p:cTn id="64" dur="500" fill="hold"/>
                                        <p:tgtEl>
                                          <p:spTgt spid="25"/>
                                        </p:tgtEl>
                                        <p:attrNameLst>
                                          <p:attrName>ppt_y</p:attrName>
                                        </p:attrNameLst>
                                      </p:cBhvr>
                                      <p:tavLst>
                                        <p:tav tm="0">
                                          <p:val>
                                            <p:strVal val="#ppt_y+0.1"/>
                                          </p:val>
                                        </p:tav>
                                        <p:tav tm="100000">
                                          <p:val>
                                            <p:strVal val="#ppt_y"/>
                                          </p:val>
                                        </p:tav>
                                      </p:tavLst>
                                    </p:anim>
                                    <p:animEffect transition="in" filter="fade">
                                      <p:cBhvr>
                                        <p:cTn id="65" dur="500"/>
                                        <p:tgtEl>
                                          <p:spTgt spid="25"/>
                                        </p:tgtEl>
                                      </p:cBhvr>
                                    </p:animEffect>
                                  </p:childTnLst>
                                </p:cTn>
                              </p:par>
                              <p:par>
                                <p:cTn id="66" presetID="2" presetClass="entr" presetSubtype="4" fill="hold" grpId="0" nodeType="withEffect">
                                  <p:stCondLst>
                                    <p:cond delay="160"/>
                                  </p:stCondLst>
                                  <p:childTnLst>
                                    <p:set>
                                      <p:cBhvr>
                                        <p:cTn id="67" dur="1" fill="hold">
                                          <p:stCondLst>
                                            <p:cond delay="0"/>
                                          </p:stCondLst>
                                        </p:cTn>
                                        <p:tgtEl>
                                          <p:spTgt spid="26"/>
                                        </p:tgtEl>
                                        <p:attrNameLst>
                                          <p:attrName>style.visibility</p:attrName>
                                        </p:attrNameLst>
                                      </p:cBhvr>
                                      <p:to>
                                        <p:strVal val="visible"/>
                                      </p:to>
                                    </p:set>
                                    <p:anim calcmode="lin" valueType="num">
                                      <p:cBhvr additive="base">
                                        <p:cTn id="68" dur="500" fill="hold"/>
                                        <p:tgtEl>
                                          <p:spTgt spid="26"/>
                                        </p:tgtEl>
                                        <p:attrNameLst>
                                          <p:attrName>ppt_x</p:attrName>
                                        </p:attrNameLst>
                                      </p:cBhvr>
                                      <p:tavLst>
                                        <p:tav tm="0">
                                          <p:val>
                                            <p:strVal val="#ppt_x"/>
                                          </p:val>
                                        </p:tav>
                                        <p:tav tm="100000">
                                          <p:val>
                                            <p:strVal val="#ppt_x"/>
                                          </p:val>
                                        </p:tav>
                                      </p:tavLst>
                                    </p:anim>
                                    <p:anim calcmode="lin" valueType="num">
                                      <p:cBhvr additive="base">
                                        <p:cTn id="69" dur="500" fill="hold"/>
                                        <p:tgtEl>
                                          <p:spTgt spid="26"/>
                                        </p:tgtEl>
                                        <p:attrNameLst>
                                          <p:attrName>ppt_y</p:attrName>
                                        </p:attrNameLst>
                                      </p:cBhvr>
                                      <p:tavLst>
                                        <p:tav tm="0">
                                          <p:val>
                                            <p:strVal val="#ppt_y+0.1"/>
                                          </p:val>
                                        </p:tav>
                                        <p:tav tm="100000">
                                          <p:val>
                                            <p:strVal val="#ppt_y"/>
                                          </p:val>
                                        </p:tav>
                                      </p:tavLst>
                                    </p:anim>
                                    <p:animEffect transition="in" filter="fade">
                                      <p:cBhvr>
                                        <p:cTn id="70" dur="500"/>
                                        <p:tgtEl>
                                          <p:spTgt spid="26"/>
                                        </p:tgtEl>
                                      </p:cBhvr>
                                    </p:animEffect>
                                  </p:childTnLst>
                                </p:cTn>
                              </p:par>
                              <p:par>
                                <p:cTn id="71" presetID="2" presetClass="entr" presetSubtype="4" fill="hold" grpId="0" nodeType="withEffect">
                                  <p:stCondLst>
                                    <p:cond delay="160"/>
                                  </p:stCondLst>
                                  <p:childTnLst>
                                    <p:set>
                                      <p:cBhvr>
                                        <p:cTn id="72" dur="1" fill="hold">
                                          <p:stCondLst>
                                            <p:cond delay="0"/>
                                          </p:stCondLst>
                                        </p:cTn>
                                        <p:tgtEl>
                                          <p:spTgt spid="27"/>
                                        </p:tgtEl>
                                        <p:attrNameLst>
                                          <p:attrName>style.visibility</p:attrName>
                                        </p:attrNameLst>
                                      </p:cBhvr>
                                      <p:to>
                                        <p:strVal val="visible"/>
                                      </p:to>
                                    </p:set>
                                    <p:anim calcmode="lin" valueType="num">
                                      <p:cBhvr additive="base">
                                        <p:cTn id="73" dur="500" fill="hold"/>
                                        <p:tgtEl>
                                          <p:spTgt spid="27"/>
                                        </p:tgtEl>
                                        <p:attrNameLst>
                                          <p:attrName>ppt_x</p:attrName>
                                        </p:attrNameLst>
                                      </p:cBhvr>
                                      <p:tavLst>
                                        <p:tav tm="0">
                                          <p:val>
                                            <p:strVal val="#ppt_x"/>
                                          </p:val>
                                        </p:tav>
                                        <p:tav tm="100000">
                                          <p:val>
                                            <p:strVal val="#ppt_x"/>
                                          </p:val>
                                        </p:tav>
                                      </p:tavLst>
                                    </p:anim>
                                    <p:anim calcmode="lin" valueType="num">
                                      <p:cBhvr additive="base">
                                        <p:cTn id="74" dur="500" fill="hold"/>
                                        <p:tgtEl>
                                          <p:spTgt spid="27"/>
                                        </p:tgtEl>
                                        <p:attrNameLst>
                                          <p:attrName>ppt_y</p:attrName>
                                        </p:attrNameLst>
                                      </p:cBhvr>
                                      <p:tavLst>
                                        <p:tav tm="0">
                                          <p:val>
                                            <p:strVal val="#ppt_y+0.1"/>
                                          </p:val>
                                        </p:tav>
                                        <p:tav tm="100000">
                                          <p:val>
                                            <p:strVal val="#ppt_y"/>
                                          </p:val>
                                        </p:tav>
                                      </p:tavLst>
                                    </p:anim>
                                    <p:animEffect transition="in" filter="fade">
                                      <p:cBhvr>
                                        <p:cTn id="75" dur="500"/>
                                        <p:tgtEl>
                                          <p:spTgt spid="27"/>
                                        </p:tgtEl>
                                      </p:cBhvr>
                                    </p:animEffect>
                                  </p:childTnLst>
                                </p:cTn>
                              </p:par>
                              <p:par>
                                <p:cTn id="76" presetID="2" presetClass="entr" presetSubtype="4" fill="hold" grpId="0" nodeType="withEffect">
                                  <p:stCondLst>
                                    <p:cond delay="250"/>
                                  </p:stCondLst>
                                  <p:childTnLst>
                                    <p:set>
                                      <p:cBhvr>
                                        <p:cTn id="77" dur="1" fill="hold">
                                          <p:stCondLst>
                                            <p:cond delay="0"/>
                                          </p:stCondLst>
                                        </p:cTn>
                                        <p:tgtEl>
                                          <p:spTgt spid="28"/>
                                        </p:tgtEl>
                                        <p:attrNameLst>
                                          <p:attrName>style.visibility</p:attrName>
                                        </p:attrNameLst>
                                      </p:cBhvr>
                                      <p:to>
                                        <p:strVal val="visible"/>
                                      </p:to>
                                    </p:set>
                                    <p:anim calcmode="lin" valueType="num">
                                      <p:cBhvr additive="base">
                                        <p:cTn id="78" dur="500" fill="hold"/>
                                        <p:tgtEl>
                                          <p:spTgt spid="28"/>
                                        </p:tgtEl>
                                        <p:attrNameLst>
                                          <p:attrName>ppt_x</p:attrName>
                                        </p:attrNameLst>
                                      </p:cBhvr>
                                      <p:tavLst>
                                        <p:tav tm="0">
                                          <p:val>
                                            <p:strVal val="#ppt_x"/>
                                          </p:val>
                                        </p:tav>
                                        <p:tav tm="100000">
                                          <p:val>
                                            <p:strVal val="#ppt_x"/>
                                          </p:val>
                                        </p:tav>
                                      </p:tavLst>
                                    </p:anim>
                                    <p:anim calcmode="lin" valueType="num">
                                      <p:cBhvr additive="base">
                                        <p:cTn id="79" dur="500" fill="hold"/>
                                        <p:tgtEl>
                                          <p:spTgt spid="28"/>
                                        </p:tgtEl>
                                        <p:attrNameLst>
                                          <p:attrName>ppt_y</p:attrName>
                                        </p:attrNameLst>
                                      </p:cBhvr>
                                      <p:tavLst>
                                        <p:tav tm="0">
                                          <p:val>
                                            <p:strVal val="#ppt_y+0.1"/>
                                          </p:val>
                                        </p:tav>
                                        <p:tav tm="100000">
                                          <p:val>
                                            <p:strVal val="#ppt_y"/>
                                          </p:val>
                                        </p:tav>
                                      </p:tavLst>
                                    </p:anim>
                                    <p:animEffect transition="in" filter="fade">
                                      <p:cBhvr>
                                        <p:cTn id="80" dur="500"/>
                                        <p:tgtEl>
                                          <p:spTgt spid="28"/>
                                        </p:tgtEl>
                                      </p:cBhvr>
                                    </p:animEffect>
                                  </p:childTnLst>
                                </p:cTn>
                              </p:par>
                              <p:par>
                                <p:cTn id="81" presetID="2" presetClass="entr" presetSubtype="4" fill="hold" grpId="0" nodeType="withEffect">
                                  <p:stCondLst>
                                    <p:cond delay="250"/>
                                  </p:stCondLst>
                                  <p:childTnLst>
                                    <p:set>
                                      <p:cBhvr>
                                        <p:cTn id="82" dur="1" fill="hold">
                                          <p:stCondLst>
                                            <p:cond delay="0"/>
                                          </p:stCondLst>
                                        </p:cTn>
                                        <p:tgtEl>
                                          <p:spTgt spid="29"/>
                                        </p:tgtEl>
                                        <p:attrNameLst>
                                          <p:attrName>style.visibility</p:attrName>
                                        </p:attrNameLst>
                                      </p:cBhvr>
                                      <p:to>
                                        <p:strVal val="visible"/>
                                      </p:to>
                                    </p:set>
                                    <p:anim calcmode="lin" valueType="num">
                                      <p:cBhvr additive="base">
                                        <p:cTn id="83" dur="500" fill="hold"/>
                                        <p:tgtEl>
                                          <p:spTgt spid="29"/>
                                        </p:tgtEl>
                                        <p:attrNameLst>
                                          <p:attrName>ppt_x</p:attrName>
                                        </p:attrNameLst>
                                      </p:cBhvr>
                                      <p:tavLst>
                                        <p:tav tm="0">
                                          <p:val>
                                            <p:strVal val="#ppt_x"/>
                                          </p:val>
                                        </p:tav>
                                        <p:tav tm="100000">
                                          <p:val>
                                            <p:strVal val="#ppt_x"/>
                                          </p:val>
                                        </p:tav>
                                      </p:tavLst>
                                    </p:anim>
                                    <p:anim calcmode="lin" valueType="num">
                                      <p:cBhvr additive="base">
                                        <p:cTn id="84" dur="500" fill="hold"/>
                                        <p:tgtEl>
                                          <p:spTgt spid="29"/>
                                        </p:tgtEl>
                                        <p:attrNameLst>
                                          <p:attrName>ppt_y</p:attrName>
                                        </p:attrNameLst>
                                      </p:cBhvr>
                                      <p:tavLst>
                                        <p:tav tm="0">
                                          <p:val>
                                            <p:strVal val="#ppt_y+0.1"/>
                                          </p:val>
                                        </p:tav>
                                        <p:tav tm="100000">
                                          <p:val>
                                            <p:strVal val="#ppt_y"/>
                                          </p:val>
                                        </p:tav>
                                      </p:tavLst>
                                    </p:anim>
                                    <p:animEffect transition="in" filter="fade">
                                      <p:cBhvr>
                                        <p:cTn id="85" dur="500"/>
                                        <p:tgtEl>
                                          <p:spTgt spid="29"/>
                                        </p:tgtEl>
                                      </p:cBhvr>
                                    </p:animEffect>
                                  </p:childTnLst>
                                </p:cTn>
                              </p:par>
                              <p:par>
                                <p:cTn id="86" presetID="2" presetClass="entr" presetSubtype="4" fill="hold" grpId="0" nodeType="withEffect">
                                  <p:stCondLst>
                                    <p:cond delay="250"/>
                                  </p:stCondLst>
                                  <p:childTnLst>
                                    <p:set>
                                      <p:cBhvr>
                                        <p:cTn id="87" dur="1" fill="hold">
                                          <p:stCondLst>
                                            <p:cond delay="0"/>
                                          </p:stCondLst>
                                        </p:cTn>
                                        <p:tgtEl>
                                          <p:spTgt spid="30"/>
                                        </p:tgtEl>
                                        <p:attrNameLst>
                                          <p:attrName>style.visibility</p:attrName>
                                        </p:attrNameLst>
                                      </p:cBhvr>
                                      <p:to>
                                        <p:strVal val="visible"/>
                                      </p:to>
                                    </p:set>
                                    <p:anim calcmode="lin" valueType="num">
                                      <p:cBhvr additive="base">
                                        <p:cTn id="88" dur="500" fill="hold"/>
                                        <p:tgtEl>
                                          <p:spTgt spid="30"/>
                                        </p:tgtEl>
                                        <p:attrNameLst>
                                          <p:attrName>ppt_x</p:attrName>
                                        </p:attrNameLst>
                                      </p:cBhvr>
                                      <p:tavLst>
                                        <p:tav tm="0">
                                          <p:val>
                                            <p:strVal val="#ppt_x"/>
                                          </p:val>
                                        </p:tav>
                                        <p:tav tm="100000">
                                          <p:val>
                                            <p:strVal val="#ppt_x"/>
                                          </p:val>
                                        </p:tav>
                                      </p:tavLst>
                                    </p:anim>
                                    <p:anim calcmode="lin" valueType="num">
                                      <p:cBhvr additive="base">
                                        <p:cTn id="89" dur="500" fill="hold"/>
                                        <p:tgtEl>
                                          <p:spTgt spid="30"/>
                                        </p:tgtEl>
                                        <p:attrNameLst>
                                          <p:attrName>ppt_y</p:attrName>
                                        </p:attrNameLst>
                                      </p:cBhvr>
                                      <p:tavLst>
                                        <p:tav tm="0">
                                          <p:val>
                                            <p:strVal val="#ppt_y+0.1"/>
                                          </p:val>
                                        </p:tav>
                                        <p:tav tm="100000">
                                          <p:val>
                                            <p:strVal val="#ppt_y"/>
                                          </p:val>
                                        </p:tav>
                                      </p:tavLst>
                                    </p:anim>
                                    <p:animEffect transition="in" filter="fade">
                                      <p:cBhvr>
                                        <p:cTn id="90" dur="500"/>
                                        <p:tgtEl>
                                          <p:spTgt spid="30"/>
                                        </p:tgtEl>
                                      </p:cBhvr>
                                    </p:animEffect>
                                  </p:childTnLst>
                                </p:cTn>
                              </p:par>
                              <p:par>
                                <p:cTn id="91" presetID="2" presetClass="entr" presetSubtype="4" fill="hold" grpId="0" nodeType="withEffect">
                                  <p:stCondLst>
                                    <p:cond delay="330"/>
                                  </p:stCondLst>
                                  <p:childTnLst>
                                    <p:set>
                                      <p:cBhvr>
                                        <p:cTn id="92" dur="1" fill="hold">
                                          <p:stCondLst>
                                            <p:cond delay="0"/>
                                          </p:stCondLst>
                                        </p:cTn>
                                        <p:tgtEl>
                                          <p:spTgt spid="31"/>
                                        </p:tgtEl>
                                        <p:attrNameLst>
                                          <p:attrName>style.visibility</p:attrName>
                                        </p:attrNameLst>
                                      </p:cBhvr>
                                      <p:to>
                                        <p:strVal val="visible"/>
                                      </p:to>
                                    </p:set>
                                    <p:anim calcmode="lin" valueType="num">
                                      <p:cBhvr additive="base">
                                        <p:cTn id="93" dur="500" fill="hold"/>
                                        <p:tgtEl>
                                          <p:spTgt spid="31"/>
                                        </p:tgtEl>
                                        <p:attrNameLst>
                                          <p:attrName>ppt_x</p:attrName>
                                        </p:attrNameLst>
                                      </p:cBhvr>
                                      <p:tavLst>
                                        <p:tav tm="0">
                                          <p:val>
                                            <p:strVal val="#ppt_x"/>
                                          </p:val>
                                        </p:tav>
                                        <p:tav tm="100000">
                                          <p:val>
                                            <p:strVal val="#ppt_x"/>
                                          </p:val>
                                        </p:tav>
                                      </p:tavLst>
                                    </p:anim>
                                    <p:anim calcmode="lin" valueType="num">
                                      <p:cBhvr additive="base">
                                        <p:cTn id="94" dur="500" fill="hold"/>
                                        <p:tgtEl>
                                          <p:spTgt spid="31"/>
                                        </p:tgtEl>
                                        <p:attrNameLst>
                                          <p:attrName>ppt_y</p:attrName>
                                        </p:attrNameLst>
                                      </p:cBhvr>
                                      <p:tavLst>
                                        <p:tav tm="0">
                                          <p:val>
                                            <p:strVal val="#ppt_y+0.1"/>
                                          </p:val>
                                        </p:tav>
                                        <p:tav tm="100000">
                                          <p:val>
                                            <p:strVal val="#ppt_y"/>
                                          </p:val>
                                        </p:tav>
                                      </p:tavLst>
                                    </p:anim>
                                    <p:animEffect transition="in" filter="fade">
                                      <p:cBhvr>
                                        <p:cTn id="95" dur="500"/>
                                        <p:tgtEl>
                                          <p:spTgt spid="31"/>
                                        </p:tgtEl>
                                      </p:cBhvr>
                                    </p:animEffect>
                                  </p:childTnLst>
                                </p:cTn>
                              </p:par>
                              <p:par>
                                <p:cTn id="96" presetID="2" presetClass="entr" presetSubtype="4" fill="hold" grpId="0" nodeType="withEffect">
                                  <p:stCondLst>
                                    <p:cond delay="33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ppt_y+0.1"/>
                                          </p:val>
                                        </p:tav>
                                        <p:tav tm="100000">
                                          <p:val>
                                            <p:strVal val="#ppt_y"/>
                                          </p:val>
                                        </p:tav>
                                      </p:tavLst>
                                    </p:anim>
                                    <p:animEffect transition="in" filter="fade">
                                      <p:cBhvr>
                                        <p:cTn id="100" dur="500"/>
                                        <p:tgtEl>
                                          <p:spTgt spid="32"/>
                                        </p:tgtEl>
                                      </p:cBhvr>
                                    </p:animEffect>
                                  </p:childTnLst>
                                </p:cTn>
                              </p:par>
                              <p:par>
                                <p:cTn id="101" presetID="2" presetClass="entr" presetSubtype="4" fill="hold" grpId="0" nodeType="withEffect">
                                  <p:stCondLst>
                                    <p:cond delay="330"/>
                                  </p:stCondLst>
                                  <p:childTnLst>
                                    <p:set>
                                      <p:cBhvr>
                                        <p:cTn id="102" dur="1" fill="hold">
                                          <p:stCondLst>
                                            <p:cond delay="0"/>
                                          </p:stCondLst>
                                        </p:cTn>
                                        <p:tgtEl>
                                          <p:spTgt spid="33"/>
                                        </p:tgtEl>
                                        <p:attrNameLst>
                                          <p:attrName>style.visibility</p:attrName>
                                        </p:attrNameLst>
                                      </p:cBhvr>
                                      <p:to>
                                        <p:strVal val="visible"/>
                                      </p:to>
                                    </p:set>
                                    <p:anim calcmode="lin" valueType="num">
                                      <p:cBhvr additive="base">
                                        <p:cTn id="103" dur="500" fill="hold"/>
                                        <p:tgtEl>
                                          <p:spTgt spid="33"/>
                                        </p:tgtEl>
                                        <p:attrNameLst>
                                          <p:attrName>ppt_x</p:attrName>
                                        </p:attrNameLst>
                                      </p:cBhvr>
                                      <p:tavLst>
                                        <p:tav tm="0">
                                          <p:val>
                                            <p:strVal val="#ppt_x"/>
                                          </p:val>
                                        </p:tav>
                                        <p:tav tm="100000">
                                          <p:val>
                                            <p:strVal val="#ppt_x"/>
                                          </p:val>
                                        </p:tav>
                                      </p:tavLst>
                                    </p:anim>
                                    <p:anim calcmode="lin" valueType="num">
                                      <p:cBhvr additive="base">
                                        <p:cTn id="104" dur="500" fill="hold"/>
                                        <p:tgtEl>
                                          <p:spTgt spid="33"/>
                                        </p:tgtEl>
                                        <p:attrNameLst>
                                          <p:attrName>ppt_y</p:attrName>
                                        </p:attrNameLst>
                                      </p:cBhvr>
                                      <p:tavLst>
                                        <p:tav tm="0">
                                          <p:val>
                                            <p:strVal val="#ppt_y+0.1"/>
                                          </p:val>
                                        </p:tav>
                                        <p:tav tm="100000">
                                          <p:val>
                                            <p:strVal val="#ppt_y"/>
                                          </p:val>
                                        </p:tav>
                                      </p:tavLst>
                                    </p:anim>
                                    <p:animEffect transition="in" filter="fade">
                                      <p:cBhvr>
                                        <p:cTn id="105" dur="500"/>
                                        <p:tgtEl>
                                          <p:spTgt spid="33"/>
                                        </p:tgtEl>
                                      </p:cBhvr>
                                    </p:animEffect>
                                  </p:childTnLst>
                                </p:cTn>
                              </p:par>
                              <p:par>
                                <p:cTn id="106" presetID="2" presetClass="entr" presetSubtype="4" fill="hold" grpId="0" nodeType="withEffect">
                                  <p:stCondLst>
                                    <p:cond delay="410"/>
                                  </p:stCondLst>
                                  <p:childTnLst>
                                    <p:set>
                                      <p:cBhvr>
                                        <p:cTn id="107" dur="1" fill="hold">
                                          <p:stCondLst>
                                            <p:cond delay="0"/>
                                          </p:stCondLst>
                                        </p:cTn>
                                        <p:tgtEl>
                                          <p:spTgt spid="34"/>
                                        </p:tgtEl>
                                        <p:attrNameLst>
                                          <p:attrName>style.visibility</p:attrName>
                                        </p:attrNameLst>
                                      </p:cBhvr>
                                      <p:to>
                                        <p:strVal val="visible"/>
                                      </p:to>
                                    </p:set>
                                    <p:anim calcmode="lin" valueType="num">
                                      <p:cBhvr additive="base">
                                        <p:cTn id="108" dur="500" fill="hold"/>
                                        <p:tgtEl>
                                          <p:spTgt spid="34"/>
                                        </p:tgtEl>
                                        <p:attrNameLst>
                                          <p:attrName>ppt_x</p:attrName>
                                        </p:attrNameLst>
                                      </p:cBhvr>
                                      <p:tavLst>
                                        <p:tav tm="0">
                                          <p:val>
                                            <p:strVal val="#ppt_x"/>
                                          </p:val>
                                        </p:tav>
                                        <p:tav tm="100000">
                                          <p:val>
                                            <p:strVal val="#ppt_x"/>
                                          </p:val>
                                        </p:tav>
                                      </p:tavLst>
                                    </p:anim>
                                    <p:anim calcmode="lin" valueType="num">
                                      <p:cBhvr additive="base">
                                        <p:cTn id="109" dur="500" fill="hold"/>
                                        <p:tgtEl>
                                          <p:spTgt spid="34"/>
                                        </p:tgtEl>
                                        <p:attrNameLst>
                                          <p:attrName>ppt_y</p:attrName>
                                        </p:attrNameLst>
                                      </p:cBhvr>
                                      <p:tavLst>
                                        <p:tav tm="0">
                                          <p:val>
                                            <p:strVal val="#ppt_y+0.1"/>
                                          </p:val>
                                        </p:tav>
                                        <p:tav tm="100000">
                                          <p:val>
                                            <p:strVal val="#ppt_y"/>
                                          </p:val>
                                        </p:tav>
                                      </p:tavLst>
                                    </p:anim>
                                    <p:animEffect transition="in" filter="fade">
                                      <p:cBhvr>
                                        <p:cTn id="110" dur="500"/>
                                        <p:tgtEl>
                                          <p:spTgt spid="34"/>
                                        </p:tgtEl>
                                      </p:cBhvr>
                                    </p:animEffect>
                                  </p:childTnLst>
                                </p:cTn>
                              </p:par>
                              <p:par>
                                <p:cTn id="111" presetID="2" presetClass="entr" presetSubtype="4" fill="hold" grpId="0" nodeType="withEffect">
                                  <p:stCondLst>
                                    <p:cond delay="410"/>
                                  </p:stCondLst>
                                  <p:childTnLst>
                                    <p:set>
                                      <p:cBhvr>
                                        <p:cTn id="112" dur="1" fill="hold">
                                          <p:stCondLst>
                                            <p:cond delay="0"/>
                                          </p:stCondLst>
                                        </p:cTn>
                                        <p:tgtEl>
                                          <p:spTgt spid="35"/>
                                        </p:tgtEl>
                                        <p:attrNameLst>
                                          <p:attrName>style.visibility</p:attrName>
                                        </p:attrNameLst>
                                      </p:cBhvr>
                                      <p:to>
                                        <p:strVal val="visible"/>
                                      </p:to>
                                    </p:set>
                                    <p:anim calcmode="lin" valueType="num">
                                      <p:cBhvr additive="base">
                                        <p:cTn id="113" dur="500" fill="hold"/>
                                        <p:tgtEl>
                                          <p:spTgt spid="35"/>
                                        </p:tgtEl>
                                        <p:attrNameLst>
                                          <p:attrName>ppt_x</p:attrName>
                                        </p:attrNameLst>
                                      </p:cBhvr>
                                      <p:tavLst>
                                        <p:tav tm="0">
                                          <p:val>
                                            <p:strVal val="#ppt_x"/>
                                          </p:val>
                                        </p:tav>
                                        <p:tav tm="100000">
                                          <p:val>
                                            <p:strVal val="#ppt_x"/>
                                          </p:val>
                                        </p:tav>
                                      </p:tavLst>
                                    </p:anim>
                                    <p:anim calcmode="lin" valueType="num">
                                      <p:cBhvr additive="base">
                                        <p:cTn id="114" dur="500" fill="hold"/>
                                        <p:tgtEl>
                                          <p:spTgt spid="35"/>
                                        </p:tgtEl>
                                        <p:attrNameLst>
                                          <p:attrName>ppt_y</p:attrName>
                                        </p:attrNameLst>
                                      </p:cBhvr>
                                      <p:tavLst>
                                        <p:tav tm="0">
                                          <p:val>
                                            <p:strVal val="#ppt_y+0.1"/>
                                          </p:val>
                                        </p:tav>
                                        <p:tav tm="100000">
                                          <p:val>
                                            <p:strVal val="#ppt_y"/>
                                          </p:val>
                                        </p:tav>
                                      </p:tavLst>
                                    </p:anim>
                                    <p:animEffect transition="in" filter="fade">
                                      <p:cBhvr>
                                        <p:cTn id="115" dur="500"/>
                                        <p:tgtEl>
                                          <p:spTgt spid="35"/>
                                        </p:tgtEl>
                                      </p:cBhvr>
                                    </p:animEffect>
                                  </p:childTnLst>
                                </p:cTn>
                              </p:par>
                              <p:par>
                                <p:cTn id="116" presetID="2" presetClass="entr" presetSubtype="4" fill="hold" grpId="0" nodeType="withEffect">
                                  <p:stCondLst>
                                    <p:cond delay="410"/>
                                  </p:stCondLst>
                                  <p:childTnLst>
                                    <p:set>
                                      <p:cBhvr>
                                        <p:cTn id="117" dur="1" fill="hold">
                                          <p:stCondLst>
                                            <p:cond delay="0"/>
                                          </p:stCondLst>
                                        </p:cTn>
                                        <p:tgtEl>
                                          <p:spTgt spid="36"/>
                                        </p:tgtEl>
                                        <p:attrNameLst>
                                          <p:attrName>style.visibility</p:attrName>
                                        </p:attrNameLst>
                                      </p:cBhvr>
                                      <p:to>
                                        <p:strVal val="visible"/>
                                      </p:to>
                                    </p:set>
                                    <p:anim calcmode="lin" valueType="num">
                                      <p:cBhvr additive="base">
                                        <p:cTn id="118" dur="500" fill="hold"/>
                                        <p:tgtEl>
                                          <p:spTgt spid="36"/>
                                        </p:tgtEl>
                                        <p:attrNameLst>
                                          <p:attrName>ppt_x</p:attrName>
                                        </p:attrNameLst>
                                      </p:cBhvr>
                                      <p:tavLst>
                                        <p:tav tm="0">
                                          <p:val>
                                            <p:strVal val="#ppt_x"/>
                                          </p:val>
                                        </p:tav>
                                        <p:tav tm="100000">
                                          <p:val>
                                            <p:strVal val="#ppt_x"/>
                                          </p:val>
                                        </p:tav>
                                      </p:tavLst>
                                    </p:anim>
                                    <p:anim calcmode="lin" valueType="num">
                                      <p:cBhvr additive="base">
                                        <p:cTn id="119" dur="500" fill="hold"/>
                                        <p:tgtEl>
                                          <p:spTgt spid="36"/>
                                        </p:tgtEl>
                                        <p:attrNameLst>
                                          <p:attrName>ppt_y</p:attrName>
                                        </p:attrNameLst>
                                      </p:cBhvr>
                                      <p:tavLst>
                                        <p:tav tm="0">
                                          <p:val>
                                            <p:strVal val="#ppt_y+0.1"/>
                                          </p:val>
                                        </p:tav>
                                        <p:tav tm="100000">
                                          <p:val>
                                            <p:strVal val="#ppt_y"/>
                                          </p:val>
                                        </p:tav>
                                      </p:tavLst>
                                    </p:anim>
                                    <p:animEffect transition="in" filter="fade">
                                      <p:cBhvr>
                                        <p:cTn id="120" dur="500"/>
                                        <p:tgtEl>
                                          <p:spTgt spid="36"/>
                                        </p:tgtEl>
                                      </p:cBhvr>
                                    </p:animEffect>
                                  </p:childTnLst>
                                </p:cTn>
                              </p:par>
                              <p:par>
                                <p:cTn id="121" presetID="2" presetClass="entr" presetSubtype="4" fill="hold" grpId="0" nodeType="withEffect">
                                  <p:stCondLst>
                                    <p:cond delay="500"/>
                                  </p:stCondLst>
                                  <p:childTnLst>
                                    <p:set>
                                      <p:cBhvr>
                                        <p:cTn id="122" dur="1" fill="hold">
                                          <p:stCondLst>
                                            <p:cond delay="0"/>
                                          </p:stCondLst>
                                        </p:cTn>
                                        <p:tgtEl>
                                          <p:spTgt spid="37"/>
                                        </p:tgtEl>
                                        <p:attrNameLst>
                                          <p:attrName>style.visibility</p:attrName>
                                        </p:attrNameLst>
                                      </p:cBhvr>
                                      <p:to>
                                        <p:strVal val="visible"/>
                                      </p:to>
                                    </p:set>
                                    <p:anim calcmode="lin" valueType="num">
                                      <p:cBhvr additive="base">
                                        <p:cTn id="123" dur="500" fill="hold"/>
                                        <p:tgtEl>
                                          <p:spTgt spid="37"/>
                                        </p:tgtEl>
                                        <p:attrNameLst>
                                          <p:attrName>ppt_x</p:attrName>
                                        </p:attrNameLst>
                                      </p:cBhvr>
                                      <p:tavLst>
                                        <p:tav tm="0">
                                          <p:val>
                                            <p:strVal val="#ppt_x"/>
                                          </p:val>
                                        </p:tav>
                                        <p:tav tm="100000">
                                          <p:val>
                                            <p:strVal val="#ppt_x"/>
                                          </p:val>
                                        </p:tav>
                                      </p:tavLst>
                                    </p:anim>
                                    <p:anim calcmode="lin" valueType="num">
                                      <p:cBhvr additive="base">
                                        <p:cTn id="124" dur="500" fill="hold"/>
                                        <p:tgtEl>
                                          <p:spTgt spid="37"/>
                                        </p:tgtEl>
                                        <p:attrNameLst>
                                          <p:attrName>ppt_y</p:attrName>
                                        </p:attrNameLst>
                                      </p:cBhvr>
                                      <p:tavLst>
                                        <p:tav tm="0">
                                          <p:val>
                                            <p:strVal val="#ppt_y+0.1"/>
                                          </p:val>
                                        </p:tav>
                                        <p:tav tm="100000">
                                          <p:val>
                                            <p:strVal val="#ppt_y"/>
                                          </p:val>
                                        </p:tav>
                                      </p:tavLst>
                                    </p:anim>
                                    <p:animEffect transition="in" filter="fade">
                                      <p:cBhvr>
                                        <p:cTn id="125" dur="500"/>
                                        <p:tgtEl>
                                          <p:spTgt spid="37"/>
                                        </p:tgtEl>
                                      </p:cBhvr>
                                    </p:animEffect>
                                  </p:childTnLst>
                                </p:cTn>
                              </p:par>
                              <p:par>
                                <p:cTn id="126" presetID="2" presetClass="entr" presetSubtype="4" fill="hold" grpId="0" nodeType="withEffect">
                                  <p:stCondLst>
                                    <p:cond delay="500"/>
                                  </p:stCondLst>
                                  <p:childTnLst>
                                    <p:set>
                                      <p:cBhvr>
                                        <p:cTn id="127" dur="1" fill="hold">
                                          <p:stCondLst>
                                            <p:cond delay="0"/>
                                          </p:stCondLst>
                                        </p:cTn>
                                        <p:tgtEl>
                                          <p:spTgt spid="38"/>
                                        </p:tgtEl>
                                        <p:attrNameLst>
                                          <p:attrName>style.visibility</p:attrName>
                                        </p:attrNameLst>
                                      </p:cBhvr>
                                      <p:to>
                                        <p:strVal val="visible"/>
                                      </p:to>
                                    </p:set>
                                    <p:anim calcmode="lin" valueType="num">
                                      <p:cBhvr additive="base">
                                        <p:cTn id="128" dur="500" fill="hold"/>
                                        <p:tgtEl>
                                          <p:spTgt spid="38"/>
                                        </p:tgtEl>
                                        <p:attrNameLst>
                                          <p:attrName>ppt_x</p:attrName>
                                        </p:attrNameLst>
                                      </p:cBhvr>
                                      <p:tavLst>
                                        <p:tav tm="0">
                                          <p:val>
                                            <p:strVal val="#ppt_x"/>
                                          </p:val>
                                        </p:tav>
                                        <p:tav tm="100000">
                                          <p:val>
                                            <p:strVal val="#ppt_x"/>
                                          </p:val>
                                        </p:tav>
                                      </p:tavLst>
                                    </p:anim>
                                    <p:anim calcmode="lin" valueType="num">
                                      <p:cBhvr additive="base">
                                        <p:cTn id="129" dur="500" fill="hold"/>
                                        <p:tgtEl>
                                          <p:spTgt spid="38"/>
                                        </p:tgtEl>
                                        <p:attrNameLst>
                                          <p:attrName>ppt_y</p:attrName>
                                        </p:attrNameLst>
                                      </p:cBhvr>
                                      <p:tavLst>
                                        <p:tav tm="0">
                                          <p:val>
                                            <p:strVal val="#ppt_y+0.1"/>
                                          </p:val>
                                        </p:tav>
                                        <p:tav tm="100000">
                                          <p:val>
                                            <p:strVal val="#ppt_y"/>
                                          </p:val>
                                        </p:tav>
                                      </p:tavLst>
                                    </p:anim>
                                    <p:animEffect transition="in" filter="fade">
                                      <p:cBhvr>
                                        <p:cTn id="130" dur="500"/>
                                        <p:tgtEl>
                                          <p:spTgt spid="38"/>
                                        </p:tgtEl>
                                      </p:cBhvr>
                                    </p:animEffect>
                                  </p:childTnLst>
                                </p:cTn>
                              </p:par>
                              <p:par>
                                <p:cTn id="131" presetID="2" presetClass="entr" presetSubtype="4" fill="hold" grpId="0" nodeType="withEffect">
                                  <p:stCondLst>
                                    <p:cond delay="500"/>
                                  </p:stCondLst>
                                  <p:childTnLst>
                                    <p:set>
                                      <p:cBhvr>
                                        <p:cTn id="132" dur="1" fill="hold">
                                          <p:stCondLst>
                                            <p:cond delay="0"/>
                                          </p:stCondLst>
                                        </p:cTn>
                                        <p:tgtEl>
                                          <p:spTgt spid="39"/>
                                        </p:tgtEl>
                                        <p:attrNameLst>
                                          <p:attrName>style.visibility</p:attrName>
                                        </p:attrNameLst>
                                      </p:cBhvr>
                                      <p:to>
                                        <p:strVal val="visible"/>
                                      </p:to>
                                    </p:set>
                                    <p:anim calcmode="lin" valueType="num">
                                      <p:cBhvr additive="base">
                                        <p:cTn id="133" dur="500" fill="hold"/>
                                        <p:tgtEl>
                                          <p:spTgt spid="39"/>
                                        </p:tgtEl>
                                        <p:attrNameLst>
                                          <p:attrName>ppt_x</p:attrName>
                                        </p:attrNameLst>
                                      </p:cBhvr>
                                      <p:tavLst>
                                        <p:tav tm="0">
                                          <p:val>
                                            <p:strVal val="#ppt_x"/>
                                          </p:val>
                                        </p:tav>
                                        <p:tav tm="100000">
                                          <p:val>
                                            <p:strVal val="#ppt_x"/>
                                          </p:val>
                                        </p:tav>
                                      </p:tavLst>
                                    </p:anim>
                                    <p:anim calcmode="lin" valueType="num">
                                      <p:cBhvr additive="base">
                                        <p:cTn id="134" dur="500" fill="hold"/>
                                        <p:tgtEl>
                                          <p:spTgt spid="39"/>
                                        </p:tgtEl>
                                        <p:attrNameLst>
                                          <p:attrName>ppt_y</p:attrName>
                                        </p:attrNameLst>
                                      </p:cBhvr>
                                      <p:tavLst>
                                        <p:tav tm="0">
                                          <p:val>
                                            <p:strVal val="#ppt_y+0.1"/>
                                          </p:val>
                                        </p:tav>
                                        <p:tav tm="100000">
                                          <p:val>
                                            <p:strVal val="#ppt_y"/>
                                          </p:val>
                                        </p:tav>
                                      </p:tavLst>
                                    </p:anim>
                                    <p:animEffect transition="in" filter="fade">
                                      <p:cBhvr>
                                        <p:cTn id="135" dur="500"/>
                                        <p:tgtEl>
                                          <p:spTgt spid="39"/>
                                        </p:tgtEl>
                                      </p:cBhvr>
                                    </p:animEffect>
                                  </p:childTnLst>
                                </p:cTn>
                              </p:par>
                              <p:par>
                                <p:cTn id="136" presetID="2" presetClass="entr" presetSubtype="4" fill="hold" grpId="0" nodeType="withEffect">
                                  <p:stCondLst>
                                    <p:cond delay="580"/>
                                  </p:stCondLst>
                                  <p:childTnLst>
                                    <p:set>
                                      <p:cBhvr>
                                        <p:cTn id="137" dur="1" fill="hold">
                                          <p:stCondLst>
                                            <p:cond delay="0"/>
                                          </p:stCondLst>
                                        </p:cTn>
                                        <p:tgtEl>
                                          <p:spTgt spid="40"/>
                                        </p:tgtEl>
                                        <p:attrNameLst>
                                          <p:attrName>style.visibility</p:attrName>
                                        </p:attrNameLst>
                                      </p:cBhvr>
                                      <p:to>
                                        <p:strVal val="visible"/>
                                      </p:to>
                                    </p:set>
                                    <p:anim calcmode="lin" valueType="num">
                                      <p:cBhvr additive="base">
                                        <p:cTn id="138" dur="500" fill="hold"/>
                                        <p:tgtEl>
                                          <p:spTgt spid="40"/>
                                        </p:tgtEl>
                                        <p:attrNameLst>
                                          <p:attrName>ppt_x</p:attrName>
                                        </p:attrNameLst>
                                      </p:cBhvr>
                                      <p:tavLst>
                                        <p:tav tm="0">
                                          <p:val>
                                            <p:strVal val="#ppt_x"/>
                                          </p:val>
                                        </p:tav>
                                        <p:tav tm="100000">
                                          <p:val>
                                            <p:strVal val="#ppt_x"/>
                                          </p:val>
                                        </p:tav>
                                      </p:tavLst>
                                    </p:anim>
                                    <p:anim calcmode="lin" valueType="num">
                                      <p:cBhvr additive="base">
                                        <p:cTn id="139" dur="500" fill="hold"/>
                                        <p:tgtEl>
                                          <p:spTgt spid="40"/>
                                        </p:tgtEl>
                                        <p:attrNameLst>
                                          <p:attrName>ppt_y</p:attrName>
                                        </p:attrNameLst>
                                      </p:cBhvr>
                                      <p:tavLst>
                                        <p:tav tm="0">
                                          <p:val>
                                            <p:strVal val="#ppt_y+0.1"/>
                                          </p:val>
                                        </p:tav>
                                        <p:tav tm="100000">
                                          <p:val>
                                            <p:strVal val="#ppt_y"/>
                                          </p:val>
                                        </p:tav>
                                      </p:tavLst>
                                    </p:anim>
                                    <p:animEffect transition="in" filter="fade">
                                      <p:cBhvr>
                                        <p:cTn id="140" dur="500"/>
                                        <p:tgtEl>
                                          <p:spTgt spid="40"/>
                                        </p:tgtEl>
                                      </p:cBhvr>
                                    </p:animEffect>
                                  </p:childTnLst>
                                </p:cTn>
                              </p:par>
                              <p:par>
                                <p:cTn id="141" presetID="2" presetClass="entr" presetSubtype="4" fill="hold" grpId="0" nodeType="withEffect">
                                  <p:stCondLst>
                                    <p:cond delay="580"/>
                                  </p:stCondLst>
                                  <p:childTnLst>
                                    <p:set>
                                      <p:cBhvr>
                                        <p:cTn id="142" dur="1" fill="hold">
                                          <p:stCondLst>
                                            <p:cond delay="0"/>
                                          </p:stCondLst>
                                        </p:cTn>
                                        <p:tgtEl>
                                          <p:spTgt spid="41"/>
                                        </p:tgtEl>
                                        <p:attrNameLst>
                                          <p:attrName>style.visibility</p:attrName>
                                        </p:attrNameLst>
                                      </p:cBhvr>
                                      <p:to>
                                        <p:strVal val="visible"/>
                                      </p:to>
                                    </p:set>
                                    <p:anim calcmode="lin" valueType="num">
                                      <p:cBhvr additive="base">
                                        <p:cTn id="143" dur="500" fill="hold"/>
                                        <p:tgtEl>
                                          <p:spTgt spid="41"/>
                                        </p:tgtEl>
                                        <p:attrNameLst>
                                          <p:attrName>ppt_x</p:attrName>
                                        </p:attrNameLst>
                                      </p:cBhvr>
                                      <p:tavLst>
                                        <p:tav tm="0">
                                          <p:val>
                                            <p:strVal val="#ppt_x"/>
                                          </p:val>
                                        </p:tav>
                                        <p:tav tm="100000">
                                          <p:val>
                                            <p:strVal val="#ppt_x"/>
                                          </p:val>
                                        </p:tav>
                                      </p:tavLst>
                                    </p:anim>
                                    <p:anim calcmode="lin" valueType="num">
                                      <p:cBhvr additive="base">
                                        <p:cTn id="144" dur="500" fill="hold"/>
                                        <p:tgtEl>
                                          <p:spTgt spid="41"/>
                                        </p:tgtEl>
                                        <p:attrNameLst>
                                          <p:attrName>ppt_y</p:attrName>
                                        </p:attrNameLst>
                                      </p:cBhvr>
                                      <p:tavLst>
                                        <p:tav tm="0">
                                          <p:val>
                                            <p:strVal val="#ppt_y+0.1"/>
                                          </p:val>
                                        </p:tav>
                                        <p:tav tm="100000">
                                          <p:val>
                                            <p:strVal val="#ppt_y"/>
                                          </p:val>
                                        </p:tav>
                                      </p:tavLst>
                                    </p:anim>
                                    <p:animEffect transition="in" filter="fade">
                                      <p:cBhvr>
                                        <p:cTn id="145" dur="500"/>
                                        <p:tgtEl>
                                          <p:spTgt spid="41"/>
                                        </p:tgtEl>
                                      </p:cBhvr>
                                    </p:animEffect>
                                  </p:childTnLst>
                                </p:cTn>
                              </p:par>
                              <p:par>
                                <p:cTn id="146" presetID="2" presetClass="entr" presetSubtype="4" fill="hold" grpId="0" nodeType="withEffect">
                                  <p:stCondLst>
                                    <p:cond delay="580"/>
                                  </p:stCondLst>
                                  <p:childTnLst>
                                    <p:set>
                                      <p:cBhvr>
                                        <p:cTn id="147" dur="1" fill="hold">
                                          <p:stCondLst>
                                            <p:cond delay="0"/>
                                          </p:stCondLst>
                                        </p:cTn>
                                        <p:tgtEl>
                                          <p:spTgt spid="42"/>
                                        </p:tgtEl>
                                        <p:attrNameLst>
                                          <p:attrName>style.visibility</p:attrName>
                                        </p:attrNameLst>
                                      </p:cBhvr>
                                      <p:to>
                                        <p:strVal val="visible"/>
                                      </p:to>
                                    </p:set>
                                    <p:anim calcmode="lin" valueType="num">
                                      <p:cBhvr additive="base">
                                        <p:cTn id="148" dur="500" fill="hold"/>
                                        <p:tgtEl>
                                          <p:spTgt spid="42"/>
                                        </p:tgtEl>
                                        <p:attrNameLst>
                                          <p:attrName>ppt_x</p:attrName>
                                        </p:attrNameLst>
                                      </p:cBhvr>
                                      <p:tavLst>
                                        <p:tav tm="0">
                                          <p:val>
                                            <p:strVal val="#ppt_x"/>
                                          </p:val>
                                        </p:tav>
                                        <p:tav tm="100000">
                                          <p:val>
                                            <p:strVal val="#ppt_x"/>
                                          </p:val>
                                        </p:tav>
                                      </p:tavLst>
                                    </p:anim>
                                    <p:anim calcmode="lin" valueType="num">
                                      <p:cBhvr additive="base">
                                        <p:cTn id="149" dur="500" fill="hold"/>
                                        <p:tgtEl>
                                          <p:spTgt spid="42"/>
                                        </p:tgtEl>
                                        <p:attrNameLst>
                                          <p:attrName>ppt_y</p:attrName>
                                        </p:attrNameLst>
                                      </p:cBhvr>
                                      <p:tavLst>
                                        <p:tav tm="0">
                                          <p:val>
                                            <p:strVal val="#ppt_y+0.1"/>
                                          </p:val>
                                        </p:tav>
                                        <p:tav tm="100000">
                                          <p:val>
                                            <p:strVal val="#ppt_y"/>
                                          </p:val>
                                        </p:tav>
                                      </p:tavLst>
                                    </p:anim>
                                    <p:animEffect transition="in" filter="fade">
                                      <p:cBhvr>
                                        <p:cTn id="150" dur="500"/>
                                        <p:tgtEl>
                                          <p:spTgt spid="42"/>
                                        </p:tgtEl>
                                      </p:cBhvr>
                                    </p:animEffect>
                                  </p:childTnLst>
                                </p:cTn>
                              </p:par>
                              <p:par>
                                <p:cTn id="151" presetID="2" presetClass="entr" presetSubtype="4" fill="hold" grpId="0" nodeType="withEffect">
                                  <p:stCondLst>
                                    <p:cond delay="660"/>
                                  </p:stCondLst>
                                  <p:childTnLst>
                                    <p:set>
                                      <p:cBhvr>
                                        <p:cTn id="152" dur="1" fill="hold">
                                          <p:stCondLst>
                                            <p:cond delay="0"/>
                                          </p:stCondLst>
                                        </p:cTn>
                                        <p:tgtEl>
                                          <p:spTgt spid="43"/>
                                        </p:tgtEl>
                                        <p:attrNameLst>
                                          <p:attrName>style.visibility</p:attrName>
                                        </p:attrNameLst>
                                      </p:cBhvr>
                                      <p:to>
                                        <p:strVal val="visible"/>
                                      </p:to>
                                    </p:set>
                                    <p:anim calcmode="lin" valueType="num">
                                      <p:cBhvr additive="base">
                                        <p:cTn id="153" dur="500" fill="hold"/>
                                        <p:tgtEl>
                                          <p:spTgt spid="43"/>
                                        </p:tgtEl>
                                        <p:attrNameLst>
                                          <p:attrName>ppt_x</p:attrName>
                                        </p:attrNameLst>
                                      </p:cBhvr>
                                      <p:tavLst>
                                        <p:tav tm="0">
                                          <p:val>
                                            <p:strVal val="#ppt_x"/>
                                          </p:val>
                                        </p:tav>
                                        <p:tav tm="100000">
                                          <p:val>
                                            <p:strVal val="#ppt_x"/>
                                          </p:val>
                                        </p:tav>
                                      </p:tavLst>
                                    </p:anim>
                                    <p:anim calcmode="lin" valueType="num">
                                      <p:cBhvr additive="base">
                                        <p:cTn id="154" dur="500" fill="hold"/>
                                        <p:tgtEl>
                                          <p:spTgt spid="43"/>
                                        </p:tgtEl>
                                        <p:attrNameLst>
                                          <p:attrName>ppt_y</p:attrName>
                                        </p:attrNameLst>
                                      </p:cBhvr>
                                      <p:tavLst>
                                        <p:tav tm="0">
                                          <p:val>
                                            <p:strVal val="#ppt_y+0.1"/>
                                          </p:val>
                                        </p:tav>
                                        <p:tav tm="100000">
                                          <p:val>
                                            <p:strVal val="#ppt_y"/>
                                          </p:val>
                                        </p:tav>
                                      </p:tavLst>
                                    </p:anim>
                                    <p:animEffect transition="in" filter="fade">
                                      <p:cBhvr>
                                        <p:cTn id="155" dur="500"/>
                                        <p:tgtEl>
                                          <p:spTgt spid="43"/>
                                        </p:tgtEl>
                                      </p:cBhvr>
                                    </p:animEffect>
                                  </p:childTnLst>
                                </p:cTn>
                              </p:par>
                              <p:par>
                                <p:cTn id="156" presetID="2" presetClass="entr" presetSubtype="4" fill="hold" grpId="0" nodeType="withEffect">
                                  <p:stCondLst>
                                    <p:cond delay="660"/>
                                  </p:stCondLst>
                                  <p:childTnLst>
                                    <p:set>
                                      <p:cBhvr>
                                        <p:cTn id="157" dur="1" fill="hold">
                                          <p:stCondLst>
                                            <p:cond delay="0"/>
                                          </p:stCondLst>
                                        </p:cTn>
                                        <p:tgtEl>
                                          <p:spTgt spid="44"/>
                                        </p:tgtEl>
                                        <p:attrNameLst>
                                          <p:attrName>style.visibility</p:attrName>
                                        </p:attrNameLst>
                                      </p:cBhvr>
                                      <p:to>
                                        <p:strVal val="visible"/>
                                      </p:to>
                                    </p:set>
                                    <p:anim calcmode="lin" valueType="num">
                                      <p:cBhvr additive="base">
                                        <p:cTn id="158" dur="500" fill="hold"/>
                                        <p:tgtEl>
                                          <p:spTgt spid="44"/>
                                        </p:tgtEl>
                                        <p:attrNameLst>
                                          <p:attrName>ppt_x</p:attrName>
                                        </p:attrNameLst>
                                      </p:cBhvr>
                                      <p:tavLst>
                                        <p:tav tm="0">
                                          <p:val>
                                            <p:strVal val="#ppt_x"/>
                                          </p:val>
                                        </p:tav>
                                        <p:tav tm="100000">
                                          <p:val>
                                            <p:strVal val="#ppt_x"/>
                                          </p:val>
                                        </p:tav>
                                      </p:tavLst>
                                    </p:anim>
                                    <p:anim calcmode="lin" valueType="num">
                                      <p:cBhvr additive="base">
                                        <p:cTn id="159" dur="500" fill="hold"/>
                                        <p:tgtEl>
                                          <p:spTgt spid="44"/>
                                        </p:tgtEl>
                                        <p:attrNameLst>
                                          <p:attrName>ppt_y</p:attrName>
                                        </p:attrNameLst>
                                      </p:cBhvr>
                                      <p:tavLst>
                                        <p:tav tm="0">
                                          <p:val>
                                            <p:strVal val="#ppt_y+0.1"/>
                                          </p:val>
                                        </p:tav>
                                        <p:tav tm="100000">
                                          <p:val>
                                            <p:strVal val="#ppt_y"/>
                                          </p:val>
                                        </p:tav>
                                      </p:tavLst>
                                    </p:anim>
                                    <p:animEffect transition="in" filter="fade">
                                      <p:cBhvr>
                                        <p:cTn id="160" dur="500"/>
                                        <p:tgtEl>
                                          <p:spTgt spid="44"/>
                                        </p:tgtEl>
                                      </p:cBhvr>
                                    </p:animEffect>
                                  </p:childTnLst>
                                </p:cTn>
                              </p:par>
                              <p:par>
                                <p:cTn id="161" presetID="2" presetClass="entr" presetSubtype="4" fill="hold" grpId="0" nodeType="withEffect">
                                  <p:stCondLst>
                                    <p:cond delay="660"/>
                                  </p:stCondLst>
                                  <p:childTnLst>
                                    <p:set>
                                      <p:cBhvr>
                                        <p:cTn id="162" dur="1" fill="hold">
                                          <p:stCondLst>
                                            <p:cond delay="0"/>
                                          </p:stCondLst>
                                        </p:cTn>
                                        <p:tgtEl>
                                          <p:spTgt spid="45"/>
                                        </p:tgtEl>
                                        <p:attrNameLst>
                                          <p:attrName>style.visibility</p:attrName>
                                        </p:attrNameLst>
                                      </p:cBhvr>
                                      <p:to>
                                        <p:strVal val="visible"/>
                                      </p:to>
                                    </p:set>
                                    <p:anim calcmode="lin" valueType="num">
                                      <p:cBhvr additive="base">
                                        <p:cTn id="163" dur="500" fill="hold"/>
                                        <p:tgtEl>
                                          <p:spTgt spid="45"/>
                                        </p:tgtEl>
                                        <p:attrNameLst>
                                          <p:attrName>ppt_x</p:attrName>
                                        </p:attrNameLst>
                                      </p:cBhvr>
                                      <p:tavLst>
                                        <p:tav tm="0">
                                          <p:val>
                                            <p:strVal val="#ppt_x"/>
                                          </p:val>
                                        </p:tav>
                                        <p:tav tm="100000">
                                          <p:val>
                                            <p:strVal val="#ppt_x"/>
                                          </p:val>
                                        </p:tav>
                                      </p:tavLst>
                                    </p:anim>
                                    <p:anim calcmode="lin" valueType="num">
                                      <p:cBhvr additive="base">
                                        <p:cTn id="164" dur="500" fill="hold"/>
                                        <p:tgtEl>
                                          <p:spTgt spid="45"/>
                                        </p:tgtEl>
                                        <p:attrNameLst>
                                          <p:attrName>ppt_y</p:attrName>
                                        </p:attrNameLst>
                                      </p:cBhvr>
                                      <p:tavLst>
                                        <p:tav tm="0">
                                          <p:val>
                                            <p:strVal val="#ppt_y+0.1"/>
                                          </p:val>
                                        </p:tav>
                                        <p:tav tm="100000">
                                          <p:val>
                                            <p:strVal val="#ppt_y"/>
                                          </p:val>
                                        </p:tav>
                                      </p:tavLst>
                                    </p:anim>
                                    <p:animEffect transition="in" filter="fade">
                                      <p:cBhvr>
                                        <p:cTn id="165" dur="500"/>
                                        <p:tgtEl>
                                          <p:spTgt spid="45"/>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grpId="0" nodeType="clickEffect">
                                  <p:stCondLst>
                                    <p:cond delay="0"/>
                                  </p:stCondLst>
                                  <p:childTnLst>
                                    <p:set>
                                      <p:cBhvr>
                                        <p:cTn id="169" dur="1" fill="hold">
                                          <p:stCondLst>
                                            <p:cond delay="0"/>
                                          </p:stCondLst>
                                        </p:cTn>
                                        <p:tgtEl>
                                          <p:spTgt spid="46"/>
                                        </p:tgtEl>
                                        <p:attrNameLst>
                                          <p:attrName>style.visibility</p:attrName>
                                        </p:attrNameLst>
                                      </p:cBhvr>
                                      <p:to>
                                        <p:strVal val="visible"/>
                                      </p:to>
                                    </p:set>
                                    <p:animEffect transition="in" filter="fade">
                                      <p:cBhvr>
                                        <p:cTn id="170" dur="500"/>
                                        <p:tgtEl>
                                          <p:spTgt spid="46"/>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47"/>
                                        </p:tgtEl>
                                        <p:attrNameLst>
                                          <p:attrName>style.visibility</p:attrName>
                                        </p:attrNameLst>
                                      </p:cBhvr>
                                      <p:to>
                                        <p:strVal val="visible"/>
                                      </p:to>
                                    </p:set>
                                    <p:animEffect transition="in" filter="fade">
                                      <p:cBhvr>
                                        <p:cTn id="173" dur="500"/>
                                        <p:tgtEl>
                                          <p:spTgt spid="47"/>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48"/>
                                        </p:tgtEl>
                                        <p:attrNameLst>
                                          <p:attrName>style.visibility</p:attrName>
                                        </p:attrNameLst>
                                      </p:cBhvr>
                                      <p:to>
                                        <p:strVal val="visible"/>
                                      </p:to>
                                    </p:set>
                                    <p:animEffect transition="in" filter="fade">
                                      <p:cBhvr>
                                        <p:cTn id="176" dur="500"/>
                                        <p:tgtEl>
                                          <p:spTgt spid="48"/>
                                        </p:tgtEl>
                                      </p:cBhvr>
                                    </p:animEffect>
                                  </p:childTnLst>
                                </p:cTn>
                              </p:par>
                              <p:par>
                                <p:cTn id="177" presetID="22" presetClass="entr" presetSubtype="8" fill="hold" grpId="0" nodeType="withEffect">
                                  <p:stCondLst>
                                    <p:cond delay="0"/>
                                  </p:stCondLst>
                                  <p:childTnLst>
                                    <p:set>
                                      <p:cBhvr>
                                        <p:cTn id="178" dur="1" fill="hold">
                                          <p:stCondLst>
                                            <p:cond delay="0"/>
                                          </p:stCondLst>
                                        </p:cTn>
                                        <p:tgtEl>
                                          <p:spTgt spid="49"/>
                                        </p:tgtEl>
                                        <p:attrNameLst>
                                          <p:attrName>style.visibility</p:attrName>
                                        </p:attrNameLst>
                                      </p:cBhvr>
                                      <p:to>
                                        <p:strVal val="visible"/>
                                      </p:to>
                                    </p:set>
                                    <p:animEffect transition="in" filter="wipe(left)">
                                      <p:cBhvr>
                                        <p:cTn id="179" dur="500"/>
                                        <p:tgtEl>
                                          <p:spTgt spid="49"/>
                                        </p:tgtEl>
                                      </p:cBhvr>
                                    </p:animEffect>
                                  </p:childTnLst>
                                </p:cTn>
                              </p:par>
                              <p:par>
                                <p:cTn id="180" presetID="22" presetClass="entr" presetSubtype="8" fill="hold" grpId="0" nodeType="withEffect">
                                  <p:stCondLst>
                                    <p:cond delay="90"/>
                                  </p:stCondLst>
                                  <p:childTnLst>
                                    <p:set>
                                      <p:cBhvr>
                                        <p:cTn id="181" dur="1" fill="hold">
                                          <p:stCondLst>
                                            <p:cond delay="0"/>
                                          </p:stCondLst>
                                        </p:cTn>
                                        <p:tgtEl>
                                          <p:spTgt spid="50"/>
                                        </p:tgtEl>
                                        <p:attrNameLst>
                                          <p:attrName>style.visibility</p:attrName>
                                        </p:attrNameLst>
                                      </p:cBhvr>
                                      <p:to>
                                        <p:strVal val="visible"/>
                                      </p:to>
                                    </p:set>
                                    <p:animEffect transition="in" filter="wipe(left)">
                                      <p:cBhvr>
                                        <p:cTn id="182" dur="500"/>
                                        <p:tgtEl>
                                          <p:spTgt spid="50"/>
                                        </p:tgtEl>
                                      </p:cBhvr>
                                    </p:animEffect>
                                  </p:childTnLst>
                                </p:cTn>
                              </p:par>
                              <p:par>
                                <p:cTn id="183" presetID="22" presetClass="entr" presetSubtype="8" fill="hold" grpId="0" nodeType="withEffect">
                                  <p:stCondLst>
                                    <p:cond delay="180"/>
                                  </p:stCondLst>
                                  <p:childTnLst>
                                    <p:set>
                                      <p:cBhvr>
                                        <p:cTn id="184" dur="1" fill="hold">
                                          <p:stCondLst>
                                            <p:cond delay="0"/>
                                          </p:stCondLst>
                                        </p:cTn>
                                        <p:tgtEl>
                                          <p:spTgt spid="51"/>
                                        </p:tgtEl>
                                        <p:attrNameLst>
                                          <p:attrName>style.visibility</p:attrName>
                                        </p:attrNameLst>
                                      </p:cBhvr>
                                      <p:to>
                                        <p:strVal val="visible"/>
                                      </p:to>
                                    </p:set>
                                    <p:animEffect transition="in" filter="wipe(left)">
                                      <p:cBhvr>
                                        <p:cTn id="185" dur="500"/>
                                        <p:tgtEl>
                                          <p:spTgt spid="51"/>
                                        </p:tgtEl>
                                      </p:cBhvr>
                                    </p:animEffect>
                                  </p:childTnLst>
                                </p:cTn>
                              </p:par>
                              <p:par>
                                <p:cTn id="186" presetID="22" presetClass="entr" presetSubtype="8" fill="hold" grpId="0" nodeType="withEffect">
                                  <p:stCondLst>
                                    <p:cond delay="270"/>
                                  </p:stCondLst>
                                  <p:childTnLst>
                                    <p:set>
                                      <p:cBhvr>
                                        <p:cTn id="187" dur="1" fill="hold">
                                          <p:stCondLst>
                                            <p:cond delay="0"/>
                                          </p:stCondLst>
                                        </p:cTn>
                                        <p:tgtEl>
                                          <p:spTgt spid="52"/>
                                        </p:tgtEl>
                                        <p:attrNameLst>
                                          <p:attrName>style.visibility</p:attrName>
                                        </p:attrNameLst>
                                      </p:cBhvr>
                                      <p:to>
                                        <p:strVal val="visible"/>
                                      </p:to>
                                    </p:set>
                                    <p:animEffect transition="in" filter="wipe(left)">
                                      <p:cBhvr>
                                        <p:cTn id="188" dur="500"/>
                                        <p:tgtEl>
                                          <p:spTgt spid="52"/>
                                        </p:tgtEl>
                                      </p:cBhvr>
                                    </p:animEffect>
                                  </p:childTnLst>
                                </p:cTn>
                              </p:par>
                              <p:par>
                                <p:cTn id="189" presetID="22" presetClass="entr" presetSubtype="8" fill="hold" grpId="0" nodeType="withEffect">
                                  <p:stCondLst>
                                    <p:cond delay="360"/>
                                  </p:stCondLst>
                                  <p:childTnLst>
                                    <p:set>
                                      <p:cBhvr>
                                        <p:cTn id="190" dur="1" fill="hold">
                                          <p:stCondLst>
                                            <p:cond delay="0"/>
                                          </p:stCondLst>
                                        </p:cTn>
                                        <p:tgtEl>
                                          <p:spTgt spid="53"/>
                                        </p:tgtEl>
                                        <p:attrNameLst>
                                          <p:attrName>style.visibility</p:attrName>
                                        </p:attrNameLst>
                                      </p:cBhvr>
                                      <p:to>
                                        <p:strVal val="visible"/>
                                      </p:to>
                                    </p:set>
                                    <p:animEffect transition="in" filter="wipe(left)">
                                      <p:cBhvr>
                                        <p:cTn id="191" dur="500"/>
                                        <p:tgtEl>
                                          <p:spTgt spid="53"/>
                                        </p:tgtEl>
                                      </p:cBhvr>
                                    </p:animEffect>
                                  </p:childTnLst>
                                </p:cTn>
                              </p:par>
                            </p:childTnLst>
                          </p:cTn>
                        </p:par>
                      </p:childTnLst>
                    </p:cTn>
                  </p:par>
                  <p:par>
                    <p:cTn id="192" fill="hold">
                      <p:stCondLst>
                        <p:cond delay="indefinite"/>
                      </p:stCondLst>
                      <p:childTnLst>
                        <p:par>
                          <p:cTn id="193" fill="hold">
                            <p:stCondLst>
                              <p:cond delay="0"/>
                            </p:stCondLst>
                            <p:childTnLst>
                              <p:par>
                                <p:cTn id="194" presetID="2" presetClass="entr" presetSubtype="4" fill="hold" grpId="0" nodeType="clickEffect">
                                  <p:stCondLst>
                                    <p:cond delay="0"/>
                                  </p:stCondLst>
                                  <p:childTnLst>
                                    <p:set>
                                      <p:cBhvr>
                                        <p:cTn id="195" dur="1" fill="hold">
                                          <p:stCondLst>
                                            <p:cond delay="0"/>
                                          </p:stCondLst>
                                        </p:cTn>
                                        <p:tgtEl>
                                          <p:spTgt spid="54"/>
                                        </p:tgtEl>
                                        <p:attrNameLst>
                                          <p:attrName>style.visibility</p:attrName>
                                        </p:attrNameLst>
                                      </p:cBhvr>
                                      <p:to>
                                        <p:strVal val="visible"/>
                                      </p:to>
                                    </p:set>
                                    <p:anim calcmode="lin" valueType="num">
                                      <p:cBhvr additive="base">
                                        <p:cTn id="196" dur="500" fill="hold"/>
                                        <p:tgtEl>
                                          <p:spTgt spid="54"/>
                                        </p:tgtEl>
                                        <p:attrNameLst>
                                          <p:attrName>ppt_x</p:attrName>
                                        </p:attrNameLst>
                                      </p:cBhvr>
                                      <p:tavLst>
                                        <p:tav tm="0">
                                          <p:val>
                                            <p:strVal val="#ppt_x"/>
                                          </p:val>
                                        </p:tav>
                                        <p:tav tm="100000">
                                          <p:val>
                                            <p:strVal val="#ppt_x"/>
                                          </p:val>
                                        </p:tav>
                                      </p:tavLst>
                                    </p:anim>
                                    <p:anim calcmode="lin" valueType="num">
                                      <p:cBhvr additive="base">
                                        <p:cTn id="197" dur="500" fill="hold"/>
                                        <p:tgtEl>
                                          <p:spTgt spid="54"/>
                                        </p:tgtEl>
                                        <p:attrNameLst>
                                          <p:attrName>ppt_y</p:attrName>
                                        </p:attrNameLst>
                                      </p:cBhvr>
                                      <p:tavLst>
                                        <p:tav tm="0">
                                          <p:val>
                                            <p:strVal val="#ppt_y+0.1"/>
                                          </p:val>
                                        </p:tav>
                                        <p:tav tm="100000">
                                          <p:val>
                                            <p:strVal val="#ppt_y"/>
                                          </p:val>
                                        </p:tav>
                                      </p:tavLst>
                                    </p:anim>
                                    <p:animEffect transition="in" filter="fade">
                                      <p:cBhvr>
                                        <p:cTn id="198" dur="500"/>
                                        <p:tgtEl>
                                          <p:spTgt spid="54"/>
                                        </p:tgtEl>
                                      </p:cBhvr>
                                    </p:animEffect>
                                  </p:childTnLst>
                                </p:cTn>
                              </p:par>
                              <p:par>
                                <p:cTn id="199" presetID="2" presetClass="entr" presetSubtype="4" fill="hold" grpId="0" nodeType="withEffect">
                                  <p:stCondLst>
                                    <p:cond delay="0"/>
                                  </p:stCondLst>
                                  <p:childTnLst>
                                    <p:set>
                                      <p:cBhvr>
                                        <p:cTn id="200" dur="1" fill="hold">
                                          <p:stCondLst>
                                            <p:cond delay="0"/>
                                          </p:stCondLst>
                                        </p:cTn>
                                        <p:tgtEl>
                                          <p:spTgt spid="55"/>
                                        </p:tgtEl>
                                        <p:attrNameLst>
                                          <p:attrName>style.visibility</p:attrName>
                                        </p:attrNameLst>
                                      </p:cBhvr>
                                      <p:to>
                                        <p:strVal val="visible"/>
                                      </p:to>
                                    </p:set>
                                    <p:anim calcmode="lin" valueType="num">
                                      <p:cBhvr additive="base">
                                        <p:cTn id="201" dur="500" fill="hold"/>
                                        <p:tgtEl>
                                          <p:spTgt spid="55"/>
                                        </p:tgtEl>
                                        <p:attrNameLst>
                                          <p:attrName>ppt_x</p:attrName>
                                        </p:attrNameLst>
                                      </p:cBhvr>
                                      <p:tavLst>
                                        <p:tav tm="0">
                                          <p:val>
                                            <p:strVal val="#ppt_x"/>
                                          </p:val>
                                        </p:tav>
                                        <p:tav tm="100000">
                                          <p:val>
                                            <p:strVal val="#ppt_x"/>
                                          </p:val>
                                        </p:tav>
                                      </p:tavLst>
                                    </p:anim>
                                    <p:anim calcmode="lin" valueType="num">
                                      <p:cBhvr additive="base">
                                        <p:cTn id="202" dur="500" fill="hold"/>
                                        <p:tgtEl>
                                          <p:spTgt spid="55"/>
                                        </p:tgtEl>
                                        <p:attrNameLst>
                                          <p:attrName>ppt_y</p:attrName>
                                        </p:attrNameLst>
                                      </p:cBhvr>
                                      <p:tavLst>
                                        <p:tav tm="0">
                                          <p:val>
                                            <p:strVal val="#ppt_y+0.1"/>
                                          </p:val>
                                        </p:tav>
                                        <p:tav tm="100000">
                                          <p:val>
                                            <p:strVal val="#ppt_y"/>
                                          </p:val>
                                        </p:tav>
                                      </p:tavLst>
                                    </p:anim>
                                    <p:animEffect transition="in" filter="fade">
                                      <p:cBhvr>
                                        <p:cTn id="203" dur="500"/>
                                        <p:tgtEl>
                                          <p:spTgt spid="55"/>
                                        </p:tgtEl>
                                      </p:cBhvr>
                                    </p:animEffect>
                                  </p:childTnLst>
                                </p:cTn>
                              </p:par>
                              <p:par>
                                <p:cTn id="204" presetID="2" presetClass="entr" presetSubtype="4" fill="hold" grpId="0" nodeType="withEffect">
                                  <p:stCondLst>
                                    <p:cond delay="120"/>
                                  </p:stCondLst>
                                  <p:childTnLst>
                                    <p:set>
                                      <p:cBhvr>
                                        <p:cTn id="205" dur="1" fill="hold">
                                          <p:stCondLst>
                                            <p:cond delay="0"/>
                                          </p:stCondLst>
                                        </p:cTn>
                                        <p:tgtEl>
                                          <p:spTgt spid="56"/>
                                        </p:tgtEl>
                                        <p:attrNameLst>
                                          <p:attrName>style.visibility</p:attrName>
                                        </p:attrNameLst>
                                      </p:cBhvr>
                                      <p:to>
                                        <p:strVal val="visible"/>
                                      </p:to>
                                    </p:set>
                                    <p:anim calcmode="lin" valueType="num">
                                      <p:cBhvr additive="base">
                                        <p:cTn id="206" dur="500" fill="hold"/>
                                        <p:tgtEl>
                                          <p:spTgt spid="56"/>
                                        </p:tgtEl>
                                        <p:attrNameLst>
                                          <p:attrName>ppt_x</p:attrName>
                                        </p:attrNameLst>
                                      </p:cBhvr>
                                      <p:tavLst>
                                        <p:tav tm="0">
                                          <p:val>
                                            <p:strVal val="#ppt_x"/>
                                          </p:val>
                                        </p:tav>
                                        <p:tav tm="100000">
                                          <p:val>
                                            <p:strVal val="#ppt_x"/>
                                          </p:val>
                                        </p:tav>
                                      </p:tavLst>
                                    </p:anim>
                                    <p:anim calcmode="lin" valueType="num">
                                      <p:cBhvr additive="base">
                                        <p:cTn id="207" dur="500" fill="hold"/>
                                        <p:tgtEl>
                                          <p:spTgt spid="56"/>
                                        </p:tgtEl>
                                        <p:attrNameLst>
                                          <p:attrName>ppt_y</p:attrName>
                                        </p:attrNameLst>
                                      </p:cBhvr>
                                      <p:tavLst>
                                        <p:tav tm="0">
                                          <p:val>
                                            <p:strVal val="#ppt_y+0.1"/>
                                          </p:val>
                                        </p:tav>
                                        <p:tav tm="100000">
                                          <p:val>
                                            <p:strVal val="#ppt_y"/>
                                          </p:val>
                                        </p:tav>
                                      </p:tavLst>
                                    </p:anim>
                                    <p:animEffect transition="in" filter="fade">
                                      <p:cBhvr>
                                        <p:cTn id="208" dur="500"/>
                                        <p:tgtEl>
                                          <p:spTgt spid="56"/>
                                        </p:tgtEl>
                                      </p:cBhvr>
                                    </p:animEffect>
                                  </p:childTnLst>
                                </p:cTn>
                              </p:par>
                              <p:par>
                                <p:cTn id="209" presetID="2" presetClass="entr" presetSubtype="4" fill="hold" grpId="0" nodeType="withEffect">
                                  <p:stCondLst>
                                    <p:cond delay="120"/>
                                  </p:stCondLst>
                                  <p:childTnLst>
                                    <p:set>
                                      <p:cBhvr>
                                        <p:cTn id="210" dur="1" fill="hold">
                                          <p:stCondLst>
                                            <p:cond delay="0"/>
                                          </p:stCondLst>
                                        </p:cTn>
                                        <p:tgtEl>
                                          <p:spTgt spid="57"/>
                                        </p:tgtEl>
                                        <p:attrNameLst>
                                          <p:attrName>style.visibility</p:attrName>
                                        </p:attrNameLst>
                                      </p:cBhvr>
                                      <p:to>
                                        <p:strVal val="visible"/>
                                      </p:to>
                                    </p:set>
                                    <p:anim calcmode="lin" valueType="num">
                                      <p:cBhvr additive="base">
                                        <p:cTn id="211" dur="500" fill="hold"/>
                                        <p:tgtEl>
                                          <p:spTgt spid="57"/>
                                        </p:tgtEl>
                                        <p:attrNameLst>
                                          <p:attrName>ppt_x</p:attrName>
                                        </p:attrNameLst>
                                      </p:cBhvr>
                                      <p:tavLst>
                                        <p:tav tm="0">
                                          <p:val>
                                            <p:strVal val="#ppt_x"/>
                                          </p:val>
                                        </p:tav>
                                        <p:tav tm="100000">
                                          <p:val>
                                            <p:strVal val="#ppt_x"/>
                                          </p:val>
                                        </p:tav>
                                      </p:tavLst>
                                    </p:anim>
                                    <p:anim calcmode="lin" valueType="num">
                                      <p:cBhvr additive="base">
                                        <p:cTn id="212" dur="500" fill="hold"/>
                                        <p:tgtEl>
                                          <p:spTgt spid="57"/>
                                        </p:tgtEl>
                                        <p:attrNameLst>
                                          <p:attrName>ppt_y</p:attrName>
                                        </p:attrNameLst>
                                      </p:cBhvr>
                                      <p:tavLst>
                                        <p:tav tm="0">
                                          <p:val>
                                            <p:strVal val="#ppt_y+0.1"/>
                                          </p:val>
                                        </p:tav>
                                        <p:tav tm="100000">
                                          <p:val>
                                            <p:strVal val="#ppt_y"/>
                                          </p:val>
                                        </p:tav>
                                      </p:tavLst>
                                    </p:anim>
                                    <p:animEffect transition="in" filter="fade">
                                      <p:cBhvr>
                                        <p:cTn id="213" dur="500"/>
                                        <p:tgtEl>
                                          <p:spTgt spid="57"/>
                                        </p:tgtEl>
                                      </p:cBhvr>
                                    </p:animEffect>
                                  </p:childTnLst>
                                </p:cTn>
                              </p:par>
                            </p:childTnLst>
                          </p:cTn>
                        </p:par>
                      </p:childTnLst>
                    </p:cTn>
                  </p:par>
                  <p:par>
                    <p:cTn id="214" fill="hold">
                      <p:stCondLst>
                        <p:cond delay="indefinite"/>
                      </p:stCondLst>
                      <p:childTnLst>
                        <p:par>
                          <p:cTn id="215" fill="hold">
                            <p:stCondLst>
                              <p:cond delay="0"/>
                            </p:stCondLst>
                            <p:childTnLst>
                              <p:par>
                                <p:cTn id="216" presetID="2" presetClass="entr" presetSubtype="4" fill="hold" grpId="0" nodeType="clickEffect">
                                  <p:stCondLst>
                                    <p:cond delay="0"/>
                                  </p:stCondLst>
                                  <p:childTnLst>
                                    <p:set>
                                      <p:cBhvr>
                                        <p:cTn id="217" dur="1" fill="hold">
                                          <p:stCondLst>
                                            <p:cond delay="0"/>
                                          </p:stCondLst>
                                        </p:cTn>
                                        <p:tgtEl>
                                          <p:spTgt spid="58"/>
                                        </p:tgtEl>
                                        <p:attrNameLst>
                                          <p:attrName>style.visibility</p:attrName>
                                        </p:attrNameLst>
                                      </p:cBhvr>
                                      <p:to>
                                        <p:strVal val="visible"/>
                                      </p:to>
                                    </p:set>
                                    <p:anim calcmode="lin" valueType="num">
                                      <p:cBhvr additive="base">
                                        <p:cTn id="218" dur="500" fill="hold"/>
                                        <p:tgtEl>
                                          <p:spTgt spid="58"/>
                                        </p:tgtEl>
                                        <p:attrNameLst>
                                          <p:attrName>ppt_x</p:attrName>
                                        </p:attrNameLst>
                                      </p:cBhvr>
                                      <p:tavLst>
                                        <p:tav tm="0">
                                          <p:val>
                                            <p:strVal val="#ppt_x"/>
                                          </p:val>
                                        </p:tav>
                                        <p:tav tm="100000">
                                          <p:val>
                                            <p:strVal val="#ppt_x"/>
                                          </p:val>
                                        </p:tav>
                                      </p:tavLst>
                                    </p:anim>
                                    <p:anim calcmode="lin" valueType="num">
                                      <p:cBhvr additive="base">
                                        <p:cTn id="219" dur="500" fill="hold"/>
                                        <p:tgtEl>
                                          <p:spTgt spid="58"/>
                                        </p:tgtEl>
                                        <p:attrNameLst>
                                          <p:attrName>ppt_y</p:attrName>
                                        </p:attrNameLst>
                                      </p:cBhvr>
                                      <p:tavLst>
                                        <p:tav tm="0">
                                          <p:val>
                                            <p:strVal val="#ppt_y+0.1"/>
                                          </p:val>
                                        </p:tav>
                                        <p:tav tm="100000">
                                          <p:val>
                                            <p:strVal val="#ppt_y"/>
                                          </p:val>
                                        </p:tav>
                                      </p:tavLst>
                                    </p:anim>
                                    <p:animEffect transition="in" filter="fade">
                                      <p:cBhvr>
                                        <p:cTn id="220" dur="500"/>
                                        <p:tgtEl>
                                          <p:spTgt spid="58"/>
                                        </p:tgtEl>
                                      </p:cBhvr>
                                    </p:animEffect>
                                  </p:childTnLst>
                                </p:cTn>
                              </p:par>
                              <p:par>
                                <p:cTn id="221" presetID="2" presetClass="entr" presetSubtype="4" fill="hold" grpId="0" nodeType="withEffect">
                                  <p:stCondLst>
                                    <p:cond delay="0"/>
                                  </p:stCondLst>
                                  <p:childTnLst>
                                    <p:set>
                                      <p:cBhvr>
                                        <p:cTn id="222" dur="1" fill="hold">
                                          <p:stCondLst>
                                            <p:cond delay="0"/>
                                          </p:stCondLst>
                                        </p:cTn>
                                        <p:tgtEl>
                                          <p:spTgt spid="59"/>
                                        </p:tgtEl>
                                        <p:attrNameLst>
                                          <p:attrName>style.visibility</p:attrName>
                                        </p:attrNameLst>
                                      </p:cBhvr>
                                      <p:to>
                                        <p:strVal val="visible"/>
                                      </p:to>
                                    </p:set>
                                    <p:anim calcmode="lin" valueType="num">
                                      <p:cBhvr additive="base">
                                        <p:cTn id="223" dur="500" fill="hold"/>
                                        <p:tgtEl>
                                          <p:spTgt spid="59"/>
                                        </p:tgtEl>
                                        <p:attrNameLst>
                                          <p:attrName>ppt_x</p:attrName>
                                        </p:attrNameLst>
                                      </p:cBhvr>
                                      <p:tavLst>
                                        <p:tav tm="0">
                                          <p:val>
                                            <p:strVal val="#ppt_x"/>
                                          </p:val>
                                        </p:tav>
                                        <p:tav tm="100000">
                                          <p:val>
                                            <p:strVal val="#ppt_x"/>
                                          </p:val>
                                        </p:tav>
                                      </p:tavLst>
                                    </p:anim>
                                    <p:anim calcmode="lin" valueType="num">
                                      <p:cBhvr additive="base">
                                        <p:cTn id="224" dur="500" fill="hold"/>
                                        <p:tgtEl>
                                          <p:spTgt spid="59"/>
                                        </p:tgtEl>
                                        <p:attrNameLst>
                                          <p:attrName>ppt_y</p:attrName>
                                        </p:attrNameLst>
                                      </p:cBhvr>
                                      <p:tavLst>
                                        <p:tav tm="0">
                                          <p:val>
                                            <p:strVal val="#ppt_y+0.1"/>
                                          </p:val>
                                        </p:tav>
                                        <p:tav tm="100000">
                                          <p:val>
                                            <p:strVal val="#ppt_y"/>
                                          </p:val>
                                        </p:tav>
                                      </p:tavLst>
                                    </p:anim>
                                    <p:animEffect transition="in" filter="fade">
                                      <p:cBhvr>
                                        <p:cTn id="225" dur="500"/>
                                        <p:tgtEl>
                                          <p:spTgt spid="59"/>
                                        </p:tgtEl>
                                      </p:cBhvr>
                                    </p:animEffect>
                                  </p:childTnLst>
                                </p:cTn>
                              </p:par>
                              <p:par>
                                <p:cTn id="226" presetID="2" presetClass="entr" presetSubtype="4" fill="hold" grpId="0" nodeType="withEffect">
                                  <p:stCondLst>
                                    <p:cond delay="0"/>
                                  </p:stCondLst>
                                  <p:childTnLst>
                                    <p:set>
                                      <p:cBhvr>
                                        <p:cTn id="227" dur="1" fill="hold">
                                          <p:stCondLst>
                                            <p:cond delay="0"/>
                                          </p:stCondLst>
                                        </p:cTn>
                                        <p:tgtEl>
                                          <p:spTgt spid="60"/>
                                        </p:tgtEl>
                                        <p:attrNameLst>
                                          <p:attrName>style.visibility</p:attrName>
                                        </p:attrNameLst>
                                      </p:cBhvr>
                                      <p:to>
                                        <p:strVal val="visible"/>
                                      </p:to>
                                    </p:set>
                                    <p:anim calcmode="lin" valueType="num">
                                      <p:cBhvr additive="base">
                                        <p:cTn id="228" dur="500" fill="hold"/>
                                        <p:tgtEl>
                                          <p:spTgt spid="60"/>
                                        </p:tgtEl>
                                        <p:attrNameLst>
                                          <p:attrName>ppt_x</p:attrName>
                                        </p:attrNameLst>
                                      </p:cBhvr>
                                      <p:tavLst>
                                        <p:tav tm="0">
                                          <p:val>
                                            <p:strVal val="#ppt_x"/>
                                          </p:val>
                                        </p:tav>
                                        <p:tav tm="100000">
                                          <p:val>
                                            <p:strVal val="#ppt_x"/>
                                          </p:val>
                                        </p:tav>
                                      </p:tavLst>
                                    </p:anim>
                                    <p:anim calcmode="lin" valueType="num">
                                      <p:cBhvr additive="base">
                                        <p:cTn id="229" dur="500" fill="hold"/>
                                        <p:tgtEl>
                                          <p:spTgt spid="60"/>
                                        </p:tgtEl>
                                        <p:attrNameLst>
                                          <p:attrName>ppt_y</p:attrName>
                                        </p:attrNameLst>
                                      </p:cBhvr>
                                      <p:tavLst>
                                        <p:tav tm="0">
                                          <p:val>
                                            <p:strVal val="#ppt_y+0.1"/>
                                          </p:val>
                                        </p:tav>
                                        <p:tav tm="100000">
                                          <p:val>
                                            <p:strVal val="#ppt_y"/>
                                          </p:val>
                                        </p:tav>
                                      </p:tavLst>
                                    </p:anim>
                                    <p:animEffect transition="in" filter="fade">
                                      <p:cBhvr>
                                        <p:cTn id="23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One Leader, n - 1 Followers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For each partition one replica leads - the others follow it</a:t>
            </a:r>
          </a:p>
        </p:txBody>
      </p:sp>
      <p:sp>
        <p:nvSpPr>
          <p:cNvPr id="11" name="a0f_cl10"/>
          <p:cNvSpPr/>
          <p:nvPr/>
        </p:nvSpPr>
        <p:spPr>
          <a:xfrm>
            <a:off x="457200" y="1280160"/>
            <a:ext cx="5486400" cy="2487168"/>
          </a:xfrm>
          <a:prstGeom prst="roundRect">
            <a:avLst>
              <a:gd name="adj" fmla="val 3676"/>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0f_clh11"/>
          <p:cNvSpPr txBox="1"/>
          <p:nvPr/>
        </p:nvSpPr>
        <p:spPr>
          <a:xfrm>
            <a:off x="640080" y="1371600"/>
            <a:ext cx="16459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bk12"/>
          <p:cNvSpPr/>
          <p:nvPr/>
        </p:nvSpPr>
        <p:spPr>
          <a:xfrm>
            <a:off x="64008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0f_bkn13"/>
          <p:cNvSpPr txBox="1"/>
          <p:nvPr/>
        </p:nvSpPr>
        <p:spPr>
          <a:xfrm>
            <a:off x="76809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1</a:t>
            </a:r>
          </a:p>
        </p:txBody>
      </p:sp>
      <p:sp>
        <p:nvSpPr>
          <p:cNvPr id="15" name="a0f_bk14"/>
          <p:cNvSpPr/>
          <p:nvPr/>
        </p:nvSpPr>
        <p:spPr>
          <a:xfrm>
            <a:off x="242316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0f_bkn15"/>
          <p:cNvSpPr txBox="1"/>
          <p:nvPr/>
        </p:nvSpPr>
        <p:spPr>
          <a:xfrm>
            <a:off x="255117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2</a:t>
            </a:r>
          </a:p>
        </p:txBody>
      </p:sp>
      <p:sp>
        <p:nvSpPr>
          <p:cNvPr id="17" name="a0f_bk16"/>
          <p:cNvSpPr/>
          <p:nvPr/>
        </p:nvSpPr>
        <p:spPr>
          <a:xfrm>
            <a:off x="420624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0f_bkn17"/>
          <p:cNvSpPr txBox="1"/>
          <p:nvPr/>
        </p:nvSpPr>
        <p:spPr>
          <a:xfrm>
            <a:off x="4334255"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3</a:t>
            </a:r>
          </a:p>
        </p:txBody>
      </p:sp>
      <p:sp>
        <p:nvSpPr>
          <p:cNvPr id="19" name="a1u_rp18"/>
          <p:cNvSpPr/>
          <p:nvPr/>
        </p:nvSpPr>
        <p:spPr>
          <a:xfrm>
            <a:off x="768096" y="2286000"/>
            <a:ext cx="1344168" cy="347472"/>
          </a:xfrm>
          <a:prstGeom prst="roundRect">
            <a:avLst>
              <a:gd name="adj" fmla="val 1315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1u_rpn19"/>
          <p:cNvSpPr txBox="1"/>
          <p:nvPr/>
        </p:nvSpPr>
        <p:spPr>
          <a:xfrm>
            <a:off x="859536" y="2286000"/>
            <a:ext cx="365760" cy="347472"/>
          </a:xfrm>
          <a:prstGeom prst="rect">
            <a:avLst/>
          </a:prstGeom>
          <a:noFill/>
        </p:spPr>
        <p:txBody>
          <a:bodyPr wrap="square" lIns="0" tIns="0" rIns="0" bIns="0" anchor="ctr">
            <a:spAutoFit/>
          </a:bodyPr>
          <a:lstStyle/>
          <a:p>
            <a:pPr algn="l"/>
            <a:r>
              <a:rPr sz="1000" b="1">
                <a:solidFill>
                  <a:srgbClr val="FFFFFF"/>
                </a:solidFill>
                <a:latin typeface="Consolas"/>
              </a:rPr>
              <a:t>P0</a:t>
            </a:r>
          </a:p>
        </p:txBody>
      </p:sp>
      <p:sp>
        <p:nvSpPr>
          <p:cNvPr id="21" name="a1u_rpt20"/>
          <p:cNvSpPr txBox="1"/>
          <p:nvPr/>
        </p:nvSpPr>
        <p:spPr>
          <a:xfrm>
            <a:off x="1225295" y="2286000"/>
            <a:ext cx="795528" cy="347472"/>
          </a:xfrm>
          <a:prstGeom prst="rect">
            <a:avLst/>
          </a:prstGeom>
          <a:noFill/>
        </p:spPr>
        <p:txBody>
          <a:bodyPr wrap="square" lIns="0" tIns="0" rIns="0" bIns="0" anchor="ctr">
            <a:spAutoFit/>
          </a:bodyPr>
          <a:lstStyle/>
          <a:p>
            <a:pPr algn="r"/>
            <a:r>
              <a:rPr sz="800" b="1">
                <a:solidFill>
                  <a:srgbClr val="FFFFFF"/>
                </a:solidFill>
                <a:latin typeface="Segoe UI"/>
              </a:rPr>
              <a:t>leader</a:t>
            </a:r>
          </a:p>
        </p:txBody>
      </p:sp>
      <p:sp>
        <p:nvSpPr>
          <p:cNvPr id="22" name="a1ud150_rp21"/>
          <p:cNvSpPr/>
          <p:nvPr/>
        </p:nvSpPr>
        <p:spPr>
          <a:xfrm>
            <a:off x="2551176" y="2706624"/>
            <a:ext cx="1344168" cy="347472"/>
          </a:xfrm>
          <a:prstGeom prst="roundRect">
            <a:avLst>
              <a:gd name="adj" fmla="val 13157"/>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1ud150_rpn22"/>
          <p:cNvSpPr txBox="1"/>
          <p:nvPr/>
        </p:nvSpPr>
        <p:spPr>
          <a:xfrm>
            <a:off x="2642616" y="2706624"/>
            <a:ext cx="365760" cy="347472"/>
          </a:xfrm>
          <a:prstGeom prst="rect">
            <a:avLst/>
          </a:prstGeom>
          <a:noFill/>
        </p:spPr>
        <p:txBody>
          <a:bodyPr wrap="square" lIns="0" tIns="0" rIns="0" bIns="0" anchor="ctr">
            <a:spAutoFit/>
          </a:bodyPr>
          <a:lstStyle/>
          <a:p>
            <a:pPr algn="l"/>
            <a:r>
              <a:rPr sz="1000" b="1">
                <a:solidFill>
                  <a:srgbClr val="FFFFFF"/>
                </a:solidFill>
                <a:latin typeface="Consolas"/>
              </a:rPr>
              <a:t>P1</a:t>
            </a:r>
          </a:p>
        </p:txBody>
      </p:sp>
      <p:sp>
        <p:nvSpPr>
          <p:cNvPr id="24" name="a1ud150_rpt23"/>
          <p:cNvSpPr txBox="1"/>
          <p:nvPr/>
        </p:nvSpPr>
        <p:spPr>
          <a:xfrm>
            <a:off x="3008376" y="2706624"/>
            <a:ext cx="795528" cy="347472"/>
          </a:xfrm>
          <a:prstGeom prst="rect">
            <a:avLst/>
          </a:prstGeom>
          <a:noFill/>
        </p:spPr>
        <p:txBody>
          <a:bodyPr wrap="square" lIns="0" tIns="0" rIns="0" bIns="0" anchor="ctr">
            <a:spAutoFit/>
          </a:bodyPr>
          <a:lstStyle/>
          <a:p>
            <a:pPr algn="r"/>
            <a:r>
              <a:rPr sz="800" b="1">
                <a:solidFill>
                  <a:srgbClr val="FFFFFF"/>
                </a:solidFill>
                <a:latin typeface="Segoe UI"/>
              </a:rPr>
              <a:t>leader</a:t>
            </a:r>
          </a:p>
        </p:txBody>
      </p:sp>
      <p:sp>
        <p:nvSpPr>
          <p:cNvPr id="25" name="a1ud300_rp24"/>
          <p:cNvSpPr/>
          <p:nvPr/>
        </p:nvSpPr>
        <p:spPr>
          <a:xfrm>
            <a:off x="4334255" y="3127248"/>
            <a:ext cx="1344168" cy="347472"/>
          </a:xfrm>
          <a:prstGeom prst="roundRect">
            <a:avLst>
              <a:gd name="adj" fmla="val 13157"/>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1ud300_rpn25"/>
          <p:cNvSpPr txBox="1"/>
          <p:nvPr/>
        </p:nvSpPr>
        <p:spPr>
          <a:xfrm>
            <a:off x="4425695" y="3127248"/>
            <a:ext cx="365760" cy="347472"/>
          </a:xfrm>
          <a:prstGeom prst="rect">
            <a:avLst/>
          </a:prstGeom>
          <a:noFill/>
        </p:spPr>
        <p:txBody>
          <a:bodyPr wrap="square" lIns="0" tIns="0" rIns="0" bIns="0" anchor="ctr">
            <a:spAutoFit/>
          </a:bodyPr>
          <a:lstStyle/>
          <a:p>
            <a:pPr algn="l"/>
            <a:r>
              <a:rPr sz="1000" b="1">
                <a:solidFill>
                  <a:srgbClr val="FFFFFF"/>
                </a:solidFill>
                <a:latin typeface="Consolas"/>
              </a:rPr>
              <a:t>P2</a:t>
            </a:r>
          </a:p>
        </p:txBody>
      </p:sp>
      <p:sp>
        <p:nvSpPr>
          <p:cNvPr id="27" name="a1ud300_rpt26"/>
          <p:cNvSpPr txBox="1"/>
          <p:nvPr/>
        </p:nvSpPr>
        <p:spPr>
          <a:xfrm>
            <a:off x="4791455" y="3127248"/>
            <a:ext cx="795528" cy="347472"/>
          </a:xfrm>
          <a:prstGeom prst="rect">
            <a:avLst/>
          </a:prstGeom>
          <a:noFill/>
        </p:spPr>
        <p:txBody>
          <a:bodyPr wrap="square" lIns="0" tIns="0" rIns="0" bIns="0" anchor="ctr">
            <a:spAutoFit/>
          </a:bodyPr>
          <a:lstStyle/>
          <a:p>
            <a:pPr algn="r"/>
            <a:r>
              <a:rPr sz="800" b="1">
                <a:solidFill>
                  <a:srgbClr val="FFFFFF"/>
                </a:solidFill>
                <a:latin typeface="Segoe UI"/>
              </a:rPr>
              <a:t>leader</a:t>
            </a:r>
          </a:p>
        </p:txBody>
      </p:sp>
      <p:sp>
        <p:nvSpPr>
          <p:cNvPr id="28" name="a2u_rp27"/>
          <p:cNvSpPr/>
          <p:nvPr/>
        </p:nvSpPr>
        <p:spPr>
          <a:xfrm>
            <a:off x="2551176" y="2286000"/>
            <a:ext cx="1344168" cy="347472"/>
          </a:xfrm>
          <a:prstGeom prst="roundRect">
            <a:avLst>
              <a:gd name="adj" fmla="val 13157"/>
            </a:avLst>
          </a:prstGeom>
          <a:solidFill>
            <a:srgbClr val="D9F2F7"/>
          </a:solidFill>
          <a:ln w="12700">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2u_rpn28"/>
          <p:cNvSpPr txBox="1"/>
          <p:nvPr/>
        </p:nvSpPr>
        <p:spPr>
          <a:xfrm>
            <a:off x="2642616" y="2286000"/>
            <a:ext cx="365760" cy="347472"/>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30" name="a2u_rpt29"/>
          <p:cNvSpPr txBox="1"/>
          <p:nvPr/>
        </p:nvSpPr>
        <p:spPr>
          <a:xfrm>
            <a:off x="3008376" y="2286000"/>
            <a:ext cx="795528" cy="347472"/>
          </a:xfrm>
          <a:prstGeom prst="rect">
            <a:avLst/>
          </a:prstGeom>
          <a:noFill/>
        </p:spPr>
        <p:txBody>
          <a:bodyPr wrap="square" lIns="0" tIns="0" rIns="0" bIns="0" anchor="ctr">
            <a:spAutoFit/>
          </a:bodyPr>
          <a:lstStyle/>
          <a:p>
            <a:pPr algn="r"/>
            <a:r>
              <a:rPr sz="800" b="0">
                <a:solidFill>
                  <a:srgbClr val="0E7490"/>
                </a:solidFill>
                <a:latin typeface="Segoe UI"/>
              </a:rPr>
              <a:t>follower</a:t>
            </a:r>
          </a:p>
        </p:txBody>
      </p:sp>
      <p:sp>
        <p:nvSpPr>
          <p:cNvPr id="31" name="a2u_rp30"/>
          <p:cNvSpPr/>
          <p:nvPr/>
        </p:nvSpPr>
        <p:spPr>
          <a:xfrm>
            <a:off x="4334255" y="2286000"/>
            <a:ext cx="1344168" cy="347472"/>
          </a:xfrm>
          <a:prstGeom prst="roundRect">
            <a:avLst>
              <a:gd name="adj" fmla="val 13157"/>
            </a:avLst>
          </a:prstGeom>
          <a:solidFill>
            <a:srgbClr val="D9F2F7"/>
          </a:solidFill>
          <a:ln w="12700">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2u_rpn31"/>
          <p:cNvSpPr txBox="1"/>
          <p:nvPr/>
        </p:nvSpPr>
        <p:spPr>
          <a:xfrm>
            <a:off x="4425695" y="2286000"/>
            <a:ext cx="365760" cy="347472"/>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33" name="a2u_rpt32"/>
          <p:cNvSpPr txBox="1"/>
          <p:nvPr/>
        </p:nvSpPr>
        <p:spPr>
          <a:xfrm>
            <a:off x="4791455" y="2286000"/>
            <a:ext cx="795528" cy="347472"/>
          </a:xfrm>
          <a:prstGeom prst="rect">
            <a:avLst/>
          </a:prstGeom>
          <a:noFill/>
        </p:spPr>
        <p:txBody>
          <a:bodyPr wrap="square" lIns="0" tIns="0" rIns="0" bIns="0" anchor="ctr">
            <a:spAutoFit/>
          </a:bodyPr>
          <a:lstStyle/>
          <a:p>
            <a:pPr algn="r"/>
            <a:r>
              <a:rPr sz="800" b="0">
                <a:solidFill>
                  <a:srgbClr val="0E7490"/>
                </a:solidFill>
                <a:latin typeface="Segoe UI"/>
              </a:rPr>
              <a:t>follower</a:t>
            </a:r>
          </a:p>
        </p:txBody>
      </p:sp>
      <p:sp>
        <p:nvSpPr>
          <p:cNvPr id="34" name="a2ud150_rp33"/>
          <p:cNvSpPr/>
          <p:nvPr/>
        </p:nvSpPr>
        <p:spPr>
          <a:xfrm>
            <a:off x="768096" y="2706624"/>
            <a:ext cx="1344168" cy="347472"/>
          </a:xfrm>
          <a:prstGeom prst="roundRect">
            <a:avLst>
              <a:gd name="adj" fmla="val 13157"/>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a2ud150_rpn34"/>
          <p:cNvSpPr txBox="1"/>
          <p:nvPr/>
        </p:nvSpPr>
        <p:spPr>
          <a:xfrm>
            <a:off x="859536" y="2706624"/>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36" name="a2ud150_rpt35"/>
          <p:cNvSpPr txBox="1"/>
          <p:nvPr/>
        </p:nvSpPr>
        <p:spPr>
          <a:xfrm>
            <a:off x="1225295" y="2706624"/>
            <a:ext cx="795528" cy="347472"/>
          </a:xfrm>
          <a:prstGeom prst="rect">
            <a:avLst/>
          </a:prstGeom>
          <a:noFill/>
        </p:spPr>
        <p:txBody>
          <a:bodyPr wrap="square" lIns="0" tIns="0" rIns="0" bIns="0" anchor="ctr">
            <a:spAutoFit/>
          </a:bodyPr>
          <a:lstStyle/>
          <a:p>
            <a:pPr algn="r"/>
            <a:r>
              <a:rPr sz="800" b="0">
                <a:solidFill>
                  <a:srgbClr val="4F46E5"/>
                </a:solidFill>
                <a:latin typeface="Segoe UI"/>
              </a:rPr>
              <a:t>follower</a:t>
            </a:r>
          </a:p>
        </p:txBody>
      </p:sp>
      <p:sp>
        <p:nvSpPr>
          <p:cNvPr id="37" name="a2ud150_rp36"/>
          <p:cNvSpPr/>
          <p:nvPr/>
        </p:nvSpPr>
        <p:spPr>
          <a:xfrm>
            <a:off x="4334255" y="2706624"/>
            <a:ext cx="1344168" cy="347472"/>
          </a:xfrm>
          <a:prstGeom prst="roundRect">
            <a:avLst>
              <a:gd name="adj" fmla="val 13157"/>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2ud150_rpn37"/>
          <p:cNvSpPr txBox="1"/>
          <p:nvPr/>
        </p:nvSpPr>
        <p:spPr>
          <a:xfrm>
            <a:off x="4425695" y="2706624"/>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39" name="a2ud150_rpt38"/>
          <p:cNvSpPr txBox="1"/>
          <p:nvPr/>
        </p:nvSpPr>
        <p:spPr>
          <a:xfrm>
            <a:off x="4791455" y="2706624"/>
            <a:ext cx="795528" cy="347472"/>
          </a:xfrm>
          <a:prstGeom prst="rect">
            <a:avLst/>
          </a:prstGeom>
          <a:noFill/>
        </p:spPr>
        <p:txBody>
          <a:bodyPr wrap="square" lIns="0" tIns="0" rIns="0" bIns="0" anchor="ctr">
            <a:spAutoFit/>
          </a:bodyPr>
          <a:lstStyle/>
          <a:p>
            <a:pPr algn="r"/>
            <a:r>
              <a:rPr sz="800" b="0">
                <a:solidFill>
                  <a:srgbClr val="4F46E5"/>
                </a:solidFill>
                <a:latin typeface="Segoe UI"/>
              </a:rPr>
              <a:t>follower</a:t>
            </a:r>
          </a:p>
        </p:txBody>
      </p:sp>
      <p:sp>
        <p:nvSpPr>
          <p:cNvPr id="40" name="a2ud300_rp39"/>
          <p:cNvSpPr/>
          <p:nvPr/>
        </p:nvSpPr>
        <p:spPr>
          <a:xfrm>
            <a:off x="768096" y="3127248"/>
            <a:ext cx="1344168" cy="347472"/>
          </a:xfrm>
          <a:prstGeom prst="roundRect">
            <a:avLst>
              <a:gd name="adj" fmla="val 13157"/>
            </a:avLst>
          </a:prstGeom>
          <a:solidFill>
            <a:srgbClr val="FFEDD5"/>
          </a:solidFill>
          <a:ln w="12700">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a2ud300_rpn40"/>
          <p:cNvSpPr txBox="1"/>
          <p:nvPr/>
        </p:nvSpPr>
        <p:spPr>
          <a:xfrm>
            <a:off x="859536" y="3127248"/>
            <a:ext cx="365760" cy="347472"/>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42" name="a2ud300_rpt41"/>
          <p:cNvSpPr txBox="1"/>
          <p:nvPr/>
        </p:nvSpPr>
        <p:spPr>
          <a:xfrm>
            <a:off x="1225295" y="3127248"/>
            <a:ext cx="795528" cy="347472"/>
          </a:xfrm>
          <a:prstGeom prst="rect">
            <a:avLst/>
          </a:prstGeom>
          <a:noFill/>
        </p:spPr>
        <p:txBody>
          <a:bodyPr wrap="square" lIns="0" tIns="0" rIns="0" bIns="0" anchor="ctr">
            <a:spAutoFit/>
          </a:bodyPr>
          <a:lstStyle/>
          <a:p>
            <a:pPr algn="r"/>
            <a:r>
              <a:rPr sz="800" b="0">
                <a:solidFill>
                  <a:srgbClr val="C2410C"/>
                </a:solidFill>
                <a:latin typeface="Segoe UI"/>
              </a:rPr>
              <a:t>follower</a:t>
            </a:r>
          </a:p>
        </p:txBody>
      </p:sp>
      <p:sp>
        <p:nvSpPr>
          <p:cNvPr id="43" name="a2ud300_rp42"/>
          <p:cNvSpPr/>
          <p:nvPr/>
        </p:nvSpPr>
        <p:spPr>
          <a:xfrm>
            <a:off x="2551176" y="3127248"/>
            <a:ext cx="1344168" cy="347472"/>
          </a:xfrm>
          <a:prstGeom prst="roundRect">
            <a:avLst>
              <a:gd name="adj" fmla="val 13157"/>
            </a:avLst>
          </a:prstGeom>
          <a:solidFill>
            <a:srgbClr val="FFEDD5"/>
          </a:solidFill>
          <a:ln w="12700">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2ud300_rpn43"/>
          <p:cNvSpPr txBox="1"/>
          <p:nvPr/>
        </p:nvSpPr>
        <p:spPr>
          <a:xfrm>
            <a:off x="2642616" y="3127248"/>
            <a:ext cx="365760" cy="347472"/>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45" name="a2ud300_rpt44"/>
          <p:cNvSpPr txBox="1"/>
          <p:nvPr/>
        </p:nvSpPr>
        <p:spPr>
          <a:xfrm>
            <a:off x="3008376" y="3127248"/>
            <a:ext cx="795528" cy="347472"/>
          </a:xfrm>
          <a:prstGeom prst="rect">
            <a:avLst/>
          </a:prstGeom>
          <a:noFill/>
        </p:spPr>
        <p:txBody>
          <a:bodyPr wrap="square" lIns="0" tIns="0" rIns="0" bIns="0" anchor="ctr">
            <a:spAutoFit/>
          </a:bodyPr>
          <a:lstStyle/>
          <a:p>
            <a:pPr algn="r"/>
            <a:r>
              <a:rPr sz="800" b="0">
                <a:solidFill>
                  <a:srgbClr val="C2410C"/>
                </a:solidFill>
                <a:latin typeface="Segoe UI"/>
              </a:rPr>
              <a:t>follower</a:t>
            </a:r>
          </a:p>
        </p:txBody>
      </p:sp>
      <p:sp>
        <p:nvSpPr>
          <p:cNvPr id="46" name="a3f_tl45"/>
          <p:cNvSpPr txBox="1"/>
          <p:nvPr/>
        </p:nvSpPr>
        <p:spPr>
          <a:xfrm>
            <a:off x="6217920" y="1280160"/>
            <a:ext cx="2468879" cy="219456"/>
          </a:xfrm>
          <a:prstGeom prst="rect">
            <a:avLst/>
          </a:prstGeom>
          <a:noFill/>
        </p:spPr>
        <p:txBody>
          <a:bodyPr wrap="square" lIns="0" tIns="0" rIns="0" bIns="0" anchor="ctr">
            <a:spAutoFit/>
          </a:bodyPr>
          <a:lstStyle/>
          <a:p>
            <a:pPr algn="l"/>
            <a:r>
              <a:rPr sz="1000" b="1">
                <a:solidFill>
                  <a:srgbClr val="C2410C"/>
                </a:solidFill>
                <a:latin typeface="Segoe UI"/>
              </a:rPr>
              <a:t>PER PARTITION</a:t>
            </a:r>
          </a:p>
        </p:txBody>
      </p:sp>
      <p:sp>
        <p:nvSpPr>
          <p:cNvPr id="47" name="a3f_th46"/>
          <p:cNvSpPr/>
          <p:nvPr/>
        </p:nvSpPr>
        <p:spPr>
          <a:xfrm>
            <a:off x="6217920" y="1554480"/>
            <a:ext cx="566928" cy="274320"/>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a3f_tht47"/>
          <p:cNvSpPr txBox="1"/>
          <p:nvPr/>
        </p:nvSpPr>
        <p:spPr>
          <a:xfrm>
            <a:off x="6291072" y="1554480"/>
            <a:ext cx="457200" cy="274320"/>
          </a:xfrm>
          <a:prstGeom prst="rect">
            <a:avLst/>
          </a:prstGeom>
          <a:noFill/>
        </p:spPr>
        <p:txBody>
          <a:bodyPr wrap="square" lIns="0" tIns="0" rIns="0" bIns="0" anchor="ctr">
            <a:spAutoFit/>
          </a:bodyPr>
          <a:lstStyle/>
          <a:p>
            <a:pPr algn="l"/>
            <a:r>
              <a:rPr sz="1000" b="1">
                <a:solidFill>
                  <a:srgbClr val="FFFFFF"/>
                </a:solidFill>
                <a:latin typeface="Consolas"/>
              </a:rPr>
              <a:t>RF</a:t>
            </a:r>
          </a:p>
        </p:txBody>
      </p:sp>
      <p:sp>
        <p:nvSpPr>
          <p:cNvPr id="49" name="a3wd110_td48"/>
          <p:cNvSpPr/>
          <p:nvPr/>
        </p:nvSpPr>
        <p:spPr>
          <a:xfrm>
            <a:off x="6217920" y="1828800"/>
            <a:ext cx="566928"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a3wd110_tdt49"/>
          <p:cNvSpPr txBox="1"/>
          <p:nvPr/>
        </p:nvSpPr>
        <p:spPr>
          <a:xfrm>
            <a:off x="6291072" y="1828800"/>
            <a:ext cx="457200" cy="274320"/>
          </a:xfrm>
          <a:prstGeom prst="rect">
            <a:avLst/>
          </a:prstGeom>
          <a:noFill/>
        </p:spPr>
        <p:txBody>
          <a:bodyPr wrap="square" lIns="0" tIns="0" rIns="0" bIns="0" anchor="ctr">
            <a:spAutoFit/>
          </a:bodyPr>
          <a:lstStyle/>
          <a:p>
            <a:pPr algn="l"/>
            <a:r>
              <a:rPr sz="1000" b="0">
                <a:solidFill>
                  <a:srgbClr val="44403C"/>
                </a:solidFill>
                <a:latin typeface="Consolas"/>
              </a:rPr>
              <a:t>1</a:t>
            </a:r>
          </a:p>
        </p:txBody>
      </p:sp>
      <p:sp>
        <p:nvSpPr>
          <p:cNvPr id="51" name="a3wd220_td50"/>
          <p:cNvSpPr/>
          <p:nvPr/>
        </p:nvSpPr>
        <p:spPr>
          <a:xfrm>
            <a:off x="6217920" y="2103120"/>
            <a:ext cx="566928"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a3wd220_tdt51"/>
          <p:cNvSpPr txBox="1"/>
          <p:nvPr/>
        </p:nvSpPr>
        <p:spPr>
          <a:xfrm>
            <a:off x="6291072" y="2103120"/>
            <a:ext cx="457200" cy="274320"/>
          </a:xfrm>
          <a:prstGeom prst="rect">
            <a:avLst/>
          </a:prstGeom>
          <a:noFill/>
        </p:spPr>
        <p:txBody>
          <a:bodyPr wrap="square" lIns="0" tIns="0" rIns="0" bIns="0" anchor="ctr">
            <a:spAutoFit/>
          </a:bodyPr>
          <a:lstStyle/>
          <a:p>
            <a:pPr algn="l"/>
            <a:r>
              <a:rPr sz="1000" b="0">
                <a:solidFill>
                  <a:srgbClr val="44403C"/>
                </a:solidFill>
                <a:latin typeface="Consolas"/>
              </a:rPr>
              <a:t>2</a:t>
            </a:r>
          </a:p>
        </p:txBody>
      </p:sp>
      <p:sp>
        <p:nvSpPr>
          <p:cNvPr id="53" name="a3wd330_td52"/>
          <p:cNvSpPr/>
          <p:nvPr/>
        </p:nvSpPr>
        <p:spPr>
          <a:xfrm>
            <a:off x="6217920" y="2377439"/>
            <a:ext cx="566928"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a3wd330_tdt53"/>
          <p:cNvSpPr txBox="1"/>
          <p:nvPr/>
        </p:nvSpPr>
        <p:spPr>
          <a:xfrm>
            <a:off x="6291072" y="2377439"/>
            <a:ext cx="457200" cy="274320"/>
          </a:xfrm>
          <a:prstGeom prst="rect">
            <a:avLst/>
          </a:prstGeom>
          <a:noFill/>
        </p:spPr>
        <p:txBody>
          <a:bodyPr wrap="square" lIns="0" tIns="0" rIns="0" bIns="0" anchor="ctr">
            <a:spAutoFit/>
          </a:bodyPr>
          <a:lstStyle/>
          <a:p>
            <a:pPr algn="l"/>
            <a:r>
              <a:rPr sz="1000" b="0">
                <a:solidFill>
                  <a:srgbClr val="44403C"/>
                </a:solidFill>
                <a:latin typeface="Consolas"/>
              </a:rPr>
              <a:t>3</a:t>
            </a:r>
          </a:p>
        </p:txBody>
      </p:sp>
      <p:sp>
        <p:nvSpPr>
          <p:cNvPr id="55" name="a3wd440_td54"/>
          <p:cNvSpPr/>
          <p:nvPr/>
        </p:nvSpPr>
        <p:spPr>
          <a:xfrm>
            <a:off x="6217920" y="2651760"/>
            <a:ext cx="566928"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a3wd440_tdt55"/>
          <p:cNvSpPr txBox="1"/>
          <p:nvPr/>
        </p:nvSpPr>
        <p:spPr>
          <a:xfrm>
            <a:off x="6291072" y="2651760"/>
            <a:ext cx="457200" cy="274320"/>
          </a:xfrm>
          <a:prstGeom prst="rect">
            <a:avLst/>
          </a:prstGeom>
          <a:noFill/>
        </p:spPr>
        <p:txBody>
          <a:bodyPr wrap="square" lIns="0" tIns="0" rIns="0" bIns="0" anchor="ctr">
            <a:spAutoFit/>
          </a:bodyPr>
          <a:lstStyle/>
          <a:p>
            <a:pPr algn="l"/>
            <a:r>
              <a:rPr sz="1000" b="0">
                <a:solidFill>
                  <a:srgbClr val="44403C"/>
                </a:solidFill>
                <a:latin typeface="Consolas"/>
              </a:rPr>
              <a:t>n</a:t>
            </a:r>
          </a:p>
        </p:txBody>
      </p:sp>
      <p:sp>
        <p:nvSpPr>
          <p:cNvPr id="57" name="a3f_th56"/>
          <p:cNvSpPr/>
          <p:nvPr/>
        </p:nvSpPr>
        <p:spPr>
          <a:xfrm>
            <a:off x="6784848" y="1554480"/>
            <a:ext cx="868680" cy="274320"/>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a3f_tht57"/>
          <p:cNvSpPr txBox="1"/>
          <p:nvPr/>
        </p:nvSpPr>
        <p:spPr>
          <a:xfrm>
            <a:off x="6858000" y="1554480"/>
            <a:ext cx="758952" cy="274320"/>
          </a:xfrm>
          <a:prstGeom prst="rect">
            <a:avLst/>
          </a:prstGeom>
          <a:noFill/>
        </p:spPr>
        <p:txBody>
          <a:bodyPr wrap="square" lIns="0" tIns="0" rIns="0" bIns="0" anchor="ctr">
            <a:spAutoFit/>
          </a:bodyPr>
          <a:lstStyle/>
          <a:p>
            <a:pPr algn="l"/>
            <a:r>
              <a:rPr sz="900" b="1">
                <a:solidFill>
                  <a:srgbClr val="FFFFFF"/>
                </a:solidFill>
                <a:latin typeface="Segoe UI"/>
              </a:rPr>
              <a:t>leaders</a:t>
            </a:r>
          </a:p>
        </p:txBody>
      </p:sp>
      <p:sp>
        <p:nvSpPr>
          <p:cNvPr id="59" name="a3wd110_td58"/>
          <p:cNvSpPr/>
          <p:nvPr/>
        </p:nvSpPr>
        <p:spPr>
          <a:xfrm>
            <a:off x="6784848" y="1828800"/>
            <a:ext cx="868680"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a3wd110_tdt59"/>
          <p:cNvSpPr txBox="1"/>
          <p:nvPr/>
        </p:nvSpPr>
        <p:spPr>
          <a:xfrm>
            <a:off x="6858000" y="1828800"/>
            <a:ext cx="758952" cy="274320"/>
          </a:xfrm>
          <a:prstGeom prst="rect">
            <a:avLst/>
          </a:prstGeom>
          <a:noFill/>
        </p:spPr>
        <p:txBody>
          <a:bodyPr wrap="square" lIns="0" tIns="0" rIns="0" bIns="0" anchor="ctr">
            <a:spAutoFit/>
          </a:bodyPr>
          <a:lstStyle/>
          <a:p>
            <a:pPr algn="l"/>
            <a:r>
              <a:rPr sz="900" b="0">
                <a:solidFill>
                  <a:srgbClr val="44403C"/>
                </a:solidFill>
                <a:latin typeface="Segoe UI"/>
              </a:rPr>
              <a:t>1</a:t>
            </a:r>
          </a:p>
        </p:txBody>
      </p:sp>
      <p:sp>
        <p:nvSpPr>
          <p:cNvPr id="61" name="a3wd220_td60"/>
          <p:cNvSpPr/>
          <p:nvPr/>
        </p:nvSpPr>
        <p:spPr>
          <a:xfrm>
            <a:off x="6784848" y="2103120"/>
            <a:ext cx="868680"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a3wd220_tdt61"/>
          <p:cNvSpPr txBox="1"/>
          <p:nvPr/>
        </p:nvSpPr>
        <p:spPr>
          <a:xfrm>
            <a:off x="6858000" y="2103120"/>
            <a:ext cx="758952" cy="274320"/>
          </a:xfrm>
          <a:prstGeom prst="rect">
            <a:avLst/>
          </a:prstGeom>
          <a:noFill/>
        </p:spPr>
        <p:txBody>
          <a:bodyPr wrap="square" lIns="0" tIns="0" rIns="0" bIns="0" anchor="ctr">
            <a:spAutoFit/>
          </a:bodyPr>
          <a:lstStyle/>
          <a:p>
            <a:pPr algn="l"/>
            <a:r>
              <a:rPr sz="900" b="0">
                <a:solidFill>
                  <a:srgbClr val="44403C"/>
                </a:solidFill>
                <a:latin typeface="Segoe UI"/>
              </a:rPr>
              <a:t>1</a:t>
            </a:r>
          </a:p>
        </p:txBody>
      </p:sp>
      <p:sp>
        <p:nvSpPr>
          <p:cNvPr id="63" name="a3wd330_td62"/>
          <p:cNvSpPr/>
          <p:nvPr/>
        </p:nvSpPr>
        <p:spPr>
          <a:xfrm>
            <a:off x="6784848" y="2377439"/>
            <a:ext cx="868680"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a3wd330_tdt63"/>
          <p:cNvSpPr txBox="1"/>
          <p:nvPr/>
        </p:nvSpPr>
        <p:spPr>
          <a:xfrm>
            <a:off x="6858000" y="2377439"/>
            <a:ext cx="758952" cy="274320"/>
          </a:xfrm>
          <a:prstGeom prst="rect">
            <a:avLst/>
          </a:prstGeom>
          <a:noFill/>
        </p:spPr>
        <p:txBody>
          <a:bodyPr wrap="square" lIns="0" tIns="0" rIns="0" bIns="0" anchor="ctr">
            <a:spAutoFit/>
          </a:bodyPr>
          <a:lstStyle/>
          <a:p>
            <a:pPr algn="l"/>
            <a:r>
              <a:rPr sz="900" b="0">
                <a:solidFill>
                  <a:srgbClr val="44403C"/>
                </a:solidFill>
                <a:latin typeface="Segoe UI"/>
              </a:rPr>
              <a:t>1</a:t>
            </a:r>
          </a:p>
        </p:txBody>
      </p:sp>
      <p:sp>
        <p:nvSpPr>
          <p:cNvPr id="65" name="a3wd440_td64"/>
          <p:cNvSpPr/>
          <p:nvPr/>
        </p:nvSpPr>
        <p:spPr>
          <a:xfrm>
            <a:off x="6784848" y="2651760"/>
            <a:ext cx="868680"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a3wd440_tdt65"/>
          <p:cNvSpPr txBox="1"/>
          <p:nvPr/>
        </p:nvSpPr>
        <p:spPr>
          <a:xfrm>
            <a:off x="6858000" y="2651760"/>
            <a:ext cx="758952" cy="274320"/>
          </a:xfrm>
          <a:prstGeom prst="rect">
            <a:avLst/>
          </a:prstGeom>
          <a:noFill/>
        </p:spPr>
        <p:txBody>
          <a:bodyPr wrap="square" lIns="0" tIns="0" rIns="0" bIns="0" anchor="ctr">
            <a:spAutoFit/>
          </a:bodyPr>
          <a:lstStyle/>
          <a:p>
            <a:pPr algn="l"/>
            <a:r>
              <a:rPr sz="900" b="0">
                <a:solidFill>
                  <a:srgbClr val="44403C"/>
                </a:solidFill>
                <a:latin typeface="Segoe UI"/>
              </a:rPr>
              <a:t>1</a:t>
            </a:r>
          </a:p>
        </p:txBody>
      </p:sp>
      <p:sp>
        <p:nvSpPr>
          <p:cNvPr id="67" name="a3f_th66"/>
          <p:cNvSpPr/>
          <p:nvPr/>
        </p:nvSpPr>
        <p:spPr>
          <a:xfrm>
            <a:off x="7653527" y="1554480"/>
            <a:ext cx="1033271" cy="274320"/>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8" name="a3f_tht67"/>
          <p:cNvSpPr txBox="1"/>
          <p:nvPr/>
        </p:nvSpPr>
        <p:spPr>
          <a:xfrm>
            <a:off x="7726679" y="1554480"/>
            <a:ext cx="923543" cy="274320"/>
          </a:xfrm>
          <a:prstGeom prst="rect">
            <a:avLst/>
          </a:prstGeom>
          <a:noFill/>
        </p:spPr>
        <p:txBody>
          <a:bodyPr wrap="square" lIns="0" tIns="0" rIns="0" bIns="0" anchor="ctr">
            <a:spAutoFit/>
          </a:bodyPr>
          <a:lstStyle/>
          <a:p>
            <a:pPr algn="l"/>
            <a:r>
              <a:rPr sz="900" b="1">
                <a:solidFill>
                  <a:srgbClr val="FFFFFF"/>
                </a:solidFill>
                <a:latin typeface="Segoe UI"/>
              </a:rPr>
              <a:t>followers</a:t>
            </a:r>
          </a:p>
        </p:txBody>
      </p:sp>
      <p:sp>
        <p:nvSpPr>
          <p:cNvPr id="69" name="a3wd110_td68"/>
          <p:cNvSpPr/>
          <p:nvPr/>
        </p:nvSpPr>
        <p:spPr>
          <a:xfrm>
            <a:off x="7653527" y="1828800"/>
            <a:ext cx="1033271"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0" name="a3wd110_tdt69"/>
          <p:cNvSpPr txBox="1"/>
          <p:nvPr/>
        </p:nvSpPr>
        <p:spPr>
          <a:xfrm>
            <a:off x="7726679" y="1828800"/>
            <a:ext cx="923543" cy="274320"/>
          </a:xfrm>
          <a:prstGeom prst="rect">
            <a:avLst/>
          </a:prstGeom>
          <a:noFill/>
        </p:spPr>
        <p:txBody>
          <a:bodyPr wrap="square" lIns="0" tIns="0" rIns="0" bIns="0" anchor="ctr">
            <a:spAutoFit/>
          </a:bodyPr>
          <a:lstStyle/>
          <a:p>
            <a:pPr algn="l"/>
            <a:r>
              <a:rPr sz="900" b="0">
                <a:solidFill>
                  <a:srgbClr val="44403C"/>
                </a:solidFill>
                <a:latin typeface="Segoe UI"/>
              </a:rPr>
              <a:t>0</a:t>
            </a:r>
          </a:p>
        </p:txBody>
      </p:sp>
      <p:sp>
        <p:nvSpPr>
          <p:cNvPr id="71" name="a3wd220_td70"/>
          <p:cNvSpPr/>
          <p:nvPr/>
        </p:nvSpPr>
        <p:spPr>
          <a:xfrm>
            <a:off x="7653527" y="2103120"/>
            <a:ext cx="1033271"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2" name="a3wd220_tdt71"/>
          <p:cNvSpPr txBox="1"/>
          <p:nvPr/>
        </p:nvSpPr>
        <p:spPr>
          <a:xfrm>
            <a:off x="7726679" y="2103120"/>
            <a:ext cx="923543" cy="274320"/>
          </a:xfrm>
          <a:prstGeom prst="rect">
            <a:avLst/>
          </a:prstGeom>
          <a:noFill/>
        </p:spPr>
        <p:txBody>
          <a:bodyPr wrap="square" lIns="0" tIns="0" rIns="0" bIns="0" anchor="ctr">
            <a:spAutoFit/>
          </a:bodyPr>
          <a:lstStyle/>
          <a:p>
            <a:pPr algn="l"/>
            <a:r>
              <a:rPr sz="900" b="0">
                <a:solidFill>
                  <a:srgbClr val="44403C"/>
                </a:solidFill>
                <a:latin typeface="Segoe UI"/>
              </a:rPr>
              <a:t>1</a:t>
            </a:r>
          </a:p>
        </p:txBody>
      </p:sp>
      <p:sp>
        <p:nvSpPr>
          <p:cNvPr id="73" name="a3wd330_td72"/>
          <p:cNvSpPr/>
          <p:nvPr/>
        </p:nvSpPr>
        <p:spPr>
          <a:xfrm>
            <a:off x="7653527" y="2377439"/>
            <a:ext cx="1033271"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4" name="a3wd330_tdt73"/>
          <p:cNvSpPr txBox="1"/>
          <p:nvPr/>
        </p:nvSpPr>
        <p:spPr>
          <a:xfrm>
            <a:off x="7726679" y="2377439"/>
            <a:ext cx="923543" cy="274320"/>
          </a:xfrm>
          <a:prstGeom prst="rect">
            <a:avLst/>
          </a:prstGeom>
          <a:noFill/>
        </p:spPr>
        <p:txBody>
          <a:bodyPr wrap="square" lIns="0" tIns="0" rIns="0" bIns="0" anchor="ctr">
            <a:spAutoFit/>
          </a:bodyPr>
          <a:lstStyle/>
          <a:p>
            <a:pPr algn="l"/>
            <a:r>
              <a:rPr sz="900" b="0">
                <a:solidFill>
                  <a:srgbClr val="44403C"/>
                </a:solidFill>
                <a:latin typeface="Segoe UI"/>
              </a:rPr>
              <a:t>2</a:t>
            </a:r>
          </a:p>
        </p:txBody>
      </p:sp>
      <p:sp>
        <p:nvSpPr>
          <p:cNvPr id="75" name="a3wd440_td74"/>
          <p:cNvSpPr/>
          <p:nvPr/>
        </p:nvSpPr>
        <p:spPr>
          <a:xfrm>
            <a:off x="7653527" y="2651760"/>
            <a:ext cx="1033271"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6" name="a3wd440_tdt75"/>
          <p:cNvSpPr txBox="1"/>
          <p:nvPr/>
        </p:nvSpPr>
        <p:spPr>
          <a:xfrm>
            <a:off x="7726679" y="2651760"/>
            <a:ext cx="923543" cy="274320"/>
          </a:xfrm>
          <a:prstGeom prst="rect">
            <a:avLst/>
          </a:prstGeom>
          <a:noFill/>
        </p:spPr>
        <p:txBody>
          <a:bodyPr wrap="square" lIns="0" tIns="0" rIns="0" bIns="0" anchor="ctr">
            <a:spAutoFit/>
          </a:bodyPr>
          <a:lstStyle/>
          <a:p>
            <a:pPr algn="l"/>
            <a:r>
              <a:rPr sz="900" b="0">
                <a:solidFill>
                  <a:srgbClr val="44403C"/>
                </a:solidFill>
                <a:latin typeface="Segoe UI"/>
              </a:rPr>
              <a:t>n - 1</a:t>
            </a:r>
          </a:p>
        </p:txBody>
      </p:sp>
      <p:sp>
        <p:nvSpPr>
          <p:cNvPr id="77" name="a3ud600_dot76"/>
          <p:cNvSpPr/>
          <p:nvPr/>
        </p:nvSpPr>
        <p:spPr>
          <a:xfrm>
            <a:off x="6217920" y="318668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8" name="a3ud600_b77"/>
          <p:cNvSpPr txBox="1"/>
          <p:nvPr/>
        </p:nvSpPr>
        <p:spPr>
          <a:xfrm>
            <a:off x="6437376" y="3090672"/>
            <a:ext cx="2249424" cy="420624"/>
          </a:xfrm>
          <a:prstGeom prst="rect">
            <a:avLst/>
          </a:prstGeom>
          <a:noFill/>
        </p:spPr>
        <p:txBody>
          <a:bodyPr wrap="square" lIns="0" tIns="0" rIns="0" bIns="0" anchor="t">
            <a:spAutoFit/>
          </a:bodyPr>
          <a:lstStyle/>
          <a:p>
            <a:pPr algn="l"/>
            <a:r>
              <a:rPr sz="950" b="1">
                <a:solidFill>
                  <a:srgbClr val="1C1917"/>
                </a:solidFill>
                <a:latin typeface="Segoe UI"/>
              </a:rPr>
              <a:t>Spread out  </a:t>
            </a:r>
            <a:r>
              <a:rPr sz="950" b="0">
                <a:solidFill>
                  <a:srgbClr val="44403C"/>
                </a:solidFill>
                <a:latin typeface="Segoe UI"/>
              </a:rPr>
              <a:t>each broker leads one partition here</a:t>
            </a:r>
          </a:p>
        </p:txBody>
      </p:sp>
      <p:sp>
        <p:nvSpPr>
          <p:cNvPr id="79" name="a4u_nb78"/>
          <p:cNvSpPr/>
          <p:nvPr/>
        </p:nvSpPr>
        <p:spPr>
          <a:xfrm>
            <a:off x="457200" y="3931920"/>
            <a:ext cx="8229600" cy="548640"/>
          </a:xfrm>
          <a:prstGeom prst="roundRect">
            <a:avLst>
              <a:gd name="adj" fmla="val 1333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0" name="a4u_nacc79"/>
          <p:cNvSpPr/>
          <p:nvPr/>
        </p:nvSpPr>
        <p:spPr>
          <a:xfrm>
            <a:off x="457200" y="3931920"/>
            <a:ext cx="54864" cy="5486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a4u_nt80"/>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Applications write to the leader - and almost always read from it too.</a:t>
            </a:r>
          </a:p>
        </p:txBody>
      </p:sp>
      <p:sp>
        <p:nvSpPr>
          <p:cNvPr id="82" name="ft8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83" name="ft8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4" name="ft8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85" name="ft8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ppt_y+0.1"/>
                                          </p:val>
                                        </p:tav>
                                        <p:tav tm="100000">
                                          <p:val>
                                            <p:strVal val="#ppt_y"/>
                                          </p:val>
                                        </p:tav>
                                      </p:tavLst>
                                    </p:anim>
                                    <p:animEffect transition="in" filter="fade">
                                      <p:cBhvr>
                                        <p:cTn id="35" dur="500"/>
                                        <p:tgtEl>
                                          <p:spTgt spid="19"/>
                                        </p:tgtEl>
                                      </p:cBhvr>
                                    </p:animEffect>
                                  </p:childTnLst>
                                </p:cTn>
                              </p:par>
                              <p:par>
                                <p:cTn id="36" presetID="2" presetClass="entr" presetSubtype="4"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500" fill="hold"/>
                                        <p:tgtEl>
                                          <p:spTgt spid="20"/>
                                        </p:tgtEl>
                                        <p:attrNameLst>
                                          <p:attrName>ppt_x</p:attrName>
                                        </p:attrNameLst>
                                      </p:cBhvr>
                                      <p:tavLst>
                                        <p:tav tm="0">
                                          <p:val>
                                            <p:strVal val="#ppt_x"/>
                                          </p:val>
                                        </p:tav>
                                        <p:tav tm="100000">
                                          <p:val>
                                            <p:strVal val="#ppt_x"/>
                                          </p:val>
                                        </p:tav>
                                      </p:tavLst>
                                    </p:anim>
                                    <p:anim calcmode="lin" valueType="num">
                                      <p:cBhvr additive="base">
                                        <p:cTn id="39" dur="500" fill="hold"/>
                                        <p:tgtEl>
                                          <p:spTgt spid="20"/>
                                        </p:tgtEl>
                                        <p:attrNameLst>
                                          <p:attrName>ppt_y</p:attrName>
                                        </p:attrNameLst>
                                      </p:cBhvr>
                                      <p:tavLst>
                                        <p:tav tm="0">
                                          <p:val>
                                            <p:strVal val="#ppt_y+0.1"/>
                                          </p:val>
                                        </p:tav>
                                        <p:tav tm="100000">
                                          <p:val>
                                            <p:strVal val="#ppt_y"/>
                                          </p:val>
                                        </p:tav>
                                      </p:tavLst>
                                    </p:anim>
                                    <p:animEffect transition="in" filter="fade">
                                      <p:cBhvr>
                                        <p:cTn id="40" dur="500"/>
                                        <p:tgtEl>
                                          <p:spTgt spid="20"/>
                                        </p:tgtEl>
                                      </p:cBhvr>
                                    </p:animEffect>
                                  </p:childTnLst>
                                </p:cTn>
                              </p:par>
                              <p:par>
                                <p:cTn id="41" presetID="2" presetClass="entr" presetSubtype="4"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
                                          </p:val>
                                        </p:tav>
                                        <p:tav tm="100000">
                                          <p:val>
                                            <p:strVal val="#ppt_x"/>
                                          </p:val>
                                        </p:tav>
                                      </p:tavLst>
                                    </p:anim>
                                    <p:anim calcmode="lin" valueType="num">
                                      <p:cBhvr additive="base">
                                        <p:cTn id="44" dur="500" fill="hold"/>
                                        <p:tgtEl>
                                          <p:spTgt spid="21"/>
                                        </p:tgtEl>
                                        <p:attrNameLst>
                                          <p:attrName>ppt_y</p:attrName>
                                        </p:attrNameLst>
                                      </p:cBhvr>
                                      <p:tavLst>
                                        <p:tav tm="0">
                                          <p:val>
                                            <p:strVal val="#ppt_y+0.1"/>
                                          </p:val>
                                        </p:tav>
                                        <p:tav tm="100000">
                                          <p:val>
                                            <p:strVal val="#ppt_y"/>
                                          </p:val>
                                        </p:tav>
                                      </p:tavLst>
                                    </p:anim>
                                    <p:animEffect transition="in" filter="fade">
                                      <p:cBhvr>
                                        <p:cTn id="45" dur="500"/>
                                        <p:tgtEl>
                                          <p:spTgt spid="21"/>
                                        </p:tgtEl>
                                      </p:cBhvr>
                                    </p:animEffect>
                                  </p:childTnLst>
                                </p:cTn>
                              </p:par>
                              <p:par>
                                <p:cTn id="46" presetID="2" presetClass="entr" presetSubtype="4" fill="hold" grpId="0" nodeType="withEffect">
                                  <p:stCondLst>
                                    <p:cond delay="150"/>
                                  </p:stCondLst>
                                  <p:childTnLst>
                                    <p:set>
                                      <p:cBhvr>
                                        <p:cTn id="47" dur="1" fill="hold">
                                          <p:stCondLst>
                                            <p:cond delay="0"/>
                                          </p:stCondLst>
                                        </p:cTn>
                                        <p:tgtEl>
                                          <p:spTgt spid="22"/>
                                        </p:tgtEl>
                                        <p:attrNameLst>
                                          <p:attrName>style.visibility</p:attrName>
                                        </p:attrNameLst>
                                      </p:cBhvr>
                                      <p:to>
                                        <p:strVal val="visible"/>
                                      </p:to>
                                    </p:set>
                                    <p:anim calcmode="lin" valueType="num">
                                      <p:cBhvr additive="base">
                                        <p:cTn id="48" dur="500" fill="hold"/>
                                        <p:tgtEl>
                                          <p:spTgt spid="22"/>
                                        </p:tgtEl>
                                        <p:attrNameLst>
                                          <p:attrName>ppt_x</p:attrName>
                                        </p:attrNameLst>
                                      </p:cBhvr>
                                      <p:tavLst>
                                        <p:tav tm="0">
                                          <p:val>
                                            <p:strVal val="#ppt_x"/>
                                          </p:val>
                                        </p:tav>
                                        <p:tav tm="100000">
                                          <p:val>
                                            <p:strVal val="#ppt_x"/>
                                          </p:val>
                                        </p:tav>
                                      </p:tavLst>
                                    </p:anim>
                                    <p:anim calcmode="lin" valueType="num">
                                      <p:cBhvr additive="base">
                                        <p:cTn id="49" dur="500" fill="hold"/>
                                        <p:tgtEl>
                                          <p:spTgt spid="22"/>
                                        </p:tgtEl>
                                        <p:attrNameLst>
                                          <p:attrName>ppt_y</p:attrName>
                                        </p:attrNameLst>
                                      </p:cBhvr>
                                      <p:tavLst>
                                        <p:tav tm="0">
                                          <p:val>
                                            <p:strVal val="#ppt_y+0.1"/>
                                          </p:val>
                                        </p:tav>
                                        <p:tav tm="100000">
                                          <p:val>
                                            <p:strVal val="#ppt_y"/>
                                          </p:val>
                                        </p:tav>
                                      </p:tavLst>
                                    </p:anim>
                                    <p:animEffect transition="in" filter="fade">
                                      <p:cBhvr>
                                        <p:cTn id="50" dur="500"/>
                                        <p:tgtEl>
                                          <p:spTgt spid="22"/>
                                        </p:tgtEl>
                                      </p:cBhvr>
                                    </p:animEffect>
                                  </p:childTnLst>
                                </p:cTn>
                              </p:par>
                              <p:par>
                                <p:cTn id="51" presetID="2" presetClass="entr" presetSubtype="4" fill="hold" grpId="0" nodeType="withEffect">
                                  <p:stCondLst>
                                    <p:cond delay="15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ppt_y+0.1"/>
                                          </p:val>
                                        </p:tav>
                                        <p:tav tm="100000">
                                          <p:val>
                                            <p:strVal val="#ppt_y"/>
                                          </p:val>
                                        </p:tav>
                                      </p:tavLst>
                                    </p:anim>
                                    <p:animEffect transition="in" filter="fade">
                                      <p:cBhvr>
                                        <p:cTn id="55" dur="500"/>
                                        <p:tgtEl>
                                          <p:spTgt spid="23"/>
                                        </p:tgtEl>
                                      </p:cBhvr>
                                    </p:animEffect>
                                  </p:childTnLst>
                                </p:cTn>
                              </p:par>
                              <p:par>
                                <p:cTn id="56" presetID="2" presetClass="entr" presetSubtype="4" fill="hold" grpId="0" nodeType="withEffect">
                                  <p:stCondLst>
                                    <p:cond delay="150"/>
                                  </p:stCondLst>
                                  <p:childTnLst>
                                    <p:set>
                                      <p:cBhvr>
                                        <p:cTn id="57" dur="1" fill="hold">
                                          <p:stCondLst>
                                            <p:cond delay="0"/>
                                          </p:stCondLst>
                                        </p:cTn>
                                        <p:tgtEl>
                                          <p:spTgt spid="24"/>
                                        </p:tgtEl>
                                        <p:attrNameLst>
                                          <p:attrName>style.visibility</p:attrName>
                                        </p:attrNameLst>
                                      </p:cBhvr>
                                      <p:to>
                                        <p:strVal val="visible"/>
                                      </p:to>
                                    </p:set>
                                    <p:anim calcmode="lin" valueType="num">
                                      <p:cBhvr additive="base">
                                        <p:cTn id="58" dur="500" fill="hold"/>
                                        <p:tgtEl>
                                          <p:spTgt spid="24"/>
                                        </p:tgtEl>
                                        <p:attrNameLst>
                                          <p:attrName>ppt_x</p:attrName>
                                        </p:attrNameLst>
                                      </p:cBhvr>
                                      <p:tavLst>
                                        <p:tav tm="0">
                                          <p:val>
                                            <p:strVal val="#ppt_x"/>
                                          </p:val>
                                        </p:tav>
                                        <p:tav tm="100000">
                                          <p:val>
                                            <p:strVal val="#ppt_x"/>
                                          </p:val>
                                        </p:tav>
                                      </p:tavLst>
                                    </p:anim>
                                    <p:anim calcmode="lin" valueType="num">
                                      <p:cBhvr additive="base">
                                        <p:cTn id="59" dur="500" fill="hold"/>
                                        <p:tgtEl>
                                          <p:spTgt spid="24"/>
                                        </p:tgtEl>
                                        <p:attrNameLst>
                                          <p:attrName>ppt_y</p:attrName>
                                        </p:attrNameLst>
                                      </p:cBhvr>
                                      <p:tavLst>
                                        <p:tav tm="0">
                                          <p:val>
                                            <p:strVal val="#ppt_y+0.1"/>
                                          </p:val>
                                        </p:tav>
                                        <p:tav tm="100000">
                                          <p:val>
                                            <p:strVal val="#ppt_y"/>
                                          </p:val>
                                        </p:tav>
                                      </p:tavLst>
                                    </p:anim>
                                    <p:animEffect transition="in" filter="fade">
                                      <p:cBhvr>
                                        <p:cTn id="60" dur="500"/>
                                        <p:tgtEl>
                                          <p:spTgt spid="24"/>
                                        </p:tgtEl>
                                      </p:cBhvr>
                                    </p:animEffect>
                                  </p:childTnLst>
                                </p:cTn>
                              </p:par>
                              <p:par>
                                <p:cTn id="61" presetID="2" presetClass="entr" presetSubtype="4" fill="hold" grpId="0" nodeType="withEffect">
                                  <p:stCondLst>
                                    <p:cond delay="300"/>
                                  </p:stCondLst>
                                  <p:childTnLst>
                                    <p:set>
                                      <p:cBhvr>
                                        <p:cTn id="62" dur="1" fill="hold">
                                          <p:stCondLst>
                                            <p:cond delay="0"/>
                                          </p:stCondLst>
                                        </p:cTn>
                                        <p:tgtEl>
                                          <p:spTgt spid="25"/>
                                        </p:tgtEl>
                                        <p:attrNameLst>
                                          <p:attrName>style.visibility</p:attrName>
                                        </p:attrNameLst>
                                      </p:cBhvr>
                                      <p:to>
                                        <p:strVal val="visible"/>
                                      </p:to>
                                    </p:set>
                                    <p:anim calcmode="lin" valueType="num">
                                      <p:cBhvr additive="base">
                                        <p:cTn id="63" dur="500" fill="hold"/>
                                        <p:tgtEl>
                                          <p:spTgt spid="25"/>
                                        </p:tgtEl>
                                        <p:attrNameLst>
                                          <p:attrName>ppt_x</p:attrName>
                                        </p:attrNameLst>
                                      </p:cBhvr>
                                      <p:tavLst>
                                        <p:tav tm="0">
                                          <p:val>
                                            <p:strVal val="#ppt_x"/>
                                          </p:val>
                                        </p:tav>
                                        <p:tav tm="100000">
                                          <p:val>
                                            <p:strVal val="#ppt_x"/>
                                          </p:val>
                                        </p:tav>
                                      </p:tavLst>
                                    </p:anim>
                                    <p:anim calcmode="lin" valueType="num">
                                      <p:cBhvr additive="base">
                                        <p:cTn id="64" dur="500" fill="hold"/>
                                        <p:tgtEl>
                                          <p:spTgt spid="25"/>
                                        </p:tgtEl>
                                        <p:attrNameLst>
                                          <p:attrName>ppt_y</p:attrName>
                                        </p:attrNameLst>
                                      </p:cBhvr>
                                      <p:tavLst>
                                        <p:tav tm="0">
                                          <p:val>
                                            <p:strVal val="#ppt_y+0.1"/>
                                          </p:val>
                                        </p:tav>
                                        <p:tav tm="100000">
                                          <p:val>
                                            <p:strVal val="#ppt_y"/>
                                          </p:val>
                                        </p:tav>
                                      </p:tavLst>
                                    </p:anim>
                                    <p:animEffect transition="in" filter="fade">
                                      <p:cBhvr>
                                        <p:cTn id="65" dur="500"/>
                                        <p:tgtEl>
                                          <p:spTgt spid="25"/>
                                        </p:tgtEl>
                                      </p:cBhvr>
                                    </p:animEffect>
                                  </p:childTnLst>
                                </p:cTn>
                              </p:par>
                              <p:par>
                                <p:cTn id="66" presetID="2" presetClass="entr" presetSubtype="4" fill="hold" grpId="0" nodeType="withEffect">
                                  <p:stCondLst>
                                    <p:cond delay="300"/>
                                  </p:stCondLst>
                                  <p:childTnLst>
                                    <p:set>
                                      <p:cBhvr>
                                        <p:cTn id="67" dur="1" fill="hold">
                                          <p:stCondLst>
                                            <p:cond delay="0"/>
                                          </p:stCondLst>
                                        </p:cTn>
                                        <p:tgtEl>
                                          <p:spTgt spid="26"/>
                                        </p:tgtEl>
                                        <p:attrNameLst>
                                          <p:attrName>style.visibility</p:attrName>
                                        </p:attrNameLst>
                                      </p:cBhvr>
                                      <p:to>
                                        <p:strVal val="visible"/>
                                      </p:to>
                                    </p:set>
                                    <p:anim calcmode="lin" valueType="num">
                                      <p:cBhvr additive="base">
                                        <p:cTn id="68" dur="500" fill="hold"/>
                                        <p:tgtEl>
                                          <p:spTgt spid="26"/>
                                        </p:tgtEl>
                                        <p:attrNameLst>
                                          <p:attrName>ppt_x</p:attrName>
                                        </p:attrNameLst>
                                      </p:cBhvr>
                                      <p:tavLst>
                                        <p:tav tm="0">
                                          <p:val>
                                            <p:strVal val="#ppt_x"/>
                                          </p:val>
                                        </p:tav>
                                        <p:tav tm="100000">
                                          <p:val>
                                            <p:strVal val="#ppt_x"/>
                                          </p:val>
                                        </p:tav>
                                      </p:tavLst>
                                    </p:anim>
                                    <p:anim calcmode="lin" valueType="num">
                                      <p:cBhvr additive="base">
                                        <p:cTn id="69" dur="500" fill="hold"/>
                                        <p:tgtEl>
                                          <p:spTgt spid="26"/>
                                        </p:tgtEl>
                                        <p:attrNameLst>
                                          <p:attrName>ppt_y</p:attrName>
                                        </p:attrNameLst>
                                      </p:cBhvr>
                                      <p:tavLst>
                                        <p:tav tm="0">
                                          <p:val>
                                            <p:strVal val="#ppt_y+0.1"/>
                                          </p:val>
                                        </p:tav>
                                        <p:tav tm="100000">
                                          <p:val>
                                            <p:strVal val="#ppt_y"/>
                                          </p:val>
                                        </p:tav>
                                      </p:tavLst>
                                    </p:anim>
                                    <p:animEffect transition="in" filter="fade">
                                      <p:cBhvr>
                                        <p:cTn id="70" dur="500"/>
                                        <p:tgtEl>
                                          <p:spTgt spid="26"/>
                                        </p:tgtEl>
                                      </p:cBhvr>
                                    </p:animEffect>
                                  </p:childTnLst>
                                </p:cTn>
                              </p:par>
                              <p:par>
                                <p:cTn id="71" presetID="2" presetClass="entr" presetSubtype="4" fill="hold" grpId="0" nodeType="withEffect">
                                  <p:stCondLst>
                                    <p:cond delay="300"/>
                                  </p:stCondLst>
                                  <p:childTnLst>
                                    <p:set>
                                      <p:cBhvr>
                                        <p:cTn id="72" dur="1" fill="hold">
                                          <p:stCondLst>
                                            <p:cond delay="0"/>
                                          </p:stCondLst>
                                        </p:cTn>
                                        <p:tgtEl>
                                          <p:spTgt spid="27"/>
                                        </p:tgtEl>
                                        <p:attrNameLst>
                                          <p:attrName>style.visibility</p:attrName>
                                        </p:attrNameLst>
                                      </p:cBhvr>
                                      <p:to>
                                        <p:strVal val="visible"/>
                                      </p:to>
                                    </p:set>
                                    <p:anim calcmode="lin" valueType="num">
                                      <p:cBhvr additive="base">
                                        <p:cTn id="73" dur="500" fill="hold"/>
                                        <p:tgtEl>
                                          <p:spTgt spid="27"/>
                                        </p:tgtEl>
                                        <p:attrNameLst>
                                          <p:attrName>ppt_x</p:attrName>
                                        </p:attrNameLst>
                                      </p:cBhvr>
                                      <p:tavLst>
                                        <p:tav tm="0">
                                          <p:val>
                                            <p:strVal val="#ppt_x"/>
                                          </p:val>
                                        </p:tav>
                                        <p:tav tm="100000">
                                          <p:val>
                                            <p:strVal val="#ppt_x"/>
                                          </p:val>
                                        </p:tav>
                                      </p:tavLst>
                                    </p:anim>
                                    <p:anim calcmode="lin" valueType="num">
                                      <p:cBhvr additive="base">
                                        <p:cTn id="74" dur="500" fill="hold"/>
                                        <p:tgtEl>
                                          <p:spTgt spid="27"/>
                                        </p:tgtEl>
                                        <p:attrNameLst>
                                          <p:attrName>ppt_y</p:attrName>
                                        </p:attrNameLst>
                                      </p:cBhvr>
                                      <p:tavLst>
                                        <p:tav tm="0">
                                          <p:val>
                                            <p:strVal val="#ppt_y+0.1"/>
                                          </p:val>
                                        </p:tav>
                                        <p:tav tm="100000">
                                          <p:val>
                                            <p:strVal val="#ppt_y"/>
                                          </p:val>
                                        </p:tav>
                                      </p:tavLst>
                                    </p:anim>
                                    <p:animEffect transition="in" filter="fade">
                                      <p:cBhvr>
                                        <p:cTn id="75" dur="500"/>
                                        <p:tgtEl>
                                          <p:spTgt spid="27"/>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28"/>
                                        </p:tgtEl>
                                        <p:attrNameLst>
                                          <p:attrName>style.visibility</p:attrName>
                                        </p:attrNameLst>
                                      </p:cBhvr>
                                      <p:to>
                                        <p:strVal val="visible"/>
                                      </p:to>
                                    </p:set>
                                    <p:anim calcmode="lin" valueType="num">
                                      <p:cBhvr additive="base">
                                        <p:cTn id="80" dur="500" fill="hold"/>
                                        <p:tgtEl>
                                          <p:spTgt spid="28"/>
                                        </p:tgtEl>
                                        <p:attrNameLst>
                                          <p:attrName>ppt_x</p:attrName>
                                        </p:attrNameLst>
                                      </p:cBhvr>
                                      <p:tavLst>
                                        <p:tav tm="0">
                                          <p:val>
                                            <p:strVal val="#ppt_x"/>
                                          </p:val>
                                        </p:tav>
                                        <p:tav tm="100000">
                                          <p:val>
                                            <p:strVal val="#ppt_x"/>
                                          </p:val>
                                        </p:tav>
                                      </p:tavLst>
                                    </p:anim>
                                    <p:anim calcmode="lin" valueType="num">
                                      <p:cBhvr additive="base">
                                        <p:cTn id="81" dur="500" fill="hold"/>
                                        <p:tgtEl>
                                          <p:spTgt spid="28"/>
                                        </p:tgtEl>
                                        <p:attrNameLst>
                                          <p:attrName>ppt_y</p:attrName>
                                        </p:attrNameLst>
                                      </p:cBhvr>
                                      <p:tavLst>
                                        <p:tav tm="0">
                                          <p:val>
                                            <p:strVal val="#ppt_y+0.1"/>
                                          </p:val>
                                        </p:tav>
                                        <p:tav tm="100000">
                                          <p:val>
                                            <p:strVal val="#ppt_y"/>
                                          </p:val>
                                        </p:tav>
                                      </p:tavLst>
                                    </p:anim>
                                    <p:animEffect transition="in" filter="fade">
                                      <p:cBhvr>
                                        <p:cTn id="82" dur="500"/>
                                        <p:tgtEl>
                                          <p:spTgt spid="28"/>
                                        </p:tgtEl>
                                      </p:cBhvr>
                                    </p:animEffect>
                                  </p:childTnLst>
                                </p:cTn>
                              </p:par>
                              <p:par>
                                <p:cTn id="83" presetID="2" presetClass="entr" presetSubtype="4"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 calcmode="lin" valueType="num">
                                      <p:cBhvr additive="base">
                                        <p:cTn id="85" dur="500" fill="hold"/>
                                        <p:tgtEl>
                                          <p:spTgt spid="29"/>
                                        </p:tgtEl>
                                        <p:attrNameLst>
                                          <p:attrName>ppt_x</p:attrName>
                                        </p:attrNameLst>
                                      </p:cBhvr>
                                      <p:tavLst>
                                        <p:tav tm="0">
                                          <p:val>
                                            <p:strVal val="#ppt_x"/>
                                          </p:val>
                                        </p:tav>
                                        <p:tav tm="100000">
                                          <p:val>
                                            <p:strVal val="#ppt_x"/>
                                          </p:val>
                                        </p:tav>
                                      </p:tavLst>
                                    </p:anim>
                                    <p:anim calcmode="lin" valueType="num">
                                      <p:cBhvr additive="base">
                                        <p:cTn id="86" dur="500" fill="hold"/>
                                        <p:tgtEl>
                                          <p:spTgt spid="29"/>
                                        </p:tgtEl>
                                        <p:attrNameLst>
                                          <p:attrName>ppt_y</p:attrName>
                                        </p:attrNameLst>
                                      </p:cBhvr>
                                      <p:tavLst>
                                        <p:tav tm="0">
                                          <p:val>
                                            <p:strVal val="#ppt_y+0.1"/>
                                          </p:val>
                                        </p:tav>
                                        <p:tav tm="100000">
                                          <p:val>
                                            <p:strVal val="#ppt_y"/>
                                          </p:val>
                                        </p:tav>
                                      </p:tavLst>
                                    </p:anim>
                                    <p:animEffect transition="in" filter="fade">
                                      <p:cBhvr>
                                        <p:cTn id="87" dur="500"/>
                                        <p:tgtEl>
                                          <p:spTgt spid="29"/>
                                        </p:tgtEl>
                                      </p:cBhvr>
                                    </p:animEffect>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ppt_y+0.1"/>
                                          </p:val>
                                        </p:tav>
                                        <p:tav tm="100000">
                                          <p:val>
                                            <p:strVal val="#ppt_y"/>
                                          </p:val>
                                        </p:tav>
                                      </p:tavLst>
                                    </p:anim>
                                    <p:animEffect transition="in" filter="fade">
                                      <p:cBhvr>
                                        <p:cTn id="92" dur="500"/>
                                        <p:tgtEl>
                                          <p:spTgt spid="30"/>
                                        </p:tgtEl>
                                      </p:cBhvr>
                                    </p:animEffect>
                                  </p:childTnLst>
                                </p:cTn>
                              </p:par>
                              <p:par>
                                <p:cTn id="93" presetID="2" presetClass="entr" presetSubtype="4"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 calcmode="lin" valueType="num">
                                      <p:cBhvr additive="base">
                                        <p:cTn id="95" dur="500" fill="hold"/>
                                        <p:tgtEl>
                                          <p:spTgt spid="31"/>
                                        </p:tgtEl>
                                        <p:attrNameLst>
                                          <p:attrName>ppt_x</p:attrName>
                                        </p:attrNameLst>
                                      </p:cBhvr>
                                      <p:tavLst>
                                        <p:tav tm="0">
                                          <p:val>
                                            <p:strVal val="#ppt_x"/>
                                          </p:val>
                                        </p:tav>
                                        <p:tav tm="100000">
                                          <p:val>
                                            <p:strVal val="#ppt_x"/>
                                          </p:val>
                                        </p:tav>
                                      </p:tavLst>
                                    </p:anim>
                                    <p:anim calcmode="lin" valueType="num">
                                      <p:cBhvr additive="base">
                                        <p:cTn id="96" dur="500" fill="hold"/>
                                        <p:tgtEl>
                                          <p:spTgt spid="31"/>
                                        </p:tgtEl>
                                        <p:attrNameLst>
                                          <p:attrName>ppt_y</p:attrName>
                                        </p:attrNameLst>
                                      </p:cBhvr>
                                      <p:tavLst>
                                        <p:tav tm="0">
                                          <p:val>
                                            <p:strVal val="#ppt_y+0.1"/>
                                          </p:val>
                                        </p:tav>
                                        <p:tav tm="100000">
                                          <p:val>
                                            <p:strVal val="#ppt_y"/>
                                          </p:val>
                                        </p:tav>
                                      </p:tavLst>
                                    </p:anim>
                                    <p:animEffect transition="in" filter="fade">
                                      <p:cBhvr>
                                        <p:cTn id="97" dur="500"/>
                                        <p:tgtEl>
                                          <p:spTgt spid="31"/>
                                        </p:tgtEl>
                                      </p:cBhvr>
                                    </p:animEffect>
                                  </p:childTnLst>
                                </p:cTn>
                              </p:par>
                              <p:par>
                                <p:cTn id="98" presetID="2" presetClass="entr" presetSubtype="4" fill="hold" grpId="0" nodeType="withEffect">
                                  <p:stCondLst>
                                    <p:cond delay="0"/>
                                  </p:stCondLst>
                                  <p:childTnLst>
                                    <p:set>
                                      <p:cBhvr>
                                        <p:cTn id="99" dur="1" fill="hold">
                                          <p:stCondLst>
                                            <p:cond delay="0"/>
                                          </p:stCondLst>
                                        </p:cTn>
                                        <p:tgtEl>
                                          <p:spTgt spid="32"/>
                                        </p:tgtEl>
                                        <p:attrNameLst>
                                          <p:attrName>style.visibility</p:attrName>
                                        </p:attrNameLst>
                                      </p:cBhvr>
                                      <p:to>
                                        <p:strVal val="visible"/>
                                      </p:to>
                                    </p:set>
                                    <p:anim calcmode="lin" valueType="num">
                                      <p:cBhvr additive="base">
                                        <p:cTn id="100" dur="500" fill="hold"/>
                                        <p:tgtEl>
                                          <p:spTgt spid="32"/>
                                        </p:tgtEl>
                                        <p:attrNameLst>
                                          <p:attrName>ppt_x</p:attrName>
                                        </p:attrNameLst>
                                      </p:cBhvr>
                                      <p:tavLst>
                                        <p:tav tm="0">
                                          <p:val>
                                            <p:strVal val="#ppt_x"/>
                                          </p:val>
                                        </p:tav>
                                        <p:tav tm="100000">
                                          <p:val>
                                            <p:strVal val="#ppt_x"/>
                                          </p:val>
                                        </p:tav>
                                      </p:tavLst>
                                    </p:anim>
                                    <p:anim calcmode="lin" valueType="num">
                                      <p:cBhvr additive="base">
                                        <p:cTn id="101" dur="500" fill="hold"/>
                                        <p:tgtEl>
                                          <p:spTgt spid="32"/>
                                        </p:tgtEl>
                                        <p:attrNameLst>
                                          <p:attrName>ppt_y</p:attrName>
                                        </p:attrNameLst>
                                      </p:cBhvr>
                                      <p:tavLst>
                                        <p:tav tm="0">
                                          <p:val>
                                            <p:strVal val="#ppt_y+0.1"/>
                                          </p:val>
                                        </p:tav>
                                        <p:tav tm="100000">
                                          <p:val>
                                            <p:strVal val="#ppt_y"/>
                                          </p:val>
                                        </p:tav>
                                      </p:tavLst>
                                    </p:anim>
                                    <p:animEffect transition="in" filter="fade">
                                      <p:cBhvr>
                                        <p:cTn id="102" dur="500"/>
                                        <p:tgtEl>
                                          <p:spTgt spid="32"/>
                                        </p:tgtEl>
                                      </p:cBhvr>
                                    </p:animEffect>
                                  </p:childTnLst>
                                </p:cTn>
                              </p:par>
                              <p:par>
                                <p:cTn id="103" presetID="2" presetClass="entr" presetSubtype="4" fill="hold" grpId="0" nodeType="withEffect">
                                  <p:stCondLst>
                                    <p:cond delay="0"/>
                                  </p:stCondLst>
                                  <p:childTnLst>
                                    <p:set>
                                      <p:cBhvr>
                                        <p:cTn id="104" dur="1" fill="hold">
                                          <p:stCondLst>
                                            <p:cond delay="0"/>
                                          </p:stCondLst>
                                        </p:cTn>
                                        <p:tgtEl>
                                          <p:spTgt spid="33"/>
                                        </p:tgtEl>
                                        <p:attrNameLst>
                                          <p:attrName>style.visibility</p:attrName>
                                        </p:attrNameLst>
                                      </p:cBhvr>
                                      <p:to>
                                        <p:strVal val="visible"/>
                                      </p:to>
                                    </p:set>
                                    <p:anim calcmode="lin" valueType="num">
                                      <p:cBhvr additive="base">
                                        <p:cTn id="105" dur="500" fill="hold"/>
                                        <p:tgtEl>
                                          <p:spTgt spid="33"/>
                                        </p:tgtEl>
                                        <p:attrNameLst>
                                          <p:attrName>ppt_x</p:attrName>
                                        </p:attrNameLst>
                                      </p:cBhvr>
                                      <p:tavLst>
                                        <p:tav tm="0">
                                          <p:val>
                                            <p:strVal val="#ppt_x"/>
                                          </p:val>
                                        </p:tav>
                                        <p:tav tm="100000">
                                          <p:val>
                                            <p:strVal val="#ppt_x"/>
                                          </p:val>
                                        </p:tav>
                                      </p:tavLst>
                                    </p:anim>
                                    <p:anim calcmode="lin" valueType="num">
                                      <p:cBhvr additive="base">
                                        <p:cTn id="106" dur="500" fill="hold"/>
                                        <p:tgtEl>
                                          <p:spTgt spid="33"/>
                                        </p:tgtEl>
                                        <p:attrNameLst>
                                          <p:attrName>ppt_y</p:attrName>
                                        </p:attrNameLst>
                                      </p:cBhvr>
                                      <p:tavLst>
                                        <p:tav tm="0">
                                          <p:val>
                                            <p:strVal val="#ppt_y+0.1"/>
                                          </p:val>
                                        </p:tav>
                                        <p:tav tm="100000">
                                          <p:val>
                                            <p:strVal val="#ppt_y"/>
                                          </p:val>
                                        </p:tav>
                                      </p:tavLst>
                                    </p:anim>
                                    <p:animEffect transition="in" filter="fade">
                                      <p:cBhvr>
                                        <p:cTn id="107" dur="500"/>
                                        <p:tgtEl>
                                          <p:spTgt spid="33"/>
                                        </p:tgtEl>
                                      </p:cBhvr>
                                    </p:animEffect>
                                  </p:childTnLst>
                                </p:cTn>
                              </p:par>
                              <p:par>
                                <p:cTn id="108" presetID="2" presetClass="entr" presetSubtype="4" fill="hold" grpId="0" nodeType="withEffect">
                                  <p:stCondLst>
                                    <p:cond delay="150"/>
                                  </p:stCondLst>
                                  <p:childTnLst>
                                    <p:set>
                                      <p:cBhvr>
                                        <p:cTn id="109" dur="1" fill="hold">
                                          <p:stCondLst>
                                            <p:cond delay="0"/>
                                          </p:stCondLst>
                                        </p:cTn>
                                        <p:tgtEl>
                                          <p:spTgt spid="34"/>
                                        </p:tgtEl>
                                        <p:attrNameLst>
                                          <p:attrName>style.visibility</p:attrName>
                                        </p:attrNameLst>
                                      </p:cBhvr>
                                      <p:to>
                                        <p:strVal val="visible"/>
                                      </p:to>
                                    </p:set>
                                    <p:anim calcmode="lin" valueType="num">
                                      <p:cBhvr additive="base">
                                        <p:cTn id="110" dur="500" fill="hold"/>
                                        <p:tgtEl>
                                          <p:spTgt spid="34"/>
                                        </p:tgtEl>
                                        <p:attrNameLst>
                                          <p:attrName>ppt_x</p:attrName>
                                        </p:attrNameLst>
                                      </p:cBhvr>
                                      <p:tavLst>
                                        <p:tav tm="0">
                                          <p:val>
                                            <p:strVal val="#ppt_x"/>
                                          </p:val>
                                        </p:tav>
                                        <p:tav tm="100000">
                                          <p:val>
                                            <p:strVal val="#ppt_x"/>
                                          </p:val>
                                        </p:tav>
                                      </p:tavLst>
                                    </p:anim>
                                    <p:anim calcmode="lin" valueType="num">
                                      <p:cBhvr additive="base">
                                        <p:cTn id="111" dur="500" fill="hold"/>
                                        <p:tgtEl>
                                          <p:spTgt spid="34"/>
                                        </p:tgtEl>
                                        <p:attrNameLst>
                                          <p:attrName>ppt_y</p:attrName>
                                        </p:attrNameLst>
                                      </p:cBhvr>
                                      <p:tavLst>
                                        <p:tav tm="0">
                                          <p:val>
                                            <p:strVal val="#ppt_y+0.1"/>
                                          </p:val>
                                        </p:tav>
                                        <p:tav tm="100000">
                                          <p:val>
                                            <p:strVal val="#ppt_y"/>
                                          </p:val>
                                        </p:tav>
                                      </p:tavLst>
                                    </p:anim>
                                    <p:animEffect transition="in" filter="fade">
                                      <p:cBhvr>
                                        <p:cTn id="112" dur="500"/>
                                        <p:tgtEl>
                                          <p:spTgt spid="34"/>
                                        </p:tgtEl>
                                      </p:cBhvr>
                                    </p:animEffect>
                                  </p:childTnLst>
                                </p:cTn>
                              </p:par>
                              <p:par>
                                <p:cTn id="113" presetID="2" presetClass="entr" presetSubtype="4" fill="hold" grpId="0" nodeType="withEffect">
                                  <p:stCondLst>
                                    <p:cond delay="150"/>
                                  </p:stCondLst>
                                  <p:childTnLst>
                                    <p:set>
                                      <p:cBhvr>
                                        <p:cTn id="114" dur="1" fill="hold">
                                          <p:stCondLst>
                                            <p:cond delay="0"/>
                                          </p:stCondLst>
                                        </p:cTn>
                                        <p:tgtEl>
                                          <p:spTgt spid="35"/>
                                        </p:tgtEl>
                                        <p:attrNameLst>
                                          <p:attrName>style.visibility</p:attrName>
                                        </p:attrNameLst>
                                      </p:cBhvr>
                                      <p:to>
                                        <p:strVal val="visible"/>
                                      </p:to>
                                    </p:set>
                                    <p:anim calcmode="lin" valueType="num">
                                      <p:cBhvr additive="base">
                                        <p:cTn id="115" dur="500" fill="hold"/>
                                        <p:tgtEl>
                                          <p:spTgt spid="35"/>
                                        </p:tgtEl>
                                        <p:attrNameLst>
                                          <p:attrName>ppt_x</p:attrName>
                                        </p:attrNameLst>
                                      </p:cBhvr>
                                      <p:tavLst>
                                        <p:tav tm="0">
                                          <p:val>
                                            <p:strVal val="#ppt_x"/>
                                          </p:val>
                                        </p:tav>
                                        <p:tav tm="100000">
                                          <p:val>
                                            <p:strVal val="#ppt_x"/>
                                          </p:val>
                                        </p:tav>
                                      </p:tavLst>
                                    </p:anim>
                                    <p:anim calcmode="lin" valueType="num">
                                      <p:cBhvr additive="base">
                                        <p:cTn id="116" dur="500" fill="hold"/>
                                        <p:tgtEl>
                                          <p:spTgt spid="35"/>
                                        </p:tgtEl>
                                        <p:attrNameLst>
                                          <p:attrName>ppt_y</p:attrName>
                                        </p:attrNameLst>
                                      </p:cBhvr>
                                      <p:tavLst>
                                        <p:tav tm="0">
                                          <p:val>
                                            <p:strVal val="#ppt_y+0.1"/>
                                          </p:val>
                                        </p:tav>
                                        <p:tav tm="100000">
                                          <p:val>
                                            <p:strVal val="#ppt_y"/>
                                          </p:val>
                                        </p:tav>
                                      </p:tavLst>
                                    </p:anim>
                                    <p:animEffect transition="in" filter="fade">
                                      <p:cBhvr>
                                        <p:cTn id="117" dur="500"/>
                                        <p:tgtEl>
                                          <p:spTgt spid="35"/>
                                        </p:tgtEl>
                                      </p:cBhvr>
                                    </p:animEffect>
                                  </p:childTnLst>
                                </p:cTn>
                              </p:par>
                              <p:par>
                                <p:cTn id="118" presetID="2" presetClass="entr" presetSubtype="4" fill="hold" grpId="0" nodeType="withEffect">
                                  <p:stCondLst>
                                    <p:cond delay="150"/>
                                  </p:stCondLst>
                                  <p:childTnLst>
                                    <p:set>
                                      <p:cBhvr>
                                        <p:cTn id="119" dur="1" fill="hold">
                                          <p:stCondLst>
                                            <p:cond delay="0"/>
                                          </p:stCondLst>
                                        </p:cTn>
                                        <p:tgtEl>
                                          <p:spTgt spid="36"/>
                                        </p:tgtEl>
                                        <p:attrNameLst>
                                          <p:attrName>style.visibility</p:attrName>
                                        </p:attrNameLst>
                                      </p:cBhvr>
                                      <p:to>
                                        <p:strVal val="visible"/>
                                      </p:to>
                                    </p:set>
                                    <p:anim calcmode="lin" valueType="num">
                                      <p:cBhvr additive="base">
                                        <p:cTn id="120" dur="500" fill="hold"/>
                                        <p:tgtEl>
                                          <p:spTgt spid="36"/>
                                        </p:tgtEl>
                                        <p:attrNameLst>
                                          <p:attrName>ppt_x</p:attrName>
                                        </p:attrNameLst>
                                      </p:cBhvr>
                                      <p:tavLst>
                                        <p:tav tm="0">
                                          <p:val>
                                            <p:strVal val="#ppt_x"/>
                                          </p:val>
                                        </p:tav>
                                        <p:tav tm="100000">
                                          <p:val>
                                            <p:strVal val="#ppt_x"/>
                                          </p:val>
                                        </p:tav>
                                      </p:tavLst>
                                    </p:anim>
                                    <p:anim calcmode="lin" valueType="num">
                                      <p:cBhvr additive="base">
                                        <p:cTn id="121" dur="500" fill="hold"/>
                                        <p:tgtEl>
                                          <p:spTgt spid="36"/>
                                        </p:tgtEl>
                                        <p:attrNameLst>
                                          <p:attrName>ppt_y</p:attrName>
                                        </p:attrNameLst>
                                      </p:cBhvr>
                                      <p:tavLst>
                                        <p:tav tm="0">
                                          <p:val>
                                            <p:strVal val="#ppt_y+0.1"/>
                                          </p:val>
                                        </p:tav>
                                        <p:tav tm="100000">
                                          <p:val>
                                            <p:strVal val="#ppt_y"/>
                                          </p:val>
                                        </p:tav>
                                      </p:tavLst>
                                    </p:anim>
                                    <p:animEffect transition="in" filter="fade">
                                      <p:cBhvr>
                                        <p:cTn id="122" dur="500"/>
                                        <p:tgtEl>
                                          <p:spTgt spid="36"/>
                                        </p:tgtEl>
                                      </p:cBhvr>
                                    </p:animEffect>
                                  </p:childTnLst>
                                </p:cTn>
                              </p:par>
                              <p:par>
                                <p:cTn id="123" presetID="2" presetClass="entr" presetSubtype="4" fill="hold" grpId="0" nodeType="withEffect">
                                  <p:stCondLst>
                                    <p:cond delay="150"/>
                                  </p:stCondLst>
                                  <p:childTnLst>
                                    <p:set>
                                      <p:cBhvr>
                                        <p:cTn id="124" dur="1" fill="hold">
                                          <p:stCondLst>
                                            <p:cond delay="0"/>
                                          </p:stCondLst>
                                        </p:cTn>
                                        <p:tgtEl>
                                          <p:spTgt spid="37"/>
                                        </p:tgtEl>
                                        <p:attrNameLst>
                                          <p:attrName>style.visibility</p:attrName>
                                        </p:attrNameLst>
                                      </p:cBhvr>
                                      <p:to>
                                        <p:strVal val="visible"/>
                                      </p:to>
                                    </p:set>
                                    <p:anim calcmode="lin" valueType="num">
                                      <p:cBhvr additive="base">
                                        <p:cTn id="125" dur="500" fill="hold"/>
                                        <p:tgtEl>
                                          <p:spTgt spid="37"/>
                                        </p:tgtEl>
                                        <p:attrNameLst>
                                          <p:attrName>ppt_x</p:attrName>
                                        </p:attrNameLst>
                                      </p:cBhvr>
                                      <p:tavLst>
                                        <p:tav tm="0">
                                          <p:val>
                                            <p:strVal val="#ppt_x"/>
                                          </p:val>
                                        </p:tav>
                                        <p:tav tm="100000">
                                          <p:val>
                                            <p:strVal val="#ppt_x"/>
                                          </p:val>
                                        </p:tav>
                                      </p:tavLst>
                                    </p:anim>
                                    <p:anim calcmode="lin" valueType="num">
                                      <p:cBhvr additive="base">
                                        <p:cTn id="126" dur="500" fill="hold"/>
                                        <p:tgtEl>
                                          <p:spTgt spid="37"/>
                                        </p:tgtEl>
                                        <p:attrNameLst>
                                          <p:attrName>ppt_y</p:attrName>
                                        </p:attrNameLst>
                                      </p:cBhvr>
                                      <p:tavLst>
                                        <p:tav tm="0">
                                          <p:val>
                                            <p:strVal val="#ppt_y+0.1"/>
                                          </p:val>
                                        </p:tav>
                                        <p:tav tm="100000">
                                          <p:val>
                                            <p:strVal val="#ppt_y"/>
                                          </p:val>
                                        </p:tav>
                                      </p:tavLst>
                                    </p:anim>
                                    <p:animEffect transition="in" filter="fade">
                                      <p:cBhvr>
                                        <p:cTn id="127" dur="500"/>
                                        <p:tgtEl>
                                          <p:spTgt spid="37"/>
                                        </p:tgtEl>
                                      </p:cBhvr>
                                    </p:animEffect>
                                  </p:childTnLst>
                                </p:cTn>
                              </p:par>
                              <p:par>
                                <p:cTn id="128" presetID="2" presetClass="entr" presetSubtype="4" fill="hold" grpId="0" nodeType="withEffect">
                                  <p:stCondLst>
                                    <p:cond delay="150"/>
                                  </p:stCondLst>
                                  <p:childTnLst>
                                    <p:set>
                                      <p:cBhvr>
                                        <p:cTn id="129" dur="1" fill="hold">
                                          <p:stCondLst>
                                            <p:cond delay="0"/>
                                          </p:stCondLst>
                                        </p:cTn>
                                        <p:tgtEl>
                                          <p:spTgt spid="38"/>
                                        </p:tgtEl>
                                        <p:attrNameLst>
                                          <p:attrName>style.visibility</p:attrName>
                                        </p:attrNameLst>
                                      </p:cBhvr>
                                      <p:to>
                                        <p:strVal val="visible"/>
                                      </p:to>
                                    </p:set>
                                    <p:anim calcmode="lin" valueType="num">
                                      <p:cBhvr additive="base">
                                        <p:cTn id="130" dur="500" fill="hold"/>
                                        <p:tgtEl>
                                          <p:spTgt spid="38"/>
                                        </p:tgtEl>
                                        <p:attrNameLst>
                                          <p:attrName>ppt_x</p:attrName>
                                        </p:attrNameLst>
                                      </p:cBhvr>
                                      <p:tavLst>
                                        <p:tav tm="0">
                                          <p:val>
                                            <p:strVal val="#ppt_x"/>
                                          </p:val>
                                        </p:tav>
                                        <p:tav tm="100000">
                                          <p:val>
                                            <p:strVal val="#ppt_x"/>
                                          </p:val>
                                        </p:tav>
                                      </p:tavLst>
                                    </p:anim>
                                    <p:anim calcmode="lin" valueType="num">
                                      <p:cBhvr additive="base">
                                        <p:cTn id="131" dur="500" fill="hold"/>
                                        <p:tgtEl>
                                          <p:spTgt spid="38"/>
                                        </p:tgtEl>
                                        <p:attrNameLst>
                                          <p:attrName>ppt_y</p:attrName>
                                        </p:attrNameLst>
                                      </p:cBhvr>
                                      <p:tavLst>
                                        <p:tav tm="0">
                                          <p:val>
                                            <p:strVal val="#ppt_y+0.1"/>
                                          </p:val>
                                        </p:tav>
                                        <p:tav tm="100000">
                                          <p:val>
                                            <p:strVal val="#ppt_y"/>
                                          </p:val>
                                        </p:tav>
                                      </p:tavLst>
                                    </p:anim>
                                    <p:animEffect transition="in" filter="fade">
                                      <p:cBhvr>
                                        <p:cTn id="132" dur="500"/>
                                        <p:tgtEl>
                                          <p:spTgt spid="38"/>
                                        </p:tgtEl>
                                      </p:cBhvr>
                                    </p:animEffect>
                                  </p:childTnLst>
                                </p:cTn>
                              </p:par>
                              <p:par>
                                <p:cTn id="133" presetID="2" presetClass="entr" presetSubtype="4" fill="hold" grpId="0" nodeType="withEffect">
                                  <p:stCondLst>
                                    <p:cond delay="150"/>
                                  </p:stCondLst>
                                  <p:childTnLst>
                                    <p:set>
                                      <p:cBhvr>
                                        <p:cTn id="134" dur="1" fill="hold">
                                          <p:stCondLst>
                                            <p:cond delay="0"/>
                                          </p:stCondLst>
                                        </p:cTn>
                                        <p:tgtEl>
                                          <p:spTgt spid="39"/>
                                        </p:tgtEl>
                                        <p:attrNameLst>
                                          <p:attrName>style.visibility</p:attrName>
                                        </p:attrNameLst>
                                      </p:cBhvr>
                                      <p:to>
                                        <p:strVal val="visible"/>
                                      </p:to>
                                    </p:set>
                                    <p:anim calcmode="lin" valueType="num">
                                      <p:cBhvr additive="base">
                                        <p:cTn id="135" dur="500" fill="hold"/>
                                        <p:tgtEl>
                                          <p:spTgt spid="39"/>
                                        </p:tgtEl>
                                        <p:attrNameLst>
                                          <p:attrName>ppt_x</p:attrName>
                                        </p:attrNameLst>
                                      </p:cBhvr>
                                      <p:tavLst>
                                        <p:tav tm="0">
                                          <p:val>
                                            <p:strVal val="#ppt_x"/>
                                          </p:val>
                                        </p:tav>
                                        <p:tav tm="100000">
                                          <p:val>
                                            <p:strVal val="#ppt_x"/>
                                          </p:val>
                                        </p:tav>
                                      </p:tavLst>
                                    </p:anim>
                                    <p:anim calcmode="lin" valueType="num">
                                      <p:cBhvr additive="base">
                                        <p:cTn id="136" dur="500" fill="hold"/>
                                        <p:tgtEl>
                                          <p:spTgt spid="39"/>
                                        </p:tgtEl>
                                        <p:attrNameLst>
                                          <p:attrName>ppt_y</p:attrName>
                                        </p:attrNameLst>
                                      </p:cBhvr>
                                      <p:tavLst>
                                        <p:tav tm="0">
                                          <p:val>
                                            <p:strVal val="#ppt_y+0.1"/>
                                          </p:val>
                                        </p:tav>
                                        <p:tav tm="100000">
                                          <p:val>
                                            <p:strVal val="#ppt_y"/>
                                          </p:val>
                                        </p:tav>
                                      </p:tavLst>
                                    </p:anim>
                                    <p:animEffect transition="in" filter="fade">
                                      <p:cBhvr>
                                        <p:cTn id="137" dur="500"/>
                                        <p:tgtEl>
                                          <p:spTgt spid="39"/>
                                        </p:tgtEl>
                                      </p:cBhvr>
                                    </p:animEffect>
                                  </p:childTnLst>
                                </p:cTn>
                              </p:par>
                              <p:par>
                                <p:cTn id="138" presetID="2" presetClass="entr" presetSubtype="4" fill="hold" grpId="0" nodeType="withEffect">
                                  <p:stCondLst>
                                    <p:cond delay="300"/>
                                  </p:stCondLst>
                                  <p:childTnLst>
                                    <p:set>
                                      <p:cBhvr>
                                        <p:cTn id="139" dur="1" fill="hold">
                                          <p:stCondLst>
                                            <p:cond delay="0"/>
                                          </p:stCondLst>
                                        </p:cTn>
                                        <p:tgtEl>
                                          <p:spTgt spid="40"/>
                                        </p:tgtEl>
                                        <p:attrNameLst>
                                          <p:attrName>style.visibility</p:attrName>
                                        </p:attrNameLst>
                                      </p:cBhvr>
                                      <p:to>
                                        <p:strVal val="visible"/>
                                      </p:to>
                                    </p:set>
                                    <p:anim calcmode="lin" valueType="num">
                                      <p:cBhvr additive="base">
                                        <p:cTn id="140" dur="500" fill="hold"/>
                                        <p:tgtEl>
                                          <p:spTgt spid="40"/>
                                        </p:tgtEl>
                                        <p:attrNameLst>
                                          <p:attrName>ppt_x</p:attrName>
                                        </p:attrNameLst>
                                      </p:cBhvr>
                                      <p:tavLst>
                                        <p:tav tm="0">
                                          <p:val>
                                            <p:strVal val="#ppt_x"/>
                                          </p:val>
                                        </p:tav>
                                        <p:tav tm="100000">
                                          <p:val>
                                            <p:strVal val="#ppt_x"/>
                                          </p:val>
                                        </p:tav>
                                      </p:tavLst>
                                    </p:anim>
                                    <p:anim calcmode="lin" valueType="num">
                                      <p:cBhvr additive="base">
                                        <p:cTn id="141" dur="500" fill="hold"/>
                                        <p:tgtEl>
                                          <p:spTgt spid="40"/>
                                        </p:tgtEl>
                                        <p:attrNameLst>
                                          <p:attrName>ppt_y</p:attrName>
                                        </p:attrNameLst>
                                      </p:cBhvr>
                                      <p:tavLst>
                                        <p:tav tm="0">
                                          <p:val>
                                            <p:strVal val="#ppt_y+0.1"/>
                                          </p:val>
                                        </p:tav>
                                        <p:tav tm="100000">
                                          <p:val>
                                            <p:strVal val="#ppt_y"/>
                                          </p:val>
                                        </p:tav>
                                      </p:tavLst>
                                    </p:anim>
                                    <p:animEffect transition="in" filter="fade">
                                      <p:cBhvr>
                                        <p:cTn id="142" dur="500"/>
                                        <p:tgtEl>
                                          <p:spTgt spid="40"/>
                                        </p:tgtEl>
                                      </p:cBhvr>
                                    </p:animEffect>
                                  </p:childTnLst>
                                </p:cTn>
                              </p:par>
                              <p:par>
                                <p:cTn id="143" presetID="2" presetClass="entr" presetSubtype="4" fill="hold" grpId="0" nodeType="withEffect">
                                  <p:stCondLst>
                                    <p:cond delay="300"/>
                                  </p:stCondLst>
                                  <p:childTnLst>
                                    <p:set>
                                      <p:cBhvr>
                                        <p:cTn id="144" dur="1" fill="hold">
                                          <p:stCondLst>
                                            <p:cond delay="0"/>
                                          </p:stCondLst>
                                        </p:cTn>
                                        <p:tgtEl>
                                          <p:spTgt spid="41"/>
                                        </p:tgtEl>
                                        <p:attrNameLst>
                                          <p:attrName>style.visibility</p:attrName>
                                        </p:attrNameLst>
                                      </p:cBhvr>
                                      <p:to>
                                        <p:strVal val="visible"/>
                                      </p:to>
                                    </p:set>
                                    <p:anim calcmode="lin" valueType="num">
                                      <p:cBhvr additive="base">
                                        <p:cTn id="145" dur="500" fill="hold"/>
                                        <p:tgtEl>
                                          <p:spTgt spid="41"/>
                                        </p:tgtEl>
                                        <p:attrNameLst>
                                          <p:attrName>ppt_x</p:attrName>
                                        </p:attrNameLst>
                                      </p:cBhvr>
                                      <p:tavLst>
                                        <p:tav tm="0">
                                          <p:val>
                                            <p:strVal val="#ppt_x"/>
                                          </p:val>
                                        </p:tav>
                                        <p:tav tm="100000">
                                          <p:val>
                                            <p:strVal val="#ppt_x"/>
                                          </p:val>
                                        </p:tav>
                                      </p:tavLst>
                                    </p:anim>
                                    <p:anim calcmode="lin" valueType="num">
                                      <p:cBhvr additive="base">
                                        <p:cTn id="146" dur="500" fill="hold"/>
                                        <p:tgtEl>
                                          <p:spTgt spid="41"/>
                                        </p:tgtEl>
                                        <p:attrNameLst>
                                          <p:attrName>ppt_y</p:attrName>
                                        </p:attrNameLst>
                                      </p:cBhvr>
                                      <p:tavLst>
                                        <p:tav tm="0">
                                          <p:val>
                                            <p:strVal val="#ppt_y+0.1"/>
                                          </p:val>
                                        </p:tav>
                                        <p:tav tm="100000">
                                          <p:val>
                                            <p:strVal val="#ppt_y"/>
                                          </p:val>
                                        </p:tav>
                                      </p:tavLst>
                                    </p:anim>
                                    <p:animEffect transition="in" filter="fade">
                                      <p:cBhvr>
                                        <p:cTn id="147" dur="500"/>
                                        <p:tgtEl>
                                          <p:spTgt spid="41"/>
                                        </p:tgtEl>
                                      </p:cBhvr>
                                    </p:animEffect>
                                  </p:childTnLst>
                                </p:cTn>
                              </p:par>
                              <p:par>
                                <p:cTn id="148" presetID="2" presetClass="entr" presetSubtype="4" fill="hold" grpId="0" nodeType="withEffect">
                                  <p:stCondLst>
                                    <p:cond delay="300"/>
                                  </p:stCondLst>
                                  <p:childTnLst>
                                    <p:set>
                                      <p:cBhvr>
                                        <p:cTn id="149" dur="1" fill="hold">
                                          <p:stCondLst>
                                            <p:cond delay="0"/>
                                          </p:stCondLst>
                                        </p:cTn>
                                        <p:tgtEl>
                                          <p:spTgt spid="42"/>
                                        </p:tgtEl>
                                        <p:attrNameLst>
                                          <p:attrName>style.visibility</p:attrName>
                                        </p:attrNameLst>
                                      </p:cBhvr>
                                      <p:to>
                                        <p:strVal val="visible"/>
                                      </p:to>
                                    </p:set>
                                    <p:anim calcmode="lin" valueType="num">
                                      <p:cBhvr additive="base">
                                        <p:cTn id="150" dur="500" fill="hold"/>
                                        <p:tgtEl>
                                          <p:spTgt spid="42"/>
                                        </p:tgtEl>
                                        <p:attrNameLst>
                                          <p:attrName>ppt_x</p:attrName>
                                        </p:attrNameLst>
                                      </p:cBhvr>
                                      <p:tavLst>
                                        <p:tav tm="0">
                                          <p:val>
                                            <p:strVal val="#ppt_x"/>
                                          </p:val>
                                        </p:tav>
                                        <p:tav tm="100000">
                                          <p:val>
                                            <p:strVal val="#ppt_x"/>
                                          </p:val>
                                        </p:tav>
                                      </p:tavLst>
                                    </p:anim>
                                    <p:anim calcmode="lin" valueType="num">
                                      <p:cBhvr additive="base">
                                        <p:cTn id="151" dur="500" fill="hold"/>
                                        <p:tgtEl>
                                          <p:spTgt spid="42"/>
                                        </p:tgtEl>
                                        <p:attrNameLst>
                                          <p:attrName>ppt_y</p:attrName>
                                        </p:attrNameLst>
                                      </p:cBhvr>
                                      <p:tavLst>
                                        <p:tav tm="0">
                                          <p:val>
                                            <p:strVal val="#ppt_y+0.1"/>
                                          </p:val>
                                        </p:tav>
                                        <p:tav tm="100000">
                                          <p:val>
                                            <p:strVal val="#ppt_y"/>
                                          </p:val>
                                        </p:tav>
                                      </p:tavLst>
                                    </p:anim>
                                    <p:animEffect transition="in" filter="fade">
                                      <p:cBhvr>
                                        <p:cTn id="152" dur="500"/>
                                        <p:tgtEl>
                                          <p:spTgt spid="42"/>
                                        </p:tgtEl>
                                      </p:cBhvr>
                                    </p:animEffect>
                                  </p:childTnLst>
                                </p:cTn>
                              </p:par>
                              <p:par>
                                <p:cTn id="153" presetID="2" presetClass="entr" presetSubtype="4" fill="hold" grpId="0" nodeType="withEffect">
                                  <p:stCondLst>
                                    <p:cond delay="300"/>
                                  </p:stCondLst>
                                  <p:childTnLst>
                                    <p:set>
                                      <p:cBhvr>
                                        <p:cTn id="154" dur="1" fill="hold">
                                          <p:stCondLst>
                                            <p:cond delay="0"/>
                                          </p:stCondLst>
                                        </p:cTn>
                                        <p:tgtEl>
                                          <p:spTgt spid="43"/>
                                        </p:tgtEl>
                                        <p:attrNameLst>
                                          <p:attrName>style.visibility</p:attrName>
                                        </p:attrNameLst>
                                      </p:cBhvr>
                                      <p:to>
                                        <p:strVal val="visible"/>
                                      </p:to>
                                    </p:set>
                                    <p:anim calcmode="lin" valueType="num">
                                      <p:cBhvr additive="base">
                                        <p:cTn id="155" dur="500" fill="hold"/>
                                        <p:tgtEl>
                                          <p:spTgt spid="43"/>
                                        </p:tgtEl>
                                        <p:attrNameLst>
                                          <p:attrName>ppt_x</p:attrName>
                                        </p:attrNameLst>
                                      </p:cBhvr>
                                      <p:tavLst>
                                        <p:tav tm="0">
                                          <p:val>
                                            <p:strVal val="#ppt_x"/>
                                          </p:val>
                                        </p:tav>
                                        <p:tav tm="100000">
                                          <p:val>
                                            <p:strVal val="#ppt_x"/>
                                          </p:val>
                                        </p:tav>
                                      </p:tavLst>
                                    </p:anim>
                                    <p:anim calcmode="lin" valueType="num">
                                      <p:cBhvr additive="base">
                                        <p:cTn id="156" dur="500" fill="hold"/>
                                        <p:tgtEl>
                                          <p:spTgt spid="43"/>
                                        </p:tgtEl>
                                        <p:attrNameLst>
                                          <p:attrName>ppt_y</p:attrName>
                                        </p:attrNameLst>
                                      </p:cBhvr>
                                      <p:tavLst>
                                        <p:tav tm="0">
                                          <p:val>
                                            <p:strVal val="#ppt_y+0.1"/>
                                          </p:val>
                                        </p:tav>
                                        <p:tav tm="100000">
                                          <p:val>
                                            <p:strVal val="#ppt_y"/>
                                          </p:val>
                                        </p:tav>
                                      </p:tavLst>
                                    </p:anim>
                                    <p:animEffect transition="in" filter="fade">
                                      <p:cBhvr>
                                        <p:cTn id="157" dur="500"/>
                                        <p:tgtEl>
                                          <p:spTgt spid="43"/>
                                        </p:tgtEl>
                                      </p:cBhvr>
                                    </p:animEffect>
                                  </p:childTnLst>
                                </p:cTn>
                              </p:par>
                              <p:par>
                                <p:cTn id="158" presetID="2" presetClass="entr" presetSubtype="4" fill="hold" grpId="0" nodeType="withEffect">
                                  <p:stCondLst>
                                    <p:cond delay="300"/>
                                  </p:stCondLst>
                                  <p:childTnLst>
                                    <p:set>
                                      <p:cBhvr>
                                        <p:cTn id="159" dur="1" fill="hold">
                                          <p:stCondLst>
                                            <p:cond delay="0"/>
                                          </p:stCondLst>
                                        </p:cTn>
                                        <p:tgtEl>
                                          <p:spTgt spid="44"/>
                                        </p:tgtEl>
                                        <p:attrNameLst>
                                          <p:attrName>style.visibility</p:attrName>
                                        </p:attrNameLst>
                                      </p:cBhvr>
                                      <p:to>
                                        <p:strVal val="visible"/>
                                      </p:to>
                                    </p:set>
                                    <p:anim calcmode="lin" valueType="num">
                                      <p:cBhvr additive="base">
                                        <p:cTn id="160" dur="500" fill="hold"/>
                                        <p:tgtEl>
                                          <p:spTgt spid="44"/>
                                        </p:tgtEl>
                                        <p:attrNameLst>
                                          <p:attrName>ppt_x</p:attrName>
                                        </p:attrNameLst>
                                      </p:cBhvr>
                                      <p:tavLst>
                                        <p:tav tm="0">
                                          <p:val>
                                            <p:strVal val="#ppt_x"/>
                                          </p:val>
                                        </p:tav>
                                        <p:tav tm="100000">
                                          <p:val>
                                            <p:strVal val="#ppt_x"/>
                                          </p:val>
                                        </p:tav>
                                      </p:tavLst>
                                    </p:anim>
                                    <p:anim calcmode="lin" valueType="num">
                                      <p:cBhvr additive="base">
                                        <p:cTn id="161" dur="500" fill="hold"/>
                                        <p:tgtEl>
                                          <p:spTgt spid="44"/>
                                        </p:tgtEl>
                                        <p:attrNameLst>
                                          <p:attrName>ppt_y</p:attrName>
                                        </p:attrNameLst>
                                      </p:cBhvr>
                                      <p:tavLst>
                                        <p:tav tm="0">
                                          <p:val>
                                            <p:strVal val="#ppt_y+0.1"/>
                                          </p:val>
                                        </p:tav>
                                        <p:tav tm="100000">
                                          <p:val>
                                            <p:strVal val="#ppt_y"/>
                                          </p:val>
                                        </p:tav>
                                      </p:tavLst>
                                    </p:anim>
                                    <p:animEffect transition="in" filter="fade">
                                      <p:cBhvr>
                                        <p:cTn id="162" dur="500"/>
                                        <p:tgtEl>
                                          <p:spTgt spid="44"/>
                                        </p:tgtEl>
                                      </p:cBhvr>
                                    </p:animEffect>
                                  </p:childTnLst>
                                </p:cTn>
                              </p:par>
                              <p:par>
                                <p:cTn id="163" presetID="2" presetClass="entr" presetSubtype="4" fill="hold" grpId="0" nodeType="withEffect">
                                  <p:stCondLst>
                                    <p:cond delay="300"/>
                                  </p:stCondLst>
                                  <p:childTnLst>
                                    <p:set>
                                      <p:cBhvr>
                                        <p:cTn id="164" dur="1" fill="hold">
                                          <p:stCondLst>
                                            <p:cond delay="0"/>
                                          </p:stCondLst>
                                        </p:cTn>
                                        <p:tgtEl>
                                          <p:spTgt spid="45"/>
                                        </p:tgtEl>
                                        <p:attrNameLst>
                                          <p:attrName>style.visibility</p:attrName>
                                        </p:attrNameLst>
                                      </p:cBhvr>
                                      <p:to>
                                        <p:strVal val="visible"/>
                                      </p:to>
                                    </p:set>
                                    <p:anim calcmode="lin" valueType="num">
                                      <p:cBhvr additive="base">
                                        <p:cTn id="165" dur="500" fill="hold"/>
                                        <p:tgtEl>
                                          <p:spTgt spid="45"/>
                                        </p:tgtEl>
                                        <p:attrNameLst>
                                          <p:attrName>ppt_x</p:attrName>
                                        </p:attrNameLst>
                                      </p:cBhvr>
                                      <p:tavLst>
                                        <p:tav tm="0">
                                          <p:val>
                                            <p:strVal val="#ppt_x"/>
                                          </p:val>
                                        </p:tav>
                                        <p:tav tm="100000">
                                          <p:val>
                                            <p:strVal val="#ppt_x"/>
                                          </p:val>
                                        </p:tav>
                                      </p:tavLst>
                                    </p:anim>
                                    <p:anim calcmode="lin" valueType="num">
                                      <p:cBhvr additive="base">
                                        <p:cTn id="166" dur="500" fill="hold"/>
                                        <p:tgtEl>
                                          <p:spTgt spid="45"/>
                                        </p:tgtEl>
                                        <p:attrNameLst>
                                          <p:attrName>ppt_y</p:attrName>
                                        </p:attrNameLst>
                                      </p:cBhvr>
                                      <p:tavLst>
                                        <p:tav tm="0">
                                          <p:val>
                                            <p:strVal val="#ppt_y+0.1"/>
                                          </p:val>
                                        </p:tav>
                                        <p:tav tm="100000">
                                          <p:val>
                                            <p:strVal val="#ppt_y"/>
                                          </p:val>
                                        </p:tav>
                                      </p:tavLst>
                                    </p:anim>
                                    <p:animEffect transition="in" filter="fade">
                                      <p:cBhvr>
                                        <p:cTn id="167" dur="500"/>
                                        <p:tgtEl>
                                          <p:spTgt spid="45"/>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fade">
                                      <p:cBhvr>
                                        <p:cTn id="172" dur="500"/>
                                        <p:tgtEl>
                                          <p:spTgt spid="46"/>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47"/>
                                        </p:tgtEl>
                                        <p:attrNameLst>
                                          <p:attrName>style.visibility</p:attrName>
                                        </p:attrNameLst>
                                      </p:cBhvr>
                                      <p:to>
                                        <p:strVal val="visible"/>
                                      </p:to>
                                    </p:set>
                                    <p:animEffect transition="in" filter="fade">
                                      <p:cBhvr>
                                        <p:cTn id="175" dur="500"/>
                                        <p:tgtEl>
                                          <p:spTgt spid="47"/>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48"/>
                                        </p:tgtEl>
                                        <p:attrNameLst>
                                          <p:attrName>style.visibility</p:attrName>
                                        </p:attrNameLst>
                                      </p:cBhvr>
                                      <p:to>
                                        <p:strVal val="visible"/>
                                      </p:to>
                                    </p:set>
                                    <p:animEffect transition="in" filter="fade">
                                      <p:cBhvr>
                                        <p:cTn id="178" dur="500"/>
                                        <p:tgtEl>
                                          <p:spTgt spid="48"/>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57"/>
                                        </p:tgtEl>
                                        <p:attrNameLst>
                                          <p:attrName>style.visibility</p:attrName>
                                        </p:attrNameLst>
                                      </p:cBhvr>
                                      <p:to>
                                        <p:strVal val="visible"/>
                                      </p:to>
                                    </p:set>
                                    <p:animEffect transition="in" filter="fade">
                                      <p:cBhvr>
                                        <p:cTn id="181" dur="500"/>
                                        <p:tgtEl>
                                          <p:spTgt spid="5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58"/>
                                        </p:tgtEl>
                                        <p:attrNameLst>
                                          <p:attrName>style.visibility</p:attrName>
                                        </p:attrNameLst>
                                      </p:cBhvr>
                                      <p:to>
                                        <p:strVal val="visible"/>
                                      </p:to>
                                    </p:set>
                                    <p:animEffect transition="in" filter="fade">
                                      <p:cBhvr>
                                        <p:cTn id="184" dur="500"/>
                                        <p:tgtEl>
                                          <p:spTgt spid="58"/>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67"/>
                                        </p:tgtEl>
                                        <p:attrNameLst>
                                          <p:attrName>style.visibility</p:attrName>
                                        </p:attrNameLst>
                                      </p:cBhvr>
                                      <p:to>
                                        <p:strVal val="visible"/>
                                      </p:to>
                                    </p:set>
                                    <p:animEffect transition="in" filter="fade">
                                      <p:cBhvr>
                                        <p:cTn id="187" dur="500"/>
                                        <p:tgtEl>
                                          <p:spTgt spid="67"/>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8"/>
                                        </p:tgtEl>
                                        <p:attrNameLst>
                                          <p:attrName>style.visibility</p:attrName>
                                        </p:attrNameLst>
                                      </p:cBhvr>
                                      <p:to>
                                        <p:strVal val="visible"/>
                                      </p:to>
                                    </p:set>
                                    <p:animEffect transition="in" filter="fade">
                                      <p:cBhvr>
                                        <p:cTn id="190" dur="500"/>
                                        <p:tgtEl>
                                          <p:spTgt spid="68"/>
                                        </p:tgtEl>
                                      </p:cBhvr>
                                    </p:animEffect>
                                  </p:childTnLst>
                                </p:cTn>
                              </p:par>
                              <p:par>
                                <p:cTn id="191" presetID="22" presetClass="entr" presetSubtype="8" fill="hold" grpId="0" nodeType="withEffect">
                                  <p:stCondLst>
                                    <p:cond delay="110"/>
                                  </p:stCondLst>
                                  <p:childTnLst>
                                    <p:set>
                                      <p:cBhvr>
                                        <p:cTn id="192" dur="1" fill="hold">
                                          <p:stCondLst>
                                            <p:cond delay="0"/>
                                          </p:stCondLst>
                                        </p:cTn>
                                        <p:tgtEl>
                                          <p:spTgt spid="49"/>
                                        </p:tgtEl>
                                        <p:attrNameLst>
                                          <p:attrName>style.visibility</p:attrName>
                                        </p:attrNameLst>
                                      </p:cBhvr>
                                      <p:to>
                                        <p:strVal val="visible"/>
                                      </p:to>
                                    </p:set>
                                    <p:animEffect transition="in" filter="wipe(left)">
                                      <p:cBhvr>
                                        <p:cTn id="193" dur="500"/>
                                        <p:tgtEl>
                                          <p:spTgt spid="49"/>
                                        </p:tgtEl>
                                      </p:cBhvr>
                                    </p:animEffect>
                                  </p:childTnLst>
                                </p:cTn>
                              </p:par>
                              <p:par>
                                <p:cTn id="194" presetID="22" presetClass="entr" presetSubtype="8" fill="hold" grpId="0" nodeType="withEffect">
                                  <p:stCondLst>
                                    <p:cond delay="110"/>
                                  </p:stCondLst>
                                  <p:childTnLst>
                                    <p:set>
                                      <p:cBhvr>
                                        <p:cTn id="195" dur="1" fill="hold">
                                          <p:stCondLst>
                                            <p:cond delay="0"/>
                                          </p:stCondLst>
                                        </p:cTn>
                                        <p:tgtEl>
                                          <p:spTgt spid="50"/>
                                        </p:tgtEl>
                                        <p:attrNameLst>
                                          <p:attrName>style.visibility</p:attrName>
                                        </p:attrNameLst>
                                      </p:cBhvr>
                                      <p:to>
                                        <p:strVal val="visible"/>
                                      </p:to>
                                    </p:set>
                                    <p:animEffect transition="in" filter="wipe(left)">
                                      <p:cBhvr>
                                        <p:cTn id="196" dur="500"/>
                                        <p:tgtEl>
                                          <p:spTgt spid="50"/>
                                        </p:tgtEl>
                                      </p:cBhvr>
                                    </p:animEffect>
                                  </p:childTnLst>
                                </p:cTn>
                              </p:par>
                              <p:par>
                                <p:cTn id="197" presetID="22" presetClass="entr" presetSubtype="8" fill="hold" grpId="0" nodeType="withEffect">
                                  <p:stCondLst>
                                    <p:cond delay="110"/>
                                  </p:stCondLst>
                                  <p:childTnLst>
                                    <p:set>
                                      <p:cBhvr>
                                        <p:cTn id="198" dur="1" fill="hold">
                                          <p:stCondLst>
                                            <p:cond delay="0"/>
                                          </p:stCondLst>
                                        </p:cTn>
                                        <p:tgtEl>
                                          <p:spTgt spid="59"/>
                                        </p:tgtEl>
                                        <p:attrNameLst>
                                          <p:attrName>style.visibility</p:attrName>
                                        </p:attrNameLst>
                                      </p:cBhvr>
                                      <p:to>
                                        <p:strVal val="visible"/>
                                      </p:to>
                                    </p:set>
                                    <p:animEffect transition="in" filter="wipe(left)">
                                      <p:cBhvr>
                                        <p:cTn id="199" dur="500"/>
                                        <p:tgtEl>
                                          <p:spTgt spid="59"/>
                                        </p:tgtEl>
                                      </p:cBhvr>
                                    </p:animEffect>
                                  </p:childTnLst>
                                </p:cTn>
                              </p:par>
                              <p:par>
                                <p:cTn id="200" presetID="22" presetClass="entr" presetSubtype="8" fill="hold" grpId="0" nodeType="withEffect">
                                  <p:stCondLst>
                                    <p:cond delay="110"/>
                                  </p:stCondLst>
                                  <p:childTnLst>
                                    <p:set>
                                      <p:cBhvr>
                                        <p:cTn id="201" dur="1" fill="hold">
                                          <p:stCondLst>
                                            <p:cond delay="0"/>
                                          </p:stCondLst>
                                        </p:cTn>
                                        <p:tgtEl>
                                          <p:spTgt spid="60"/>
                                        </p:tgtEl>
                                        <p:attrNameLst>
                                          <p:attrName>style.visibility</p:attrName>
                                        </p:attrNameLst>
                                      </p:cBhvr>
                                      <p:to>
                                        <p:strVal val="visible"/>
                                      </p:to>
                                    </p:set>
                                    <p:animEffect transition="in" filter="wipe(left)">
                                      <p:cBhvr>
                                        <p:cTn id="202" dur="500"/>
                                        <p:tgtEl>
                                          <p:spTgt spid="60"/>
                                        </p:tgtEl>
                                      </p:cBhvr>
                                    </p:animEffect>
                                  </p:childTnLst>
                                </p:cTn>
                              </p:par>
                              <p:par>
                                <p:cTn id="203" presetID="22" presetClass="entr" presetSubtype="8" fill="hold" grpId="0" nodeType="withEffect">
                                  <p:stCondLst>
                                    <p:cond delay="110"/>
                                  </p:stCondLst>
                                  <p:childTnLst>
                                    <p:set>
                                      <p:cBhvr>
                                        <p:cTn id="204" dur="1" fill="hold">
                                          <p:stCondLst>
                                            <p:cond delay="0"/>
                                          </p:stCondLst>
                                        </p:cTn>
                                        <p:tgtEl>
                                          <p:spTgt spid="69"/>
                                        </p:tgtEl>
                                        <p:attrNameLst>
                                          <p:attrName>style.visibility</p:attrName>
                                        </p:attrNameLst>
                                      </p:cBhvr>
                                      <p:to>
                                        <p:strVal val="visible"/>
                                      </p:to>
                                    </p:set>
                                    <p:animEffect transition="in" filter="wipe(left)">
                                      <p:cBhvr>
                                        <p:cTn id="205" dur="500"/>
                                        <p:tgtEl>
                                          <p:spTgt spid="69"/>
                                        </p:tgtEl>
                                      </p:cBhvr>
                                    </p:animEffect>
                                  </p:childTnLst>
                                </p:cTn>
                              </p:par>
                              <p:par>
                                <p:cTn id="206" presetID="22" presetClass="entr" presetSubtype="8" fill="hold" grpId="0" nodeType="withEffect">
                                  <p:stCondLst>
                                    <p:cond delay="110"/>
                                  </p:stCondLst>
                                  <p:childTnLst>
                                    <p:set>
                                      <p:cBhvr>
                                        <p:cTn id="207" dur="1" fill="hold">
                                          <p:stCondLst>
                                            <p:cond delay="0"/>
                                          </p:stCondLst>
                                        </p:cTn>
                                        <p:tgtEl>
                                          <p:spTgt spid="70"/>
                                        </p:tgtEl>
                                        <p:attrNameLst>
                                          <p:attrName>style.visibility</p:attrName>
                                        </p:attrNameLst>
                                      </p:cBhvr>
                                      <p:to>
                                        <p:strVal val="visible"/>
                                      </p:to>
                                    </p:set>
                                    <p:animEffect transition="in" filter="wipe(left)">
                                      <p:cBhvr>
                                        <p:cTn id="208" dur="500"/>
                                        <p:tgtEl>
                                          <p:spTgt spid="70"/>
                                        </p:tgtEl>
                                      </p:cBhvr>
                                    </p:animEffect>
                                  </p:childTnLst>
                                </p:cTn>
                              </p:par>
                              <p:par>
                                <p:cTn id="209" presetID="22" presetClass="entr" presetSubtype="8" fill="hold" grpId="0" nodeType="withEffect">
                                  <p:stCondLst>
                                    <p:cond delay="220"/>
                                  </p:stCondLst>
                                  <p:childTnLst>
                                    <p:set>
                                      <p:cBhvr>
                                        <p:cTn id="210" dur="1" fill="hold">
                                          <p:stCondLst>
                                            <p:cond delay="0"/>
                                          </p:stCondLst>
                                        </p:cTn>
                                        <p:tgtEl>
                                          <p:spTgt spid="51"/>
                                        </p:tgtEl>
                                        <p:attrNameLst>
                                          <p:attrName>style.visibility</p:attrName>
                                        </p:attrNameLst>
                                      </p:cBhvr>
                                      <p:to>
                                        <p:strVal val="visible"/>
                                      </p:to>
                                    </p:set>
                                    <p:animEffect transition="in" filter="wipe(left)">
                                      <p:cBhvr>
                                        <p:cTn id="211" dur="500"/>
                                        <p:tgtEl>
                                          <p:spTgt spid="51"/>
                                        </p:tgtEl>
                                      </p:cBhvr>
                                    </p:animEffect>
                                  </p:childTnLst>
                                </p:cTn>
                              </p:par>
                              <p:par>
                                <p:cTn id="212" presetID="22" presetClass="entr" presetSubtype="8" fill="hold" grpId="0" nodeType="withEffect">
                                  <p:stCondLst>
                                    <p:cond delay="220"/>
                                  </p:stCondLst>
                                  <p:childTnLst>
                                    <p:set>
                                      <p:cBhvr>
                                        <p:cTn id="213" dur="1" fill="hold">
                                          <p:stCondLst>
                                            <p:cond delay="0"/>
                                          </p:stCondLst>
                                        </p:cTn>
                                        <p:tgtEl>
                                          <p:spTgt spid="52"/>
                                        </p:tgtEl>
                                        <p:attrNameLst>
                                          <p:attrName>style.visibility</p:attrName>
                                        </p:attrNameLst>
                                      </p:cBhvr>
                                      <p:to>
                                        <p:strVal val="visible"/>
                                      </p:to>
                                    </p:set>
                                    <p:animEffect transition="in" filter="wipe(left)">
                                      <p:cBhvr>
                                        <p:cTn id="214" dur="500"/>
                                        <p:tgtEl>
                                          <p:spTgt spid="52"/>
                                        </p:tgtEl>
                                      </p:cBhvr>
                                    </p:animEffect>
                                  </p:childTnLst>
                                </p:cTn>
                              </p:par>
                              <p:par>
                                <p:cTn id="215" presetID="22" presetClass="entr" presetSubtype="8" fill="hold" grpId="0" nodeType="withEffect">
                                  <p:stCondLst>
                                    <p:cond delay="220"/>
                                  </p:stCondLst>
                                  <p:childTnLst>
                                    <p:set>
                                      <p:cBhvr>
                                        <p:cTn id="216" dur="1" fill="hold">
                                          <p:stCondLst>
                                            <p:cond delay="0"/>
                                          </p:stCondLst>
                                        </p:cTn>
                                        <p:tgtEl>
                                          <p:spTgt spid="61"/>
                                        </p:tgtEl>
                                        <p:attrNameLst>
                                          <p:attrName>style.visibility</p:attrName>
                                        </p:attrNameLst>
                                      </p:cBhvr>
                                      <p:to>
                                        <p:strVal val="visible"/>
                                      </p:to>
                                    </p:set>
                                    <p:animEffect transition="in" filter="wipe(left)">
                                      <p:cBhvr>
                                        <p:cTn id="217" dur="500"/>
                                        <p:tgtEl>
                                          <p:spTgt spid="61"/>
                                        </p:tgtEl>
                                      </p:cBhvr>
                                    </p:animEffect>
                                  </p:childTnLst>
                                </p:cTn>
                              </p:par>
                              <p:par>
                                <p:cTn id="218" presetID="22" presetClass="entr" presetSubtype="8" fill="hold" grpId="0" nodeType="withEffect">
                                  <p:stCondLst>
                                    <p:cond delay="220"/>
                                  </p:stCondLst>
                                  <p:childTnLst>
                                    <p:set>
                                      <p:cBhvr>
                                        <p:cTn id="219" dur="1" fill="hold">
                                          <p:stCondLst>
                                            <p:cond delay="0"/>
                                          </p:stCondLst>
                                        </p:cTn>
                                        <p:tgtEl>
                                          <p:spTgt spid="62"/>
                                        </p:tgtEl>
                                        <p:attrNameLst>
                                          <p:attrName>style.visibility</p:attrName>
                                        </p:attrNameLst>
                                      </p:cBhvr>
                                      <p:to>
                                        <p:strVal val="visible"/>
                                      </p:to>
                                    </p:set>
                                    <p:animEffect transition="in" filter="wipe(left)">
                                      <p:cBhvr>
                                        <p:cTn id="220" dur="500"/>
                                        <p:tgtEl>
                                          <p:spTgt spid="62"/>
                                        </p:tgtEl>
                                      </p:cBhvr>
                                    </p:animEffect>
                                  </p:childTnLst>
                                </p:cTn>
                              </p:par>
                              <p:par>
                                <p:cTn id="221" presetID="22" presetClass="entr" presetSubtype="8" fill="hold" grpId="0" nodeType="withEffect">
                                  <p:stCondLst>
                                    <p:cond delay="220"/>
                                  </p:stCondLst>
                                  <p:childTnLst>
                                    <p:set>
                                      <p:cBhvr>
                                        <p:cTn id="222" dur="1" fill="hold">
                                          <p:stCondLst>
                                            <p:cond delay="0"/>
                                          </p:stCondLst>
                                        </p:cTn>
                                        <p:tgtEl>
                                          <p:spTgt spid="71"/>
                                        </p:tgtEl>
                                        <p:attrNameLst>
                                          <p:attrName>style.visibility</p:attrName>
                                        </p:attrNameLst>
                                      </p:cBhvr>
                                      <p:to>
                                        <p:strVal val="visible"/>
                                      </p:to>
                                    </p:set>
                                    <p:animEffect transition="in" filter="wipe(left)">
                                      <p:cBhvr>
                                        <p:cTn id="223" dur="500"/>
                                        <p:tgtEl>
                                          <p:spTgt spid="71"/>
                                        </p:tgtEl>
                                      </p:cBhvr>
                                    </p:animEffect>
                                  </p:childTnLst>
                                </p:cTn>
                              </p:par>
                              <p:par>
                                <p:cTn id="224" presetID="22" presetClass="entr" presetSubtype="8" fill="hold" grpId="0" nodeType="withEffect">
                                  <p:stCondLst>
                                    <p:cond delay="220"/>
                                  </p:stCondLst>
                                  <p:childTnLst>
                                    <p:set>
                                      <p:cBhvr>
                                        <p:cTn id="225" dur="1" fill="hold">
                                          <p:stCondLst>
                                            <p:cond delay="0"/>
                                          </p:stCondLst>
                                        </p:cTn>
                                        <p:tgtEl>
                                          <p:spTgt spid="72"/>
                                        </p:tgtEl>
                                        <p:attrNameLst>
                                          <p:attrName>style.visibility</p:attrName>
                                        </p:attrNameLst>
                                      </p:cBhvr>
                                      <p:to>
                                        <p:strVal val="visible"/>
                                      </p:to>
                                    </p:set>
                                    <p:animEffect transition="in" filter="wipe(left)">
                                      <p:cBhvr>
                                        <p:cTn id="226" dur="500"/>
                                        <p:tgtEl>
                                          <p:spTgt spid="72"/>
                                        </p:tgtEl>
                                      </p:cBhvr>
                                    </p:animEffect>
                                  </p:childTnLst>
                                </p:cTn>
                              </p:par>
                              <p:par>
                                <p:cTn id="227" presetID="22" presetClass="entr" presetSubtype="8" fill="hold" grpId="0" nodeType="withEffect">
                                  <p:stCondLst>
                                    <p:cond delay="330"/>
                                  </p:stCondLst>
                                  <p:childTnLst>
                                    <p:set>
                                      <p:cBhvr>
                                        <p:cTn id="228" dur="1" fill="hold">
                                          <p:stCondLst>
                                            <p:cond delay="0"/>
                                          </p:stCondLst>
                                        </p:cTn>
                                        <p:tgtEl>
                                          <p:spTgt spid="53"/>
                                        </p:tgtEl>
                                        <p:attrNameLst>
                                          <p:attrName>style.visibility</p:attrName>
                                        </p:attrNameLst>
                                      </p:cBhvr>
                                      <p:to>
                                        <p:strVal val="visible"/>
                                      </p:to>
                                    </p:set>
                                    <p:animEffect transition="in" filter="wipe(left)">
                                      <p:cBhvr>
                                        <p:cTn id="229" dur="500"/>
                                        <p:tgtEl>
                                          <p:spTgt spid="53"/>
                                        </p:tgtEl>
                                      </p:cBhvr>
                                    </p:animEffect>
                                  </p:childTnLst>
                                </p:cTn>
                              </p:par>
                              <p:par>
                                <p:cTn id="230" presetID="22" presetClass="entr" presetSubtype="8" fill="hold" grpId="0" nodeType="withEffect">
                                  <p:stCondLst>
                                    <p:cond delay="330"/>
                                  </p:stCondLst>
                                  <p:childTnLst>
                                    <p:set>
                                      <p:cBhvr>
                                        <p:cTn id="231" dur="1" fill="hold">
                                          <p:stCondLst>
                                            <p:cond delay="0"/>
                                          </p:stCondLst>
                                        </p:cTn>
                                        <p:tgtEl>
                                          <p:spTgt spid="54"/>
                                        </p:tgtEl>
                                        <p:attrNameLst>
                                          <p:attrName>style.visibility</p:attrName>
                                        </p:attrNameLst>
                                      </p:cBhvr>
                                      <p:to>
                                        <p:strVal val="visible"/>
                                      </p:to>
                                    </p:set>
                                    <p:animEffect transition="in" filter="wipe(left)">
                                      <p:cBhvr>
                                        <p:cTn id="232" dur="500"/>
                                        <p:tgtEl>
                                          <p:spTgt spid="54"/>
                                        </p:tgtEl>
                                      </p:cBhvr>
                                    </p:animEffect>
                                  </p:childTnLst>
                                </p:cTn>
                              </p:par>
                              <p:par>
                                <p:cTn id="233" presetID="22" presetClass="entr" presetSubtype="8" fill="hold" grpId="0" nodeType="withEffect">
                                  <p:stCondLst>
                                    <p:cond delay="330"/>
                                  </p:stCondLst>
                                  <p:childTnLst>
                                    <p:set>
                                      <p:cBhvr>
                                        <p:cTn id="234" dur="1" fill="hold">
                                          <p:stCondLst>
                                            <p:cond delay="0"/>
                                          </p:stCondLst>
                                        </p:cTn>
                                        <p:tgtEl>
                                          <p:spTgt spid="63"/>
                                        </p:tgtEl>
                                        <p:attrNameLst>
                                          <p:attrName>style.visibility</p:attrName>
                                        </p:attrNameLst>
                                      </p:cBhvr>
                                      <p:to>
                                        <p:strVal val="visible"/>
                                      </p:to>
                                    </p:set>
                                    <p:animEffect transition="in" filter="wipe(left)">
                                      <p:cBhvr>
                                        <p:cTn id="235" dur="500"/>
                                        <p:tgtEl>
                                          <p:spTgt spid="63"/>
                                        </p:tgtEl>
                                      </p:cBhvr>
                                    </p:animEffect>
                                  </p:childTnLst>
                                </p:cTn>
                              </p:par>
                              <p:par>
                                <p:cTn id="236" presetID="22" presetClass="entr" presetSubtype="8" fill="hold" grpId="0" nodeType="withEffect">
                                  <p:stCondLst>
                                    <p:cond delay="330"/>
                                  </p:stCondLst>
                                  <p:childTnLst>
                                    <p:set>
                                      <p:cBhvr>
                                        <p:cTn id="237" dur="1" fill="hold">
                                          <p:stCondLst>
                                            <p:cond delay="0"/>
                                          </p:stCondLst>
                                        </p:cTn>
                                        <p:tgtEl>
                                          <p:spTgt spid="64"/>
                                        </p:tgtEl>
                                        <p:attrNameLst>
                                          <p:attrName>style.visibility</p:attrName>
                                        </p:attrNameLst>
                                      </p:cBhvr>
                                      <p:to>
                                        <p:strVal val="visible"/>
                                      </p:to>
                                    </p:set>
                                    <p:animEffect transition="in" filter="wipe(left)">
                                      <p:cBhvr>
                                        <p:cTn id="238" dur="500"/>
                                        <p:tgtEl>
                                          <p:spTgt spid="64"/>
                                        </p:tgtEl>
                                      </p:cBhvr>
                                    </p:animEffect>
                                  </p:childTnLst>
                                </p:cTn>
                              </p:par>
                              <p:par>
                                <p:cTn id="239" presetID="22" presetClass="entr" presetSubtype="8" fill="hold" grpId="0" nodeType="withEffect">
                                  <p:stCondLst>
                                    <p:cond delay="330"/>
                                  </p:stCondLst>
                                  <p:childTnLst>
                                    <p:set>
                                      <p:cBhvr>
                                        <p:cTn id="240" dur="1" fill="hold">
                                          <p:stCondLst>
                                            <p:cond delay="0"/>
                                          </p:stCondLst>
                                        </p:cTn>
                                        <p:tgtEl>
                                          <p:spTgt spid="73"/>
                                        </p:tgtEl>
                                        <p:attrNameLst>
                                          <p:attrName>style.visibility</p:attrName>
                                        </p:attrNameLst>
                                      </p:cBhvr>
                                      <p:to>
                                        <p:strVal val="visible"/>
                                      </p:to>
                                    </p:set>
                                    <p:animEffect transition="in" filter="wipe(left)">
                                      <p:cBhvr>
                                        <p:cTn id="241" dur="500"/>
                                        <p:tgtEl>
                                          <p:spTgt spid="73"/>
                                        </p:tgtEl>
                                      </p:cBhvr>
                                    </p:animEffect>
                                  </p:childTnLst>
                                </p:cTn>
                              </p:par>
                              <p:par>
                                <p:cTn id="242" presetID="22" presetClass="entr" presetSubtype="8" fill="hold" grpId="0" nodeType="withEffect">
                                  <p:stCondLst>
                                    <p:cond delay="330"/>
                                  </p:stCondLst>
                                  <p:childTnLst>
                                    <p:set>
                                      <p:cBhvr>
                                        <p:cTn id="243" dur="1" fill="hold">
                                          <p:stCondLst>
                                            <p:cond delay="0"/>
                                          </p:stCondLst>
                                        </p:cTn>
                                        <p:tgtEl>
                                          <p:spTgt spid="74"/>
                                        </p:tgtEl>
                                        <p:attrNameLst>
                                          <p:attrName>style.visibility</p:attrName>
                                        </p:attrNameLst>
                                      </p:cBhvr>
                                      <p:to>
                                        <p:strVal val="visible"/>
                                      </p:to>
                                    </p:set>
                                    <p:animEffect transition="in" filter="wipe(left)">
                                      <p:cBhvr>
                                        <p:cTn id="244" dur="500"/>
                                        <p:tgtEl>
                                          <p:spTgt spid="74"/>
                                        </p:tgtEl>
                                      </p:cBhvr>
                                    </p:animEffect>
                                  </p:childTnLst>
                                </p:cTn>
                              </p:par>
                              <p:par>
                                <p:cTn id="245" presetID="22" presetClass="entr" presetSubtype="8" fill="hold" grpId="0" nodeType="withEffect">
                                  <p:stCondLst>
                                    <p:cond delay="440"/>
                                  </p:stCondLst>
                                  <p:childTnLst>
                                    <p:set>
                                      <p:cBhvr>
                                        <p:cTn id="246" dur="1" fill="hold">
                                          <p:stCondLst>
                                            <p:cond delay="0"/>
                                          </p:stCondLst>
                                        </p:cTn>
                                        <p:tgtEl>
                                          <p:spTgt spid="55"/>
                                        </p:tgtEl>
                                        <p:attrNameLst>
                                          <p:attrName>style.visibility</p:attrName>
                                        </p:attrNameLst>
                                      </p:cBhvr>
                                      <p:to>
                                        <p:strVal val="visible"/>
                                      </p:to>
                                    </p:set>
                                    <p:animEffect transition="in" filter="wipe(left)">
                                      <p:cBhvr>
                                        <p:cTn id="247" dur="500"/>
                                        <p:tgtEl>
                                          <p:spTgt spid="55"/>
                                        </p:tgtEl>
                                      </p:cBhvr>
                                    </p:animEffect>
                                  </p:childTnLst>
                                </p:cTn>
                              </p:par>
                              <p:par>
                                <p:cTn id="248" presetID="22" presetClass="entr" presetSubtype="8" fill="hold" grpId="0" nodeType="withEffect">
                                  <p:stCondLst>
                                    <p:cond delay="440"/>
                                  </p:stCondLst>
                                  <p:childTnLst>
                                    <p:set>
                                      <p:cBhvr>
                                        <p:cTn id="249" dur="1" fill="hold">
                                          <p:stCondLst>
                                            <p:cond delay="0"/>
                                          </p:stCondLst>
                                        </p:cTn>
                                        <p:tgtEl>
                                          <p:spTgt spid="56"/>
                                        </p:tgtEl>
                                        <p:attrNameLst>
                                          <p:attrName>style.visibility</p:attrName>
                                        </p:attrNameLst>
                                      </p:cBhvr>
                                      <p:to>
                                        <p:strVal val="visible"/>
                                      </p:to>
                                    </p:set>
                                    <p:animEffect transition="in" filter="wipe(left)">
                                      <p:cBhvr>
                                        <p:cTn id="250" dur="500"/>
                                        <p:tgtEl>
                                          <p:spTgt spid="56"/>
                                        </p:tgtEl>
                                      </p:cBhvr>
                                    </p:animEffect>
                                  </p:childTnLst>
                                </p:cTn>
                              </p:par>
                              <p:par>
                                <p:cTn id="251" presetID="22" presetClass="entr" presetSubtype="8" fill="hold" grpId="0" nodeType="withEffect">
                                  <p:stCondLst>
                                    <p:cond delay="440"/>
                                  </p:stCondLst>
                                  <p:childTnLst>
                                    <p:set>
                                      <p:cBhvr>
                                        <p:cTn id="252" dur="1" fill="hold">
                                          <p:stCondLst>
                                            <p:cond delay="0"/>
                                          </p:stCondLst>
                                        </p:cTn>
                                        <p:tgtEl>
                                          <p:spTgt spid="65"/>
                                        </p:tgtEl>
                                        <p:attrNameLst>
                                          <p:attrName>style.visibility</p:attrName>
                                        </p:attrNameLst>
                                      </p:cBhvr>
                                      <p:to>
                                        <p:strVal val="visible"/>
                                      </p:to>
                                    </p:set>
                                    <p:animEffect transition="in" filter="wipe(left)">
                                      <p:cBhvr>
                                        <p:cTn id="253" dur="500"/>
                                        <p:tgtEl>
                                          <p:spTgt spid="65"/>
                                        </p:tgtEl>
                                      </p:cBhvr>
                                    </p:animEffect>
                                  </p:childTnLst>
                                </p:cTn>
                              </p:par>
                              <p:par>
                                <p:cTn id="254" presetID="22" presetClass="entr" presetSubtype="8" fill="hold" grpId="0" nodeType="withEffect">
                                  <p:stCondLst>
                                    <p:cond delay="440"/>
                                  </p:stCondLst>
                                  <p:childTnLst>
                                    <p:set>
                                      <p:cBhvr>
                                        <p:cTn id="255" dur="1" fill="hold">
                                          <p:stCondLst>
                                            <p:cond delay="0"/>
                                          </p:stCondLst>
                                        </p:cTn>
                                        <p:tgtEl>
                                          <p:spTgt spid="66"/>
                                        </p:tgtEl>
                                        <p:attrNameLst>
                                          <p:attrName>style.visibility</p:attrName>
                                        </p:attrNameLst>
                                      </p:cBhvr>
                                      <p:to>
                                        <p:strVal val="visible"/>
                                      </p:to>
                                    </p:set>
                                    <p:animEffect transition="in" filter="wipe(left)">
                                      <p:cBhvr>
                                        <p:cTn id="256" dur="500"/>
                                        <p:tgtEl>
                                          <p:spTgt spid="66"/>
                                        </p:tgtEl>
                                      </p:cBhvr>
                                    </p:animEffect>
                                  </p:childTnLst>
                                </p:cTn>
                              </p:par>
                              <p:par>
                                <p:cTn id="257" presetID="22" presetClass="entr" presetSubtype="8" fill="hold" grpId="0" nodeType="withEffect">
                                  <p:stCondLst>
                                    <p:cond delay="440"/>
                                  </p:stCondLst>
                                  <p:childTnLst>
                                    <p:set>
                                      <p:cBhvr>
                                        <p:cTn id="258" dur="1" fill="hold">
                                          <p:stCondLst>
                                            <p:cond delay="0"/>
                                          </p:stCondLst>
                                        </p:cTn>
                                        <p:tgtEl>
                                          <p:spTgt spid="75"/>
                                        </p:tgtEl>
                                        <p:attrNameLst>
                                          <p:attrName>style.visibility</p:attrName>
                                        </p:attrNameLst>
                                      </p:cBhvr>
                                      <p:to>
                                        <p:strVal val="visible"/>
                                      </p:to>
                                    </p:set>
                                    <p:animEffect transition="in" filter="wipe(left)">
                                      <p:cBhvr>
                                        <p:cTn id="259" dur="500"/>
                                        <p:tgtEl>
                                          <p:spTgt spid="75"/>
                                        </p:tgtEl>
                                      </p:cBhvr>
                                    </p:animEffect>
                                  </p:childTnLst>
                                </p:cTn>
                              </p:par>
                              <p:par>
                                <p:cTn id="260" presetID="22" presetClass="entr" presetSubtype="8" fill="hold" grpId="0" nodeType="withEffect">
                                  <p:stCondLst>
                                    <p:cond delay="440"/>
                                  </p:stCondLst>
                                  <p:childTnLst>
                                    <p:set>
                                      <p:cBhvr>
                                        <p:cTn id="261" dur="1" fill="hold">
                                          <p:stCondLst>
                                            <p:cond delay="0"/>
                                          </p:stCondLst>
                                        </p:cTn>
                                        <p:tgtEl>
                                          <p:spTgt spid="76"/>
                                        </p:tgtEl>
                                        <p:attrNameLst>
                                          <p:attrName>style.visibility</p:attrName>
                                        </p:attrNameLst>
                                      </p:cBhvr>
                                      <p:to>
                                        <p:strVal val="visible"/>
                                      </p:to>
                                    </p:set>
                                    <p:animEffect transition="in" filter="wipe(left)">
                                      <p:cBhvr>
                                        <p:cTn id="262" dur="500"/>
                                        <p:tgtEl>
                                          <p:spTgt spid="76"/>
                                        </p:tgtEl>
                                      </p:cBhvr>
                                    </p:animEffect>
                                  </p:childTnLst>
                                </p:cTn>
                              </p:par>
                              <p:par>
                                <p:cTn id="263" presetID="2" presetClass="entr" presetSubtype="4" fill="hold" grpId="0" nodeType="withEffect">
                                  <p:stCondLst>
                                    <p:cond delay="600"/>
                                  </p:stCondLst>
                                  <p:childTnLst>
                                    <p:set>
                                      <p:cBhvr>
                                        <p:cTn id="264" dur="1" fill="hold">
                                          <p:stCondLst>
                                            <p:cond delay="0"/>
                                          </p:stCondLst>
                                        </p:cTn>
                                        <p:tgtEl>
                                          <p:spTgt spid="77"/>
                                        </p:tgtEl>
                                        <p:attrNameLst>
                                          <p:attrName>style.visibility</p:attrName>
                                        </p:attrNameLst>
                                      </p:cBhvr>
                                      <p:to>
                                        <p:strVal val="visible"/>
                                      </p:to>
                                    </p:set>
                                    <p:anim calcmode="lin" valueType="num">
                                      <p:cBhvr additive="base">
                                        <p:cTn id="265" dur="500" fill="hold"/>
                                        <p:tgtEl>
                                          <p:spTgt spid="77"/>
                                        </p:tgtEl>
                                        <p:attrNameLst>
                                          <p:attrName>ppt_x</p:attrName>
                                        </p:attrNameLst>
                                      </p:cBhvr>
                                      <p:tavLst>
                                        <p:tav tm="0">
                                          <p:val>
                                            <p:strVal val="#ppt_x"/>
                                          </p:val>
                                        </p:tav>
                                        <p:tav tm="100000">
                                          <p:val>
                                            <p:strVal val="#ppt_x"/>
                                          </p:val>
                                        </p:tav>
                                      </p:tavLst>
                                    </p:anim>
                                    <p:anim calcmode="lin" valueType="num">
                                      <p:cBhvr additive="base">
                                        <p:cTn id="266" dur="500" fill="hold"/>
                                        <p:tgtEl>
                                          <p:spTgt spid="77"/>
                                        </p:tgtEl>
                                        <p:attrNameLst>
                                          <p:attrName>ppt_y</p:attrName>
                                        </p:attrNameLst>
                                      </p:cBhvr>
                                      <p:tavLst>
                                        <p:tav tm="0">
                                          <p:val>
                                            <p:strVal val="#ppt_y+0.1"/>
                                          </p:val>
                                        </p:tav>
                                        <p:tav tm="100000">
                                          <p:val>
                                            <p:strVal val="#ppt_y"/>
                                          </p:val>
                                        </p:tav>
                                      </p:tavLst>
                                    </p:anim>
                                    <p:animEffect transition="in" filter="fade">
                                      <p:cBhvr>
                                        <p:cTn id="267" dur="500"/>
                                        <p:tgtEl>
                                          <p:spTgt spid="77"/>
                                        </p:tgtEl>
                                      </p:cBhvr>
                                    </p:animEffect>
                                  </p:childTnLst>
                                </p:cTn>
                              </p:par>
                              <p:par>
                                <p:cTn id="268" presetID="2" presetClass="entr" presetSubtype="4" fill="hold" grpId="0" nodeType="withEffect">
                                  <p:stCondLst>
                                    <p:cond delay="600"/>
                                  </p:stCondLst>
                                  <p:childTnLst>
                                    <p:set>
                                      <p:cBhvr>
                                        <p:cTn id="269" dur="1" fill="hold">
                                          <p:stCondLst>
                                            <p:cond delay="0"/>
                                          </p:stCondLst>
                                        </p:cTn>
                                        <p:tgtEl>
                                          <p:spTgt spid="78"/>
                                        </p:tgtEl>
                                        <p:attrNameLst>
                                          <p:attrName>style.visibility</p:attrName>
                                        </p:attrNameLst>
                                      </p:cBhvr>
                                      <p:to>
                                        <p:strVal val="visible"/>
                                      </p:to>
                                    </p:set>
                                    <p:anim calcmode="lin" valueType="num">
                                      <p:cBhvr additive="base">
                                        <p:cTn id="270" dur="500" fill="hold"/>
                                        <p:tgtEl>
                                          <p:spTgt spid="78"/>
                                        </p:tgtEl>
                                        <p:attrNameLst>
                                          <p:attrName>ppt_x</p:attrName>
                                        </p:attrNameLst>
                                      </p:cBhvr>
                                      <p:tavLst>
                                        <p:tav tm="0">
                                          <p:val>
                                            <p:strVal val="#ppt_x"/>
                                          </p:val>
                                        </p:tav>
                                        <p:tav tm="100000">
                                          <p:val>
                                            <p:strVal val="#ppt_x"/>
                                          </p:val>
                                        </p:tav>
                                      </p:tavLst>
                                    </p:anim>
                                    <p:anim calcmode="lin" valueType="num">
                                      <p:cBhvr additive="base">
                                        <p:cTn id="271" dur="500" fill="hold"/>
                                        <p:tgtEl>
                                          <p:spTgt spid="78"/>
                                        </p:tgtEl>
                                        <p:attrNameLst>
                                          <p:attrName>ppt_y</p:attrName>
                                        </p:attrNameLst>
                                      </p:cBhvr>
                                      <p:tavLst>
                                        <p:tav tm="0">
                                          <p:val>
                                            <p:strVal val="#ppt_y+0.1"/>
                                          </p:val>
                                        </p:tav>
                                        <p:tav tm="100000">
                                          <p:val>
                                            <p:strVal val="#ppt_y"/>
                                          </p:val>
                                        </p:tav>
                                      </p:tavLst>
                                    </p:anim>
                                    <p:animEffect transition="in" filter="fade">
                                      <p:cBhvr>
                                        <p:cTn id="272" dur="500"/>
                                        <p:tgtEl>
                                          <p:spTgt spid="78"/>
                                        </p:tgtEl>
                                      </p:cBhvr>
                                    </p:animEffect>
                                  </p:childTnLst>
                                </p:cTn>
                              </p:par>
                            </p:childTnLst>
                          </p:cTn>
                        </p:par>
                      </p:childTnLst>
                    </p:cTn>
                  </p:par>
                  <p:par>
                    <p:cTn id="273" fill="hold">
                      <p:stCondLst>
                        <p:cond delay="indefinite"/>
                      </p:stCondLst>
                      <p:childTnLst>
                        <p:par>
                          <p:cTn id="274" fill="hold">
                            <p:stCondLst>
                              <p:cond delay="0"/>
                            </p:stCondLst>
                            <p:childTnLst>
                              <p:par>
                                <p:cTn id="275" presetID="2" presetClass="entr" presetSubtype="4" fill="hold" grpId="0" nodeType="clickEffect">
                                  <p:stCondLst>
                                    <p:cond delay="0"/>
                                  </p:stCondLst>
                                  <p:childTnLst>
                                    <p:set>
                                      <p:cBhvr>
                                        <p:cTn id="276" dur="1" fill="hold">
                                          <p:stCondLst>
                                            <p:cond delay="0"/>
                                          </p:stCondLst>
                                        </p:cTn>
                                        <p:tgtEl>
                                          <p:spTgt spid="79"/>
                                        </p:tgtEl>
                                        <p:attrNameLst>
                                          <p:attrName>style.visibility</p:attrName>
                                        </p:attrNameLst>
                                      </p:cBhvr>
                                      <p:to>
                                        <p:strVal val="visible"/>
                                      </p:to>
                                    </p:set>
                                    <p:anim calcmode="lin" valueType="num">
                                      <p:cBhvr additive="base">
                                        <p:cTn id="277" dur="500" fill="hold"/>
                                        <p:tgtEl>
                                          <p:spTgt spid="79"/>
                                        </p:tgtEl>
                                        <p:attrNameLst>
                                          <p:attrName>ppt_x</p:attrName>
                                        </p:attrNameLst>
                                      </p:cBhvr>
                                      <p:tavLst>
                                        <p:tav tm="0">
                                          <p:val>
                                            <p:strVal val="#ppt_x"/>
                                          </p:val>
                                        </p:tav>
                                        <p:tav tm="100000">
                                          <p:val>
                                            <p:strVal val="#ppt_x"/>
                                          </p:val>
                                        </p:tav>
                                      </p:tavLst>
                                    </p:anim>
                                    <p:anim calcmode="lin" valueType="num">
                                      <p:cBhvr additive="base">
                                        <p:cTn id="278" dur="500" fill="hold"/>
                                        <p:tgtEl>
                                          <p:spTgt spid="79"/>
                                        </p:tgtEl>
                                        <p:attrNameLst>
                                          <p:attrName>ppt_y</p:attrName>
                                        </p:attrNameLst>
                                      </p:cBhvr>
                                      <p:tavLst>
                                        <p:tav tm="0">
                                          <p:val>
                                            <p:strVal val="#ppt_y+0.1"/>
                                          </p:val>
                                        </p:tav>
                                        <p:tav tm="100000">
                                          <p:val>
                                            <p:strVal val="#ppt_y"/>
                                          </p:val>
                                        </p:tav>
                                      </p:tavLst>
                                    </p:anim>
                                    <p:animEffect transition="in" filter="fade">
                                      <p:cBhvr>
                                        <p:cTn id="279" dur="500"/>
                                        <p:tgtEl>
                                          <p:spTgt spid="79"/>
                                        </p:tgtEl>
                                      </p:cBhvr>
                                    </p:animEffect>
                                  </p:childTnLst>
                                </p:cTn>
                              </p:par>
                              <p:par>
                                <p:cTn id="280" presetID="2" presetClass="entr" presetSubtype="4" fill="hold" grpId="0" nodeType="withEffect">
                                  <p:stCondLst>
                                    <p:cond delay="0"/>
                                  </p:stCondLst>
                                  <p:childTnLst>
                                    <p:set>
                                      <p:cBhvr>
                                        <p:cTn id="281" dur="1" fill="hold">
                                          <p:stCondLst>
                                            <p:cond delay="0"/>
                                          </p:stCondLst>
                                        </p:cTn>
                                        <p:tgtEl>
                                          <p:spTgt spid="80"/>
                                        </p:tgtEl>
                                        <p:attrNameLst>
                                          <p:attrName>style.visibility</p:attrName>
                                        </p:attrNameLst>
                                      </p:cBhvr>
                                      <p:to>
                                        <p:strVal val="visible"/>
                                      </p:to>
                                    </p:set>
                                    <p:anim calcmode="lin" valueType="num">
                                      <p:cBhvr additive="base">
                                        <p:cTn id="282" dur="500" fill="hold"/>
                                        <p:tgtEl>
                                          <p:spTgt spid="80"/>
                                        </p:tgtEl>
                                        <p:attrNameLst>
                                          <p:attrName>ppt_x</p:attrName>
                                        </p:attrNameLst>
                                      </p:cBhvr>
                                      <p:tavLst>
                                        <p:tav tm="0">
                                          <p:val>
                                            <p:strVal val="#ppt_x"/>
                                          </p:val>
                                        </p:tav>
                                        <p:tav tm="100000">
                                          <p:val>
                                            <p:strVal val="#ppt_x"/>
                                          </p:val>
                                        </p:tav>
                                      </p:tavLst>
                                    </p:anim>
                                    <p:anim calcmode="lin" valueType="num">
                                      <p:cBhvr additive="base">
                                        <p:cTn id="283" dur="500" fill="hold"/>
                                        <p:tgtEl>
                                          <p:spTgt spid="80"/>
                                        </p:tgtEl>
                                        <p:attrNameLst>
                                          <p:attrName>ppt_y</p:attrName>
                                        </p:attrNameLst>
                                      </p:cBhvr>
                                      <p:tavLst>
                                        <p:tav tm="0">
                                          <p:val>
                                            <p:strVal val="#ppt_y+0.1"/>
                                          </p:val>
                                        </p:tav>
                                        <p:tav tm="100000">
                                          <p:val>
                                            <p:strVal val="#ppt_y"/>
                                          </p:val>
                                        </p:tav>
                                      </p:tavLst>
                                    </p:anim>
                                    <p:animEffect transition="in" filter="fade">
                                      <p:cBhvr>
                                        <p:cTn id="284" dur="500"/>
                                        <p:tgtEl>
                                          <p:spTgt spid="80"/>
                                        </p:tgtEl>
                                      </p:cBhvr>
                                    </p:animEffect>
                                  </p:childTnLst>
                                </p:cTn>
                              </p:par>
                              <p:par>
                                <p:cTn id="285" presetID="2" presetClass="entr" presetSubtype="4" fill="hold" grpId="0" nodeType="withEffect">
                                  <p:stCondLst>
                                    <p:cond delay="0"/>
                                  </p:stCondLst>
                                  <p:childTnLst>
                                    <p:set>
                                      <p:cBhvr>
                                        <p:cTn id="286" dur="1" fill="hold">
                                          <p:stCondLst>
                                            <p:cond delay="0"/>
                                          </p:stCondLst>
                                        </p:cTn>
                                        <p:tgtEl>
                                          <p:spTgt spid="81"/>
                                        </p:tgtEl>
                                        <p:attrNameLst>
                                          <p:attrName>style.visibility</p:attrName>
                                        </p:attrNameLst>
                                      </p:cBhvr>
                                      <p:to>
                                        <p:strVal val="visible"/>
                                      </p:to>
                                    </p:set>
                                    <p:anim calcmode="lin" valueType="num">
                                      <p:cBhvr additive="base">
                                        <p:cTn id="287" dur="500" fill="hold"/>
                                        <p:tgtEl>
                                          <p:spTgt spid="81"/>
                                        </p:tgtEl>
                                        <p:attrNameLst>
                                          <p:attrName>ppt_x</p:attrName>
                                        </p:attrNameLst>
                                      </p:cBhvr>
                                      <p:tavLst>
                                        <p:tav tm="0">
                                          <p:val>
                                            <p:strVal val="#ppt_x"/>
                                          </p:val>
                                        </p:tav>
                                        <p:tav tm="100000">
                                          <p:val>
                                            <p:strVal val="#ppt_x"/>
                                          </p:val>
                                        </p:tav>
                                      </p:tavLst>
                                    </p:anim>
                                    <p:anim calcmode="lin" valueType="num">
                                      <p:cBhvr additive="base">
                                        <p:cTn id="288" dur="500" fill="hold"/>
                                        <p:tgtEl>
                                          <p:spTgt spid="81"/>
                                        </p:tgtEl>
                                        <p:attrNameLst>
                                          <p:attrName>ppt_y</p:attrName>
                                        </p:attrNameLst>
                                      </p:cBhvr>
                                      <p:tavLst>
                                        <p:tav tm="0">
                                          <p:val>
                                            <p:strVal val="#ppt_y+0.1"/>
                                          </p:val>
                                        </p:tav>
                                        <p:tav tm="100000">
                                          <p:val>
                                            <p:strVal val="#ppt_y"/>
                                          </p:val>
                                        </p:tav>
                                      </p:tavLst>
                                    </p:anim>
                                    <p:animEffect transition="in" filter="fade">
                                      <p:cBhvr>
                                        <p:cTn id="289"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Followers Keep Up with the Leader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New messages land on the leader - the followers copy them as fast as they can</a:t>
            </a:r>
          </a:p>
        </p:txBody>
      </p:sp>
      <p:sp>
        <p:nvSpPr>
          <p:cNvPr id="11" name="a0f_rl10"/>
          <p:cNvSpPr txBox="1"/>
          <p:nvPr/>
        </p:nvSpPr>
        <p:spPr>
          <a:xfrm>
            <a:off x="457200" y="1600200"/>
            <a:ext cx="1371600" cy="402336"/>
          </a:xfrm>
          <a:prstGeom prst="rect">
            <a:avLst/>
          </a:prstGeom>
          <a:noFill/>
        </p:spPr>
        <p:txBody>
          <a:bodyPr wrap="square" lIns="0" tIns="0" rIns="0" bIns="0" anchor="ctr">
            <a:spAutoFit/>
          </a:bodyPr>
          <a:lstStyle/>
          <a:p>
            <a:pPr algn="l"/>
            <a:r>
              <a:rPr sz="950" b="1">
                <a:solidFill>
                  <a:srgbClr val="1C1917"/>
                </a:solidFill>
                <a:latin typeface="Segoe UI"/>
              </a:rPr>
              <a:t>broker 1  </a:t>
            </a:r>
            <a:r>
              <a:rPr sz="950" b="1">
                <a:solidFill>
                  <a:srgbClr val="0E7490"/>
                </a:solidFill>
                <a:latin typeface="Segoe UI"/>
              </a:rPr>
              <a:t>leader</a:t>
            </a:r>
          </a:p>
        </p:txBody>
      </p:sp>
      <p:sp>
        <p:nvSpPr>
          <p:cNvPr id="12" name="a0f_lc11"/>
          <p:cNvSpPr/>
          <p:nvPr/>
        </p:nvSpPr>
        <p:spPr>
          <a:xfrm>
            <a:off x="1874519" y="1600200"/>
            <a:ext cx="329184"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a0f_lct12"/>
          <p:cNvSpPr txBox="1"/>
          <p:nvPr/>
        </p:nvSpPr>
        <p:spPr>
          <a:xfrm>
            <a:off x="1874519" y="1600200"/>
            <a:ext cx="329184" cy="402336"/>
          </a:xfrm>
          <a:prstGeom prst="rect">
            <a:avLst/>
          </a:prstGeom>
          <a:noFill/>
        </p:spPr>
        <p:txBody>
          <a:bodyPr wrap="square" lIns="0" tIns="0" rIns="0" bIns="0" anchor="ctr">
            <a:spAutoFit/>
          </a:bodyPr>
          <a:lstStyle/>
          <a:p>
            <a:pPr algn="ctr"/>
            <a:r>
              <a:rPr sz="950" b="1">
                <a:solidFill>
                  <a:srgbClr val="0E7490"/>
                </a:solidFill>
                <a:latin typeface="Consolas"/>
              </a:rPr>
              <a:t>0</a:t>
            </a:r>
          </a:p>
        </p:txBody>
      </p:sp>
      <p:sp>
        <p:nvSpPr>
          <p:cNvPr id="14" name="a0f_lc13"/>
          <p:cNvSpPr/>
          <p:nvPr/>
        </p:nvSpPr>
        <p:spPr>
          <a:xfrm>
            <a:off x="2240279" y="1600200"/>
            <a:ext cx="329184"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0f_lct14"/>
          <p:cNvSpPr txBox="1"/>
          <p:nvPr/>
        </p:nvSpPr>
        <p:spPr>
          <a:xfrm>
            <a:off x="2240279" y="1600200"/>
            <a:ext cx="329184" cy="402336"/>
          </a:xfrm>
          <a:prstGeom prst="rect">
            <a:avLst/>
          </a:prstGeom>
          <a:noFill/>
        </p:spPr>
        <p:txBody>
          <a:bodyPr wrap="square" lIns="0" tIns="0" rIns="0" bIns="0" anchor="ctr">
            <a:spAutoFit/>
          </a:bodyPr>
          <a:lstStyle/>
          <a:p>
            <a:pPr algn="ctr"/>
            <a:r>
              <a:rPr sz="950" b="1">
                <a:solidFill>
                  <a:srgbClr val="0E7490"/>
                </a:solidFill>
                <a:latin typeface="Consolas"/>
              </a:rPr>
              <a:t>1</a:t>
            </a:r>
          </a:p>
        </p:txBody>
      </p:sp>
      <p:sp>
        <p:nvSpPr>
          <p:cNvPr id="16" name="a0f_lc15"/>
          <p:cNvSpPr/>
          <p:nvPr/>
        </p:nvSpPr>
        <p:spPr>
          <a:xfrm>
            <a:off x="2606039" y="1600200"/>
            <a:ext cx="329184"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0f_lct16"/>
          <p:cNvSpPr txBox="1"/>
          <p:nvPr/>
        </p:nvSpPr>
        <p:spPr>
          <a:xfrm>
            <a:off x="2606039" y="1600200"/>
            <a:ext cx="329184" cy="402336"/>
          </a:xfrm>
          <a:prstGeom prst="rect">
            <a:avLst/>
          </a:prstGeom>
          <a:noFill/>
        </p:spPr>
        <p:txBody>
          <a:bodyPr wrap="square" lIns="0" tIns="0" rIns="0" bIns="0" anchor="ctr">
            <a:spAutoFit/>
          </a:bodyPr>
          <a:lstStyle/>
          <a:p>
            <a:pPr algn="ctr"/>
            <a:r>
              <a:rPr sz="950" b="1">
                <a:solidFill>
                  <a:srgbClr val="0E7490"/>
                </a:solidFill>
                <a:latin typeface="Consolas"/>
              </a:rPr>
              <a:t>2</a:t>
            </a:r>
          </a:p>
        </p:txBody>
      </p:sp>
      <p:sp>
        <p:nvSpPr>
          <p:cNvPr id="18" name="a0f_lc17"/>
          <p:cNvSpPr/>
          <p:nvPr/>
        </p:nvSpPr>
        <p:spPr>
          <a:xfrm>
            <a:off x="2971800" y="1600200"/>
            <a:ext cx="329184"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0f_lct18"/>
          <p:cNvSpPr txBox="1"/>
          <p:nvPr/>
        </p:nvSpPr>
        <p:spPr>
          <a:xfrm>
            <a:off x="2971800" y="1600200"/>
            <a:ext cx="329184" cy="402336"/>
          </a:xfrm>
          <a:prstGeom prst="rect">
            <a:avLst/>
          </a:prstGeom>
          <a:noFill/>
        </p:spPr>
        <p:txBody>
          <a:bodyPr wrap="square" lIns="0" tIns="0" rIns="0" bIns="0" anchor="ctr">
            <a:spAutoFit/>
          </a:bodyPr>
          <a:lstStyle/>
          <a:p>
            <a:pPr algn="ctr"/>
            <a:r>
              <a:rPr sz="950" b="1">
                <a:solidFill>
                  <a:srgbClr val="0E7490"/>
                </a:solidFill>
                <a:latin typeface="Consolas"/>
              </a:rPr>
              <a:t>3</a:t>
            </a:r>
          </a:p>
        </p:txBody>
      </p:sp>
      <p:sp>
        <p:nvSpPr>
          <p:cNvPr id="20" name="a0f_lc19"/>
          <p:cNvSpPr/>
          <p:nvPr/>
        </p:nvSpPr>
        <p:spPr>
          <a:xfrm>
            <a:off x="3337560" y="1600200"/>
            <a:ext cx="329184"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0f_lct20"/>
          <p:cNvSpPr txBox="1"/>
          <p:nvPr/>
        </p:nvSpPr>
        <p:spPr>
          <a:xfrm>
            <a:off x="3337560" y="1600200"/>
            <a:ext cx="329184" cy="402336"/>
          </a:xfrm>
          <a:prstGeom prst="rect">
            <a:avLst/>
          </a:prstGeom>
          <a:noFill/>
        </p:spPr>
        <p:txBody>
          <a:bodyPr wrap="square" lIns="0" tIns="0" rIns="0" bIns="0" anchor="ctr">
            <a:spAutoFit/>
          </a:bodyPr>
          <a:lstStyle/>
          <a:p>
            <a:pPr algn="ctr"/>
            <a:r>
              <a:rPr sz="950" b="1">
                <a:solidFill>
                  <a:srgbClr val="0E7490"/>
                </a:solidFill>
                <a:latin typeface="Consolas"/>
              </a:rPr>
              <a:t>4</a:t>
            </a:r>
          </a:p>
        </p:txBody>
      </p:sp>
      <p:sp>
        <p:nvSpPr>
          <p:cNvPr id="22" name="a0f_lc21"/>
          <p:cNvSpPr/>
          <p:nvPr/>
        </p:nvSpPr>
        <p:spPr>
          <a:xfrm>
            <a:off x="3703320" y="1600200"/>
            <a:ext cx="329184"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0f_lct22"/>
          <p:cNvSpPr txBox="1"/>
          <p:nvPr/>
        </p:nvSpPr>
        <p:spPr>
          <a:xfrm>
            <a:off x="3703320" y="1600200"/>
            <a:ext cx="329184" cy="402336"/>
          </a:xfrm>
          <a:prstGeom prst="rect">
            <a:avLst/>
          </a:prstGeom>
          <a:noFill/>
        </p:spPr>
        <p:txBody>
          <a:bodyPr wrap="square" lIns="0" tIns="0" rIns="0" bIns="0" anchor="ctr">
            <a:spAutoFit/>
          </a:bodyPr>
          <a:lstStyle/>
          <a:p>
            <a:pPr algn="ctr"/>
            <a:r>
              <a:rPr sz="950" b="1">
                <a:solidFill>
                  <a:srgbClr val="0E7490"/>
                </a:solidFill>
                <a:latin typeface="Consolas"/>
              </a:rPr>
              <a:t>5</a:t>
            </a:r>
          </a:p>
        </p:txBody>
      </p:sp>
      <p:sp>
        <p:nvSpPr>
          <p:cNvPr id="24" name="a1u_lc23"/>
          <p:cNvSpPr/>
          <p:nvPr/>
        </p:nvSpPr>
        <p:spPr>
          <a:xfrm>
            <a:off x="4069080" y="1600200"/>
            <a:ext cx="329184" cy="402336"/>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a1u_lct24"/>
          <p:cNvSpPr txBox="1"/>
          <p:nvPr/>
        </p:nvSpPr>
        <p:spPr>
          <a:xfrm>
            <a:off x="4069080" y="1600200"/>
            <a:ext cx="329184" cy="402336"/>
          </a:xfrm>
          <a:prstGeom prst="rect">
            <a:avLst/>
          </a:prstGeom>
          <a:noFill/>
        </p:spPr>
        <p:txBody>
          <a:bodyPr wrap="square" lIns="0" tIns="0" rIns="0" bIns="0" anchor="ctr">
            <a:spAutoFit/>
          </a:bodyPr>
          <a:lstStyle/>
          <a:p>
            <a:pPr algn="ctr"/>
            <a:r>
              <a:rPr sz="950" b="1">
                <a:solidFill>
                  <a:srgbClr val="A16207"/>
                </a:solidFill>
                <a:latin typeface="Consolas"/>
              </a:rPr>
              <a:t>6</a:t>
            </a:r>
          </a:p>
        </p:txBody>
      </p:sp>
      <p:sp>
        <p:nvSpPr>
          <p:cNvPr id="26" name="a0f_rl25"/>
          <p:cNvSpPr txBox="1"/>
          <p:nvPr/>
        </p:nvSpPr>
        <p:spPr>
          <a:xfrm>
            <a:off x="457200" y="2240280"/>
            <a:ext cx="1371600" cy="402336"/>
          </a:xfrm>
          <a:prstGeom prst="rect">
            <a:avLst/>
          </a:prstGeom>
          <a:noFill/>
        </p:spPr>
        <p:txBody>
          <a:bodyPr wrap="square" lIns="0" tIns="0" rIns="0" bIns="0" anchor="ctr">
            <a:spAutoFit/>
          </a:bodyPr>
          <a:lstStyle/>
          <a:p>
            <a:pPr algn="l"/>
            <a:r>
              <a:rPr sz="950" b="1">
                <a:solidFill>
                  <a:srgbClr val="1C1917"/>
                </a:solidFill>
                <a:latin typeface="Segoe UI"/>
              </a:rPr>
              <a:t>broker 2  </a:t>
            </a:r>
            <a:r>
              <a:rPr sz="950" b="1">
                <a:solidFill>
                  <a:srgbClr val="78716C"/>
                </a:solidFill>
                <a:latin typeface="Segoe UI"/>
              </a:rPr>
              <a:t>follower</a:t>
            </a:r>
          </a:p>
        </p:txBody>
      </p:sp>
      <p:sp>
        <p:nvSpPr>
          <p:cNvPr id="27" name="a0f_lc26"/>
          <p:cNvSpPr/>
          <p:nvPr/>
        </p:nvSpPr>
        <p:spPr>
          <a:xfrm>
            <a:off x="1874519" y="224028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0f_lct27"/>
          <p:cNvSpPr txBox="1"/>
          <p:nvPr/>
        </p:nvSpPr>
        <p:spPr>
          <a:xfrm>
            <a:off x="1874519" y="2240280"/>
            <a:ext cx="329184" cy="402336"/>
          </a:xfrm>
          <a:prstGeom prst="rect">
            <a:avLst/>
          </a:prstGeom>
          <a:noFill/>
        </p:spPr>
        <p:txBody>
          <a:bodyPr wrap="square" lIns="0" tIns="0" rIns="0" bIns="0" anchor="ctr">
            <a:spAutoFit/>
          </a:bodyPr>
          <a:lstStyle/>
          <a:p>
            <a:pPr algn="ctr"/>
            <a:r>
              <a:rPr sz="950" b="1">
                <a:solidFill>
                  <a:srgbClr val="0E7490"/>
                </a:solidFill>
                <a:latin typeface="Consolas"/>
              </a:rPr>
              <a:t>0</a:t>
            </a:r>
          </a:p>
        </p:txBody>
      </p:sp>
      <p:sp>
        <p:nvSpPr>
          <p:cNvPr id="29" name="a0f_lc28"/>
          <p:cNvSpPr/>
          <p:nvPr/>
        </p:nvSpPr>
        <p:spPr>
          <a:xfrm>
            <a:off x="2240279" y="224028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0f_lct29"/>
          <p:cNvSpPr txBox="1"/>
          <p:nvPr/>
        </p:nvSpPr>
        <p:spPr>
          <a:xfrm>
            <a:off x="2240279" y="2240280"/>
            <a:ext cx="329184" cy="402336"/>
          </a:xfrm>
          <a:prstGeom prst="rect">
            <a:avLst/>
          </a:prstGeom>
          <a:noFill/>
        </p:spPr>
        <p:txBody>
          <a:bodyPr wrap="square" lIns="0" tIns="0" rIns="0" bIns="0" anchor="ctr">
            <a:spAutoFit/>
          </a:bodyPr>
          <a:lstStyle/>
          <a:p>
            <a:pPr algn="ctr"/>
            <a:r>
              <a:rPr sz="950" b="1">
                <a:solidFill>
                  <a:srgbClr val="0E7490"/>
                </a:solidFill>
                <a:latin typeface="Consolas"/>
              </a:rPr>
              <a:t>1</a:t>
            </a:r>
          </a:p>
        </p:txBody>
      </p:sp>
      <p:sp>
        <p:nvSpPr>
          <p:cNvPr id="31" name="a0f_lc30"/>
          <p:cNvSpPr/>
          <p:nvPr/>
        </p:nvSpPr>
        <p:spPr>
          <a:xfrm>
            <a:off x="2606039" y="224028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0f_lct31"/>
          <p:cNvSpPr txBox="1"/>
          <p:nvPr/>
        </p:nvSpPr>
        <p:spPr>
          <a:xfrm>
            <a:off x="2606039" y="2240280"/>
            <a:ext cx="329184" cy="402336"/>
          </a:xfrm>
          <a:prstGeom prst="rect">
            <a:avLst/>
          </a:prstGeom>
          <a:noFill/>
        </p:spPr>
        <p:txBody>
          <a:bodyPr wrap="square" lIns="0" tIns="0" rIns="0" bIns="0" anchor="ctr">
            <a:spAutoFit/>
          </a:bodyPr>
          <a:lstStyle/>
          <a:p>
            <a:pPr algn="ctr"/>
            <a:r>
              <a:rPr sz="950" b="1">
                <a:solidFill>
                  <a:srgbClr val="0E7490"/>
                </a:solidFill>
                <a:latin typeface="Consolas"/>
              </a:rPr>
              <a:t>2</a:t>
            </a:r>
          </a:p>
        </p:txBody>
      </p:sp>
      <p:sp>
        <p:nvSpPr>
          <p:cNvPr id="33" name="a0f_lc32"/>
          <p:cNvSpPr/>
          <p:nvPr/>
        </p:nvSpPr>
        <p:spPr>
          <a:xfrm>
            <a:off x="2971800" y="224028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0f_lct33"/>
          <p:cNvSpPr txBox="1"/>
          <p:nvPr/>
        </p:nvSpPr>
        <p:spPr>
          <a:xfrm>
            <a:off x="2971800" y="2240280"/>
            <a:ext cx="329184" cy="402336"/>
          </a:xfrm>
          <a:prstGeom prst="rect">
            <a:avLst/>
          </a:prstGeom>
          <a:noFill/>
        </p:spPr>
        <p:txBody>
          <a:bodyPr wrap="square" lIns="0" tIns="0" rIns="0" bIns="0" anchor="ctr">
            <a:spAutoFit/>
          </a:bodyPr>
          <a:lstStyle/>
          <a:p>
            <a:pPr algn="ctr"/>
            <a:r>
              <a:rPr sz="950" b="1">
                <a:solidFill>
                  <a:srgbClr val="0E7490"/>
                </a:solidFill>
                <a:latin typeface="Consolas"/>
              </a:rPr>
              <a:t>3</a:t>
            </a:r>
          </a:p>
        </p:txBody>
      </p:sp>
      <p:sp>
        <p:nvSpPr>
          <p:cNvPr id="35" name="a0f_lc34"/>
          <p:cNvSpPr/>
          <p:nvPr/>
        </p:nvSpPr>
        <p:spPr>
          <a:xfrm>
            <a:off x="3337560" y="224028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a0f_lct35"/>
          <p:cNvSpPr txBox="1"/>
          <p:nvPr/>
        </p:nvSpPr>
        <p:spPr>
          <a:xfrm>
            <a:off x="3337560" y="2240280"/>
            <a:ext cx="329184" cy="402336"/>
          </a:xfrm>
          <a:prstGeom prst="rect">
            <a:avLst/>
          </a:prstGeom>
          <a:noFill/>
        </p:spPr>
        <p:txBody>
          <a:bodyPr wrap="square" lIns="0" tIns="0" rIns="0" bIns="0" anchor="ctr">
            <a:spAutoFit/>
          </a:bodyPr>
          <a:lstStyle/>
          <a:p>
            <a:pPr algn="ctr"/>
            <a:r>
              <a:rPr sz="950" b="1">
                <a:solidFill>
                  <a:srgbClr val="0E7490"/>
                </a:solidFill>
                <a:latin typeface="Consolas"/>
              </a:rPr>
              <a:t>4</a:t>
            </a:r>
          </a:p>
        </p:txBody>
      </p:sp>
      <p:sp>
        <p:nvSpPr>
          <p:cNvPr id="37" name="a0f_lc36"/>
          <p:cNvSpPr/>
          <p:nvPr/>
        </p:nvSpPr>
        <p:spPr>
          <a:xfrm>
            <a:off x="3703320" y="224028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0f_lct37"/>
          <p:cNvSpPr txBox="1"/>
          <p:nvPr/>
        </p:nvSpPr>
        <p:spPr>
          <a:xfrm>
            <a:off x="3703320" y="2240280"/>
            <a:ext cx="329184" cy="402336"/>
          </a:xfrm>
          <a:prstGeom prst="rect">
            <a:avLst/>
          </a:prstGeom>
          <a:noFill/>
        </p:spPr>
        <p:txBody>
          <a:bodyPr wrap="square" lIns="0" tIns="0" rIns="0" bIns="0" anchor="ctr">
            <a:spAutoFit/>
          </a:bodyPr>
          <a:lstStyle/>
          <a:p>
            <a:pPr algn="ctr"/>
            <a:r>
              <a:rPr sz="950" b="1">
                <a:solidFill>
                  <a:srgbClr val="0E7490"/>
                </a:solidFill>
                <a:latin typeface="Consolas"/>
              </a:rPr>
              <a:t>5</a:t>
            </a:r>
          </a:p>
        </p:txBody>
      </p:sp>
      <p:sp>
        <p:nvSpPr>
          <p:cNvPr id="39" name="a2u_lc38"/>
          <p:cNvSpPr/>
          <p:nvPr/>
        </p:nvSpPr>
        <p:spPr>
          <a:xfrm>
            <a:off x="4069080" y="2240280"/>
            <a:ext cx="329184" cy="402336"/>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a2u_lct39"/>
          <p:cNvSpPr txBox="1"/>
          <p:nvPr/>
        </p:nvSpPr>
        <p:spPr>
          <a:xfrm>
            <a:off x="4069080" y="2240280"/>
            <a:ext cx="329184" cy="402336"/>
          </a:xfrm>
          <a:prstGeom prst="rect">
            <a:avLst/>
          </a:prstGeom>
          <a:noFill/>
        </p:spPr>
        <p:txBody>
          <a:bodyPr wrap="square" lIns="0" tIns="0" rIns="0" bIns="0" anchor="ctr">
            <a:spAutoFit/>
          </a:bodyPr>
          <a:lstStyle/>
          <a:p>
            <a:pPr algn="ctr"/>
            <a:r>
              <a:rPr sz="950" b="1">
                <a:solidFill>
                  <a:srgbClr val="A16207"/>
                </a:solidFill>
                <a:latin typeface="Consolas"/>
              </a:rPr>
              <a:t>6</a:t>
            </a:r>
          </a:p>
        </p:txBody>
      </p:sp>
      <p:sp>
        <p:nvSpPr>
          <p:cNvPr id="41" name="a2u_pill40"/>
          <p:cNvSpPr/>
          <p:nvPr/>
        </p:nvSpPr>
        <p:spPr>
          <a:xfrm>
            <a:off x="4572000" y="2322576"/>
            <a:ext cx="118872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0E7490"/>
                </a:solidFill>
                <a:latin typeface="Consolas"/>
              </a:rPr>
              <a:t>fetch from leader</a:t>
            </a:r>
          </a:p>
        </p:txBody>
      </p:sp>
      <p:sp>
        <p:nvSpPr>
          <p:cNvPr id="42" name="a0f_rl41"/>
          <p:cNvSpPr txBox="1"/>
          <p:nvPr/>
        </p:nvSpPr>
        <p:spPr>
          <a:xfrm>
            <a:off x="457200" y="2880360"/>
            <a:ext cx="1371600" cy="402336"/>
          </a:xfrm>
          <a:prstGeom prst="rect">
            <a:avLst/>
          </a:prstGeom>
          <a:noFill/>
        </p:spPr>
        <p:txBody>
          <a:bodyPr wrap="square" lIns="0" tIns="0" rIns="0" bIns="0" anchor="ctr">
            <a:spAutoFit/>
          </a:bodyPr>
          <a:lstStyle/>
          <a:p>
            <a:pPr algn="l"/>
            <a:r>
              <a:rPr sz="950" b="1">
                <a:solidFill>
                  <a:srgbClr val="1C1917"/>
                </a:solidFill>
                <a:latin typeface="Segoe UI"/>
              </a:rPr>
              <a:t>broker 3  </a:t>
            </a:r>
            <a:r>
              <a:rPr sz="950" b="1">
                <a:solidFill>
                  <a:srgbClr val="78716C"/>
                </a:solidFill>
                <a:latin typeface="Segoe UI"/>
              </a:rPr>
              <a:t>follower</a:t>
            </a:r>
          </a:p>
        </p:txBody>
      </p:sp>
      <p:sp>
        <p:nvSpPr>
          <p:cNvPr id="43" name="a0f_lc42"/>
          <p:cNvSpPr/>
          <p:nvPr/>
        </p:nvSpPr>
        <p:spPr>
          <a:xfrm>
            <a:off x="1874519" y="288036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0f_lct43"/>
          <p:cNvSpPr txBox="1"/>
          <p:nvPr/>
        </p:nvSpPr>
        <p:spPr>
          <a:xfrm>
            <a:off x="1874519" y="2880360"/>
            <a:ext cx="329184" cy="402336"/>
          </a:xfrm>
          <a:prstGeom prst="rect">
            <a:avLst/>
          </a:prstGeom>
          <a:noFill/>
        </p:spPr>
        <p:txBody>
          <a:bodyPr wrap="square" lIns="0" tIns="0" rIns="0" bIns="0" anchor="ctr">
            <a:spAutoFit/>
          </a:bodyPr>
          <a:lstStyle/>
          <a:p>
            <a:pPr algn="ctr"/>
            <a:r>
              <a:rPr sz="950" b="1">
                <a:solidFill>
                  <a:srgbClr val="0E7490"/>
                </a:solidFill>
                <a:latin typeface="Consolas"/>
              </a:rPr>
              <a:t>0</a:t>
            </a:r>
          </a:p>
        </p:txBody>
      </p:sp>
      <p:sp>
        <p:nvSpPr>
          <p:cNvPr id="45" name="a0f_lc44"/>
          <p:cNvSpPr/>
          <p:nvPr/>
        </p:nvSpPr>
        <p:spPr>
          <a:xfrm>
            <a:off x="2240279" y="288036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a0f_lct45"/>
          <p:cNvSpPr txBox="1"/>
          <p:nvPr/>
        </p:nvSpPr>
        <p:spPr>
          <a:xfrm>
            <a:off x="2240279" y="2880360"/>
            <a:ext cx="329184" cy="402336"/>
          </a:xfrm>
          <a:prstGeom prst="rect">
            <a:avLst/>
          </a:prstGeom>
          <a:noFill/>
        </p:spPr>
        <p:txBody>
          <a:bodyPr wrap="square" lIns="0" tIns="0" rIns="0" bIns="0" anchor="ctr">
            <a:spAutoFit/>
          </a:bodyPr>
          <a:lstStyle/>
          <a:p>
            <a:pPr algn="ctr"/>
            <a:r>
              <a:rPr sz="950" b="1">
                <a:solidFill>
                  <a:srgbClr val="0E7490"/>
                </a:solidFill>
                <a:latin typeface="Consolas"/>
              </a:rPr>
              <a:t>1</a:t>
            </a:r>
          </a:p>
        </p:txBody>
      </p:sp>
      <p:sp>
        <p:nvSpPr>
          <p:cNvPr id="47" name="a0f_lc46"/>
          <p:cNvSpPr/>
          <p:nvPr/>
        </p:nvSpPr>
        <p:spPr>
          <a:xfrm>
            <a:off x="2606039" y="288036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a0f_lct47"/>
          <p:cNvSpPr txBox="1"/>
          <p:nvPr/>
        </p:nvSpPr>
        <p:spPr>
          <a:xfrm>
            <a:off x="2606039" y="2880360"/>
            <a:ext cx="329184" cy="402336"/>
          </a:xfrm>
          <a:prstGeom prst="rect">
            <a:avLst/>
          </a:prstGeom>
          <a:noFill/>
        </p:spPr>
        <p:txBody>
          <a:bodyPr wrap="square" lIns="0" tIns="0" rIns="0" bIns="0" anchor="ctr">
            <a:spAutoFit/>
          </a:bodyPr>
          <a:lstStyle/>
          <a:p>
            <a:pPr algn="ctr"/>
            <a:r>
              <a:rPr sz="950" b="1">
                <a:solidFill>
                  <a:srgbClr val="0E7490"/>
                </a:solidFill>
                <a:latin typeface="Consolas"/>
              </a:rPr>
              <a:t>2</a:t>
            </a:r>
          </a:p>
        </p:txBody>
      </p:sp>
      <p:sp>
        <p:nvSpPr>
          <p:cNvPr id="49" name="a0f_lc48"/>
          <p:cNvSpPr/>
          <p:nvPr/>
        </p:nvSpPr>
        <p:spPr>
          <a:xfrm>
            <a:off x="2971800" y="288036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a0f_lct49"/>
          <p:cNvSpPr txBox="1"/>
          <p:nvPr/>
        </p:nvSpPr>
        <p:spPr>
          <a:xfrm>
            <a:off x="2971800" y="2880360"/>
            <a:ext cx="329184" cy="402336"/>
          </a:xfrm>
          <a:prstGeom prst="rect">
            <a:avLst/>
          </a:prstGeom>
          <a:noFill/>
        </p:spPr>
        <p:txBody>
          <a:bodyPr wrap="square" lIns="0" tIns="0" rIns="0" bIns="0" anchor="ctr">
            <a:spAutoFit/>
          </a:bodyPr>
          <a:lstStyle/>
          <a:p>
            <a:pPr algn="ctr"/>
            <a:r>
              <a:rPr sz="950" b="1">
                <a:solidFill>
                  <a:srgbClr val="0E7490"/>
                </a:solidFill>
                <a:latin typeface="Consolas"/>
              </a:rPr>
              <a:t>3</a:t>
            </a:r>
          </a:p>
        </p:txBody>
      </p:sp>
      <p:sp>
        <p:nvSpPr>
          <p:cNvPr id="51" name="a0f_lc50"/>
          <p:cNvSpPr/>
          <p:nvPr/>
        </p:nvSpPr>
        <p:spPr>
          <a:xfrm>
            <a:off x="3337560" y="288036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a0f_lct51"/>
          <p:cNvSpPr txBox="1"/>
          <p:nvPr/>
        </p:nvSpPr>
        <p:spPr>
          <a:xfrm>
            <a:off x="3337560" y="2880360"/>
            <a:ext cx="329184" cy="402336"/>
          </a:xfrm>
          <a:prstGeom prst="rect">
            <a:avLst/>
          </a:prstGeom>
          <a:noFill/>
        </p:spPr>
        <p:txBody>
          <a:bodyPr wrap="square" lIns="0" tIns="0" rIns="0" bIns="0" anchor="ctr">
            <a:spAutoFit/>
          </a:bodyPr>
          <a:lstStyle/>
          <a:p>
            <a:pPr algn="ctr"/>
            <a:r>
              <a:rPr sz="950" b="1">
                <a:solidFill>
                  <a:srgbClr val="0E7490"/>
                </a:solidFill>
                <a:latin typeface="Consolas"/>
              </a:rPr>
              <a:t>4</a:t>
            </a:r>
          </a:p>
        </p:txBody>
      </p:sp>
      <p:sp>
        <p:nvSpPr>
          <p:cNvPr id="53" name="a0f_lc52"/>
          <p:cNvSpPr/>
          <p:nvPr/>
        </p:nvSpPr>
        <p:spPr>
          <a:xfrm>
            <a:off x="3703320" y="2880360"/>
            <a:ext cx="329184" cy="402336"/>
          </a:xfrm>
          <a:prstGeom prst="rect">
            <a:avLst/>
          </a:prstGeom>
          <a:solidFill>
            <a:srgbClr val="F7F6F3"/>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a0f_lct53"/>
          <p:cNvSpPr txBox="1"/>
          <p:nvPr/>
        </p:nvSpPr>
        <p:spPr>
          <a:xfrm>
            <a:off x="3703320" y="2880360"/>
            <a:ext cx="329184" cy="402336"/>
          </a:xfrm>
          <a:prstGeom prst="rect">
            <a:avLst/>
          </a:prstGeom>
          <a:noFill/>
        </p:spPr>
        <p:txBody>
          <a:bodyPr wrap="square" lIns="0" tIns="0" rIns="0" bIns="0" anchor="ctr">
            <a:spAutoFit/>
          </a:bodyPr>
          <a:lstStyle/>
          <a:p>
            <a:pPr algn="ctr"/>
            <a:r>
              <a:rPr sz="950" b="1">
                <a:solidFill>
                  <a:srgbClr val="0E7490"/>
                </a:solidFill>
                <a:latin typeface="Consolas"/>
              </a:rPr>
              <a:t>5</a:t>
            </a:r>
          </a:p>
        </p:txBody>
      </p:sp>
      <p:sp>
        <p:nvSpPr>
          <p:cNvPr id="55" name="a2ud200_lc54"/>
          <p:cNvSpPr/>
          <p:nvPr/>
        </p:nvSpPr>
        <p:spPr>
          <a:xfrm>
            <a:off x="4069080" y="2880360"/>
            <a:ext cx="329184" cy="402336"/>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a2ud200_lct55"/>
          <p:cNvSpPr txBox="1"/>
          <p:nvPr/>
        </p:nvSpPr>
        <p:spPr>
          <a:xfrm>
            <a:off x="4069080" y="2880360"/>
            <a:ext cx="329184" cy="402336"/>
          </a:xfrm>
          <a:prstGeom prst="rect">
            <a:avLst/>
          </a:prstGeom>
          <a:noFill/>
        </p:spPr>
        <p:txBody>
          <a:bodyPr wrap="square" lIns="0" tIns="0" rIns="0" bIns="0" anchor="ctr">
            <a:spAutoFit/>
          </a:bodyPr>
          <a:lstStyle/>
          <a:p>
            <a:pPr algn="ctr"/>
            <a:r>
              <a:rPr sz="950" b="1">
                <a:solidFill>
                  <a:srgbClr val="A16207"/>
                </a:solidFill>
                <a:latin typeface="Consolas"/>
              </a:rPr>
              <a:t>6</a:t>
            </a:r>
          </a:p>
        </p:txBody>
      </p:sp>
      <p:sp>
        <p:nvSpPr>
          <p:cNvPr id="57" name="a2ud200_pill56"/>
          <p:cNvSpPr/>
          <p:nvPr/>
        </p:nvSpPr>
        <p:spPr>
          <a:xfrm>
            <a:off x="4572000" y="2962656"/>
            <a:ext cx="118872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0E7490"/>
                </a:solidFill>
                <a:latin typeface="Consolas"/>
              </a:rPr>
              <a:t>fetch from leader</a:t>
            </a:r>
          </a:p>
        </p:txBody>
      </p:sp>
      <p:sp>
        <p:nvSpPr>
          <p:cNvPr id="58" name="a1u_lb57"/>
          <p:cNvSpPr txBox="1"/>
          <p:nvPr/>
        </p:nvSpPr>
        <p:spPr>
          <a:xfrm>
            <a:off x="2377440" y="1280160"/>
            <a:ext cx="1645920" cy="201168"/>
          </a:xfrm>
          <a:prstGeom prst="rect">
            <a:avLst/>
          </a:prstGeom>
          <a:noFill/>
        </p:spPr>
        <p:txBody>
          <a:bodyPr wrap="square" lIns="0" tIns="0" rIns="0" bIns="0" anchor="ctr">
            <a:spAutoFit/>
          </a:bodyPr>
          <a:lstStyle/>
          <a:p>
            <a:pPr algn="r"/>
            <a:r>
              <a:rPr sz="850" b="1">
                <a:solidFill>
                  <a:srgbClr val="A16207"/>
                </a:solidFill>
                <a:latin typeface="Segoe UI"/>
              </a:rPr>
              <a:t>a producer writes</a:t>
            </a:r>
          </a:p>
        </p:txBody>
      </p:sp>
      <p:cxnSp>
        <p:nvCxnSpPr>
          <p:cNvPr id="59" name="a1u_ar58"/>
          <p:cNvCxnSpPr/>
          <p:nvPr/>
        </p:nvCxnSpPr>
        <p:spPr>
          <a:xfrm>
            <a:off x="4233672" y="1316736"/>
            <a:ext cx="0" cy="265176"/>
          </a:xfrm>
          <a:prstGeom prst="line">
            <a:avLst/>
          </a:prstGeom>
          <a:ln w="2222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a0f_lb59"/>
          <p:cNvSpPr txBox="1"/>
          <p:nvPr/>
        </p:nvSpPr>
        <p:spPr>
          <a:xfrm>
            <a:off x="457200" y="3310128"/>
            <a:ext cx="5303520" cy="201168"/>
          </a:xfrm>
          <a:prstGeom prst="rect">
            <a:avLst/>
          </a:prstGeom>
          <a:noFill/>
        </p:spPr>
        <p:txBody>
          <a:bodyPr wrap="square" lIns="0" tIns="0" rIns="0" bIns="0" anchor="ctr">
            <a:spAutoFit/>
          </a:bodyPr>
          <a:lstStyle/>
          <a:p>
            <a:pPr algn="l"/>
            <a:r>
              <a:rPr sz="850" b="0">
                <a:solidFill>
                  <a:srgbClr val="78716C"/>
                </a:solidFill>
                <a:latin typeface="Consolas"/>
              </a:rPr>
              <a:t>partition P0  ·  offsets 0 - 6</a:t>
            </a:r>
          </a:p>
        </p:txBody>
      </p:sp>
      <p:sp>
        <p:nvSpPr>
          <p:cNvPr id="61" name="a3u_dot60"/>
          <p:cNvSpPr/>
          <p:nvPr/>
        </p:nvSpPr>
        <p:spPr>
          <a:xfrm>
            <a:off x="6035040" y="144932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a3u_b61"/>
          <p:cNvSpPr txBox="1"/>
          <p:nvPr/>
        </p:nvSpPr>
        <p:spPr>
          <a:xfrm>
            <a:off x="6254496" y="1353312"/>
            <a:ext cx="2432304" cy="621792"/>
          </a:xfrm>
          <a:prstGeom prst="rect">
            <a:avLst/>
          </a:prstGeom>
          <a:noFill/>
        </p:spPr>
        <p:txBody>
          <a:bodyPr wrap="square" lIns="0" tIns="0" rIns="0" bIns="0" anchor="t">
            <a:spAutoFit/>
          </a:bodyPr>
          <a:lstStyle/>
          <a:p>
            <a:pPr algn="l"/>
            <a:r>
              <a:rPr sz="950" b="1">
                <a:solidFill>
                  <a:srgbClr val="1C1917"/>
                </a:solidFill>
                <a:latin typeface="Segoe UI"/>
              </a:rPr>
              <a:t>Pull, not push  </a:t>
            </a:r>
            <a:r>
              <a:rPr sz="950" b="0">
                <a:solidFill>
                  <a:srgbClr val="44403C"/>
                </a:solidFill>
                <a:latin typeface="Segoe UI"/>
              </a:rPr>
              <a:t>followers fetch from the leader - the way consumers read</a:t>
            </a:r>
          </a:p>
        </p:txBody>
      </p:sp>
      <p:sp>
        <p:nvSpPr>
          <p:cNvPr id="63" name="a3ud120_dot62"/>
          <p:cNvSpPr/>
          <p:nvPr/>
        </p:nvSpPr>
        <p:spPr>
          <a:xfrm>
            <a:off x="6035040" y="2107691"/>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a3ud120_b63"/>
          <p:cNvSpPr txBox="1"/>
          <p:nvPr/>
        </p:nvSpPr>
        <p:spPr>
          <a:xfrm>
            <a:off x="6254496" y="2011679"/>
            <a:ext cx="2432304" cy="621792"/>
          </a:xfrm>
          <a:prstGeom prst="rect">
            <a:avLst/>
          </a:prstGeom>
          <a:noFill/>
        </p:spPr>
        <p:txBody>
          <a:bodyPr wrap="square" lIns="0" tIns="0" rIns="0" bIns="0" anchor="t">
            <a:spAutoFit/>
          </a:bodyPr>
          <a:lstStyle/>
          <a:p>
            <a:pPr algn="l"/>
            <a:r>
              <a:rPr sz="950" b="1">
                <a:solidFill>
                  <a:srgbClr val="1C1917"/>
                </a:solidFill>
                <a:latin typeface="Segoe UI"/>
              </a:rPr>
              <a:t>As fast as they can  </a:t>
            </a:r>
            <a:r>
              <a:rPr sz="950" b="0">
                <a:solidFill>
                  <a:srgbClr val="44403C"/>
                </a:solidFill>
                <a:latin typeface="Segoe UI"/>
              </a:rPr>
              <a:t>a healthy follower is only moments behind</a:t>
            </a:r>
          </a:p>
        </p:txBody>
      </p:sp>
      <p:sp>
        <p:nvSpPr>
          <p:cNvPr id="65" name="a3ud240_dot64"/>
          <p:cNvSpPr/>
          <p:nvPr/>
        </p:nvSpPr>
        <p:spPr>
          <a:xfrm>
            <a:off x="6035040" y="2766059"/>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a3ud240_b65"/>
          <p:cNvSpPr txBox="1"/>
          <p:nvPr/>
        </p:nvSpPr>
        <p:spPr>
          <a:xfrm>
            <a:off x="6254496" y="2670047"/>
            <a:ext cx="2432304" cy="621792"/>
          </a:xfrm>
          <a:prstGeom prst="rect">
            <a:avLst/>
          </a:prstGeom>
          <a:noFill/>
        </p:spPr>
        <p:txBody>
          <a:bodyPr wrap="square" lIns="0" tIns="0" rIns="0" bIns="0" anchor="t">
            <a:spAutoFit/>
          </a:bodyPr>
          <a:lstStyle/>
          <a:p>
            <a:pPr algn="l"/>
            <a:r>
              <a:rPr sz="950" b="1">
                <a:solidFill>
                  <a:srgbClr val="1C1917"/>
                </a:solidFill>
                <a:latin typeface="Segoe UI"/>
              </a:rPr>
              <a:t>In sync  </a:t>
            </a:r>
            <a:r>
              <a:rPr sz="950" b="0">
                <a:solidFill>
                  <a:srgbClr val="44403C"/>
                </a:solidFill>
                <a:latin typeface="Segoe UI"/>
              </a:rPr>
              <a:t>caught-up followers are the ISR - in-sync replicas</a:t>
            </a:r>
          </a:p>
        </p:txBody>
      </p:sp>
      <p:sp>
        <p:nvSpPr>
          <p:cNvPr id="67" name="a4u_nb66"/>
          <p:cNvSpPr/>
          <p:nvPr/>
        </p:nvSpPr>
        <p:spPr>
          <a:xfrm>
            <a:off x="457200" y="388620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8" name="a4u_nacc67"/>
          <p:cNvSpPr/>
          <p:nvPr/>
        </p:nvSpPr>
        <p:spPr>
          <a:xfrm>
            <a:off x="457200" y="388620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9" name="a4u_nt68"/>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By default only an in-sync replica can become the new leader - that is what makes a failover safe.</a:t>
            </a:r>
          </a:p>
        </p:txBody>
      </p:sp>
      <p:sp>
        <p:nvSpPr>
          <p:cNvPr id="70" name="ft6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71" name="ft7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2" name="ft7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73" name="ft7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500"/>
                                        <p:tgtEl>
                                          <p:spTgt spid="3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5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500"/>
                                        <p:tgtEl>
                                          <p:spTgt spid="3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5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500"/>
                                        <p:tgtEl>
                                          <p:spTgt spid="3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500"/>
                                        <p:tgtEl>
                                          <p:spTgt spid="4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500"/>
                                        <p:tgtEl>
                                          <p:spTgt spid="4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500"/>
                                        <p:tgtEl>
                                          <p:spTgt spid="4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500"/>
                                        <p:tgtEl>
                                          <p:spTgt spid="4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fade">
                                      <p:cBhvr>
                                        <p:cTn id="97" dur="500"/>
                                        <p:tgtEl>
                                          <p:spTgt spid="4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500"/>
                                        <p:tgtEl>
                                          <p:spTgt spid="4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fade">
                                      <p:cBhvr>
                                        <p:cTn id="103" dur="500"/>
                                        <p:tgtEl>
                                          <p:spTgt spid="4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fade">
                                      <p:cBhvr>
                                        <p:cTn id="106" dur="500"/>
                                        <p:tgtEl>
                                          <p:spTgt spid="4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500"/>
                                        <p:tgtEl>
                                          <p:spTgt spid="5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fade">
                                      <p:cBhvr>
                                        <p:cTn id="112" dur="500"/>
                                        <p:tgtEl>
                                          <p:spTgt spid="5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2"/>
                                        </p:tgtEl>
                                        <p:attrNameLst>
                                          <p:attrName>style.visibility</p:attrName>
                                        </p:attrNameLst>
                                      </p:cBhvr>
                                      <p:to>
                                        <p:strVal val="visible"/>
                                      </p:to>
                                    </p:set>
                                    <p:animEffect transition="in" filter="fade">
                                      <p:cBhvr>
                                        <p:cTn id="115" dur="500"/>
                                        <p:tgtEl>
                                          <p:spTgt spid="5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53"/>
                                        </p:tgtEl>
                                        <p:attrNameLst>
                                          <p:attrName>style.visibility</p:attrName>
                                        </p:attrNameLst>
                                      </p:cBhvr>
                                      <p:to>
                                        <p:strVal val="visible"/>
                                      </p:to>
                                    </p:set>
                                    <p:animEffect transition="in" filter="fade">
                                      <p:cBhvr>
                                        <p:cTn id="118" dur="500"/>
                                        <p:tgtEl>
                                          <p:spTgt spid="5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4"/>
                                        </p:tgtEl>
                                        <p:attrNameLst>
                                          <p:attrName>style.visibility</p:attrName>
                                        </p:attrNameLst>
                                      </p:cBhvr>
                                      <p:to>
                                        <p:strVal val="visible"/>
                                      </p:to>
                                    </p:set>
                                    <p:animEffect transition="in" filter="fade">
                                      <p:cBhvr>
                                        <p:cTn id="121" dur="500"/>
                                        <p:tgtEl>
                                          <p:spTgt spid="5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60"/>
                                        </p:tgtEl>
                                        <p:attrNameLst>
                                          <p:attrName>style.visibility</p:attrName>
                                        </p:attrNameLst>
                                      </p:cBhvr>
                                      <p:to>
                                        <p:strVal val="visible"/>
                                      </p:to>
                                    </p:set>
                                    <p:animEffect transition="in" filter="fade">
                                      <p:cBhvr>
                                        <p:cTn id="124" dur="500"/>
                                        <p:tgtEl>
                                          <p:spTgt spid="60"/>
                                        </p:tgtEl>
                                      </p:cBhvr>
                                    </p:animEffect>
                                  </p:child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24"/>
                                        </p:tgtEl>
                                        <p:attrNameLst>
                                          <p:attrName>style.visibility</p:attrName>
                                        </p:attrNameLst>
                                      </p:cBhvr>
                                      <p:to>
                                        <p:strVal val="visible"/>
                                      </p:to>
                                    </p:set>
                                    <p:anim calcmode="lin" valueType="num">
                                      <p:cBhvr additive="base">
                                        <p:cTn id="129" dur="500" fill="hold"/>
                                        <p:tgtEl>
                                          <p:spTgt spid="24"/>
                                        </p:tgtEl>
                                        <p:attrNameLst>
                                          <p:attrName>ppt_x</p:attrName>
                                        </p:attrNameLst>
                                      </p:cBhvr>
                                      <p:tavLst>
                                        <p:tav tm="0">
                                          <p:val>
                                            <p:strVal val="#ppt_x"/>
                                          </p:val>
                                        </p:tav>
                                        <p:tav tm="100000">
                                          <p:val>
                                            <p:strVal val="#ppt_x"/>
                                          </p:val>
                                        </p:tav>
                                      </p:tavLst>
                                    </p:anim>
                                    <p:anim calcmode="lin" valueType="num">
                                      <p:cBhvr additive="base">
                                        <p:cTn id="130" dur="500" fill="hold"/>
                                        <p:tgtEl>
                                          <p:spTgt spid="24"/>
                                        </p:tgtEl>
                                        <p:attrNameLst>
                                          <p:attrName>ppt_y</p:attrName>
                                        </p:attrNameLst>
                                      </p:cBhvr>
                                      <p:tavLst>
                                        <p:tav tm="0">
                                          <p:val>
                                            <p:strVal val="#ppt_y+0.1"/>
                                          </p:val>
                                        </p:tav>
                                        <p:tav tm="100000">
                                          <p:val>
                                            <p:strVal val="#ppt_y"/>
                                          </p:val>
                                        </p:tav>
                                      </p:tavLst>
                                    </p:anim>
                                    <p:animEffect transition="in" filter="fade">
                                      <p:cBhvr>
                                        <p:cTn id="131" dur="500"/>
                                        <p:tgtEl>
                                          <p:spTgt spid="24"/>
                                        </p:tgtEl>
                                      </p:cBhvr>
                                    </p:animEffect>
                                  </p:childTnLst>
                                </p:cTn>
                              </p:par>
                              <p:par>
                                <p:cTn id="132" presetID="2" presetClass="entr" presetSubtype="4" fill="hold" grpId="0" nodeType="withEffect">
                                  <p:stCondLst>
                                    <p:cond delay="0"/>
                                  </p:stCondLst>
                                  <p:childTnLst>
                                    <p:set>
                                      <p:cBhvr>
                                        <p:cTn id="133" dur="1" fill="hold">
                                          <p:stCondLst>
                                            <p:cond delay="0"/>
                                          </p:stCondLst>
                                        </p:cTn>
                                        <p:tgtEl>
                                          <p:spTgt spid="25"/>
                                        </p:tgtEl>
                                        <p:attrNameLst>
                                          <p:attrName>style.visibility</p:attrName>
                                        </p:attrNameLst>
                                      </p:cBhvr>
                                      <p:to>
                                        <p:strVal val="visible"/>
                                      </p:to>
                                    </p:set>
                                    <p:anim calcmode="lin" valueType="num">
                                      <p:cBhvr additive="base">
                                        <p:cTn id="134" dur="500" fill="hold"/>
                                        <p:tgtEl>
                                          <p:spTgt spid="25"/>
                                        </p:tgtEl>
                                        <p:attrNameLst>
                                          <p:attrName>ppt_x</p:attrName>
                                        </p:attrNameLst>
                                      </p:cBhvr>
                                      <p:tavLst>
                                        <p:tav tm="0">
                                          <p:val>
                                            <p:strVal val="#ppt_x"/>
                                          </p:val>
                                        </p:tav>
                                        <p:tav tm="100000">
                                          <p:val>
                                            <p:strVal val="#ppt_x"/>
                                          </p:val>
                                        </p:tav>
                                      </p:tavLst>
                                    </p:anim>
                                    <p:anim calcmode="lin" valueType="num">
                                      <p:cBhvr additive="base">
                                        <p:cTn id="135" dur="500" fill="hold"/>
                                        <p:tgtEl>
                                          <p:spTgt spid="25"/>
                                        </p:tgtEl>
                                        <p:attrNameLst>
                                          <p:attrName>ppt_y</p:attrName>
                                        </p:attrNameLst>
                                      </p:cBhvr>
                                      <p:tavLst>
                                        <p:tav tm="0">
                                          <p:val>
                                            <p:strVal val="#ppt_y+0.1"/>
                                          </p:val>
                                        </p:tav>
                                        <p:tav tm="100000">
                                          <p:val>
                                            <p:strVal val="#ppt_y"/>
                                          </p:val>
                                        </p:tav>
                                      </p:tavLst>
                                    </p:anim>
                                    <p:animEffect transition="in" filter="fade">
                                      <p:cBhvr>
                                        <p:cTn id="136" dur="500"/>
                                        <p:tgtEl>
                                          <p:spTgt spid="25"/>
                                        </p:tgtEl>
                                      </p:cBhvr>
                                    </p:animEffect>
                                  </p:childTnLst>
                                </p:cTn>
                              </p:par>
                              <p:par>
                                <p:cTn id="137" presetID="2" presetClass="entr" presetSubtype="4"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 calcmode="lin" valueType="num">
                                      <p:cBhvr additive="base">
                                        <p:cTn id="139" dur="500" fill="hold"/>
                                        <p:tgtEl>
                                          <p:spTgt spid="58"/>
                                        </p:tgtEl>
                                        <p:attrNameLst>
                                          <p:attrName>ppt_x</p:attrName>
                                        </p:attrNameLst>
                                      </p:cBhvr>
                                      <p:tavLst>
                                        <p:tav tm="0">
                                          <p:val>
                                            <p:strVal val="#ppt_x"/>
                                          </p:val>
                                        </p:tav>
                                        <p:tav tm="100000">
                                          <p:val>
                                            <p:strVal val="#ppt_x"/>
                                          </p:val>
                                        </p:tav>
                                      </p:tavLst>
                                    </p:anim>
                                    <p:anim calcmode="lin" valueType="num">
                                      <p:cBhvr additive="base">
                                        <p:cTn id="140" dur="500" fill="hold"/>
                                        <p:tgtEl>
                                          <p:spTgt spid="58"/>
                                        </p:tgtEl>
                                        <p:attrNameLst>
                                          <p:attrName>ppt_y</p:attrName>
                                        </p:attrNameLst>
                                      </p:cBhvr>
                                      <p:tavLst>
                                        <p:tav tm="0">
                                          <p:val>
                                            <p:strVal val="#ppt_y+0.1"/>
                                          </p:val>
                                        </p:tav>
                                        <p:tav tm="100000">
                                          <p:val>
                                            <p:strVal val="#ppt_y"/>
                                          </p:val>
                                        </p:tav>
                                      </p:tavLst>
                                    </p:anim>
                                    <p:animEffect transition="in" filter="fade">
                                      <p:cBhvr>
                                        <p:cTn id="141" dur="500"/>
                                        <p:tgtEl>
                                          <p:spTgt spid="58"/>
                                        </p:tgtEl>
                                      </p:cBhvr>
                                    </p:animEffect>
                                  </p:childTnLst>
                                </p:cTn>
                              </p:par>
                              <p:par>
                                <p:cTn id="142" presetID="2" presetClass="entr" presetSubtype="4" fill="hold" grpId="0" nodeType="withEffect">
                                  <p:stCondLst>
                                    <p:cond delay="0"/>
                                  </p:stCondLst>
                                  <p:childTnLst>
                                    <p:set>
                                      <p:cBhvr>
                                        <p:cTn id="143" dur="1" fill="hold">
                                          <p:stCondLst>
                                            <p:cond delay="0"/>
                                          </p:stCondLst>
                                        </p:cTn>
                                        <p:tgtEl>
                                          <p:spTgt spid="59"/>
                                        </p:tgtEl>
                                        <p:attrNameLst>
                                          <p:attrName>style.visibility</p:attrName>
                                        </p:attrNameLst>
                                      </p:cBhvr>
                                      <p:to>
                                        <p:strVal val="visible"/>
                                      </p:to>
                                    </p:set>
                                    <p:anim calcmode="lin" valueType="num">
                                      <p:cBhvr additive="base">
                                        <p:cTn id="144" dur="500" fill="hold"/>
                                        <p:tgtEl>
                                          <p:spTgt spid="59"/>
                                        </p:tgtEl>
                                        <p:attrNameLst>
                                          <p:attrName>ppt_x</p:attrName>
                                        </p:attrNameLst>
                                      </p:cBhvr>
                                      <p:tavLst>
                                        <p:tav tm="0">
                                          <p:val>
                                            <p:strVal val="#ppt_x"/>
                                          </p:val>
                                        </p:tav>
                                        <p:tav tm="100000">
                                          <p:val>
                                            <p:strVal val="#ppt_x"/>
                                          </p:val>
                                        </p:tav>
                                      </p:tavLst>
                                    </p:anim>
                                    <p:anim calcmode="lin" valueType="num">
                                      <p:cBhvr additive="base">
                                        <p:cTn id="145" dur="500" fill="hold"/>
                                        <p:tgtEl>
                                          <p:spTgt spid="59"/>
                                        </p:tgtEl>
                                        <p:attrNameLst>
                                          <p:attrName>ppt_y</p:attrName>
                                        </p:attrNameLst>
                                      </p:cBhvr>
                                      <p:tavLst>
                                        <p:tav tm="0">
                                          <p:val>
                                            <p:strVal val="#ppt_y+0.1"/>
                                          </p:val>
                                        </p:tav>
                                        <p:tav tm="100000">
                                          <p:val>
                                            <p:strVal val="#ppt_y"/>
                                          </p:val>
                                        </p:tav>
                                      </p:tavLst>
                                    </p:anim>
                                    <p:animEffect transition="in" filter="fade">
                                      <p:cBhvr>
                                        <p:cTn id="146" dur="500"/>
                                        <p:tgtEl>
                                          <p:spTgt spid="59"/>
                                        </p:tgtEl>
                                      </p:cBhvr>
                                    </p:animEffect>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500" fill="hold"/>
                                        <p:tgtEl>
                                          <p:spTgt spid="39"/>
                                        </p:tgtEl>
                                        <p:attrNameLst>
                                          <p:attrName>ppt_x</p:attrName>
                                        </p:attrNameLst>
                                      </p:cBhvr>
                                      <p:tavLst>
                                        <p:tav tm="0">
                                          <p:val>
                                            <p:strVal val="#ppt_x"/>
                                          </p:val>
                                        </p:tav>
                                        <p:tav tm="100000">
                                          <p:val>
                                            <p:strVal val="#ppt_x"/>
                                          </p:val>
                                        </p:tav>
                                      </p:tavLst>
                                    </p:anim>
                                    <p:anim calcmode="lin" valueType="num">
                                      <p:cBhvr additive="base">
                                        <p:cTn id="152" dur="500" fill="hold"/>
                                        <p:tgtEl>
                                          <p:spTgt spid="39"/>
                                        </p:tgtEl>
                                        <p:attrNameLst>
                                          <p:attrName>ppt_y</p:attrName>
                                        </p:attrNameLst>
                                      </p:cBhvr>
                                      <p:tavLst>
                                        <p:tav tm="0">
                                          <p:val>
                                            <p:strVal val="#ppt_y+0.1"/>
                                          </p:val>
                                        </p:tav>
                                        <p:tav tm="100000">
                                          <p:val>
                                            <p:strVal val="#ppt_y"/>
                                          </p:val>
                                        </p:tav>
                                      </p:tavLst>
                                    </p:anim>
                                    <p:animEffect transition="in" filter="fade">
                                      <p:cBhvr>
                                        <p:cTn id="153" dur="500"/>
                                        <p:tgtEl>
                                          <p:spTgt spid="39"/>
                                        </p:tgtEl>
                                      </p:cBhvr>
                                    </p:animEffect>
                                  </p:childTnLst>
                                </p:cTn>
                              </p:par>
                              <p:par>
                                <p:cTn id="154" presetID="2" presetClass="entr" presetSubtype="4" fill="hold" grpId="0" nodeType="withEffect">
                                  <p:stCondLst>
                                    <p:cond delay="0"/>
                                  </p:stCondLst>
                                  <p:childTnLst>
                                    <p:set>
                                      <p:cBhvr>
                                        <p:cTn id="155" dur="1" fill="hold">
                                          <p:stCondLst>
                                            <p:cond delay="0"/>
                                          </p:stCondLst>
                                        </p:cTn>
                                        <p:tgtEl>
                                          <p:spTgt spid="40"/>
                                        </p:tgtEl>
                                        <p:attrNameLst>
                                          <p:attrName>style.visibility</p:attrName>
                                        </p:attrNameLst>
                                      </p:cBhvr>
                                      <p:to>
                                        <p:strVal val="visible"/>
                                      </p:to>
                                    </p:set>
                                    <p:anim calcmode="lin" valueType="num">
                                      <p:cBhvr additive="base">
                                        <p:cTn id="156" dur="500" fill="hold"/>
                                        <p:tgtEl>
                                          <p:spTgt spid="40"/>
                                        </p:tgtEl>
                                        <p:attrNameLst>
                                          <p:attrName>ppt_x</p:attrName>
                                        </p:attrNameLst>
                                      </p:cBhvr>
                                      <p:tavLst>
                                        <p:tav tm="0">
                                          <p:val>
                                            <p:strVal val="#ppt_x"/>
                                          </p:val>
                                        </p:tav>
                                        <p:tav tm="100000">
                                          <p:val>
                                            <p:strVal val="#ppt_x"/>
                                          </p:val>
                                        </p:tav>
                                      </p:tavLst>
                                    </p:anim>
                                    <p:anim calcmode="lin" valueType="num">
                                      <p:cBhvr additive="base">
                                        <p:cTn id="157" dur="500" fill="hold"/>
                                        <p:tgtEl>
                                          <p:spTgt spid="40"/>
                                        </p:tgtEl>
                                        <p:attrNameLst>
                                          <p:attrName>ppt_y</p:attrName>
                                        </p:attrNameLst>
                                      </p:cBhvr>
                                      <p:tavLst>
                                        <p:tav tm="0">
                                          <p:val>
                                            <p:strVal val="#ppt_y+0.1"/>
                                          </p:val>
                                        </p:tav>
                                        <p:tav tm="100000">
                                          <p:val>
                                            <p:strVal val="#ppt_y"/>
                                          </p:val>
                                        </p:tav>
                                      </p:tavLst>
                                    </p:anim>
                                    <p:animEffect transition="in" filter="fade">
                                      <p:cBhvr>
                                        <p:cTn id="158" dur="500"/>
                                        <p:tgtEl>
                                          <p:spTgt spid="40"/>
                                        </p:tgtEl>
                                      </p:cBhvr>
                                    </p:animEffect>
                                  </p:childTnLst>
                                </p:cTn>
                              </p:par>
                              <p:par>
                                <p:cTn id="159" presetID="2" presetClass="entr" presetSubtype="4" fill="hold" grpId="0" nodeType="withEffect">
                                  <p:stCondLst>
                                    <p:cond delay="0"/>
                                  </p:stCondLst>
                                  <p:childTnLst>
                                    <p:set>
                                      <p:cBhvr>
                                        <p:cTn id="160" dur="1" fill="hold">
                                          <p:stCondLst>
                                            <p:cond delay="0"/>
                                          </p:stCondLst>
                                        </p:cTn>
                                        <p:tgtEl>
                                          <p:spTgt spid="41"/>
                                        </p:tgtEl>
                                        <p:attrNameLst>
                                          <p:attrName>style.visibility</p:attrName>
                                        </p:attrNameLst>
                                      </p:cBhvr>
                                      <p:to>
                                        <p:strVal val="visible"/>
                                      </p:to>
                                    </p:set>
                                    <p:anim calcmode="lin" valueType="num">
                                      <p:cBhvr additive="base">
                                        <p:cTn id="161" dur="500" fill="hold"/>
                                        <p:tgtEl>
                                          <p:spTgt spid="41"/>
                                        </p:tgtEl>
                                        <p:attrNameLst>
                                          <p:attrName>ppt_x</p:attrName>
                                        </p:attrNameLst>
                                      </p:cBhvr>
                                      <p:tavLst>
                                        <p:tav tm="0">
                                          <p:val>
                                            <p:strVal val="#ppt_x"/>
                                          </p:val>
                                        </p:tav>
                                        <p:tav tm="100000">
                                          <p:val>
                                            <p:strVal val="#ppt_x"/>
                                          </p:val>
                                        </p:tav>
                                      </p:tavLst>
                                    </p:anim>
                                    <p:anim calcmode="lin" valueType="num">
                                      <p:cBhvr additive="base">
                                        <p:cTn id="162" dur="500" fill="hold"/>
                                        <p:tgtEl>
                                          <p:spTgt spid="41"/>
                                        </p:tgtEl>
                                        <p:attrNameLst>
                                          <p:attrName>ppt_y</p:attrName>
                                        </p:attrNameLst>
                                      </p:cBhvr>
                                      <p:tavLst>
                                        <p:tav tm="0">
                                          <p:val>
                                            <p:strVal val="#ppt_y+0.1"/>
                                          </p:val>
                                        </p:tav>
                                        <p:tav tm="100000">
                                          <p:val>
                                            <p:strVal val="#ppt_y"/>
                                          </p:val>
                                        </p:tav>
                                      </p:tavLst>
                                    </p:anim>
                                    <p:animEffect transition="in" filter="fade">
                                      <p:cBhvr>
                                        <p:cTn id="163" dur="500"/>
                                        <p:tgtEl>
                                          <p:spTgt spid="41"/>
                                        </p:tgtEl>
                                      </p:cBhvr>
                                    </p:animEffect>
                                  </p:childTnLst>
                                </p:cTn>
                              </p:par>
                              <p:par>
                                <p:cTn id="164" presetID="2" presetClass="entr" presetSubtype="4" fill="hold" grpId="0" nodeType="withEffect">
                                  <p:stCondLst>
                                    <p:cond delay="200"/>
                                  </p:stCondLst>
                                  <p:childTnLst>
                                    <p:set>
                                      <p:cBhvr>
                                        <p:cTn id="165" dur="1" fill="hold">
                                          <p:stCondLst>
                                            <p:cond delay="0"/>
                                          </p:stCondLst>
                                        </p:cTn>
                                        <p:tgtEl>
                                          <p:spTgt spid="55"/>
                                        </p:tgtEl>
                                        <p:attrNameLst>
                                          <p:attrName>style.visibility</p:attrName>
                                        </p:attrNameLst>
                                      </p:cBhvr>
                                      <p:to>
                                        <p:strVal val="visible"/>
                                      </p:to>
                                    </p:set>
                                    <p:anim calcmode="lin" valueType="num">
                                      <p:cBhvr additive="base">
                                        <p:cTn id="166" dur="500" fill="hold"/>
                                        <p:tgtEl>
                                          <p:spTgt spid="55"/>
                                        </p:tgtEl>
                                        <p:attrNameLst>
                                          <p:attrName>ppt_x</p:attrName>
                                        </p:attrNameLst>
                                      </p:cBhvr>
                                      <p:tavLst>
                                        <p:tav tm="0">
                                          <p:val>
                                            <p:strVal val="#ppt_x"/>
                                          </p:val>
                                        </p:tav>
                                        <p:tav tm="100000">
                                          <p:val>
                                            <p:strVal val="#ppt_x"/>
                                          </p:val>
                                        </p:tav>
                                      </p:tavLst>
                                    </p:anim>
                                    <p:anim calcmode="lin" valueType="num">
                                      <p:cBhvr additive="base">
                                        <p:cTn id="167" dur="500" fill="hold"/>
                                        <p:tgtEl>
                                          <p:spTgt spid="55"/>
                                        </p:tgtEl>
                                        <p:attrNameLst>
                                          <p:attrName>ppt_y</p:attrName>
                                        </p:attrNameLst>
                                      </p:cBhvr>
                                      <p:tavLst>
                                        <p:tav tm="0">
                                          <p:val>
                                            <p:strVal val="#ppt_y+0.1"/>
                                          </p:val>
                                        </p:tav>
                                        <p:tav tm="100000">
                                          <p:val>
                                            <p:strVal val="#ppt_y"/>
                                          </p:val>
                                        </p:tav>
                                      </p:tavLst>
                                    </p:anim>
                                    <p:animEffect transition="in" filter="fade">
                                      <p:cBhvr>
                                        <p:cTn id="168" dur="500"/>
                                        <p:tgtEl>
                                          <p:spTgt spid="55"/>
                                        </p:tgtEl>
                                      </p:cBhvr>
                                    </p:animEffect>
                                  </p:childTnLst>
                                </p:cTn>
                              </p:par>
                              <p:par>
                                <p:cTn id="169" presetID="2" presetClass="entr" presetSubtype="4" fill="hold" grpId="0" nodeType="withEffect">
                                  <p:stCondLst>
                                    <p:cond delay="200"/>
                                  </p:stCondLst>
                                  <p:childTnLst>
                                    <p:set>
                                      <p:cBhvr>
                                        <p:cTn id="170" dur="1" fill="hold">
                                          <p:stCondLst>
                                            <p:cond delay="0"/>
                                          </p:stCondLst>
                                        </p:cTn>
                                        <p:tgtEl>
                                          <p:spTgt spid="56"/>
                                        </p:tgtEl>
                                        <p:attrNameLst>
                                          <p:attrName>style.visibility</p:attrName>
                                        </p:attrNameLst>
                                      </p:cBhvr>
                                      <p:to>
                                        <p:strVal val="visible"/>
                                      </p:to>
                                    </p:set>
                                    <p:anim calcmode="lin" valueType="num">
                                      <p:cBhvr additive="base">
                                        <p:cTn id="171" dur="500" fill="hold"/>
                                        <p:tgtEl>
                                          <p:spTgt spid="56"/>
                                        </p:tgtEl>
                                        <p:attrNameLst>
                                          <p:attrName>ppt_x</p:attrName>
                                        </p:attrNameLst>
                                      </p:cBhvr>
                                      <p:tavLst>
                                        <p:tav tm="0">
                                          <p:val>
                                            <p:strVal val="#ppt_x"/>
                                          </p:val>
                                        </p:tav>
                                        <p:tav tm="100000">
                                          <p:val>
                                            <p:strVal val="#ppt_x"/>
                                          </p:val>
                                        </p:tav>
                                      </p:tavLst>
                                    </p:anim>
                                    <p:anim calcmode="lin" valueType="num">
                                      <p:cBhvr additive="base">
                                        <p:cTn id="172" dur="500" fill="hold"/>
                                        <p:tgtEl>
                                          <p:spTgt spid="56"/>
                                        </p:tgtEl>
                                        <p:attrNameLst>
                                          <p:attrName>ppt_y</p:attrName>
                                        </p:attrNameLst>
                                      </p:cBhvr>
                                      <p:tavLst>
                                        <p:tav tm="0">
                                          <p:val>
                                            <p:strVal val="#ppt_y+0.1"/>
                                          </p:val>
                                        </p:tav>
                                        <p:tav tm="100000">
                                          <p:val>
                                            <p:strVal val="#ppt_y"/>
                                          </p:val>
                                        </p:tav>
                                      </p:tavLst>
                                    </p:anim>
                                    <p:animEffect transition="in" filter="fade">
                                      <p:cBhvr>
                                        <p:cTn id="173" dur="500"/>
                                        <p:tgtEl>
                                          <p:spTgt spid="56"/>
                                        </p:tgtEl>
                                      </p:cBhvr>
                                    </p:animEffect>
                                  </p:childTnLst>
                                </p:cTn>
                              </p:par>
                              <p:par>
                                <p:cTn id="174" presetID="2" presetClass="entr" presetSubtype="4" fill="hold" grpId="0" nodeType="withEffect">
                                  <p:stCondLst>
                                    <p:cond delay="200"/>
                                  </p:stCondLst>
                                  <p:childTnLst>
                                    <p:set>
                                      <p:cBhvr>
                                        <p:cTn id="175" dur="1" fill="hold">
                                          <p:stCondLst>
                                            <p:cond delay="0"/>
                                          </p:stCondLst>
                                        </p:cTn>
                                        <p:tgtEl>
                                          <p:spTgt spid="57"/>
                                        </p:tgtEl>
                                        <p:attrNameLst>
                                          <p:attrName>style.visibility</p:attrName>
                                        </p:attrNameLst>
                                      </p:cBhvr>
                                      <p:to>
                                        <p:strVal val="visible"/>
                                      </p:to>
                                    </p:set>
                                    <p:anim calcmode="lin" valueType="num">
                                      <p:cBhvr additive="base">
                                        <p:cTn id="176" dur="500" fill="hold"/>
                                        <p:tgtEl>
                                          <p:spTgt spid="57"/>
                                        </p:tgtEl>
                                        <p:attrNameLst>
                                          <p:attrName>ppt_x</p:attrName>
                                        </p:attrNameLst>
                                      </p:cBhvr>
                                      <p:tavLst>
                                        <p:tav tm="0">
                                          <p:val>
                                            <p:strVal val="#ppt_x"/>
                                          </p:val>
                                        </p:tav>
                                        <p:tav tm="100000">
                                          <p:val>
                                            <p:strVal val="#ppt_x"/>
                                          </p:val>
                                        </p:tav>
                                      </p:tavLst>
                                    </p:anim>
                                    <p:anim calcmode="lin" valueType="num">
                                      <p:cBhvr additive="base">
                                        <p:cTn id="177" dur="500" fill="hold"/>
                                        <p:tgtEl>
                                          <p:spTgt spid="57"/>
                                        </p:tgtEl>
                                        <p:attrNameLst>
                                          <p:attrName>ppt_y</p:attrName>
                                        </p:attrNameLst>
                                      </p:cBhvr>
                                      <p:tavLst>
                                        <p:tav tm="0">
                                          <p:val>
                                            <p:strVal val="#ppt_y+0.1"/>
                                          </p:val>
                                        </p:tav>
                                        <p:tav tm="100000">
                                          <p:val>
                                            <p:strVal val="#ppt_y"/>
                                          </p:val>
                                        </p:tav>
                                      </p:tavLst>
                                    </p:anim>
                                    <p:animEffect transition="in" filter="fade">
                                      <p:cBhvr>
                                        <p:cTn id="178" dur="500"/>
                                        <p:tgtEl>
                                          <p:spTgt spid="57"/>
                                        </p:tgtEl>
                                      </p:cBhvr>
                                    </p:animEffect>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61"/>
                                        </p:tgtEl>
                                        <p:attrNameLst>
                                          <p:attrName>style.visibility</p:attrName>
                                        </p:attrNameLst>
                                      </p:cBhvr>
                                      <p:to>
                                        <p:strVal val="visible"/>
                                      </p:to>
                                    </p:set>
                                    <p:anim calcmode="lin" valueType="num">
                                      <p:cBhvr additive="base">
                                        <p:cTn id="183" dur="500" fill="hold"/>
                                        <p:tgtEl>
                                          <p:spTgt spid="61"/>
                                        </p:tgtEl>
                                        <p:attrNameLst>
                                          <p:attrName>ppt_x</p:attrName>
                                        </p:attrNameLst>
                                      </p:cBhvr>
                                      <p:tavLst>
                                        <p:tav tm="0">
                                          <p:val>
                                            <p:strVal val="#ppt_x"/>
                                          </p:val>
                                        </p:tav>
                                        <p:tav tm="100000">
                                          <p:val>
                                            <p:strVal val="#ppt_x"/>
                                          </p:val>
                                        </p:tav>
                                      </p:tavLst>
                                    </p:anim>
                                    <p:anim calcmode="lin" valueType="num">
                                      <p:cBhvr additive="base">
                                        <p:cTn id="184" dur="500" fill="hold"/>
                                        <p:tgtEl>
                                          <p:spTgt spid="61"/>
                                        </p:tgtEl>
                                        <p:attrNameLst>
                                          <p:attrName>ppt_y</p:attrName>
                                        </p:attrNameLst>
                                      </p:cBhvr>
                                      <p:tavLst>
                                        <p:tav tm="0">
                                          <p:val>
                                            <p:strVal val="#ppt_y+0.1"/>
                                          </p:val>
                                        </p:tav>
                                        <p:tav tm="100000">
                                          <p:val>
                                            <p:strVal val="#ppt_y"/>
                                          </p:val>
                                        </p:tav>
                                      </p:tavLst>
                                    </p:anim>
                                    <p:animEffect transition="in" filter="fade">
                                      <p:cBhvr>
                                        <p:cTn id="185" dur="500"/>
                                        <p:tgtEl>
                                          <p:spTgt spid="61"/>
                                        </p:tgtEl>
                                      </p:cBhvr>
                                    </p:animEffect>
                                  </p:childTnLst>
                                </p:cTn>
                              </p:par>
                              <p:par>
                                <p:cTn id="186" presetID="2" presetClass="entr" presetSubtype="4" fill="hold" grpId="0" nodeType="withEffect">
                                  <p:stCondLst>
                                    <p:cond delay="0"/>
                                  </p:stCondLst>
                                  <p:childTnLst>
                                    <p:set>
                                      <p:cBhvr>
                                        <p:cTn id="187" dur="1" fill="hold">
                                          <p:stCondLst>
                                            <p:cond delay="0"/>
                                          </p:stCondLst>
                                        </p:cTn>
                                        <p:tgtEl>
                                          <p:spTgt spid="62"/>
                                        </p:tgtEl>
                                        <p:attrNameLst>
                                          <p:attrName>style.visibility</p:attrName>
                                        </p:attrNameLst>
                                      </p:cBhvr>
                                      <p:to>
                                        <p:strVal val="visible"/>
                                      </p:to>
                                    </p:set>
                                    <p:anim calcmode="lin" valueType="num">
                                      <p:cBhvr additive="base">
                                        <p:cTn id="188" dur="500" fill="hold"/>
                                        <p:tgtEl>
                                          <p:spTgt spid="62"/>
                                        </p:tgtEl>
                                        <p:attrNameLst>
                                          <p:attrName>ppt_x</p:attrName>
                                        </p:attrNameLst>
                                      </p:cBhvr>
                                      <p:tavLst>
                                        <p:tav tm="0">
                                          <p:val>
                                            <p:strVal val="#ppt_x"/>
                                          </p:val>
                                        </p:tav>
                                        <p:tav tm="100000">
                                          <p:val>
                                            <p:strVal val="#ppt_x"/>
                                          </p:val>
                                        </p:tav>
                                      </p:tavLst>
                                    </p:anim>
                                    <p:anim calcmode="lin" valueType="num">
                                      <p:cBhvr additive="base">
                                        <p:cTn id="189" dur="500" fill="hold"/>
                                        <p:tgtEl>
                                          <p:spTgt spid="62"/>
                                        </p:tgtEl>
                                        <p:attrNameLst>
                                          <p:attrName>ppt_y</p:attrName>
                                        </p:attrNameLst>
                                      </p:cBhvr>
                                      <p:tavLst>
                                        <p:tav tm="0">
                                          <p:val>
                                            <p:strVal val="#ppt_y+0.1"/>
                                          </p:val>
                                        </p:tav>
                                        <p:tav tm="100000">
                                          <p:val>
                                            <p:strVal val="#ppt_y"/>
                                          </p:val>
                                        </p:tav>
                                      </p:tavLst>
                                    </p:anim>
                                    <p:animEffect transition="in" filter="fade">
                                      <p:cBhvr>
                                        <p:cTn id="190" dur="500"/>
                                        <p:tgtEl>
                                          <p:spTgt spid="62"/>
                                        </p:tgtEl>
                                      </p:cBhvr>
                                    </p:animEffect>
                                  </p:childTnLst>
                                </p:cTn>
                              </p:par>
                              <p:par>
                                <p:cTn id="191" presetID="2" presetClass="entr" presetSubtype="4" fill="hold" grpId="0" nodeType="withEffect">
                                  <p:stCondLst>
                                    <p:cond delay="120"/>
                                  </p:stCondLst>
                                  <p:childTnLst>
                                    <p:set>
                                      <p:cBhvr>
                                        <p:cTn id="192" dur="1" fill="hold">
                                          <p:stCondLst>
                                            <p:cond delay="0"/>
                                          </p:stCondLst>
                                        </p:cTn>
                                        <p:tgtEl>
                                          <p:spTgt spid="63"/>
                                        </p:tgtEl>
                                        <p:attrNameLst>
                                          <p:attrName>style.visibility</p:attrName>
                                        </p:attrNameLst>
                                      </p:cBhvr>
                                      <p:to>
                                        <p:strVal val="visible"/>
                                      </p:to>
                                    </p:set>
                                    <p:anim calcmode="lin" valueType="num">
                                      <p:cBhvr additive="base">
                                        <p:cTn id="193" dur="500" fill="hold"/>
                                        <p:tgtEl>
                                          <p:spTgt spid="63"/>
                                        </p:tgtEl>
                                        <p:attrNameLst>
                                          <p:attrName>ppt_x</p:attrName>
                                        </p:attrNameLst>
                                      </p:cBhvr>
                                      <p:tavLst>
                                        <p:tav tm="0">
                                          <p:val>
                                            <p:strVal val="#ppt_x"/>
                                          </p:val>
                                        </p:tav>
                                        <p:tav tm="100000">
                                          <p:val>
                                            <p:strVal val="#ppt_x"/>
                                          </p:val>
                                        </p:tav>
                                      </p:tavLst>
                                    </p:anim>
                                    <p:anim calcmode="lin" valueType="num">
                                      <p:cBhvr additive="base">
                                        <p:cTn id="194" dur="500" fill="hold"/>
                                        <p:tgtEl>
                                          <p:spTgt spid="63"/>
                                        </p:tgtEl>
                                        <p:attrNameLst>
                                          <p:attrName>ppt_y</p:attrName>
                                        </p:attrNameLst>
                                      </p:cBhvr>
                                      <p:tavLst>
                                        <p:tav tm="0">
                                          <p:val>
                                            <p:strVal val="#ppt_y+0.1"/>
                                          </p:val>
                                        </p:tav>
                                        <p:tav tm="100000">
                                          <p:val>
                                            <p:strVal val="#ppt_y"/>
                                          </p:val>
                                        </p:tav>
                                      </p:tavLst>
                                    </p:anim>
                                    <p:animEffect transition="in" filter="fade">
                                      <p:cBhvr>
                                        <p:cTn id="195" dur="500"/>
                                        <p:tgtEl>
                                          <p:spTgt spid="63"/>
                                        </p:tgtEl>
                                      </p:cBhvr>
                                    </p:animEffect>
                                  </p:childTnLst>
                                </p:cTn>
                              </p:par>
                              <p:par>
                                <p:cTn id="196" presetID="2" presetClass="entr" presetSubtype="4" fill="hold" grpId="0" nodeType="withEffect">
                                  <p:stCondLst>
                                    <p:cond delay="120"/>
                                  </p:stCondLst>
                                  <p:childTnLst>
                                    <p:set>
                                      <p:cBhvr>
                                        <p:cTn id="197" dur="1" fill="hold">
                                          <p:stCondLst>
                                            <p:cond delay="0"/>
                                          </p:stCondLst>
                                        </p:cTn>
                                        <p:tgtEl>
                                          <p:spTgt spid="64"/>
                                        </p:tgtEl>
                                        <p:attrNameLst>
                                          <p:attrName>style.visibility</p:attrName>
                                        </p:attrNameLst>
                                      </p:cBhvr>
                                      <p:to>
                                        <p:strVal val="visible"/>
                                      </p:to>
                                    </p:set>
                                    <p:anim calcmode="lin" valueType="num">
                                      <p:cBhvr additive="base">
                                        <p:cTn id="198" dur="500" fill="hold"/>
                                        <p:tgtEl>
                                          <p:spTgt spid="64"/>
                                        </p:tgtEl>
                                        <p:attrNameLst>
                                          <p:attrName>ppt_x</p:attrName>
                                        </p:attrNameLst>
                                      </p:cBhvr>
                                      <p:tavLst>
                                        <p:tav tm="0">
                                          <p:val>
                                            <p:strVal val="#ppt_x"/>
                                          </p:val>
                                        </p:tav>
                                        <p:tav tm="100000">
                                          <p:val>
                                            <p:strVal val="#ppt_x"/>
                                          </p:val>
                                        </p:tav>
                                      </p:tavLst>
                                    </p:anim>
                                    <p:anim calcmode="lin" valueType="num">
                                      <p:cBhvr additive="base">
                                        <p:cTn id="199" dur="500" fill="hold"/>
                                        <p:tgtEl>
                                          <p:spTgt spid="64"/>
                                        </p:tgtEl>
                                        <p:attrNameLst>
                                          <p:attrName>ppt_y</p:attrName>
                                        </p:attrNameLst>
                                      </p:cBhvr>
                                      <p:tavLst>
                                        <p:tav tm="0">
                                          <p:val>
                                            <p:strVal val="#ppt_y+0.1"/>
                                          </p:val>
                                        </p:tav>
                                        <p:tav tm="100000">
                                          <p:val>
                                            <p:strVal val="#ppt_y"/>
                                          </p:val>
                                        </p:tav>
                                      </p:tavLst>
                                    </p:anim>
                                    <p:animEffect transition="in" filter="fade">
                                      <p:cBhvr>
                                        <p:cTn id="200" dur="500"/>
                                        <p:tgtEl>
                                          <p:spTgt spid="64"/>
                                        </p:tgtEl>
                                      </p:cBhvr>
                                    </p:animEffect>
                                  </p:childTnLst>
                                </p:cTn>
                              </p:par>
                              <p:par>
                                <p:cTn id="201" presetID="2" presetClass="entr" presetSubtype="4" fill="hold" grpId="0" nodeType="withEffect">
                                  <p:stCondLst>
                                    <p:cond delay="240"/>
                                  </p:stCondLst>
                                  <p:childTnLst>
                                    <p:set>
                                      <p:cBhvr>
                                        <p:cTn id="202" dur="1" fill="hold">
                                          <p:stCondLst>
                                            <p:cond delay="0"/>
                                          </p:stCondLst>
                                        </p:cTn>
                                        <p:tgtEl>
                                          <p:spTgt spid="65"/>
                                        </p:tgtEl>
                                        <p:attrNameLst>
                                          <p:attrName>style.visibility</p:attrName>
                                        </p:attrNameLst>
                                      </p:cBhvr>
                                      <p:to>
                                        <p:strVal val="visible"/>
                                      </p:to>
                                    </p:set>
                                    <p:anim calcmode="lin" valueType="num">
                                      <p:cBhvr additive="base">
                                        <p:cTn id="203" dur="500" fill="hold"/>
                                        <p:tgtEl>
                                          <p:spTgt spid="65"/>
                                        </p:tgtEl>
                                        <p:attrNameLst>
                                          <p:attrName>ppt_x</p:attrName>
                                        </p:attrNameLst>
                                      </p:cBhvr>
                                      <p:tavLst>
                                        <p:tav tm="0">
                                          <p:val>
                                            <p:strVal val="#ppt_x"/>
                                          </p:val>
                                        </p:tav>
                                        <p:tav tm="100000">
                                          <p:val>
                                            <p:strVal val="#ppt_x"/>
                                          </p:val>
                                        </p:tav>
                                      </p:tavLst>
                                    </p:anim>
                                    <p:anim calcmode="lin" valueType="num">
                                      <p:cBhvr additive="base">
                                        <p:cTn id="204" dur="500" fill="hold"/>
                                        <p:tgtEl>
                                          <p:spTgt spid="65"/>
                                        </p:tgtEl>
                                        <p:attrNameLst>
                                          <p:attrName>ppt_y</p:attrName>
                                        </p:attrNameLst>
                                      </p:cBhvr>
                                      <p:tavLst>
                                        <p:tav tm="0">
                                          <p:val>
                                            <p:strVal val="#ppt_y+0.1"/>
                                          </p:val>
                                        </p:tav>
                                        <p:tav tm="100000">
                                          <p:val>
                                            <p:strVal val="#ppt_y"/>
                                          </p:val>
                                        </p:tav>
                                      </p:tavLst>
                                    </p:anim>
                                    <p:animEffect transition="in" filter="fade">
                                      <p:cBhvr>
                                        <p:cTn id="205" dur="500"/>
                                        <p:tgtEl>
                                          <p:spTgt spid="65"/>
                                        </p:tgtEl>
                                      </p:cBhvr>
                                    </p:animEffect>
                                  </p:childTnLst>
                                </p:cTn>
                              </p:par>
                              <p:par>
                                <p:cTn id="206" presetID="2" presetClass="entr" presetSubtype="4" fill="hold" grpId="0" nodeType="withEffect">
                                  <p:stCondLst>
                                    <p:cond delay="240"/>
                                  </p:stCondLst>
                                  <p:childTnLst>
                                    <p:set>
                                      <p:cBhvr>
                                        <p:cTn id="207" dur="1" fill="hold">
                                          <p:stCondLst>
                                            <p:cond delay="0"/>
                                          </p:stCondLst>
                                        </p:cTn>
                                        <p:tgtEl>
                                          <p:spTgt spid="66"/>
                                        </p:tgtEl>
                                        <p:attrNameLst>
                                          <p:attrName>style.visibility</p:attrName>
                                        </p:attrNameLst>
                                      </p:cBhvr>
                                      <p:to>
                                        <p:strVal val="visible"/>
                                      </p:to>
                                    </p:set>
                                    <p:anim calcmode="lin" valueType="num">
                                      <p:cBhvr additive="base">
                                        <p:cTn id="208" dur="500" fill="hold"/>
                                        <p:tgtEl>
                                          <p:spTgt spid="66"/>
                                        </p:tgtEl>
                                        <p:attrNameLst>
                                          <p:attrName>ppt_x</p:attrName>
                                        </p:attrNameLst>
                                      </p:cBhvr>
                                      <p:tavLst>
                                        <p:tav tm="0">
                                          <p:val>
                                            <p:strVal val="#ppt_x"/>
                                          </p:val>
                                        </p:tav>
                                        <p:tav tm="100000">
                                          <p:val>
                                            <p:strVal val="#ppt_x"/>
                                          </p:val>
                                        </p:tav>
                                      </p:tavLst>
                                    </p:anim>
                                    <p:anim calcmode="lin" valueType="num">
                                      <p:cBhvr additive="base">
                                        <p:cTn id="209" dur="500" fill="hold"/>
                                        <p:tgtEl>
                                          <p:spTgt spid="66"/>
                                        </p:tgtEl>
                                        <p:attrNameLst>
                                          <p:attrName>ppt_y</p:attrName>
                                        </p:attrNameLst>
                                      </p:cBhvr>
                                      <p:tavLst>
                                        <p:tav tm="0">
                                          <p:val>
                                            <p:strVal val="#ppt_y+0.1"/>
                                          </p:val>
                                        </p:tav>
                                        <p:tav tm="100000">
                                          <p:val>
                                            <p:strVal val="#ppt_y"/>
                                          </p:val>
                                        </p:tav>
                                      </p:tavLst>
                                    </p:anim>
                                    <p:animEffect transition="in" filter="fade">
                                      <p:cBhvr>
                                        <p:cTn id="210" dur="500"/>
                                        <p:tgtEl>
                                          <p:spTgt spid="66"/>
                                        </p:tgtEl>
                                      </p:cBhvr>
                                    </p:animEffect>
                                  </p:childTnLst>
                                </p:cTn>
                              </p:par>
                            </p:childTnLst>
                          </p:cTn>
                        </p:par>
                      </p:childTnLst>
                    </p:cTn>
                  </p:par>
                  <p:par>
                    <p:cTn id="211" fill="hold">
                      <p:stCondLst>
                        <p:cond delay="indefinite"/>
                      </p:stCondLst>
                      <p:childTnLst>
                        <p:par>
                          <p:cTn id="212" fill="hold">
                            <p:stCondLst>
                              <p:cond delay="0"/>
                            </p:stCondLst>
                            <p:childTnLst>
                              <p:par>
                                <p:cTn id="213" presetID="2" presetClass="entr" presetSubtype="4" fill="hold" grpId="0" nodeType="clickEffect">
                                  <p:stCondLst>
                                    <p:cond delay="0"/>
                                  </p:stCondLst>
                                  <p:childTnLst>
                                    <p:set>
                                      <p:cBhvr>
                                        <p:cTn id="214" dur="1" fill="hold">
                                          <p:stCondLst>
                                            <p:cond delay="0"/>
                                          </p:stCondLst>
                                        </p:cTn>
                                        <p:tgtEl>
                                          <p:spTgt spid="67"/>
                                        </p:tgtEl>
                                        <p:attrNameLst>
                                          <p:attrName>style.visibility</p:attrName>
                                        </p:attrNameLst>
                                      </p:cBhvr>
                                      <p:to>
                                        <p:strVal val="visible"/>
                                      </p:to>
                                    </p:set>
                                    <p:anim calcmode="lin" valueType="num">
                                      <p:cBhvr additive="base">
                                        <p:cTn id="215" dur="500" fill="hold"/>
                                        <p:tgtEl>
                                          <p:spTgt spid="67"/>
                                        </p:tgtEl>
                                        <p:attrNameLst>
                                          <p:attrName>ppt_x</p:attrName>
                                        </p:attrNameLst>
                                      </p:cBhvr>
                                      <p:tavLst>
                                        <p:tav tm="0">
                                          <p:val>
                                            <p:strVal val="#ppt_x"/>
                                          </p:val>
                                        </p:tav>
                                        <p:tav tm="100000">
                                          <p:val>
                                            <p:strVal val="#ppt_x"/>
                                          </p:val>
                                        </p:tav>
                                      </p:tavLst>
                                    </p:anim>
                                    <p:anim calcmode="lin" valueType="num">
                                      <p:cBhvr additive="base">
                                        <p:cTn id="216" dur="500" fill="hold"/>
                                        <p:tgtEl>
                                          <p:spTgt spid="67"/>
                                        </p:tgtEl>
                                        <p:attrNameLst>
                                          <p:attrName>ppt_y</p:attrName>
                                        </p:attrNameLst>
                                      </p:cBhvr>
                                      <p:tavLst>
                                        <p:tav tm="0">
                                          <p:val>
                                            <p:strVal val="#ppt_y+0.1"/>
                                          </p:val>
                                        </p:tav>
                                        <p:tav tm="100000">
                                          <p:val>
                                            <p:strVal val="#ppt_y"/>
                                          </p:val>
                                        </p:tav>
                                      </p:tavLst>
                                    </p:anim>
                                    <p:animEffect transition="in" filter="fade">
                                      <p:cBhvr>
                                        <p:cTn id="217" dur="500"/>
                                        <p:tgtEl>
                                          <p:spTgt spid="67"/>
                                        </p:tgtEl>
                                      </p:cBhvr>
                                    </p:animEffect>
                                  </p:childTnLst>
                                </p:cTn>
                              </p:par>
                              <p:par>
                                <p:cTn id="218" presetID="2" presetClass="entr" presetSubtype="4" fill="hold" grpId="0" nodeType="withEffect">
                                  <p:stCondLst>
                                    <p:cond delay="0"/>
                                  </p:stCondLst>
                                  <p:childTnLst>
                                    <p:set>
                                      <p:cBhvr>
                                        <p:cTn id="219" dur="1" fill="hold">
                                          <p:stCondLst>
                                            <p:cond delay="0"/>
                                          </p:stCondLst>
                                        </p:cTn>
                                        <p:tgtEl>
                                          <p:spTgt spid="68"/>
                                        </p:tgtEl>
                                        <p:attrNameLst>
                                          <p:attrName>style.visibility</p:attrName>
                                        </p:attrNameLst>
                                      </p:cBhvr>
                                      <p:to>
                                        <p:strVal val="visible"/>
                                      </p:to>
                                    </p:set>
                                    <p:anim calcmode="lin" valueType="num">
                                      <p:cBhvr additive="base">
                                        <p:cTn id="220" dur="500" fill="hold"/>
                                        <p:tgtEl>
                                          <p:spTgt spid="68"/>
                                        </p:tgtEl>
                                        <p:attrNameLst>
                                          <p:attrName>ppt_x</p:attrName>
                                        </p:attrNameLst>
                                      </p:cBhvr>
                                      <p:tavLst>
                                        <p:tav tm="0">
                                          <p:val>
                                            <p:strVal val="#ppt_x"/>
                                          </p:val>
                                        </p:tav>
                                        <p:tav tm="100000">
                                          <p:val>
                                            <p:strVal val="#ppt_x"/>
                                          </p:val>
                                        </p:tav>
                                      </p:tavLst>
                                    </p:anim>
                                    <p:anim calcmode="lin" valueType="num">
                                      <p:cBhvr additive="base">
                                        <p:cTn id="221" dur="500" fill="hold"/>
                                        <p:tgtEl>
                                          <p:spTgt spid="68"/>
                                        </p:tgtEl>
                                        <p:attrNameLst>
                                          <p:attrName>ppt_y</p:attrName>
                                        </p:attrNameLst>
                                      </p:cBhvr>
                                      <p:tavLst>
                                        <p:tav tm="0">
                                          <p:val>
                                            <p:strVal val="#ppt_y+0.1"/>
                                          </p:val>
                                        </p:tav>
                                        <p:tav tm="100000">
                                          <p:val>
                                            <p:strVal val="#ppt_y"/>
                                          </p:val>
                                        </p:tav>
                                      </p:tavLst>
                                    </p:anim>
                                    <p:animEffect transition="in" filter="fade">
                                      <p:cBhvr>
                                        <p:cTn id="222" dur="500"/>
                                        <p:tgtEl>
                                          <p:spTgt spid="68"/>
                                        </p:tgtEl>
                                      </p:cBhvr>
                                    </p:animEffect>
                                  </p:childTnLst>
                                </p:cTn>
                              </p:par>
                              <p:par>
                                <p:cTn id="223" presetID="2" presetClass="entr" presetSubtype="4" fill="hold" grpId="0" nodeType="withEffect">
                                  <p:stCondLst>
                                    <p:cond delay="0"/>
                                  </p:stCondLst>
                                  <p:childTnLst>
                                    <p:set>
                                      <p:cBhvr>
                                        <p:cTn id="224" dur="1" fill="hold">
                                          <p:stCondLst>
                                            <p:cond delay="0"/>
                                          </p:stCondLst>
                                        </p:cTn>
                                        <p:tgtEl>
                                          <p:spTgt spid="69"/>
                                        </p:tgtEl>
                                        <p:attrNameLst>
                                          <p:attrName>style.visibility</p:attrName>
                                        </p:attrNameLst>
                                      </p:cBhvr>
                                      <p:to>
                                        <p:strVal val="visible"/>
                                      </p:to>
                                    </p:set>
                                    <p:anim calcmode="lin" valueType="num">
                                      <p:cBhvr additive="base">
                                        <p:cTn id="225" dur="500" fill="hold"/>
                                        <p:tgtEl>
                                          <p:spTgt spid="69"/>
                                        </p:tgtEl>
                                        <p:attrNameLst>
                                          <p:attrName>ppt_x</p:attrName>
                                        </p:attrNameLst>
                                      </p:cBhvr>
                                      <p:tavLst>
                                        <p:tav tm="0">
                                          <p:val>
                                            <p:strVal val="#ppt_x"/>
                                          </p:val>
                                        </p:tav>
                                        <p:tav tm="100000">
                                          <p:val>
                                            <p:strVal val="#ppt_x"/>
                                          </p:val>
                                        </p:tav>
                                      </p:tavLst>
                                    </p:anim>
                                    <p:anim calcmode="lin" valueType="num">
                                      <p:cBhvr additive="base">
                                        <p:cTn id="226" dur="500" fill="hold"/>
                                        <p:tgtEl>
                                          <p:spTgt spid="69"/>
                                        </p:tgtEl>
                                        <p:attrNameLst>
                                          <p:attrName>ppt_y</p:attrName>
                                        </p:attrNameLst>
                                      </p:cBhvr>
                                      <p:tavLst>
                                        <p:tav tm="0">
                                          <p:val>
                                            <p:strVal val="#ppt_y+0.1"/>
                                          </p:val>
                                        </p:tav>
                                        <p:tav tm="100000">
                                          <p:val>
                                            <p:strVal val="#ppt_y"/>
                                          </p:val>
                                        </p:tav>
                                      </p:tavLst>
                                    </p:anim>
                                    <p:animEffect transition="in" filter="fade">
                                      <p:cBhvr>
                                        <p:cTn id="22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When a Broker Fails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Two copies of every partition survive - and the cluster elects a new leader</a:t>
            </a:r>
          </a:p>
        </p:txBody>
      </p:sp>
      <p:sp>
        <p:nvSpPr>
          <p:cNvPr id="11" name="a0f_cl10"/>
          <p:cNvSpPr/>
          <p:nvPr/>
        </p:nvSpPr>
        <p:spPr>
          <a:xfrm>
            <a:off x="457200" y="1280160"/>
            <a:ext cx="5486400" cy="2487168"/>
          </a:xfrm>
          <a:prstGeom prst="roundRect">
            <a:avLst>
              <a:gd name="adj" fmla="val 3676"/>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0f_clh11"/>
          <p:cNvSpPr txBox="1"/>
          <p:nvPr/>
        </p:nvSpPr>
        <p:spPr>
          <a:xfrm>
            <a:off x="640080" y="1371600"/>
            <a:ext cx="16459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bk12"/>
          <p:cNvSpPr/>
          <p:nvPr/>
        </p:nvSpPr>
        <p:spPr>
          <a:xfrm>
            <a:off x="64008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0f_bkn13"/>
          <p:cNvSpPr txBox="1"/>
          <p:nvPr/>
        </p:nvSpPr>
        <p:spPr>
          <a:xfrm>
            <a:off x="76809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1</a:t>
            </a:r>
          </a:p>
        </p:txBody>
      </p:sp>
      <p:sp>
        <p:nvSpPr>
          <p:cNvPr id="15" name="a0f_bk14"/>
          <p:cNvSpPr/>
          <p:nvPr/>
        </p:nvSpPr>
        <p:spPr>
          <a:xfrm>
            <a:off x="242316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0f_bkn15"/>
          <p:cNvSpPr txBox="1"/>
          <p:nvPr/>
        </p:nvSpPr>
        <p:spPr>
          <a:xfrm>
            <a:off x="255117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2</a:t>
            </a:r>
          </a:p>
        </p:txBody>
      </p:sp>
      <p:sp>
        <p:nvSpPr>
          <p:cNvPr id="17" name="a0f_bk16"/>
          <p:cNvSpPr/>
          <p:nvPr/>
        </p:nvSpPr>
        <p:spPr>
          <a:xfrm>
            <a:off x="4206240" y="1719072"/>
            <a:ext cx="1600200" cy="1920240"/>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0f_bkn17"/>
          <p:cNvSpPr txBox="1"/>
          <p:nvPr/>
        </p:nvSpPr>
        <p:spPr>
          <a:xfrm>
            <a:off x="4334255"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3</a:t>
            </a:r>
          </a:p>
        </p:txBody>
      </p:sp>
      <p:sp>
        <p:nvSpPr>
          <p:cNvPr id="19" name="a0f_rp18"/>
          <p:cNvSpPr/>
          <p:nvPr/>
        </p:nvSpPr>
        <p:spPr>
          <a:xfrm>
            <a:off x="768096" y="2286000"/>
            <a:ext cx="1344168" cy="347472"/>
          </a:xfrm>
          <a:prstGeom prst="roundRect">
            <a:avLst>
              <a:gd name="adj" fmla="val 1315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0f_rpn19"/>
          <p:cNvSpPr txBox="1"/>
          <p:nvPr/>
        </p:nvSpPr>
        <p:spPr>
          <a:xfrm>
            <a:off x="859536" y="2286000"/>
            <a:ext cx="365760" cy="347472"/>
          </a:xfrm>
          <a:prstGeom prst="rect">
            <a:avLst/>
          </a:prstGeom>
          <a:noFill/>
        </p:spPr>
        <p:txBody>
          <a:bodyPr wrap="square" lIns="0" tIns="0" rIns="0" bIns="0" anchor="ctr">
            <a:spAutoFit/>
          </a:bodyPr>
          <a:lstStyle/>
          <a:p>
            <a:pPr algn="l"/>
            <a:r>
              <a:rPr sz="1000" b="1">
                <a:solidFill>
                  <a:srgbClr val="FFFFFF"/>
                </a:solidFill>
                <a:latin typeface="Consolas"/>
              </a:rPr>
              <a:t>P0</a:t>
            </a:r>
          </a:p>
        </p:txBody>
      </p:sp>
      <p:sp>
        <p:nvSpPr>
          <p:cNvPr id="21" name="a0f_rpt20"/>
          <p:cNvSpPr txBox="1"/>
          <p:nvPr/>
        </p:nvSpPr>
        <p:spPr>
          <a:xfrm>
            <a:off x="1225295" y="2286000"/>
            <a:ext cx="795528" cy="347472"/>
          </a:xfrm>
          <a:prstGeom prst="rect">
            <a:avLst/>
          </a:prstGeom>
          <a:noFill/>
        </p:spPr>
        <p:txBody>
          <a:bodyPr wrap="square" lIns="0" tIns="0" rIns="0" bIns="0" anchor="ctr">
            <a:spAutoFit/>
          </a:bodyPr>
          <a:lstStyle/>
          <a:p>
            <a:pPr algn="r"/>
            <a:r>
              <a:rPr sz="800" b="1">
                <a:solidFill>
                  <a:srgbClr val="FFFFFF"/>
                </a:solidFill>
                <a:latin typeface="Segoe UI"/>
              </a:rPr>
              <a:t>leader</a:t>
            </a:r>
          </a:p>
        </p:txBody>
      </p:sp>
      <p:sp>
        <p:nvSpPr>
          <p:cNvPr id="22" name="a0f_rp21"/>
          <p:cNvSpPr/>
          <p:nvPr/>
        </p:nvSpPr>
        <p:spPr>
          <a:xfrm>
            <a:off x="768096" y="2706624"/>
            <a:ext cx="1344168" cy="347472"/>
          </a:xfrm>
          <a:prstGeom prst="roundRect">
            <a:avLst>
              <a:gd name="adj" fmla="val 13157"/>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0f_rpn22"/>
          <p:cNvSpPr txBox="1"/>
          <p:nvPr/>
        </p:nvSpPr>
        <p:spPr>
          <a:xfrm>
            <a:off x="859536" y="2706624"/>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24" name="a0f_rpt23"/>
          <p:cNvSpPr txBox="1"/>
          <p:nvPr/>
        </p:nvSpPr>
        <p:spPr>
          <a:xfrm>
            <a:off x="1225295" y="2706624"/>
            <a:ext cx="795528" cy="347472"/>
          </a:xfrm>
          <a:prstGeom prst="rect">
            <a:avLst/>
          </a:prstGeom>
          <a:noFill/>
        </p:spPr>
        <p:txBody>
          <a:bodyPr wrap="square" lIns="0" tIns="0" rIns="0" bIns="0" anchor="ctr">
            <a:spAutoFit/>
          </a:bodyPr>
          <a:lstStyle/>
          <a:p>
            <a:pPr algn="r"/>
            <a:r>
              <a:rPr sz="800" b="0">
                <a:solidFill>
                  <a:srgbClr val="4F46E5"/>
                </a:solidFill>
                <a:latin typeface="Segoe UI"/>
              </a:rPr>
              <a:t>follower</a:t>
            </a:r>
          </a:p>
        </p:txBody>
      </p:sp>
      <p:sp>
        <p:nvSpPr>
          <p:cNvPr id="25" name="a0f_rp24"/>
          <p:cNvSpPr/>
          <p:nvPr/>
        </p:nvSpPr>
        <p:spPr>
          <a:xfrm>
            <a:off x="768096" y="3127248"/>
            <a:ext cx="1344168" cy="347472"/>
          </a:xfrm>
          <a:prstGeom prst="roundRect">
            <a:avLst>
              <a:gd name="adj" fmla="val 13157"/>
            </a:avLst>
          </a:prstGeom>
          <a:solidFill>
            <a:srgbClr val="FFEDD5"/>
          </a:solidFill>
          <a:ln w="12700">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0f_rpn25"/>
          <p:cNvSpPr txBox="1"/>
          <p:nvPr/>
        </p:nvSpPr>
        <p:spPr>
          <a:xfrm>
            <a:off x="859536" y="3127248"/>
            <a:ext cx="365760" cy="347472"/>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27" name="a0f_rpt26"/>
          <p:cNvSpPr txBox="1"/>
          <p:nvPr/>
        </p:nvSpPr>
        <p:spPr>
          <a:xfrm>
            <a:off x="1225295" y="3127248"/>
            <a:ext cx="795528" cy="347472"/>
          </a:xfrm>
          <a:prstGeom prst="rect">
            <a:avLst/>
          </a:prstGeom>
          <a:noFill/>
        </p:spPr>
        <p:txBody>
          <a:bodyPr wrap="square" lIns="0" tIns="0" rIns="0" bIns="0" anchor="ctr">
            <a:spAutoFit/>
          </a:bodyPr>
          <a:lstStyle/>
          <a:p>
            <a:pPr algn="r"/>
            <a:r>
              <a:rPr sz="800" b="0">
                <a:solidFill>
                  <a:srgbClr val="C2410C"/>
                </a:solidFill>
                <a:latin typeface="Segoe UI"/>
              </a:rPr>
              <a:t>follower</a:t>
            </a:r>
          </a:p>
        </p:txBody>
      </p:sp>
      <p:sp>
        <p:nvSpPr>
          <p:cNvPr id="28" name="a0f_rp27"/>
          <p:cNvSpPr/>
          <p:nvPr/>
        </p:nvSpPr>
        <p:spPr>
          <a:xfrm>
            <a:off x="2551176" y="2286000"/>
            <a:ext cx="1344168" cy="347472"/>
          </a:xfrm>
          <a:prstGeom prst="roundRect">
            <a:avLst>
              <a:gd name="adj" fmla="val 13157"/>
            </a:avLst>
          </a:prstGeom>
          <a:solidFill>
            <a:srgbClr val="D9F2F7"/>
          </a:solidFill>
          <a:ln w="12700">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0f_rpn28"/>
          <p:cNvSpPr txBox="1"/>
          <p:nvPr/>
        </p:nvSpPr>
        <p:spPr>
          <a:xfrm>
            <a:off x="2642616" y="2286000"/>
            <a:ext cx="365760" cy="347472"/>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30" name="a0f_rpt29"/>
          <p:cNvSpPr txBox="1"/>
          <p:nvPr/>
        </p:nvSpPr>
        <p:spPr>
          <a:xfrm>
            <a:off x="3008376" y="2286000"/>
            <a:ext cx="795528" cy="347472"/>
          </a:xfrm>
          <a:prstGeom prst="rect">
            <a:avLst/>
          </a:prstGeom>
          <a:noFill/>
        </p:spPr>
        <p:txBody>
          <a:bodyPr wrap="square" lIns="0" tIns="0" rIns="0" bIns="0" anchor="ctr">
            <a:spAutoFit/>
          </a:bodyPr>
          <a:lstStyle/>
          <a:p>
            <a:pPr algn="r"/>
            <a:r>
              <a:rPr sz="800" b="0">
                <a:solidFill>
                  <a:srgbClr val="0E7490"/>
                </a:solidFill>
                <a:latin typeface="Segoe UI"/>
              </a:rPr>
              <a:t>follower</a:t>
            </a:r>
          </a:p>
        </p:txBody>
      </p:sp>
      <p:sp>
        <p:nvSpPr>
          <p:cNvPr id="31" name="a0f_rp30"/>
          <p:cNvSpPr/>
          <p:nvPr/>
        </p:nvSpPr>
        <p:spPr>
          <a:xfrm>
            <a:off x="2551176" y="2706624"/>
            <a:ext cx="1344168" cy="347472"/>
          </a:xfrm>
          <a:prstGeom prst="roundRect">
            <a:avLst>
              <a:gd name="adj" fmla="val 13157"/>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0f_rpn31"/>
          <p:cNvSpPr txBox="1"/>
          <p:nvPr/>
        </p:nvSpPr>
        <p:spPr>
          <a:xfrm>
            <a:off x="2642616" y="2706624"/>
            <a:ext cx="365760" cy="347472"/>
          </a:xfrm>
          <a:prstGeom prst="rect">
            <a:avLst/>
          </a:prstGeom>
          <a:noFill/>
        </p:spPr>
        <p:txBody>
          <a:bodyPr wrap="square" lIns="0" tIns="0" rIns="0" bIns="0" anchor="ctr">
            <a:spAutoFit/>
          </a:bodyPr>
          <a:lstStyle/>
          <a:p>
            <a:pPr algn="l"/>
            <a:r>
              <a:rPr sz="1000" b="1">
                <a:solidFill>
                  <a:srgbClr val="FFFFFF"/>
                </a:solidFill>
                <a:latin typeface="Consolas"/>
              </a:rPr>
              <a:t>P1</a:t>
            </a:r>
          </a:p>
        </p:txBody>
      </p:sp>
      <p:sp>
        <p:nvSpPr>
          <p:cNvPr id="33" name="a0f_rpt32"/>
          <p:cNvSpPr txBox="1"/>
          <p:nvPr/>
        </p:nvSpPr>
        <p:spPr>
          <a:xfrm>
            <a:off x="3008376" y="2706624"/>
            <a:ext cx="795528" cy="347472"/>
          </a:xfrm>
          <a:prstGeom prst="rect">
            <a:avLst/>
          </a:prstGeom>
          <a:noFill/>
        </p:spPr>
        <p:txBody>
          <a:bodyPr wrap="square" lIns="0" tIns="0" rIns="0" bIns="0" anchor="ctr">
            <a:spAutoFit/>
          </a:bodyPr>
          <a:lstStyle/>
          <a:p>
            <a:pPr algn="r"/>
            <a:r>
              <a:rPr sz="800" b="1">
                <a:solidFill>
                  <a:srgbClr val="FFFFFF"/>
                </a:solidFill>
                <a:latin typeface="Segoe UI"/>
              </a:rPr>
              <a:t>leader</a:t>
            </a:r>
          </a:p>
        </p:txBody>
      </p:sp>
      <p:sp>
        <p:nvSpPr>
          <p:cNvPr id="34" name="a0f_rp33"/>
          <p:cNvSpPr/>
          <p:nvPr/>
        </p:nvSpPr>
        <p:spPr>
          <a:xfrm>
            <a:off x="2551176" y="3127248"/>
            <a:ext cx="1344168" cy="347472"/>
          </a:xfrm>
          <a:prstGeom prst="roundRect">
            <a:avLst>
              <a:gd name="adj" fmla="val 13157"/>
            </a:avLst>
          </a:prstGeom>
          <a:solidFill>
            <a:srgbClr val="FFEDD5"/>
          </a:solidFill>
          <a:ln w="12700">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a0f_rpn34"/>
          <p:cNvSpPr txBox="1"/>
          <p:nvPr/>
        </p:nvSpPr>
        <p:spPr>
          <a:xfrm>
            <a:off x="2642616" y="3127248"/>
            <a:ext cx="365760" cy="347472"/>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36" name="a0f_rpt35"/>
          <p:cNvSpPr txBox="1"/>
          <p:nvPr/>
        </p:nvSpPr>
        <p:spPr>
          <a:xfrm>
            <a:off x="3008376" y="3127248"/>
            <a:ext cx="795528" cy="347472"/>
          </a:xfrm>
          <a:prstGeom prst="rect">
            <a:avLst/>
          </a:prstGeom>
          <a:noFill/>
        </p:spPr>
        <p:txBody>
          <a:bodyPr wrap="square" lIns="0" tIns="0" rIns="0" bIns="0" anchor="ctr">
            <a:spAutoFit/>
          </a:bodyPr>
          <a:lstStyle/>
          <a:p>
            <a:pPr algn="r"/>
            <a:r>
              <a:rPr sz="800" b="0">
                <a:solidFill>
                  <a:srgbClr val="C2410C"/>
                </a:solidFill>
                <a:latin typeface="Segoe UI"/>
              </a:rPr>
              <a:t>follower</a:t>
            </a:r>
          </a:p>
        </p:txBody>
      </p:sp>
      <p:sp>
        <p:nvSpPr>
          <p:cNvPr id="37" name="a0f_rp36"/>
          <p:cNvSpPr/>
          <p:nvPr/>
        </p:nvSpPr>
        <p:spPr>
          <a:xfrm>
            <a:off x="4334255" y="2286000"/>
            <a:ext cx="1344168" cy="347472"/>
          </a:xfrm>
          <a:prstGeom prst="roundRect">
            <a:avLst>
              <a:gd name="adj" fmla="val 13157"/>
            </a:avLst>
          </a:prstGeom>
          <a:solidFill>
            <a:srgbClr val="D9F2F7"/>
          </a:solidFill>
          <a:ln w="12700">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0f_rpn37"/>
          <p:cNvSpPr txBox="1"/>
          <p:nvPr/>
        </p:nvSpPr>
        <p:spPr>
          <a:xfrm>
            <a:off x="4425695" y="2286000"/>
            <a:ext cx="365760" cy="347472"/>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39" name="a0f_rpt38"/>
          <p:cNvSpPr txBox="1"/>
          <p:nvPr/>
        </p:nvSpPr>
        <p:spPr>
          <a:xfrm>
            <a:off x="4791455" y="2286000"/>
            <a:ext cx="795528" cy="347472"/>
          </a:xfrm>
          <a:prstGeom prst="rect">
            <a:avLst/>
          </a:prstGeom>
          <a:noFill/>
        </p:spPr>
        <p:txBody>
          <a:bodyPr wrap="square" lIns="0" tIns="0" rIns="0" bIns="0" anchor="ctr">
            <a:spAutoFit/>
          </a:bodyPr>
          <a:lstStyle/>
          <a:p>
            <a:pPr algn="r"/>
            <a:r>
              <a:rPr sz="800" b="0">
                <a:solidFill>
                  <a:srgbClr val="0E7490"/>
                </a:solidFill>
                <a:latin typeface="Segoe UI"/>
              </a:rPr>
              <a:t>follower</a:t>
            </a:r>
          </a:p>
        </p:txBody>
      </p:sp>
      <p:sp>
        <p:nvSpPr>
          <p:cNvPr id="40" name="a0f_rp39"/>
          <p:cNvSpPr/>
          <p:nvPr/>
        </p:nvSpPr>
        <p:spPr>
          <a:xfrm>
            <a:off x="4334255" y="2706624"/>
            <a:ext cx="1344168" cy="347472"/>
          </a:xfrm>
          <a:prstGeom prst="roundRect">
            <a:avLst>
              <a:gd name="adj" fmla="val 13157"/>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a0f_rpn40"/>
          <p:cNvSpPr txBox="1"/>
          <p:nvPr/>
        </p:nvSpPr>
        <p:spPr>
          <a:xfrm>
            <a:off x="4425695" y="2706624"/>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42" name="a0f_rpt41"/>
          <p:cNvSpPr txBox="1"/>
          <p:nvPr/>
        </p:nvSpPr>
        <p:spPr>
          <a:xfrm>
            <a:off x="4791455" y="2706624"/>
            <a:ext cx="795528" cy="347472"/>
          </a:xfrm>
          <a:prstGeom prst="rect">
            <a:avLst/>
          </a:prstGeom>
          <a:noFill/>
        </p:spPr>
        <p:txBody>
          <a:bodyPr wrap="square" lIns="0" tIns="0" rIns="0" bIns="0" anchor="ctr">
            <a:spAutoFit/>
          </a:bodyPr>
          <a:lstStyle/>
          <a:p>
            <a:pPr algn="r"/>
            <a:r>
              <a:rPr sz="800" b="0">
                <a:solidFill>
                  <a:srgbClr val="4F46E5"/>
                </a:solidFill>
                <a:latin typeface="Segoe UI"/>
              </a:rPr>
              <a:t>follower</a:t>
            </a:r>
          </a:p>
        </p:txBody>
      </p:sp>
      <p:sp>
        <p:nvSpPr>
          <p:cNvPr id="43" name="a0f_rp42"/>
          <p:cNvSpPr/>
          <p:nvPr/>
        </p:nvSpPr>
        <p:spPr>
          <a:xfrm>
            <a:off x="4334255" y="3127248"/>
            <a:ext cx="1344168" cy="347472"/>
          </a:xfrm>
          <a:prstGeom prst="roundRect">
            <a:avLst>
              <a:gd name="adj" fmla="val 13157"/>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0f_rpn43"/>
          <p:cNvSpPr txBox="1"/>
          <p:nvPr/>
        </p:nvSpPr>
        <p:spPr>
          <a:xfrm>
            <a:off x="4425695" y="3127248"/>
            <a:ext cx="365760" cy="347472"/>
          </a:xfrm>
          <a:prstGeom prst="rect">
            <a:avLst/>
          </a:prstGeom>
          <a:noFill/>
        </p:spPr>
        <p:txBody>
          <a:bodyPr wrap="square" lIns="0" tIns="0" rIns="0" bIns="0" anchor="ctr">
            <a:spAutoFit/>
          </a:bodyPr>
          <a:lstStyle/>
          <a:p>
            <a:pPr algn="l"/>
            <a:r>
              <a:rPr sz="1000" b="1">
                <a:solidFill>
                  <a:srgbClr val="FFFFFF"/>
                </a:solidFill>
                <a:latin typeface="Consolas"/>
              </a:rPr>
              <a:t>P2</a:t>
            </a:r>
          </a:p>
        </p:txBody>
      </p:sp>
      <p:sp>
        <p:nvSpPr>
          <p:cNvPr id="45" name="a0f_rpt44"/>
          <p:cNvSpPr txBox="1"/>
          <p:nvPr/>
        </p:nvSpPr>
        <p:spPr>
          <a:xfrm>
            <a:off x="4791455" y="3127248"/>
            <a:ext cx="795528" cy="347472"/>
          </a:xfrm>
          <a:prstGeom prst="rect">
            <a:avLst/>
          </a:prstGeom>
          <a:noFill/>
        </p:spPr>
        <p:txBody>
          <a:bodyPr wrap="square" lIns="0" tIns="0" rIns="0" bIns="0" anchor="ctr">
            <a:spAutoFit/>
          </a:bodyPr>
          <a:lstStyle/>
          <a:p>
            <a:pPr algn="r"/>
            <a:r>
              <a:rPr sz="800" b="1">
                <a:solidFill>
                  <a:srgbClr val="FFFFFF"/>
                </a:solidFill>
                <a:latin typeface="Segoe UI"/>
              </a:rPr>
              <a:t>leader</a:t>
            </a:r>
          </a:p>
        </p:txBody>
      </p:sp>
      <p:sp>
        <p:nvSpPr>
          <p:cNvPr id="46" name="a1u_fx45"/>
          <p:cNvSpPr/>
          <p:nvPr/>
        </p:nvSpPr>
        <p:spPr>
          <a:xfrm>
            <a:off x="2423160" y="1719072"/>
            <a:ext cx="1600200" cy="1920240"/>
          </a:xfrm>
          <a:prstGeom prst="roundRect">
            <a:avLst>
              <a:gd name="adj" fmla="val 4571"/>
            </a:avLst>
          </a:prstGeom>
          <a:noFill/>
          <a:ln w="28575">
            <a:solidFill>
              <a:srgbClr val="E11D4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a1u_pill46"/>
          <p:cNvSpPr/>
          <p:nvPr/>
        </p:nvSpPr>
        <p:spPr>
          <a:xfrm>
            <a:off x="3236976" y="1819656"/>
            <a:ext cx="658368" cy="219456"/>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a:solidFill>
                  <a:srgbClr val="FFFFFF"/>
                </a:solidFill>
                <a:latin typeface="Consolas"/>
              </a:rPr>
              <a:t>OFFLINE</a:t>
            </a:r>
          </a:p>
        </p:txBody>
      </p:sp>
      <p:sp>
        <p:nvSpPr>
          <p:cNvPr id="48" name="a1u_rp47"/>
          <p:cNvSpPr/>
          <p:nvPr/>
        </p:nvSpPr>
        <p:spPr>
          <a:xfrm>
            <a:off x="2551176" y="2286000"/>
            <a:ext cx="1344168" cy="347472"/>
          </a:xfrm>
          <a:prstGeom prst="roundRect">
            <a:avLst>
              <a:gd name="adj" fmla="val 13157"/>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a1u_rpn48"/>
          <p:cNvSpPr txBox="1"/>
          <p:nvPr/>
        </p:nvSpPr>
        <p:spPr>
          <a:xfrm>
            <a:off x="2642616" y="2286000"/>
            <a:ext cx="365760" cy="347472"/>
          </a:xfrm>
          <a:prstGeom prst="rect">
            <a:avLst/>
          </a:prstGeom>
          <a:noFill/>
        </p:spPr>
        <p:txBody>
          <a:bodyPr wrap="square" lIns="0" tIns="0" rIns="0" bIns="0" anchor="ctr">
            <a:spAutoFit/>
          </a:bodyPr>
          <a:lstStyle/>
          <a:p>
            <a:pPr algn="l"/>
            <a:r>
              <a:rPr sz="1000" b="1">
                <a:solidFill>
                  <a:srgbClr val="A8A29E"/>
                </a:solidFill>
                <a:latin typeface="Consolas"/>
              </a:rPr>
              <a:t>P0</a:t>
            </a:r>
          </a:p>
        </p:txBody>
      </p:sp>
      <p:sp>
        <p:nvSpPr>
          <p:cNvPr id="50" name="a1u_rpt49"/>
          <p:cNvSpPr txBox="1"/>
          <p:nvPr/>
        </p:nvSpPr>
        <p:spPr>
          <a:xfrm>
            <a:off x="3008376" y="2286000"/>
            <a:ext cx="795528" cy="347472"/>
          </a:xfrm>
          <a:prstGeom prst="rect">
            <a:avLst/>
          </a:prstGeom>
          <a:noFill/>
        </p:spPr>
        <p:txBody>
          <a:bodyPr wrap="square" lIns="0" tIns="0" rIns="0" bIns="0" anchor="ctr">
            <a:spAutoFit/>
          </a:bodyPr>
          <a:lstStyle/>
          <a:p>
            <a:pPr algn="r"/>
            <a:r>
              <a:rPr sz="800" b="0">
                <a:solidFill>
                  <a:srgbClr val="A8A29E"/>
                </a:solidFill>
                <a:latin typeface="Segoe UI"/>
              </a:rPr>
              <a:t>offline</a:t>
            </a:r>
          </a:p>
        </p:txBody>
      </p:sp>
      <p:sp>
        <p:nvSpPr>
          <p:cNvPr id="51" name="a1u_rp50"/>
          <p:cNvSpPr/>
          <p:nvPr/>
        </p:nvSpPr>
        <p:spPr>
          <a:xfrm>
            <a:off x="2551176" y="2706624"/>
            <a:ext cx="1344168" cy="347472"/>
          </a:xfrm>
          <a:prstGeom prst="roundRect">
            <a:avLst>
              <a:gd name="adj" fmla="val 13157"/>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a1u_rpn51"/>
          <p:cNvSpPr txBox="1"/>
          <p:nvPr/>
        </p:nvSpPr>
        <p:spPr>
          <a:xfrm>
            <a:off x="2642616" y="2706624"/>
            <a:ext cx="365760" cy="347472"/>
          </a:xfrm>
          <a:prstGeom prst="rect">
            <a:avLst/>
          </a:prstGeom>
          <a:noFill/>
        </p:spPr>
        <p:txBody>
          <a:bodyPr wrap="square" lIns="0" tIns="0" rIns="0" bIns="0" anchor="ctr">
            <a:spAutoFit/>
          </a:bodyPr>
          <a:lstStyle/>
          <a:p>
            <a:pPr algn="l"/>
            <a:r>
              <a:rPr sz="1000" b="1">
                <a:solidFill>
                  <a:srgbClr val="A8A29E"/>
                </a:solidFill>
                <a:latin typeface="Consolas"/>
              </a:rPr>
              <a:t>P1</a:t>
            </a:r>
          </a:p>
        </p:txBody>
      </p:sp>
      <p:sp>
        <p:nvSpPr>
          <p:cNvPr id="53" name="a1u_rpt52"/>
          <p:cNvSpPr txBox="1"/>
          <p:nvPr/>
        </p:nvSpPr>
        <p:spPr>
          <a:xfrm>
            <a:off x="3008376" y="2706624"/>
            <a:ext cx="795528" cy="347472"/>
          </a:xfrm>
          <a:prstGeom prst="rect">
            <a:avLst/>
          </a:prstGeom>
          <a:noFill/>
        </p:spPr>
        <p:txBody>
          <a:bodyPr wrap="square" lIns="0" tIns="0" rIns="0" bIns="0" anchor="ctr">
            <a:spAutoFit/>
          </a:bodyPr>
          <a:lstStyle/>
          <a:p>
            <a:pPr algn="r"/>
            <a:r>
              <a:rPr sz="800" b="0">
                <a:solidFill>
                  <a:srgbClr val="A8A29E"/>
                </a:solidFill>
                <a:latin typeface="Segoe UI"/>
              </a:rPr>
              <a:t>offline</a:t>
            </a:r>
          </a:p>
        </p:txBody>
      </p:sp>
      <p:sp>
        <p:nvSpPr>
          <p:cNvPr id="54" name="a1u_rp53"/>
          <p:cNvSpPr/>
          <p:nvPr/>
        </p:nvSpPr>
        <p:spPr>
          <a:xfrm>
            <a:off x="2551176" y="3127248"/>
            <a:ext cx="1344168" cy="347472"/>
          </a:xfrm>
          <a:prstGeom prst="roundRect">
            <a:avLst>
              <a:gd name="adj" fmla="val 13157"/>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a1u_rpn54"/>
          <p:cNvSpPr txBox="1"/>
          <p:nvPr/>
        </p:nvSpPr>
        <p:spPr>
          <a:xfrm>
            <a:off x="2642616" y="3127248"/>
            <a:ext cx="365760" cy="347472"/>
          </a:xfrm>
          <a:prstGeom prst="rect">
            <a:avLst/>
          </a:prstGeom>
          <a:noFill/>
        </p:spPr>
        <p:txBody>
          <a:bodyPr wrap="square" lIns="0" tIns="0" rIns="0" bIns="0" anchor="ctr">
            <a:spAutoFit/>
          </a:bodyPr>
          <a:lstStyle/>
          <a:p>
            <a:pPr algn="l"/>
            <a:r>
              <a:rPr sz="1000" b="1">
                <a:solidFill>
                  <a:srgbClr val="A8A29E"/>
                </a:solidFill>
                <a:latin typeface="Consolas"/>
              </a:rPr>
              <a:t>P2</a:t>
            </a:r>
          </a:p>
        </p:txBody>
      </p:sp>
      <p:sp>
        <p:nvSpPr>
          <p:cNvPr id="56" name="a1u_rpt55"/>
          <p:cNvSpPr txBox="1"/>
          <p:nvPr/>
        </p:nvSpPr>
        <p:spPr>
          <a:xfrm>
            <a:off x="3008376" y="3127248"/>
            <a:ext cx="795528" cy="347472"/>
          </a:xfrm>
          <a:prstGeom prst="rect">
            <a:avLst/>
          </a:prstGeom>
          <a:noFill/>
        </p:spPr>
        <p:txBody>
          <a:bodyPr wrap="square" lIns="0" tIns="0" rIns="0" bIns="0" anchor="ctr">
            <a:spAutoFit/>
          </a:bodyPr>
          <a:lstStyle/>
          <a:p>
            <a:pPr algn="r"/>
            <a:r>
              <a:rPr sz="800" b="0">
                <a:solidFill>
                  <a:srgbClr val="A8A29E"/>
                </a:solidFill>
                <a:latin typeface="Segoe UI"/>
              </a:rPr>
              <a:t>offline</a:t>
            </a:r>
          </a:p>
        </p:txBody>
      </p:sp>
      <p:sp>
        <p:nvSpPr>
          <p:cNvPr id="57" name="a2u_rp56"/>
          <p:cNvSpPr/>
          <p:nvPr/>
        </p:nvSpPr>
        <p:spPr>
          <a:xfrm>
            <a:off x="4334255" y="2706624"/>
            <a:ext cx="1344168" cy="347472"/>
          </a:xfrm>
          <a:prstGeom prst="roundRect">
            <a:avLst>
              <a:gd name="adj" fmla="val 13157"/>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a2u_rpn57"/>
          <p:cNvSpPr txBox="1"/>
          <p:nvPr/>
        </p:nvSpPr>
        <p:spPr>
          <a:xfrm>
            <a:off x="4425695" y="2706624"/>
            <a:ext cx="365760" cy="347472"/>
          </a:xfrm>
          <a:prstGeom prst="rect">
            <a:avLst/>
          </a:prstGeom>
          <a:noFill/>
        </p:spPr>
        <p:txBody>
          <a:bodyPr wrap="square" lIns="0" tIns="0" rIns="0" bIns="0" anchor="ctr">
            <a:spAutoFit/>
          </a:bodyPr>
          <a:lstStyle/>
          <a:p>
            <a:pPr algn="l"/>
            <a:r>
              <a:rPr sz="1000" b="1">
                <a:solidFill>
                  <a:srgbClr val="FFFFFF"/>
                </a:solidFill>
                <a:latin typeface="Consolas"/>
              </a:rPr>
              <a:t>P1</a:t>
            </a:r>
          </a:p>
        </p:txBody>
      </p:sp>
      <p:sp>
        <p:nvSpPr>
          <p:cNvPr id="59" name="a2u_rpt58"/>
          <p:cNvSpPr txBox="1"/>
          <p:nvPr/>
        </p:nvSpPr>
        <p:spPr>
          <a:xfrm>
            <a:off x="4791455" y="2706624"/>
            <a:ext cx="795528" cy="347472"/>
          </a:xfrm>
          <a:prstGeom prst="rect">
            <a:avLst/>
          </a:prstGeom>
          <a:noFill/>
        </p:spPr>
        <p:txBody>
          <a:bodyPr wrap="square" lIns="0" tIns="0" rIns="0" bIns="0" anchor="ctr">
            <a:spAutoFit/>
          </a:bodyPr>
          <a:lstStyle/>
          <a:p>
            <a:pPr algn="r"/>
            <a:r>
              <a:rPr sz="800" b="1">
                <a:solidFill>
                  <a:srgbClr val="FFFFFF"/>
                </a:solidFill>
                <a:latin typeface="Segoe UI"/>
              </a:rPr>
              <a:t>new leader</a:t>
            </a:r>
          </a:p>
        </p:txBody>
      </p:sp>
      <p:sp>
        <p:nvSpPr>
          <p:cNvPr id="60" name="a1ud200_dot59"/>
          <p:cNvSpPr/>
          <p:nvPr/>
        </p:nvSpPr>
        <p:spPr>
          <a:xfrm>
            <a:off x="6217920" y="1449324"/>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1" name="a1ud200_b60"/>
          <p:cNvSpPr txBox="1"/>
          <p:nvPr/>
        </p:nvSpPr>
        <p:spPr>
          <a:xfrm>
            <a:off x="6437376" y="1353312"/>
            <a:ext cx="2249424" cy="566928"/>
          </a:xfrm>
          <a:prstGeom prst="rect">
            <a:avLst/>
          </a:prstGeom>
          <a:noFill/>
        </p:spPr>
        <p:txBody>
          <a:bodyPr wrap="square" lIns="0" tIns="0" rIns="0" bIns="0" anchor="t">
            <a:spAutoFit/>
          </a:bodyPr>
          <a:lstStyle/>
          <a:p>
            <a:pPr algn="l"/>
            <a:r>
              <a:rPr sz="950" b="1">
                <a:solidFill>
                  <a:srgbClr val="1C1917"/>
                </a:solidFill>
                <a:latin typeface="Segoe UI"/>
              </a:rPr>
              <a:t>Broker 2 fails  </a:t>
            </a:r>
            <a:r>
              <a:rPr sz="950" b="0">
                <a:solidFill>
                  <a:srgbClr val="44403C"/>
                </a:solidFill>
                <a:latin typeface="Segoe UI"/>
              </a:rPr>
              <a:t>its three replicas go offline</a:t>
            </a:r>
          </a:p>
        </p:txBody>
      </p:sp>
      <p:sp>
        <p:nvSpPr>
          <p:cNvPr id="62" name="a1ud320_dot61"/>
          <p:cNvSpPr/>
          <p:nvPr/>
        </p:nvSpPr>
        <p:spPr>
          <a:xfrm>
            <a:off x="6217920" y="2052828"/>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a1ud320_b62"/>
          <p:cNvSpPr txBox="1"/>
          <p:nvPr/>
        </p:nvSpPr>
        <p:spPr>
          <a:xfrm>
            <a:off x="6437376" y="1956816"/>
            <a:ext cx="2249424" cy="566928"/>
          </a:xfrm>
          <a:prstGeom prst="rect">
            <a:avLst/>
          </a:prstGeom>
          <a:noFill/>
        </p:spPr>
        <p:txBody>
          <a:bodyPr wrap="square" lIns="0" tIns="0" rIns="0" bIns="0" anchor="t">
            <a:spAutoFit/>
          </a:bodyPr>
          <a:lstStyle/>
          <a:p>
            <a:pPr algn="l"/>
            <a:r>
              <a:rPr sz="950" b="1">
                <a:solidFill>
                  <a:srgbClr val="1C1917"/>
                </a:solidFill>
                <a:latin typeface="Segoe UI"/>
              </a:rPr>
              <a:t>Still 2 copies  </a:t>
            </a:r>
            <a:r>
              <a:rPr sz="950" b="0">
                <a:solidFill>
                  <a:srgbClr val="44403C"/>
                </a:solidFill>
                <a:latin typeface="Segoe UI"/>
              </a:rPr>
              <a:t>of every partition, on brokers 1 and 3</a:t>
            </a:r>
          </a:p>
        </p:txBody>
      </p:sp>
      <p:sp>
        <p:nvSpPr>
          <p:cNvPr id="64" name="a2ud150_dot63"/>
          <p:cNvSpPr/>
          <p:nvPr/>
        </p:nvSpPr>
        <p:spPr>
          <a:xfrm>
            <a:off x="6217920" y="2656332"/>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5" name="a2ud150_b64"/>
          <p:cNvSpPr txBox="1"/>
          <p:nvPr/>
        </p:nvSpPr>
        <p:spPr>
          <a:xfrm>
            <a:off x="6437376" y="2560320"/>
            <a:ext cx="2249424" cy="566928"/>
          </a:xfrm>
          <a:prstGeom prst="rect">
            <a:avLst/>
          </a:prstGeom>
          <a:noFill/>
        </p:spPr>
        <p:txBody>
          <a:bodyPr wrap="square" lIns="0" tIns="0" rIns="0" bIns="0" anchor="t">
            <a:spAutoFit/>
          </a:bodyPr>
          <a:lstStyle/>
          <a:p>
            <a:pPr algn="l"/>
            <a:r>
              <a:rPr sz="950" b="1">
                <a:solidFill>
                  <a:srgbClr val="1C1917"/>
                </a:solidFill>
                <a:latin typeface="Segoe UI"/>
              </a:rPr>
              <a:t>P1 lost its leader  </a:t>
            </a:r>
            <a:r>
              <a:rPr sz="950" b="0">
                <a:solidFill>
                  <a:srgbClr val="44403C"/>
                </a:solidFill>
                <a:latin typeface="Segoe UI"/>
              </a:rPr>
              <a:t>so the cluster elects its follower on broker 3</a:t>
            </a:r>
          </a:p>
        </p:txBody>
      </p:sp>
      <p:sp>
        <p:nvSpPr>
          <p:cNvPr id="66" name="a3u_nb65"/>
          <p:cNvSpPr/>
          <p:nvPr/>
        </p:nvSpPr>
        <p:spPr>
          <a:xfrm>
            <a:off x="457200" y="3931920"/>
            <a:ext cx="8229600" cy="548640"/>
          </a:xfrm>
          <a:prstGeom prst="roundRect">
            <a:avLst>
              <a:gd name="adj" fmla="val 13333"/>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7" name="a3u_nacc66"/>
          <p:cNvSpPr/>
          <p:nvPr/>
        </p:nvSpPr>
        <p:spPr>
          <a:xfrm>
            <a:off x="457200" y="3931920"/>
            <a:ext cx="54864" cy="5486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8" name="a3u_nt67"/>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15803D"/>
                </a:solidFill>
                <a:latin typeface="Segoe UI"/>
              </a:rPr>
              <a:t>OK  </a:t>
            </a:r>
            <a:r>
              <a:rPr sz="950" b="0">
                <a:solidFill>
                  <a:srgbClr val="44403C"/>
                </a:solidFill>
                <a:latin typeface="Segoe UI"/>
              </a:rPr>
              <a:t>No data lost, and still available - producers and consumers carry on with the new leader.</a:t>
            </a:r>
          </a:p>
        </p:txBody>
      </p:sp>
      <p:sp>
        <p:nvSpPr>
          <p:cNvPr id="69" name="ft6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70" name="ft6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1" name="ft7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72" name="ft7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5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500"/>
                                        <p:tgtEl>
                                          <p:spTgt spid="3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fade">
                                      <p:cBhvr>
                                        <p:cTn id="79" dur="500"/>
                                        <p:tgtEl>
                                          <p:spTgt spid="3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500"/>
                                        <p:tgtEl>
                                          <p:spTgt spid="3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500"/>
                                        <p:tgtEl>
                                          <p:spTgt spid="3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500"/>
                                        <p:tgtEl>
                                          <p:spTgt spid="3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500"/>
                                        <p:tgtEl>
                                          <p:spTgt spid="3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500"/>
                                        <p:tgtEl>
                                          <p:spTgt spid="4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500"/>
                                        <p:tgtEl>
                                          <p:spTgt spid="4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500"/>
                                        <p:tgtEl>
                                          <p:spTgt spid="4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500"/>
                                        <p:tgtEl>
                                          <p:spTgt spid="4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500"/>
                                        <p:tgtEl>
                                          <p:spTgt spid="4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fade">
                                      <p:cBhvr>
                                        <p:cTn id="109" dur="500"/>
                                        <p:tgtEl>
                                          <p:spTgt spid="45"/>
                                        </p:tgtEl>
                                      </p:cBhvr>
                                    </p:animEffect>
                                  </p:childTnLst>
                                </p:cTn>
                              </p:par>
                            </p:childTnLst>
                          </p:cTn>
                        </p:par>
                      </p:childTnLst>
                    </p:cTn>
                  </p:par>
                  <p:par>
                    <p:cTn id="110" fill="hold">
                      <p:stCondLst>
                        <p:cond delay="indefinite"/>
                      </p:stCondLst>
                      <p:childTnLst>
                        <p:par>
                          <p:cTn id="111" fill="hold">
                            <p:stCondLst>
                              <p:cond delay="0"/>
                            </p:stCondLst>
                            <p:childTnLst>
                              <p:par>
                                <p:cTn id="112" presetID="2" presetClass="entr" presetSubtype="4" fill="hold" grpId="0" nodeType="clickEffect">
                                  <p:stCondLst>
                                    <p:cond delay="0"/>
                                  </p:stCondLst>
                                  <p:childTnLst>
                                    <p:set>
                                      <p:cBhvr>
                                        <p:cTn id="113" dur="1" fill="hold">
                                          <p:stCondLst>
                                            <p:cond delay="0"/>
                                          </p:stCondLst>
                                        </p:cTn>
                                        <p:tgtEl>
                                          <p:spTgt spid="46"/>
                                        </p:tgtEl>
                                        <p:attrNameLst>
                                          <p:attrName>style.visibility</p:attrName>
                                        </p:attrNameLst>
                                      </p:cBhvr>
                                      <p:to>
                                        <p:strVal val="visible"/>
                                      </p:to>
                                    </p:set>
                                    <p:anim calcmode="lin" valueType="num">
                                      <p:cBhvr additive="base">
                                        <p:cTn id="114" dur="500" fill="hold"/>
                                        <p:tgtEl>
                                          <p:spTgt spid="46"/>
                                        </p:tgtEl>
                                        <p:attrNameLst>
                                          <p:attrName>ppt_x</p:attrName>
                                        </p:attrNameLst>
                                      </p:cBhvr>
                                      <p:tavLst>
                                        <p:tav tm="0">
                                          <p:val>
                                            <p:strVal val="#ppt_x"/>
                                          </p:val>
                                        </p:tav>
                                        <p:tav tm="100000">
                                          <p:val>
                                            <p:strVal val="#ppt_x"/>
                                          </p:val>
                                        </p:tav>
                                      </p:tavLst>
                                    </p:anim>
                                    <p:anim calcmode="lin" valueType="num">
                                      <p:cBhvr additive="base">
                                        <p:cTn id="115" dur="500" fill="hold"/>
                                        <p:tgtEl>
                                          <p:spTgt spid="46"/>
                                        </p:tgtEl>
                                        <p:attrNameLst>
                                          <p:attrName>ppt_y</p:attrName>
                                        </p:attrNameLst>
                                      </p:cBhvr>
                                      <p:tavLst>
                                        <p:tav tm="0">
                                          <p:val>
                                            <p:strVal val="#ppt_y+0.1"/>
                                          </p:val>
                                        </p:tav>
                                        <p:tav tm="100000">
                                          <p:val>
                                            <p:strVal val="#ppt_y"/>
                                          </p:val>
                                        </p:tav>
                                      </p:tavLst>
                                    </p:anim>
                                    <p:animEffect transition="in" filter="fade">
                                      <p:cBhvr>
                                        <p:cTn id="116" dur="500"/>
                                        <p:tgtEl>
                                          <p:spTgt spid="46"/>
                                        </p:tgtEl>
                                      </p:cBhvr>
                                    </p:animEffect>
                                  </p:childTnLst>
                                </p:cTn>
                              </p:par>
                              <p:par>
                                <p:cTn id="117" presetID="2" presetClass="entr" presetSubtype="4" fill="hold" grpId="0" nodeType="withEffect">
                                  <p:stCondLst>
                                    <p:cond delay="0"/>
                                  </p:stCondLst>
                                  <p:childTnLst>
                                    <p:set>
                                      <p:cBhvr>
                                        <p:cTn id="118" dur="1" fill="hold">
                                          <p:stCondLst>
                                            <p:cond delay="0"/>
                                          </p:stCondLst>
                                        </p:cTn>
                                        <p:tgtEl>
                                          <p:spTgt spid="47"/>
                                        </p:tgtEl>
                                        <p:attrNameLst>
                                          <p:attrName>style.visibility</p:attrName>
                                        </p:attrNameLst>
                                      </p:cBhvr>
                                      <p:to>
                                        <p:strVal val="visible"/>
                                      </p:to>
                                    </p:set>
                                    <p:anim calcmode="lin" valueType="num">
                                      <p:cBhvr additive="base">
                                        <p:cTn id="119" dur="500" fill="hold"/>
                                        <p:tgtEl>
                                          <p:spTgt spid="47"/>
                                        </p:tgtEl>
                                        <p:attrNameLst>
                                          <p:attrName>ppt_x</p:attrName>
                                        </p:attrNameLst>
                                      </p:cBhvr>
                                      <p:tavLst>
                                        <p:tav tm="0">
                                          <p:val>
                                            <p:strVal val="#ppt_x"/>
                                          </p:val>
                                        </p:tav>
                                        <p:tav tm="100000">
                                          <p:val>
                                            <p:strVal val="#ppt_x"/>
                                          </p:val>
                                        </p:tav>
                                      </p:tavLst>
                                    </p:anim>
                                    <p:anim calcmode="lin" valueType="num">
                                      <p:cBhvr additive="base">
                                        <p:cTn id="120" dur="500" fill="hold"/>
                                        <p:tgtEl>
                                          <p:spTgt spid="47"/>
                                        </p:tgtEl>
                                        <p:attrNameLst>
                                          <p:attrName>ppt_y</p:attrName>
                                        </p:attrNameLst>
                                      </p:cBhvr>
                                      <p:tavLst>
                                        <p:tav tm="0">
                                          <p:val>
                                            <p:strVal val="#ppt_y+0.1"/>
                                          </p:val>
                                        </p:tav>
                                        <p:tav tm="100000">
                                          <p:val>
                                            <p:strVal val="#ppt_y"/>
                                          </p:val>
                                        </p:tav>
                                      </p:tavLst>
                                    </p:anim>
                                    <p:animEffect transition="in" filter="fade">
                                      <p:cBhvr>
                                        <p:cTn id="121" dur="500"/>
                                        <p:tgtEl>
                                          <p:spTgt spid="47"/>
                                        </p:tgtEl>
                                      </p:cBhvr>
                                    </p:animEffect>
                                  </p:childTnLst>
                                </p:cTn>
                              </p:par>
                              <p:par>
                                <p:cTn id="122" presetID="2" presetClass="entr" presetSubtype="4" fill="hold" grpId="0" nodeType="withEffect">
                                  <p:stCondLst>
                                    <p:cond delay="0"/>
                                  </p:stCondLst>
                                  <p:childTnLst>
                                    <p:set>
                                      <p:cBhvr>
                                        <p:cTn id="123" dur="1" fill="hold">
                                          <p:stCondLst>
                                            <p:cond delay="0"/>
                                          </p:stCondLst>
                                        </p:cTn>
                                        <p:tgtEl>
                                          <p:spTgt spid="48"/>
                                        </p:tgtEl>
                                        <p:attrNameLst>
                                          <p:attrName>style.visibility</p:attrName>
                                        </p:attrNameLst>
                                      </p:cBhvr>
                                      <p:to>
                                        <p:strVal val="visible"/>
                                      </p:to>
                                    </p:set>
                                    <p:anim calcmode="lin" valueType="num">
                                      <p:cBhvr additive="base">
                                        <p:cTn id="124" dur="500" fill="hold"/>
                                        <p:tgtEl>
                                          <p:spTgt spid="48"/>
                                        </p:tgtEl>
                                        <p:attrNameLst>
                                          <p:attrName>ppt_x</p:attrName>
                                        </p:attrNameLst>
                                      </p:cBhvr>
                                      <p:tavLst>
                                        <p:tav tm="0">
                                          <p:val>
                                            <p:strVal val="#ppt_x"/>
                                          </p:val>
                                        </p:tav>
                                        <p:tav tm="100000">
                                          <p:val>
                                            <p:strVal val="#ppt_x"/>
                                          </p:val>
                                        </p:tav>
                                      </p:tavLst>
                                    </p:anim>
                                    <p:anim calcmode="lin" valueType="num">
                                      <p:cBhvr additive="base">
                                        <p:cTn id="125" dur="500" fill="hold"/>
                                        <p:tgtEl>
                                          <p:spTgt spid="48"/>
                                        </p:tgtEl>
                                        <p:attrNameLst>
                                          <p:attrName>ppt_y</p:attrName>
                                        </p:attrNameLst>
                                      </p:cBhvr>
                                      <p:tavLst>
                                        <p:tav tm="0">
                                          <p:val>
                                            <p:strVal val="#ppt_y+0.1"/>
                                          </p:val>
                                        </p:tav>
                                        <p:tav tm="100000">
                                          <p:val>
                                            <p:strVal val="#ppt_y"/>
                                          </p:val>
                                        </p:tav>
                                      </p:tavLst>
                                    </p:anim>
                                    <p:animEffect transition="in" filter="fade">
                                      <p:cBhvr>
                                        <p:cTn id="126" dur="500"/>
                                        <p:tgtEl>
                                          <p:spTgt spid="48"/>
                                        </p:tgtEl>
                                      </p:cBhvr>
                                    </p:animEffect>
                                  </p:childTnLst>
                                </p:cTn>
                              </p:par>
                              <p:par>
                                <p:cTn id="127" presetID="2" presetClass="entr" presetSubtype="4" fill="hold" grpId="0" nodeType="withEffect">
                                  <p:stCondLst>
                                    <p:cond delay="0"/>
                                  </p:stCondLst>
                                  <p:childTnLst>
                                    <p:set>
                                      <p:cBhvr>
                                        <p:cTn id="128" dur="1" fill="hold">
                                          <p:stCondLst>
                                            <p:cond delay="0"/>
                                          </p:stCondLst>
                                        </p:cTn>
                                        <p:tgtEl>
                                          <p:spTgt spid="49"/>
                                        </p:tgtEl>
                                        <p:attrNameLst>
                                          <p:attrName>style.visibility</p:attrName>
                                        </p:attrNameLst>
                                      </p:cBhvr>
                                      <p:to>
                                        <p:strVal val="visible"/>
                                      </p:to>
                                    </p:set>
                                    <p:anim calcmode="lin" valueType="num">
                                      <p:cBhvr additive="base">
                                        <p:cTn id="129" dur="500" fill="hold"/>
                                        <p:tgtEl>
                                          <p:spTgt spid="49"/>
                                        </p:tgtEl>
                                        <p:attrNameLst>
                                          <p:attrName>ppt_x</p:attrName>
                                        </p:attrNameLst>
                                      </p:cBhvr>
                                      <p:tavLst>
                                        <p:tav tm="0">
                                          <p:val>
                                            <p:strVal val="#ppt_x"/>
                                          </p:val>
                                        </p:tav>
                                        <p:tav tm="100000">
                                          <p:val>
                                            <p:strVal val="#ppt_x"/>
                                          </p:val>
                                        </p:tav>
                                      </p:tavLst>
                                    </p:anim>
                                    <p:anim calcmode="lin" valueType="num">
                                      <p:cBhvr additive="base">
                                        <p:cTn id="130" dur="500" fill="hold"/>
                                        <p:tgtEl>
                                          <p:spTgt spid="49"/>
                                        </p:tgtEl>
                                        <p:attrNameLst>
                                          <p:attrName>ppt_y</p:attrName>
                                        </p:attrNameLst>
                                      </p:cBhvr>
                                      <p:tavLst>
                                        <p:tav tm="0">
                                          <p:val>
                                            <p:strVal val="#ppt_y+0.1"/>
                                          </p:val>
                                        </p:tav>
                                        <p:tav tm="100000">
                                          <p:val>
                                            <p:strVal val="#ppt_y"/>
                                          </p:val>
                                        </p:tav>
                                      </p:tavLst>
                                    </p:anim>
                                    <p:animEffect transition="in" filter="fade">
                                      <p:cBhvr>
                                        <p:cTn id="131" dur="500"/>
                                        <p:tgtEl>
                                          <p:spTgt spid="49"/>
                                        </p:tgtEl>
                                      </p:cBhvr>
                                    </p:animEffect>
                                  </p:childTnLst>
                                </p:cTn>
                              </p:par>
                              <p:par>
                                <p:cTn id="132" presetID="2" presetClass="entr" presetSubtype="4" fill="hold" grpId="0" nodeType="withEffect">
                                  <p:stCondLst>
                                    <p:cond delay="0"/>
                                  </p:stCondLst>
                                  <p:childTnLst>
                                    <p:set>
                                      <p:cBhvr>
                                        <p:cTn id="133" dur="1" fill="hold">
                                          <p:stCondLst>
                                            <p:cond delay="0"/>
                                          </p:stCondLst>
                                        </p:cTn>
                                        <p:tgtEl>
                                          <p:spTgt spid="50"/>
                                        </p:tgtEl>
                                        <p:attrNameLst>
                                          <p:attrName>style.visibility</p:attrName>
                                        </p:attrNameLst>
                                      </p:cBhvr>
                                      <p:to>
                                        <p:strVal val="visible"/>
                                      </p:to>
                                    </p:set>
                                    <p:anim calcmode="lin" valueType="num">
                                      <p:cBhvr additive="base">
                                        <p:cTn id="134" dur="500" fill="hold"/>
                                        <p:tgtEl>
                                          <p:spTgt spid="50"/>
                                        </p:tgtEl>
                                        <p:attrNameLst>
                                          <p:attrName>ppt_x</p:attrName>
                                        </p:attrNameLst>
                                      </p:cBhvr>
                                      <p:tavLst>
                                        <p:tav tm="0">
                                          <p:val>
                                            <p:strVal val="#ppt_x"/>
                                          </p:val>
                                        </p:tav>
                                        <p:tav tm="100000">
                                          <p:val>
                                            <p:strVal val="#ppt_x"/>
                                          </p:val>
                                        </p:tav>
                                      </p:tavLst>
                                    </p:anim>
                                    <p:anim calcmode="lin" valueType="num">
                                      <p:cBhvr additive="base">
                                        <p:cTn id="135" dur="500" fill="hold"/>
                                        <p:tgtEl>
                                          <p:spTgt spid="50"/>
                                        </p:tgtEl>
                                        <p:attrNameLst>
                                          <p:attrName>ppt_y</p:attrName>
                                        </p:attrNameLst>
                                      </p:cBhvr>
                                      <p:tavLst>
                                        <p:tav tm="0">
                                          <p:val>
                                            <p:strVal val="#ppt_y+0.1"/>
                                          </p:val>
                                        </p:tav>
                                        <p:tav tm="100000">
                                          <p:val>
                                            <p:strVal val="#ppt_y"/>
                                          </p:val>
                                        </p:tav>
                                      </p:tavLst>
                                    </p:anim>
                                    <p:animEffect transition="in" filter="fade">
                                      <p:cBhvr>
                                        <p:cTn id="136" dur="500"/>
                                        <p:tgtEl>
                                          <p:spTgt spid="50"/>
                                        </p:tgtEl>
                                      </p:cBhvr>
                                    </p:animEffect>
                                  </p:childTnLst>
                                </p:cTn>
                              </p:par>
                              <p:par>
                                <p:cTn id="137" presetID="2" presetClass="entr" presetSubtype="4"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anim calcmode="lin" valueType="num">
                                      <p:cBhvr additive="base">
                                        <p:cTn id="139" dur="500" fill="hold"/>
                                        <p:tgtEl>
                                          <p:spTgt spid="51"/>
                                        </p:tgtEl>
                                        <p:attrNameLst>
                                          <p:attrName>ppt_x</p:attrName>
                                        </p:attrNameLst>
                                      </p:cBhvr>
                                      <p:tavLst>
                                        <p:tav tm="0">
                                          <p:val>
                                            <p:strVal val="#ppt_x"/>
                                          </p:val>
                                        </p:tav>
                                        <p:tav tm="100000">
                                          <p:val>
                                            <p:strVal val="#ppt_x"/>
                                          </p:val>
                                        </p:tav>
                                      </p:tavLst>
                                    </p:anim>
                                    <p:anim calcmode="lin" valueType="num">
                                      <p:cBhvr additive="base">
                                        <p:cTn id="140" dur="500" fill="hold"/>
                                        <p:tgtEl>
                                          <p:spTgt spid="51"/>
                                        </p:tgtEl>
                                        <p:attrNameLst>
                                          <p:attrName>ppt_y</p:attrName>
                                        </p:attrNameLst>
                                      </p:cBhvr>
                                      <p:tavLst>
                                        <p:tav tm="0">
                                          <p:val>
                                            <p:strVal val="#ppt_y+0.1"/>
                                          </p:val>
                                        </p:tav>
                                        <p:tav tm="100000">
                                          <p:val>
                                            <p:strVal val="#ppt_y"/>
                                          </p:val>
                                        </p:tav>
                                      </p:tavLst>
                                    </p:anim>
                                    <p:animEffect transition="in" filter="fade">
                                      <p:cBhvr>
                                        <p:cTn id="141" dur="500"/>
                                        <p:tgtEl>
                                          <p:spTgt spid="51"/>
                                        </p:tgtEl>
                                      </p:cBhvr>
                                    </p:animEffect>
                                  </p:childTnLst>
                                </p:cTn>
                              </p:par>
                              <p:par>
                                <p:cTn id="142" presetID="2" presetClass="entr" presetSubtype="4" fill="hold" grpId="0" nodeType="withEffect">
                                  <p:stCondLst>
                                    <p:cond delay="0"/>
                                  </p:stCondLst>
                                  <p:childTnLst>
                                    <p:set>
                                      <p:cBhvr>
                                        <p:cTn id="143" dur="1" fill="hold">
                                          <p:stCondLst>
                                            <p:cond delay="0"/>
                                          </p:stCondLst>
                                        </p:cTn>
                                        <p:tgtEl>
                                          <p:spTgt spid="52"/>
                                        </p:tgtEl>
                                        <p:attrNameLst>
                                          <p:attrName>style.visibility</p:attrName>
                                        </p:attrNameLst>
                                      </p:cBhvr>
                                      <p:to>
                                        <p:strVal val="visible"/>
                                      </p:to>
                                    </p:set>
                                    <p:anim calcmode="lin" valueType="num">
                                      <p:cBhvr additive="base">
                                        <p:cTn id="144" dur="500" fill="hold"/>
                                        <p:tgtEl>
                                          <p:spTgt spid="52"/>
                                        </p:tgtEl>
                                        <p:attrNameLst>
                                          <p:attrName>ppt_x</p:attrName>
                                        </p:attrNameLst>
                                      </p:cBhvr>
                                      <p:tavLst>
                                        <p:tav tm="0">
                                          <p:val>
                                            <p:strVal val="#ppt_x"/>
                                          </p:val>
                                        </p:tav>
                                        <p:tav tm="100000">
                                          <p:val>
                                            <p:strVal val="#ppt_x"/>
                                          </p:val>
                                        </p:tav>
                                      </p:tavLst>
                                    </p:anim>
                                    <p:anim calcmode="lin" valueType="num">
                                      <p:cBhvr additive="base">
                                        <p:cTn id="145" dur="500" fill="hold"/>
                                        <p:tgtEl>
                                          <p:spTgt spid="52"/>
                                        </p:tgtEl>
                                        <p:attrNameLst>
                                          <p:attrName>ppt_y</p:attrName>
                                        </p:attrNameLst>
                                      </p:cBhvr>
                                      <p:tavLst>
                                        <p:tav tm="0">
                                          <p:val>
                                            <p:strVal val="#ppt_y+0.1"/>
                                          </p:val>
                                        </p:tav>
                                        <p:tav tm="100000">
                                          <p:val>
                                            <p:strVal val="#ppt_y"/>
                                          </p:val>
                                        </p:tav>
                                      </p:tavLst>
                                    </p:anim>
                                    <p:animEffect transition="in" filter="fade">
                                      <p:cBhvr>
                                        <p:cTn id="146" dur="500"/>
                                        <p:tgtEl>
                                          <p:spTgt spid="52"/>
                                        </p:tgtEl>
                                      </p:cBhvr>
                                    </p:animEffect>
                                  </p:childTnLst>
                                </p:cTn>
                              </p:par>
                              <p:par>
                                <p:cTn id="147" presetID="2" presetClass="entr" presetSubtype="4"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 calcmode="lin" valueType="num">
                                      <p:cBhvr additive="base">
                                        <p:cTn id="149" dur="500" fill="hold"/>
                                        <p:tgtEl>
                                          <p:spTgt spid="53"/>
                                        </p:tgtEl>
                                        <p:attrNameLst>
                                          <p:attrName>ppt_x</p:attrName>
                                        </p:attrNameLst>
                                      </p:cBhvr>
                                      <p:tavLst>
                                        <p:tav tm="0">
                                          <p:val>
                                            <p:strVal val="#ppt_x"/>
                                          </p:val>
                                        </p:tav>
                                        <p:tav tm="100000">
                                          <p:val>
                                            <p:strVal val="#ppt_x"/>
                                          </p:val>
                                        </p:tav>
                                      </p:tavLst>
                                    </p:anim>
                                    <p:anim calcmode="lin" valueType="num">
                                      <p:cBhvr additive="base">
                                        <p:cTn id="150" dur="500" fill="hold"/>
                                        <p:tgtEl>
                                          <p:spTgt spid="53"/>
                                        </p:tgtEl>
                                        <p:attrNameLst>
                                          <p:attrName>ppt_y</p:attrName>
                                        </p:attrNameLst>
                                      </p:cBhvr>
                                      <p:tavLst>
                                        <p:tav tm="0">
                                          <p:val>
                                            <p:strVal val="#ppt_y+0.1"/>
                                          </p:val>
                                        </p:tav>
                                        <p:tav tm="100000">
                                          <p:val>
                                            <p:strVal val="#ppt_y"/>
                                          </p:val>
                                        </p:tav>
                                      </p:tavLst>
                                    </p:anim>
                                    <p:animEffect transition="in" filter="fade">
                                      <p:cBhvr>
                                        <p:cTn id="151" dur="500"/>
                                        <p:tgtEl>
                                          <p:spTgt spid="53"/>
                                        </p:tgtEl>
                                      </p:cBhvr>
                                    </p:animEffect>
                                  </p:childTnLst>
                                </p:cTn>
                              </p:par>
                              <p:par>
                                <p:cTn id="152" presetID="2" presetClass="entr" presetSubtype="4" fill="hold" grpId="0"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ppt_x"/>
                                          </p:val>
                                        </p:tav>
                                        <p:tav tm="100000">
                                          <p:val>
                                            <p:strVal val="#ppt_x"/>
                                          </p:val>
                                        </p:tav>
                                      </p:tavLst>
                                    </p:anim>
                                    <p:anim calcmode="lin" valueType="num">
                                      <p:cBhvr additive="base">
                                        <p:cTn id="155" dur="500" fill="hold"/>
                                        <p:tgtEl>
                                          <p:spTgt spid="54"/>
                                        </p:tgtEl>
                                        <p:attrNameLst>
                                          <p:attrName>ppt_y</p:attrName>
                                        </p:attrNameLst>
                                      </p:cBhvr>
                                      <p:tavLst>
                                        <p:tav tm="0">
                                          <p:val>
                                            <p:strVal val="#ppt_y+0.1"/>
                                          </p:val>
                                        </p:tav>
                                        <p:tav tm="100000">
                                          <p:val>
                                            <p:strVal val="#ppt_y"/>
                                          </p:val>
                                        </p:tav>
                                      </p:tavLst>
                                    </p:anim>
                                    <p:animEffect transition="in" filter="fade">
                                      <p:cBhvr>
                                        <p:cTn id="156" dur="500"/>
                                        <p:tgtEl>
                                          <p:spTgt spid="54"/>
                                        </p:tgtEl>
                                      </p:cBhvr>
                                    </p:animEffect>
                                  </p:childTnLst>
                                </p:cTn>
                              </p:par>
                              <p:par>
                                <p:cTn id="157" presetID="2" presetClass="entr" presetSubtype="4" fill="hold" grpId="0" nodeType="withEffect">
                                  <p:stCondLst>
                                    <p:cond delay="0"/>
                                  </p:stCondLst>
                                  <p:childTnLst>
                                    <p:set>
                                      <p:cBhvr>
                                        <p:cTn id="158" dur="1" fill="hold">
                                          <p:stCondLst>
                                            <p:cond delay="0"/>
                                          </p:stCondLst>
                                        </p:cTn>
                                        <p:tgtEl>
                                          <p:spTgt spid="55"/>
                                        </p:tgtEl>
                                        <p:attrNameLst>
                                          <p:attrName>style.visibility</p:attrName>
                                        </p:attrNameLst>
                                      </p:cBhvr>
                                      <p:to>
                                        <p:strVal val="visible"/>
                                      </p:to>
                                    </p:set>
                                    <p:anim calcmode="lin" valueType="num">
                                      <p:cBhvr additive="base">
                                        <p:cTn id="159" dur="500" fill="hold"/>
                                        <p:tgtEl>
                                          <p:spTgt spid="55"/>
                                        </p:tgtEl>
                                        <p:attrNameLst>
                                          <p:attrName>ppt_x</p:attrName>
                                        </p:attrNameLst>
                                      </p:cBhvr>
                                      <p:tavLst>
                                        <p:tav tm="0">
                                          <p:val>
                                            <p:strVal val="#ppt_x"/>
                                          </p:val>
                                        </p:tav>
                                        <p:tav tm="100000">
                                          <p:val>
                                            <p:strVal val="#ppt_x"/>
                                          </p:val>
                                        </p:tav>
                                      </p:tavLst>
                                    </p:anim>
                                    <p:anim calcmode="lin" valueType="num">
                                      <p:cBhvr additive="base">
                                        <p:cTn id="160" dur="500" fill="hold"/>
                                        <p:tgtEl>
                                          <p:spTgt spid="55"/>
                                        </p:tgtEl>
                                        <p:attrNameLst>
                                          <p:attrName>ppt_y</p:attrName>
                                        </p:attrNameLst>
                                      </p:cBhvr>
                                      <p:tavLst>
                                        <p:tav tm="0">
                                          <p:val>
                                            <p:strVal val="#ppt_y+0.1"/>
                                          </p:val>
                                        </p:tav>
                                        <p:tav tm="100000">
                                          <p:val>
                                            <p:strVal val="#ppt_y"/>
                                          </p:val>
                                        </p:tav>
                                      </p:tavLst>
                                    </p:anim>
                                    <p:animEffect transition="in" filter="fade">
                                      <p:cBhvr>
                                        <p:cTn id="161" dur="500"/>
                                        <p:tgtEl>
                                          <p:spTgt spid="55"/>
                                        </p:tgtEl>
                                      </p:cBhvr>
                                    </p:animEffect>
                                  </p:childTnLst>
                                </p:cTn>
                              </p:par>
                              <p:par>
                                <p:cTn id="162" presetID="2" presetClass="entr" presetSubtype="4" fill="hold" grpId="0" nodeType="withEffect">
                                  <p:stCondLst>
                                    <p:cond delay="0"/>
                                  </p:stCondLst>
                                  <p:childTnLst>
                                    <p:set>
                                      <p:cBhvr>
                                        <p:cTn id="163" dur="1" fill="hold">
                                          <p:stCondLst>
                                            <p:cond delay="0"/>
                                          </p:stCondLst>
                                        </p:cTn>
                                        <p:tgtEl>
                                          <p:spTgt spid="56"/>
                                        </p:tgtEl>
                                        <p:attrNameLst>
                                          <p:attrName>style.visibility</p:attrName>
                                        </p:attrNameLst>
                                      </p:cBhvr>
                                      <p:to>
                                        <p:strVal val="visible"/>
                                      </p:to>
                                    </p:set>
                                    <p:anim calcmode="lin" valueType="num">
                                      <p:cBhvr additive="base">
                                        <p:cTn id="164" dur="500" fill="hold"/>
                                        <p:tgtEl>
                                          <p:spTgt spid="56"/>
                                        </p:tgtEl>
                                        <p:attrNameLst>
                                          <p:attrName>ppt_x</p:attrName>
                                        </p:attrNameLst>
                                      </p:cBhvr>
                                      <p:tavLst>
                                        <p:tav tm="0">
                                          <p:val>
                                            <p:strVal val="#ppt_x"/>
                                          </p:val>
                                        </p:tav>
                                        <p:tav tm="100000">
                                          <p:val>
                                            <p:strVal val="#ppt_x"/>
                                          </p:val>
                                        </p:tav>
                                      </p:tavLst>
                                    </p:anim>
                                    <p:anim calcmode="lin" valueType="num">
                                      <p:cBhvr additive="base">
                                        <p:cTn id="165" dur="500" fill="hold"/>
                                        <p:tgtEl>
                                          <p:spTgt spid="56"/>
                                        </p:tgtEl>
                                        <p:attrNameLst>
                                          <p:attrName>ppt_y</p:attrName>
                                        </p:attrNameLst>
                                      </p:cBhvr>
                                      <p:tavLst>
                                        <p:tav tm="0">
                                          <p:val>
                                            <p:strVal val="#ppt_y+0.1"/>
                                          </p:val>
                                        </p:tav>
                                        <p:tav tm="100000">
                                          <p:val>
                                            <p:strVal val="#ppt_y"/>
                                          </p:val>
                                        </p:tav>
                                      </p:tavLst>
                                    </p:anim>
                                    <p:animEffect transition="in" filter="fade">
                                      <p:cBhvr>
                                        <p:cTn id="166" dur="500"/>
                                        <p:tgtEl>
                                          <p:spTgt spid="56"/>
                                        </p:tgtEl>
                                      </p:cBhvr>
                                    </p:animEffect>
                                  </p:childTnLst>
                                </p:cTn>
                              </p:par>
                              <p:par>
                                <p:cTn id="167" presetID="2" presetClass="entr" presetSubtype="4" fill="hold" grpId="0" nodeType="withEffect">
                                  <p:stCondLst>
                                    <p:cond delay="200"/>
                                  </p:stCondLst>
                                  <p:childTnLst>
                                    <p:set>
                                      <p:cBhvr>
                                        <p:cTn id="168" dur="1" fill="hold">
                                          <p:stCondLst>
                                            <p:cond delay="0"/>
                                          </p:stCondLst>
                                        </p:cTn>
                                        <p:tgtEl>
                                          <p:spTgt spid="60"/>
                                        </p:tgtEl>
                                        <p:attrNameLst>
                                          <p:attrName>style.visibility</p:attrName>
                                        </p:attrNameLst>
                                      </p:cBhvr>
                                      <p:to>
                                        <p:strVal val="visible"/>
                                      </p:to>
                                    </p:set>
                                    <p:anim calcmode="lin" valueType="num">
                                      <p:cBhvr additive="base">
                                        <p:cTn id="169" dur="500" fill="hold"/>
                                        <p:tgtEl>
                                          <p:spTgt spid="60"/>
                                        </p:tgtEl>
                                        <p:attrNameLst>
                                          <p:attrName>ppt_x</p:attrName>
                                        </p:attrNameLst>
                                      </p:cBhvr>
                                      <p:tavLst>
                                        <p:tav tm="0">
                                          <p:val>
                                            <p:strVal val="#ppt_x"/>
                                          </p:val>
                                        </p:tav>
                                        <p:tav tm="100000">
                                          <p:val>
                                            <p:strVal val="#ppt_x"/>
                                          </p:val>
                                        </p:tav>
                                      </p:tavLst>
                                    </p:anim>
                                    <p:anim calcmode="lin" valueType="num">
                                      <p:cBhvr additive="base">
                                        <p:cTn id="170" dur="500" fill="hold"/>
                                        <p:tgtEl>
                                          <p:spTgt spid="60"/>
                                        </p:tgtEl>
                                        <p:attrNameLst>
                                          <p:attrName>ppt_y</p:attrName>
                                        </p:attrNameLst>
                                      </p:cBhvr>
                                      <p:tavLst>
                                        <p:tav tm="0">
                                          <p:val>
                                            <p:strVal val="#ppt_y+0.1"/>
                                          </p:val>
                                        </p:tav>
                                        <p:tav tm="100000">
                                          <p:val>
                                            <p:strVal val="#ppt_y"/>
                                          </p:val>
                                        </p:tav>
                                      </p:tavLst>
                                    </p:anim>
                                    <p:animEffect transition="in" filter="fade">
                                      <p:cBhvr>
                                        <p:cTn id="171" dur="500"/>
                                        <p:tgtEl>
                                          <p:spTgt spid="60"/>
                                        </p:tgtEl>
                                      </p:cBhvr>
                                    </p:animEffect>
                                  </p:childTnLst>
                                </p:cTn>
                              </p:par>
                              <p:par>
                                <p:cTn id="172" presetID="2" presetClass="entr" presetSubtype="4" fill="hold" grpId="0" nodeType="withEffect">
                                  <p:stCondLst>
                                    <p:cond delay="20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ppt_y+0.1"/>
                                          </p:val>
                                        </p:tav>
                                        <p:tav tm="100000">
                                          <p:val>
                                            <p:strVal val="#ppt_y"/>
                                          </p:val>
                                        </p:tav>
                                      </p:tavLst>
                                    </p:anim>
                                    <p:animEffect transition="in" filter="fade">
                                      <p:cBhvr>
                                        <p:cTn id="176" dur="500"/>
                                        <p:tgtEl>
                                          <p:spTgt spid="61"/>
                                        </p:tgtEl>
                                      </p:cBhvr>
                                    </p:animEffect>
                                  </p:childTnLst>
                                </p:cTn>
                              </p:par>
                              <p:par>
                                <p:cTn id="177" presetID="2" presetClass="entr" presetSubtype="4" fill="hold" grpId="0" nodeType="withEffect">
                                  <p:stCondLst>
                                    <p:cond delay="320"/>
                                  </p:stCondLst>
                                  <p:childTnLst>
                                    <p:set>
                                      <p:cBhvr>
                                        <p:cTn id="178" dur="1" fill="hold">
                                          <p:stCondLst>
                                            <p:cond delay="0"/>
                                          </p:stCondLst>
                                        </p:cTn>
                                        <p:tgtEl>
                                          <p:spTgt spid="62"/>
                                        </p:tgtEl>
                                        <p:attrNameLst>
                                          <p:attrName>style.visibility</p:attrName>
                                        </p:attrNameLst>
                                      </p:cBhvr>
                                      <p:to>
                                        <p:strVal val="visible"/>
                                      </p:to>
                                    </p:set>
                                    <p:anim calcmode="lin" valueType="num">
                                      <p:cBhvr additive="base">
                                        <p:cTn id="179" dur="500" fill="hold"/>
                                        <p:tgtEl>
                                          <p:spTgt spid="62"/>
                                        </p:tgtEl>
                                        <p:attrNameLst>
                                          <p:attrName>ppt_x</p:attrName>
                                        </p:attrNameLst>
                                      </p:cBhvr>
                                      <p:tavLst>
                                        <p:tav tm="0">
                                          <p:val>
                                            <p:strVal val="#ppt_x"/>
                                          </p:val>
                                        </p:tav>
                                        <p:tav tm="100000">
                                          <p:val>
                                            <p:strVal val="#ppt_x"/>
                                          </p:val>
                                        </p:tav>
                                      </p:tavLst>
                                    </p:anim>
                                    <p:anim calcmode="lin" valueType="num">
                                      <p:cBhvr additive="base">
                                        <p:cTn id="180" dur="500" fill="hold"/>
                                        <p:tgtEl>
                                          <p:spTgt spid="62"/>
                                        </p:tgtEl>
                                        <p:attrNameLst>
                                          <p:attrName>ppt_y</p:attrName>
                                        </p:attrNameLst>
                                      </p:cBhvr>
                                      <p:tavLst>
                                        <p:tav tm="0">
                                          <p:val>
                                            <p:strVal val="#ppt_y+0.1"/>
                                          </p:val>
                                        </p:tav>
                                        <p:tav tm="100000">
                                          <p:val>
                                            <p:strVal val="#ppt_y"/>
                                          </p:val>
                                        </p:tav>
                                      </p:tavLst>
                                    </p:anim>
                                    <p:animEffect transition="in" filter="fade">
                                      <p:cBhvr>
                                        <p:cTn id="181" dur="500"/>
                                        <p:tgtEl>
                                          <p:spTgt spid="62"/>
                                        </p:tgtEl>
                                      </p:cBhvr>
                                    </p:animEffect>
                                  </p:childTnLst>
                                </p:cTn>
                              </p:par>
                              <p:par>
                                <p:cTn id="182" presetID="2" presetClass="entr" presetSubtype="4" fill="hold" grpId="0" nodeType="withEffect">
                                  <p:stCondLst>
                                    <p:cond delay="320"/>
                                  </p:stCondLst>
                                  <p:childTnLst>
                                    <p:set>
                                      <p:cBhvr>
                                        <p:cTn id="183" dur="1" fill="hold">
                                          <p:stCondLst>
                                            <p:cond delay="0"/>
                                          </p:stCondLst>
                                        </p:cTn>
                                        <p:tgtEl>
                                          <p:spTgt spid="63"/>
                                        </p:tgtEl>
                                        <p:attrNameLst>
                                          <p:attrName>style.visibility</p:attrName>
                                        </p:attrNameLst>
                                      </p:cBhvr>
                                      <p:to>
                                        <p:strVal val="visible"/>
                                      </p:to>
                                    </p:set>
                                    <p:anim calcmode="lin" valueType="num">
                                      <p:cBhvr additive="base">
                                        <p:cTn id="184" dur="500" fill="hold"/>
                                        <p:tgtEl>
                                          <p:spTgt spid="63"/>
                                        </p:tgtEl>
                                        <p:attrNameLst>
                                          <p:attrName>ppt_x</p:attrName>
                                        </p:attrNameLst>
                                      </p:cBhvr>
                                      <p:tavLst>
                                        <p:tav tm="0">
                                          <p:val>
                                            <p:strVal val="#ppt_x"/>
                                          </p:val>
                                        </p:tav>
                                        <p:tav tm="100000">
                                          <p:val>
                                            <p:strVal val="#ppt_x"/>
                                          </p:val>
                                        </p:tav>
                                      </p:tavLst>
                                    </p:anim>
                                    <p:anim calcmode="lin" valueType="num">
                                      <p:cBhvr additive="base">
                                        <p:cTn id="185" dur="500" fill="hold"/>
                                        <p:tgtEl>
                                          <p:spTgt spid="63"/>
                                        </p:tgtEl>
                                        <p:attrNameLst>
                                          <p:attrName>ppt_y</p:attrName>
                                        </p:attrNameLst>
                                      </p:cBhvr>
                                      <p:tavLst>
                                        <p:tav tm="0">
                                          <p:val>
                                            <p:strVal val="#ppt_y+0.1"/>
                                          </p:val>
                                        </p:tav>
                                        <p:tav tm="100000">
                                          <p:val>
                                            <p:strVal val="#ppt_y"/>
                                          </p:val>
                                        </p:tav>
                                      </p:tavLst>
                                    </p:anim>
                                    <p:animEffect transition="in" filter="fade">
                                      <p:cBhvr>
                                        <p:cTn id="186" dur="500"/>
                                        <p:tgtEl>
                                          <p:spTgt spid="63"/>
                                        </p:tgtEl>
                                      </p:cBhvr>
                                    </p:animEffect>
                                  </p:childTnLst>
                                </p:cTn>
                              </p:par>
                            </p:childTnLst>
                          </p:cTn>
                        </p:par>
                      </p:childTnLst>
                    </p:cTn>
                  </p:par>
                  <p:par>
                    <p:cTn id="187" fill="hold">
                      <p:stCondLst>
                        <p:cond delay="indefinite"/>
                      </p:stCondLst>
                      <p:childTnLst>
                        <p:par>
                          <p:cTn id="188" fill="hold">
                            <p:stCondLst>
                              <p:cond delay="0"/>
                            </p:stCondLst>
                            <p:childTnLst>
                              <p:par>
                                <p:cTn id="189" presetID="2" presetClass="entr" presetSubtype="4" fill="hold" grpId="0" nodeType="clickEffect">
                                  <p:stCondLst>
                                    <p:cond delay="0"/>
                                  </p:stCondLst>
                                  <p:childTnLst>
                                    <p:set>
                                      <p:cBhvr>
                                        <p:cTn id="190" dur="1" fill="hold">
                                          <p:stCondLst>
                                            <p:cond delay="0"/>
                                          </p:stCondLst>
                                        </p:cTn>
                                        <p:tgtEl>
                                          <p:spTgt spid="57"/>
                                        </p:tgtEl>
                                        <p:attrNameLst>
                                          <p:attrName>style.visibility</p:attrName>
                                        </p:attrNameLst>
                                      </p:cBhvr>
                                      <p:to>
                                        <p:strVal val="visible"/>
                                      </p:to>
                                    </p:set>
                                    <p:anim calcmode="lin" valueType="num">
                                      <p:cBhvr additive="base">
                                        <p:cTn id="191" dur="500" fill="hold"/>
                                        <p:tgtEl>
                                          <p:spTgt spid="57"/>
                                        </p:tgtEl>
                                        <p:attrNameLst>
                                          <p:attrName>ppt_x</p:attrName>
                                        </p:attrNameLst>
                                      </p:cBhvr>
                                      <p:tavLst>
                                        <p:tav tm="0">
                                          <p:val>
                                            <p:strVal val="#ppt_x"/>
                                          </p:val>
                                        </p:tav>
                                        <p:tav tm="100000">
                                          <p:val>
                                            <p:strVal val="#ppt_x"/>
                                          </p:val>
                                        </p:tav>
                                      </p:tavLst>
                                    </p:anim>
                                    <p:anim calcmode="lin" valueType="num">
                                      <p:cBhvr additive="base">
                                        <p:cTn id="192" dur="500" fill="hold"/>
                                        <p:tgtEl>
                                          <p:spTgt spid="57"/>
                                        </p:tgtEl>
                                        <p:attrNameLst>
                                          <p:attrName>ppt_y</p:attrName>
                                        </p:attrNameLst>
                                      </p:cBhvr>
                                      <p:tavLst>
                                        <p:tav tm="0">
                                          <p:val>
                                            <p:strVal val="#ppt_y+0.1"/>
                                          </p:val>
                                        </p:tav>
                                        <p:tav tm="100000">
                                          <p:val>
                                            <p:strVal val="#ppt_y"/>
                                          </p:val>
                                        </p:tav>
                                      </p:tavLst>
                                    </p:anim>
                                    <p:animEffect transition="in" filter="fade">
                                      <p:cBhvr>
                                        <p:cTn id="193" dur="500"/>
                                        <p:tgtEl>
                                          <p:spTgt spid="57"/>
                                        </p:tgtEl>
                                      </p:cBhvr>
                                    </p:animEffect>
                                  </p:childTnLst>
                                </p:cTn>
                              </p:par>
                              <p:par>
                                <p:cTn id="194" presetID="2" presetClass="entr" presetSubtype="4" fill="hold" grpId="0" nodeType="withEffect">
                                  <p:stCondLst>
                                    <p:cond delay="0"/>
                                  </p:stCondLst>
                                  <p:childTnLst>
                                    <p:set>
                                      <p:cBhvr>
                                        <p:cTn id="195" dur="1" fill="hold">
                                          <p:stCondLst>
                                            <p:cond delay="0"/>
                                          </p:stCondLst>
                                        </p:cTn>
                                        <p:tgtEl>
                                          <p:spTgt spid="58"/>
                                        </p:tgtEl>
                                        <p:attrNameLst>
                                          <p:attrName>style.visibility</p:attrName>
                                        </p:attrNameLst>
                                      </p:cBhvr>
                                      <p:to>
                                        <p:strVal val="visible"/>
                                      </p:to>
                                    </p:set>
                                    <p:anim calcmode="lin" valueType="num">
                                      <p:cBhvr additive="base">
                                        <p:cTn id="196" dur="500" fill="hold"/>
                                        <p:tgtEl>
                                          <p:spTgt spid="58"/>
                                        </p:tgtEl>
                                        <p:attrNameLst>
                                          <p:attrName>ppt_x</p:attrName>
                                        </p:attrNameLst>
                                      </p:cBhvr>
                                      <p:tavLst>
                                        <p:tav tm="0">
                                          <p:val>
                                            <p:strVal val="#ppt_x"/>
                                          </p:val>
                                        </p:tav>
                                        <p:tav tm="100000">
                                          <p:val>
                                            <p:strVal val="#ppt_x"/>
                                          </p:val>
                                        </p:tav>
                                      </p:tavLst>
                                    </p:anim>
                                    <p:anim calcmode="lin" valueType="num">
                                      <p:cBhvr additive="base">
                                        <p:cTn id="197" dur="500" fill="hold"/>
                                        <p:tgtEl>
                                          <p:spTgt spid="58"/>
                                        </p:tgtEl>
                                        <p:attrNameLst>
                                          <p:attrName>ppt_y</p:attrName>
                                        </p:attrNameLst>
                                      </p:cBhvr>
                                      <p:tavLst>
                                        <p:tav tm="0">
                                          <p:val>
                                            <p:strVal val="#ppt_y+0.1"/>
                                          </p:val>
                                        </p:tav>
                                        <p:tav tm="100000">
                                          <p:val>
                                            <p:strVal val="#ppt_y"/>
                                          </p:val>
                                        </p:tav>
                                      </p:tavLst>
                                    </p:anim>
                                    <p:animEffect transition="in" filter="fade">
                                      <p:cBhvr>
                                        <p:cTn id="198" dur="500"/>
                                        <p:tgtEl>
                                          <p:spTgt spid="58"/>
                                        </p:tgtEl>
                                      </p:cBhvr>
                                    </p:animEffect>
                                  </p:childTnLst>
                                </p:cTn>
                              </p:par>
                              <p:par>
                                <p:cTn id="199" presetID="2" presetClass="entr" presetSubtype="4" fill="hold" grpId="0" nodeType="withEffect">
                                  <p:stCondLst>
                                    <p:cond delay="0"/>
                                  </p:stCondLst>
                                  <p:childTnLst>
                                    <p:set>
                                      <p:cBhvr>
                                        <p:cTn id="200" dur="1" fill="hold">
                                          <p:stCondLst>
                                            <p:cond delay="0"/>
                                          </p:stCondLst>
                                        </p:cTn>
                                        <p:tgtEl>
                                          <p:spTgt spid="59"/>
                                        </p:tgtEl>
                                        <p:attrNameLst>
                                          <p:attrName>style.visibility</p:attrName>
                                        </p:attrNameLst>
                                      </p:cBhvr>
                                      <p:to>
                                        <p:strVal val="visible"/>
                                      </p:to>
                                    </p:set>
                                    <p:anim calcmode="lin" valueType="num">
                                      <p:cBhvr additive="base">
                                        <p:cTn id="201" dur="500" fill="hold"/>
                                        <p:tgtEl>
                                          <p:spTgt spid="59"/>
                                        </p:tgtEl>
                                        <p:attrNameLst>
                                          <p:attrName>ppt_x</p:attrName>
                                        </p:attrNameLst>
                                      </p:cBhvr>
                                      <p:tavLst>
                                        <p:tav tm="0">
                                          <p:val>
                                            <p:strVal val="#ppt_x"/>
                                          </p:val>
                                        </p:tav>
                                        <p:tav tm="100000">
                                          <p:val>
                                            <p:strVal val="#ppt_x"/>
                                          </p:val>
                                        </p:tav>
                                      </p:tavLst>
                                    </p:anim>
                                    <p:anim calcmode="lin" valueType="num">
                                      <p:cBhvr additive="base">
                                        <p:cTn id="202" dur="500" fill="hold"/>
                                        <p:tgtEl>
                                          <p:spTgt spid="59"/>
                                        </p:tgtEl>
                                        <p:attrNameLst>
                                          <p:attrName>ppt_y</p:attrName>
                                        </p:attrNameLst>
                                      </p:cBhvr>
                                      <p:tavLst>
                                        <p:tav tm="0">
                                          <p:val>
                                            <p:strVal val="#ppt_y+0.1"/>
                                          </p:val>
                                        </p:tav>
                                        <p:tav tm="100000">
                                          <p:val>
                                            <p:strVal val="#ppt_y"/>
                                          </p:val>
                                        </p:tav>
                                      </p:tavLst>
                                    </p:anim>
                                    <p:animEffect transition="in" filter="fade">
                                      <p:cBhvr>
                                        <p:cTn id="203" dur="500"/>
                                        <p:tgtEl>
                                          <p:spTgt spid="59"/>
                                        </p:tgtEl>
                                      </p:cBhvr>
                                    </p:animEffect>
                                  </p:childTnLst>
                                </p:cTn>
                              </p:par>
                              <p:par>
                                <p:cTn id="204" presetID="2" presetClass="entr" presetSubtype="4" fill="hold" grpId="0" nodeType="withEffect">
                                  <p:stCondLst>
                                    <p:cond delay="150"/>
                                  </p:stCondLst>
                                  <p:childTnLst>
                                    <p:set>
                                      <p:cBhvr>
                                        <p:cTn id="205" dur="1" fill="hold">
                                          <p:stCondLst>
                                            <p:cond delay="0"/>
                                          </p:stCondLst>
                                        </p:cTn>
                                        <p:tgtEl>
                                          <p:spTgt spid="64"/>
                                        </p:tgtEl>
                                        <p:attrNameLst>
                                          <p:attrName>style.visibility</p:attrName>
                                        </p:attrNameLst>
                                      </p:cBhvr>
                                      <p:to>
                                        <p:strVal val="visible"/>
                                      </p:to>
                                    </p:set>
                                    <p:anim calcmode="lin" valueType="num">
                                      <p:cBhvr additive="base">
                                        <p:cTn id="206" dur="500" fill="hold"/>
                                        <p:tgtEl>
                                          <p:spTgt spid="64"/>
                                        </p:tgtEl>
                                        <p:attrNameLst>
                                          <p:attrName>ppt_x</p:attrName>
                                        </p:attrNameLst>
                                      </p:cBhvr>
                                      <p:tavLst>
                                        <p:tav tm="0">
                                          <p:val>
                                            <p:strVal val="#ppt_x"/>
                                          </p:val>
                                        </p:tav>
                                        <p:tav tm="100000">
                                          <p:val>
                                            <p:strVal val="#ppt_x"/>
                                          </p:val>
                                        </p:tav>
                                      </p:tavLst>
                                    </p:anim>
                                    <p:anim calcmode="lin" valueType="num">
                                      <p:cBhvr additive="base">
                                        <p:cTn id="207" dur="500" fill="hold"/>
                                        <p:tgtEl>
                                          <p:spTgt spid="64"/>
                                        </p:tgtEl>
                                        <p:attrNameLst>
                                          <p:attrName>ppt_y</p:attrName>
                                        </p:attrNameLst>
                                      </p:cBhvr>
                                      <p:tavLst>
                                        <p:tav tm="0">
                                          <p:val>
                                            <p:strVal val="#ppt_y+0.1"/>
                                          </p:val>
                                        </p:tav>
                                        <p:tav tm="100000">
                                          <p:val>
                                            <p:strVal val="#ppt_y"/>
                                          </p:val>
                                        </p:tav>
                                      </p:tavLst>
                                    </p:anim>
                                    <p:animEffect transition="in" filter="fade">
                                      <p:cBhvr>
                                        <p:cTn id="208" dur="500"/>
                                        <p:tgtEl>
                                          <p:spTgt spid="64"/>
                                        </p:tgtEl>
                                      </p:cBhvr>
                                    </p:animEffect>
                                  </p:childTnLst>
                                </p:cTn>
                              </p:par>
                              <p:par>
                                <p:cTn id="209" presetID="2" presetClass="entr" presetSubtype="4" fill="hold" grpId="0" nodeType="withEffect">
                                  <p:stCondLst>
                                    <p:cond delay="150"/>
                                  </p:stCondLst>
                                  <p:childTnLst>
                                    <p:set>
                                      <p:cBhvr>
                                        <p:cTn id="210" dur="1" fill="hold">
                                          <p:stCondLst>
                                            <p:cond delay="0"/>
                                          </p:stCondLst>
                                        </p:cTn>
                                        <p:tgtEl>
                                          <p:spTgt spid="65"/>
                                        </p:tgtEl>
                                        <p:attrNameLst>
                                          <p:attrName>style.visibility</p:attrName>
                                        </p:attrNameLst>
                                      </p:cBhvr>
                                      <p:to>
                                        <p:strVal val="visible"/>
                                      </p:to>
                                    </p:set>
                                    <p:anim calcmode="lin" valueType="num">
                                      <p:cBhvr additive="base">
                                        <p:cTn id="211" dur="500" fill="hold"/>
                                        <p:tgtEl>
                                          <p:spTgt spid="65"/>
                                        </p:tgtEl>
                                        <p:attrNameLst>
                                          <p:attrName>ppt_x</p:attrName>
                                        </p:attrNameLst>
                                      </p:cBhvr>
                                      <p:tavLst>
                                        <p:tav tm="0">
                                          <p:val>
                                            <p:strVal val="#ppt_x"/>
                                          </p:val>
                                        </p:tav>
                                        <p:tav tm="100000">
                                          <p:val>
                                            <p:strVal val="#ppt_x"/>
                                          </p:val>
                                        </p:tav>
                                      </p:tavLst>
                                    </p:anim>
                                    <p:anim calcmode="lin" valueType="num">
                                      <p:cBhvr additive="base">
                                        <p:cTn id="212" dur="500" fill="hold"/>
                                        <p:tgtEl>
                                          <p:spTgt spid="65"/>
                                        </p:tgtEl>
                                        <p:attrNameLst>
                                          <p:attrName>ppt_y</p:attrName>
                                        </p:attrNameLst>
                                      </p:cBhvr>
                                      <p:tavLst>
                                        <p:tav tm="0">
                                          <p:val>
                                            <p:strVal val="#ppt_y+0.1"/>
                                          </p:val>
                                        </p:tav>
                                        <p:tav tm="100000">
                                          <p:val>
                                            <p:strVal val="#ppt_y"/>
                                          </p:val>
                                        </p:tav>
                                      </p:tavLst>
                                    </p:anim>
                                    <p:animEffect transition="in" filter="fade">
                                      <p:cBhvr>
                                        <p:cTn id="213" dur="500"/>
                                        <p:tgtEl>
                                          <p:spTgt spid="65"/>
                                        </p:tgtEl>
                                      </p:cBhvr>
                                    </p:animEffect>
                                  </p:childTnLst>
                                </p:cTn>
                              </p:par>
                            </p:childTnLst>
                          </p:cTn>
                        </p:par>
                      </p:childTnLst>
                    </p:cTn>
                  </p:par>
                  <p:par>
                    <p:cTn id="214" fill="hold">
                      <p:stCondLst>
                        <p:cond delay="indefinite"/>
                      </p:stCondLst>
                      <p:childTnLst>
                        <p:par>
                          <p:cTn id="215" fill="hold">
                            <p:stCondLst>
                              <p:cond delay="0"/>
                            </p:stCondLst>
                            <p:childTnLst>
                              <p:par>
                                <p:cTn id="216" presetID="2" presetClass="entr" presetSubtype="4" fill="hold" grpId="0" nodeType="clickEffect">
                                  <p:stCondLst>
                                    <p:cond delay="0"/>
                                  </p:stCondLst>
                                  <p:childTnLst>
                                    <p:set>
                                      <p:cBhvr>
                                        <p:cTn id="217" dur="1" fill="hold">
                                          <p:stCondLst>
                                            <p:cond delay="0"/>
                                          </p:stCondLst>
                                        </p:cTn>
                                        <p:tgtEl>
                                          <p:spTgt spid="66"/>
                                        </p:tgtEl>
                                        <p:attrNameLst>
                                          <p:attrName>style.visibility</p:attrName>
                                        </p:attrNameLst>
                                      </p:cBhvr>
                                      <p:to>
                                        <p:strVal val="visible"/>
                                      </p:to>
                                    </p:set>
                                    <p:anim calcmode="lin" valueType="num">
                                      <p:cBhvr additive="base">
                                        <p:cTn id="218" dur="500" fill="hold"/>
                                        <p:tgtEl>
                                          <p:spTgt spid="66"/>
                                        </p:tgtEl>
                                        <p:attrNameLst>
                                          <p:attrName>ppt_x</p:attrName>
                                        </p:attrNameLst>
                                      </p:cBhvr>
                                      <p:tavLst>
                                        <p:tav tm="0">
                                          <p:val>
                                            <p:strVal val="#ppt_x"/>
                                          </p:val>
                                        </p:tav>
                                        <p:tav tm="100000">
                                          <p:val>
                                            <p:strVal val="#ppt_x"/>
                                          </p:val>
                                        </p:tav>
                                      </p:tavLst>
                                    </p:anim>
                                    <p:anim calcmode="lin" valueType="num">
                                      <p:cBhvr additive="base">
                                        <p:cTn id="219" dur="500" fill="hold"/>
                                        <p:tgtEl>
                                          <p:spTgt spid="66"/>
                                        </p:tgtEl>
                                        <p:attrNameLst>
                                          <p:attrName>ppt_y</p:attrName>
                                        </p:attrNameLst>
                                      </p:cBhvr>
                                      <p:tavLst>
                                        <p:tav tm="0">
                                          <p:val>
                                            <p:strVal val="#ppt_y+0.1"/>
                                          </p:val>
                                        </p:tav>
                                        <p:tav tm="100000">
                                          <p:val>
                                            <p:strVal val="#ppt_y"/>
                                          </p:val>
                                        </p:tav>
                                      </p:tavLst>
                                    </p:anim>
                                    <p:animEffect transition="in" filter="fade">
                                      <p:cBhvr>
                                        <p:cTn id="220" dur="500"/>
                                        <p:tgtEl>
                                          <p:spTgt spid="66"/>
                                        </p:tgtEl>
                                      </p:cBhvr>
                                    </p:animEffect>
                                  </p:childTnLst>
                                </p:cTn>
                              </p:par>
                              <p:par>
                                <p:cTn id="221" presetID="2" presetClass="entr" presetSubtype="4" fill="hold" grpId="0" nodeType="withEffect">
                                  <p:stCondLst>
                                    <p:cond delay="0"/>
                                  </p:stCondLst>
                                  <p:childTnLst>
                                    <p:set>
                                      <p:cBhvr>
                                        <p:cTn id="222" dur="1" fill="hold">
                                          <p:stCondLst>
                                            <p:cond delay="0"/>
                                          </p:stCondLst>
                                        </p:cTn>
                                        <p:tgtEl>
                                          <p:spTgt spid="67"/>
                                        </p:tgtEl>
                                        <p:attrNameLst>
                                          <p:attrName>style.visibility</p:attrName>
                                        </p:attrNameLst>
                                      </p:cBhvr>
                                      <p:to>
                                        <p:strVal val="visible"/>
                                      </p:to>
                                    </p:set>
                                    <p:anim calcmode="lin" valueType="num">
                                      <p:cBhvr additive="base">
                                        <p:cTn id="223" dur="500" fill="hold"/>
                                        <p:tgtEl>
                                          <p:spTgt spid="67"/>
                                        </p:tgtEl>
                                        <p:attrNameLst>
                                          <p:attrName>ppt_x</p:attrName>
                                        </p:attrNameLst>
                                      </p:cBhvr>
                                      <p:tavLst>
                                        <p:tav tm="0">
                                          <p:val>
                                            <p:strVal val="#ppt_x"/>
                                          </p:val>
                                        </p:tav>
                                        <p:tav tm="100000">
                                          <p:val>
                                            <p:strVal val="#ppt_x"/>
                                          </p:val>
                                        </p:tav>
                                      </p:tavLst>
                                    </p:anim>
                                    <p:anim calcmode="lin" valueType="num">
                                      <p:cBhvr additive="base">
                                        <p:cTn id="224" dur="500" fill="hold"/>
                                        <p:tgtEl>
                                          <p:spTgt spid="67"/>
                                        </p:tgtEl>
                                        <p:attrNameLst>
                                          <p:attrName>ppt_y</p:attrName>
                                        </p:attrNameLst>
                                      </p:cBhvr>
                                      <p:tavLst>
                                        <p:tav tm="0">
                                          <p:val>
                                            <p:strVal val="#ppt_y+0.1"/>
                                          </p:val>
                                        </p:tav>
                                        <p:tav tm="100000">
                                          <p:val>
                                            <p:strVal val="#ppt_y"/>
                                          </p:val>
                                        </p:tav>
                                      </p:tavLst>
                                    </p:anim>
                                    <p:animEffect transition="in" filter="fade">
                                      <p:cBhvr>
                                        <p:cTn id="225" dur="500"/>
                                        <p:tgtEl>
                                          <p:spTgt spid="67"/>
                                        </p:tgtEl>
                                      </p:cBhvr>
                                    </p:animEffect>
                                  </p:childTnLst>
                                </p:cTn>
                              </p:par>
                              <p:par>
                                <p:cTn id="226" presetID="2" presetClass="entr" presetSubtype="4" fill="hold" grpId="0" nodeType="withEffect">
                                  <p:stCondLst>
                                    <p:cond delay="0"/>
                                  </p:stCondLst>
                                  <p:childTnLst>
                                    <p:set>
                                      <p:cBhvr>
                                        <p:cTn id="227" dur="1" fill="hold">
                                          <p:stCondLst>
                                            <p:cond delay="0"/>
                                          </p:stCondLst>
                                        </p:cTn>
                                        <p:tgtEl>
                                          <p:spTgt spid="68"/>
                                        </p:tgtEl>
                                        <p:attrNameLst>
                                          <p:attrName>style.visibility</p:attrName>
                                        </p:attrNameLst>
                                      </p:cBhvr>
                                      <p:to>
                                        <p:strVal val="visible"/>
                                      </p:to>
                                    </p:set>
                                    <p:anim calcmode="lin" valueType="num">
                                      <p:cBhvr additive="base">
                                        <p:cTn id="228" dur="500" fill="hold"/>
                                        <p:tgtEl>
                                          <p:spTgt spid="68"/>
                                        </p:tgtEl>
                                        <p:attrNameLst>
                                          <p:attrName>ppt_x</p:attrName>
                                        </p:attrNameLst>
                                      </p:cBhvr>
                                      <p:tavLst>
                                        <p:tav tm="0">
                                          <p:val>
                                            <p:strVal val="#ppt_x"/>
                                          </p:val>
                                        </p:tav>
                                        <p:tav tm="100000">
                                          <p:val>
                                            <p:strVal val="#ppt_x"/>
                                          </p:val>
                                        </p:tav>
                                      </p:tavLst>
                                    </p:anim>
                                    <p:anim calcmode="lin" valueType="num">
                                      <p:cBhvr additive="base">
                                        <p:cTn id="229" dur="500" fill="hold"/>
                                        <p:tgtEl>
                                          <p:spTgt spid="68"/>
                                        </p:tgtEl>
                                        <p:attrNameLst>
                                          <p:attrName>ppt_y</p:attrName>
                                        </p:attrNameLst>
                                      </p:cBhvr>
                                      <p:tavLst>
                                        <p:tav tm="0">
                                          <p:val>
                                            <p:strVal val="#ppt_y+0.1"/>
                                          </p:val>
                                        </p:tav>
                                        <p:tav tm="100000">
                                          <p:val>
                                            <p:strVal val="#ppt_y"/>
                                          </p:val>
                                        </p:tav>
                                      </p:tavLst>
                                    </p:anim>
                                    <p:animEffect transition="in" filter="fade">
                                      <p:cBhvr>
                                        <p:cTn id="23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Getting Back to Three Copies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After a failure, something has to restore the replication factor</a:t>
            </a:r>
          </a:p>
        </p:txBody>
      </p:sp>
      <p:sp>
        <p:nvSpPr>
          <p:cNvPr id="11" name="a0u_card10"/>
          <p:cNvSpPr/>
          <p:nvPr/>
        </p:nvSpPr>
        <p:spPr>
          <a:xfrm>
            <a:off x="457200" y="1280160"/>
            <a:ext cx="2523744" cy="1481328"/>
          </a:xfrm>
          <a:prstGeom prst="roundRect">
            <a:avLst>
              <a:gd name="adj" fmla="val 740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0u_sh11"/>
          <p:cNvSpPr txBox="1"/>
          <p:nvPr/>
        </p:nvSpPr>
        <p:spPr>
          <a:xfrm>
            <a:off x="640080" y="1371600"/>
            <a:ext cx="2194560" cy="219456"/>
          </a:xfrm>
          <a:prstGeom prst="rect">
            <a:avLst/>
          </a:prstGeom>
          <a:noFill/>
        </p:spPr>
        <p:txBody>
          <a:bodyPr wrap="square" lIns="0" tIns="0" rIns="0" bIns="0" anchor="ctr">
            <a:spAutoFit/>
          </a:bodyPr>
          <a:lstStyle/>
          <a:p>
            <a:pPr algn="l"/>
            <a:r>
              <a:rPr sz="850" b="1" spc="120">
                <a:solidFill>
                  <a:srgbClr val="78716C"/>
                </a:solidFill>
                <a:latin typeface="Segoe UI"/>
              </a:rPr>
              <a:t>HEALTHY</a:t>
            </a:r>
          </a:p>
        </p:txBody>
      </p:sp>
      <p:sp>
        <p:nvSpPr>
          <p:cNvPr id="13" name="a0u_sq12"/>
          <p:cNvSpPr/>
          <p:nvPr/>
        </p:nvSpPr>
        <p:spPr>
          <a:xfrm>
            <a:off x="685800" y="1691640"/>
            <a:ext cx="603504" cy="420624"/>
          </a:xfrm>
          <a:prstGeom prst="roundRect">
            <a:avLst>
              <a:gd name="adj" fmla="val 10869"/>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0u_sqt13"/>
          <p:cNvSpPr txBox="1"/>
          <p:nvPr/>
        </p:nvSpPr>
        <p:spPr>
          <a:xfrm>
            <a:off x="685800" y="1691640"/>
            <a:ext cx="603504" cy="420624"/>
          </a:xfrm>
          <a:prstGeom prst="rect">
            <a:avLst/>
          </a:prstGeom>
          <a:noFill/>
        </p:spPr>
        <p:txBody>
          <a:bodyPr wrap="square" lIns="0" tIns="0" rIns="0" bIns="0" anchor="ctr">
            <a:spAutoFit/>
          </a:bodyPr>
          <a:lstStyle/>
          <a:p>
            <a:pPr algn="ctr"/>
            <a:r>
              <a:rPr sz="700" b="0">
                <a:solidFill>
                  <a:srgbClr val="4F46E5"/>
                </a:solidFill>
                <a:latin typeface="Segoe UI"/>
              </a:rPr>
              <a:t>follower</a:t>
            </a:r>
          </a:p>
        </p:txBody>
      </p:sp>
      <p:sp>
        <p:nvSpPr>
          <p:cNvPr id="15" name="a0u_sqb14"/>
          <p:cNvSpPr txBox="1"/>
          <p:nvPr/>
        </p:nvSpPr>
        <p:spPr>
          <a:xfrm>
            <a:off x="685800"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B1</a:t>
            </a:r>
          </a:p>
        </p:txBody>
      </p:sp>
      <p:sp>
        <p:nvSpPr>
          <p:cNvPr id="16" name="a0u_sq15"/>
          <p:cNvSpPr/>
          <p:nvPr/>
        </p:nvSpPr>
        <p:spPr>
          <a:xfrm>
            <a:off x="1417320" y="1691640"/>
            <a:ext cx="603504" cy="420624"/>
          </a:xfrm>
          <a:prstGeom prst="roundRect">
            <a:avLst>
              <a:gd name="adj" fmla="val 10869"/>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0u_sqt16"/>
          <p:cNvSpPr txBox="1"/>
          <p:nvPr/>
        </p:nvSpPr>
        <p:spPr>
          <a:xfrm>
            <a:off x="1417320" y="1691640"/>
            <a:ext cx="603504" cy="420624"/>
          </a:xfrm>
          <a:prstGeom prst="rect">
            <a:avLst/>
          </a:prstGeom>
          <a:noFill/>
        </p:spPr>
        <p:txBody>
          <a:bodyPr wrap="square" lIns="0" tIns="0" rIns="0" bIns="0" anchor="ctr">
            <a:spAutoFit/>
          </a:bodyPr>
          <a:lstStyle/>
          <a:p>
            <a:pPr algn="ctr"/>
            <a:r>
              <a:rPr sz="700" b="1">
                <a:solidFill>
                  <a:srgbClr val="FFFFFF"/>
                </a:solidFill>
                <a:latin typeface="Segoe UI"/>
              </a:rPr>
              <a:t>leader</a:t>
            </a:r>
          </a:p>
        </p:txBody>
      </p:sp>
      <p:sp>
        <p:nvSpPr>
          <p:cNvPr id="18" name="a0u_sqb17"/>
          <p:cNvSpPr txBox="1"/>
          <p:nvPr/>
        </p:nvSpPr>
        <p:spPr>
          <a:xfrm>
            <a:off x="1417320"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B2</a:t>
            </a:r>
          </a:p>
        </p:txBody>
      </p:sp>
      <p:sp>
        <p:nvSpPr>
          <p:cNvPr id="19" name="a0u_sq18"/>
          <p:cNvSpPr/>
          <p:nvPr/>
        </p:nvSpPr>
        <p:spPr>
          <a:xfrm>
            <a:off x="2148840" y="1691640"/>
            <a:ext cx="603504" cy="420624"/>
          </a:xfrm>
          <a:prstGeom prst="roundRect">
            <a:avLst>
              <a:gd name="adj" fmla="val 10869"/>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0u_sqt19"/>
          <p:cNvSpPr txBox="1"/>
          <p:nvPr/>
        </p:nvSpPr>
        <p:spPr>
          <a:xfrm>
            <a:off x="2148840" y="1691640"/>
            <a:ext cx="603504" cy="420624"/>
          </a:xfrm>
          <a:prstGeom prst="rect">
            <a:avLst/>
          </a:prstGeom>
          <a:noFill/>
        </p:spPr>
        <p:txBody>
          <a:bodyPr wrap="square" lIns="0" tIns="0" rIns="0" bIns="0" anchor="ctr">
            <a:spAutoFit/>
          </a:bodyPr>
          <a:lstStyle/>
          <a:p>
            <a:pPr algn="ctr"/>
            <a:r>
              <a:rPr sz="700" b="0">
                <a:solidFill>
                  <a:srgbClr val="4F46E5"/>
                </a:solidFill>
                <a:latin typeface="Segoe UI"/>
              </a:rPr>
              <a:t>follower</a:t>
            </a:r>
          </a:p>
        </p:txBody>
      </p:sp>
      <p:sp>
        <p:nvSpPr>
          <p:cNvPr id="21" name="a0u_sqb20"/>
          <p:cNvSpPr txBox="1"/>
          <p:nvPr/>
        </p:nvSpPr>
        <p:spPr>
          <a:xfrm>
            <a:off x="2148840"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B3</a:t>
            </a:r>
          </a:p>
        </p:txBody>
      </p:sp>
      <p:sp>
        <p:nvSpPr>
          <p:cNvPr id="22" name="a0u_cap21"/>
          <p:cNvSpPr txBox="1"/>
          <p:nvPr/>
        </p:nvSpPr>
        <p:spPr>
          <a:xfrm>
            <a:off x="640080" y="2395728"/>
            <a:ext cx="2194560" cy="256032"/>
          </a:xfrm>
          <a:prstGeom prst="rect">
            <a:avLst/>
          </a:prstGeom>
          <a:noFill/>
        </p:spPr>
        <p:txBody>
          <a:bodyPr wrap="square" lIns="0" tIns="0" rIns="0" bIns="0" anchor="ctr">
            <a:spAutoFit/>
          </a:bodyPr>
          <a:lstStyle/>
          <a:p>
            <a:pPr algn="l"/>
            <a:r>
              <a:rPr sz="900" b="1">
                <a:solidFill>
                  <a:srgbClr val="15803D"/>
                </a:solidFill>
                <a:latin typeface="Segoe UI"/>
              </a:rPr>
              <a:t>3 copies of P1</a:t>
            </a:r>
          </a:p>
        </p:txBody>
      </p:sp>
      <p:sp>
        <p:nvSpPr>
          <p:cNvPr id="23" name="a1u_card22"/>
          <p:cNvSpPr/>
          <p:nvPr/>
        </p:nvSpPr>
        <p:spPr>
          <a:xfrm>
            <a:off x="3310128" y="1280160"/>
            <a:ext cx="2523744" cy="1481328"/>
          </a:xfrm>
          <a:prstGeom prst="roundRect">
            <a:avLst>
              <a:gd name="adj" fmla="val 740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1u_sh23"/>
          <p:cNvSpPr txBox="1"/>
          <p:nvPr/>
        </p:nvSpPr>
        <p:spPr>
          <a:xfrm>
            <a:off x="3493008" y="1371600"/>
            <a:ext cx="2194560" cy="219456"/>
          </a:xfrm>
          <a:prstGeom prst="rect">
            <a:avLst/>
          </a:prstGeom>
          <a:noFill/>
        </p:spPr>
        <p:txBody>
          <a:bodyPr wrap="square" lIns="0" tIns="0" rIns="0" bIns="0" anchor="ctr">
            <a:spAutoFit/>
          </a:bodyPr>
          <a:lstStyle/>
          <a:p>
            <a:pPr algn="l"/>
            <a:r>
              <a:rPr sz="850" b="1" spc="120">
                <a:solidFill>
                  <a:srgbClr val="78716C"/>
                </a:solidFill>
                <a:latin typeface="Segoe UI"/>
              </a:rPr>
              <a:t>AFTER THE FAILURE</a:t>
            </a:r>
          </a:p>
        </p:txBody>
      </p:sp>
      <p:sp>
        <p:nvSpPr>
          <p:cNvPr id="25" name="a1u_sq24"/>
          <p:cNvSpPr/>
          <p:nvPr/>
        </p:nvSpPr>
        <p:spPr>
          <a:xfrm>
            <a:off x="3538728" y="1691640"/>
            <a:ext cx="603504" cy="420624"/>
          </a:xfrm>
          <a:prstGeom prst="roundRect">
            <a:avLst>
              <a:gd name="adj" fmla="val 10869"/>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1u_sqt25"/>
          <p:cNvSpPr txBox="1"/>
          <p:nvPr/>
        </p:nvSpPr>
        <p:spPr>
          <a:xfrm>
            <a:off x="3538728" y="1691640"/>
            <a:ext cx="603504" cy="420624"/>
          </a:xfrm>
          <a:prstGeom prst="rect">
            <a:avLst/>
          </a:prstGeom>
          <a:noFill/>
        </p:spPr>
        <p:txBody>
          <a:bodyPr wrap="square" lIns="0" tIns="0" rIns="0" bIns="0" anchor="ctr">
            <a:spAutoFit/>
          </a:bodyPr>
          <a:lstStyle/>
          <a:p>
            <a:pPr algn="ctr"/>
            <a:r>
              <a:rPr sz="700" b="0">
                <a:solidFill>
                  <a:srgbClr val="4F46E5"/>
                </a:solidFill>
                <a:latin typeface="Segoe UI"/>
              </a:rPr>
              <a:t>follower</a:t>
            </a:r>
          </a:p>
        </p:txBody>
      </p:sp>
      <p:sp>
        <p:nvSpPr>
          <p:cNvPr id="27" name="a1u_sqb26"/>
          <p:cNvSpPr txBox="1"/>
          <p:nvPr/>
        </p:nvSpPr>
        <p:spPr>
          <a:xfrm>
            <a:off x="3538728"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B1</a:t>
            </a:r>
          </a:p>
        </p:txBody>
      </p:sp>
      <p:sp>
        <p:nvSpPr>
          <p:cNvPr id="28" name="a1u_sq27"/>
          <p:cNvSpPr/>
          <p:nvPr/>
        </p:nvSpPr>
        <p:spPr>
          <a:xfrm>
            <a:off x="4270248" y="1691640"/>
            <a:ext cx="603504" cy="420624"/>
          </a:xfrm>
          <a:prstGeom prst="roundRect">
            <a:avLst>
              <a:gd name="adj" fmla="val 10869"/>
            </a:avLst>
          </a:prstGeom>
          <a:solidFill>
            <a:srgbClr val="FFE4E6"/>
          </a:solidFill>
          <a:ln w="12700">
            <a:solidFill>
              <a:srgbClr val="E11D48"/>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1u_sqt28"/>
          <p:cNvSpPr txBox="1"/>
          <p:nvPr/>
        </p:nvSpPr>
        <p:spPr>
          <a:xfrm>
            <a:off x="4270248" y="1691640"/>
            <a:ext cx="603504" cy="420624"/>
          </a:xfrm>
          <a:prstGeom prst="rect">
            <a:avLst/>
          </a:prstGeom>
          <a:noFill/>
        </p:spPr>
        <p:txBody>
          <a:bodyPr wrap="square" lIns="0" tIns="0" rIns="0" bIns="0" anchor="ctr">
            <a:spAutoFit/>
          </a:bodyPr>
          <a:lstStyle/>
          <a:p>
            <a:pPr algn="ctr"/>
            <a:r>
              <a:rPr sz="700" b="0">
                <a:solidFill>
                  <a:srgbClr val="9F1239"/>
                </a:solidFill>
                <a:latin typeface="Segoe UI"/>
              </a:rPr>
              <a:t>offline</a:t>
            </a:r>
          </a:p>
        </p:txBody>
      </p:sp>
      <p:sp>
        <p:nvSpPr>
          <p:cNvPr id="30" name="a1u_sqb29"/>
          <p:cNvSpPr txBox="1"/>
          <p:nvPr/>
        </p:nvSpPr>
        <p:spPr>
          <a:xfrm>
            <a:off x="4270248"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B2</a:t>
            </a:r>
          </a:p>
        </p:txBody>
      </p:sp>
      <p:sp>
        <p:nvSpPr>
          <p:cNvPr id="31" name="a1u_sq30"/>
          <p:cNvSpPr/>
          <p:nvPr/>
        </p:nvSpPr>
        <p:spPr>
          <a:xfrm>
            <a:off x="5001768" y="1691640"/>
            <a:ext cx="603504" cy="420624"/>
          </a:xfrm>
          <a:prstGeom prst="roundRect">
            <a:avLst>
              <a:gd name="adj" fmla="val 10869"/>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1u_sqt31"/>
          <p:cNvSpPr txBox="1"/>
          <p:nvPr/>
        </p:nvSpPr>
        <p:spPr>
          <a:xfrm>
            <a:off x="5001768" y="1691640"/>
            <a:ext cx="603504" cy="420624"/>
          </a:xfrm>
          <a:prstGeom prst="rect">
            <a:avLst/>
          </a:prstGeom>
          <a:noFill/>
        </p:spPr>
        <p:txBody>
          <a:bodyPr wrap="square" lIns="0" tIns="0" rIns="0" bIns="0" anchor="ctr">
            <a:spAutoFit/>
          </a:bodyPr>
          <a:lstStyle/>
          <a:p>
            <a:pPr algn="ctr"/>
            <a:r>
              <a:rPr sz="700" b="1">
                <a:solidFill>
                  <a:srgbClr val="FFFFFF"/>
                </a:solidFill>
                <a:latin typeface="Segoe UI"/>
              </a:rPr>
              <a:t>leader</a:t>
            </a:r>
          </a:p>
        </p:txBody>
      </p:sp>
      <p:sp>
        <p:nvSpPr>
          <p:cNvPr id="33" name="a1u_sqb32"/>
          <p:cNvSpPr txBox="1"/>
          <p:nvPr/>
        </p:nvSpPr>
        <p:spPr>
          <a:xfrm>
            <a:off x="5001768"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B3</a:t>
            </a:r>
          </a:p>
        </p:txBody>
      </p:sp>
      <p:sp>
        <p:nvSpPr>
          <p:cNvPr id="34" name="a1u_cap33"/>
          <p:cNvSpPr txBox="1"/>
          <p:nvPr/>
        </p:nvSpPr>
        <p:spPr>
          <a:xfrm>
            <a:off x="3493008" y="2395728"/>
            <a:ext cx="2194560" cy="256032"/>
          </a:xfrm>
          <a:prstGeom prst="rect">
            <a:avLst/>
          </a:prstGeom>
          <a:noFill/>
        </p:spPr>
        <p:txBody>
          <a:bodyPr wrap="square" lIns="0" tIns="0" rIns="0" bIns="0" anchor="ctr">
            <a:spAutoFit/>
          </a:bodyPr>
          <a:lstStyle/>
          <a:p>
            <a:pPr algn="l"/>
            <a:r>
              <a:rPr sz="900" b="1">
                <a:solidFill>
                  <a:srgbClr val="E11D48"/>
                </a:solidFill>
                <a:latin typeface="Segoe UI"/>
              </a:rPr>
              <a:t>2 copies - under-replicated</a:t>
            </a:r>
          </a:p>
        </p:txBody>
      </p:sp>
      <p:cxnSp>
        <p:nvCxnSpPr>
          <p:cNvPr id="35" name="a1u_ar34"/>
          <p:cNvCxnSpPr/>
          <p:nvPr/>
        </p:nvCxnSpPr>
        <p:spPr>
          <a:xfrm>
            <a:off x="3008376" y="1901952"/>
            <a:ext cx="256032" cy="0"/>
          </a:xfrm>
          <a:prstGeom prst="line">
            <a:avLst/>
          </a:prstGeom>
          <a:ln w="19050">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2u_card35"/>
          <p:cNvSpPr/>
          <p:nvPr/>
        </p:nvSpPr>
        <p:spPr>
          <a:xfrm>
            <a:off x="6163056" y="1280160"/>
            <a:ext cx="2523744" cy="1481328"/>
          </a:xfrm>
          <a:prstGeom prst="roundRect">
            <a:avLst>
              <a:gd name="adj" fmla="val 740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a2u_sh36"/>
          <p:cNvSpPr txBox="1"/>
          <p:nvPr/>
        </p:nvSpPr>
        <p:spPr>
          <a:xfrm>
            <a:off x="6345936" y="1371600"/>
            <a:ext cx="2194560" cy="219456"/>
          </a:xfrm>
          <a:prstGeom prst="rect">
            <a:avLst/>
          </a:prstGeom>
          <a:noFill/>
        </p:spPr>
        <p:txBody>
          <a:bodyPr wrap="square" lIns="0" tIns="0" rIns="0" bIns="0" anchor="ctr">
            <a:spAutoFit/>
          </a:bodyPr>
          <a:lstStyle/>
          <a:p>
            <a:pPr algn="l"/>
            <a:r>
              <a:rPr sz="850" b="1" spc="120">
                <a:solidFill>
                  <a:srgbClr val="78716C"/>
                </a:solidFill>
                <a:latin typeface="Segoe UI"/>
              </a:rPr>
              <a:t>RESTORED</a:t>
            </a:r>
          </a:p>
        </p:txBody>
      </p:sp>
      <p:sp>
        <p:nvSpPr>
          <p:cNvPr id="38" name="a2u_sq37"/>
          <p:cNvSpPr/>
          <p:nvPr/>
        </p:nvSpPr>
        <p:spPr>
          <a:xfrm>
            <a:off x="6391656" y="1691640"/>
            <a:ext cx="603504" cy="420624"/>
          </a:xfrm>
          <a:prstGeom prst="roundRect">
            <a:avLst>
              <a:gd name="adj" fmla="val 10869"/>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a2u_sqt38"/>
          <p:cNvSpPr txBox="1"/>
          <p:nvPr/>
        </p:nvSpPr>
        <p:spPr>
          <a:xfrm>
            <a:off x="6391656" y="1691640"/>
            <a:ext cx="603504" cy="420624"/>
          </a:xfrm>
          <a:prstGeom prst="rect">
            <a:avLst/>
          </a:prstGeom>
          <a:noFill/>
        </p:spPr>
        <p:txBody>
          <a:bodyPr wrap="square" lIns="0" tIns="0" rIns="0" bIns="0" anchor="ctr">
            <a:spAutoFit/>
          </a:bodyPr>
          <a:lstStyle/>
          <a:p>
            <a:pPr algn="ctr"/>
            <a:r>
              <a:rPr sz="700" b="0">
                <a:solidFill>
                  <a:srgbClr val="4F46E5"/>
                </a:solidFill>
                <a:latin typeface="Segoe UI"/>
              </a:rPr>
              <a:t>follower</a:t>
            </a:r>
          </a:p>
        </p:txBody>
      </p:sp>
      <p:sp>
        <p:nvSpPr>
          <p:cNvPr id="40" name="a2u_sqb39"/>
          <p:cNvSpPr txBox="1"/>
          <p:nvPr/>
        </p:nvSpPr>
        <p:spPr>
          <a:xfrm>
            <a:off x="6391656"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B1</a:t>
            </a:r>
          </a:p>
        </p:txBody>
      </p:sp>
      <p:sp>
        <p:nvSpPr>
          <p:cNvPr id="41" name="a2u_sq40"/>
          <p:cNvSpPr/>
          <p:nvPr/>
        </p:nvSpPr>
        <p:spPr>
          <a:xfrm>
            <a:off x="7123176" y="1691640"/>
            <a:ext cx="603504" cy="420624"/>
          </a:xfrm>
          <a:prstGeom prst="roundRect">
            <a:avLst>
              <a:gd name="adj" fmla="val 10869"/>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2u_sqt41"/>
          <p:cNvSpPr txBox="1"/>
          <p:nvPr/>
        </p:nvSpPr>
        <p:spPr>
          <a:xfrm>
            <a:off x="7123176" y="1691640"/>
            <a:ext cx="603504" cy="420624"/>
          </a:xfrm>
          <a:prstGeom prst="rect">
            <a:avLst/>
          </a:prstGeom>
          <a:noFill/>
        </p:spPr>
        <p:txBody>
          <a:bodyPr wrap="square" lIns="0" tIns="0" rIns="0" bIns="0" anchor="ctr">
            <a:spAutoFit/>
          </a:bodyPr>
          <a:lstStyle/>
          <a:p>
            <a:pPr algn="ctr"/>
            <a:r>
              <a:rPr sz="700" b="0">
                <a:solidFill>
                  <a:srgbClr val="4F46E5"/>
                </a:solidFill>
                <a:latin typeface="Segoe UI"/>
              </a:rPr>
              <a:t>follower</a:t>
            </a:r>
          </a:p>
        </p:txBody>
      </p:sp>
      <p:sp>
        <p:nvSpPr>
          <p:cNvPr id="43" name="a2u_sqb42"/>
          <p:cNvSpPr txBox="1"/>
          <p:nvPr/>
        </p:nvSpPr>
        <p:spPr>
          <a:xfrm>
            <a:off x="7123176"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B2</a:t>
            </a:r>
          </a:p>
        </p:txBody>
      </p:sp>
      <p:sp>
        <p:nvSpPr>
          <p:cNvPr id="44" name="a2u_sq43"/>
          <p:cNvSpPr/>
          <p:nvPr/>
        </p:nvSpPr>
        <p:spPr>
          <a:xfrm>
            <a:off x="7854696" y="1691640"/>
            <a:ext cx="603504" cy="420624"/>
          </a:xfrm>
          <a:prstGeom prst="roundRect">
            <a:avLst>
              <a:gd name="adj" fmla="val 10869"/>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a2u_sqt44"/>
          <p:cNvSpPr txBox="1"/>
          <p:nvPr/>
        </p:nvSpPr>
        <p:spPr>
          <a:xfrm>
            <a:off x="7854696" y="1691640"/>
            <a:ext cx="603504" cy="420624"/>
          </a:xfrm>
          <a:prstGeom prst="rect">
            <a:avLst/>
          </a:prstGeom>
          <a:noFill/>
        </p:spPr>
        <p:txBody>
          <a:bodyPr wrap="square" lIns="0" tIns="0" rIns="0" bIns="0" anchor="ctr">
            <a:spAutoFit/>
          </a:bodyPr>
          <a:lstStyle/>
          <a:p>
            <a:pPr algn="ctr"/>
            <a:r>
              <a:rPr sz="700" b="1">
                <a:solidFill>
                  <a:srgbClr val="FFFFFF"/>
                </a:solidFill>
                <a:latin typeface="Segoe UI"/>
              </a:rPr>
              <a:t>leader</a:t>
            </a:r>
          </a:p>
        </p:txBody>
      </p:sp>
      <p:sp>
        <p:nvSpPr>
          <p:cNvPr id="46" name="a2u_sqb45"/>
          <p:cNvSpPr txBox="1"/>
          <p:nvPr/>
        </p:nvSpPr>
        <p:spPr>
          <a:xfrm>
            <a:off x="7854696" y="2139696"/>
            <a:ext cx="603504" cy="182880"/>
          </a:xfrm>
          <a:prstGeom prst="rect">
            <a:avLst/>
          </a:prstGeom>
          <a:noFill/>
        </p:spPr>
        <p:txBody>
          <a:bodyPr wrap="square" lIns="0" tIns="0" rIns="0" bIns="0" anchor="ctr">
            <a:spAutoFit/>
          </a:bodyPr>
          <a:lstStyle/>
          <a:p>
            <a:pPr algn="ctr"/>
            <a:r>
              <a:rPr sz="800" b="0">
                <a:solidFill>
                  <a:srgbClr val="78716C"/>
                </a:solidFill>
                <a:latin typeface="Consolas"/>
              </a:rPr>
              <a:t>B3</a:t>
            </a:r>
          </a:p>
        </p:txBody>
      </p:sp>
      <p:sp>
        <p:nvSpPr>
          <p:cNvPr id="47" name="a2u_cap46"/>
          <p:cNvSpPr txBox="1"/>
          <p:nvPr/>
        </p:nvSpPr>
        <p:spPr>
          <a:xfrm>
            <a:off x="6345936" y="2395728"/>
            <a:ext cx="2194560" cy="256032"/>
          </a:xfrm>
          <a:prstGeom prst="rect">
            <a:avLst/>
          </a:prstGeom>
          <a:noFill/>
        </p:spPr>
        <p:txBody>
          <a:bodyPr wrap="square" lIns="0" tIns="0" rIns="0" bIns="0" anchor="ctr">
            <a:spAutoFit/>
          </a:bodyPr>
          <a:lstStyle/>
          <a:p>
            <a:pPr algn="l"/>
            <a:r>
              <a:rPr sz="900" b="1">
                <a:solidFill>
                  <a:srgbClr val="15803D"/>
                </a:solidFill>
                <a:latin typeface="Segoe UI"/>
              </a:rPr>
              <a:t>3 copies again</a:t>
            </a:r>
          </a:p>
        </p:txBody>
      </p:sp>
      <p:cxnSp>
        <p:nvCxnSpPr>
          <p:cNvPr id="48" name="a2u_ar47"/>
          <p:cNvCxnSpPr/>
          <p:nvPr/>
        </p:nvCxnSpPr>
        <p:spPr>
          <a:xfrm>
            <a:off x="5861304" y="1901952"/>
            <a:ext cx="256032" cy="0"/>
          </a:xfrm>
          <a:prstGeom prst="line">
            <a:avLst/>
          </a:prstGeom>
          <a:ln w="19050">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a3u_card48"/>
          <p:cNvSpPr/>
          <p:nvPr/>
        </p:nvSpPr>
        <p:spPr>
          <a:xfrm>
            <a:off x="457200" y="2971800"/>
            <a:ext cx="4023360" cy="749808"/>
          </a:xfrm>
          <a:prstGeom prst="roundRect">
            <a:avLst>
              <a:gd name="adj" fmla="val 1463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a3u_acc49"/>
          <p:cNvSpPr/>
          <p:nvPr/>
        </p:nvSpPr>
        <p:spPr>
          <a:xfrm>
            <a:off x="457200" y="2971800"/>
            <a:ext cx="50292" cy="74980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a3u_hh50"/>
          <p:cNvSpPr txBox="1"/>
          <p:nvPr/>
        </p:nvSpPr>
        <p:spPr>
          <a:xfrm>
            <a:off x="658368" y="3081528"/>
            <a:ext cx="3657600" cy="237744"/>
          </a:xfrm>
          <a:prstGeom prst="rect">
            <a:avLst/>
          </a:prstGeom>
          <a:noFill/>
        </p:spPr>
        <p:txBody>
          <a:bodyPr wrap="square" lIns="0" tIns="0" rIns="0" bIns="0" anchor="ctr">
            <a:spAutoFit/>
          </a:bodyPr>
          <a:lstStyle/>
          <a:p>
            <a:pPr algn="l"/>
            <a:r>
              <a:rPr sz="900" b="1">
                <a:solidFill>
                  <a:srgbClr val="15803D"/>
                </a:solidFill>
                <a:latin typeface="Segoe UI"/>
              </a:rPr>
              <a:t>BRING THE BROKER BACK</a:t>
            </a:r>
          </a:p>
        </p:txBody>
      </p:sp>
      <p:sp>
        <p:nvSpPr>
          <p:cNvPr id="52" name="a3ud80_c151"/>
          <p:cNvSpPr txBox="1"/>
          <p:nvPr/>
        </p:nvSpPr>
        <p:spPr>
          <a:xfrm>
            <a:off x="658368" y="3346704"/>
            <a:ext cx="3657600" cy="457200"/>
          </a:xfrm>
          <a:prstGeom prst="rect">
            <a:avLst/>
          </a:prstGeom>
          <a:noFill/>
        </p:spPr>
        <p:txBody>
          <a:bodyPr wrap="square" lIns="0" tIns="0" rIns="0" bIns="0" anchor="t">
            <a:spAutoFit/>
          </a:bodyPr>
          <a:lstStyle/>
          <a:p>
            <a:pPr algn="l"/>
            <a:r>
              <a:rPr sz="900" b="0">
                <a:solidFill>
                  <a:srgbClr val="44403C"/>
                </a:solidFill>
                <a:latin typeface="Segoe UI"/>
              </a:rPr>
              <a:t>it rejoins as a follower and catches up from the current leaders</a:t>
            </a:r>
          </a:p>
        </p:txBody>
      </p:sp>
      <p:sp>
        <p:nvSpPr>
          <p:cNvPr id="53" name="a3u_card52"/>
          <p:cNvSpPr/>
          <p:nvPr/>
        </p:nvSpPr>
        <p:spPr>
          <a:xfrm>
            <a:off x="4663440" y="2971800"/>
            <a:ext cx="4023360" cy="749808"/>
          </a:xfrm>
          <a:prstGeom prst="roundRect">
            <a:avLst>
              <a:gd name="adj" fmla="val 1463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a3u_acc53"/>
          <p:cNvSpPr/>
          <p:nvPr/>
        </p:nvSpPr>
        <p:spPr>
          <a:xfrm>
            <a:off x="4663440" y="2971800"/>
            <a:ext cx="50292" cy="74980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a3u_hh54"/>
          <p:cNvSpPr txBox="1"/>
          <p:nvPr/>
        </p:nvSpPr>
        <p:spPr>
          <a:xfrm>
            <a:off x="4864607" y="3081528"/>
            <a:ext cx="3657600" cy="237744"/>
          </a:xfrm>
          <a:prstGeom prst="rect">
            <a:avLst/>
          </a:prstGeom>
          <a:noFill/>
        </p:spPr>
        <p:txBody>
          <a:bodyPr wrap="square" lIns="0" tIns="0" rIns="0" bIns="0" anchor="ctr">
            <a:spAutoFit/>
          </a:bodyPr>
          <a:lstStyle/>
          <a:p>
            <a:pPr algn="l"/>
            <a:r>
              <a:rPr sz="900" b="1">
                <a:solidFill>
                  <a:srgbClr val="4F46E5"/>
                </a:solidFill>
                <a:latin typeface="Segoe UI"/>
              </a:rPr>
              <a:t>OR MOVE ITS REPLICAS</a:t>
            </a:r>
          </a:p>
        </p:txBody>
      </p:sp>
      <p:sp>
        <p:nvSpPr>
          <p:cNvPr id="56" name="a3ud160_c255"/>
          <p:cNvSpPr txBox="1"/>
          <p:nvPr/>
        </p:nvSpPr>
        <p:spPr>
          <a:xfrm>
            <a:off x="4864608" y="3346704"/>
            <a:ext cx="3657600" cy="457200"/>
          </a:xfrm>
          <a:prstGeom prst="rect">
            <a:avLst/>
          </a:prstGeom>
          <a:noFill/>
        </p:spPr>
        <p:txBody>
          <a:bodyPr wrap="square" lIns="0" tIns="0" rIns="0" bIns="0" anchor="t">
            <a:spAutoFit/>
          </a:bodyPr>
          <a:lstStyle/>
          <a:p>
            <a:pPr algn="l"/>
            <a:r>
              <a:rPr sz="900" b="0">
                <a:solidFill>
                  <a:srgbClr val="44403C"/>
                </a:solidFill>
                <a:latin typeface="Segoe UI"/>
              </a:rPr>
              <a:t>reassign them to another broker - kafka-reassign-partitions.sh</a:t>
            </a:r>
          </a:p>
        </p:txBody>
      </p:sp>
      <p:sp>
        <p:nvSpPr>
          <p:cNvPr id="57" name="a4u_nb56"/>
          <p:cNvSpPr/>
          <p:nvPr/>
        </p:nvSpPr>
        <p:spPr>
          <a:xfrm>
            <a:off x="457200" y="3931920"/>
            <a:ext cx="8229600" cy="548640"/>
          </a:xfrm>
          <a:prstGeom prst="roundRect">
            <a:avLst>
              <a:gd name="adj" fmla="val 1333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a4u_nacc57"/>
          <p:cNvSpPr/>
          <p:nvPr/>
        </p:nvSpPr>
        <p:spPr>
          <a:xfrm>
            <a:off x="457200" y="3931920"/>
            <a:ext cx="54864" cy="5486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9" name="a4u_nt58"/>
          <p:cNvSpPr txBox="1"/>
          <p:nvPr/>
        </p:nvSpPr>
        <p:spPr>
          <a:xfrm>
            <a:off x="658368" y="3931920"/>
            <a:ext cx="7827264" cy="548640"/>
          </a:xfrm>
          <a:prstGeom prst="rect">
            <a:avLst/>
          </a:prstGeom>
          <a:noFill/>
        </p:spPr>
        <p:txBody>
          <a:bodyPr wrap="square" lIns="0" tIns="0" rIns="0" bIns="0" anchor="ctr">
            <a:spAutoFit/>
          </a:bodyPr>
          <a:lstStyle/>
          <a:p>
            <a:pPr algn="l"/>
            <a:r>
              <a:rPr sz="900" b="1">
                <a:solidFill>
                  <a:srgbClr val="4F46E5"/>
                </a:solidFill>
                <a:latin typeface="Segoe UI"/>
              </a:rPr>
              <a:t>NOTE  </a:t>
            </a:r>
            <a:r>
              <a:rPr sz="900" b="0">
                <a:solidFill>
                  <a:srgbClr val="44403C"/>
                </a:solidFill>
                <a:latin typeface="Segoe UI"/>
              </a:rPr>
              <a:t>Plain Apache Kafka waits for you (or a tool such as Cruise Control); managed services restore the copies for you.</a:t>
            </a:r>
          </a:p>
        </p:txBody>
      </p:sp>
      <p:sp>
        <p:nvSpPr>
          <p:cNvPr id="60" name="ft5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61" name="ft6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ft6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63" name="ft6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ppt_y+0.1"/>
                                          </p:val>
                                        </p:tav>
                                        <p:tav tm="100000">
                                          <p:val>
                                            <p:strVal val="#ppt_y"/>
                                          </p:val>
                                        </p:tav>
                                      </p:tavLst>
                                    </p:anim>
                                    <p:animEffect transition="in" filter="fade">
                                      <p:cBhvr>
                                        <p:cTn id="9" dur="500"/>
                                        <p:tgtEl>
                                          <p:spTgt spid="11"/>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ppt_y+0.1"/>
                                          </p:val>
                                        </p:tav>
                                        <p:tav tm="100000">
                                          <p:val>
                                            <p:strVal val="#ppt_y"/>
                                          </p:val>
                                        </p:tav>
                                      </p:tavLst>
                                    </p:anim>
                                    <p:animEffect transition="in" filter="fade">
                                      <p:cBhvr>
                                        <p:cTn id="14" dur="500"/>
                                        <p:tgtEl>
                                          <p:spTgt spid="12"/>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ppt_y+0.1"/>
                                          </p:val>
                                        </p:tav>
                                        <p:tav tm="100000">
                                          <p:val>
                                            <p:strVal val="#ppt_y"/>
                                          </p:val>
                                        </p:tav>
                                      </p:tavLst>
                                    </p:anim>
                                    <p:animEffect transition="in" filter="fade">
                                      <p:cBhvr>
                                        <p:cTn id="19" dur="500"/>
                                        <p:tgtEl>
                                          <p:spTgt spid="13"/>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ppt_x"/>
                                          </p:val>
                                        </p:tav>
                                        <p:tav tm="100000">
                                          <p:val>
                                            <p:strVal val="#ppt_x"/>
                                          </p:val>
                                        </p:tav>
                                      </p:tavLst>
                                    </p:anim>
                                    <p:anim calcmode="lin" valueType="num">
                                      <p:cBhvr additive="base">
                                        <p:cTn id="23" dur="500" fill="hold"/>
                                        <p:tgtEl>
                                          <p:spTgt spid="14"/>
                                        </p:tgtEl>
                                        <p:attrNameLst>
                                          <p:attrName>ppt_y</p:attrName>
                                        </p:attrNameLst>
                                      </p:cBhvr>
                                      <p:tavLst>
                                        <p:tav tm="0">
                                          <p:val>
                                            <p:strVal val="#ppt_y+0.1"/>
                                          </p:val>
                                        </p:tav>
                                        <p:tav tm="100000">
                                          <p:val>
                                            <p:strVal val="#ppt_y"/>
                                          </p:val>
                                        </p:tav>
                                      </p:tavLst>
                                    </p:anim>
                                    <p:animEffect transition="in" filter="fade">
                                      <p:cBhvr>
                                        <p:cTn id="24" dur="500"/>
                                        <p:tgtEl>
                                          <p:spTgt spid="14"/>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ppt_y+0.1"/>
                                          </p:val>
                                        </p:tav>
                                        <p:tav tm="100000">
                                          <p:val>
                                            <p:strVal val="#ppt_y"/>
                                          </p:val>
                                        </p:tav>
                                      </p:tavLst>
                                    </p:anim>
                                    <p:animEffect transition="in" filter="fade">
                                      <p:cBhvr>
                                        <p:cTn id="29" dur="500"/>
                                        <p:tgtEl>
                                          <p:spTgt spid="15"/>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ppt_x"/>
                                          </p:val>
                                        </p:tav>
                                        <p:tav tm="100000">
                                          <p:val>
                                            <p:strVal val="#ppt_x"/>
                                          </p:val>
                                        </p:tav>
                                      </p:tavLst>
                                    </p:anim>
                                    <p:anim calcmode="lin" valueType="num">
                                      <p:cBhvr additive="base">
                                        <p:cTn id="33" dur="500" fill="hold"/>
                                        <p:tgtEl>
                                          <p:spTgt spid="16"/>
                                        </p:tgtEl>
                                        <p:attrNameLst>
                                          <p:attrName>ppt_y</p:attrName>
                                        </p:attrNameLst>
                                      </p:cBhvr>
                                      <p:tavLst>
                                        <p:tav tm="0">
                                          <p:val>
                                            <p:strVal val="#ppt_y+0.1"/>
                                          </p:val>
                                        </p:tav>
                                        <p:tav tm="100000">
                                          <p:val>
                                            <p:strVal val="#ppt_y"/>
                                          </p:val>
                                        </p:tav>
                                      </p:tavLst>
                                    </p:anim>
                                    <p:animEffect transition="in" filter="fade">
                                      <p:cBhvr>
                                        <p:cTn id="34" dur="500"/>
                                        <p:tgtEl>
                                          <p:spTgt spid="16"/>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ppt_y+0.1"/>
                                          </p:val>
                                        </p:tav>
                                        <p:tav tm="100000">
                                          <p:val>
                                            <p:strVal val="#ppt_y"/>
                                          </p:val>
                                        </p:tav>
                                      </p:tavLst>
                                    </p:anim>
                                    <p:animEffect transition="in" filter="fade">
                                      <p:cBhvr>
                                        <p:cTn id="39" dur="500"/>
                                        <p:tgtEl>
                                          <p:spTgt spid="17"/>
                                        </p:tgtEl>
                                      </p:cBhvr>
                                    </p:animEffect>
                                  </p:childTnLst>
                                </p:cTn>
                              </p:par>
                              <p:par>
                                <p:cTn id="40" presetID="2" presetClass="entr" presetSubtype="4"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ppt_y+0.1"/>
                                          </p:val>
                                        </p:tav>
                                        <p:tav tm="100000">
                                          <p:val>
                                            <p:strVal val="#ppt_y"/>
                                          </p:val>
                                        </p:tav>
                                      </p:tavLst>
                                    </p:anim>
                                    <p:animEffect transition="in" filter="fade">
                                      <p:cBhvr>
                                        <p:cTn id="44" dur="500"/>
                                        <p:tgtEl>
                                          <p:spTgt spid="18"/>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ppt_y+0.1"/>
                                          </p:val>
                                        </p:tav>
                                        <p:tav tm="100000">
                                          <p:val>
                                            <p:strVal val="#ppt_y"/>
                                          </p:val>
                                        </p:tav>
                                      </p:tavLst>
                                    </p:anim>
                                    <p:animEffect transition="in" filter="fade">
                                      <p:cBhvr>
                                        <p:cTn id="49" dur="500"/>
                                        <p:tgtEl>
                                          <p:spTgt spid="19"/>
                                        </p:tgtEl>
                                      </p:cBhvr>
                                    </p:animEffect>
                                  </p:childTnLst>
                                </p:cTn>
                              </p:par>
                              <p:par>
                                <p:cTn id="50" presetID="2" presetClass="entr" presetSubtype="4"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 calcmode="lin" valueType="num">
                                      <p:cBhvr additive="base">
                                        <p:cTn id="52" dur="500" fill="hold"/>
                                        <p:tgtEl>
                                          <p:spTgt spid="20"/>
                                        </p:tgtEl>
                                        <p:attrNameLst>
                                          <p:attrName>ppt_x</p:attrName>
                                        </p:attrNameLst>
                                      </p:cBhvr>
                                      <p:tavLst>
                                        <p:tav tm="0">
                                          <p:val>
                                            <p:strVal val="#ppt_x"/>
                                          </p:val>
                                        </p:tav>
                                        <p:tav tm="100000">
                                          <p:val>
                                            <p:strVal val="#ppt_x"/>
                                          </p:val>
                                        </p:tav>
                                      </p:tavLst>
                                    </p:anim>
                                    <p:anim calcmode="lin" valueType="num">
                                      <p:cBhvr additive="base">
                                        <p:cTn id="53" dur="500" fill="hold"/>
                                        <p:tgtEl>
                                          <p:spTgt spid="20"/>
                                        </p:tgtEl>
                                        <p:attrNameLst>
                                          <p:attrName>ppt_y</p:attrName>
                                        </p:attrNameLst>
                                      </p:cBhvr>
                                      <p:tavLst>
                                        <p:tav tm="0">
                                          <p:val>
                                            <p:strVal val="#ppt_y+0.1"/>
                                          </p:val>
                                        </p:tav>
                                        <p:tav tm="100000">
                                          <p:val>
                                            <p:strVal val="#ppt_y"/>
                                          </p:val>
                                        </p:tav>
                                      </p:tavLst>
                                    </p:anim>
                                    <p:animEffect transition="in" filter="fade">
                                      <p:cBhvr>
                                        <p:cTn id="54" dur="500"/>
                                        <p:tgtEl>
                                          <p:spTgt spid="20"/>
                                        </p:tgtEl>
                                      </p:cBhvr>
                                    </p:animEffect>
                                  </p:childTnLst>
                                </p:cTn>
                              </p:par>
                              <p:par>
                                <p:cTn id="55" presetID="2" presetClass="entr" presetSubtype="4"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ppt_x"/>
                                          </p:val>
                                        </p:tav>
                                        <p:tav tm="100000">
                                          <p:val>
                                            <p:strVal val="#ppt_x"/>
                                          </p:val>
                                        </p:tav>
                                      </p:tavLst>
                                    </p:anim>
                                    <p:anim calcmode="lin" valueType="num">
                                      <p:cBhvr additive="base">
                                        <p:cTn id="58" dur="500" fill="hold"/>
                                        <p:tgtEl>
                                          <p:spTgt spid="21"/>
                                        </p:tgtEl>
                                        <p:attrNameLst>
                                          <p:attrName>ppt_y</p:attrName>
                                        </p:attrNameLst>
                                      </p:cBhvr>
                                      <p:tavLst>
                                        <p:tav tm="0">
                                          <p:val>
                                            <p:strVal val="#ppt_y+0.1"/>
                                          </p:val>
                                        </p:tav>
                                        <p:tav tm="100000">
                                          <p:val>
                                            <p:strVal val="#ppt_y"/>
                                          </p:val>
                                        </p:tav>
                                      </p:tavLst>
                                    </p:anim>
                                    <p:animEffect transition="in" filter="fade">
                                      <p:cBhvr>
                                        <p:cTn id="59" dur="500"/>
                                        <p:tgtEl>
                                          <p:spTgt spid="21"/>
                                        </p:tgtEl>
                                      </p:cBhvr>
                                    </p:animEffect>
                                  </p:childTnLst>
                                </p:cTn>
                              </p:par>
                              <p:par>
                                <p:cTn id="60" presetID="2" presetClass="entr" presetSubtype="4"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 calcmode="lin" valueType="num">
                                      <p:cBhvr additive="base">
                                        <p:cTn id="62" dur="500" fill="hold"/>
                                        <p:tgtEl>
                                          <p:spTgt spid="22"/>
                                        </p:tgtEl>
                                        <p:attrNameLst>
                                          <p:attrName>ppt_x</p:attrName>
                                        </p:attrNameLst>
                                      </p:cBhvr>
                                      <p:tavLst>
                                        <p:tav tm="0">
                                          <p:val>
                                            <p:strVal val="#ppt_x"/>
                                          </p:val>
                                        </p:tav>
                                        <p:tav tm="100000">
                                          <p:val>
                                            <p:strVal val="#ppt_x"/>
                                          </p:val>
                                        </p:tav>
                                      </p:tavLst>
                                    </p:anim>
                                    <p:anim calcmode="lin" valueType="num">
                                      <p:cBhvr additive="base">
                                        <p:cTn id="63" dur="500" fill="hold"/>
                                        <p:tgtEl>
                                          <p:spTgt spid="22"/>
                                        </p:tgtEl>
                                        <p:attrNameLst>
                                          <p:attrName>ppt_y</p:attrName>
                                        </p:attrNameLst>
                                      </p:cBhvr>
                                      <p:tavLst>
                                        <p:tav tm="0">
                                          <p:val>
                                            <p:strVal val="#ppt_y+0.1"/>
                                          </p:val>
                                        </p:tav>
                                        <p:tav tm="100000">
                                          <p:val>
                                            <p:strVal val="#ppt_y"/>
                                          </p:val>
                                        </p:tav>
                                      </p:tavLst>
                                    </p:anim>
                                    <p:animEffect transition="in" filter="fade">
                                      <p:cBhvr>
                                        <p:cTn id="64" dur="500"/>
                                        <p:tgtEl>
                                          <p:spTgt spid="22"/>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anim calcmode="lin" valueType="num">
                                      <p:cBhvr additive="base">
                                        <p:cTn id="69" dur="500" fill="hold"/>
                                        <p:tgtEl>
                                          <p:spTgt spid="23"/>
                                        </p:tgtEl>
                                        <p:attrNameLst>
                                          <p:attrName>ppt_x</p:attrName>
                                        </p:attrNameLst>
                                      </p:cBhvr>
                                      <p:tavLst>
                                        <p:tav tm="0">
                                          <p:val>
                                            <p:strVal val="#ppt_x"/>
                                          </p:val>
                                        </p:tav>
                                        <p:tav tm="100000">
                                          <p:val>
                                            <p:strVal val="#ppt_x"/>
                                          </p:val>
                                        </p:tav>
                                      </p:tavLst>
                                    </p:anim>
                                    <p:anim calcmode="lin" valueType="num">
                                      <p:cBhvr additive="base">
                                        <p:cTn id="70" dur="500" fill="hold"/>
                                        <p:tgtEl>
                                          <p:spTgt spid="23"/>
                                        </p:tgtEl>
                                        <p:attrNameLst>
                                          <p:attrName>ppt_y</p:attrName>
                                        </p:attrNameLst>
                                      </p:cBhvr>
                                      <p:tavLst>
                                        <p:tav tm="0">
                                          <p:val>
                                            <p:strVal val="#ppt_y+0.1"/>
                                          </p:val>
                                        </p:tav>
                                        <p:tav tm="100000">
                                          <p:val>
                                            <p:strVal val="#ppt_y"/>
                                          </p:val>
                                        </p:tav>
                                      </p:tavLst>
                                    </p:anim>
                                    <p:animEffect transition="in" filter="fade">
                                      <p:cBhvr>
                                        <p:cTn id="71" dur="500"/>
                                        <p:tgtEl>
                                          <p:spTgt spid="23"/>
                                        </p:tgtEl>
                                      </p:cBhvr>
                                    </p:animEffect>
                                  </p:childTnLst>
                                </p:cTn>
                              </p:par>
                              <p:par>
                                <p:cTn id="72" presetID="2" presetClass="entr" presetSubtype="4"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 calcmode="lin" valueType="num">
                                      <p:cBhvr additive="base">
                                        <p:cTn id="74" dur="500" fill="hold"/>
                                        <p:tgtEl>
                                          <p:spTgt spid="24"/>
                                        </p:tgtEl>
                                        <p:attrNameLst>
                                          <p:attrName>ppt_x</p:attrName>
                                        </p:attrNameLst>
                                      </p:cBhvr>
                                      <p:tavLst>
                                        <p:tav tm="0">
                                          <p:val>
                                            <p:strVal val="#ppt_x"/>
                                          </p:val>
                                        </p:tav>
                                        <p:tav tm="100000">
                                          <p:val>
                                            <p:strVal val="#ppt_x"/>
                                          </p:val>
                                        </p:tav>
                                      </p:tavLst>
                                    </p:anim>
                                    <p:anim calcmode="lin" valueType="num">
                                      <p:cBhvr additive="base">
                                        <p:cTn id="75" dur="500" fill="hold"/>
                                        <p:tgtEl>
                                          <p:spTgt spid="24"/>
                                        </p:tgtEl>
                                        <p:attrNameLst>
                                          <p:attrName>ppt_y</p:attrName>
                                        </p:attrNameLst>
                                      </p:cBhvr>
                                      <p:tavLst>
                                        <p:tav tm="0">
                                          <p:val>
                                            <p:strVal val="#ppt_y+0.1"/>
                                          </p:val>
                                        </p:tav>
                                        <p:tav tm="100000">
                                          <p:val>
                                            <p:strVal val="#ppt_y"/>
                                          </p:val>
                                        </p:tav>
                                      </p:tavLst>
                                    </p:anim>
                                    <p:animEffect transition="in" filter="fade">
                                      <p:cBhvr>
                                        <p:cTn id="76" dur="500"/>
                                        <p:tgtEl>
                                          <p:spTgt spid="24"/>
                                        </p:tgtEl>
                                      </p:cBhvr>
                                    </p:animEffect>
                                  </p:childTnLst>
                                </p:cTn>
                              </p:par>
                              <p:par>
                                <p:cTn id="77" presetID="2" presetClass="entr" presetSubtype="4"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ppt_y+0.1"/>
                                          </p:val>
                                        </p:tav>
                                        <p:tav tm="100000">
                                          <p:val>
                                            <p:strVal val="#ppt_y"/>
                                          </p:val>
                                        </p:tav>
                                      </p:tavLst>
                                    </p:anim>
                                    <p:animEffect transition="in" filter="fade">
                                      <p:cBhvr>
                                        <p:cTn id="81" dur="500"/>
                                        <p:tgtEl>
                                          <p:spTgt spid="25"/>
                                        </p:tgtEl>
                                      </p:cBhvr>
                                    </p:animEffect>
                                  </p:childTnLst>
                                </p:cTn>
                              </p:par>
                              <p:par>
                                <p:cTn id="82" presetID="2" presetClass="entr" presetSubtype="4"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 calcmode="lin" valueType="num">
                                      <p:cBhvr additive="base">
                                        <p:cTn id="84" dur="500" fill="hold"/>
                                        <p:tgtEl>
                                          <p:spTgt spid="26"/>
                                        </p:tgtEl>
                                        <p:attrNameLst>
                                          <p:attrName>ppt_x</p:attrName>
                                        </p:attrNameLst>
                                      </p:cBhvr>
                                      <p:tavLst>
                                        <p:tav tm="0">
                                          <p:val>
                                            <p:strVal val="#ppt_x"/>
                                          </p:val>
                                        </p:tav>
                                        <p:tav tm="100000">
                                          <p:val>
                                            <p:strVal val="#ppt_x"/>
                                          </p:val>
                                        </p:tav>
                                      </p:tavLst>
                                    </p:anim>
                                    <p:anim calcmode="lin" valueType="num">
                                      <p:cBhvr additive="base">
                                        <p:cTn id="85" dur="500" fill="hold"/>
                                        <p:tgtEl>
                                          <p:spTgt spid="26"/>
                                        </p:tgtEl>
                                        <p:attrNameLst>
                                          <p:attrName>ppt_y</p:attrName>
                                        </p:attrNameLst>
                                      </p:cBhvr>
                                      <p:tavLst>
                                        <p:tav tm="0">
                                          <p:val>
                                            <p:strVal val="#ppt_y+0.1"/>
                                          </p:val>
                                        </p:tav>
                                        <p:tav tm="100000">
                                          <p:val>
                                            <p:strVal val="#ppt_y"/>
                                          </p:val>
                                        </p:tav>
                                      </p:tavLst>
                                    </p:anim>
                                    <p:animEffect transition="in" filter="fade">
                                      <p:cBhvr>
                                        <p:cTn id="86" dur="500"/>
                                        <p:tgtEl>
                                          <p:spTgt spid="26"/>
                                        </p:tgtEl>
                                      </p:cBhvr>
                                    </p:animEffect>
                                  </p:childTnLst>
                                </p:cTn>
                              </p:par>
                              <p:par>
                                <p:cTn id="87" presetID="2" presetClass="entr" presetSubtype="4"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 calcmode="lin" valueType="num">
                                      <p:cBhvr additive="base">
                                        <p:cTn id="89" dur="500" fill="hold"/>
                                        <p:tgtEl>
                                          <p:spTgt spid="27"/>
                                        </p:tgtEl>
                                        <p:attrNameLst>
                                          <p:attrName>ppt_x</p:attrName>
                                        </p:attrNameLst>
                                      </p:cBhvr>
                                      <p:tavLst>
                                        <p:tav tm="0">
                                          <p:val>
                                            <p:strVal val="#ppt_x"/>
                                          </p:val>
                                        </p:tav>
                                        <p:tav tm="100000">
                                          <p:val>
                                            <p:strVal val="#ppt_x"/>
                                          </p:val>
                                        </p:tav>
                                      </p:tavLst>
                                    </p:anim>
                                    <p:anim calcmode="lin" valueType="num">
                                      <p:cBhvr additive="base">
                                        <p:cTn id="90" dur="500" fill="hold"/>
                                        <p:tgtEl>
                                          <p:spTgt spid="27"/>
                                        </p:tgtEl>
                                        <p:attrNameLst>
                                          <p:attrName>ppt_y</p:attrName>
                                        </p:attrNameLst>
                                      </p:cBhvr>
                                      <p:tavLst>
                                        <p:tav tm="0">
                                          <p:val>
                                            <p:strVal val="#ppt_y+0.1"/>
                                          </p:val>
                                        </p:tav>
                                        <p:tav tm="100000">
                                          <p:val>
                                            <p:strVal val="#ppt_y"/>
                                          </p:val>
                                        </p:tav>
                                      </p:tavLst>
                                    </p:anim>
                                    <p:animEffect transition="in" filter="fade">
                                      <p:cBhvr>
                                        <p:cTn id="91" dur="500"/>
                                        <p:tgtEl>
                                          <p:spTgt spid="27"/>
                                        </p:tgtEl>
                                      </p:cBhvr>
                                    </p:animEffect>
                                  </p:childTnLst>
                                </p:cTn>
                              </p:par>
                              <p:par>
                                <p:cTn id="92" presetID="2" presetClass="entr" presetSubtype="4" fill="hold" grpId="0" nodeType="withEffect">
                                  <p:stCondLst>
                                    <p:cond delay="0"/>
                                  </p:stCondLst>
                                  <p:childTnLst>
                                    <p:set>
                                      <p:cBhvr>
                                        <p:cTn id="93" dur="1" fill="hold">
                                          <p:stCondLst>
                                            <p:cond delay="0"/>
                                          </p:stCondLst>
                                        </p:cTn>
                                        <p:tgtEl>
                                          <p:spTgt spid="28"/>
                                        </p:tgtEl>
                                        <p:attrNameLst>
                                          <p:attrName>style.visibility</p:attrName>
                                        </p:attrNameLst>
                                      </p:cBhvr>
                                      <p:to>
                                        <p:strVal val="visible"/>
                                      </p:to>
                                    </p:set>
                                    <p:anim calcmode="lin" valueType="num">
                                      <p:cBhvr additive="base">
                                        <p:cTn id="94" dur="500" fill="hold"/>
                                        <p:tgtEl>
                                          <p:spTgt spid="28"/>
                                        </p:tgtEl>
                                        <p:attrNameLst>
                                          <p:attrName>ppt_x</p:attrName>
                                        </p:attrNameLst>
                                      </p:cBhvr>
                                      <p:tavLst>
                                        <p:tav tm="0">
                                          <p:val>
                                            <p:strVal val="#ppt_x"/>
                                          </p:val>
                                        </p:tav>
                                        <p:tav tm="100000">
                                          <p:val>
                                            <p:strVal val="#ppt_x"/>
                                          </p:val>
                                        </p:tav>
                                      </p:tavLst>
                                    </p:anim>
                                    <p:anim calcmode="lin" valueType="num">
                                      <p:cBhvr additive="base">
                                        <p:cTn id="95" dur="500" fill="hold"/>
                                        <p:tgtEl>
                                          <p:spTgt spid="28"/>
                                        </p:tgtEl>
                                        <p:attrNameLst>
                                          <p:attrName>ppt_y</p:attrName>
                                        </p:attrNameLst>
                                      </p:cBhvr>
                                      <p:tavLst>
                                        <p:tav tm="0">
                                          <p:val>
                                            <p:strVal val="#ppt_y+0.1"/>
                                          </p:val>
                                        </p:tav>
                                        <p:tav tm="100000">
                                          <p:val>
                                            <p:strVal val="#ppt_y"/>
                                          </p:val>
                                        </p:tav>
                                      </p:tavLst>
                                    </p:anim>
                                    <p:animEffect transition="in" filter="fade">
                                      <p:cBhvr>
                                        <p:cTn id="96" dur="500"/>
                                        <p:tgtEl>
                                          <p:spTgt spid="28"/>
                                        </p:tgtEl>
                                      </p:cBhvr>
                                    </p:animEffect>
                                  </p:childTnLst>
                                </p:cTn>
                              </p:par>
                              <p:par>
                                <p:cTn id="97" presetID="2" presetClass="entr" presetSubtype="4"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 calcmode="lin" valueType="num">
                                      <p:cBhvr additive="base">
                                        <p:cTn id="99" dur="500" fill="hold"/>
                                        <p:tgtEl>
                                          <p:spTgt spid="29"/>
                                        </p:tgtEl>
                                        <p:attrNameLst>
                                          <p:attrName>ppt_x</p:attrName>
                                        </p:attrNameLst>
                                      </p:cBhvr>
                                      <p:tavLst>
                                        <p:tav tm="0">
                                          <p:val>
                                            <p:strVal val="#ppt_x"/>
                                          </p:val>
                                        </p:tav>
                                        <p:tav tm="100000">
                                          <p:val>
                                            <p:strVal val="#ppt_x"/>
                                          </p:val>
                                        </p:tav>
                                      </p:tavLst>
                                    </p:anim>
                                    <p:anim calcmode="lin" valueType="num">
                                      <p:cBhvr additive="base">
                                        <p:cTn id="100" dur="500" fill="hold"/>
                                        <p:tgtEl>
                                          <p:spTgt spid="29"/>
                                        </p:tgtEl>
                                        <p:attrNameLst>
                                          <p:attrName>ppt_y</p:attrName>
                                        </p:attrNameLst>
                                      </p:cBhvr>
                                      <p:tavLst>
                                        <p:tav tm="0">
                                          <p:val>
                                            <p:strVal val="#ppt_y+0.1"/>
                                          </p:val>
                                        </p:tav>
                                        <p:tav tm="100000">
                                          <p:val>
                                            <p:strVal val="#ppt_y"/>
                                          </p:val>
                                        </p:tav>
                                      </p:tavLst>
                                    </p:anim>
                                    <p:animEffect transition="in" filter="fade">
                                      <p:cBhvr>
                                        <p:cTn id="101" dur="500"/>
                                        <p:tgtEl>
                                          <p:spTgt spid="29"/>
                                        </p:tgtEl>
                                      </p:cBhvr>
                                    </p:animEffect>
                                  </p:childTnLst>
                                </p:cTn>
                              </p:par>
                              <p:par>
                                <p:cTn id="102" presetID="2" presetClass="entr" presetSubtype="4" fill="hold" grpId="0" nodeType="withEffect">
                                  <p:stCondLst>
                                    <p:cond delay="0"/>
                                  </p:stCondLst>
                                  <p:childTnLst>
                                    <p:set>
                                      <p:cBhvr>
                                        <p:cTn id="103" dur="1" fill="hold">
                                          <p:stCondLst>
                                            <p:cond delay="0"/>
                                          </p:stCondLst>
                                        </p:cTn>
                                        <p:tgtEl>
                                          <p:spTgt spid="30"/>
                                        </p:tgtEl>
                                        <p:attrNameLst>
                                          <p:attrName>style.visibility</p:attrName>
                                        </p:attrNameLst>
                                      </p:cBhvr>
                                      <p:to>
                                        <p:strVal val="visible"/>
                                      </p:to>
                                    </p:set>
                                    <p:anim calcmode="lin" valueType="num">
                                      <p:cBhvr additive="base">
                                        <p:cTn id="104" dur="500" fill="hold"/>
                                        <p:tgtEl>
                                          <p:spTgt spid="30"/>
                                        </p:tgtEl>
                                        <p:attrNameLst>
                                          <p:attrName>ppt_x</p:attrName>
                                        </p:attrNameLst>
                                      </p:cBhvr>
                                      <p:tavLst>
                                        <p:tav tm="0">
                                          <p:val>
                                            <p:strVal val="#ppt_x"/>
                                          </p:val>
                                        </p:tav>
                                        <p:tav tm="100000">
                                          <p:val>
                                            <p:strVal val="#ppt_x"/>
                                          </p:val>
                                        </p:tav>
                                      </p:tavLst>
                                    </p:anim>
                                    <p:anim calcmode="lin" valueType="num">
                                      <p:cBhvr additive="base">
                                        <p:cTn id="105" dur="500" fill="hold"/>
                                        <p:tgtEl>
                                          <p:spTgt spid="30"/>
                                        </p:tgtEl>
                                        <p:attrNameLst>
                                          <p:attrName>ppt_y</p:attrName>
                                        </p:attrNameLst>
                                      </p:cBhvr>
                                      <p:tavLst>
                                        <p:tav tm="0">
                                          <p:val>
                                            <p:strVal val="#ppt_y+0.1"/>
                                          </p:val>
                                        </p:tav>
                                        <p:tav tm="100000">
                                          <p:val>
                                            <p:strVal val="#ppt_y"/>
                                          </p:val>
                                        </p:tav>
                                      </p:tavLst>
                                    </p:anim>
                                    <p:animEffect transition="in" filter="fade">
                                      <p:cBhvr>
                                        <p:cTn id="106" dur="500"/>
                                        <p:tgtEl>
                                          <p:spTgt spid="30"/>
                                        </p:tgtEl>
                                      </p:cBhvr>
                                    </p:animEffect>
                                  </p:childTnLst>
                                </p:cTn>
                              </p:par>
                              <p:par>
                                <p:cTn id="107" presetID="2" presetClass="entr" presetSubtype="4"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additive="base">
                                        <p:cTn id="109" dur="500" fill="hold"/>
                                        <p:tgtEl>
                                          <p:spTgt spid="31"/>
                                        </p:tgtEl>
                                        <p:attrNameLst>
                                          <p:attrName>ppt_x</p:attrName>
                                        </p:attrNameLst>
                                      </p:cBhvr>
                                      <p:tavLst>
                                        <p:tav tm="0">
                                          <p:val>
                                            <p:strVal val="#ppt_x"/>
                                          </p:val>
                                        </p:tav>
                                        <p:tav tm="100000">
                                          <p:val>
                                            <p:strVal val="#ppt_x"/>
                                          </p:val>
                                        </p:tav>
                                      </p:tavLst>
                                    </p:anim>
                                    <p:anim calcmode="lin" valueType="num">
                                      <p:cBhvr additive="base">
                                        <p:cTn id="110" dur="500" fill="hold"/>
                                        <p:tgtEl>
                                          <p:spTgt spid="31"/>
                                        </p:tgtEl>
                                        <p:attrNameLst>
                                          <p:attrName>ppt_y</p:attrName>
                                        </p:attrNameLst>
                                      </p:cBhvr>
                                      <p:tavLst>
                                        <p:tav tm="0">
                                          <p:val>
                                            <p:strVal val="#ppt_y+0.1"/>
                                          </p:val>
                                        </p:tav>
                                        <p:tav tm="100000">
                                          <p:val>
                                            <p:strVal val="#ppt_y"/>
                                          </p:val>
                                        </p:tav>
                                      </p:tavLst>
                                    </p:anim>
                                    <p:animEffect transition="in" filter="fade">
                                      <p:cBhvr>
                                        <p:cTn id="111" dur="500"/>
                                        <p:tgtEl>
                                          <p:spTgt spid="31"/>
                                        </p:tgtEl>
                                      </p:cBhvr>
                                    </p:animEffect>
                                  </p:childTnLst>
                                </p:cTn>
                              </p:par>
                              <p:par>
                                <p:cTn id="112" presetID="2" presetClass="entr" presetSubtype="4" fill="hold" grpId="0" nodeType="withEffect">
                                  <p:stCondLst>
                                    <p:cond delay="0"/>
                                  </p:stCondLst>
                                  <p:childTnLst>
                                    <p:set>
                                      <p:cBhvr>
                                        <p:cTn id="113" dur="1" fill="hold">
                                          <p:stCondLst>
                                            <p:cond delay="0"/>
                                          </p:stCondLst>
                                        </p:cTn>
                                        <p:tgtEl>
                                          <p:spTgt spid="32"/>
                                        </p:tgtEl>
                                        <p:attrNameLst>
                                          <p:attrName>style.visibility</p:attrName>
                                        </p:attrNameLst>
                                      </p:cBhvr>
                                      <p:to>
                                        <p:strVal val="visible"/>
                                      </p:to>
                                    </p:set>
                                    <p:anim calcmode="lin" valueType="num">
                                      <p:cBhvr additive="base">
                                        <p:cTn id="114" dur="500" fill="hold"/>
                                        <p:tgtEl>
                                          <p:spTgt spid="32"/>
                                        </p:tgtEl>
                                        <p:attrNameLst>
                                          <p:attrName>ppt_x</p:attrName>
                                        </p:attrNameLst>
                                      </p:cBhvr>
                                      <p:tavLst>
                                        <p:tav tm="0">
                                          <p:val>
                                            <p:strVal val="#ppt_x"/>
                                          </p:val>
                                        </p:tav>
                                        <p:tav tm="100000">
                                          <p:val>
                                            <p:strVal val="#ppt_x"/>
                                          </p:val>
                                        </p:tav>
                                      </p:tavLst>
                                    </p:anim>
                                    <p:anim calcmode="lin" valueType="num">
                                      <p:cBhvr additive="base">
                                        <p:cTn id="115" dur="500" fill="hold"/>
                                        <p:tgtEl>
                                          <p:spTgt spid="32"/>
                                        </p:tgtEl>
                                        <p:attrNameLst>
                                          <p:attrName>ppt_y</p:attrName>
                                        </p:attrNameLst>
                                      </p:cBhvr>
                                      <p:tavLst>
                                        <p:tav tm="0">
                                          <p:val>
                                            <p:strVal val="#ppt_y+0.1"/>
                                          </p:val>
                                        </p:tav>
                                        <p:tav tm="100000">
                                          <p:val>
                                            <p:strVal val="#ppt_y"/>
                                          </p:val>
                                        </p:tav>
                                      </p:tavLst>
                                    </p:anim>
                                    <p:animEffect transition="in" filter="fade">
                                      <p:cBhvr>
                                        <p:cTn id="116" dur="500"/>
                                        <p:tgtEl>
                                          <p:spTgt spid="32"/>
                                        </p:tgtEl>
                                      </p:cBhvr>
                                    </p:animEffect>
                                  </p:childTnLst>
                                </p:cTn>
                              </p:par>
                              <p:par>
                                <p:cTn id="117" presetID="2" presetClass="entr" presetSubtype="4" fill="hold" grpId="0" nodeType="withEffect">
                                  <p:stCondLst>
                                    <p:cond delay="0"/>
                                  </p:stCondLst>
                                  <p:childTnLst>
                                    <p:set>
                                      <p:cBhvr>
                                        <p:cTn id="118" dur="1" fill="hold">
                                          <p:stCondLst>
                                            <p:cond delay="0"/>
                                          </p:stCondLst>
                                        </p:cTn>
                                        <p:tgtEl>
                                          <p:spTgt spid="33"/>
                                        </p:tgtEl>
                                        <p:attrNameLst>
                                          <p:attrName>style.visibility</p:attrName>
                                        </p:attrNameLst>
                                      </p:cBhvr>
                                      <p:to>
                                        <p:strVal val="visible"/>
                                      </p:to>
                                    </p:set>
                                    <p:anim calcmode="lin" valueType="num">
                                      <p:cBhvr additive="base">
                                        <p:cTn id="119" dur="500" fill="hold"/>
                                        <p:tgtEl>
                                          <p:spTgt spid="33"/>
                                        </p:tgtEl>
                                        <p:attrNameLst>
                                          <p:attrName>ppt_x</p:attrName>
                                        </p:attrNameLst>
                                      </p:cBhvr>
                                      <p:tavLst>
                                        <p:tav tm="0">
                                          <p:val>
                                            <p:strVal val="#ppt_x"/>
                                          </p:val>
                                        </p:tav>
                                        <p:tav tm="100000">
                                          <p:val>
                                            <p:strVal val="#ppt_x"/>
                                          </p:val>
                                        </p:tav>
                                      </p:tavLst>
                                    </p:anim>
                                    <p:anim calcmode="lin" valueType="num">
                                      <p:cBhvr additive="base">
                                        <p:cTn id="120" dur="500" fill="hold"/>
                                        <p:tgtEl>
                                          <p:spTgt spid="33"/>
                                        </p:tgtEl>
                                        <p:attrNameLst>
                                          <p:attrName>ppt_y</p:attrName>
                                        </p:attrNameLst>
                                      </p:cBhvr>
                                      <p:tavLst>
                                        <p:tav tm="0">
                                          <p:val>
                                            <p:strVal val="#ppt_y+0.1"/>
                                          </p:val>
                                        </p:tav>
                                        <p:tav tm="100000">
                                          <p:val>
                                            <p:strVal val="#ppt_y"/>
                                          </p:val>
                                        </p:tav>
                                      </p:tavLst>
                                    </p:anim>
                                    <p:animEffect transition="in" filter="fade">
                                      <p:cBhvr>
                                        <p:cTn id="121" dur="500"/>
                                        <p:tgtEl>
                                          <p:spTgt spid="33"/>
                                        </p:tgtEl>
                                      </p:cBhvr>
                                    </p:animEffect>
                                  </p:childTnLst>
                                </p:cTn>
                              </p:par>
                              <p:par>
                                <p:cTn id="122" presetID="2" presetClass="entr" presetSubtype="4" fill="hold" grpId="0" nodeType="withEffect">
                                  <p:stCondLst>
                                    <p:cond delay="0"/>
                                  </p:stCondLst>
                                  <p:childTnLst>
                                    <p:set>
                                      <p:cBhvr>
                                        <p:cTn id="123" dur="1" fill="hold">
                                          <p:stCondLst>
                                            <p:cond delay="0"/>
                                          </p:stCondLst>
                                        </p:cTn>
                                        <p:tgtEl>
                                          <p:spTgt spid="34"/>
                                        </p:tgtEl>
                                        <p:attrNameLst>
                                          <p:attrName>style.visibility</p:attrName>
                                        </p:attrNameLst>
                                      </p:cBhvr>
                                      <p:to>
                                        <p:strVal val="visible"/>
                                      </p:to>
                                    </p:set>
                                    <p:anim calcmode="lin" valueType="num">
                                      <p:cBhvr additive="base">
                                        <p:cTn id="124" dur="500" fill="hold"/>
                                        <p:tgtEl>
                                          <p:spTgt spid="34"/>
                                        </p:tgtEl>
                                        <p:attrNameLst>
                                          <p:attrName>ppt_x</p:attrName>
                                        </p:attrNameLst>
                                      </p:cBhvr>
                                      <p:tavLst>
                                        <p:tav tm="0">
                                          <p:val>
                                            <p:strVal val="#ppt_x"/>
                                          </p:val>
                                        </p:tav>
                                        <p:tav tm="100000">
                                          <p:val>
                                            <p:strVal val="#ppt_x"/>
                                          </p:val>
                                        </p:tav>
                                      </p:tavLst>
                                    </p:anim>
                                    <p:anim calcmode="lin" valueType="num">
                                      <p:cBhvr additive="base">
                                        <p:cTn id="125" dur="500" fill="hold"/>
                                        <p:tgtEl>
                                          <p:spTgt spid="34"/>
                                        </p:tgtEl>
                                        <p:attrNameLst>
                                          <p:attrName>ppt_y</p:attrName>
                                        </p:attrNameLst>
                                      </p:cBhvr>
                                      <p:tavLst>
                                        <p:tav tm="0">
                                          <p:val>
                                            <p:strVal val="#ppt_y+0.1"/>
                                          </p:val>
                                        </p:tav>
                                        <p:tav tm="100000">
                                          <p:val>
                                            <p:strVal val="#ppt_y"/>
                                          </p:val>
                                        </p:tav>
                                      </p:tavLst>
                                    </p:anim>
                                    <p:animEffect transition="in" filter="fade">
                                      <p:cBhvr>
                                        <p:cTn id="126" dur="500"/>
                                        <p:tgtEl>
                                          <p:spTgt spid="34"/>
                                        </p:tgtEl>
                                      </p:cBhvr>
                                    </p:animEffect>
                                  </p:childTnLst>
                                </p:cTn>
                              </p:par>
                              <p:par>
                                <p:cTn id="127" presetID="2" presetClass="entr" presetSubtype="4" fill="hold" grpId="0" nodeType="withEffect">
                                  <p:stCondLst>
                                    <p:cond delay="0"/>
                                  </p:stCondLst>
                                  <p:childTnLst>
                                    <p:set>
                                      <p:cBhvr>
                                        <p:cTn id="128" dur="1" fill="hold">
                                          <p:stCondLst>
                                            <p:cond delay="0"/>
                                          </p:stCondLst>
                                        </p:cTn>
                                        <p:tgtEl>
                                          <p:spTgt spid="35"/>
                                        </p:tgtEl>
                                        <p:attrNameLst>
                                          <p:attrName>style.visibility</p:attrName>
                                        </p:attrNameLst>
                                      </p:cBhvr>
                                      <p:to>
                                        <p:strVal val="visible"/>
                                      </p:to>
                                    </p:set>
                                    <p:anim calcmode="lin" valueType="num">
                                      <p:cBhvr additive="base">
                                        <p:cTn id="129" dur="500" fill="hold"/>
                                        <p:tgtEl>
                                          <p:spTgt spid="35"/>
                                        </p:tgtEl>
                                        <p:attrNameLst>
                                          <p:attrName>ppt_x</p:attrName>
                                        </p:attrNameLst>
                                      </p:cBhvr>
                                      <p:tavLst>
                                        <p:tav tm="0">
                                          <p:val>
                                            <p:strVal val="#ppt_x"/>
                                          </p:val>
                                        </p:tav>
                                        <p:tav tm="100000">
                                          <p:val>
                                            <p:strVal val="#ppt_x"/>
                                          </p:val>
                                        </p:tav>
                                      </p:tavLst>
                                    </p:anim>
                                    <p:anim calcmode="lin" valueType="num">
                                      <p:cBhvr additive="base">
                                        <p:cTn id="130" dur="500" fill="hold"/>
                                        <p:tgtEl>
                                          <p:spTgt spid="35"/>
                                        </p:tgtEl>
                                        <p:attrNameLst>
                                          <p:attrName>ppt_y</p:attrName>
                                        </p:attrNameLst>
                                      </p:cBhvr>
                                      <p:tavLst>
                                        <p:tav tm="0">
                                          <p:val>
                                            <p:strVal val="#ppt_y+0.1"/>
                                          </p:val>
                                        </p:tav>
                                        <p:tav tm="100000">
                                          <p:val>
                                            <p:strVal val="#ppt_y"/>
                                          </p:val>
                                        </p:tav>
                                      </p:tavLst>
                                    </p:anim>
                                    <p:animEffect transition="in" filter="fade">
                                      <p:cBhvr>
                                        <p:cTn id="131" dur="500"/>
                                        <p:tgtEl>
                                          <p:spTgt spid="35"/>
                                        </p:tgtEl>
                                      </p:cBhvr>
                                    </p:animEffect>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36"/>
                                        </p:tgtEl>
                                        <p:attrNameLst>
                                          <p:attrName>style.visibility</p:attrName>
                                        </p:attrNameLst>
                                      </p:cBhvr>
                                      <p:to>
                                        <p:strVal val="visible"/>
                                      </p:to>
                                    </p:set>
                                    <p:anim calcmode="lin" valueType="num">
                                      <p:cBhvr additive="base">
                                        <p:cTn id="136" dur="500" fill="hold"/>
                                        <p:tgtEl>
                                          <p:spTgt spid="36"/>
                                        </p:tgtEl>
                                        <p:attrNameLst>
                                          <p:attrName>ppt_x</p:attrName>
                                        </p:attrNameLst>
                                      </p:cBhvr>
                                      <p:tavLst>
                                        <p:tav tm="0">
                                          <p:val>
                                            <p:strVal val="#ppt_x"/>
                                          </p:val>
                                        </p:tav>
                                        <p:tav tm="100000">
                                          <p:val>
                                            <p:strVal val="#ppt_x"/>
                                          </p:val>
                                        </p:tav>
                                      </p:tavLst>
                                    </p:anim>
                                    <p:anim calcmode="lin" valueType="num">
                                      <p:cBhvr additive="base">
                                        <p:cTn id="137" dur="500" fill="hold"/>
                                        <p:tgtEl>
                                          <p:spTgt spid="36"/>
                                        </p:tgtEl>
                                        <p:attrNameLst>
                                          <p:attrName>ppt_y</p:attrName>
                                        </p:attrNameLst>
                                      </p:cBhvr>
                                      <p:tavLst>
                                        <p:tav tm="0">
                                          <p:val>
                                            <p:strVal val="#ppt_y+0.1"/>
                                          </p:val>
                                        </p:tav>
                                        <p:tav tm="100000">
                                          <p:val>
                                            <p:strVal val="#ppt_y"/>
                                          </p:val>
                                        </p:tav>
                                      </p:tavLst>
                                    </p:anim>
                                    <p:animEffect transition="in" filter="fade">
                                      <p:cBhvr>
                                        <p:cTn id="138" dur="500"/>
                                        <p:tgtEl>
                                          <p:spTgt spid="36"/>
                                        </p:tgtEl>
                                      </p:cBhvr>
                                    </p:animEffect>
                                  </p:childTnLst>
                                </p:cTn>
                              </p:par>
                              <p:par>
                                <p:cTn id="139" presetID="2" presetClass="entr" presetSubtype="4" fill="hold" grpId="0" nodeType="withEffect">
                                  <p:stCondLst>
                                    <p:cond delay="0"/>
                                  </p:stCondLst>
                                  <p:childTnLst>
                                    <p:set>
                                      <p:cBhvr>
                                        <p:cTn id="140" dur="1" fill="hold">
                                          <p:stCondLst>
                                            <p:cond delay="0"/>
                                          </p:stCondLst>
                                        </p:cTn>
                                        <p:tgtEl>
                                          <p:spTgt spid="37"/>
                                        </p:tgtEl>
                                        <p:attrNameLst>
                                          <p:attrName>style.visibility</p:attrName>
                                        </p:attrNameLst>
                                      </p:cBhvr>
                                      <p:to>
                                        <p:strVal val="visible"/>
                                      </p:to>
                                    </p:set>
                                    <p:anim calcmode="lin" valueType="num">
                                      <p:cBhvr additive="base">
                                        <p:cTn id="141" dur="500" fill="hold"/>
                                        <p:tgtEl>
                                          <p:spTgt spid="37"/>
                                        </p:tgtEl>
                                        <p:attrNameLst>
                                          <p:attrName>ppt_x</p:attrName>
                                        </p:attrNameLst>
                                      </p:cBhvr>
                                      <p:tavLst>
                                        <p:tav tm="0">
                                          <p:val>
                                            <p:strVal val="#ppt_x"/>
                                          </p:val>
                                        </p:tav>
                                        <p:tav tm="100000">
                                          <p:val>
                                            <p:strVal val="#ppt_x"/>
                                          </p:val>
                                        </p:tav>
                                      </p:tavLst>
                                    </p:anim>
                                    <p:anim calcmode="lin" valueType="num">
                                      <p:cBhvr additive="base">
                                        <p:cTn id="142" dur="500" fill="hold"/>
                                        <p:tgtEl>
                                          <p:spTgt spid="37"/>
                                        </p:tgtEl>
                                        <p:attrNameLst>
                                          <p:attrName>ppt_y</p:attrName>
                                        </p:attrNameLst>
                                      </p:cBhvr>
                                      <p:tavLst>
                                        <p:tav tm="0">
                                          <p:val>
                                            <p:strVal val="#ppt_y+0.1"/>
                                          </p:val>
                                        </p:tav>
                                        <p:tav tm="100000">
                                          <p:val>
                                            <p:strVal val="#ppt_y"/>
                                          </p:val>
                                        </p:tav>
                                      </p:tavLst>
                                    </p:anim>
                                    <p:animEffect transition="in" filter="fade">
                                      <p:cBhvr>
                                        <p:cTn id="143" dur="500"/>
                                        <p:tgtEl>
                                          <p:spTgt spid="37"/>
                                        </p:tgtEl>
                                      </p:cBhvr>
                                    </p:animEffect>
                                  </p:childTnLst>
                                </p:cTn>
                              </p:par>
                              <p:par>
                                <p:cTn id="144" presetID="2" presetClass="entr" presetSubtype="4" fill="hold" grpId="0" nodeType="withEffect">
                                  <p:stCondLst>
                                    <p:cond delay="0"/>
                                  </p:stCondLst>
                                  <p:childTnLst>
                                    <p:set>
                                      <p:cBhvr>
                                        <p:cTn id="145" dur="1" fill="hold">
                                          <p:stCondLst>
                                            <p:cond delay="0"/>
                                          </p:stCondLst>
                                        </p:cTn>
                                        <p:tgtEl>
                                          <p:spTgt spid="38"/>
                                        </p:tgtEl>
                                        <p:attrNameLst>
                                          <p:attrName>style.visibility</p:attrName>
                                        </p:attrNameLst>
                                      </p:cBhvr>
                                      <p:to>
                                        <p:strVal val="visible"/>
                                      </p:to>
                                    </p:set>
                                    <p:anim calcmode="lin" valueType="num">
                                      <p:cBhvr additive="base">
                                        <p:cTn id="146" dur="500" fill="hold"/>
                                        <p:tgtEl>
                                          <p:spTgt spid="38"/>
                                        </p:tgtEl>
                                        <p:attrNameLst>
                                          <p:attrName>ppt_x</p:attrName>
                                        </p:attrNameLst>
                                      </p:cBhvr>
                                      <p:tavLst>
                                        <p:tav tm="0">
                                          <p:val>
                                            <p:strVal val="#ppt_x"/>
                                          </p:val>
                                        </p:tav>
                                        <p:tav tm="100000">
                                          <p:val>
                                            <p:strVal val="#ppt_x"/>
                                          </p:val>
                                        </p:tav>
                                      </p:tavLst>
                                    </p:anim>
                                    <p:anim calcmode="lin" valueType="num">
                                      <p:cBhvr additive="base">
                                        <p:cTn id="147" dur="500" fill="hold"/>
                                        <p:tgtEl>
                                          <p:spTgt spid="38"/>
                                        </p:tgtEl>
                                        <p:attrNameLst>
                                          <p:attrName>ppt_y</p:attrName>
                                        </p:attrNameLst>
                                      </p:cBhvr>
                                      <p:tavLst>
                                        <p:tav tm="0">
                                          <p:val>
                                            <p:strVal val="#ppt_y+0.1"/>
                                          </p:val>
                                        </p:tav>
                                        <p:tav tm="100000">
                                          <p:val>
                                            <p:strVal val="#ppt_y"/>
                                          </p:val>
                                        </p:tav>
                                      </p:tavLst>
                                    </p:anim>
                                    <p:animEffect transition="in" filter="fade">
                                      <p:cBhvr>
                                        <p:cTn id="148" dur="500"/>
                                        <p:tgtEl>
                                          <p:spTgt spid="38"/>
                                        </p:tgtEl>
                                      </p:cBhvr>
                                    </p:animEffect>
                                  </p:childTnLst>
                                </p:cTn>
                              </p:par>
                              <p:par>
                                <p:cTn id="149" presetID="2" presetClass="entr" presetSubtype="4" fill="hold" grpId="0" nodeType="withEffect">
                                  <p:stCondLst>
                                    <p:cond delay="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500" fill="hold"/>
                                        <p:tgtEl>
                                          <p:spTgt spid="39"/>
                                        </p:tgtEl>
                                        <p:attrNameLst>
                                          <p:attrName>ppt_x</p:attrName>
                                        </p:attrNameLst>
                                      </p:cBhvr>
                                      <p:tavLst>
                                        <p:tav tm="0">
                                          <p:val>
                                            <p:strVal val="#ppt_x"/>
                                          </p:val>
                                        </p:tav>
                                        <p:tav tm="100000">
                                          <p:val>
                                            <p:strVal val="#ppt_x"/>
                                          </p:val>
                                        </p:tav>
                                      </p:tavLst>
                                    </p:anim>
                                    <p:anim calcmode="lin" valueType="num">
                                      <p:cBhvr additive="base">
                                        <p:cTn id="152" dur="500" fill="hold"/>
                                        <p:tgtEl>
                                          <p:spTgt spid="39"/>
                                        </p:tgtEl>
                                        <p:attrNameLst>
                                          <p:attrName>ppt_y</p:attrName>
                                        </p:attrNameLst>
                                      </p:cBhvr>
                                      <p:tavLst>
                                        <p:tav tm="0">
                                          <p:val>
                                            <p:strVal val="#ppt_y+0.1"/>
                                          </p:val>
                                        </p:tav>
                                        <p:tav tm="100000">
                                          <p:val>
                                            <p:strVal val="#ppt_y"/>
                                          </p:val>
                                        </p:tav>
                                      </p:tavLst>
                                    </p:anim>
                                    <p:animEffect transition="in" filter="fade">
                                      <p:cBhvr>
                                        <p:cTn id="153" dur="500"/>
                                        <p:tgtEl>
                                          <p:spTgt spid="39"/>
                                        </p:tgtEl>
                                      </p:cBhvr>
                                    </p:animEffect>
                                  </p:childTnLst>
                                </p:cTn>
                              </p:par>
                              <p:par>
                                <p:cTn id="154" presetID="2" presetClass="entr" presetSubtype="4" fill="hold" grpId="0" nodeType="withEffect">
                                  <p:stCondLst>
                                    <p:cond delay="0"/>
                                  </p:stCondLst>
                                  <p:childTnLst>
                                    <p:set>
                                      <p:cBhvr>
                                        <p:cTn id="155" dur="1" fill="hold">
                                          <p:stCondLst>
                                            <p:cond delay="0"/>
                                          </p:stCondLst>
                                        </p:cTn>
                                        <p:tgtEl>
                                          <p:spTgt spid="40"/>
                                        </p:tgtEl>
                                        <p:attrNameLst>
                                          <p:attrName>style.visibility</p:attrName>
                                        </p:attrNameLst>
                                      </p:cBhvr>
                                      <p:to>
                                        <p:strVal val="visible"/>
                                      </p:to>
                                    </p:set>
                                    <p:anim calcmode="lin" valueType="num">
                                      <p:cBhvr additive="base">
                                        <p:cTn id="156" dur="500" fill="hold"/>
                                        <p:tgtEl>
                                          <p:spTgt spid="40"/>
                                        </p:tgtEl>
                                        <p:attrNameLst>
                                          <p:attrName>ppt_x</p:attrName>
                                        </p:attrNameLst>
                                      </p:cBhvr>
                                      <p:tavLst>
                                        <p:tav tm="0">
                                          <p:val>
                                            <p:strVal val="#ppt_x"/>
                                          </p:val>
                                        </p:tav>
                                        <p:tav tm="100000">
                                          <p:val>
                                            <p:strVal val="#ppt_x"/>
                                          </p:val>
                                        </p:tav>
                                      </p:tavLst>
                                    </p:anim>
                                    <p:anim calcmode="lin" valueType="num">
                                      <p:cBhvr additive="base">
                                        <p:cTn id="157" dur="500" fill="hold"/>
                                        <p:tgtEl>
                                          <p:spTgt spid="40"/>
                                        </p:tgtEl>
                                        <p:attrNameLst>
                                          <p:attrName>ppt_y</p:attrName>
                                        </p:attrNameLst>
                                      </p:cBhvr>
                                      <p:tavLst>
                                        <p:tav tm="0">
                                          <p:val>
                                            <p:strVal val="#ppt_y+0.1"/>
                                          </p:val>
                                        </p:tav>
                                        <p:tav tm="100000">
                                          <p:val>
                                            <p:strVal val="#ppt_y"/>
                                          </p:val>
                                        </p:tav>
                                      </p:tavLst>
                                    </p:anim>
                                    <p:animEffect transition="in" filter="fade">
                                      <p:cBhvr>
                                        <p:cTn id="158" dur="500"/>
                                        <p:tgtEl>
                                          <p:spTgt spid="40"/>
                                        </p:tgtEl>
                                      </p:cBhvr>
                                    </p:animEffect>
                                  </p:childTnLst>
                                </p:cTn>
                              </p:par>
                              <p:par>
                                <p:cTn id="159" presetID="2" presetClass="entr" presetSubtype="4" fill="hold" grpId="0" nodeType="withEffect">
                                  <p:stCondLst>
                                    <p:cond delay="0"/>
                                  </p:stCondLst>
                                  <p:childTnLst>
                                    <p:set>
                                      <p:cBhvr>
                                        <p:cTn id="160" dur="1" fill="hold">
                                          <p:stCondLst>
                                            <p:cond delay="0"/>
                                          </p:stCondLst>
                                        </p:cTn>
                                        <p:tgtEl>
                                          <p:spTgt spid="41"/>
                                        </p:tgtEl>
                                        <p:attrNameLst>
                                          <p:attrName>style.visibility</p:attrName>
                                        </p:attrNameLst>
                                      </p:cBhvr>
                                      <p:to>
                                        <p:strVal val="visible"/>
                                      </p:to>
                                    </p:set>
                                    <p:anim calcmode="lin" valueType="num">
                                      <p:cBhvr additive="base">
                                        <p:cTn id="161" dur="500" fill="hold"/>
                                        <p:tgtEl>
                                          <p:spTgt spid="41"/>
                                        </p:tgtEl>
                                        <p:attrNameLst>
                                          <p:attrName>ppt_x</p:attrName>
                                        </p:attrNameLst>
                                      </p:cBhvr>
                                      <p:tavLst>
                                        <p:tav tm="0">
                                          <p:val>
                                            <p:strVal val="#ppt_x"/>
                                          </p:val>
                                        </p:tav>
                                        <p:tav tm="100000">
                                          <p:val>
                                            <p:strVal val="#ppt_x"/>
                                          </p:val>
                                        </p:tav>
                                      </p:tavLst>
                                    </p:anim>
                                    <p:anim calcmode="lin" valueType="num">
                                      <p:cBhvr additive="base">
                                        <p:cTn id="162" dur="500" fill="hold"/>
                                        <p:tgtEl>
                                          <p:spTgt spid="41"/>
                                        </p:tgtEl>
                                        <p:attrNameLst>
                                          <p:attrName>ppt_y</p:attrName>
                                        </p:attrNameLst>
                                      </p:cBhvr>
                                      <p:tavLst>
                                        <p:tav tm="0">
                                          <p:val>
                                            <p:strVal val="#ppt_y+0.1"/>
                                          </p:val>
                                        </p:tav>
                                        <p:tav tm="100000">
                                          <p:val>
                                            <p:strVal val="#ppt_y"/>
                                          </p:val>
                                        </p:tav>
                                      </p:tavLst>
                                    </p:anim>
                                    <p:animEffect transition="in" filter="fade">
                                      <p:cBhvr>
                                        <p:cTn id="163" dur="500"/>
                                        <p:tgtEl>
                                          <p:spTgt spid="41"/>
                                        </p:tgtEl>
                                      </p:cBhvr>
                                    </p:animEffect>
                                  </p:childTnLst>
                                </p:cTn>
                              </p:par>
                              <p:par>
                                <p:cTn id="164" presetID="2" presetClass="entr" presetSubtype="4" fill="hold" grpId="0" nodeType="withEffect">
                                  <p:stCondLst>
                                    <p:cond delay="0"/>
                                  </p:stCondLst>
                                  <p:childTnLst>
                                    <p:set>
                                      <p:cBhvr>
                                        <p:cTn id="165" dur="1" fill="hold">
                                          <p:stCondLst>
                                            <p:cond delay="0"/>
                                          </p:stCondLst>
                                        </p:cTn>
                                        <p:tgtEl>
                                          <p:spTgt spid="42"/>
                                        </p:tgtEl>
                                        <p:attrNameLst>
                                          <p:attrName>style.visibility</p:attrName>
                                        </p:attrNameLst>
                                      </p:cBhvr>
                                      <p:to>
                                        <p:strVal val="visible"/>
                                      </p:to>
                                    </p:set>
                                    <p:anim calcmode="lin" valueType="num">
                                      <p:cBhvr additive="base">
                                        <p:cTn id="166" dur="500" fill="hold"/>
                                        <p:tgtEl>
                                          <p:spTgt spid="42"/>
                                        </p:tgtEl>
                                        <p:attrNameLst>
                                          <p:attrName>ppt_x</p:attrName>
                                        </p:attrNameLst>
                                      </p:cBhvr>
                                      <p:tavLst>
                                        <p:tav tm="0">
                                          <p:val>
                                            <p:strVal val="#ppt_x"/>
                                          </p:val>
                                        </p:tav>
                                        <p:tav tm="100000">
                                          <p:val>
                                            <p:strVal val="#ppt_x"/>
                                          </p:val>
                                        </p:tav>
                                      </p:tavLst>
                                    </p:anim>
                                    <p:anim calcmode="lin" valueType="num">
                                      <p:cBhvr additive="base">
                                        <p:cTn id="167" dur="500" fill="hold"/>
                                        <p:tgtEl>
                                          <p:spTgt spid="42"/>
                                        </p:tgtEl>
                                        <p:attrNameLst>
                                          <p:attrName>ppt_y</p:attrName>
                                        </p:attrNameLst>
                                      </p:cBhvr>
                                      <p:tavLst>
                                        <p:tav tm="0">
                                          <p:val>
                                            <p:strVal val="#ppt_y+0.1"/>
                                          </p:val>
                                        </p:tav>
                                        <p:tav tm="100000">
                                          <p:val>
                                            <p:strVal val="#ppt_y"/>
                                          </p:val>
                                        </p:tav>
                                      </p:tavLst>
                                    </p:anim>
                                    <p:animEffect transition="in" filter="fade">
                                      <p:cBhvr>
                                        <p:cTn id="168" dur="500"/>
                                        <p:tgtEl>
                                          <p:spTgt spid="42"/>
                                        </p:tgtEl>
                                      </p:cBhvr>
                                    </p:animEffect>
                                  </p:childTnLst>
                                </p:cTn>
                              </p:par>
                              <p:par>
                                <p:cTn id="169" presetID="2" presetClass="entr" presetSubtype="4" fill="hold" grpId="0" nodeType="withEffect">
                                  <p:stCondLst>
                                    <p:cond delay="0"/>
                                  </p:stCondLst>
                                  <p:childTnLst>
                                    <p:set>
                                      <p:cBhvr>
                                        <p:cTn id="170" dur="1" fill="hold">
                                          <p:stCondLst>
                                            <p:cond delay="0"/>
                                          </p:stCondLst>
                                        </p:cTn>
                                        <p:tgtEl>
                                          <p:spTgt spid="43"/>
                                        </p:tgtEl>
                                        <p:attrNameLst>
                                          <p:attrName>style.visibility</p:attrName>
                                        </p:attrNameLst>
                                      </p:cBhvr>
                                      <p:to>
                                        <p:strVal val="visible"/>
                                      </p:to>
                                    </p:set>
                                    <p:anim calcmode="lin" valueType="num">
                                      <p:cBhvr additive="base">
                                        <p:cTn id="171" dur="500" fill="hold"/>
                                        <p:tgtEl>
                                          <p:spTgt spid="43"/>
                                        </p:tgtEl>
                                        <p:attrNameLst>
                                          <p:attrName>ppt_x</p:attrName>
                                        </p:attrNameLst>
                                      </p:cBhvr>
                                      <p:tavLst>
                                        <p:tav tm="0">
                                          <p:val>
                                            <p:strVal val="#ppt_x"/>
                                          </p:val>
                                        </p:tav>
                                        <p:tav tm="100000">
                                          <p:val>
                                            <p:strVal val="#ppt_x"/>
                                          </p:val>
                                        </p:tav>
                                      </p:tavLst>
                                    </p:anim>
                                    <p:anim calcmode="lin" valueType="num">
                                      <p:cBhvr additive="base">
                                        <p:cTn id="172" dur="500" fill="hold"/>
                                        <p:tgtEl>
                                          <p:spTgt spid="43"/>
                                        </p:tgtEl>
                                        <p:attrNameLst>
                                          <p:attrName>ppt_y</p:attrName>
                                        </p:attrNameLst>
                                      </p:cBhvr>
                                      <p:tavLst>
                                        <p:tav tm="0">
                                          <p:val>
                                            <p:strVal val="#ppt_y+0.1"/>
                                          </p:val>
                                        </p:tav>
                                        <p:tav tm="100000">
                                          <p:val>
                                            <p:strVal val="#ppt_y"/>
                                          </p:val>
                                        </p:tav>
                                      </p:tavLst>
                                    </p:anim>
                                    <p:animEffect transition="in" filter="fade">
                                      <p:cBhvr>
                                        <p:cTn id="173" dur="500"/>
                                        <p:tgtEl>
                                          <p:spTgt spid="43"/>
                                        </p:tgtEl>
                                      </p:cBhvr>
                                    </p:animEffect>
                                  </p:childTnLst>
                                </p:cTn>
                              </p:par>
                              <p:par>
                                <p:cTn id="174" presetID="2" presetClass="entr" presetSubtype="4" fill="hold" grpId="0" nodeType="with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6" dur="500" fill="hold"/>
                                        <p:tgtEl>
                                          <p:spTgt spid="44"/>
                                        </p:tgtEl>
                                        <p:attrNameLst>
                                          <p:attrName>ppt_x</p:attrName>
                                        </p:attrNameLst>
                                      </p:cBhvr>
                                      <p:tavLst>
                                        <p:tav tm="0">
                                          <p:val>
                                            <p:strVal val="#ppt_x"/>
                                          </p:val>
                                        </p:tav>
                                        <p:tav tm="100000">
                                          <p:val>
                                            <p:strVal val="#ppt_x"/>
                                          </p:val>
                                        </p:tav>
                                      </p:tavLst>
                                    </p:anim>
                                    <p:anim calcmode="lin" valueType="num">
                                      <p:cBhvr additive="base">
                                        <p:cTn id="177" dur="500" fill="hold"/>
                                        <p:tgtEl>
                                          <p:spTgt spid="44"/>
                                        </p:tgtEl>
                                        <p:attrNameLst>
                                          <p:attrName>ppt_y</p:attrName>
                                        </p:attrNameLst>
                                      </p:cBhvr>
                                      <p:tavLst>
                                        <p:tav tm="0">
                                          <p:val>
                                            <p:strVal val="#ppt_y+0.1"/>
                                          </p:val>
                                        </p:tav>
                                        <p:tav tm="100000">
                                          <p:val>
                                            <p:strVal val="#ppt_y"/>
                                          </p:val>
                                        </p:tav>
                                      </p:tavLst>
                                    </p:anim>
                                    <p:animEffect transition="in" filter="fade">
                                      <p:cBhvr>
                                        <p:cTn id="178" dur="500"/>
                                        <p:tgtEl>
                                          <p:spTgt spid="44"/>
                                        </p:tgtEl>
                                      </p:cBhvr>
                                    </p:animEffect>
                                  </p:childTnLst>
                                </p:cTn>
                              </p:par>
                              <p:par>
                                <p:cTn id="179" presetID="2" presetClass="entr" presetSubtype="4" fill="hold" grpId="0" nodeType="withEffect">
                                  <p:stCondLst>
                                    <p:cond delay="0"/>
                                  </p:stCondLst>
                                  <p:childTnLst>
                                    <p:set>
                                      <p:cBhvr>
                                        <p:cTn id="180" dur="1" fill="hold">
                                          <p:stCondLst>
                                            <p:cond delay="0"/>
                                          </p:stCondLst>
                                        </p:cTn>
                                        <p:tgtEl>
                                          <p:spTgt spid="45"/>
                                        </p:tgtEl>
                                        <p:attrNameLst>
                                          <p:attrName>style.visibility</p:attrName>
                                        </p:attrNameLst>
                                      </p:cBhvr>
                                      <p:to>
                                        <p:strVal val="visible"/>
                                      </p:to>
                                    </p:set>
                                    <p:anim calcmode="lin" valueType="num">
                                      <p:cBhvr additive="base">
                                        <p:cTn id="181" dur="500" fill="hold"/>
                                        <p:tgtEl>
                                          <p:spTgt spid="45"/>
                                        </p:tgtEl>
                                        <p:attrNameLst>
                                          <p:attrName>ppt_x</p:attrName>
                                        </p:attrNameLst>
                                      </p:cBhvr>
                                      <p:tavLst>
                                        <p:tav tm="0">
                                          <p:val>
                                            <p:strVal val="#ppt_x"/>
                                          </p:val>
                                        </p:tav>
                                        <p:tav tm="100000">
                                          <p:val>
                                            <p:strVal val="#ppt_x"/>
                                          </p:val>
                                        </p:tav>
                                      </p:tavLst>
                                    </p:anim>
                                    <p:anim calcmode="lin" valueType="num">
                                      <p:cBhvr additive="base">
                                        <p:cTn id="182" dur="500" fill="hold"/>
                                        <p:tgtEl>
                                          <p:spTgt spid="45"/>
                                        </p:tgtEl>
                                        <p:attrNameLst>
                                          <p:attrName>ppt_y</p:attrName>
                                        </p:attrNameLst>
                                      </p:cBhvr>
                                      <p:tavLst>
                                        <p:tav tm="0">
                                          <p:val>
                                            <p:strVal val="#ppt_y+0.1"/>
                                          </p:val>
                                        </p:tav>
                                        <p:tav tm="100000">
                                          <p:val>
                                            <p:strVal val="#ppt_y"/>
                                          </p:val>
                                        </p:tav>
                                      </p:tavLst>
                                    </p:anim>
                                    <p:animEffect transition="in" filter="fade">
                                      <p:cBhvr>
                                        <p:cTn id="183" dur="500"/>
                                        <p:tgtEl>
                                          <p:spTgt spid="45"/>
                                        </p:tgtEl>
                                      </p:cBhvr>
                                    </p:animEffect>
                                  </p:childTnLst>
                                </p:cTn>
                              </p:par>
                              <p:par>
                                <p:cTn id="184" presetID="2" presetClass="entr" presetSubtype="4" fill="hold" grpId="0" nodeType="withEffect">
                                  <p:stCondLst>
                                    <p:cond delay="0"/>
                                  </p:stCondLst>
                                  <p:childTnLst>
                                    <p:set>
                                      <p:cBhvr>
                                        <p:cTn id="185" dur="1" fill="hold">
                                          <p:stCondLst>
                                            <p:cond delay="0"/>
                                          </p:stCondLst>
                                        </p:cTn>
                                        <p:tgtEl>
                                          <p:spTgt spid="46"/>
                                        </p:tgtEl>
                                        <p:attrNameLst>
                                          <p:attrName>style.visibility</p:attrName>
                                        </p:attrNameLst>
                                      </p:cBhvr>
                                      <p:to>
                                        <p:strVal val="visible"/>
                                      </p:to>
                                    </p:set>
                                    <p:anim calcmode="lin" valueType="num">
                                      <p:cBhvr additive="base">
                                        <p:cTn id="186" dur="500" fill="hold"/>
                                        <p:tgtEl>
                                          <p:spTgt spid="46"/>
                                        </p:tgtEl>
                                        <p:attrNameLst>
                                          <p:attrName>ppt_x</p:attrName>
                                        </p:attrNameLst>
                                      </p:cBhvr>
                                      <p:tavLst>
                                        <p:tav tm="0">
                                          <p:val>
                                            <p:strVal val="#ppt_x"/>
                                          </p:val>
                                        </p:tav>
                                        <p:tav tm="100000">
                                          <p:val>
                                            <p:strVal val="#ppt_x"/>
                                          </p:val>
                                        </p:tav>
                                      </p:tavLst>
                                    </p:anim>
                                    <p:anim calcmode="lin" valueType="num">
                                      <p:cBhvr additive="base">
                                        <p:cTn id="187" dur="500" fill="hold"/>
                                        <p:tgtEl>
                                          <p:spTgt spid="46"/>
                                        </p:tgtEl>
                                        <p:attrNameLst>
                                          <p:attrName>ppt_y</p:attrName>
                                        </p:attrNameLst>
                                      </p:cBhvr>
                                      <p:tavLst>
                                        <p:tav tm="0">
                                          <p:val>
                                            <p:strVal val="#ppt_y+0.1"/>
                                          </p:val>
                                        </p:tav>
                                        <p:tav tm="100000">
                                          <p:val>
                                            <p:strVal val="#ppt_y"/>
                                          </p:val>
                                        </p:tav>
                                      </p:tavLst>
                                    </p:anim>
                                    <p:animEffect transition="in" filter="fade">
                                      <p:cBhvr>
                                        <p:cTn id="188" dur="500"/>
                                        <p:tgtEl>
                                          <p:spTgt spid="46"/>
                                        </p:tgtEl>
                                      </p:cBhvr>
                                    </p:animEffect>
                                  </p:childTnLst>
                                </p:cTn>
                              </p:par>
                              <p:par>
                                <p:cTn id="189" presetID="2" presetClass="entr" presetSubtype="4" fill="hold" grpId="0" nodeType="withEffect">
                                  <p:stCondLst>
                                    <p:cond delay="0"/>
                                  </p:stCondLst>
                                  <p:childTnLst>
                                    <p:set>
                                      <p:cBhvr>
                                        <p:cTn id="190" dur="1" fill="hold">
                                          <p:stCondLst>
                                            <p:cond delay="0"/>
                                          </p:stCondLst>
                                        </p:cTn>
                                        <p:tgtEl>
                                          <p:spTgt spid="47"/>
                                        </p:tgtEl>
                                        <p:attrNameLst>
                                          <p:attrName>style.visibility</p:attrName>
                                        </p:attrNameLst>
                                      </p:cBhvr>
                                      <p:to>
                                        <p:strVal val="visible"/>
                                      </p:to>
                                    </p:set>
                                    <p:anim calcmode="lin" valueType="num">
                                      <p:cBhvr additive="base">
                                        <p:cTn id="191" dur="500" fill="hold"/>
                                        <p:tgtEl>
                                          <p:spTgt spid="47"/>
                                        </p:tgtEl>
                                        <p:attrNameLst>
                                          <p:attrName>ppt_x</p:attrName>
                                        </p:attrNameLst>
                                      </p:cBhvr>
                                      <p:tavLst>
                                        <p:tav tm="0">
                                          <p:val>
                                            <p:strVal val="#ppt_x"/>
                                          </p:val>
                                        </p:tav>
                                        <p:tav tm="100000">
                                          <p:val>
                                            <p:strVal val="#ppt_x"/>
                                          </p:val>
                                        </p:tav>
                                      </p:tavLst>
                                    </p:anim>
                                    <p:anim calcmode="lin" valueType="num">
                                      <p:cBhvr additive="base">
                                        <p:cTn id="192" dur="500" fill="hold"/>
                                        <p:tgtEl>
                                          <p:spTgt spid="47"/>
                                        </p:tgtEl>
                                        <p:attrNameLst>
                                          <p:attrName>ppt_y</p:attrName>
                                        </p:attrNameLst>
                                      </p:cBhvr>
                                      <p:tavLst>
                                        <p:tav tm="0">
                                          <p:val>
                                            <p:strVal val="#ppt_y+0.1"/>
                                          </p:val>
                                        </p:tav>
                                        <p:tav tm="100000">
                                          <p:val>
                                            <p:strVal val="#ppt_y"/>
                                          </p:val>
                                        </p:tav>
                                      </p:tavLst>
                                    </p:anim>
                                    <p:animEffect transition="in" filter="fade">
                                      <p:cBhvr>
                                        <p:cTn id="193" dur="500"/>
                                        <p:tgtEl>
                                          <p:spTgt spid="47"/>
                                        </p:tgtEl>
                                      </p:cBhvr>
                                    </p:animEffect>
                                  </p:childTnLst>
                                </p:cTn>
                              </p:par>
                              <p:par>
                                <p:cTn id="194" presetID="2" presetClass="entr" presetSubtype="4" fill="hold" grpId="0" nodeType="withEffect">
                                  <p:stCondLst>
                                    <p:cond delay="0"/>
                                  </p:stCondLst>
                                  <p:childTnLst>
                                    <p:set>
                                      <p:cBhvr>
                                        <p:cTn id="195" dur="1" fill="hold">
                                          <p:stCondLst>
                                            <p:cond delay="0"/>
                                          </p:stCondLst>
                                        </p:cTn>
                                        <p:tgtEl>
                                          <p:spTgt spid="48"/>
                                        </p:tgtEl>
                                        <p:attrNameLst>
                                          <p:attrName>style.visibility</p:attrName>
                                        </p:attrNameLst>
                                      </p:cBhvr>
                                      <p:to>
                                        <p:strVal val="visible"/>
                                      </p:to>
                                    </p:set>
                                    <p:anim calcmode="lin" valueType="num">
                                      <p:cBhvr additive="base">
                                        <p:cTn id="196" dur="500" fill="hold"/>
                                        <p:tgtEl>
                                          <p:spTgt spid="48"/>
                                        </p:tgtEl>
                                        <p:attrNameLst>
                                          <p:attrName>ppt_x</p:attrName>
                                        </p:attrNameLst>
                                      </p:cBhvr>
                                      <p:tavLst>
                                        <p:tav tm="0">
                                          <p:val>
                                            <p:strVal val="#ppt_x"/>
                                          </p:val>
                                        </p:tav>
                                        <p:tav tm="100000">
                                          <p:val>
                                            <p:strVal val="#ppt_x"/>
                                          </p:val>
                                        </p:tav>
                                      </p:tavLst>
                                    </p:anim>
                                    <p:anim calcmode="lin" valueType="num">
                                      <p:cBhvr additive="base">
                                        <p:cTn id="197" dur="500" fill="hold"/>
                                        <p:tgtEl>
                                          <p:spTgt spid="48"/>
                                        </p:tgtEl>
                                        <p:attrNameLst>
                                          <p:attrName>ppt_y</p:attrName>
                                        </p:attrNameLst>
                                      </p:cBhvr>
                                      <p:tavLst>
                                        <p:tav tm="0">
                                          <p:val>
                                            <p:strVal val="#ppt_y+0.1"/>
                                          </p:val>
                                        </p:tav>
                                        <p:tav tm="100000">
                                          <p:val>
                                            <p:strVal val="#ppt_y"/>
                                          </p:val>
                                        </p:tav>
                                      </p:tavLst>
                                    </p:anim>
                                    <p:animEffect transition="in" filter="fade">
                                      <p:cBhvr>
                                        <p:cTn id="198" dur="500"/>
                                        <p:tgtEl>
                                          <p:spTgt spid="48"/>
                                        </p:tgtEl>
                                      </p:cBhvr>
                                    </p:animEffect>
                                  </p:childTnLst>
                                </p:cTn>
                              </p:par>
                            </p:childTnLst>
                          </p:cTn>
                        </p:par>
                      </p:childTnLst>
                    </p:cTn>
                  </p:par>
                  <p:par>
                    <p:cTn id="199" fill="hold">
                      <p:stCondLst>
                        <p:cond delay="indefinite"/>
                      </p:stCondLst>
                      <p:childTnLst>
                        <p:par>
                          <p:cTn id="200" fill="hold">
                            <p:stCondLst>
                              <p:cond delay="0"/>
                            </p:stCondLst>
                            <p:childTnLst>
                              <p:par>
                                <p:cTn id="201" presetID="2" presetClass="entr" presetSubtype="4" fill="hold" grpId="0" nodeType="clickEffect">
                                  <p:stCondLst>
                                    <p:cond delay="0"/>
                                  </p:stCondLst>
                                  <p:childTnLst>
                                    <p:set>
                                      <p:cBhvr>
                                        <p:cTn id="202" dur="1" fill="hold">
                                          <p:stCondLst>
                                            <p:cond delay="0"/>
                                          </p:stCondLst>
                                        </p:cTn>
                                        <p:tgtEl>
                                          <p:spTgt spid="49"/>
                                        </p:tgtEl>
                                        <p:attrNameLst>
                                          <p:attrName>style.visibility</p:attrName>
                                        </p:attrNameLst>
                                      </p:cBhvr>
                                      <p:to>
                                        <p:strVal val="visible"/>
                                      </p:to>
                                    </p:set>
                                    <p:anim calcmode="lin" valueType="num">
                                      <p:cBhvr additive="base">
                                        <p:cTn id="203" dur="500" fill="hold"/>
                                        <p:tgtEl>
                                          <p:spTgt spid="49"/>
                                        </p:tgtEl>
                                        <p:attrNameLst>
                                          <p:attrName>ppt_x</p:attrName>
                                        </p:attrNameLst>
                                      </p:cBhvr>
                                      <p:tavLst>
                                        <p:tav tm="0">
                                          <p:val>
                                            <p:strVal val="#ppt_x"/>
                                          </p:val>
                                        </p:tav>
                                        <p:tav tm="100000">
                                          <p:val>
                                            <p:strVal val="#ppt_x"/>
                                          </p:val>
                                        </p:tav>
                                      </p:tavLst>
                                    </p:anim>
                                    <p:anim calcmode="lin" valueType="num">
                                      <p:cBhvr additive="base">
                                        <p:cTn id="204" dur="500" fill="hold"/>
                                        <p:tgtEl>
                                          <p:spTgt spid="49"/>
                                        </p:tgtEl>
                                        <p:attrNameLst>
                                          <p:attrName>ppt_y</p:attrName>
                                        </p:attrNameLst>
                                      </p:cBhvr>
                                      <p:tavLst>
                                        <p:tav tm="0">
                                          <p:val>
                                            <p:strVal val="#ppt_y+0.1"/>
                                          </p:val>
                                        </p:tav>
                                        <p:tav tm="100000">
                                          <p:val>
                                            <p:strVal val="#ppt_y"/>
                                          </p:val>
                                        </p:tav>
                                      </p:tavLst>
                                    </p:anim>
                                    <p:animEffect transition="in" filter="fade">
                                      <p:cBhvr>
                                        <p:cTn id="205" dur="500"/>
                                        <p:tgtEl>
                                          <p:spTgt spid="49"/>
                                        </p:tgtEl>
                                      </p:cBhvr>
                                    </p:animEffect>
                                  </p:childTnLst>
                                </p:cTn>
                              </p:par>
                              <p:par>
                                <p:cTn id="206" presetID="2" presetClass="entr" presetSubtype="4" fill="hold" grpId="0" nodeType="withEffect">
                                  <p:stCondLst>
                                    <p:cond delay="0"/>
                                  </p:stCondLst>
                                  <p:childTnLst>
                                    <p:set>
                                      <p:cBhvr>
                                        <p:cTn id="207" dur="1" fill="hold">
                                          <p:stCondLst>
                                            <p:cond delay="0"/>
                                          </p:stCondLst>
                                        </p:cTn>
                                        <p:tgtEl>
                                          <p:spTgt spid="50"/>
                                        </p:tgtEl>
                                        <p:attrNameLst>
                                          <p:attrName>style.visibility</p:attrName>
                                        </p:attrNameLst>
                                      </p:cBhvr>
                                      <p:to>
                                        <p:strVal val="visible"/>
                                      </p:to>
                                    </p:set>
                                    <p:anim calcmode="lin" valueType="num">
                                      <p:cBhvr additive="base">
                                        <p:cTn id="208" dur="500" fill="hold"/>
                                        <p:tgtEl>
                                          <p:spTgt spid="50"/>
                                        </p:tgtEl>
                                        <p:attrNameLst>
                                          <p:attrName>ppt_x</p:attrName>
                                        </p:attrNameLst>
                                      </p:cBhvr>
                                      <p:tavLst>
                                        <p:tav tm="0">
                                          <p:val>
                                            <p:strVal val="#ppt_x"/>
                                          </p:val>
                                        </p:tav>
                                        <p:tav tm="100000">
                                          <p:val>
                                            <p:strVal val="#ppt_x"/>
                                          </p:val>
                                        </p:tav>
                                      </p:tavLst>
                                    </p:anim>
                                    <p:anim calcmode="lin" valueType="num">
                                      <p:cBhvr additive="base">
                                        <p:cTn id="209" dur="500" fill="hold"/>
                                        <p:tgtEl>
                                          <p:spTgt spid="50"/>
                                        </p:tgtEl>
                                        <p:attrNameLst>
                                          <p:attrName>ppt_y</p:attrName>
                                        </p:attrNameLst>
                                      </p:cBhvr>
                                      <p:tavLst>
                                        <p:tav tm="0">
                                          <p:val>
                                            <p:strVal val="#ppt_y+0.1"/>
                                          </p:val>
                                        </p:tav>
                                        <p:tav tm="100000">
                                          <p:val>
                                            <p:strVal val="#ppt_y"/>
                                          </p:val>
                                        </p:tav>
                                      </p:tavLst>
                                    </p:anim>
                                    <p:animEffect transition="in" filter="fade">
                                      <p:cBhvr>
                                        <p:cTn id="210" dur="500"/>
                                        <p:tgtEl>
                                          <p:spTgt spid="50"/>
                                        </p:tgtEl>
                                      </p:cBhvr>
                                    </p:animEffect>
                                  </p:childTnLst>
                                </p:cTn>
                              </p:par>
                              <p:par>
                                <p:cTn id="211" presetID="2" presetClass="entr" presetSubtype="4" fill="hold" grpId="0" nodeType="withEffect">
                                  <p:stCondLst>
                                    <p:cond delay="0"/>
                                  </p:stCondLst>
                                  <p:childTnLst>
                                    <p:set>
                                      <p:cBhvr>
                                        <p:cTn id="212" dur="1" fill="hold">
                                          <p:stCondLst>
                                            <p:cond delay="0"/>
                                          </p:stCondLst>
                                        </p:cTn>
                                        <p:tgtEl>
                                          <p:spTgt spid="51"/>
                                        </p:tgtEl>
                                        <p:attrNameLst>
                                          <p:attrName>style.visibility</p:attrName>
                                        </p:attrNameLst>
                                      </p:cBhvr>
                                      <p:to>
                                        <p:strVal val="visible"/>
                                      </p:to>
                                    </p:set>
                                    <p:anim calcmode="lin" valueType="num">
                                      <p:cBhvr additive="base">
                                        <p:cTn id="213" dur="500" fill="hold"/>
                                        <p:tgtEl>
                                          <p:spTgt spid="51"/>
                                        </p:tgtEl>
                                        <p:attrNameLst>
                                          <p:attrName>ppt_x</p:attrName>
                                        </p:attrNameLst>
                                      </p:cBhvr>
                                      <p:tavLst>
                                        <p:tav tm="0">
                                          <p:val>
                                            <p:strVal val="#ppt_x"/>
                                          </p:val>
                                        </p:tav>
                                        <p:tav tm="100000">
                                          <p:val>
                                            <p:strVal val="#ppt_x"/>
                                          </p:val>
                                        </p:tav>
                                      </p:tavLst>
                                    </p:anim>
                                    <p:anim calcmode="lin" valueType="num">
                                      <p:cBhvr additive="base">
                                        <p:cTn id="214" dur="500" fill="hold"/>
                                        <p:tgtEl>
                                          <p:spTgt spid="51"/>
                                        </p:tgtEl>
                                        <p:attrNameLst>
                                          <p:attrName>ppt_y</p:attrName>
                                        </p:attrNameLst>
                                      </p:cBhvr>
                                      <p:tavLst>
                                        <p:tav tm="0">
                                          <p:val>
                                            <p:strVal val="#ppt_y+0.1"/>
                                          </p:val>
                                        </p:tav>
                                        <p:tav tm="100000">
                                          <p:val>
                                            <p:strVal val="#ppt_y"/>
                                          </p:val>
                                        </p:tav>
                                      </p:tavLst>
                                    </p:anim>
                                    <p:animEffect transition="in" filter="fade">
                                      <p:cBhvr>
                                        <p:cTn id="215" dur="500"/>
                                        <p:tgtEl>
                                          <p:spTgt spid="51"/>
                                        </p:tgtEl>
                                      </p:cBhvr>
                                    </p:animEffect>
                                  </p:childTnLst>
                                </p:cTn>
                              </p:par>
                              <p:par>
                                <p:cTn id="216" presetID="2" presetClass="entr" presetSubtype="4" fill="hold" grpId="0" nodeType="withEffect">
                                  <p:stCondLst>
                                    <p:cond delay="0"/>
                                  </p:stCondLst>
                                  <p:childTnLst>
                                    <p:set>
                                      <p:cBhvr>
                                        <p:cTn id="217" dur="1" fill="hold">
                                          <p:stCondLst>
                                            <p:cond delay="0"/>
                                          </p:stCondLst>
                                        </p:cTn>
                                        <p:tgtEl>
                                          <p:spTgt spid="53"/>
                                        </p:tgtEl>
                                        <p:attrNameLst>
                                          <p:attrName>style.visibility</p:attrName>
                                        </p:attrNameLst>
                                      </p:cBhvr>
                                      <p:to>
                                        <p:strVal val="visible"/>
                                      </p:to>
                                    </p:set>
                                    <p:anim calcmode="lin" valueType="num">
                                      <p:cBhvr additive="base">
                                        <p:cTn id="218" dur="500" fill="hold"/>
                                        <p:tgtEl>
                                          <p:spTgt spid="53"/>
                                        </p:tgtEl>
                                        <p:attrNameLst>
                                          <p:attrName>ppt_x</p:attrName>
                                        </p:attrNameLst>
                                      </p:cBhvr>
                                      <p:tavLst>
                                        <p:tav tm="0">
                                          <p:val>
                                            <p:strVal val="#ppt_x"/>
                                          </p:val>
                                        </p:tav>
                                        <p:tav tm="100000">
                                          <p:val>
                                            <p:strVal val="#ppt_x"/>
                                          </p:val>
                                        </p:tav>
                                      </p:tavLst>
                                    </p:anim>
                                    <p:anim calcmode="lin" valueType="num">
                                      <p:cBhvr additive="base">
                                        <p:cTn id="219" dur="500" fill="hold"/>
                                        <p:tgtEl>
                                          <p:spTgt spid="53"/>
                                        </p:tgtEl>
                                        <p:attrNameLst>
                                          <p:attrName>ppt_y</p:attrName>
                                        </p:attrNameLst>
                                      </p:cBhvr>
                                      <p:tavLst>
                                        <p:tav tm="0">
                                          <p:val>
                                            <p:strVal val="#ppt_y+0.1"/>
                                          </p:val>
                                        </p:tav>
                                        <p:tav tm="100000">
                                          <p:val>
                                            <p:strVal val="#ppt_y"/>
                                          </p:val>
                                        </p:tav>
                                      </p:tavLst>
                                    </p:anim>
                                    <p:animEffect transition="in" filter="fade">
                                      <p:cBhvr>
                                        <p:cTn id="220" dur="500"/>
                                        <p:tgtEl>
                                          <p:spTgt spid="53"/>
                                        </p:tgtEl>
                                      </p:cBhvr>
                                    </p:animEffect>
                                  </p:childTnLst>
                                </p:cTn>
                              </p:par>
                              <p:par>
                                <p:cTn id="221" presetID="2" presetClass="entr" presetSubtype="4" fill="hold" grpId="0" nodeType="withEffect">
                                  <p:stCondLst>
                                    <p:cond delay="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00" fill="hold"/>
                                        <p:tgtEl>
                                          <p:spTgt spid="54"/>
                                        </p:tgtEl>
                                        <p:attrNameLst>
                                          <p:attrName>ppt_x</p:attrName>
                                        </p:attrNameLst>
                                      </p:cBhvr>
                                      <p:tavLst>
                                        <p:tav tm="0">
                                          <p:val>
                                            <p:strVal val="#ppt_x"/>
                                          </p:val>
                                        </p:tav>
                                        <p:tav tm="100000">
                                          <p:val>
                                            <p:strVal val="#ppt_x"/>
                                          </p:val>
                                        </p:tav>
                                      </p:tavLst>
                                    </p:anim>
                                    <p:anim calcmode="lin" valueType="num">
                                      <p:cBhvr additive="base">
                                        <p:cTn id="224" dur="500" fill="hold"/>
                                        <p:tgtEl>
                                          <p:spTgt spid="54"/>
                                        </p:tgtEl>
                                        <p:attrNameLst>
                                          <p:attrName>ppt_y</p:attrName>
                                        </p:attrNameLst>
                                      </p:cBhvr>
                                      <p:tavLst>
                                        <p:tav tm="0">
                                          <p:val>
                                            <p:strVal val="#ppt_y+0.1"/>
                                          </p:val>
                                        </p:tav>
                                        <p:tav tm="100000">
                                          <p:val>
                                            <p:strVal val="#ppt_y"/>
                                          </p:val>
                                        </p:tav>
                                      </p:tavLst>
                                    </p:anim>
                                    <p:animEffect transition="in" filter="fade">
                                      <p:cBhvr>
                                        <p:cTn id="225" dur="500"/>
                                        <p:tgtEl>
                                          <p:spTgt spid="54"/>
                                        </p:tgtEl>
                                      </p:cBhvr>
                                    </p:animEffect>
                                  </p:childTnLst>
                                </p:cTn>
                              </p:par>
                              <p:par>
                                <p:cTn id="226" presetID="2" presetClass="entr" presetSubtype="4" fill="hold" grpId="0" nodeType="withEffect">
                                  <p:stCondLst>
                                    <p:cond delay="0"/>
                                  </p:stCondLst>
                                  <p:childTnLst>
                                    <p:set>
                                      <p:cBhvr>
                                        <p:cTn id="227" dur="1" fill="hold">
                                          <p:stCondLst>
                                            <p:cond delay="0"/>
                                          </p:stCondLst>
                                        </p:cTn>
                                        <p:tgtEl>
                                          <p:spTgt spid="55"/>
                                        </p:tgtEl>
                                        <p:attrNameLst>
                                          <p:attrName>style.visibility</p:attrName>
                                        </p:attrNameLst>
                                      </p:cBhvr>
                                      <p:to>
                                        <p:strVal val="visible"/>
                                      </p:to>
                                    </p:set>
                                    <p:anim calcmode="lin" valueType="num">
                                      <p:cBhvr additive="base">
                                        <p:cTn id="228" dur="500" fill="hold"/>
                                        <p:tgtEl>
                                          <p:spTgt spid="55"/>
                                        </p:tgtEl>
                                        <p:attrNameLst>
                                          <p:attrName>ppt_x</p:attrName>
                                        </p:attrNameLst>
                                      </p:cBhvr>
                                      <p:tavLst>
                                        <p:tav tm="0">
                                          <p:val>
                                            <p:strVal val="#ppt_x"/>
                                          </p:val>
                                        </p:tav>
                                        <p:tav tm="100000">
                                          <p:val>
                                            <p:strVal val="#ppt_x"/>
                                          </p:val>
                                        </p:tav>
                                      </p:tavLst>
                                    </p:anim>
                                    <p:anim calcmode="lin" valueType="num">
                                      <p:cBhvr additive="base">
                                        <p:cTn id="229" dur="500" fill="hold"/>
                                        <p:tgtEl>
                                          <p:spTgt spid="55"/>
                                        </p:tgtEl>
                                        <p:attrNameLst>
                                          <p:attrName>ppt_y</p:attrName>
                                        </p:attrNameLst>
                                      </p:cBhvr>
                                      <p:tavLst>
                                        <p:tav tm="0">
                                          <p:val>
                                            <p:strVal val="#ppt_y+0.1"/>
                                          </p:val>
                                        </p:tav>
                                        <p:tav tm="100000">
                                          <p:val>
                                            <p:strVal val="#ppt_y"/>
                                          </p:val>
                                        </p:tav>
                                      </p:tavLst>
                                    </p:anim>
                                    <p:animEffect transition="in" filter="fade">
                                      <p:cBhvr>
                                        <p:cTn id="230" dur="500"/>
                                        <p:tgtEl>
                                          <p:spTgt spid="55"/>
                                        </p:tgtEl>
                                      </p:cBhvr>
                                    </p:animEffect>
                                  </p:childTnLst>
                                </p:cTn>
                              </p:par>
                              <p:par>
                                <p:cTn id="231" presetID="2" presetClass="entr" presetSubtype="4" fill="hold" grpId="0" nodeType="withEffect">
                                  <p:stCondLst>
                                    <p:cond delay="80"/>
                                  </p:stCondLst>
                                  <p:childTnLst>
                                    <p:set>
                                      <p:cBhvr>
                                        <p:cTn id="232" dur="1" fill="hold">
                                          <p:stCondLst>
                                            <p:cond delay="0"/>
                                          </p:stCondLst>
                                        </p:cTn>
                                        <p:tgtEl>
                                          <p:spTgt spid="52"/>
                                        </p:tgtEl>
                                        <p:attrNameLst>
                                          <p:attrName>style.visibility</p:attrName>
                                        </p:attrNameLst>
                                      </p:cBhvr>
                                      <p:to>
                                        <p:strVal val="visible"/>
                                      </p:to>
                                    </p:set>
                                    <p:anim calcmode="lin" valueType="num">
                                      <p:cBhvr additive="base">
                                        <p:cTn id="233" dur="500" fill="hold"/>
                                        <p:tgtEl>
                                          <p:spTgt spid="52"/>
                                        </p:tgtEl>
                                        <p:attrNameLst>
                                          <p:attrName>ppt_x</p:attrName>
                                        </p:attrNameLst>
                                      </p:cBhvr>
                                      <p:tavLst>
                                        <p:tav tm="0">
                                          <p:val>
                                            <p:strVal val="#ppt_x"/>
                                          </p:val>
                                        </p:tav>
                                        <p:tav tm="100000">
                                          <p:val>
                                            <p:strVal val="#ppt_x"/>
                                          </p:val>
                                        </p:tav>
                                      </p:tavLst>
                                    </p:anim>
                                    <p:anim calcmode="lin" valueType="num">
                                      <p:cBhvr additive="base">
                                        <p:cTn id="234" dur="500" fill="hold"/>
                                        <p:tgtEl>
                                          <p:spTgt spid="52"/>
                                        </p:tgtEl>
                                        <p:attrNameLst>
                                          <p:attrName>ppt_y</p:attrName>
                                        </p:attrNameLst>
                                      </p:cBhvr>
                                      <p:tavLst>
                                        <p:tav tm="0">
                                          <p:val>
                                            <p:strVal val="#ppt_y+0.1"/>
                                          </p:val>
                                        </p:tav>
                                        <p:tav tm="100000">
                                          <p:val>
                                            <p:strVal val="#ppt_y"/>
                                          </p:val>
                                        </p:tav>
                                      </p:tavLst>
                                    </p:anim>
                                    <p:animEffect transition="in" filter="fade">
                                      <p:cBhvr>
                                        <p:cTn id="235" dur="500"/>
                                        <p:tgtEl>
                                          <p:spTgt spid="52"/>
                                        </p:tgtEl>
                                      </p:cBhvr>
                                    </p:animEffect>
                                  </p:childTnLst>
                                </p:cTn>
                              </p:par>
                              <p:par>
                                <p:cTn id="236" presetID="2" presetClass="entr" presetSubtype="4" fill="hold" grpId="0" nodeType="withEffect">
                                  <p:stCondLst>
                                    <p:cond delay="160"/>
                                  </p:stCondLst>
                                  <p:childTnLst>
                                    <p:set>
                                      <p:cBhvr>
                                        <p:cTn id="237" dur="1" fill="hold">
                                          <p:stCondLst>
                                            <p:cond delay="0"/>
                                          </p:stCondLst>
                                        </p:cTn>
                                        <p:tgtEl>
                                          <p:spTgt spid="56"/>
                                        </p:tgtEl>
                                        <p:attrNameLst>
                                          <p:attrName>style.visibility</p:attrName>
                                        </p:attrNameLst>
                                      </p:cBhvr>
                                      <p:to>
                                        <p:strVal val="visible"/>
                                      </p:to>
                                    </p:set>
                                    <p:anim calcmode="lin" valueType="num">
                                      <p:cBhvr additive="base">
                                        <p:cTn id="238" dur="500" fill="hold"/>
                                        <p:tgtEl>
                                          <p:spTgt spid="56"/>
                                        </p:tgtEl>
                                        <p:attrNameLst>
                                          <p:attrName>ppt_x</p:attrName>
                                        </p:attrNameLst>
                                      </p:cBhvr>
                                      <p:tavLst>
                                        <p:tav tm="0">
                                          <p:val>
                                            <p:strVal val="#ppt_x"/>
                                          </p:val>
                                        </p:tav>
                                        <p:tav tm="100000">
                                          <p:val>
                                            <p:strVal val="#ppt_x"/>
                                          </p:val>
                                        </p:tav>
                                      </p:tavLst>
                                    </p:anim>
                                    <p:anim calcmode="lin" valueType="num">
                                      <p:cBhvr additive="base">
                                        <p:cTn id="239" dur="500" fill="hold"/>
                                        <p:tgtEl>
                                          <p:spTgt spid="56"/>
                                        </p:tgtEl>
                                        <p:attrNameLst>
                                          <p:attrName>ppt_y</p:attrName>
                                        </p:attrNameLst>
                                      </p:cBhvr>
                                      <p:tavLst>
                                        <p:tav tm="0">
                                          <p:val>
                                            <p:strVal val="#ppt_y+0.1"/>
                                          </p:val>
                                        </p:tav>
                                        <p:tav tm="100000">
                                          <p:val>
                                            <p:strVal val="#ppt_y"/>
                                          </p:val>
                                        </p:tav>
                                      </p:tavLst>
                                    </p:anim>
                                    <p:animEffect transition="in" filter="fade">
                                      <p:cBhvr>
                                        <p:cTn id="240" dur="500"/>
                                        <p:tgtEl>
                                          <p:spTgt spid="56"/>
                                        </p:tgtEl>
                                      </p:cBhvr>
                                    </p:animEffect>
                                  </p:childTnLst>
                                </p:cTn>
                              </p:par>
                            </p:childTnLst>
                          </p:cTn>
                        </p:par>
                      </p:childTnLst>
                    </p:cTn>
                  </p:par>
                  <p:par>
                    <p:cTn id="241" fill="hold">
                      <p:stCondLst>
                        <p:cond delay="indefinite"/>
                      </p:stCondLst>
                      <p:childTnLst>
                        <p:par>
                          <p:cTn id="242" fill="hold">
                            <p:stCondLst>
                              <p:cond delay="0"/>
                            </p:stCondLst>
                            <p:childTnLst>
                              <p:par>
                                <p:cTn id="243" presetID="2" presetClass="entr" presetSubtype="4" fill="hold" grpId="0" nodeType="clickEffect">
                                  <p:stCondLst>
                                    <p:cond delay="0"/>
                                  </p:stCondLst>
                                  <p:childTnLst>
                                    <p:set>
                                      <p:cBhvr>
                                        <p:cTn id="244" dur="1" fill="hold">
                                          <p:stCondLst>
                                            <p:cond delay="0"/>
                                          </p:stCondLst>
                                        </p:cTn>
                                        <p:tgtEl>
                                          <p:spTgt spid="57"/>
                                        </p:tgtEl>
                                        <p:attrNameLst>
                                          <p:attrName>style.visibility</p:attrName>
                                        </p:attrNameLst>
                                      </p:cBhvr>
                                      <p:to>
                                        <p:strVal val="visible"/>
                                      </p:to>
                                    </p:set>
                                    <p:anim calcmode="lin" valueType="num">
                                      <p:cBhvr additive="base">
                                        <p:cTn id="245" dur="500" fill="hold"/>
                                        <p:tgtEl>
                                          <p:spTgt spid="57"/>
                                        </p:tgtEl>
                                        <p:attrNameLst>
                                          <p:attrName>ppt_x</p:attrName>
                                        </p:attrNameLst>
                                      </p:cBhvr>
                                      <p:tavLst>
                                        <p:tav tm="0">
                                          <p:val>
                                            <p:strVal val="#ppt_x"/>
                                          </p:val>
                                        </p:tav>
                                        <p:tav tm="100000">
                                          <p:val>
                                            <p:strVal val="#ppt_x"/>
                                          </p:val>
                                        </p:tav>
                                      </p:tavLst>
                                    </p:anim>
                                    <p:anim calcmode="lin" valueType="num">
                                      <p:cBhvr additive="base">
                                        <p:cTn id="246" dur="500" fill="hold"/>
                                        <p:tgtEl>
                                          <p:spTgt spid="57"/>
                                        </p:tgtEl>
                                        <p:attrNameLst>
                                          <p:attrName>ppt_y</p:attrName>
                                        </p:attrNameLst>
                                      </p:cBhvr>
                                      <p:tavLst>
                                        <p:tav tm="0">
                                          <p:val>
                                            <p:strVal val="#ppt_y+0.1"/>
                                          </p:val>
                                        </p:tav>
                                        <p:tav tm="100000">
                                          <p:val>
                                            <p:strVal val="#ppt_y"/>
                                          </p:val>
                                        </p:tav>
                                      </p:tavLst>
                                    </p:anim>
                                    <p:animEffect transition="in" filter="fade">
                                      <p:cBhvr>
                                        <p:cTn id="247" dur="500"/>
                                        <p:tgtEl>
                                          <p:spTgt spid="57"/>
                                        </p:tgtEl>
                                      </p:cBhvr>
                                    </p:animEffect>
                                  </p:childTnLst>
                                </p:cTn>
                              </p:par>
                              <p:par>
                                <p:cTn id="248" presetID="2" presetClass="entr" presetSubtype="4" fill="hold" grpId="0" nodeType="withEffect">
                                  <p:stCondLst>
                                    <p:cond delay="0"/>
                                  </p:stCondLst>
                                  <p:childTnLst>
                                    <p:set>
                                      <p:cBhvr>
                                        <p:cTn id="249" dur="1" fill="hold">
                                          <p:stCondLst>
                                            <p:cond delay="0"/>
                                          </p:stCondLst>
                                        </p:cTn>
                                        <p:tgtEl>
                                          <p:spTgt spid="58"/>
                                        </p:tgtEl>
                                        <p:attrNameLst>
                                          <p:attrName>style.visibility</p:attrName>
                                        </p:attrNameLst>
                                      </p:cBhvr>
                                      <p:to>
                                        <p:strVal val="visible"/>
                                      </p:to>
                                    </p:set>
                                    <p:anim calcmode="lin" valueType="num">
                                      <p:cBhvr additive="base">
                                        <p:cTn id="250" dur="500" fill="hold"/>
                                        <p:tgtEl>
                                          <p:spTgt spid="58"/>
                                        </p:tgtEl>
                                        <p:attrNameLst>
                                          <p:attrName>ppt_x</p:attrName>
                                        </p:attrNameLst>
                                      </p:cBhvr>
                                      <p:tavLst>
                                        <p:tav tm="0">
                                          <p:val>
                                            <p:strVal val="#ppt_x"/>
                                          </p:val>
                                        </p:tav>
                                        <p:tav tm="100000">
                                          <p:val>
                                            <p:strVal val="#ppt_x"/>
                                          </p:val>
                                        </p:tav>
                                      </p:tavLst>
                                    </p:anim>
                                    <p:anim calcmode="lin" valueType="num">
                                      <p:cBhvr additive="base">
                                        <p:cTn id="251" dur="500" fill="hold"/>
                                        <p:tgtEl>
                                          <p:spTgt spid="58"/>
                                        </p:tgtEl>
                                        <p:attrNameLst>
                                          <p:attrName>ppt_y</p:attrName>
                                        </p:attrNameLst>
                                      </p:cBhvr>
                                      <p:tavLst>
                                        <p:tav tm="0">
                                          <p:val>
                                            <p:strVal val="#ppt_y+0.1"/>
                                          </p:val>
                                        </p:tav>
                                        <p:tav tm="100000">
                                          <p:val>
                                            <p:strVal val="#ppt_y"/>
                                          </p:val>
                                        </p:tav>
                                      </p:tavLst>
                                    </p:anim>
                                    <p:animEffect transition="in" filter="fade">
                                      <p:cBhvr>
                                        <p:cTn id="252" dur="500"/>
                                        <p:tgtEl>
                                          <p:spTgt spid="58"/>
                                        </p:tgtEl>
                                      </p:cBhvr>
                                    </p:animEffect>
                                  </p:childTnLst>
                                </p:cTn>
                              </p:par>
                              <p:par>
                                <p:cTn id="253" presetID="2" presetClass="entr" presetSubtype="4" fill="hold" grpId="0" nodeType="withEffect">
                                  <p:stCondLst>
                                    <p:cond delay="0"/>
                                  </p:stCondLst>
                                  <p:childTnLst>
                                    <p:set>
                                      <p:cBhvr>
                                        <p:cTn id="254" dur="1" fill="hold">
                                          <p:stCondLst>
                                            <p:cond delay="0"/>
                                          </p:stCondLst>
                                        </p:cTn>
                                        <p:tgtEl>
                                          <p:spTgt spid="59"/>
                                        </p:tgtEl>
                                        <p:attrNameLst>
                                          <p:attrName>style.visibility</p:attrName>
                                        </p:attrNameLst>
                                      </p:cBhvr>
                                      <p:to>
                                        <p:strVal val="visible"/>
                                      </p:to>
                                    </p:set>
                                    <p:anim calcmode="lin" valueType="num">
                                      <p:cBhvr additive="base">
                                        <p:cTn id="255" dur="500" fill="hold"/>
                                        <p:tgtEl>
                                          <p:spTgt spid="59"/>
                                        </p:tgtEl>
                                        <p:attrNameLst>
                                          <p:attrName>ppt_x</p:attrName>
                                        </p:attrNameLst>
                                      </p:cBhvr>
                                      <p:tavLst>
                                        <p:tav tm="0">
                                          <p:val>
                                            <p:strVal val="#ppt_x"/>
                                          </p:val>
                                        </p:tav>
                                        <p:tav tm="100000">
                                          <p:val>
                                            <p:strVal val="#ppt_x"/>
                                          </p:val>
                                        </p:tav>
                                      </p:tavLst>
                                    </p:anim>
                                    <p:anim calcmode="lin" valueType="num">
                                      <p:cBhvr additive="base">
                                        <p:cTn id="256" dur="500" fill="hold"/>
                                        <p:tgtEl>
                                          <p:spTgt spid="59"/>
                                        </p:tgtEl>
                                        <p:attrNameLst>
                                          <p:attrName>ppt_y</p:attrName>
                                        </p:attrNameLst>
                                      </p:cBhvr>
                                      <p:tavLst>
                                        <p:tav tm="0">
                                          <p:val>
                                            <p:strVal val="#ppt_y+0.1"/>
                                          </p:val>
                                        </p:tav>
                                        <p:tav tm="100000">
                                          <p:val>
                                            <p:strVal val="#ppt_y"/>
                                          </p:val>
                                        </p:tav>
                                      </p:tavLst>
                                    </p:anim>
                                    <p:animEffect transition="in" filter="fade">
                                      <p:cBhvr>
                                        <p:cTn id="25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Writes Go to the Leader - Reads Too, by Default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Clients talk to a partition's current leader - here P1, after the failover</a:t>
            </a:r>
          </a:p>
        </p:txBody>
      </p:sp>
      <p:sp>
        <p:nvSpPr>
          <p:cNvPr id="11" name="a0f_bk10"/>
          <p:cNvSpPr/>
          <p:nvPr/>
        </p:nvSpPr>
        <p:spPr>
          <a:xfrm>
            <a:off x="3108960" y="1325880"/>
            <a:ext cx="2560320" cy="566928"/>
          </a:xfrm>
          <a:prstGeom prst="roundRect">
            <a:avLst>
              <a:gd name="adj" fmla="val 12903"/>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0f_bkn11"/>
          <p:cNvSpPr txBox="1"/>
          <p:nvPr/>
        </p:nvSpPr>
        <p:spPr>
          <a:xfrm>
            <a:off x="3236976" y="1325880"/>
            <a:ext cx="914400" cy="566928"/>
          </a:xfrm>
          <a:prstGeom prst="rect">
            <a:avLst/>
          </a:prstGeom>
          <a:noFill/>
        </p:spPr>
        <p:txBody>
          <a:bodyPr wrap="square" lIns="0" tIns="0" rIns="0" bIns="0" anchor="ctr">
            <a:spAutoFit/>
          </a:bodyPr>
          <a:lstStyle/>
          <a:p>
            <a:pPr algn="l"/>
            <a:r>
              <a:rPr sz="1000" b="1">
                <a:solidFill>
                  <a:srgbClr val="1C1917"/>
                </a:solidFill>
                <a:latin typeface="Segoe UI"/>
              </a:rPr>
              <a:t>broker 1</a:t>
            </a:r>
          </a:p>
        </p:txBody>
      </p:sp>
      <p:sp>
        <p:nvSpPr>
          <p:cNvPr id="13" name="a0f_rp12"/>
          <p:cNvSpPr/>
          <p:nvPr/>
        </p:nvSpPr>
        <p:spPr>
          <a:xfrm>
            <a:off x="4151376" y="1435607"/>
            <a:ext cx="1389888" cy="347472"/>
          </a:xfrm>
          <a:prstGeom prst="roundRect">
            <a:avLst>
              <a:gd name="adj" fmla="val 13157"/>
            </a:avLst>
          </a:prstGeom>
          <a:solidFill>
            <a:srgbClr val="E0E7FF"/>
          </a:solidFill>
          <a:ln w="12700">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0f_rpn13"/>
          <p:cNvSpPr txBox="1"/>
          <p:nvPr/>
        </p:nvSpPr>
        <p:spPr>
          <a:xfrm>
            <a:off x="4242816" y="1435607"/>
            <a:ext cx="365760" cy="347472"/>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15" name="a0f_rpt14"/>
          <p:cNvSpPr txBox="1"/>
          <p:nvPr/>
        </p:nvSpPr>
        <p:spPr>
          <a:xfrm>
            <a:off x="4608576" y="1435607"/>
            <a:ext cx="841248" cy="347472"/>
          </a:xfrm>
          <a:prstGeom prst="rect">
            <a:avLst/>
          </a:prstGeom>
          <a:noFill/>
        </p:spPr>
        <p:txBody>
          <a:bodyPr wrap="square" lIns="0" tIns="0" rIns="0" bIns="0" anchor="ctr">
            <a:spAutoFit/>
          </a:bodyPr>
          <a:lstStyle/>
          <a:p>
            <a:pPr algn="r"/>
            <a:r>
              <a:rPr sz="800" b="0">
                <a:solidFill>
                  <a:srgbClr val="4F46E5"/>
                </a:solidFill>
                <a:latin typeface="Segoe UI"/>
              </a:rPr>
              <a:t>follower</a:t>
            </a:r>
          </a:p>
        </p:txBody>
      </p:sp>
      <p:sp>
        <p:nvSpPr>
          <p:cNvPr id="16" name="a0f_bk15"/>
          <p:cNvSpPr/>
          <p:nvPr/>
        </p:nvSpPr>
        <p:spPr>
          <a:xfrm>
            <a:off x="3108960" y="2029967"/>
            <a:ext cx="2560320" cy="566928"/>
          </a:xfrm>
          <a:prstGeom prst="roundRect">
            <a:avLst>
              <a:gd name="adj" fmla="val 12903"/>
            </a:avLst>
          </a:prstGeom>
          <a:solidFill>
            <a:srgbClr val="FFFFFF"/>
          </a:solidFill>
          <a:ln w="15875">
            <a:solidFill>
              <a:srgbClr val="E11D48"/>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0f_bkn16"/>
          <p:cNvSpPr txBox="1"/>
          <p:nvPr/>
        </p:nvSpPr>
        <p:spPr>
          <a:xfrm>
            <a:off x="3236976" y="2029967"/>
            <a:ext cx="914400" cy="566928"/>
          </a:xfrm>
          <a:prstGeom prst="rect">
            <a:avLst/>
          </a:prstGeom>
          <a:noFill/>
        </p:spPr>
        <p:txBody>
          <a:bodyPr wrap="square" lIns="0" tIns="0" rIns="0" bIns="0" anchor="ctr">
            <a:spAutoFit/>
          </a:bodyPr>
          <a:lstStyle/>
          <a:p>
            <a:pPr algn="l"/>
            <a:r>
              <a:rPr sz="1000" b="1">
                <a:solidFill>
                  <a:srgbClr val="A8A29E"/>
                </a:solidFill>
                <a:latin typeface="Segoe UI"/>
              </a:rPr>
              <a:t>broker 2</a:t>
            </a:r>
          </a:p>
        </p:txBody>
      </p:sp>
      <p:sp>
        <p:nvSpPr>
          <p:cNvPr id="18" name="a0f_rp17"/>
          <p:cNvSpPr/>
          <p:nvPr/>
        </p:nvSpPr>
        <p:spPr>
          <a:xfrm>
            <a:off x="4151376" y="2139696"/>
            <a:ext cx="1389888" cy="347472"/>
          </a:xfrm>
          <a:prstGeom prst="roundRect">
            <a:avLst>
              <a:gd name="adj" fmla="val 13157"/>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0f_rpn18"/>
          <p:cNvSpPr txBox="1"/>
          <p:nvPr/>
        </p:nvSpPr>
        <p:spPr>
          <a:xfrm>
            <a:off x="4242816" y="2139696"/>
            <a:ext cx="365760" cy="347472"/>
          </a:xfrm>
          <a:prstGeom prst="rect">
            <a:avLst/>
          </a:prstGeom>
          <a:noFill/>
        </p:spPr>
        <p:txBody>
          <a:bodyPr wrap="square" lIns="0" tIns="0" rIns="0" bIns="0" anchor="ctr">
            <a:spAutoFit/>
          </a:bodyPr>
          <a:lstStyle/>
          <a:p>
            <a:pPr algn="l"/>
            <a:r>
              <a:rPr sz="1000" b="1">
                <a:solidFill>
                  <a:srgbClr val="A8A29E"/>
                </a:solidFill>
                <a:latin typeface="Consolas"/>
              </a:rPr>
              <a:t>P1</a:t>
            </a:r>
          </a:p>
        </p:txBody>
      </p:sp>
      <p:sp>
        <p:nvSpPr>
          <p:cNvPr id="20" name="a0f_rpt19"/>
          <p:cNvSpPr txBox="1"/>
          <p:nvPr/>
        </p:nvSpPr>
        <p:spPr>
          <a:xfrm>
            <a:off x="4608576" y="2139696"/>
            <a:ext cx="841248" cy="347472"/>
          </a:xfrm>
          <a:prstGeom prst="rect">
            <a:avLst/>
          </a:prstGeom>
          <a:noFill/>
        </p:spPr>
        <p:txBody>
          <a:bodyPr wrap="square" lIns="0" tIns="0" rIns="0" bIns="0" anchor="ctr">
            <a:spAutoFit/>
          </a:bodyPr>
          <a:lstStyle/>
          <a:p>
            <a:pPr algn="r"/>
            <a:r>
              <a:rPr sz="800" b="0">
                <a:solidFill>
                  <a:srgbClr val="A8A29E"/>
                </a:solidFill>
                <a:latin typeface="Segoe UI"/>
              </a:rPr>
              <a:t>offline</a:t>
            </a:r>
          </a:p>
        </p:txBody>
      </p:sp>
      <p:sp>
        <p:nvSpPr>
          <p:cNvPr id="21" name="a0f_bk20"/>
          <p:cNvSpPr/>
          <p:nvPr/>
        </p:nvSpPr>
        <p:spPr>
          <a:xfrm>
            <a:off x="3108960" y="2734056"/>
            <a:ext cx="2560320" cy="566928"/>
          </a:xfrm>
          <a:prstGeom prst="roundRect">
            <a:avLst>
              <a:gd name="adj" fmla="val 12903"/>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0f_bkn21"/>
          <p:cNvSpPr txBox="1"/>
          <p:nvPr/>
        </p:nvSpPr>
        <p:spPr>
          <a:xfrm>
            <a:off x="3236976" y="2734056"/>
            <a:ext cx="914400" cy="566928"/>
          </a:xfrm>
          <a:prstGeom prst="rect">
            <a:avLst/>
          </a:prstGeom>
          <a:noFill/>
        </p:spPr>
        <p:txBody>
          <a:bodyPr wrap="square" lIns="0" tIns="0" rIns="0" bIns="0" anchor="ctr">
            <a:spAutoFit/>
          </a:bodyPr>
          <a:lstStyle/>
          <a:p>
            <a:pPr algn="l"/>
            <a:r>
              <a:rPr sz="1000" b="1">
                <a:solidFill>
                  <a:srgbClr val="1C1917"/>
                </a:solidFill>
                <a:latin typeface="Segoe UI"/>
              </a:rPr>
              <a:t>broker 3</a:t>
            </a:r>
          </a:p>
        </p:txBody>
      </p:sp>
      <p:sp>
        <p:nvSpPr>
          <p:cNvPr id="23" name="a0f_rp22"/>
          <p:cNvSpPr/>
          <p:nvPr/>
        </p:nvSpPr>
        <p:spPr>
          <a:xfrm>
            <a:off x="4151376" y="2843784"/>
            <a:ext cx="1389888" cy="347472"/>
          </a:xfrm>
          <a:prstGeom prst="roundRect">
            <a:avLst>
              <a:gd name="adj" fmla="val 13157"/>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0f_rpn23"/>
          <p:cNvSpPr txBox="1"/>
          <p:nvPr/>
        </p:nvSpPr>
        <p:spPr>
          <a:xfrm>
            <a:off x="4242816" y="2843784"/>
            <a:ext cx="365760" cy="347472"/>
          </a:xfrm>
          <a:prstGeom prst="rect">
            <a:avLst/>
          </a:prstGeom>
          <a:noFill/>
        </p:spPr>
        <p:txBody>
          <a:bodyPr wrap="square" lIns="0" tIns="0" rIns="0" bIns="0" anchor="ctr">
            <a:spAutoFit/>
          </a:bodyPr>
          <a:lstStyle/>
          <a:p>
            <a:pPr algn="l"/>
            <a:r>
              <a:rPr sz="1000" b="1">
                <a:solidFill>
                  <a:srgbClr val="FFFFFF"/>
                </a:solidFill>
                <a:latin typeface="Consolas"/>
              </a:rPr>
              <a:t>P1</a:t>
            </a:r>
          </a:p>
        </p:txBody>
      </p:sp>
      <p:sp>
        <p:nvSpPr>
          <p:cNvPr id="25" name="a0f_rpt24"/>
          <p:cNvSpPr txBox="1"/>
          <p:nvPr/>
        </p:nvSpPr>
        <p:spPr>
          <a:xfrm>
            <a:off x="4608576" y="2843784"/>
            <a:ext cx="841248" cy="347472"/>
          </a:xfrm>
          <a:prstGeom prst="rect">
            <a:avLst/>
          </a:prstGeom>
          <a:noFill/>
        </p:spPr>
        <p:txBody>
          <a:bodyPr wrap="square" lIns="0" tIns="0" rIns="0" bIns="0" anchor="ctr">
            <a:spAutoFit/>
          </a:bodyPr>
          <a:lstStyle/>
          <a:p>
            <a:pPr algn="r"/>
            <a:r>
              <a:rPr sz="800" b="1">
                <a:solidFill>
                  <a:srgbClr val="FFFFFF"/>
                </a:solidFill>
                <a:latin typeface="Segoe UI"/>
              </a:rPr>
              <a:t>current leader</a:t>
            </a:r>
          </a:p>
        </p:txBody>
      </p:sp>
      <p:sp>
        <p:nvSpPr>
          <p:cNvPr id="26" name="a1u_nd25"/>
          <p:cNvSpPr/>
          <p:nvPr/>
        </p:nvSpPr>
        <p:spPr>
          <a:xfrm>
            <a:off x="457200" y="1325880"/>
            <a:ext cx="155448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a1u_ndt26"/>
          <p:cNvSpPr txBox="1"/>
          <p:nvPr/>
        </p:nvSpPr>
        <p:spPr>
          <a:xfrm>
            <a:off x="502920" y="1362456"/>
            <a:ext cx="1463039" cy="265176"/>
          </a:xfrm>
          <a:prstGeom prst="rect">
            <a:avLst/>
          </a:prstGeom>
          <a:noFill/>
        </p:spPr>
        <p:txBody>
          <a:bodyPr wrap="square" lIns="0" tIns="0" rIns="0" bIns="0" anchor="b">
            <a:spAutoFit/>
          </a:bodyPr>
          <a:lstStyle/>
          <a:p>
            <a:pPr algn="ctr"/>
            <a:r>
              <a:rPr sz="950" b="1">
                <a:solidFill>
                  <a:srgbClr val="1C1917"/>
                </a:solidFill>
                <a:latin typeface="Segoe UI"/>
              </a:rPr>
              <a:t>Thermostat hub</a:t>
            </a:r>
          </a:p>
        </p:txBody>
      </p:sp>
      <p:sp>
        <p:nvSpPr>
          <p:cNvPr id="28" name="a1u_nds27"/>
          <p:cNvSpPr txBox="1"/>
          <p:nvPr/>
        </p:nvSpPr>
        <p:spPr>
          <a:xfrm>
            <a:off x="502920" y="1636776"/>
            <a:ext cx="1463039" cy="219456"/>
          </a:xfrm>
          <a:prstGeom prst="rect">
            <a:avLst/>
          </a:prstGeom>
          <a:noFill/>
        </p:spPr>
        <p:txBody>
          <a:bodyPr wrap="square" lIns="0" tIns="0" rIns="0" bIns="0" anchor="t">
            <a:spAutoFit/>
          </a:bodyPr>
          <a:lstStyle/>
          <a:p>
            <a:pPr algn="ctr"/>
            <a:r>
              <a:rPr sz="800" b="0">
                <a:solidFill>
                  <a:srgbClr val="EA580C"/>
                </a:solidFill>
                <a:latin typeface="Segoe UI"/>
              </a:rPr>
              <a:t>producer</a:t>
            </a:r>
          </a:p>
        </p:txBody>
      </p:sp>
      <p:cxnSp>
        <p:nvCxnSpPr>
          <p:cNvPr id="29" name="a1ud100_ar28"/>
          <p:cNvCxnSpPr/>
          <p:nvPr/>
        </p:nvCxnSpPr>
        <p:spPr>
          <a:xfrm>
            <a:off x="2029968" y="1609344"/>
            <a:ext cx="1060704" cy="1261872"/>
          </a:xfrm>
          <a:prstGeom prst="line">
            <a:avLst/>
          </a:prstGeom>
          <a:ln w="2222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1ud100_lb29"/>
          <p:cNvSpPr txBox="1"/>
          <p:nvPr/>
        </p:nvSpPr>
        <p:spPr>
          <a:xfrm>
            <a:off x="2103120" y="2240280"/>
            <a:ext cx="548640" cy="201168"/>
          </a:xfrm>
          <a:prstGeom prst="rect">
            <a:avLst/>
          </a:prstGeom>
          <a:noFill/>
        </p:spPr>
        <p:txBody>
          <a:bodyPr wrap="square" lIns="0" tIns="0" rIns="0" bIns="0" anchor="ctr">
            <a:spAutoFit/>
          </a:bodyPr>
          <a:lstStyle/>
          <a:p>
            <a:pPr algn="l"/>
            <a:r>
              <a:rPr sz="850" b="1">
                <a:solidFill>
                  <a:srgbClr val="C2410C"/>
                </a:solidFill>
                <a:latin typeface="Segoe UI"/>
              </a:rPr>
              <a:t>write</a:t>
            </a:r>
          </a:p>
        </p:txBody>
      </p:sp>
      <p:sp>
        <p:nvSpPr>
          <p:cNvPr id="31" name="a2u_nd30"/>
          <p:cNvSpPr/>
          <p:nvPr/>
        </p:nvSpPr>
        <p:spPr>
          <a:xfrm>
            <a:off x="457200" y="2862072"/>
            <a:ext cx="1554480" cy="566928"/>
          </a:xfrm>
          <a:prstGeom prst="roundRect">
            <a:avLst>
              <a:gd name="adj" fmla="val 12903"/>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2u_ndt31"/>
          <p:cNvSpPr txBox="1"/>
          <p:nvPr/>
        </p:nvSpPr>
        <p:spPr>
          <a:xfrm>
            <a:off x="502920" y="2898648"/>
            <a:ext cx="1463039" cy="265176"/>
          </a:xfrm>
          <a:prstGeom prst="rect">
            <a:avLst/>
          </a:prstGeom>
          <a:noFill/>
        </p:spPr>
        <p:txBody>
          <a:bodyPr wrap="square" lIns="0" tIns="0" rIns="0" bIns="0" anchor="b">
            <a:spAutoFit/>
          </a:bodyPr>
          <a:lstStyle/>
          <a:p>
            <a:pPr algn="ctr"/>
            <a:r>
              <a:rPr sz="950" b="1">
                <a:solidFill>
                  <a:srgbClr val="1C1917"/>
                </a:solidFill>
                <a:latin typeface="Segoe UI"/>
              </a:rPr>
              <a:t>Dashboard</a:t>
            </a:r>
          </a:p>
        </p:txBody>
      </p:sp>
      <p:sp>
        <p:nvSpPr>
          <p:cNvPr id="33" name="a2u_nds32"/>
          <p:cNvSpPr txBox="1"/>
          <p:nvPr/>
        </p:nvSpPr>
        <p:spPr>
          <a:xfrm>
            <a:off x="502920" y="3172968"/>
            <a:ext cx="1463039" cy="219456"/>
          </a:xfrm>
          <a:prstGeom prst="rect">
            <a:avLst/>
          </a:prstGeom>
          <a:noFill/>
        </p:spPr>
        <p:txBody>
          <a:bodyPr wrap="square" lIns="0" tIns="0" rIns="0" bIns="0" anchor="t">
            <a:spAutoFit/>
          </a:bodyPr>
          <a:lstStyle/>
          <a:p>
            <a:pPr algn="ctr"/>
            <a:r>
              <a:rPr sz="800" b="0">
                <a:solidFill>
                  <a:srgbClr val="4F46E5"/>
                </a:solidFill>
                <a:latin typeface="Segoe UI"/>
              </a:rPr>
              <a:t>consumer</a:t>
            </a:r>
          </a:p>
        </p:txBody>
      </p:sp>
      <p:cxnSp>
        <p:nvCxnSpPr>
          <p:cNvPr id="34" name="a2ud100_ar33"/>
          <p:cNvCxnSpPr/>
          <p:nvPr/>
        </p:nvCxnSpPr>
        <p:spPr>
          <a:xfrm flipH="1">
            <a:off x="2029968" y="3145536"/>
            <a:ext cx="1060704" cy="0"/>
          </a:xfrm>
          <a:prstGeom prst="line">
            <a:avLst/>
          </a:prstGeom>
          <a:ln w="2222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a2ud100_lb34"/>
          <p:cNvSpPr txBox="1"/>
          <p:nvPr/>
        </p:nvSpPr>
        <p:spPr>
          <a:xfrm>
            <a:off x="2331720" y="2907792"/>
            <a:ext cx="548640" cy="201168"/>
          </a:xfrm>
          <a:prstGeom prst="rect">
            <a:avLst/>
          </a:prstGeom>
          <a:noFill/>
        </p:spPr>
        <p:txBody>
          <a:bodyPr wrap="square" lIns="0" tIns="0" rIns="0" bIns="0" anchor="ctr">
            <a:spAutoFit/>
          </a:bodyPr>
          <a:lstStyle/>
          <a:p>
            <a:pPr algn="l"/>
            <a:r>
              <a:rPr sz="850" b="1">
                <a:solidFill>
                  <a:srgbClr val="4F46E5"/>
                </a:solidFill>
                <a:latin typeface="Segoe UI"/>
              </a:rPr>
              <a:t>read</a:t>
            </a:r>
          </a:p>
        </p:txBody>
      </p:sp>
      <p:sp>
        <p:nvSpPr>
          <p:cNvPr id="36" name="a3u_dot35"/>
          <p:cNvSpPr/>
          <p:nvPr/>
        </p:nvSpPr>
        <p:spPr>
          <a:xfrm>
            <a:off x="5989320" y="144932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a3u_b36"/>
          <p:cNvSpPr txBox="1"/>
          <p:nvPr/>
        </p:nvSpPr>
        <p:spPr>
          <a:xfrm>
            <a:off x="6208776" y="1353312"/>
            <a:ext cx="2478024" cy="621792"/>
          </a:xfrm>
          <a:prstGeom prst="rect">
            <a:avLst/>
          </a:prstGeom>
          <a:noFill/>
        </p:spPr>
        <p:txBody>
          <a:bodyPr wrap="square" lIns="0" tIns="0" rIns="0" bIns="0" anchor="t">
            <a:spAutoFit/>
          </a:bodyPr>
          <a:lstStyle/>
          <a:p>
            <a:pPr algn="l"/>
            <a:r>
              <a:rPr sz="950" b="1">
                <a:solidFill>
                  <a:srgbClr val="1C1917"/>
                </a:solidFill>
                <a:latin typeface="Segoe UI"/>
              </a:rPr>
              <a:t>Writes  </a:t>
            </a:r>
            <a:r>
              <a:rPr sz="950" b="0">
                <a:solidFill>
                  <a:srgbClr val="44403C"/>
                </a:solidFill>
                <a:latin typeface="Segoe UI"/>
              </a:rPr>
              <a:t>always go to the current leader - wherever it is now</a:t>
            </a:r>
          </a:p>
        </p:txBody>
      </p:sp>
      <p:sp>
        <p:nvSpPr>
          <p:cNvPr id="38" name="a3ud120_dot37"/>
          <p:cNvSpPr/>
          <p:nvPr/>
        </p:nvSpPr>
        <p:spPr>
          <a:xfrm>
            <a:off x="5989320" y="2107691"/>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a3ud120_b38"/>
          <p:cNvSpPr txBox="1"/>
          <p:nvPr/>
        </p:nvSpPr>
        <p:spPr>
          <a:xfrm>
            <a:off x="6208776" y="2011679"/>
            <a:ext cx="2478024" cy="621792"/>
          </a:xfrm>
          <a:prstGeom prst="rect">
            <a:avLst/>
          </a:prstGeom>
          <a:noFill/>
        </p:spPr>
        <p:txBody>
          <a:bodyPr wrap="square" lIns="0" tIns="0" rIns="0" bIns="0" anchor="t">
            <a:spAutoFit/>
          </a:bodyPr>
          <a:lstStyle/>
          <a:p>
            <a:pPr algn="l"/>
            <a:r>
              <a:rPr sz="950" b="1">
                <a:solidFill>
                  <a:srgbClr val="1C1917"/>
                </a:solidFill>
                <a:latin typeface="Segoe UI"/>
              </a:rPr>
              <a:t>Reads  </a:t>
            </a:r>
            <a:r>
              <a:rPr sz="950" b="0">
                <a:solidFill>
                  <a:srgbClr val="44403C"/>
                </a:solidFill>
                <a:latin typeface="Segoe UI"/>
              </a:rPr>
              <a:t>go to the leader too, by default</a:t>
            </a:r>
          </a:p>
        </p:txBody>
      </p:sp>
      <p:sp>
        <p:nvSpPr>
          <p:cNvPr id="40" name="a3ud240_dot39"/>
          <p:cNvSpPr/>
          <p:nvPr/>
        </p:nvSpPr>
        <p:spPr>
          <a:xfrm>
            <a:off x="5989320" y="2766059"/>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a3ud240_b40"/>
          <p:cNvSpPr txBox="1"/>
          <p:nvPr/>
        </p:nvSpPr>
        <p:spPr>
          <a:xfrm>
            <a:off x="6208776" y="2670047"/>
            <a:ext cx="2478024" cy="621792"/>
          </a:xfrm>
          <a:prstGeom prst="rect">
            <a:avLst/>
          </a:prstGeom>
          <a:noFill/>
        </p:spPr>
        <p:txBody>
          <a:bodyPr wrap="square" lIns="0" tIns="0" rIns="0" bIns="0" anchor="t">
            <a:spAutoFit/>
          </a:bodyPr>
          <a:lstStyle/>
          <a:p>
            <a:pPr algn="l"/>
            <a:r>
              <a:rPr sz="950" b="1">
                <a:solidFill>
                  <a:srgbClr val="1C1917"/>
                </a:solidFill>
                <a:latin typeface="Segoe UI"/>
              </a:rPr>
              <a:t>After a failover  </a:t>
            </a:r>
            <a:r>
              <a:rPr sz="950" b="0">
                <a:solidFill>
                  <a:srgbClr val="44403C"/>
                </a:solidFill>
                <a:latin typeface="Segoe UI"/>
              </a:rPr>
              <a:t>clients refresh their metadata and follow the new leader</a:t>
            </a:r>
          </a:p>
        </p:txBody>
      </p:sp>
      <p:sp>
        <p:nvSpPr>
          <p:cNvPr id="42" name="a4u_nb41"/>
          <p:cNvSpPr/>
          <p:nvPr/>
        </p:nvSpPr>
        <p:spPr>
          <a:xfrm>
            <a:off x="457200" y="3840480"/>
            <a:ext cx="8229600" cy="603504"/>
          </a:xfrm>
          <a:prstGeom prst="roundRect">
            <a:avLst>
              <a:gd name="adj" fmla="val 12121"/>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a4u_nacc42"/>
          <p:cNvSpPr/>
          <p:nvPr/>
        </p:nvSpPr>
        <p:spPr>
          <a:xfrm>
            <a:off x="457200" y="3840480"/>
            <a:ext cx="54864" cy="60350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4u_nt43"/>
          <p:cNvSpPr txBox="1"/>
          <p:nvPr/>
        </p:nvSpPr>
        <p:spPr>
          <a:xfrm>
            <a:off x="658368" y="3840480"/>
            <a:ext cx="7827264" cy="603504"/>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Writing? The leader, no matter what. Reading? The leader by default - or, if you ask, the nearest replica.</a:t>
            </a:r>
          </a:p>
        </p:txBody>
      </p:sp>
      <p:sp>
        <p:nvSpPr>
          <p:cNvPr id="45" name="ft4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46" name="ft4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ft4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48" name="ft4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500" fill="hold"/>
                                        <p:tgtEl>
                                          <p:spTgt spid="26"/>
                                        </p:tgtEl>
                                        <p:attrNameLst>
                                          <p:attrName>ppt_x</p:attrName>
                                        </p:attrNameLst>
                                      </p:cBhvr>
                                      <p:tavLst>
                                        <p:tav tm="0">
                                          <p:val>
                                            <p:strVal val="#ppt_x"/>
                                          </p:val>
                                        </p:tav>
                                        <p:tav tm="100000">
                                          <p:val>
                                            <p:strVal val="#ppt_x"/>
                                          </p:val>
                                        </p:tav>
                                      </p:tavLst>
                                    </p:anim>
                                    <p:anim calcmode="lin" valueType="num">
                                      <p:cBhvr additive="base">
                                        <p:cTn id="55" dur="500" fill="hold"/>
                                        <p:tgtEl>
                                          <p:spTgt spid="26"/>
                                        </p:tgtEl>
                                        <p:attrNameLst>
                                          <p:attrName>ppt_y</p:attrName>
                                        </p:attrNameLst>
                                      </p:cBhvr>
                                      <p:tavLst>
                                        <p:tav tm="0">
                                          <p:val>
                                            <p:strVal val="#ppt_y+0.1"/>
                                          </p:val>
                                        </p:tav>
                                        <p:tav tm="100000">
                                          <p:val>
                                            <p:strVal val="#ppt_y"/>
                                          </p:val>
                                        </p:tav>
                                      </p:tavLst>
                                    </p:anim>
                                    <p:animEffect transition="in" filter="fade">
                                      <p:cBhvr>
                                        <p:cTn id="56" dur="500"/>
                                        <p:tgtEl>
                                          <p:spTgt spid="26"/>
                                        </p:tgtEl>
                                      </p:cBhvr>
                                    </p:animEffect>
                                  </p:childTnLst>
                                </p:cTn>
                              </p:par>
                              <p:par>
                                <p:cTn id="57" presetID="2" presetClass="entr" presetSubtype="4"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500" fill="hold"/>
                                        <p:tgtEl>
                                          <p:spTgt spid="27"/>
                                        </p:tgtEl>
                                        <p:attrNameLst>
                                          <p:attrName>ppt_x</p:attrName>
                                        </p:attrNameLst>
                                      </p:cBhvr>
                                      <p:tavLst>
                                        <p:tav tm="0">
                                          <p:val>
                                            <p:strVal val="#ppt_x"/>
                                          </p:val>
                                        </p:tav>
                                        <p:tav tm="100000">
                                          <p:val>
                                            <p:strVal val="#ppt_x"/>
                                          </p:val>
                                        </p:tav>
                                      </p:tavLst>
                                    </p:anim>
                                    <p:anim calcmode="lin" valueType="num">
                                      <p:cBhvr additive="base">
                                        <p:cTn id="60" dur="500" fill="hold"/>
                                        <p:tgtEl>
                                          <p:spTgt spid="27"/>
                                        </p:tgtEl>
                                        <p:attrNameLst>
                                          <p:attrName>ppt_y</p:attrName>
                                        </p:attrNameLst>
                                      </p:cBhvr>
                                      <p:tavLst>
                                        <p:tav tm="0">
                                          <p:val>
                                            <p:strVal val="#ppt_y+0.1"/>
                                          </p:val>
                                        </p:tav>
                                        <p:tav tm="100000">
                                          <p:val>
                                            <p:strVal val="#ppt_y"/>
                                          </p:val>
                                        </p:tav>
                                      </p:tavLst>
                                    </p:anim>
                                    <p:animEffect transition="in" filter="fade">
                                      <p:cBhvr>
                                        <p:cTn id="61" dur="500"/>
                                        <p:tgtEl>
                                          <p:spTgt spid="27"/>
                                        </p:tgtEl>
                                      </p:cBhvr>
                                    </p:animEffect>
                                  </p:childTnLst>
                                </p:cTn>
                              </p:par>
                              <p:par>
                                <p:cTn id="62" presetID="2" presetClass="entr" presetSubtype="4"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additive="base">
                                        <p:cTn id="64" dur="500" fill="hold"/>
                                        <p:tgtEl>
                                          <p:spTgt spid="28"/>
                                        </p:tgtEl>
                                        <p:attrNameLst>
                                          <p:attrName>ppt_x</p:attrName>
                                        </p:attrNameLst>
                                      </p:cBhvr>
                                      <p:tavLst>
                                        <p:tav tm="0">
                                          <p:val>
                                            <p:strVal val="#ppt_x"/>
                                          </p:val>
                                        </p:tav>
                                        <p:tav tm="100000">
                                          <p:val>
                                            <p:strVal val="#ppt_x"/>
                                          </p:val>
                                        </p:tav>
                                      </p:tavLst>
                                    </p:anim>
                                    <p:anim calcmode="lin" valueType="num">
                                      <p:cBhvr additive="base">
                                        <p:cTn id="65" dur="500" fill="hold"/>
                                        <p:tgtEl>
                                          <p:spTgt spid="28"/>
                                        </p:tgtEl>
                                        <p:attrNameLst>
                                          <p:attrName>ppt_y</p:attrName>
                                        </p:attrNameLst>
                                      </p:cBhvr>
                                      <p:tavLst>
                                        <p:tav tm="0">
                                          <p:val>
                                            <p:strVal val="#ppt_y+0.1"/>
                                          </p:val>
                                        </p:tav>
                                        <p:tav tm="100000">
                                          <p:val>
                                            <p:strVal val="#ppt_y"/>
                                          </p:val>
                                        </p:tav>
                                      </p:tavLst>
                                    </p:anim>
                                    <p:animEffect transition="in" filter="fade">
                                      <p:cBhvr>
                                        <p:cTn id="66" dur="500"/>
                                        <p:tgtEl>
                                          <p:spTgt spid="28"/>
                                        </p:tgtEl>
                                      </p:cBhvr>
                                    </p:animEffect>
                                  </p:childTnLst>
                                </p:cTn>
                              </p:par>
                              <p:par>
                                <p:cTn id="67" presetID="2" presetClass="entr" presetSubtype="4" fill="hold" grpId="0" nodeType="withEffect">
                                  <p:stCondLst>
                                    <p:cond delay="100"/>
                                  </p:stCondLst>
                                  <p:childTnLst>
                                    <p:set>
                                      <p:cBhvr>
                                        <p:cTn id="68" dur="1" fill="hold">
                                          <p:stCondLst>
                                            <p:cond delay="0"/>
                                          </p:stCondLst>
                                        </p:cTn>
                                        <p:tgtEl>
                                          <p:spTgt spid="29"/>
                                        </p:tgtEl>
                                        <p:attrNameLst>
                                          <p:attrName>style.visibility</p:attrName>
                                        </p:attrNameLst>
                                      </p:cBhvr>
                                      <p:to>
                                        <p:strVal val="visible"/>
                                      </p:to>
                                    </p:set>
                                    <p:anim calcmode="lin" valueType="num">
                                      <p:cBhvr additive="base">
                                        <p:cTn id="69" dur="500" fill="hold"/>
                                        <p:tgtEl>
                                          <p:spTgt spid="29"/>
                                        </p:tgtEl>
                                        <p:attrNameLst>
                                          <p:attrName>ppt_x</p:attrName>
                                        </p:attrNameLst>
                                      </p:cBhvr>
                                      <p:tavLst>
                                        <p:tav tm="0">
                                          <p:val>
                                            <p:strVal val="#ppt_x"/>
                                          </p:val>
                                        </p:tav>
                                        <p:tav tm="100000">
                                          <p:val>
                                            <p:strVal val="#ppt_x"/>
                                          </p:val>
                                        </p:tav>
                                      </p:tavLst>
                                    </p:anim>
                                    <p:anim calcmode="lin" valueType="num">
                                      <p:cBhvr additive="base">
                                        <p:cTn id="70" dur="500" fill="hold"/>
                                        <p:tgtEl>
                                          <p:spTgt spid="29"/>
                                        </p:tgtEl>
                                        <p:attrNameLst>
                                          <p:attrName>ppt_y</p:attrName>
                                        </p:attrNameLst>
                                      </p:cBhvr>
                                      <p:tavLst>
                                        <p:tav tm="0">
                                          <p:val>
                                            <p:strVal val="#ppt_y+0.1"/>
                                          </p:val>
                                        </p:tav>
                                        <p:tav tm="100000">
                                          <p:val>
                                            <p:strVal val="#ppt_y"/>
                                          </p:val>
                                        </p:tav>
                                      </p:tavLst>
                                    </p:anim>
                                    <p:animEffect transition="in" filter="fade">
                                      <p:cBhvr>
                                        <p:cTn id="71" dur="500"/>
                                        <p:tgtEl>
                                          <p:spTgt spid="29"/>
                                        </p:tgtEl>
                                      </p:cBhvr>
                                    </p:animEffect>
                                  </p:childTnLst>
                                </p:cTn>
                              </p:par>
                              <p:par>
                                <p:cTn id="72" presetID="2" presetClass="entr" presetSubtype="4" fill="hold" grpId="0" nodeType="withEffect">
                                  <p:stCondLst>
                                    <p:cond delay="100"/>
                                  </p:stCondLst>
                                  <p:childTnLst>
                                    <p:set>
                                      <p:cBhvr>
                                        <p:cTn id="73" dur="1" fill="hold">
                                          <p:stCondLst>
                                            <p:cond delay="0"/>
                                          </p:stCondLst>
                                        </p:cTn>
                                        <p:tgtEl>
                                          <p:spTgt spid="30"/>
                                        </p:tgtEl>
                                        <p:attrNameLst>
                                          <p:attrName>style.visibility</p:attrName>
                                        </p:attrNameLst>
                                      </p:cBhvr>
                                      <p:to>
                                        <p:strVal val="visible"/>
                                      </p:to>
                                    </p:set>
                                    <p:anim calcmode="lin" valueType="num">
                                      <p:cBhvr additive="base">
                                        <p:cTn id="74" dur="500" fill="hold"/>
                                        <p:tgtEl>
                                          <p:spTgt spid="30"/>
                                        </p:tgtEl>
                                        <p:attrNameLst>
                                          <p:attrName>ppt_x</p:attrName>
                                        </p:attrNameLst>
                                      </p:cBhvr>
                                      <p:tavLst>
                                        <p:tav tm="0">
                                          <p:val>
                                            <p:strVal val="#ppt_x"/>
                                          </p:val>
                                        </p:tav>
                                        <p:tav tm="100000">
                                          <p:val>
                                            <p:strVal val="#ppt_x"/>
                                          </p:val>
                                        </p:tav>
                                      </p:tavLst>
                                    </p:anim>
                                    <p:anim calcmode="lin" valueType="num">
                                      <p:cBhvr additive="base">
                                        <p:cTn id="75" dur="500" fill="hold"/>
                                        <p:tgtEl>
                                          <p:spTgt spid="30"/>
                                        </p:tgtEl>
                                        <p:attrNameLst>
                                          <p:attrName>ppt_y</p:attrName>
                                        </p:attrNameLst>
                                      </p:cBhvr>
                                      <p:tavLst>
                                        <p:tav tm="0">
                                          <p:val>
                                            <p:strVal val="#ppt_y+0.1"/>
                                          </p:val>
                                        </p:tav>
                                        <p:tav tm="100000">
                                          <p:val>
                                            <p:strVal val="#ppt_y"/>
                                          </p:val>
                                        </p:tav>
                                      </p:tavLst>
                                    </p:anim>
                                    <p:animEffect transition="in" filter="fade">
                                      <p:cBhvr>
                                        <p:cTn id="76" dur="500"/>
                                        <p:tgtEl>
                                          <p:spTgt spid="30"/>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31"/>
                                        </p:tgtEl>
                                        <p:attrNameLst>
                                          <p:attrName>style.visibility</p:attrName>
                                        </p:attrNameLst>
                                      </p:cBhvr>
                                      <p:to>
                                        <p:strVal val="visible"/>
                                      </p:to>
                                    </p:set>
                                    <p:anim calcmode="lin" valueType="num">
                                      <p:cBhvr additive="base">
                                        <p:cTn id="81" dur="500" fill="hold"/>
                                        <p:tgtEl>
                                          <p:spTgt spid="31"/>
                                        </p:tgtEl>
                                        <p:attrNameLst>
                                          <p:attrName>ppt_x</p:attrName>
                                        </p:attrNameLst>
                                      </p:cBhvr>
                                      <p:tavLst>
                                        <p:tav tm="0">
                                          <p:val>
                                            <p:strVal val="#ppt_x"/>
                                          </p:val>
                                        </p:tav>
                                        <p:tav tm="100000">
                                          <p:val>
                                            <p:strVal val="#ppt_x"/>
                                          </p:val>
                                        </p:tav>
                                      </p:tavLst>
                                    </p:anim>
                                    <p:anim calcmode="lin" valueType="num">
                                      <p:cBhvr additive="base">
                                        <p:cTn id="82" dur="500" fill="hold"/>
                                        <p:tgtEl>
                                          <p:spTgt spid="31"/>
                                        </p:tgtEl>
                                        <p:attrNameLst>
                                          <p:attrName>ppt_y</p:attrName>
                                        </p:attrNameLst>
                                      </p:cBhvr>
                                      <p:tavLst>
                                        <p:tav tm="0">
                                          <p:val>
                                            <p:strVal val="#ppt_y+0.1"/>
                                          </p:val>
                                        </p:tav>
                                        <p:tav tm="100000">
                                          <p:val>
                                            <p:strVal val="#ppt_y"/>
                                          </p:val>
                                        </p:tav>
                                      </p:tavLst>
                                    </p:anim>
                                    <p:animEffect transition="in" filter="fade">
                                      <p:cBhvr>
                                        <p:cTn id="83" dur="500"/>
                                        <p:tgtEl>
                                          <p:spTgt spid="31"/>
                                        </p:tgtEl>
                                      </p:cBhvr>
                                    </p:animEffect>
                                  </p:childTnLst>
                                </p:cTn>
                              </p:par>
                              <p:par>
                                <p:cTn id="84" presetID="2" presetClass="entr" presetSubtype="4"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 calcmode="lin" valueType="num">
                                      <p:cBhvr additive="base">
                                        <p:cTn id="86" dur="500" fill="hold"/>
                                        <p:tgtEl>
                                          <p:spTgt spid="32"/>
                                        </p:tgtEl>
                                        <p:attrNameLst>
                                          <p:attrName>ppt_x</p:attrName>
                                        </p:attrNameLst>
                                      </p:cBhvr>
                                      <p:tavLst>
                                        <p:tav tm="0">
                                          <p:val>
                                            <p:strVal val="#ppt_x"/>
                                          </p:val>
                                        </p:tav>
                                        <p:tav tm="100000">
                                          <p:val>
                                            <p:strVal val="#ppt_x"/>
                                          </p:val>
                                        </p:tav>
                                      </p:tavLst>
                                    </p:anim>
                                    <p:anim calcmode="lin" valueType="num">
                                      <p:cBhvr additive="base">
                                        <p:cTn id="87" dur="500" fill="hold"/>
                                        <p:tgtEl>
                                          <p:spTgt spid="32"/>
                                        </p:tgtEl>
                                        <p:attrNameLst>
                                          <p:attrName>ppt_y</p:attrName>
                                        </p:attrNameLst>
                                      </p:cBhvr>
                                      <p:tavLst>
                                        <p:tav tm="0">
                                          <p:val>
                                            <p:strVal val="#ppt_y+0.1"/>
                                          </p:val>
                                        </p:tav>
                                        <p:tav tm="100000">
                                          <p:val>
                                            <p:strVal val="#ppt_y"/>
                                          </p:val>
                                        </p:tav>
                                      </p:tavLst>
                                    </p:anim>
                                    <p:animEffect transition="in" filter="fade">
                                      <p:cBhvr>
                                        <p:cTn id="88" dur="500"/>
                                        <p:tgtEl>
                                          <p:spTgt spid="32"/>
                                        </p:tgtEl>
                                      </p:cBhvr>
                                    </p:animEffect>
                                  </p:childTnLst>
                                </p:cTn>
                              </p:par>
                              <p:par>
                                <p:cTn id="89" presetID="2" presetClass="entr" presetSubtype="4"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 calcmode="lin" valueType="num">
                                      <p:cBhvr additive="base">
                                        <p:cTn id="91" dur="500" fill="hold"/>
                                        <p:tgtEl>
                                          <p:spTgt spid="33"/>
                                        </p:tgtEl>
                                        <p:attrNameLst>
                                          <p:attrName>ppt_x</p:attrName>
                                        </p:attrNameLst>
                                      </p:cBhvr>
                                      <p:tavLst>
                                        <p:tav tm="0">
                                          <p:val>
                                            <p:strVal val="#ppt_x"/>
                                          </p:val>
                                        </p:tav>
                                        <p:tav tm="100000">
                                          <p:val>
                                            <p:strVal val="#ppt_x"/>
                                          </p:val>
                                        </p:tav>
                                      </p:tavLst>
                                    </p:anim>
                                    <p:anim calcmode="lin" valueType="num">
                                      <p:cBhvr additive="base">
                                        <p:cTn id="92" dur="500" fill="hold"/>
                                        <p:tgtEl>
                                          <p:spTgt spid="33"/>
                                        </p:tgtEl>
                                        <p:attrNameLst>
                                          <p:attrName>ppt_y</p:attrName>
                                        </p:attrNameLst>
                                      </p:cBhvr>
                                      <p:tavLst>
                                        <p:tav tm="0">
                                          <p:val>
                                            <p:strVal val="#ppt_y+0.1"/>
                                          </p:val>
                                        </p:tav>
                                        <p:tav tm="100000">
                                          <p:val>
                                            <p:strVal val="#ppt_y"/>
                                          </p:val>
                                        </p:tav>
                                      </p:tavLst>
                                    </p:anim>
                                    <p:animEffect transition="in" filter="fade">
                                      <p:cBhvr>
                                        <p:cTn id="93" dur="500"/>
                                        <p:tgtEl>
                                          <p:spTgt spid="33"/>
                                        </p:tgtEl>
                                      </p:cBhvr>
                                    </p:animEffect>
                                  </p:childTnLst>
                                </p:cTn>
                              </p:par>
                              <p:par>
                                <p:cTn id="94" presetID="2" presetClass="entr" presetSubtype="4" fill="hold" grpId="0" nodeType="withEffect">
                                  <p:stCondLst>
                                    <p:cond delay="10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500" fill="hold"/>
                                        <p:tgtEl>
                                          <p:spTgt spid="34"/>
                                        </p:tgtEl>
                                        <p:attrNameLst>
                                          <p:attrName>ppt_x</p:attrName>
                                        </p:attrNameLst>
                                      </p:cBhvr>
                                      <p:tavLst>
                                        <p:tav tm="0">
                                          <p:val>
                                            <p:strVal val="#ppt_x"/>
                                          </p:val>
                                        </p:tav>
                                        <p:tav tm="100000">
                                          <p:val>
                                            <p:strVal val="#ppt_x"/>
                                          </p:val>
                                        </p:tav>
                                      </p:tavLst>
                                    </p:anim>
                                    <p:anim calcmode="lin" valueType="num">
                                      <p:cBhvr additive="base">
                                        <p:cTn id="97" dur="500" fill="hold"/>
                                        <p:tgtEl>
                                          <p:spTgt spid="34"/>
                                        </p:tgtEl>
                                        <p:attrNameLst>
                                          <p:attrName>ppt_y</p:attrName>
                                        </p:attrNameLst>
                                      </p:cBhvr>
                                      <p:tavLst>
                                        <p:tav tm="0">
                                          <p:val>
                                            <p:strVal val="#ppt_y+0.1"/>
                                          </p:val>
                                        </p:tav>
                                        <p:tav tm="100000">
                                          <p:val>
                                            <p:strVal val="#ppt_y"/>
                                          </p:val>
                                        </p:tav>
                                      </p:tavLst>
                                    </p:anim>
                                    <p:animEffect transition="in" filter="fade">
                                      <p:cBhvr>
                                        <p:cTn id="98" dur="500"/>
                                        <p:tgtEl>
                                          <p:spTgt spid="34"/>
                                        </p:tgtEl>
                                      </p:cBhvr>
                                    </p:animEffect>
                                  </p:childTnLst>
                                </p:cTn>
                              </p:par>
                              <p:par>
                                <p:cTn id="99" presetID="2" presetClass="entr" presetSubtype="4" fill="hold" grpId="0" nodeType="withEffect">
                                  <p:stCondLst>
                                    <p:cond delay="100"/>
                                  </p:stCondLst>
                                  <p:childTnLst>
                                    <p:set>
                                      <p:cBhvr>
                                        <p:cTn id="100" dur="1" fill="hold">
                                          <p:stCondLst>
                                            <p:cond delay="0"/>
                                          </p:stCondLst>
                                        </p:cTn>
                                        <p:tgtEl>
                                          <p:spTgt spid="35"/>
                                        </p:tgtEl>
                                        <p:attrNameLst>
                                          <p:attrName>style.visibility</p:attrName>
                                        </p:attrNameLst>
                                      </p:cBhvr>
                                      <p:to>
                                        <p:strVal val="visible"/>
                                      </p:to>
                                    </p:set>
                                    <p:anim calcmode="lin" valueType="num">
                                      <p:cBhvr additive="base">
                                        <p:cTn id="101" dur="500" fill="hold"/>
                                        <p:tgtEl>
                                          <p:spTgt spid="35"/>
                                        </p:tgtEl>
                                        <p:attrNameLst>
                                          <p:attrName>ppt_x</p:attrName>
                                        </p:attrNameLst>
                                      </p:cBhvr>
                                      <p:tavLst>
                                        <p:tav tm="0">
                                          <p:val>
                                            <p:strVal val="#ppt_x"/>
                                          </p:val>
                                        </p:tav>
                                        <p:tav tm="100000">
                                          <p:val>
                                            <p:strVal val="#ppt_x"/>
                                          </p:val>
                                        </p:tav>
                                      </p:tavLst>
                                    </p:anim>
                                    <p:anim calcmode="lin" valueType="num">
                                      <p:cBhvr additive="base">
                                        <p:cTn id="102" dur="500" fill="hold"/>
                                        <p:tgtEl>
                                          <p:spTgt spid="35"/>
                                        </p:tgtEl>
                                        <p:attrNameLst>
                                          <p:attrName>ppt_y</p:attrName>
                                        </p:attrNameLst>
                                      </p:cBhvr>
                                      <p:tavLst>
                                        <p:tav tm="0">
                                          <p:val>
                                            <p:strVal val="#ppt_y+0.1"/>
                                          </p:val>
                                        </p:tav>
                                        <p:tav tm="100000">
                                          <p:val>
                                            <p:strVal val="#ppt_y"/>
                                          </p:val>
                                        </p:tav>
                                      </p:tavLst>
                                    </p:anim>
                                    <p:animEffect transition="in" filter="fade">
                                      <p:cBhvr>
                                        <p:cTn id="103" dur="500"/>
                                        <p:tgtEl>
                                          <p:spTgt spid="35"/>
                                        </p:tgtEl>
                                      </p:cBhvr>
                                    </p:animEffect>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36"/>
                                        </p:tgtEl>
                                        <p:attrNameLst>
                                          <p:attrName>style.visibility</p:attrName>
                                        </p:attrNameLst>
                                      </p:cBhvr>
                                      <p:to>
                                        <p:strVal val="visible"/>
                                      </p:to>
                                    </p:set>
                                    <p:anim calcmode="lin" valueType="num">
                                      <p:cBhvr additive="base">
                                        <p:cTn id="108" dur="500" fill="hold"/>
                                        <p:tgtEl>
                                          <p:spTgt spid="36"/>
                                        </p:tgtEl>
                                        <p:attrNameLst>
                                          <p:attrName>ppt_x</p:attrName>
                                        </p:attrNameLst>
                                      </p:cBhvr>
                                      <p:tavLst>
                                        <p:tav tm="0">
                                          <p:val>
                                            <p:strVal val="#ppt_x"/>
                                          </p:val>
                                        </p:tav>
                                        <p:tav tm="100000">
                                          <p:val>
                                            <p:strVal val="#ppt_x"/>
                                          </p:val>
                                        </p:tav>
                                      </p:tavLst>
                                    </p:anim>
                                    <p:anim calcmode="lin" valueType="num">
                                      <p:cBhvr additive="base">
                                        <p:cTn id="109" dur="500" fill="hold"/>
                                        <p:tgtEl>
                                          <p:spTgt spid="36"/>
                                        </p:tgtEl>
                                        <p:attrNameLst>
                                          <p:attrName>ppt_y</p:attrName>
                                        </p:attrNameLst>
                                      </p:cBhvr>
                                      <p:tavLst>
                                        <p:tav tm="0">
                                          <p:val>
                                            <p:strVal val="#ppt_y+0.1"/>
                                          </p:val>
                                        </p:tav>
                                        <p:tav tm="100000">
                                          <p:val>
                                            <p:strVal val="#ppt_y"/>
                                          </p:val>
                                        </p:tav>
                                      </p:tavLst>
                                    </p:anim>
                                    <p:animEffect transition="in" filter="fade">
                                      <p:cBhvr>
                                        <p:cTn id="110" dur="500"/>
                                        <p:tgtEl>
                                          <p:spTgt spid="36"/>
                                        </p:tgtEl>
                                      </p:cBhvr>
                                    </p:animEffect>
                                  </p:childTnLst>
                                </p:cTn>
                              </p:par>
                              <p:par>
                                <p:cTn id="111" presetID="2" presetClass="entr" presetSubtype="4" fill="hold" grpId="0" nodeType="withEffect">
                                  <p:stCondLst>
                                    <p:cond delay="0"/>
                                  </p:stCondLst>
                                  <p:childTnLst>
                                    <p:set>
                                      <p:cBhvr>
                                        <p:cTn id="112" dur="1" fill="hold">
                                          <p:stCondLst>
                                            <p:cond delay="0"/>
                                          </p:stCondLst>
                                        </p:cTn>
                                        <p:tgtEl>
                                          <p:spTgt spid="37"/>
                                        </p:tgtEl>
                                        <p:attrNameLst>
                                          <p:attrName>style.visibility</p:attrName>
                                        </p:attrNameLst>
                                      </p:cBhvr>
                                      <p:to>
                                        <p:strVal val="visible"/>
                                      </p:to>
                                    </p:set>
                                    <p:anim calcmode="lin" valueType="num">
                                      <p:cBhvr additive="base">
                                        <p:cTn id="113" dur="500" fill="hold"/>
                                        <p:tgtEl>
                                          <p:spTgt spid="37"/>
                                        </p:tgtEl>
                                        <p:attrNameLst>
                                          <p:attrName>ppt_x</p:attrName>
                                        </p:attrNameLst>
                                      </p:cBhvr>
                                      <p:tavLst>
                                        <p:tav tm="0">
                                          <p:val>
                                            <p:strVal val="#ppt_x"/>
                                          </p:val>
                                        </p:tav>
                                        <p:tav tm="100000">
                                          <p:val>
                                            <p:strVal val="#ppt_x"/>
                                          </p:val>
                                        </p:tav>
                                      </p:tavLst>
                                    </p:anim>
                                    <p:anim calcmode="lin" valueType="num">
                                      <p:cBhvr additive="base">
                                        <p:cTn id="114" dur="500" fill="hold"/>
                                        <p:tgtEl>
                                          <p:spTgt spid="37"/>
                                        </p:tgtEl>
                                        <p:attrNameLst>
                                          <p:attrName>ppt_y</p:attrName>
                                        </p:attrNameLst>
                                      </p:cBhvr>
                                      <p:tavLst>
                                        <p:tav tm="0">
                                          <p:val>
                                            <p:strVal val="#ppt_y+0.1"/>
                                          </p:val>
                                        </p:tav>
                                        <p:tav tm="100000">
                                          <p:val>
                                            <p:strVal val="#ppt_y"/>
                                          </p:val>
                                        </p:tav>
                                      </p:tavLst>
                                    </p:anim>
                                    <p:animEffect transition="in" filter="fade">
                                      <p:cBhvr>
                                        <p:cTn id="115" dur="500"/>
                                        <p:tgtEl>
                                          <p:spTgt spid="37"/>
                                        </p:tgtEl>
                                      </p:cBhvr>
                                    </p:animEffect>
                                  </p:childTnLst>
                                </p:cTn>
                              </p:par>
                              <p:par>
                                <p:cTn id="116" presetID="2" presetClass="entr" presetSubtype="4" fill="hold" grpId="0" nodeType="withEffect">
                                  <p:stCondLst>
                                    <p:cond delay="120"/>
                                  </p:stCondLst>
                                  <p:childTnLst>
                                    <p:set>
                                      <p:cBhvr>
                                        <p:cTn id="117" dur="1" fill="hold">
                                          <p:stCondLst>
                                            <p:cond delay="0"/>
                                          </p:stCondLst>
                                        </p:cTn>
                                        <p:tgtEl>
                                          <p:spTgt spid="38"/>
                                        </p:tgtEl>
                                        <p:attrNameLst>
                                          <p:attrName>style.visibility</p:attrName>
                                        </p:attrNameLst>
                                      </p:cBhvr>
                                      <p:to>
                                        <p:strVal val="visible"/>
                                      </p:to>
                                    </p:set>
                                    <p:anim calcmode="lin" valueType="num">
                                      <p:cBhvr additive="base">
                                        <p:cTn id="118" dur="500" fill="hold"/>
                                        <p:tgtEl>
                                          <p:spTgt spid="38"/>
                                        </p:tgtEl>
                                        <p:attrNameLst>
                                          <p:attrName>ppt_x</p:attrName>
                                        </p:attrNameLst>
                                      </p:cBhvr>
                                      <p:tavLst>
                                        <p:tav tm="0">
                                          <p:val>
                                            <p:strVal val="#ppt_x"/>
                                          </p:val>
                                        </p:tav>
                                        <p:tav tm="100000">
                                          <p:val>
                                            <p:strVal val="#ppt_x"/>
                                          </p:val>
                                        </p:tav>
                                      </p:tavLst>
                                    </p:anim>
                                    <p:anim calcmode="lin" valueType="num">
                                      <p:cBhvr additive="base">
                                        <p:cTn id="119" dur="500" fill="hold"/>
                                        <p:tgtEl>
                                          <p:spTgt spid="38"/>
                                        </p:tgtEl>
                                        <p:attrNameLst>
                                          <p:attrName>ppt_y</p:attrName>
                                        </p:attrNameLst>
                                      </p:cBhvr>
                                      <p:tavLst>
                                        <p:tav tm="0">
                                          <p:val>
                                            <p:strVal val="#ppt_y+0.1"/>
                                          </p:val>
                                        </p:tav>
                                        <p:tav tm="100000">
                                          <p:val>
                                            <p:strVal val="#ppt_y"/>
                                          </p:val>
                                        </p:tav>
                                      </p:tavLst>
                                    </p:anim>
                                    <p:animEffect transition="in" filter="fade">
                                      <p:cBhvr>
                                        <p:cTn id="120" dur="500"/>
                                        <p:tgtEl>
                                          <p:spTgt spid="38"/>
                                        </p:tgtEl>
                                      </p:cBhvr>
                                    </p:animEffect>
                                  </p:childTnLst>
                                </p:cTn>
                              </p:par>
                              <p:par>
                                <p:cTn id="121" presetID="2" presetClass="entr" presetSubtype="4" fill="hold" grpId="0" nodeType="withEffect">
                                  <p:stCondLst>
                                    <p:cond delay="120"/>
                                  </p:stCondLst>
                                  <p:childTnLst>
                                    <p:set>
                                      <p:cBhvr>
                                        <p:cTn id="122" dur="1" fill="hold">
                                          <p:stCondLst>
                                            <p:cond delay="0"/>
                                          </p:stCondLst>
                                        </p:cTn>
                                        <p:tgtEl>
                                          <p:spTgt spid="39"/>
                                        </p:tgtEl>
                                        <p:attrNameLst>
                                          <p:attrName>style.visibility</p:attrName>
                                        </p:attrNameLst>
                                      </p:cBhvr>
                                      <p:to>
                                        <p:strVal val="visible"/>
                                      </p:to>
                                    </p:set>
                                    <p:anim calcmode="lin" valueType="num">
                                      <p:cBhvr additive="base">
                                        <p:cTn id="123" dur="500" fill="hold"/>
                                        <p:tgtEl>
                                          <p:spTgt spid="39"/>
                                        </p:tgtEl>
                                        <p:attrNameLst>
                                          <p:attrName>ppt_x</p:attrName>
                                        </p:attrNameLst>
                                      </p:cBhvr>
                                      <p:tavLst>
                                        <p:tav tm="0">
                                          <p:val>
                                            <p:strVal val="#ppt_x"/>
                                          </p:val>
                                        </p:tav>
                                        <p:tav tm="100000">
                                          <p:val>
                                            <p:strVal val="#ppt_x"/>
                                          </p:val>
                                        </p:tav>
                                      </p:tavLst>
                                    </p:anim>
                                    <p:anim calcmode="lin" valueType="num">
                                      <p:cBhvr additive="base">
                                        <p:cTn id="124" dur="500" fill="hold"/>
                                        <p:tgtEl>
                                          <p:spTgt spid="39"/>
                                        </p:tgtEl>
                                        <p:attrNameLst>
                                          <p:attrName>ppt_y</p:attrName>
                                        </p:attrNameLst>
                                      </p:cBhvr>
                                      <p:tavLst>
                                        <p:tav tm="0">
                                          <p:val>
                                            <p:strVal val="#ppt_y+0.1"/>
                                          </p:val>
                                        </p:tav>
                                        <p:tav tm="100000">
                                          <p:val>
                                            <p:strVal val="#ppt_y"/>
                                          </p:val>
                                        </p:tav>
                                      </p:tavLst>
                                    </p:anim>
                                    <p:animEffect transition="in" filter="fade">
                                      <p:cBhvr>
                                        <p:cTn id="125" dur="500"/>
                                        <p:tgtEl>
                                          <p:spTgt spid="39"/>
                                        </p:tgtEl>
                                      </p:cBhvr>
                                    </p:animEffect>
                                  </p:childTnLst>
                                </p:cTn>
                              </p:par>
                              <p:par>
                                <p:cTn id="126" presetID="2" presetClass="entr" presetSubtype="4" fill="hold" grpId="0" nodeType="withEffect">
                                  <p:stCondLst>
                                    <p:cond delay="240"/>
                                  </p:stCondLst>
                                  <p:childTnLst>
                                    <p:set>
                                      <p:cBhvr>
                                        <p:cTn id="127" dur="1" fill="hold">
                                          <p:stCondLst>
                                            <p:cond delay="0"/>
                                          </p:stCondLst>
                                        </p:cTn>
                                        <p:tgtEl>
                                          <p:spTgt spid="40"/>
                                        </p:tgtEl>
                                        <p:attrNameLst>
                                          <p:attrName>style.visibility</p:attrName>
                                        </p:attrNameLst>
                                      </p:cBhvr>
                                      <p:to>
                                        <p:strVal val="visible"/>
                                      </p:to>
                                    </p:set>
                                    <p:anim calcmode="lin" valueType="num">
                                      <p:cBhvr additive="base">
                                        <p:cTn id="128" dur="500" fill="hold"/>
                                        <p:tgtEl>
                                          <p:spTgt spid="40"/>
                                        </p:tgtEl>
                                        <p:attrNameLst>
                                          <p:attrName>ppt_x</p:attrName>
                                        </p:attrNameLst>
                                      </p:cBhvr>
                                      <p:tavLst>
                                        <p:tav tm="0">
                                          <p:val>
                                            <p:strVal val="#ppt_x"/>
                                          </p:val>
                                        </p:tav>
                                        <p:tav tm="100000">
                                          <p:val>
                                            <p:strVal val="#ppt_x"/>
                                          </p:val>
                                        </p:tav>
                                      </p:tavLst>
                                    </p:anim>
                                    <p:anim calcmode="lin" valueType="num">
                                      <p:cBhvr additive="base">
                                        <p:cTn id="129" dur="500" fill="hold"/>
                                        <p:tgtEl>
                                          <p:spTgt spid="40"/>
                                        </p:tgtEl>
                                        <p:attrNameLst>
                                          <p:attrName>ppt_y</p:attrName>
                                        </p:attrNameLst>
                                      </p:cBhvr>
                                      <p:tavLst>
                                        <p:tav tm="0">
                                          <p:val>
                                            <p:strVal val="#ppt_y+0.1"/>
                                          </p:val>
                                        </p:tav>
                                        <p:tav tm="100000">
                                          <p:val>
                                            <p:strVal val="#ppt_y"/>
                                          </p:val>
                                        </p:tav>
                                      </p:tavLst>
                                    </p:anim>
                                    <p:animEffect transition="in" filter="fade">
                                      <p:cBhvr>
                                        <p:cTn id="130" dur="500"/>
                                        <p:tgtEl>
                                          <p:spTgt spid="40"/>
                                        </p:tgtEl>
                                      </p:cBhvr>
                                    </p:animEffect>
                                  </p:childTnLst>
                                </p:cTn>
                              </p:par>
                              <p:par>
                                <p:cTn id="131" presetID="2" presetClass="entr" presetSubtype="4" fill="hold" grpId="0" nodeType="withEffect">
                                  <p:stCondLst>
                                    <p:cond delay="240"/>
                                  </p:stCondLst>
                                  <p:childTnLst>
                                    <p:set>
                                      <p:cBhvr>
                                        <p:cTn id="132" dur="1" fill="hold">
                                          <p:stCondLst>
                                            <p:cond delay="0"/>
                                          </p:stCondLst>
                                        </p:cTn>
                                        <p:tgtEl>
                                          <p:spTgt spid="41"/>
                                        </p:tgtEl>
                                        <p:attrNameLst>
                                          <p:attrName>style.visibility</p:attrName>
                                        </p:attrNameLst>
                                      </p:cBhvr>
                                      <p:to>
                                        <p:strVal val="visible"/>
                                      </p:to>
                                    </p:set>
                                    <p:anim calcmode="lin" valueType="num">
                                      <p:cBhvr additive="base">
                                        <p:cTn id="133" dur="500" fill="hold"/>
                                        <p:tgtEl>
                                          <p:spTgt spid="41"/>
                                        </p:tgtEl>
                                        <p:attrNameLst>
                                          <p:attrName>ppt_x</p:attrName>
                                        </p:attrNameLst>
                                      </p:cBhvr>
                                      <p:tavLst>
                                        <p:tav tm="0">
                                          <p:val>
                                            <p:strVal val="#ppt_x"/>
                                          </p:val>
                                        </p:tav>
                                        <p:tav tm="100000">
                                          <p:val>
                                            <p:strVal val="#ppt_x"/>
                                          </p:val>
                                        </p:tav>
                                      </p:tavLst>
                                    </p:anim>
                                    <p:anim calcmode="lin" valueType="num">
                                      <p:cBhvr additive="base">
                                        <p:cTn id="134" dur="500" fill="hold"/>
                                        <p:tgtEl>
                                          <p:spTgt spid="41"/>
                                        </p:tgtEl>
                                        <p:attrNameLst>
                                          <p:attrName>ppt_y</p:attrName>
                                        </p:attrNameLst>
                                      </p:cBhvr>
                                      <p:tavLst>
                                        <p:tav tm="0">
                                          <p:val>
                                            <p:strVal val="#ppt_y+0.1"/>
                                          </p:val>
                                        </p:tav>
                                        <p:tav tm="100000">
                                          <p:val>
                                            <p:strVal val="#ppt_y"/>
                                          </p:val>
                                        </p:tav>
                                      </p:tavLst>
                                    </p:anim>
                                    <p:animEffect transition="in" filter="fade">
                                      <p:cBhvr>
                                        <p:cTn id="135" dur="500"/>
                                        <p:tgtEl>
                                          <p:spTgt spid="41"/>
                                        </p:tgtEl>
                                      </p:cBhvr>
                                    </p:animEffect>
                                  </p:childTnLst>
                                </p:cTn>
                              </p:par>
                            </p:childTnLst>
                          </p:cTn>
                        </p:par>
                      </p:childTnLst>
                    </p:cTn>
                  </p:par>
                  <p:par>
                    <p:cTn id="136" fill="hold">
                      <p:stCondLst>
                        <p:cond delay="indefinite"/>
                      </p:stCondLst>
                      <p:childTnLst>
                        <p:par>
                          <p:cTn id="137" fill="hold">
                            <p:stCondLst>
                              <p:cond delay="0"/>
                            </p:stCondLst>
                            <p:childTnLst>
                              <p:par>
                                <p:cTn id="138" presetID="2" presetClass="entr" presetSubtype="4" fill="hold" grpId="0" nodeType="clickEffect">
                                  <p:stCondLst>
                                    <p:cond delay="0"/>
                                  </p:stCondLst>
                                  <p:childTnLst>
                                    <p:set>
                                      <p:cBhvr>
                                        <p:cTn id="139" dur="1" fill="hold">
                                          <p:stCondLst>
                                            <p:cond delay="0"/>
                                          </p:stCondLst>
                                        </p:cTn>
                                        <p:tgtEl>
                                          <p:spTgt spid="42"/>
                                        </p:tgtEl>
                                        <p:attrNameLst>
                                          <p:attrName>style.visibility</p:attrName>
                                        </p:attrNameLst>
                                      </p:cBhvr>
                                      <p:to>
                                        <p:strVal val="visible"/>
                                      </p:to>
                                    </p:set>
                                    <p:anim calcmode="lin" valueType="num">
                                      <p:cBhvr additive="base">
                                        <p:cTn id="140" dur="500" fill="hold"/>
                                        <p:tgtEl>
                                          <p:spTgt spid="42"/>
                                        </p:tgtEl>
                                        <p:attrNameLst>
                                          <p:attrName>ppt_x</p:attrName>
                                        </p:attrNameLst>
                                      </p:cBhvr>
                                      <p:tavLst>
                                        <p:tav tm="0">
                                          <p:val>
                                            <p:strVal val="#ppt_x"/>
                                          </p:val>
                                        </p:tav>
                                        <p:tav tm="100000">
                                          <p:val>
                                            <p:strVal val="#ppt_x"/>
                                          </p:val>
                                        </p:tav>
                                      </p:tavLst>
                                    </p:anim>
                                    <p:anim calcmode="lin" valueType="num">
                                      <p:cBhvr additive="base">
                                        <p:cTn id="141" dur="500" fill="hold"/>
                                        <p:tgtEl>
                                          <p:spTgt spid="42"/>
                                        </p:tgtEl>
                                        <p:attrNameLst>
                                          <p:attrName>ppt_y</p:attrName>
                                        </p:attrNameLst>
                                      </p:cBhvr>
                                      <p:tavLst>
                                        <p:tav tm="0">
                                          <p:val>
                                            <p:strVal val="#ppt_y+0.1"/>
                                          </p:val>
                                        </p:tav>
                                        <p:tav tm="100000">
                                          <p:val>
                                            <p:strVal val="#ppt_y"/>
                                          </p:val>
                                        </p:tav>
                                      </p:tavLst>
                                    </p:anim>
                                    <p:animEffect transition="in" filter="fade">
                                      <p:cBhvr>
                                        <p:cTn id="142" dur="500"/>
                                        <p:tgtEl>
                                          <p:spTgt spid="42"/>
                                        </p:tgtEl>
                                      </p:cBhvr>
                                    </p:animEffect>
                                  </p:childTnLst>
                                </p:cTn>
                              </p:par>
                              <p:par>
                                <p:cTn id="143" presetID="2" presetClass="entr" presetSubtype="4" fill="hold" grpId="0" nodeType="withEffect">
                                  <p:stCondLst>
                                    <p:cond delay="0"/>
                                  </p:stCondLst>
                                  <p:childTnLst>
                                    <p:set>
                                      <p:cBhvr>
                                        <p:cTn id="144" dur="1" fill="hold">
                                          <p:stCondLst>
                                            <p:cond delay="0"/>
                                          </p:stCondLst>
                                        </p:cTn>
                                        <p:tgtEl>
                                          <p:spTgt spid="43"/>
                                        </p:tgtEl>
                                        <p:attrNameLst>
                                          <p:attrName>style.visibility</p:attrName>
                                        </p:attrNameLst>
                                      </p:cBhvr>
                                      <p:to>
                                        <p:strVal val="visible"/>
                                      </p:to>
                                    </p:set>
                                    <p:anim calcmode="lin" valueType="num">
                                      <p:cBhvr additive="base">
                                        <p:cTn id="145" dur="500" fill="hold"/>
                                        <p:tgtEl>
                                          <p:spTgt spid="43"/>
                                        </p:tgtEl>
                                        <p:attrNameLst>
                                          <p:attrName>ppt_x</p:attrName>
                                        </p:attrNameLst>
                                      </p:cBhvr>
                                      <p:tavLst>
                                        <p:tav tm="0">
                                          <p:val>
                                            <p:strVal val="#ppt_x"/>
                                          </p:val>
                                        </p:tav>
                                        <p:tav tm="100000">
                                          <p:val>
                                            <p:strVal val="#ppt_x"/>
                                          </p:val>
                                        </p:tav>
                                      </p:tavLst>
                                    </p:anim>
                                    <p:anim calcmode="lin" valueType="num">
                                      <p:cBhvr additive="base">
                                        <p:cTn id="146" dur="500" fill="hold"/>
                                        <p:tgtEl>
                                          <p:spTgt spid="43"/>
                                        </p:tgtEl>
                                        <p:attrNameLst>
                                          <p:attrName>ppt_y</p:attrName>
                                        </p:attrNameLst>
                                      </p:cBhvr>
                                      <p:tavLst>
                                        <p:tav tm="0">
                                          <p:val>
                                            <p:strVal val="#ppt_y+0.1"/>
                                          </p:val>
                                        </p:tav>
                                        <p:tav tm="100000">
                                          <p:val>
                                            <p:strVal val="#ppt_y"/>
                                          </p:val>
                                        </p:tav>
                                      </p:tavLst>
                                    </p:anim>
                                    <p:animEffect transition="in" filter="fade">
                                      <p:cBhvr>
                                        <p:cTn id="147" dur="500"/>
                                        <p:tgtEl>
                                          <p:spTgt spid="43"/>
                                        </p:tgtEl>
                                      </p:cBhvr>
                                    </p:animEffect>
                                  </p:childTnLst>
                                </p:cTn>
                              </p:par>
                              <p:par>
                                <p:cTn id="148" presetID="2" presetClass="entr" presetSubtype="4" fill="hold" grpId="0" nodeType="withEffect">
                                  <p:stCondLst>
                                    <p:cond delay="0"/>
                                  </p:stCondLst>
                                  <p:childTnLst>
                                    <p:set>
                                      <p:cBhvr>
                                        <p:cTn id="149" dur="1" fill="hold">
                                          <p:stCondLst>
                                            <p:cond delay="0"/>
                                          </p:stCondLst>
                                        </p:cTn>
                                        <p:tgtEl>
                                          <p:spTgt spid="44"/>
                                        </p:tgtEl>
                                        <p:attrNameLst>
                                          <p:attrName>style.visibility</p:attrName>
                                        </p:attrNameLst>
                                      </p:cBhvr>
                                      <p:to>
                                        <p:strVal val="visible"/>
                                      </p:to>
                                    </p:set>
                                    <p:anim calcmode="lin" valueType="num">
                                      <p:cBhvr additive="base">
                                        <p:cTn id="150" dur="500" fill="hold"/>
                                        <p:tgtEl>
                                          <p:spTgt spid="44"/>
                                        </p:tgtEl>
                                        <p:attrNameLst>
                                          <p:attrName>ppt_x</p:attrName>
                                        </p:attrNameLst>
                                      </p:cBhvr>
                                      <p:tavLst>
                                        <p:tav tm="0">
                                          <p:val>
                                            <p:strVal val="#ppt_x"/>
                                          </p:val>
                                        </p:tav>
                                        <p:tav tm="100000">
                                          <p:val>
                                            <p:strVal val="#ppt_x"/>
                                          </p:val>
                                        </p:tav>
                                      </p:tavLst>
                                    </p:anim>
                                    <p:anim calcmode="lin" valueType="num">
                                      <p:cBhvr additive="base">
                                        <p:cTn id="151" dur="500" fill="hold"/>
                                        <p:tgtEl>
                                          <p:spTgt spid="44"/>
                                        </p:tgtEl>
                                        <p:attrNameLst>
                                          <p:attrName>ppt_y</p:attrName>
                                        </p:attrNameLst>
                                      </p:cBhvr>
                                      <p:tavLst>
                                        <p:tav tm="0">
                                          <p:val>
                                            <p:strVal val="#ppt_y+0.1"/>
                                          </p:val>
                                        </p:tav>
                                        <p:tav tm="100000">
                                          <p:val>
                                            <p:strVal val="#ppt_y"/>
                                          </p:val>
                                        </p:tav>
                                      </p:tavLst>
                                    </p:anim>
                                    <p:animEffect transition="in" filter="fade">
                                      <p:cBhvr>
                                        <p:cTn id="15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Reading from the Nearest Replica</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Since Kafka 2.4 a consumer can fetch from a nearby follower instead of a distant leader</a:t>
            </a:r>
          </a:p>
        </p:txBody>
      </p:sp>
      <p:sp>
        <p:nvSpPr>
          <p:cNvPr id="11" name="a0f_zn10"/>
          <p:cNvSpPr/>
          <p:nvPr/>
        </p:nvSpPr>
        <p:spPr>
          <a:xfrm>
            <a:off x="457200" y="1280160"/>
            <a:ext cx="2377440" cy="1536192"/>
          </a:xfrm>
          <a:prstGeom prst="roundRect">
            <a:avLst>
              <a:gd name="adj" fmla="val 4761"/>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0f_znt11"/>
          <p:cNvSpPr txBox="1"/>
          <p:nvPr/>
        </p:nvSpPr>
        <p:spPr>
          <a:xfrm>
            <a:off x="594360" y="1335024"/>
            <a:ext cx="1371600" cy="201168"/>
          </a:xfrm>
          <a:prstGeom prst="rect">
            <a:avLst/>
          </a:prstGeom>
          <a:noFill/>
        </p:spPr>
        <p:txBody>
          <a:bodyPr wrap="square" lIns="0" tIns="0" rIns="0" bIns="0" anchor="ctr">
            <a:spAutoFit/>
          </a:bodyPr>
          <a:lstStyle/>
          <a:p>
            <a:pPr algn="l"/>
            <a:r>
              <a:rPr sz="800" b="1" spc="140">
                <a:solidFill>
                  <a:srgbClr val="78716C"/>
                </a:solidFill>
                <a:latin typeface="Segoe UI"/>
              </a:rPr>
              <a:t>ZONE A</a:t>
            </a:r>
          </a:p>
        </p:txBody>
      </p:sp>
      <p:sp>
        <p:nvSpPr>
          <p:cNvPr id="13" name="a0f_bk12"/>
          <p:cNvSpPr/>
          <p:nvPr/>
        </p:nvSpPr>
        <p:spPr>
          <a:xfrm>
            <a:off x="594360" y="1600200"/>
            <a:ext cx="1554480" cy="786384"/>
          </a:xfrm>
          <a:prstGeom prst="roundRect">
            <a:avLst>
              <a:gd name="adj" fmla="val 9302"/>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0f_bkn13"/>
          <p:cNvSpPr txBox="1"/>
          <p:nvPr/>
        </p:nvSpPr>
        <p:spPr>
          <a:xfrm>
            <a:off x="722376" y="1645920"/>
            <a:ext cx="1280160" cy="237744"/>
          </a:xfrm>
          <a:prstGeom prst="rect">
            <a:avLst/>
          </a:prstGeom>
          <a:noFill/>
        </p:spPr>
        <p:txBody>
          <a:bodyPr wrap="square" lIns="0" tIns="0" rIns="0" bIns="0" anchor="ctr">
            <a:spAutoFit/>
          </a:bodyPr>
          <a:lstStyle/>
          <a:p>
            <a:pPr algn="l"/>
            <a:r>
              <a:rPr sz="950" b="1">
                <a:solidFill>
                  <a:srgbClr val="1C1917"/>
                </a:solidFill>
                <a:latin typeface="Segoe UI"/>
              </a:rPr>
              <a:t>broker 1</a:t>
            </a:r>
          </a:p>
        </p:txBody>
      </p:sp>
      <p:sp>
        <p:nvSpPr>
          <p:cNvPr id="15" name="a0f_rp14"/>
          <p:cNvSpPr/>
          <p:nvPr/>
        </p:nvSpPr>
        <p:spPr>
          <a:xfrm>
            <a:off x="722376" y="1956816"/>
            <a:ext cx="1298448" cy="329184"/>
          </a:xfrm>
          <a:prstGeom prst="roundRect">
            <a:avLst>
              <a:gd name="adj" fmla="val 13888"/>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0f_rpn15"/>
          <p:cNvSpPr txBox="1"/>
          <p:nvPr/>
        </p:nvSpPr>
        <p:spPr>
          <a:xfrm>
            <a:off x="813816" y="1956816"/>
            <a:ext cx="365760" cy="329184"/>
          </a:xfrm>
          <a:prstGeom prst="rect">
            <a:avLst/>
          </a:prstGeom>
          <a:noFill/>
        </p:spPr>
        <p:txBody>
          <a:bodyPr wrap="square" lIns="0" tIns="0" rIns="0" bIns="0" anchor="ctr">
            <a:spAutoFit/>
          </a:bodyPr>
          <a:lstStyle/>
          <a:p>
            <a:pPr algn="l"/>
            <a:r>
              <a:rPr sz="1000" b="1">
                <a:solidFill>
                  <a:srgbClr val="FFFFFF"/>
                </a:solidFill>
                <a:latin typeface="Consolas"/>
              </a:rPr>
              <a:t>P0</a:t>
            </a:r>
          </a:p>
        </p:txBody>
      </p:sp>
      <p:sp>
        <p:nvSpPr>
          <p:cNvPr id="17" name="a0f_rpt16"/>
          <p:cNvSpPr txBox="1"/>
          <p:nvPr/>
        </p:nvSpPr>
        <p:spPr>
          <a:xfrm>
            <a:off x="1179576" y="1956816"/>
            <a:ext cx="749808" cy="329184"/>
          </a:xfrm>
          <a:prstGeom prst="rect">
            <a:avLst/>
          </a:prstGeom>
          <a:noFill/>
        </p:spPr>
        <p:txBody>
          <a:bodyPr wrap="square" lIns="0" tIns="0" rIns="0" bIns="0" anchor="ctr">
            <a:spAutoFit/>
          </a:bodyPr>
          <a:lstStyle/>
          <a:p>
            <a:pPr algn="r"/>
            <a:r>
              <a:rPr sz="800" b="1">
                <a:solidFill>
                  <a:srgbClr val="FFFFFF"/>
                </a:solidFill>
                <a:latin typeface="Segoe UI"/>
              </a:rPr>
              <a:t>leader</a:t>
            </a:r>
          </a:p>
        </p:txBody>
      </p:sp>
      <p:sp>
        <p:nvSpPr>
          <p:cNvPr id="18" name="a0f_zn17"/>
          <p:cNvSpPr/>
          <p:nvPr/>
        </p:nvSpPr>
        <p:spPr>
          <a:xfrm>
            <a:off x="2971800" y="1280160"/>
            <a:ext cx="2377440" cy="1536192"/>
          </a:xfrm>
          <a:prstGeom prst="roundRect">
            <a:avLst>
              <a:gd name="adj" fmla="val 4761"/>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0f_znt18"/>
          <p:cNvSpPr txBox="1"/>
          <p:nvPr/>
        </p:nvSpPr>
        <p:spPr>
          <a:xfrm>
            <a:off x="3108960" y="1335024"/>
            <a:ext cx="1371600" cy="201168"/>
          </a:xfrm>
          <a:prstGeom prst="rect">
            <a:avLst/>
          </a:prstGeom>
          <a:noFill/>
        </p:spPr>
        <p:txBody>
          <a:bodyPr wrap="square" lIns="0" tIns="0" rIns="0" bIns="0" anchor="ctr">
            <a:spAutoFit/>
          </a:bodyPr>
          <a:lstStyle/>
          <a:p>
            <a:pPr algn="l"/>
            <a:r>
              <a:rPr sz="800" b="1" spc="140">
                <a:solidFill>
                  <a:srgbClr val="78716C"/>
                </a:solidFill>
                <a:latin typeface="Segoe UI"/>
              </a:rPr>
              <a:t>ZONE B</a:t>
            </a:r>
          </a:p>
        </p:txBody>
      </p:sp>
      <p:sp>
        <p:nvSpPr>
          <p:cNvPr id="20" name="a0f_bk19"/>
          <p:cNvSpPr/>
          <p:nvPr/>
        </p:nvSpPr>
        <p:spPr>
          <a:xfrm>
            <a:off x="3108960" y="1600200"/>
            <a:ext cx="1554480" cy="786384"/>
          </a:xfrm>
          <a:prstGeom prst="roundRect">
            <a:avLst>
              <a:gd name="adj" fmla="val 9302"/>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0f_bkn20"/>
          <p:cNvSpPr txBox="1"/>
          <p:nvPr/>
        </p:nvSpPr>
        <p:spPr>
          <a:xfrm>
            <a:off x="3236976" y="1645920"/>
            <a:ext cx="1280160" cy="237744"/>
          </a:xfrm>
          <a:prstGeom prst="rect">
            <a:avLst/>
          </a:prstGeom>
          <a:noFill/>
        </p:spPr>
        <p:txBody>
          <a:bodyPr wrap="square" lIns="0" tIns="0" rIns="0" bIns="0" anchor="ctr">
            <a:spAutoFit/>
          </a:bodyPr>
          <a:lstStyle/>
          <a:p>
            <a:pPr algn="l"/>
            <a:r>
              <a:rPr sz="950" b="1">
                <a:solidFill>
                  <a:srgbClr val="1C1917"/>
                </a:solidFill>
                <a:latin typeface="Segoe UI"/>
              </a:rPr>
              <a:t>broker 2</a:t>
            </a:r>
          </a:p>
        </p:txBody>
      </p:sp>
      <p:sp>
        <p:nvSpPr>
          <p:cNvPr id="22" name="a0f_rp21"/>
          <p:cNvSpPr/>
          <p:nvPr/>
        </p:nvSpPr>
        <p:spPr>
          <a:xfrm>
            <a:off x="3236976" y="1956816"/>
            <a:ext cx="1298448" cy="329184"/>
          </a:xfrm>
          <a:prstGeom prst="roundRect">
            <a:avLst>
              <a:gd name="adj" fmla="val 13888"/>
            </a:avLst>
          </a:prstGeom>
          <a:solidFill>
            <a:srgbClr val="D9F2F7"/>
          </a:solidFill>
          <a:ln w="12700">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0f_rpn22"/>
          <p:cNvSpPr txBox="1"/>
          <p:nvPr/>
        </p:nvSpPr>
        <p:spPr>
          <a:xfrm>
            <a:off x="3328416" y="1956816"/>
            <a:ext cx="365760" cy="329184"/>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24" name="a0f_rpt23"/>
          <p:cNvSpPr txBox="1"/>
          <p:nvPr/>
        </p:nvSpPr>
        <p:spPr>
          <a:xfrm>
            <a:off x="3694176" y="1956816"/>
            <a:ext cx="749808" cy="329184"/>
          </a:xfrm>
          <a:prstGeom prst="rect">
            <a:avLst/>
          </a:prstGeom>
          <a:noFill/>
        </p:spPr>
        <p:txBody>
          <a:bodyPr wrap="square" lIns="0" tIns="0" rIns="0" bIns="0" anchor="ctr">
            <a:spAutoFit/>
          </a:bodyPr>
          <a:lstStyle/>
          <a:p>
            <a:pPr algn="r"/>
            <a:r>
              <a:rPr sz="800" b="0">
                <a:solidFill>
                  <a:srgbClr val="0E7490"/>
                </a:solidFill>
                <a:latin typeface="Segoe UI"/>
              </a:rPr>
              <a:t>follower</a:t>
            </a:r>
          </a:p>
        </p:txBody>
      </p:sp>
      <p:sp>
        <p:nvSpPr>
          <p:cNvPr id="25" name="a0f_zn24"/>
          <p:cNvSpPr/>
          <p:nvPr/>
        </p:nvSpPr>
        <p:spPr>
          <a:xfrm>
            <a:off x="5486400" y="1280160"/>
            <a:ext cx="3200400" cy="1536192"/>
          </a:xfrm>
          <a:prstGeom prst="roundRect">
            <a:avLst>
              <a:gd name="adj" fmla="val 4761"/>
            </a:avLst>
          </a:prstGeom>
          <a:solidFill>
            <a:srgbClr val="F7F6F3"/>
          </a:solid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0f_znt25"/>
          <p:cNvSpPr txBox="1"/>
          <p:nvPr/>
        </p:nvSpPr>
        <p:spPr>
          <a:xfrm>
            <a:off x="5623560" y="1335024"/>
            <a:ext cx="1371600" cy="201168"/>
          </a:xfrm>
          <a:prstGeom prst="rect">
            <a:avLst/>
          </a:prstGeom>
          <a:noFill/>
        </p:spPr>
        <p:txBody>
          <a:bodyPr wrap="square" lIns="0" tIns="0" rIns="0" bIns="0" anchor="ctr">
            <a:spAutoFit/>
          </a:bodyPr>
          <a:lstStyle/>
          <a:p>
            <a:pPr algn="l"/>
            <a:r>
              <a:rPr sz="800" b="1" spc="140">
                <a:solidFill>
                  <a:srgbClr val="78716C"/>
                </a:solidFill>
                <a:latin typeface="Segoe UI"/>
              </a:rPr>
              <a:t>ZONE C</a:t>
            </a:r>
          </a:p>
        </p:txBody>
      </p:sp>
      <p:sp>
        <p:nvSpPr>
          <p:cNvPr id="27" name="a0f_bk26"/>
          <p:cNvSpPr/>
          <p:nvPr/>
        </p:nvSpPr>
        <p:spPr>
          <a:xfrm>
            <a:off x="5623560" y="1600200"/>
            <a:ext cx="1554480" cy="786384"/>
          </a:xfrm>
          <a:prstGeom prst="roundRect">
            <a:avLst>
              <a:gd name="adj" fmla="val 9302"/>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0f_bkn27"/>
          <p:cNvSpPr txBox="1"/>
          <p:nvPr/>
        </p:nvSpPr>
        <p:spPr>
          <a:xfrm>
            <a:off x="5751576" y="1645920"/>
            <a:ext cx="1280160" cy="237744"/>
          </a:xfrm>
          <a:prstGeom prst="rect">
            <a:avLst/>
          </a:prstGeom>
          <a:noFill/>
        </p:spPr>
        <p:txBody>
          <a:bodyPr wrap="square" lIns="0" tIns="0" rIns="0" bIns="0" anchor="ctr">
            <a:spAutoFit/>
          </a:bodyPr>
          <a:lstStyle/>
          <a:p>
            <a:pPr algn="l"/>
            <a:r>
              <a:rPr sz="950" b="1">
                <a:solidFill>
                  <a:srgbClr val="1C1917"/>
                </a:solidFill>
                <a:latin typeface="Segoe UI"/>
              </a:rPr>
              <a:t>broker 3</a:t>
            </a:r>
          </a:p>
        </p:txBody>
      </p:sp>
      <p:sp>
        <p:nvSpPr>
          <p:cNvPr id="29" name="a0f_rp28"/>
          <p:cNvSpPr/>
          <p:nvPr/>
        </p:nvSpPr>
        <p:spPr>
          <a:xfrm>
            <a:off x="5751576" y="1956816"/>
            <a:ext cx="1298448" cy="329184"/>
          </a:xfrm>
          <a:prstGeom prst="roundRect">
            <a:avLst>
              <a:gd name="adj" fmla="val 13888"/>
            </a:avLst>
          </a:prstGeom>
          <a:solidFill>
            <a:srgbClr val="D9F2F7"/>
          </a:solidFill>
          <a:ln w="12700">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0f_rpn29"/>
          <p:cNvSpPr txBox="1"/>
          <p:nvPr/>
        </p:nvSpPr>
        <p:spPr>
          <a:xfrm>
            <a:off x="5843016" y="1956816"/>
            <a:ext cx="365760" cy="329184"/>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31" name="a0f_rpt30"/>
          <p:cNvSpPr txBox="1"/>
          <p:nvPr/>
        </p:nvSpPr>
        <p:spPr>
          <a:xfrm>
            <a:off x="6208776" y="1956816"/>
            <a:ext cx="749808" cy="329184"/>
          </a:xfrm>
          <a:prstGeom prst="rect">
            <a:avLst/>
          </a:prstGeom>
          <a:noFill/>
        </p:spPr>
        <p:txBody>
          <a:bodyPr wrap="square" lIns="0" tIns="0" rIns="0" bIns="0" anchor="ctr">
            <a:spAutoFit/>
          </a:bodyPr>
          <a:lstStyle/>
          <a:p>
            <a:pPr algn="r"/>
            <a:r>
              <a:rPr sz="800" b="0">
                <a:solidFill>
                  <a:srgbClr val="0E7490"/>
                </a:solidFill>
                <a:latin typeface="Segoe UI"/>
              </a:rPr>
              <a:t>follower</a:t>
            </a:r>
          </a:p>
        </p:txBody>
      </p:sp>
      <p:sp>
        <p:nvSpPr>
          <p:cNvPr id="32" name="a0f_nd31"/>
          <p:cNvSpPr/>
          <p:nvPr/>
        </p:nvSpPr>
        <p:spPr>
          <a:xfrm>
            <a:off x="7589520" y="1664208"/>
            <a:ext cx="960120" cy="658368"/>
          </a:xfrm>
          <a:prstGeom prst="roundRect">
            <a:avLst>
              <a:gd name="adj" fmla="val 1111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a0f_ndt32"/>
          <p:cNvSpPr txBox="1"/>
          <p:nvPr/>
        </p:nvSpPr>
        <p:spPr>
          <a:xfrm>
            <a:off x="7635240" y="1700784"/>
            <a:ext cx="868680" cy="310896"/>
          </a:xfrm>
          <a:prstGeom prst="rect">
            <a:avLst/>
          </a:prstGeom>
          <a:noFill/>
        </p:spPr>
        <p:txBody>
          <a:bodyPr wrap="square" lIns="0" tIns="0" rIns="0" bIns="0" anchor="b">
            <a:spAutoFit/>
          </a:bodyPr>
          <a:lstStyle/>
          <a:p>
            <a:pPr algn="ctr"/>
            <a:r>
              <a:rPr sz="900" b="1">
                <a:solidFill>
                  <a:srgbClr val="1C1917"/>
                </a:solidFill>
                <a:latin typeface="Segoe UI"/>
              </a:rPr>
              <a:t>Consumer</a:t>
            </a:r>
          </a:p>
        </p:txBody>
      </p:sp>
      <p:sp>
        <p:nvSpPr>
          <p:cNvPr id="34" name="a0f_nds33"/>
          <p:cNvSpPr txBox="1"/>
          <p:nvPr/>
        </p:nvSpPr>
        <p:spPr>
          <a:xfrm>
            <a:off x="7635240" y="2020824"/>
            <a:ext cx="868680" cy="265176"/>
          </a:xfrm>
          <a:prstGeom prst="rect">
            <a:avLst/>
          </a:prstGeom>
          <a:noFill/>
        </p:spPr>
        <p:txBody>
          <a:bodyPr wrap="square" lIns="0" tIns="0" rIns="0" bIns="0" anchor="t">
            <a:spAutoFit/>
          </a:bodyPr>
          <a:lstStyle/>
          <a:p>
            <a:pPr algn="ctr"/>
            <a:r>
              <a:rPr sz="800" b="0">
                <a:solidFill>
                  <a:srgbClr val="4F46E5"/>
                </a:solidFill>
                <a:latin typeface="Segoe UI"/>
              </a:rPr>
              <a:t>in zone C</a:t>
            </a:r>
          </a:p>
        </p:txBody>
      </p:sp>
      <p:cxnSp>
        <p:nvCxnSpPr>
          <p:cNvPr id="35" name="a1u_wr34"/>
          <p:cNvCxnSpPr/>
          <p:nvPr/>
        </p:nvCxnSpPr>
        <p:spPr>
          <a:xfrm>
            <a:off x="914400" y="2386584"/>
            <a:ext cx="0" cy="210312"/>
          </a:xfrm>
          <a:prstGeom prst="line">
            <a:avLst/>
          </a:prstGeom>
          <a:ln w="15875">
            <a:solidFill>
              <a:srgbClr val="78716C"/>
            </a:solidFill>
            <a:prstDash val="dash"/>
          </a:ln>
        </p:spPr>
        <p:style>
          <a:lnRef idx="2">
            <a:schemeClr val="accent1"/>
          </a:lnRef>
          <a:fillRef idx="0">
            <a:schemeClr val="accent1"/>
          </a:fillRef>
          <a:effectRef idx="1">
            <a:schemeClr val="accent1"/>
          </a:effectRef>
          <a:fontRef idx="minor">
            <a:schemeClr val="tx1"/>
          </a:fontRef>
        </p:style>
      </p:cxnSp>
      <p:cxnSp>
        <p:nvCxnSpPr>
          <p:cNvPr id="36" name="a1u_wr35"/>
          <p:cNvCxnSpPr/>
          <p:nvPr/>
        </p:nvCxnSpPr>
        <p:spPr>
          <a:xfrm>
            <a:off x="914400" y="2596896"/>
            <a:ext cx="7150608" cy="0"/>
          </a:xfrm>
          <a:prstGeom prst="line">
            <a:avLst/>
          </a:prstGeom>
          <a:ln w="15875">
            <a:solidFill>
              <a:srgbClr val="78716C"/>
            </a:solidFill>
            <a:prstDash val="dash"/>
          </a:ln>
        </p:spPr>
        <p:style>
          <a:lnRef idx="2">
            <a:schemeClr val="accent1"/>
          </a:lnRef>
          <a:fillRef idx="0">
            <a:schemeClr val="accent1"/>
          </a:fillRef>
          <a:effectRef idx="1">
            <a:schemeClr val="accent1"/>
          </a:effectRef>
          <a:fontRef idx="minor">
            <a:schemeClr val="tx1"/>
          </a:fontRef>
        </p:style>
      </p:cxnSp>
      <p:cxnSp>
        <p:nvCxnSpPr>
          <p:cNvPr id="37" name="a1u_ar36"/>
          <p:cNvCxnSpPr/>
          <p:nvPr/>
        </p:nvCxnSpPr>
        <p:spPr>
          <a:xfrm flipV="1">
            <a:off x="8065008" y="2340864"/>
            <a:ext cx="0" cy="256032"/>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1u_lb37"/>
          <p:cNvSpPr txBox="1"/>
          <p:nvPr/>
        </p:nvSpPr>
        <p:spPr>
          <a:xfrm>
            <a:off x="3108960" y="2615184"/>
            <a:ext cx="2194560" cy="201168"/>
          </a:xfrm>
          <a:prstGeom prst="rect">
            <a:avLst/>
          </a:prstGeom>
          <a:noFill/>
        </p:spPr>
        <p:txBody>
          <a:bodyPr wrap="square" lIns="0" tIns="0" rIns="0" bIns="0" anchor="ctr">
            <a:spAutoFit/>
          </a:bodyPr>
          <a:lstStyle/>
          <a:p>
            <a:pPr algn="ctr"/>
            <a:r>
              <a:rPr sz="750" b="0">
                <a:solidFill>
                  <a:srgbClr val="78716C"/>
                </a:solidFill>
                <a:latin typeface="Segoe UI"/>
              </a:rPr>
              <a:t>default: read from the leader, across zones</a:t>
            </a:r>
          </a:p>
        </p:txBody>
      </p:sp>
      <p:cxnSp>
        <p:nvCxnSpPr>
          <p:cNvPr id="39" name="a2u_ar38"/>
          <p:cNvCxnSpPr/>
          <p:nvPr/>
        </p:nvCxnSpPr>
        <p:spPr>
          <a:xfrm>
            <a:off x="7196328" y="1993392"/>
            <a:ext cx="374903" cy="0"/>
          </a:xfrm>
          <a:prstGeom prst="line">
            <a:avLst/>
          </a:prstGeom>
          <a:ln w="285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a2u_lb39"/>
          <p:cNvSpPr txBox="1"/>
          <p:nvPr/>
        </p:nvSpPr>
        <p:spPr>
          <a:xfrm>
            <a:off x="7132320" y="1719072"/>
            <a:ext cx="502920" cy="201168"/>
          </a:xfrm>
          <a:prstGeom prst="rect">
            <a:avLst/>
          </a:prstGeom>
          <a:noFill/>
        </p:spPr>
        <p:txBody>
          <a:bodyPr wrap="square" lIns="0" tIns="0" rIns="0" bIns="0" anchor="ctr">
            <a:spAutoFit/>
          </a:bodyPr>
          <a:lstStyle/>
          <a:p>
            <a:pPr algn="ctr"/>
            <a:r>
              <a:rPr sz="800" b="1">
                <a:solidFill>
                  <a:srgbClr val="C2410C"/>
                </a:solidFill>
                <a:latin typeface="Segoe UI"/>
              </a:rPr>
              <a:t>nearest</a:t>
            </a:r>
          </a:p>
        </p:txBody>
      </p:sp>
      <p:sp>
        <p:nvSpPr>
          <p:cNvPr id="41" name="a3f_codebg40"/>
          <p:cNvSpPr/>
          <p:nvPr/>
        </p:nvSpPr>
        <p:spPr>
          <a:xfrm>
            <a:off x="457200" y="2971800"/>
            <a:ext cx="4297680" cy="1536192"/>
          </a:xfrm>
          <a:prstGeom prst="roundRect">
            <a:avLst>
              <a:gd name="adj" fmla="val 4761"/>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3f_codeh41"/>
          <p:cNvSpPr txBox="1"/>
          <p:nvPr/>
        </p:nvSpPr>
        <p:spPr>
          <a:xfrm>
            <a:off x="566928" y="3026664"/>
            <a:ext cx="4078224" cy="219456"/>
          </a:xfrm>
          <a:prstGeom prst="rect">
            <a:avLst/>
          </a:prstGeom>
          <a:noFill/>
        </p:spPr>
        <p:txBody>
          <a:bodyPr wrap="square" lIns="0" tIns="0" rIns="0" bIns="0" anchor="ctr">
            <a:spAutoFit/>
          </a:bodyPr>
          <a:lstStyle/>
          <a:p>
            <a:pPr algn="l"/>
            <a:r>
              <a:rPr sz="950" b="1">
                <a:solidFill>
                  <a:srgbClr val="A8A29E"/>
                </a:solidFill>
                <a:latin typeface="Consolas"/>
              </a:rPr>
              <a:t>setting it up</a:t>
            </a:r>
          </a:p>
        </p:txBody>
      </p:sp>
      <p:sp>
        <p:nvSpPr>
          <p:cNvPr id="43" name="a3f_codesep42"/>
          <p:cNvSpPr/>
          <p:nvPr/>
        </p:nvSpPr>
        <p:spPr>
          <a:xfrm>
            <a:off x="566928" y="3300984"/>
            <a:ext cx="4078224"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3w_code43"/>
          <p:cNvSpPr txBox="1"/>
          <p:nvPr/>
        </p:nvSpPr>
        <p:spPr>
          <a:xfrm>
            <a:off x="566928" y="3355848"/>
            <a:ext cx="4078224" cy="173736"/>
          </a:xfrm>
          <a:prstGeom prst="rect">
            <a:avLst/>
          </a:prstGeom>
          <a:noFill/>
        </p:spPr>
        <p:txBody>
          <a:bodyPr wrap="none" lIns="0" tIns="0" rIns="0" bIns="0" anchor="ctr">
            <a:spAutoFit/>
          </a:bodyPr>
          <a:lstStyle/>
          <a:p>
            <a:pPr algn="l"/>
            <a:r>
              <a:rPr sz="800" b="0">
                <a:solidFill>
                  <a:srgbClr val="8A8580"/>
                </a:solidFill>
                <a:latin typeface="Consolas"/>
              </a:rPr>
              <a:t># every broker: where it runs, and the selector</a:t>
            </a:r>
          </a:p>
        </p:txBody>
      </p:sp>
      <p:sp>
        <p:nvSpPr>
          <p:cNvPr id="45" name="a3wd90_code44"/>
          <p:cNvSpPr txBox="1"/>
          <p:nvPr/>
        </p:nvSpPr>
        <p:spPr>
          <a:xfrm>
            <a:off x="566928" y="3529584"/>
            <a:ext cx="4078224" cy="173736"/>
          </a:xfrm>
          <a:prstGeom prst="rect">
            <a:avLst/>
          </a:prstGeom>
          <a:noFill/>
        </p:spPr>
        <p:txBody>
          <a:bodyPr wrap="none" lIns="0" tIns="0" rIns="0" bIns="0" anchor="ctr">
            <a:spAutoFit/>
          </a:bodyPr>
          <a:lstStyle/>
          <a:p>
            <a:pPr algn="l"/>
            <a:r>
              <a:rPr sz="800" b="0">
                <a:solidFill>
                  <a:srgbClr val="E7E5E4"/>
                </a:solidFill>
                <a:latin typeface="Consolas"/>
              </a:rPr>
              <a:t>broker.rack=zone-c</a:t>
            </a:r>
          </a:p>
        </p:txBody>
      </p:sp>
      <p:sp>
        <p:nvSpPr>
          <p:cNvPr id="46" name="a3wd180_code45"/>
          <p:cNvSpPr txBox="1"/>
          <p:nvPr/>
        </p:nvSpPr>
        <p:spPr>
          <a:xfrm>
            <a:off x="566928" y="3703320"/>
            <a:ext cx="4078224" cy="173736"/>
          </a:xfrm>
          <a:prstGeom prst="rect">
            <a:avLst/>
          </a:prstGeom>
          <a:noFill/>
        </p:spPr>
        <p:txBody>
          <a:bodyPr wrap="none" lIns="0" tIns="0" rIns="0" bIns="0" anchor="ctr">
            <a:spAutoFit/>
          </a:bodyPr>
          <a:lstStyle/>
          <a:p>
            <a:pPr algn="l"/>
            <a:r>
              <a:rPr sz="800" b="0">
                <a:solidFill>
                  <a:srgbClr val="E7E5E4"/>
                </a:solidFill>
                <a:latin typeface="Consolas"/>
              </a:rPr>
              <a:t>replica.selector.class=\</a:t>
            </a:r>
          </a:p>
        </p:txBody>
      </p:sp>
      <p:sp>
        <p:nvSpPr>
          <p:cNvPr id="47" name="a3wd270_code46"/>
          <p:cNvSpPr txBox="1"/>
          <p:nvPr/>
        </p:nvSpPr>
        <p:spPr>
          <a:xfrm>
            <a:off x="566928" y="3877056"/>
            <a:ext cx="4078224" cy="173736"/>
          </a:xfrm>
          <a:prstGeom prst="rect">
            <a:avLst/>
          </a:prstGeom>
          <a:noFill/>
        </p:spPr>
        <p:txBody>
          <a:bodyPr wrap="none" lIns="0" tIns="0" rIns="0" bIns="0" anchor="ctr">
            <a:spAutoFit/>
          </a:bodyPr>
          <a:lstStyle/>
          <a:p>
            <a:pPr algn="l"/>
            <a:r>
              <a:rPr sz="800" b="0">
                <a:solidFill>
                  <a:srgbClr val="E7E5E4"/>
                </a:solidFill>
                <a:latin typeface="Consolas"/>
              </a:rPr>
              <a:t>  org.apache.kafka.common.replica.RackAwareReplicaSelector</a:t>
            </a:r>
          </a:p>
        </p:txBody>
      </p:sp>
      <p:sp>
        <p:nvSpPr>
          <p:cNvPr id="48" name="a3wd360_code47"/>
          <p:cNvSpPr txBox="1"/>
          <p:nvPr/>
        </p:nvSpPr>
        <p:spPr>
          <a:xfrm>
            <a:off x="566928" y="4050791"/>
            <a:ext cx="4078224" cy="173736"/>
          </a:xfrm>
          <a:prstGeom prst="rect">
            <a:avLst/>
          </a:prstGeom>
          <a:noFill/>
        </p:spPr>
        <p:txBody>
          <a:bodyPr wrap="none" lIns="0" tIns="0" rIns="0" bIns="0" anchor="ctr">
            <a:spAutoFit/>
          </a:bodyPr>
          <a:lstStyle/>
          <a:p>
            <a:pPr algn="l"/>
            <a:r>
              <a:rPr sz="800" b="0">
                <a:solidFill>
                  <a:srgbClr val="8A8580"/>
                </a:solidFill>
                <a:latin typeface="Consolas"/>
              </a:rPr>
              <a:t># the consumer: where it runs</a:t>
            </a:r>
          </a:p>
        </p:txBody>
      </p:sp>
      <p:sp>
        <p:nvSpPr>
          <p:cNvPr id="49" name="a3wd450_code48"/>
          <p:cNvSpPr txBox="1"/>
          <p:nvPr/>
        </p:nvSpPr>
        <p:spPr>
          <a:xfrm>
            <a:off x="566928" y="4224528"/>
            <a:ext cx="4078224" cy="173736"/>
          </a:xfrm>
          <a:prstGeom prst="rect">
            <a:avLst/>
          </a:prstGeom>
          <a:noFill/>
        </p:spPr>
        <p:txBody>
          <a:bodyPr wrap="none" lIns="0" tIns="0" rIns="0" bIns="0" anchor="ctr">
            <a:spAutoFit/>
          </a:bodyPr>
          <a:lstStyle/>
          <a:p>
            <a:pPr algn="l"/>
            <a:r>
              <a:rPr sz="800" b="1">
                <a:solidFill>
                  <a:srgbClr val="FDBA74"/>
                </a:solidFill>
                <a:latin typeface="Consolas"/>
              </a:rPr>
              <a:t>client.rack=zone-c</a:t>
            </a:r>
          </a:p>
        </p:txBody>
      </p:sp>
      <p:sp>
        <p:nvSpPr>
          <p:cNvPr id="50" name="a3ud300_dot49"/>
          <p:cNvSpPr/>
          <p:nvPr/>
        </p:nvSpPr>
        <p:spPr>
          <a:xfrm>
            <a:off x="5029200" y="31135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a3ud300_b50"/>
          <p:cNvSpPr txBox="1"/>
          <p:nvPr/>
        </p:nvSpPr>
        <p:spPr>
          <a:xfrm>
            <a:off x="5248656" y="3017520"/>
            <a:ext cx="3438144" cy="420624"/>
          </a:xfrm>
          <a:prstGeom prst="rect">
            <a:avLst/>
          </a:prstGeom>
          <a:noFill/>
        </p:spPr>
        <p:txBody>
          <a:bodyPr wrap="square" lIns="0" tIns="0" rIns="0" bIns="0" anchor="t">
            <a:spAutoFit/>
          </a:bodyPr>
          <a:lstStyle/>
          <a:p>
            <a:pPr algn="l"/>
            <a:r>
              <a:rPr sz="950" b="1">
                <a:solidFill>
                  <a:srgbClr val="1C1917"/>
                </a:solidFill>
                <a:latin typeface="Segoe UI"/>
              </a:rPr>
              <a:t>Why  </a:t>
            </a:r>
            <a:r>
              <a:rPr sz="950" b="0">
                <a:solidFill>
                  <a:srgbClr val="44403C"/>
                </a:solidFill>
                <a:latin typeface="Segoe UI"/>
              </a:rPr>
              <a:t>lower latency, and less traffic between zones</a:t>
            </a:r>
          </a:p>
        </p:txBody>
      </p:sp>
      <p:sp>
        <p:nvSpPr>
          <p:cNvPr id="52" name="a3ud420_dot51"/>
          <p:cNvSpPr/>
          <p:nvPr/>
        </p:nvSpPr>
        <p:spPr>
          <a:xfrm>
            <a:off x="5029200" y="35707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a3ud420_b52"/>
          <p:cNvSpPr txBox="1"/>
          <p:nvPr/>
        </p:nvSpPr>
        <p:spPr>
          <a:xfrm>
            <a:off x="5248656" y="3474720"/>
            <a:ext cx="3438144" cy="420624"/>
          </a:xfrm>
          <a:prstGeom prst="rect">
            <a:avLst/>
          </a:prstGeom>
          <a:noFill/>
        </p:spPr>
        <p:txBody>
          <a:bodyPr wrap="square" lIns="0" tIns="0" rIns="0" bIns="0" anchor="t">
            <a:spAutoFit/>
          </a:bodyPr>
          <a:lstStyle/>
          <a:p>
            <a:pPr algn="l"/>
            <a:r>
              <a:rPr sz="950" b="1">
                <a:solidFill>
                  <a:srgbClr val="1C1917"/>
                </a:solidFill>
                <a:latin typeface="Segoe UI"/>
              </a:rPr>
              <a:t>The catch  </a:t>
            </a:r>
            <a:r>
              <a:rPr sz="950" b="0">
                <a:solidFill>
                  <a:srgbClr val="44403C"/>
                </a:solidFill>
                <a:latin typeface="Segoe UI"/>
              </a:rPr>
              <a:t>a follower can be a moment behind the leader</a:t>
            </a:r>
          </a:p>
        </p:txBody>
      </p:sp>
      <p:sp>
        <p:nvSpPr>
          <p:cNvPr id="54" name="a3ud540_dot53"/>
          <p:cNvSpPr/>
          <p:nvPr/>
        </p:nvSpPr>
        <p:spPr>
          <a:xfrm>
            <a:off x="5029200" y="40279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a3ud540_b54"/>
          <p:cNvSpPr txBox="1"/>
          <p:nvPr/>
        </p:nvSpPr>
        <p:spPr>
          <a:xfrm>
            <a:off x="5248656" y="3931920"/>
            <a:ext cx="3438144" cy="420624"/>
          </a:xfrm>
          <a:prstGeom prst="rect">
            <a:avLst/>
          </a:prstGeom>
          <a:noFill/>
        </p:spPr>
        <p:txBody>
          <a:bodyPr wrap="square" lIns="0" tIns="0" rIns="0" bIns="0" anchor="t">
            <a:spAutoFit/>
          </a:bodyPr>
          <a:lstStyle/>
          <a:p>
            <a:pPr algn="l"/>
            <a:r>
              <a:rPr sz="950" b="1">
                <a:solidFill>
                  <a:srgbClr val="1C1917"/>
                </a:solidFill>
                <a:latin typeface="Segoe UI"/>
              </a:rPr>
              <a:t>Writes  </a:t>
            </a:r>
            <a:r>
              <a:rPr sz="950" b="0">
                <a:solidFill>
                  <a:srgbClr val="44403C"/>
                </a:solidFill>
                <a:latin typeface="Segoe UI"/>
              </a:rPr>
              <a:t>still always go to the leader</a:t>
            </a:r>
          </a:p>
        </p:txBody>
      </p:sp>
      <p:sp>
        <p:nvSpPr>
          <p:cNvPr id="56" name="ft5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57" name="ft5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ft5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59" name="ft5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5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500"/>
                                        <p:tgtEl>
                                          <p:spTgt spid="34"/>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35"/>
                                        </p:tgtEl>
                                        <p:attrNameLst>
                                          <p:attrName>style.visibility</p:attrName>
                                        </p:attrNameLst>
                                      </p:cBhvr>
                                      <p:to>
                                        <p:strVal val="visible"/>
                                      </p:to>
                                    </p:set>
                                    <p:anim calcmode="lin" valueType="num">
                                      <p:cBhvr additive="base">
                                        <p:cTn id="81" dur="500" fill="hold"/>
                                        <p:tgtEl>
                                          <p:spTgt spid="35"/>
                                        </p:tgtEl>
                                        <p:attrNameLst>
                                          <p:attrName>ppt_x</p:attrName>
                                        </p:attrNameLst>
                                      </p:cBhvr>
                                      <p:tavLst>
                                        <p:tav tm="0">
                                          <p:val>
                                            <p:strVal val="#ppt_x"/>
                                          </p:val>
                                        </p:tav>
                                        <p:tav tm="100000">
                                          <p:val>
                                            <p:strVal val="#ppt_x"/>
                                          </p:val>
                                        </p:tav>
                                      </p:tavLst>
                                    </p:anim>
                                    <p:anim calcmode="lin" valueType="num">
                                      <p:cBhvr additive="base">
                                        <p:cTn id="82" dur="500" fill="hold"/>
                                        <p:tgtEl>
                                          <p:spTgt spid="35"/>
                                        </p:tgtEl>
                                        <p:attrNameLst>
                                          <p:attrName>ppt_y</p:attrName>
                                        </p:attrNameLst>
                                      </p:cBhvr>
                                      <p:tavLst>
                                        <p:tav tm="0">
                                          <p:val>
                                            <p:strVal val="#ppt_y+0.1"/>
                                          </p:val>
                                        </p:tav>
                                        <p:tav tm="100000">
                                          <p:val>
                                            <p:strVal val="#ppt_y"/>
                                          </p:val>
                                        </p:tav>
                                      </p:tavLst>
                                    </p:anim>
                                    <p:animEffect transition="in" filter="fade">
                                      <p:cBhvr>
                                        <p:cTn id="83" dur="500"/>
                                        <p:tgtEl>
                                          <p:spTgt spid="35"/>
                                        </p:tgtEl>
                                      </p:cBhvr>
                                    </p:animEffect>
                                  </p:childTnLst>
                                </p:cTn>
                              </p:par>
                              <p:par>
                                <p:cTn id="84" presetID="2" presetClass="entr" presetSubtype="4" fill="hold" grpId="0" nodeType="withEffect">
                                  <p:stCondLst>
                                    <p:cond delay="0"/>
                                  </p:stCondLst>
                                  <p:childTnLst>
                                    <p:set>
                                      <p:cBhvr>
                                        <p:cTn id="85" dur="1" fill="hold">
                                          <p:stCondLst>
                                            <p:cond delay="0"/>
                                          </p:stCondLst>
                                        </p:cTn>
                                        <p:tgtEl>
                                          <p:spTgt spid="36"/>
                                        </p:tgtEl>
                                        <p:attrNameLst>
                                          <p:attrName>style.visibility</p:attrName>
                                        </p:attrNameLst>
                                      </p:cBhvr>
                                      <p:to>
                                        <p:strVal val="visible"/>
                                      </p:to>
                                    </p:set>
                                    <p:anim calcmode="lin" valueType="num">
                                      <p:cBhvr additive="base">
                                        <p:cTn id="86" dur="500" fill="hold"/>
                                        <p:tgtEl>
                                          <p:spTgt spid="36"/>
                                        </p:tgtEl>
                                        <p:attrNameLst>
                                          <p:attrName>ppt_x</p:attrName>
                                        </p:attrNameLst>
                                      </p:cBhvr>
                                      <p:tavLst>
                                        <p:tav tm="0">
                                          <p:val>
                                            <p:strVal val="#ppt_x"/>
                                          </p:val>
                                        </p:tav>
                                        <p:tav tm="100000">
                                          <p:val>
                                            <p:strVal val="#ppt_x"/>
                                          </p:val>
                                        </p:tav>
                                      </p:tavLst>
                                    </p:anim>
                                    <p:anim calcmode="lin" valueType="num">
                                      <p:cBhvr additive="base">
                                        <p:cTn id="87" dur="500" fill="hold"/>
                                        <p:tgtEl>
                                          <p:spTgt spid="36"/>
                                        </p:tgtEl>
                                        <p:attrNameLst>
                                          <p:attrName>ppt_y</p:attrName>
                                        </p:attrNameLst>
                                      </p:cBhvr>
                                      <p:tavLst>
                                        <p:tav tm="0">
                                          <p:val>
                                            <p:strVal val="#ppt_y+0.1"/>
                                          </p:val>
                                        </p:tav>
                                        <p:tav tm="100000">
                                          <p:val>
                                            <p:strVal val="#ppt_y"/>
                                          </p:val>
                                        </p:tav>
                                      </p:tavLst>
                                    </p:anim>
                                    <p:animEffect transition="in" filter="fade">
                                      <p:cBhvr>
                                        <p:cTn id="88" dur="500"/>
                                        <p:tgtEl>
                                          <p:spTgt spid="36"/>
                                        </p:tgtEl>
                                      </p:cBhvr>
                                    </p:animEffect>
                                  </p:childTnLst>
                                </p:cTn>
                              </p:par>
                              <p:par>
                                <p:cTn id="89" presetID="2" presetClass="entr" presetSubtype="4" fill="hold" grpId="0" nodeType="withEffect">
                                  <p:stCondLst>
                                    <p:cond delay="0"/>
                                  </p:stCondLst>
                                  <p:childTnLst>
                                    <p:set>
                                      <p:cBhvr>
                                        <p:cTn id="90" dur="1" fill="hold">
                                          <p:stCondLst>
                                            <p:cond delay="0"/>
                                          </p:stCondLst>
                                        </p:cTn>
                                        <p:tgtEl>
                                          <p:spTgt spid="37"/>
                                        </p:tgtEl>
                                        <p:attrNameLst>
                                          <p:attrName>style.visibility</p:attrName>
                                        </p:attrNameLst>
                                      </p:cBhvr>
                                      <p:to>
                                        <p:strVal val="visible"/>
                                      </p:to>
                                    </p:set>
                                    <p:anim calcmode="lin" valueType="num">
                                      <p:cBhvr additive="base">
                                        <p:cTn id="91" dur="500" fill="hold"/>
                                        <p:tgtEl>
                                          <p:spTgt spid="37"/>
                                        </p:tgtEl>
                                        <p:attrNameLst>
                                          <p:attrName>ppt_x</p:attrName>
                                        </p:attrNameLst>
                                      </p:cBhvr>
                                      <p:tavLst>
                                        <p:tav tm="0">
                                          <p:val>
                                            <p:strVal val="#ppt_x"/>
                                          </p:val>
                                        </p:tav>
                                        <p:tav tm="100000">
                                          <p:val>
                                            <p:strVal val="#ppt_x"/>
                                          </p:val>
                                        </p:tav>
                                      </p:tavLst>
                                    </p:anim>
                                    <p:anim calcmode="lin" valueType="num">
                                      <p:cBhvr additive="base">
                                        <p:cTn id="92" dur="500" fill="hold"/>
                                        <p:tgtEl>
                                          <p:spTgt spid="37"/>
                                        </p:tgtEl>
                                        <p:attrNameLst>
                                          <p:attrName>ppt_y</p:attrName>
                                        </p:attrNameLst>
                                      </p:cBhvr>
                                      <p:tavLst>
                                        <p:tav tm="0">
                                          <p:val>
                                            <p:strVal val="#ppt_y+0.1"/>
                                          </p:val>
                                        </p:tav>
                                        <p:tav tm="100000">
                                          <p:val>
                                            <p:strVal val="#ppt_y"/>
                                          </p:val>
                                        </p:tav>
                                      </p:tavLst>
                                    </p:anim>
                                    <p:animEffect transition="in" filter="fade">
                                      <p:cBhvr>
                                        <p:cTn id="93" dur="500"/>
                                        <p:tgtEl>
                                          <p:spTgt spid="37"/>
                                        </p:tgtEl>
                                      </p:cBhvr>
                                    </p:animEffect>
                                  </p:childTnLst>
                                </p:cTn>
                              </p:par>
                              <p:par>
                                <p:cTn id="94" presetID="2" presetClass="entr" presetSubtype="4"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 calcmode="lin" valueType="num">
                                      <p:cBhvr additive="base">
                                        <p:cTn id="96" dur="500" fill="hold"/>
                                        <p:tgtEl>
                                          <p:spTgt spid="38"/>
                                        </p:tgtEl>
                                        <p:attrNameLst>
                                          <p:attrName>ppt_x</p:attrName>
                                        </p:attrNameLst>
                                      </p:cBhvr>
                                      <p:tavLst>
                                        <p:tav tm="0">
                                          <p:val>
                                            <p:strVal val="#ppt_x"/>
                                          </p:val>
                                        </p:tav>
                                        <p:tav tm="100000">
                                          <p:val>
                                            <p:strVal val="#ppt_x"/>
                                          </p:val>
                                        </p:tav>
                                      </p:tavLst>
                                    </p:anim>
                                    <p:anim calcmode="lin" valueType="num">
                                      <p:cBhvr additive="base">
                                        <p:cTn id="97" dur="500" fill="hold"/>
                                        <p:tgtEl>
                                          <p:spTgt spid="38"/>
                                        </p:tgtEl>
                                        <p:attrNameLst>
                                          <p:attrName>ppt_y</p:attrName>
                                        </p:attrNameLst>
                                      </p:cBhvr>
                                      <p:tavLst>
                                        <p:tav tm="0">
                                          <p:val>
                                            <p:strVal val="#ppt_y+0.1"/>
                                          </p:val>
                                        </p:tav>
                                        <p:tav tm="100000">
                                          <p:val>
                                            <p:strVal val="#ppt_y"/>
                                          </p:val>
                                        </p:tav>
                                      </p:tavLst>
                                    </p:anim>
                                    <p:animEffect transition="in" filter="fade">
                                      <p:cBhvr>
                                        <p:cTn id="98" dur="500"/>
                                        <p:tgtEl>
                                          <p:spTgt spid="38"/>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9"/>
                                        </p:tgtEl>
                                        <p:attrNameLst>
                                          <p:attrName>style.visibility</p:attrName>
                                        </p:attrNameLst>
                                      </p:cBhvr>
                                      <p:to>
                                        <p:strVal val="visible"/>
                                      </p:to>
                                    </p:set>
                                    <p:anim calcmode="lin" valueType="num">
                                      <p:cBhvr additive="base">
                                        <p:cTn id="103" dur="500" fill="hold"/>
                                        <p:tgtEl>
                                          <p:spTgt spid="39"/>
                                        </p:tgtEl>
                                        <p:attrNameLst>
                                          <p:attrName>ppt_x</p:attrName>
                                        </p:attrNameLst>
                                      </p:cBhvr>
                                      <p:tavLst>
                                        <p:tav tm="0">
                                          <p:val>
                                            <p:strVal val="#ppt_x"/>
                                          </p:val>
                                        </p:tav>
                                        <p:tav tm="100000">
                                          <p:val>
                                            <p:strVal val="#ppt_x"/>
                                          </p:val>
                                        </p:tav>
                                      </p:tavLst>
                                    </p:anim>
                                    <p:anim calcmode="lin" valueType="num">
                                      <p:cBhvr additive="base">
                                        <p:cTn id="104" dur="500" fill="hold"/>
                                        <p:tgtEl>
                                          <p:spTgt spid="39"/>
                                        </p:tgtEl>
                                        <p:attrNameLst>
                                          <p:attrName>ppt_y</p:attrName>
                                        </p:attrNameLst>
                                      </p:cBhvr>
                                      <p:tavLst>
                                        <p:tav tm="0">
                                          <p:val>
                                            <p:strVal val="#ppt_y+0.1"/>
                                          </p:val>
                                        </p:tav>
                                        <p:tav tm="100000">
                                          <p:val>
                                            <p:strVal val="#ppt_y"/>
                                          </p:val>
                                        </p:tav>
                                      </p:tavLst>
                                    </p:anim>
                                    <p:animEffect transition="in" filter="fade">
                                      <p:cBhvr>
                                        <p:cTn id="105" dur="500"/>
                                        <p:tgtEl>
                                          <p:spTgt spid="39"/>
                                        </p:tgtEl>
                                      </p:cBhvr>
                                    </p:animEffect>
                                  </p:childTnLst>
                                </p:cTn>
                              </p:par>
                              <p:par>
                                <p:cTn id="106" presetID="2" presetClass="entr" presetSubtype="4"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 calcmode="lin" valueType="num">
                                      <p:cBhvr additive="base">
                                        <p:cTn id="108" dur="500" fill="hold"/>
                                        <p:tgtEl>
                                          <p:spTgt spid="40"/>
                                        </p:tgtEl>
                                        <p:attrNameLst>
                                          <p:attrName>ppt_x</p:attrName>
                                        </p:attrNameLst>
                                      </p:cBhvr>
                                      <p:tavLst>
                                        <p:tav tm="0">
                                          <p:val>
                                            <p:strVal val="#ppt_x"/>
                                          </p:val>
                                        </p:tav>
                                        <p:tav tm="100000">
                                          <p:val>
                                            <p:strVal val="#ppt_x"/>
                                          </p:val>
                                        </p:tav>
                                      </p:tavLst>
                                    </p:anim>
                                    <p:anim calcmode="lin" valueType="num">
                                      <p:cBhvr additive="base">
                                        <p:cTn id="109" dur="500" fill="hold"/>
                                        <p:tgtEl>
                                          <p:spTgt spid="40"/>
                                        </p:tgtEl>
                                        <p:attrNameLst>
                                          <p:attrName>ppt_y</p:attrName>
                                        </p:attrNameLst>
                                      </p:cBhvr>
                                      <p:tavLst>
                                        <p:tav tm="0">
                                          <p:val>
                                            <p:strVal val="#ppt_y+0.1"/>
                                          </p:val>
                                        </p:tav>
                                        <p:tav tm="100000">
                                          <p:val>
                                            <p:strVal val="#ppt_y"/>
                                          </p:val>
                                        </p:tav>
                                      </p:tavLst>
                                    </p:anim>
                                    <p:animEffect transition="in" filter="fade">
                                      <p:cBhvr>
                                        <p:cTn id="110" dur="500"/>
                                        <p:tgtEl>
                                          <p:spTgt spid="40"/>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22" presetClass="entr" presetSubtype="8"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wipe(left)">
                                      <p:cBhvr>
                                        <p:cTn id="124" dur="500"/>
                                        <p:tgtEl>
                                          <p:spTgt spid="44"/>
                                        </p:tgtEl>
                                      </p:cBhvr>
                                    </p:animEffect>
                                  </p:childTnLst>
                                </p:cTn>
                              </p:par>
                              <p:par>
                                <p:cTn id="125" presetID="22" presetClass="entr" presetSubtype="8" fill="hold" grpId="0" nodeType="withEffect">
                                  <p:stCondLst>
                                    <p:cond delay="90"/>
                                  </p:stCondLst>
                                  <p:childTnLst>
                                    <p:set>
                                      <p:cBhvr>
                                        <p:cTn id="126" dur="1" fill="hold">
                                          <p:stCondLst>
                                            <p:cond delay="0"/>
                                          </p:stCondLst>
                                        </p:cTn>
                                        <p:tgtEl>
                                          <p:spTgt spid="45"/>
                                        </p:tgtEl>
                                        <p:attrNameLst>
                                          <p:attrName>style.visibility</p:attrName>
                                        </p:attrNameLst>
                                      </p:cBhvr>
                                      <p:to>
                                        <p:strVal val="visible"/>
                                      </p:to>
                                    </p:set>
                                    <p:animEffect transition="in" filter="wipe(left)">
                                      <p:cBhvr>
                                        <p:cTn id="127" dur="500"/>
                                        <p:tgtEl>
                                          <p:spTgt spid="45"/>
                                        </p:tgtEl>
                                      </p:cBhvr>
                                    </p:animEffect>
                                  </p:childTnLst>
                                </p:cTn>
                              </p:par>
                              <p:par>
                                <p:cTn id="128" presetID="22" presetClass="entr" presetSubtype="8" fill="hold" grpId="0" nodeType="withEffect">
                                  <p:stCondLst>
                                    <p:cond delay="180"/>
                                  </p:stCondLst>
                                  <p:childTnLst>
                                    <p:set>
                                      <p:cBhvr>
                                        <p:cTn id="129" dur="1" fill="hold">
                                          <p:stCondLst>
                                            <p:cond delay="0"/>
                                          </p:stCondLst>
                                        </p:cTn>
                                        <p:tgtEl>
                                          <p:spTgt spid="46"/>
                                        </p:tgtEl>
                                        <p:attrNameLst>
                                          <p:attrName>style.visibility</p:attrName>
                                        </p:attrNameLst>
                                      </p:cBhvr>
                                      <p:to>
                                        <p:strVal val="visible"/>
                                      </p:to>
                                    </p:set>
                                    <p:animEffect transition="in" filter="wipe(left)">
                                      <p:cBhvr>
                                        <p:cTn id="130" dur="500"/>
                                        <p:tgtEl>
                                          <p:spTgt spid="46"/>
                                        </p:tgtEl>
                                      </p:cBhvr>
                                    </p:animEffect>
                                  </p:childTnLst>
                                </p:cTn>
                              </p:par>
                              <p:par>
                                <p:cTn id="131" presetID="22" presetClass="entr" presetSubtype="8" fill="hold" grpId="0" nodeType="withEffect">
                                  <p:stCondLst>
                                    <p:cond delay="270"/>
                                  </p:stCondLst>
                                  <p:childTnLst>
                                    <p:set>
                                      <p:cBhvr>
                                        <p:cTn id="132" dur="1" fill="hold">
                                          <p:stCondLst>
                                            <p:cond delay="0"/>
                                          </p:stCondLst>
                                        </p:cTn>
                                        <p:tgtEl>
                                          <p:spTgt spid="47"/>
                                        </p:tgtEl>
                                        <p:attrNameLst>
                                          <p:attrName>style.visibility</p:attrName>
                                        </p:attrNameLst>
                                      </p:cBhvr>
                                      <p:to>
                                        <p:strVal val="visible"/>
                                      </p:to>
                                    </p:set>
                                    <p:animEffect transition="in" filter="wipe(left)">
                                      <p:cBhvr>
                                        <p:cTn id="133" dur="500"/>
                                        <p:tgtEl>
                                          <p:spTgt spid="47"/>
                                        </p:tgtEl>
                                      </p:cBhvr>
                                    </p:animEffect>
                                  </p:childTnLst>
                                </p:cTn>
                              </p:par>
                              <p:par>
                                <p:cTn id="134" presetID="2" presetClass="entr" presetSubtype="4" fill="hold" grpId="0" nodeType="withEffect">
                                  <p:stCondLst>
                                    <p:cond delay="300"/>
                                  </p:stCondLst>
                                  <p:childTnLst>
                                    <p:set>
                                      <p:cBhvr>
                                        <p:cTn id="135" dur="1" fill="hold">
                                          <p:stCondLst>
                                            <p:cond delay="0"/>
                                          </p:stCondLst>
                                        </p:cTn>
                                        <p:tgtEl>
                                          <p:spTgt spid="50"/>
                                        </p:tgtEl>
                                        <p:attrNameLst>
                                          <p:attrName>style.visibility</p:attrName>
                                        </p:attrNameLst>
                                      </p:cBhvr>
                                      <p:to>
                                        <p:strVal val="visible"/>
                                      </p:to>
                                    </p:set>
                                    <p:anim calcmode="lin" valueType="num">
                                      <p:cBhvr additive="base">
                                        <p:cTn id="136" dur="500" fill="hold"/>
                                        <p:tgtEl>
                                          <p:spTgt spid="50"/>
                                        </p:tgtEl>
                                        <p:attrNameLst>
                                          <p:attrName>ppt_x</p:attrName>
                                        </p:attrNameLst>
                                      </p:cBhvr>
                                      <p:tavLst>
                                        <p:tav tm="0">
                                          <p:val>
                                            <p:strVal val="#ppt_x"/>
                                          </p:val>
                                        </p:tav>
                                        <p:tav tm="100000">
                                          <p:val>
                                            <p:strVal val="#ppt_x"/>
                                          </p:val>
                                        </p:tav>
                                      </p:tavLst>
                                    </p:anim>
                                    <p:anim calcmode="lin" valueType="num">
                                      <p:cBhvr additive="base">
                                        <p:cTn id="137" dur="500" fill="hold"/>
                                        <p:tgtEl>
                                          <p:spTgt spid="50"/>
                                        </p:tgtEl>
                                        <p:attrNameLst>
                                          <p:attrName>ppt_y</p:attrName>
                                        </p:attrNameLst>
                                      </p:cBhvr>
                                      <p:tavLst>
                                        <p:tav tm="0">
                                          <p:val>
                                            <p:strVal val="#ppt_y+0.1"/>
                                          </p:val>
                                        </p:tav>
                                        <p:tav tm="100000">
                                          <p:val>
                                            <p:strVal val="#ppt_y"/>
                                          </p:val>
                                        </p:tav>
                                      </p:tavLst>
                                    </p:anim>
                                    <p:animEffect transition="in" filter="fade">
                                      <p:cBhvr>
                                        <p:cTn id="138" dur="500"/>
                                        <p:tgtEl>
                                          <p:spTgt spid="50"/>
                                        </p:tgtEl>
                                      </p:cBhvr>
                                    </p:animEffect>
                                  </p:childTnLst>
                                </p:cTn>
                              </p:par>
                              <p:par>
                                <p:cTn id="139" presetID="2" presetClass="entr" presetSubtype="4" fill="hold" grpId="0" nodeType="withEffect">
                                  <p:stCondLst>
                                    <p:cond delay="300"/>
                                  </p:stCondLst>
                                  <p:childTnLst>
                                    <p:set>
                                      <p:cBhvr>
                                        <p:cTn id="140" dur="1" fill="hold">
                                          <p:stCondLst>
                                            <p:cond delay="0"/>
                                          </p:stCondLst>
                                        </p:cTn>
                                        <p:tgtEl>
                                          <p:spTgt spid="51"/>
                                        </p:tgtEl>
                                        <p:attrNameLst>
                                          <p:attrName>style.visibility</p:attrName>
                                        </p:attrNameLst>
                                      </p:cBhvr>
                                      <p:to>
                                        <p:strVal val="visible"/>
                                      </p:to>
                                    </p:set>
                                    <p:anim calcmode="lin" valueType="num">
                                      <p:cBhvr additive="base">
                                        <p:cTn id="141" dur="500" fill="hold"/>
                                        <p:tgtEl>
                                          <p:spTgt spid="51"/>
                                        </p:tgtEl>
                                        <p:attrNameLst>
                                          <p:attrName>ppt_x</p:attrName>
                                        </p:attrNameLst>
                                      </p:cBhvr>
                                      <p:tavLst>
                                        <p:tav tm="0">
                                          <p:val>
                                            <p:strVal val="#ppt_x"/>
                                          </p:val>
                                        </p:tav>
                                        <p:tav tm="100000">
                                          <p:val>
                                            <p:strVal val="#ppt_x"/>
                                          </p:val>
                                        </p:tav>
                                      </p:tavLst>
                                    </p:anim>
                                    <p:anim calcmode="lin" valueType="num">
                                      <p:cBhvr additive="base">
                                        <p:cTn id="142" dur="500" fill="hold"/>
                                        <p:tgtEl>
                                          <p:spTgt spid="51"/>
                                        </p:tgtEl>
                                        <p:attrNameLst>
                                          <p:attrName>ppt_y</p:attrName>
                                        </p:attrNameLst>
                                      </p:cBhvr>
                                      <p:tavLst>
                                        <p:tav tm="0">
                                          <p:val>
                                            <p:strVal val="#ppt_y+0.1"/>
                                          </p:val>
                                        </p:tav>
                                        <p:tav tm="100000">
                                          <p:val>
                                            <p:strVal val="#ppt_y"/>
                                          </p:val>
                                        </p:tav>
                                      </p:tavLst>
                                    </p:anim>
                                    <p:animEffect transition="in" filter="fade">
                                      <p:cBhvr>
                                        <p:cTn id="143" dur="500"/>
                                        <p:tgtEl>
                                          <p:spTgt spid="51"/>
                                        </p:tgtEl>
                                      </p:cBhvr>
                                    </p:animEffect>
                                  </p:childTnLst>
                                </p:cTn>
                              </p:par>
                              <p:par>
                                <p:cTn id="144" presetID="22" presetClass="entr" presetSubtype="8" fill="hold" grpId="0" nodeType="withEffect">
                                  <p:stCondLst>
                                    <p:cond delay="360"/>
                                  </p:stCondLst>
                                  <p:childTnLst>
                                    <p:set>
                                      <p:cBhvr>
                                        <p:cTn id="145" dur="1" fill="hold">
                                          <p:stCondLst>
                                            <p:cond delay="0"/>
                                          </p:stCondLst>
                                        </p:cTn>
                                        <p:tgtEl>
                                          <p:spTgt spid="48"/>
                                        </p:tgtEl>
                                        <p:attrNameLst>
                                          <p:attrName>style.visibility</p:attrName>
                                        </p:attrNameLst>
                                      </p:cBhvr>
                                      <p:to>
                                        <p:strVal val="visible"/>
                                      </p:to>
                                    </p:set>
                                    <p:animEffect transition="in" filter="wipe(left)">
                                      <p:cBhvr>
                                        <p:cTn id="146" dur="500"/>
                                        <p:tgtEl>
                                          <p:spTgt spid="48"/>
                                        </p:tgtEl>
                                      </p:cBhvr>
                                    </p:animEffect>
                                  </p:childTnLst>
                                </p:cTn>
                              </p:par>
                              <p:par>
                                <p:cTn id="147" presetID="2" presetClass="entr" presetSubtype="4" fill="hold" grpId="0" nodeType="withEffect">
                                  <p:stCondLst>
                                    <p:cond delay="420"/>
                                  </p:stCondLst>
                                  <p:childTnLst>
                                    <p:set>
                                      <p:cBhvr>
                                        <p:cTn id="148" dur="1" fill="hold">
                                          <p:stCondLst>
                                            <p:cond delay="0"/>
                                          </p:stCondLst>
                                        </p:cTn>
                                        <p:tgtEl>
                                          <p:spTgt spid="52"/>
                                        </p:tgtEl>
                                        <p:attrNameLst>
                                          <p:attrName>style.visibility</p:attrName>
                                        </p:attrNameLst>
                                      </p:cBhvr>
                                      <p:to>
                                        <p:strVal val="visible"/>
                                      </p:to>
                                    </p:set>
                                    <p:anim calcmode="lin" valueType="num">
                                      <p:cBhvr additive="base">
                                        <p:cTn id="149" dur="500" fill="hold"/>
                                        <p:tgtEl>
                                          <p:spTgt spid="52"/>
                                        </p:tgtEl>
                                        <p:attrNameLst>
                                          <p:attrName>ppt_x</p:attrName>
                                        </p:attrNameLst>
                                      </p:cBhvr>
                                      <p:tavLst>
                                        <p:tav tm="0">
                                          <p:val>
                                            <p:strVal val="#ppt_x"/>
                                          </p:val>
                                        </p:tav>
                                        <p:tav tm="100000">
                                          <p:val>
                                            <p:strVal val="#ppt_x"/>
                                          </p:val>
                                        </p:tav>
                                      </p:tavLst>
                                    </p:anim>
                                    <p:anim calcmode="lin" valueType="num">
                                      <p:cBhvr additive="base">
                                        <p:cTn id="150" dur="500" fill="hold"/>
                                        <p:tgtEl>
                                          <p:spTgt spid="52"/>
                                        </p:tgtEl>
                                        <p:attrNameLst>
                                          <p:attrName>ppt_y</p:attrName>
                                        </p:attrNameLst>
                                      </p:cBhvr>
                                      <p:tavLst>
                                        <p:tav tm="0">
                                          <p:val>
                                            <p:strVal val="#ppt_y+0.1"/>
                                          </p:val>
                                        </p:tav>
                                        <p:tav tm="100000">
                                          <p:val>
                                            <p:strVal val="#ppt_y"/>
                                          </p:val>
                                        </p:tav>
                                      </p:tavLst>
                                    </p:anim>
                                    <p:animEffect transition="in" filter="fade">
                                      <p:cBhvr>
                                        <p:cTn id="151" dur="500"/>
                                        <p:tgtEl>
                                          <p:spTgt spid="52"/>
                                        </p:tgtEl>
                                      </p:cBhvr>
                                    </p:animEffect>
                                  </p:childTnLst>
                                </p:cTn>
                              </p:par>
                              <p:par>
                                <p:cTn id="152" presetID="2" presetClass="entr" presetSubtype="4" fill="hold" grpId="0" nodeType="withEffect">
                                  <p:stCondLst>
                                    <p:cond delay="420"/>
                                  </p:stCondLst>
                                  <p:childTnLst>
                                    <p:set>
                                      <p:cBhvr>
                                        <p:cTn id="153" dur="1" fill="hold">
                                          <p:stCondLst>
                                            <p:cond delay="0"/>
                                          </p:stCondLst>
                                        </p:cTn>
                                        <p:tgtEl>
                                          <p:spTgt spid="53"/>
                                        </p:tgtEl>
                                        <p:attrNameLst>
                                          <p:attrName>style.visibility</p:attrName>
                                        </p:attrNameLst>
                                      </p:cBhvr>
                                      <p:to>
                                        <p:strVal val="visible"/>
                                      </p:to>
                                    </p:set>
                                    <p:anim calcmode="lin" valueType="num">
                                      <p:cBhvr additive="base">
                                        <p:cTn id="154" dur="500" fill="hold"/>
                                        <p:tgtEl>
                                          <p:spTgt spid="53"/>
                                        </p:tgtEl>
                                        <p:attrNameLst>
                                          <p:attrName>ppt_x</p:attrName>
                                        </p:attrNameLst>
                                      </p:cBhvr>
                                      <p:tavLst>
                                        <p:tav tm="0">
                                          <p:val>
                                            <p:strVal val="#ppt_x"/>
                                          </p:val>
                                        </p:tav>
                                        <p:tav tm="100000">
                                          <p:val>
                                            <p:strVal val="#ppt_x"/>
                                          </p:val>
                                        </p:tav>
                                      </p:tavLst>
                                    </p:anim>
                                    <p:anim calcmode="lin" valueType="num">
                                      <p:cBhvr additive="base">
                                        <p:cTn id="155" dur="500" fill="hold"/>
                                        <p:tgtEl>
                                          <p:spTgt spid="53"/>
                                        </p:tgtEl>
                                        <p:attrNameLst>
                                          <p:attrName>ppt_y</p:attrName>
                                        </p:attrNameLst>
                                      </p:cBhvr>
                                      <p:tavLst>
                                        <p:tav tm="0">
                                          <p:val>
                                            <p:strVal val="#ppt_y+0.1"/>
                                          </p:val>
                                        </p:tav>
                                        <p:tav tm="100000">
                                          <p:val>
                                            <p:strVal val="#ppt_y"/>
                                          </p:val>
                                        </p:tav>
                                      </p:tavLst>
                                    </p:anim>
                                    <p:animEffect transition="in" filter="fade">
                                      <p:cBhvr>
                                        <p:cTn id="156" dur="500"/>
                                        <p:tgtEl>
                                          <p:spTgt spid="53"/>
                                        </p:tgtEl>
                                      </p:cBhvr>
                                    </p:animEffect>
                                  </p:childTnLst>
                                </p:cTn>
                              </p:par>
                              <p:par>
                                <p:cTn id="157" presetID="22" presetClass="entr" presetSubtype="8" fill="hold" grpId="0" nodeType="withEffect">
                                  <p:stCondLst>
                                    <p:cond delay="450"/>
                                  </p:stCondLst>
                                  <p:childTnLst>
                                    <p:set>
                                      <p:cBhvr>
                                        <p:cTn id="158" dur="1" fill="hold">
                                          <p:stCondLst>
                                            <p:cond delay="0"/>
                                          </p:stCondLst>
                                        </p:cTn>
                                        <p:tgtEl>
                                          <p:spTgt spid="49"/>
                                        </p:tgtEl>
                                        <p:attrNameLst>
                                          <p:attrName>style.visibility</p:attrName>
                                        </p:attrNameLst>
                                      </p:cBhvr>
                                      <p:to>
                                        <p:strVal val="visible"/>
                                      </p:to>
                                    </p:set>
                                    <p:animEffect transition="in" filter="wipe(left)">
                                      <p:cBhvr>
                                        <p:cTn id="159" dur="500"/>
                                        <p:tgtEl>
                                          <p:spTgt spid="49"/>
                                        </p:tgtEl>
                                      </p:cBhvr>
                                    </p:animEffect>
                                  </p:childTnLst>
                                </p:cTn>
                              </p:par>
                              <p:par>
                                <p:cTn id="160" presetID="2" presetClass="entr" presetSubtype="4" fill="hold" grpId="0" nodeType="withEffect">
                                  <p:stCondLst>
                                    <p:cond delay="540"/>
                                  </p:stCondLst>
                                  <p:childTnLst>
                                    <p:set>
                                      <p:cBhvr>
                                        <p:cTn id="161" dur="1" fill="hold">
                                          <p:stCondLst>
                                            <p:cond delay="0"/>
                                          </p:stCondLst>
                                        </p:cTn>
                                        <p:tgtEl>
                                          <p:spTgt spid="54"/>
                                        </p:tgtEl>
                                        <p:attrNameLst>
                                          <p:attrName>style.visibility</p:attrName>
                                        </p:attrNameLst>
                                      </p:cBhvr>
                                      <p:to>
                                        <p:strVal val="visible"/>
                                      </p:to>
                                    </p:set>
                                    <p:anim calcmode="lin" valueType="num">
                                      <p:cBhvr additive="base">
                                        <p:cTn id="162" dur="500" fill="hold"/>
                                        <p:tgtEl>
                                          <p:spTgt spid="54"/>
                                        </p:tgtEl>
                                        <p:attrNameLst>
                                          <p:attrName>ppt_x</p:attrName>
                                        </p:attrNameLst>
                                      </p:cBhvr>
                                      <p:tavLst>
                                        <p:tav tm="0">
                                          <p:val>
                                            <p:strVal val="#ppt_x"/>
                                          </p:val>
                                        </p:tav>
                                        <p:tav tm="100000">
                                          <p:val>
                                            <p:strVal val="#ppt_x"/>
                                          </p:val>
                                        </p:tav>
                                      </p:tavLst>
                                    </p:anim>
                                    <p:anim calcmode="lin" valueType="num">
                                      <p:cBhvr additive="base">
                                        <p:cTn id="163" dur="500" fill="hold"/>
                                        <p:tgtEl>
                                          <p:spTgt spid="54"/>
                                        </p:tgtEl>
                                        <p:attrNameLst>
                                          <p:attrName>ppt_y</p:attrName>
                                        </p:attrNameLst>
                                      </p:cBhvr>
                                      <p:tavLst>
                                        <p:tav tm="0">
                                          <p:val>
                                            <p:strVal val="#ppt_y+0.1"/>
                                          </p:val>
                                        </p:tav>
                                        <p:tav tm="100000">
                                          <p:val>
                                            <p:strVal val="#ppt_y"/>
                                          </p:val>
                                        </p:tav>
                                      </p:tavLst>
                                    </p:anim>
                                    <p:animEffect transition="in" filter="fade">
                                      <p:cBhvr>
                                        <p:cTn id="164" dur="500"/>
                                        <p:tgtEl>
                                          <p:spTgt spid="54"/>
                                        </p:tgtEl>
                                      </p:cBhvr>
                                    </p:animEffect>
                                  </p:childTnLst>
                                </p:cTn>
                              </p:par>
                              <p:par>
                                <p:cTn id="165" presetID="2" presetClass="entr" presetSubtype="4" fill="hold" grpId="0" nodeType="withEffect">
                                  <p:stCondLst>
                                    <p:cond delay="540"/>
                                  </p:stCondLst>
                                  <p:childTnLst>
                                    <p:set>
                                      <p:cBhvr>
                                        <p:cTn id="166" dur="1" fill="hold">
                                          <p:stCondLst>
                                            <p:cond delay="0"/>
                                          </p:stCondLst>
                                        </p:cTn>
                                        <p:tgtEl>
                                          <p:spTgt spid="55"/>
                                        </p:tgtEl>
                                        <p:attrNameLst>
                                          <p:attrName>style.visibility</p:attrName>
                                        </p:attrNameLst>
                                      </p:cBhvr>
                                      <p:to>
                                        <p:strVal val="visible"/>
                                      </p:to>
                                    </p:set>
                                    <p:anim calcmode="lin" valueType="num">
                                      <p:cBhvr additive="base">
                                        <p:cTn id="167" dur="500" fill="hold"/>
                                        <p:tgtEl>
                                          <p:spTgt spid="55"/>
                                        </p:tgtEl>
                                        <p:attrNameLst>
                                          <p:attrName>ppt_x</p:attrName>
                                        </p:attrNameLst>
                                      </p:cBhvr>
                                      <p:tavLst>
                                        <p:tav tm="0">
                                          <p:val>
                                            <p:strVal val="#ppt_x"/>
                                          </p:val>
                                        </p:tav>
                                        <p:tav tm="100000">
                                          <p:val>
                                            <p:strVal val="#ppt_x"/>
                                          </p:val>
                                        </p:tav>
                                      </p:tavLst>
                                    </p:anim>
                                    <p:anim calcmode="lin" valueType="num">
                                      <p:cBhvr additive="base">
                                        <p:cTn id="168" dur="500" fill="hold"/>
                                        <p:tgtEl>
                                          <p:spTgt spid="55"/>
                                        </p:tgtEl>
                                        <p:attrNameLst>
                                          <p:attrName>ppt_y</p:attrName>
                                        </p:attrNameLst>
                                      </p:cBhvr>
                                      <p:tavLst>
                                        <p:tav tm="0">
                                          <p:val>
                                            <p:strVal val="#ppt_y+0.1"/>
                                          </p:val>
                                        </p:tav>
                                        <p:tav tm="100000">
                                          <p:val>
                                            <p:strVal val="#ppt_y"/>
                                          </p:val>
                                        </p:tav>
                                      </p:tavLst>
                                    </p:anim>
                                    <p:animEffect transition="in" filter="fade">
                                      <p:cBhvr>
                                        <p:cTn id="16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Why Replication Matters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cornerstone of Kafka's reliability - built in, not bolted on</a:t>
            </a:r>
          </a:p>
        </p:txBody>
      </p:sp>
      <p:sp>
        <p:nvSpPr>
          <p:cNvPr id="11" name="a1u_card10"/>
          <p:cNvSpPr/>
          <p:nvPr/>
        </p:nvSpPr>
        <p:spPr>
          <a:xfrm>
            <a:off x="457200" y="1325880"/>
            <a:ext cx="1956816"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1u_acc11"/>
          <p:cNvSpPr/>
          <p:nvPr/>
        </p:nvSpPr>
        <p:spPr>
          <a:xfrm>
            <a:off x="457200" y="1325880"/>
            <a:ext cx="1956816"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a1u_tt12"/>
          <p:cNvSpPr txBox="1"/>
          <p:nvPr/>
        </p:nvSpPr>
        <p:spPr>
          <a:xfrm>
            <a:off x="603504" y="1435607"/>
            <a:ext cx="1682496" cy="256032"/>
          </a:xfrm>
          <a:prstGeom prst="rect">
            <a:avLst/>
          </a:prstGeom>
          <a:noFill/>
        </p:spPr>
        <p:txBody>
          <a:bodyPr wrap="square" lIns="0" tIns="0" rIns="0" bIns="0" anchor="ctr">
            <a:spAutoFit/>
          </a:bodyPr>
          <a:lstStyle/>
          <a:p>
            <a:pPr algn="l"/>
            <a:r>
              <a:rPr sz="1150" b="1">
                <a:solidFill>
                  <a:srgbClr val="1C1917"/>
                </a:solidFill>
                <a:latin typeface="Segoe UI"/>
              </a:rPr>
              <a:t>Fault tolerance</a:t>
            </a:r>
          </a:p>
        </p:txBody>
      </p:sp>
      <p:sp>
        <p:nvSpPr>
          <p:cNvPr id="14" name="a1ud60_tb13"/>
          <p:cNvSpPr txBox="1"/>
          <p:nvPr/>
        </p:nvSpPr>
        <p:spPr>
          <a:xfrm>
            <a:off x="603504" y="1728216"/>
            <a:ext cx="1682496" cy="640080"/>
          </a:xfrm>
          <a:prstGeom prst="rect">
            <a:avLst/>
          </a:prstGeom>
          <a:noFill/>
        </p:spPr>
        <p:txBody>
          <a:bodyPr wrap="square" lIns="0" tIns="0" rIns="0" bIns="0" anchor="t">
            <a:spAutoFit/>
          </a:bodyPr>
          <a:lstStyle/>
          <a:p>
            <a:pPr algn="l"/>
            <a:r>
              <a:rPr sz="950" b="0">
                <a:solidFill>
                  <a:srgbClr val="44403C"/>
                </a:solidFill>
                <a:latin typeface="Segoe UI"/>
              </a:rPr>
              <a:t>lose a broker, keep the data - the copies live elsewhere</a:t>
            </a:r>
          </a:p>
        </p:txBody>
      </p:sp>
      <p:sp>
        <p:nvSpPr>
          <p:cNvPr id="15" name="a2u_card14"/>
          <p:cNvSpPr/>
          <p:nvPr/>
        </p:nvSpPr>
        <p:spPr>
          <a:xfrm>
            <a:off x="2551176" y="1325880"/>
            <a:ext cx="1956816"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_acc15"/>
          <p:cNvSpPr/>
          <p:nvPr/>
        </p:nvSpPr>
        <p:spPr>
          <a:xfrm>
            <a:off x="2551176" y="1325880"/>
            <a:ext cx="1956816"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u_tt16"/>
          <p:cNvSpPr txBox="1"/>
          <p:nvPr/>
        </p:nvSpPr>
        <p:spPr>
          <a:xfrm>
            <a:off x="2697480" y="1435607"/>
            <a:ext cx="1682496" cy="256032"/>
          </a:xfrm>
          <a:prstGeom prst="rect">
            <a:avLst/>
          </a:prstGeom>
          <a:noFill/>
        </p:spPr>
        <p:txBody>
          <a:bodyPr wrap="square" lIns="0" tIns="0" rIns="0" bIns="0" anchor="ctr">
            <a:spAutoFit/>
          </a:bodyPr>
          <a:lstStyle/>
          <a:p>
            <a:pPr algn="l"/>
            <a:r>
              <a:rPr sz="1150" b="1">
                <a:solidFill>
                  <a:srgbClr val="1C1917"/>
                </a:solidFill>
                <a:latin typeface="Segoe UI"/>
              </a:rPr>
              <a:t>High availability</a:t>
            </a:r>
          </a:p>
        </p:txBody>
      </p:sp>
      <p:sp>
        <p:nvSpPr>
          <p:cNvPr id="18" name="a2ud60_tb17"/>
          <p:cNvSpPr txBox="1"/>
          <p:nvPr/>
        </p:nvSpPr>
        <p:spPr>
          <a:xfrm>
            <a:off x="2697480" y="1728216"/>
            <a:ext cx="1682496" cy="640080"/>
          </a:xfrm>
          <a:prstGeom prst="rect">
            <a:avLst/>
          </a:prstGeom>
          <a:noFill/>
        </p:spPr>
        <p:txBody>
          <a:bodyPr wrap="square" lIns="0" tIns="0" rIns="0" bIns="0" anchor="t">
            <a:spAutoFit/>
          </a:bodyPr>
          <a:lstStyle/>
          <a:p>
            <a:pPr algn="l"/>
            <a:r>
              <a:rPr sz="950" b="0">
                <a:solidFill>
                  <a:srgbClr val="44403C"/>
                </a:solidFill>
                <a:latin typeface="Segoe UI"/>
              </a:rPr>
              <a:t>a new leader takes over automatically</a:t>
            </a:r>
          </a:p>
        </p:txBody>
      </p:sp>
      <p:sp>
        <p:nvSpPr>
          <p:cNvPr id="19" name="a3u_card18"/>
          <p:cNvSpPr/>
          <p:nvPr/>
        </p:nvSpPr>
        <p:spPr>
          <a:xfrm>
            <a:off x="4645152" y="1325880"/>
            <a:ext cx="1956816"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3u_acc19"/>
          <p:cNvSpPr/>
          <p:nvPr/>
        </p:nvSpPr>
        <p:spPr>
          <a:xfrm>
            <a:off x="4645152" y="1325880"/>
            <a:ext cx="1956816"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3u_tt20"/>
          <p:cNvSpPr txBox="1"/>
          <p:nvPr/>
        </p:nvSpPr>
        <p:spPr>
          <a:xfrm>
            <a:off x="4791456" y="1435607"/>
            <a:ext cx="1682496" cy="256032"/>
          </a:xfrm>
          <a:prstGeom prst="rect">
            <a:avLst/>
          </a:prstGeom>
          <a:noFill/>
        </p:spPr>
        <p:txBody>
          <a:bodyPr wrap="square" lIns="0" tIns="0" rIns="0" bIns="0" anchor="ctr">
            <a:spAutoFit/>
          </a:bodyPr>
          <a:lstStyle/>
          <a:p>
            <a:pPr algn="l"/>
            <a:r>
              <a:rPr sz="1150" b="1">
                <a:solidFill>
                  <a:srgbClr val="1C1917"/>
                </a:solidFill>
                <a:latin typeface="Segoe UI"/>
              </a:rPr>
              <a:t>Load balancing</a:t>
            </a:r>
          </a:p>
        </p:txBody>
      </p:sp>
      <p:sp>
        <p:nvSpPr>
          <p:cNvPr id="22" name="a3ud60_tb21"/>
          <p:cNvSpPr txBox="1"/>
          <p:nvPr/>
        </p:nvSpPr>
        <p:spPr>
          <a:xfrm>
            <a:off x="4791456" y="1728216"/>
            <a:ext cx="1682496" cy="640080"/>
          </a:xfrm>
          <a:prstGeom prst="rect">
            <a:avLst/>
          </a:prstGeom>
          <a:noFill/>
        </p:spPr>
        <p:txBody>
          <a:bodyPr wrap="square" lIns="0" tIns="0" rIns="0" bIns="0" anchor="t">
            <a:spAutoFit/>
          </a:bodyPr>
          <a:lstStyle/>
          <a:p>
            <a:pPr algn="l"/>
            <a:r>
              <a:rPr sz="950" b="0">
                <a:solidFill>
                  <a:srgbClr val="44403C"/>
                </a:solidFill>
                <a:latin typeface="Segoe UI"/>
              </a:rPr>
              <a:t>leaders are spread over the brokers, sharing the work</a:t>
            </a:r>
          </a:p>
        </p:txBody>
      </p:sp>
      <p:sp>
        <p:nvSpPr>
          <p:cNvPr id="23" name="a4u_card22"/>
          <p:cNvSpPr/>
          <p:nvPr/>
        </p:nvSpPr>
        <p:spPr>
          <a:xfrm>
            <a:off x="6739128" y="1325880"/>
            <a:ext cx="1956816"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4u_acc23"/>
          <p:cNvSpPr/>
          <p:nvPr/>
        </p:nvSpPr>
        <p:spPr>
          <a:xfrm>
            <a:off x="6739128" y="1325880"/>
            <a:ext cx="1956816"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a4u_tt24"/>
          <p:cNvSpPr txBox="1"/>
          <p:nvPr/>
        </p:nvSpPr>
        <p:spPr>
          <a:xfrm>
            <a:off x="6885432" y="1435607"/>
            <a:ext cx="1682496" cy="256032"/>
          </a:xfrm>
          <a:prstGeom prst="rect">
            <a:avLst/>
          </a:prstGeom>
          <a:noFill/>
        </p:spPr>
        <p:txBody>
          <a:bodyPr wrap="square" lIns="0" tIns="0" rIns="0" bIns="0" anchor="ctr">
            <a:spAutoFit/>
          </a:bodyPr>
          <a:lstStyle/>
          <a:p>
            <a:pPr algn="l"/>
            <a:r>
              <a:rPr sz="1150" b="1">
                <a:solidFill>
                  <a:srgbClr val="1C1917"/>
                </a:solidFill>
                <a:latin typeface="Segoe UI"/>
              </a:rPr>
              <a:t>Durability</a:t>
            </a:r>
          </a:p>
        </p:txBody>
      </p:sp>
      <p:sp>
        <p:nvSpPr>
          <p:cNvPr id="26" name="a4ud60_tb25"/>
          <p:cNvSpPr txBox="1"/>
          <p:nvPr/>
        </p:nvSpPr>
        <p:spPr>
          <a:xfrm>
            <a:off x="6885432" y="1728216"/>
            <a:ext cx="1682496" cy="640080"/>
          </a:xfrm>
          <a:prstGeom prst="rect">
            <a:avLst/>
          </a:prstGeom>
          <a:noFill/>
        </p:spPr>
        <p:txBody>
          <a:bodyPr wrap="square" lIns="0" tIns="0" rIns="0" bIns="0" anchor="t">
            <a:spAutoFit/>
          </a:bodyPr>
          <a:lstStyle/>
          <a:p>
            <a:pPr algn="l"/>
            <a:r>
              <a:rPr sz="950" b="0">
                <a:solidFill>
                  <a:srgbClr val="44403C"/>
                </a:solidFill>
                <a:latin typeface="Segoe UI"/>
              </a:rPr>
              <a:t>every message is stored on several machines</a:t>
            </a:r>
          </a:p>
        </p:txBody>
      </p:sp>
      <p:sp>
        <p:nvSpPr>
          <p:cNvPr id="27" name="a5u_card26"/>
          <p:cNvSpPr/>
          <p:nvPr/>
        </p:nvSpPr>
        <p:spPr>
          <a:xfrm>
            <a:off x="457200" y="2651760"/>
            <a:ext cx="4023360" cy="749808"/>
          </a:xfrm>
          <a:prstGeom prst="roundRect">
            <a:avLst>
              <a:gd name="adj" fmla="val 1463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5u_acc27"/>
          <p:cNvSpPr/>
          <p:nvPr/>
        </p:nvSpPr>
        <p:spPr>
          <a:xfrm>
            <a:off x="457200" y="2651760"/>
            <a:ext cx="50292" cy="74980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5u_hh28"/>
          <p:cNvSpPr txBox="1"/>
          <p:nvPr/>
        </p:nvSpPr>
        <p:spPr>
          <a:xfrm>
            <a:off x="658368" y="2761488"/>
            <a:ext cx="3657600" cy="237744"/>
          </a:xfrm>
          <a:prstGeom prst="rect">
            <a:avLst/>
          </a:prstGeom>
          <a:noFill/>
        </p:spPr>
        <p:txBody>
          <a:bodyPr wrap="square" lIns="0" tIns="0" rIns="0" bIns="0" anchor="ctr">
            <a:spAutoFit/>
          </a:bodyPr>
          <a:lstStyle/>
          <a:p>
            <a:pPr algn="l"/>
            <a:r>
              <a:rPr sz="900" b="1">
                <a:solidFill>
                  <a:srgbClr val="0E7490"/>
                </a:solidFill>
                <a:latin typeface="Segoe UI"/>
              </a:rPr>
              <a:t>RUNNING KAFKA YOURSELF</a:t>
            </a:r>
          </a:p>
        </p:txBody>
      </p:sp>
      <p:sp>
        <p:nvSpPr>
          <p:cNvPr id="30" name="a5ud80_c129"/>
          <p:cNvSpPr txBox="1"/>
          <p:nvPr/>
        </p:nvSpPr>
        <p:spPr>
          <a:xfrm>
            <a:off x="658368" y="3026664"/>
            <a:ext cx="3657600" cy="457200"/>
          </a:xfrm>
          <a:prstGeom prst="rect">
            <a:avLst/>
          </a:prstGeom>
          <a:noFill/>
        </p:spPr>
        <p:txBody>
          <a:bodyPr wrap="square" lIns="0" tIns="0" rIns="0" bIns="0" anchor="t">
            <a:spAutoFit/>
          </a:bodyPr>
          <a:lstStyle/>
          <a:p>
            <a:pPr algn="l"/>
            <a:r>
              <a:rPr sz="900" b="0">
                <a:solidFill>
                  <a:srgbClr val="44403C"/>
                </a:solidFill>
                <a:latin typeface="Segoe UI"/>
              </a:rPr>
              <a:t>really important - replication is yours to set up and watch</a:t>
            </a:r>
          </a:p>
        </p:txBody>
      </p:sp>
      <p:sp>
        <p:nvSpPr>
          <p:cNvPr id="31" name="a5u_card30"/>
          <p:cNvSpPr/>
          <p:nvPr/>
        </p:nvSpPr>
        <p:spPr>
          <a:xfrm>
            <a:off x="4663440" y="2651760"/>
            <a:ext cx="4023360" cy="749808"/>
          </a:xfrm>
          <a:prstGeom prst="roundRect">
            <a:avLst>
              <a:gd name="adj" fmla="val 1463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5u_acc31"/>
          <p:cNvSpPr/>
          <p:nvPr/>
        </p:nvSpPr>
        <p:spPr>
          <a:xfrm>
            <a:off x="4663440" y="2651760"/>
            <a:ext cx="50292" cy="74980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a5u_hh32"/>
          <p:cNvSpPr txBox="1"/>
          <p:nvPr/>
        </p:nvSpPr>
        <p:spPr>
          <a:xfrm>
            <a:off x="4864607" y="2761488"/>
            <a:ext cx="3657600" cy="237744"/>
          </a:xfrm>
          <a:prstGeom prst="rect">
            <a:avLst/>
          </a:prstGeom>
          <a:noFill/>
        </p:spPr>
        <p:txBody>
          <a:bodyPr wrap="square" lIns="0" tIns="0" rIns="0" bIns="0" anchor="ctr">
            <a:spAutoFit/>
          </a:bodyPr>
          <a:lstStyle/>
          <a:p>
            <a:pPr algn="l"/>
            <a:r>
              <a:rPr sz="900" b="1">
                <a:solidFill>
                  <a:srgbClr val="4F46E5"/>
                </a:solidFill>
                <a:latin typeface="Segoe UI"/>
              </a:rPr>
              <a:t>USING A CLOUD SERVICE</a:t>
            </a:r>
          </a:p>
        </p:txBody>
      </p:sp>
      <p:sp>
        <p:nvSpPr>
          <p:cNvPr id="34" name="a5ud160_c233"/>
          <p:cNvSpPr txBox="1"/>
          <p:nvPr/>
        </p:nvSpPr>
        <p:spPr>
          <a:xfrm>
            <a:off x="4864608" y="3026664"/>
            <a:ext cx="3657600" cy="457200"/>
          </a:xfrm>
          <a:prstGeom prst="rect">
            <a:avLst/>
          </a:prstGeom>
          <a:noFill/>
        </p:spPr>
        <p:txBody>
          <a:bodyPr wrap="square" lIns="0" tIns="0" rIns="0" bIns="0" anchor="t">
            <a:spAutoFit/>
          </a:bodyPr>
          <a:lstStyle/>
          <a:p>
            <a:pPr algn="l"/>
            <a:r>
              <a:rPr sz="900" b="0">
                <a:solidFill>
                  <a:srgbClr val="44403C"/>
                </a:solidFill>
                <a:latin typeface="Segoe UI"/>
              </a:rPr>
              <a:t>it just happens - but it is why the service stays reliable</a:t>
            </a:r>
          </a:p>
        </p:txBody>
      </p:sp>
      <p:sp>
        <p:nvSpPr>
          <p:cNvPr id="35" name="a6u_nb34"/>
          <p:cNvSpPr/>
          <p:nvPr/>
        </p:nvSpPr>
        <p:spPr>
          <a:xfrm>
            <a:off x="457200" y="365760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a6u_nacc35"/>
          <p:cNvSpPr/>
          <p:nvPr/>
        </p:nvSpPr>
        <p:spPr>
          <a:xfrm>
            <a:off x="457200" y="365760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a6u_nt36"/>
          <p:cNvSpPr txBox="1"/>
          <p:nvPr/>
        </p:nvSpPr>
        <p:spPr>
          <a:xfrm>
            <a:off x="658368" y="3657600"/>
            <a:ext cx="7827264" cy="566928"/>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Fault tolerance, load balancing and healthy performance at scale - all built into Kafka, no add-on needed.</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Replication</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ppt_y+0.1"/>
                                          </p:val>
                                        </p:tav>
                                        <p:tav tm="100000">
                                          <p:val>
                                            <p:strVal val="#ppt_y"/>
                                          </p:val>
                                        </p:tav>
                                      </p:tavLst>
                                    </p:anim>
                                    <p:animEffect transition="in" filter="fade">
                                      <p:cBhvr>
                                        <p:cTn id="9" dur="500"/>
                                        <p:tgtEl>
                                          <p:spTgt spid="11"/>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ppt_y+0.1"/>
                                          </p:val>
                                        </p:tav>
                                        <p:tav tm="100000">
                                          <p:val>
                                            <p:strVal val="#ppt_y"/>
                                          </p:val>
                                        </p:tav>
                                      </p:tavLst>
                                    </p:anim>
                                    <p:animEffect transition="in" filter="fade">
                                      <p:cBhvr>
                                        <p:cTn id="14" dur="500"/>
                                        <p:tgtEl>
                                          <p:spTgt spid="12"/>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ppt_y+0.1"/>
                                          </p:val>
                                        </p:tav>
                                        <p:tav tm="100000">
                                          <p:val>
                                            <p:strVal val="#ppt_y"/>
                                          </p:val>
                                        </p:tav>
                                      </p:tavLst>
                                    </p:anim>
                                    <p:animEffect transition="in" filter="fade">
                                      <p:cBhvr>
                                        <p:cTn id="19" dur="500"/>
                                        <p:tgtEl>
                                          <p:spTgt spid="13"/>
                                        </p:tgtEl>
                                      </p:cBhvr>
                                    </p:animEffect>
                                  </p:childTnLst>
                                </p:cTn>
                              </p:par>
                              <p:par>
                                <p:cTn id="20" presetID="2" presetClass="entr" presetSubtype="4" fill="hold" grpId="0" nodeType="withEffect">
                                  <p:stCondLst>
                                    <p:cond delay="6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ppt_x"/>
                                          </p:val>
                                        </p:tav>
                                        <p:tav tm="100000">
                                          <p:val>
                                            <p:strVal val="#ppt_x"/>
                                          </p:val>
                                        </p:tav>
                                      </p:tavLst>
                                    </p:anim>
                                    <p:anim calcmode="lin" valueType="num">
                                      <p:cBhvr additive="base">
                                        <p:cTn id="23" dur="500" fill="hold"/>
                                        <p:tgtEl>
                                          <p:spTgt spid="14"/>
                                        </p:tgtEl>
                                        <p:attrNameLst>
                                          <p:attrName>ppt_y</p:attrName>
                                        </p:attrNameLst>
                                      </p:cBhvr>
                                      <p:tavLst>
                                        <p:tav tm="0">
                                          <p:val>
                                            <p:strVal val="#ppt_y+0.1"/>
                                          </p:val>
                                        </p:tav>
                                        <p:tav tm="100000">
                                          <p:val>
                                            <p:strVal val="#ppt_y"/>
                                          </p:val>
                                        </p:tav>
                                      </p:tavLst>
                                    </p:anim>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ppt_y+0.1"/>
                                          </p:val>
                                        </p:tav>
                                        <p:tav tm="100000">
                                          <p:val>
                                            <p:strVal val="#ppt_y"/>
                                          </p:val>
                                        </p:tav>
                                      </p:tavLst>
                                    </p:anim>
                                    <p:animEffect transition="in" filter="fade">
                                      <p:cBhvr>
                                        <p:cTn id="31" dur="500"/>
                                        <p:tgtEl>
                                          <p:spTgt spid="15"/>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ppt_y+0.1"/>
                                          </p:val>
                                        </p:tav>
                                        <p:tav tm="100000">
                                          <p:val>
                                            <p:strVal val="#ppt_y"/>
                                          </p:val>
                                        </p:tav>
                                      </p:tavLst>
                                    </p:anim>
                                    <p:animEffect transition="in" filter="fade">
                                      <p:cBhvr>
                                        <p:cTn id="36" dur="500"/>
                                        <p:tgtEl>
                                          <p:spTgt spid="16"/>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ppt_x"/>
                                          </p:val>
                                        </p:tav>
                                        <p:tav tm="100000">
                                          <p:val>
                                            <p:strVal val="#ppt_x"/>
                                          </p:val>
                                        </p:tav>
                                      </p:tavLst>
                                    </p:anim>
                                    <p:anim calcmode="lin" valueType="num">
                                      <p:cBhvr additive="base">
                                        <p:cTn id="40" dur="500" fill="hold"/>
                                        <p:tgtEl>
                                          <p:spTgt spid="17"/>
                                        </p:tgtEl>
                                        <p:attrNameLst>
                                          <p:attrName>ppt_y</p:attrName>
                                        </p:attrNameLst>
                                      </p:cBhvr>
                                      <p:tavLst>
                                        <p:tav tm="0">
                                          <p:val>
                                            <p:strVal val="#ppt_y+0.1"/>
                                          </p:val>
                                        </p:tav>
                                        <p:tav tm="100000">
                                          <p:val>
                                            <p:strVal val="#ppt_y"/>
                                          </p:val>
                                        </p:tav>
                                      </p:tavLst>
                                    </p:anim>
                                    <p:animEffect transition="in" filter="fade">
                                      <p:cBhvr>
                                        <p:cTn id="41" dur="500"/>
                                        <p:tgtEl>
                                          <p:spTgt spid="17"/>
                                        </p:tgtEl>
                                      </p:cBhvr>
                                    </p:animEffect>
                                  </p:childTnLst>
                                </p:cTn>
                              </p:par>
                              <p:par>
                                <p:cTn id="42" presetID="2" presetClass="entr" presetSubtype="4" fill="hold" grpId="0" nodeType="withEffect">
                                  <p:stCondLst>
                                    <p:cond delay="60"/>
                                  </p:stCondLst>
                                  <p:childTnLst>
                                    <p:set>
                                      <p:cBhvr>
                                        <p:cTn id="43" dur="1" fill="hold">
                                          <p:stCondLst>
                                            <p:cond delay="0"/>
                                          </p:stCondLst>
                                        </p:cTn>
                                        <p:tgtEl>
                                          <p:spTgt spid="18"/>
                                        </p:tgtEl>
                                        <p:attrNameLst>
                                          <p:attrName>style.visibility</p:attrName>
                                        </p:attrNameLst>
                                      </p:cBhvr>
                                      <p:to>
                                        <p:strVal val="visible"/>
                                      </p:to>
                                    </p:set>
                                    <p:anim calcmode="lin" valueType="num">
                                      <p:cBhvr additive="base">
                                        <p:cTn id="44" dur="500" fill="hold"/>
                                        <p:tgtEl>
                                          <p:spTgt spid="18"/>
                                        </p:tgtEl>
                                        <p:attrNameLst>
                                          <p:attrName>ppt_x</p:attrName>
                                        </p:attrNameLst>
                                      </p:cBhvr>
                                      <p:tavLst>
                                        <p:tav tm="0">
                                          <p:val>
                                            <p:strVal val="#ppt_x"/>
                                          </p:val>
                                        </p:tav>
                                        <p:tav tm="100000">
                                          <p:val>
                                            <p:strVal val="#ppt_x"/>
                                          </p:val>
                                        </p:tav>
                                      </p:tavLst>
                                    </p:anim>
                                    <p:anim calcmode="lin" valueType="num">
                                      <p:cBhvr additive="base">
                                        <p:cTn id="45" dur="500" fill="hold"/>
                                        <p:tgtEl>
                                          <p:spTgt spid="18"/>
                                        </p:tgtEl>
                                        <p:attrNameLst>
                                          <p:attrName>ppt_y</p:attrName>
                                        </p:attrNameLst>
                                      </p:cBhvr>
                                      <p:tavLst>
                                        <p:tav tm="0">
                                          <p:val>
                                            <p:strVal val="#ppt_y+0.1"/>
                                          </p:val>
                                        </p:tav>
                                        <p:tav tm="100000">
                                          <p:val>
                                            <p:strVal val="#ppt_y"/>
                                          </p:val>
                                        </p:tav>
                                      </p:tavLst>
                                    </p:anim>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ppt_y+0.1"/>
                                          </p:val>
                                        </p:tav>
                                        <p:tav tm="100000">
                                          <p:val>
                                            <p:strVal val="#ppt_y"/>
                                          </p:val>
                                        </p:tav>
                                      </p:tavLst>
                                    </p:anim>
                                    <p:animEffect transition="in" filter="fade">
                                      <p:cBhvr>
                                        <p:cTn id="53" dur="500"/>
                                        <p:tgtEl>
                                          <p:spTgt spid="19"/>
                                        </p:tgtEl>
                                      </p:cBhvr>
                                    </p:animEffect>
                                  </p:childTnLst>
                                </p:cTn>
                              </p:par>
                              <p:par>
                                <p:cTn id="54" presetID="2" presetClass="entr" presetSubtype="4"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fill="hold"/>
                                        <p:tgtEl>
                                          <p:spTgt spid="20"/>
                                        </p:tgtEl>
                                        <p:attrNameLst>
                                          <p:attrName>ppt_x</p:attrName>
                                        </p:attrNameLst>
                                      </p:cBhvr>
                                      <p:tavLst>
                                        <p:tav tm="0">
                                          <p:val>
                                            <p:strVal val="#ppt_x"/>
                                          </p:val>
                                        </p:tav>
                                        <p:tav tm="100000">
                                          <p:val>
                                            <p:strVal val="#ppt_x"/>
                                          </p:val>
                                        </p:tav>
                                      </p:tavLst>
                                    </p:anim>
                                    <p:anim calcmode="lin" valueType="num">
                                      <p:cBhvr additive="base">
                                        <p:cTn id="57" dur="500" fill="hold"/>
                                        <p:tgtEl>
                                          <p:spTgt spid="20"/>
                                        </p:tgtEl>
                                        <p:attrNameLst>
                                          <p:attrName>ppt_y</p:attrName>
                                        </p:attrNameLst>
                                      </p:cBhvr>
                                      <p:tavLst>
                                        <p:tav tm="0">
                                          <p:val>
                                            <p:strVal val="#ppt_y+0.1"/>
                                          </p:val>
                                        </p:tav>
                                        <p:tav tm="100000">
                                          <p:val>
                                            <p:strVal val="#ppt_y"/>
                                          </p:val>
                                        </p:tav>
                                      </p:tavLst>
                                    </p:anim>
                                    <p:animEffect transition="in" filter="fade">
                                      <p:cBhvr>
                                        <p:cTn id="58" dur="500"/>
                                        <p:tgtEl>
                                          <p:spTgt spid="20"/>
                                        </p:tgtEl>
                                      </p:cBhvr>
                                    </p:animEffect>
                                  </p:childTnLst>
                                </p:cTn>
                              </p:par>
                              <p:par>
                                <p:cTn id="59" presetID="2" presetClass="entr" presetSubtype="4"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ppt_y+0.1"/>
                                          </p:val>
                                        </p:tav>
                                        <p:tav tm="100000">
                                          <p:val>
                                            <p:strVal val="#ppt_y"/>
                                          </p:val>
                                        </p:tav>
                                      </p:tavLst>
                                    </p:anim>
                                    <p:animEffect transition="in" filter="fade">
                                      <p:cBhvr>
                                        <p:cTn id="63" dur="500"/>
                                        <p:tgtEl>
                                          <p:spTgt spid="21"/>
                                        </p:tgtEl>
                                      </p:cBhvr>
                                    </p:animEffect>
                                  </p:childTnLst>
                                </p:cTn>
                              </p:par>
                              <p:par>
                                <p:cTn id="64" presetID="2" presetClass="entr" presetSubtype="4" fill="hold" grpId="0" nodeType="withEffect">
                                  <p:stCondLst>
                                    <p:cond delay="6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ppt_y+0.1"/>
                                          </p:val>
                                        </p:tav>
                                        <p:tav tm="100000">
                                          <p:val>
                                            <p:strVal val="#ppt_y"/>
                                          </p:val>
                                        </p:tav>
                                      </p:tavLst>
                                    </p:anim>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ppt_y+0.1"/>
                                          </p:val>
                                        </p:tav>
                                        <p:tav tm="100000">
                                          <p:val>
                                            <p:strVal val="#ppt_y"/>
                                          </p:val>
                                        </p:tav>
                                      </p:tavLst>
                                    </p:anim>
                                    <p:animEffect transition="in" filter="fade">
                                      <p:cBhvr>
                                        <p:cTn id="75" dur="500"/>
                                        <p:tgtEl>
                                          <p:spTgt spid="23"/>
                                        </p:tgtEl>
                                      </p:cBhvr>
                                    </p:animEffect>
                                  </p:childTnLst>
                                </p:cTn>
                              </p:par>
                              <p:par>
                                <p:cTn id="76" presetID="2" presetClass="entr" presetSubtype="4"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 calcmode="lin" valueType="num">
                                      <p:cBhvr additive="base">
                                        <p:cTn id="78" dur="500" fill="hold"/>
                                        <p:tgtEl>
                                          <p:spTgt spid="24"/>
                                        </p:tgtEl>
                                        <p:attrNameLst>
                                          <p:attrName>ppt_x</p:attrName>
                                        </p:attrNameLst>
                                      </p:cBhvr>
                                      <p:tavLst>
                                        <p:tav tm="0">
                                          <p:val>
                                            <p:strVal val="#ppt_x"/>
                                          </p:val>
                                        </p:tav>
                                        <p:tav tm="100000">
                                          <p:val>
                                            <p:strVal val="#ppt_x"/>
                                          </p:val>
                                        </p:tav>
                                      </p:tavLst>
                                    </p:anim>
                                    <p:anim calcmode="lin" valueType="num">
                                      <p:cBhvr additive="base">
                                        <p:cTn id="79" dur="500" fill="hold"/>
                                        <p:tgtEl>
                                          <p:spTgt spid="24"/>
                                        </p:tgtEl>
                                        <p:attrNameLst>
                                          <p:attrName>ppt_y</p:attrName>
                                        </p:attrNameLst>
                                      </p:cBhvr>
                                      <p:tavLst>
                                        <p:tav tm="0">
                                          <p:val>
                                            <p:strVal val="#ppt_y+0.1"/>
                                          </p:val>
                                        </p:tav>
                                        <p:tav tm="100000">
                                          <p:val>
                                            <p:strVal val="#ppt_y"/>
                                          </p:val>
                                        </p:tav>
                                      </p:tavLst>
                                    </p:anim>
                                    <p:animEffect transition="in" filter="fade">
                                      <p:cBhvr>
                                        <p:cTn id="80" dur="500"/>
                                        <p:tgtEl>
                                          <p:spTgt spid="24"/>
                                        </p:tgtEl>
                                      </p:cBhvr>
                                    </p:animEffect>
                                  </p:childTnLst>
                                </p:cTn>
                              </p:par>
                              <p:par>
                                <p:cTn id="81" presetID="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ppt_x"/>
                                          </p:val>
                                        </p:tav>
                                        <p:tav tm="100000">
                                          <p:val>
                                            <p:strVal val="#ppt_x"/>
                                          </p:val>
                                        </p:tav>
                                      </p:tavLst>
                                    </p:anim>
                                    <p:anim calcmode="lin" valueType="num">
                                      <p:cBhvr additive="base">
                                        <p:cTn id="84" dur="500" fill="hold"/>
                                        <p:tgtEl>
                                          <p:spTgt spid="25"/>
                                        </p:tgtEl>
                                        <p:attrNameLst>
                                          <p:attrName>ppt_y</p:attrName>
                                        </p:attrNameLst>
                                      </p:cBhvr>
                                      <p:tavLst>
                                        <p:tav tm="0">
                                          <p:val>
                                            <p:strVal val="#ppt_y+0.1"/>
                                          </p:val>
                                        </p:tav>
                                        <p:tav tm="100000">
                                          <p:val>
                                            <p:strVal val="#ppt_y"/>
                                          </p:val>
                                        </p:tav>
                                      </p:tavLst>
                                    </p:anim>
                                    <p:animEffect transition="in" filter="fade">
                                      <p:cBhvr>
                                        <p:cTn id="85" dur="500"/>
                                        <p:tgtEl>
                                          <p:spTgt spid="25"/>
                                        </p:tgtEl>
                                      </p:cBhvr>
                                    </p:animEffect>
                                  </p:childTnLst>
                                </p:cTn>
                              </p:par>
                              <p:par>
                                <p:cTn id="86" presetID="2" presetClass="entr" presetSubtype="4" fill="hold" grpId="0" nodeType="withEffect">
                                  <p:stCondLst>
                                    <p:cond delay="60"/>
                                  </p:stCondLst>
                                  <p:childTnLst>
                                    <p:set>
                                      <p:cBhvr>
                                        <p:cTn id="87" dur="1" fill="hold">
                                          <p:stCondLst>
                                            <p:cond delay="0"/>
                                          </p:stCondLst>
                                        </p:cTn>
                                        <p:tgtEl>
                                          <p:spTgt spid="26"/>
                                        </p:tgtEl>
                                        <p:attrNameLst>
                                          <p:attrName>style.visibility</p:attrName>
                                        </p:attrNameLst>
                                      </p:cBhvr>
                                      <p:to>
                                        <p:strVal val="visible"/>
                                      </p:to>
                                    </p:set>
                                    <p:anim calcmode="lin" valueType="num">
                                      <p:cBhvr additive="base">
                                        <p:cTn id="88" dur="500" fill="hold"/>
                                        <p:tgtEl>
                                          <p:spTgt spid="26"/>
                                        </p:tgtEl>
                                        <p:attrNameLst>
                                          <p:attrName>ppt_x</p:attrName>
                                        </p:attrNameLst>
                                      </p:cBhvr>
                                      <p:tavLst>
                                        <p:tav tm="0">
                                          <p:val>
                                            <p:strVal val="#ppt_x"/>
                                          </p:val>
                                        </p:tav>
                                        <p:tav tm="100000">
                                          <p:val>
                                            <p:strVal val="#ppt_x"/>
                                          </p:val>
                                        </p:tav>
                                      </p:tavLst>
                                    </p:anim>
                                    <p:anim calcmode="lin" valueType="num">
                                      <p:cBhvr additive="base">
                                        <p:cTn id="89" dur="500" fill="hold"/>
                                        <p:tgtEl>
                                          <p:spTgt spid="26"/>
                                        </p:tgtEl>
                                        <p:attrNameLst>
                                          <p:attrName>ppt_y</p:attrName>
                                        </p:attrNameLst>
                                      </p:cBhvr>
                                      <p:tavLst>
                                        <p:tav tm="0">
                                          <p:val>
                                            <p:strVal val="#ppt_y+0.1"/>
                                          </p:val>
                                        </p:tav>
                                        <p:tav tm="100000">
                                          <p:val>
                                            <p:strVal val="#ppt_y"/>
                                          </p:val>
                                        </p:tav>
                                      </p:tavLst>
                                    </p:anim>
                                    <p:animEffect transition="in" filter="fade">
                                      <p:cBhvr>
                                        <p:cTn id="90" dur="500"/>
                                        <p:tgtEl>
                                          <p:spTgt spid="26"/>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additive="base">
                                        <p:cTn id="95" dur="500" fill="hold"/>
                                        <p:tgtEl>
                                          <p:spTgt spid="27"/>
                                        </p:tgtEl>
                                        <p:attrNameLst>
                                          <p:attrName>ppt_x</p:attrName>
                                        </p:attrNameLst>
                                      </p:cBhvr>
                                      <p:tavLst>
                                        <p:tav tm="0">
                                          <p:val>
                                            <p:strVal val="#ppt_x"/>
                                          </p:val>
                                        </p:tav>
                                        <p:tav tm="100000">
                                          <p:val>
                                            <p:strVal val="#ppt_x"/>
                                          </p:val>
                                        </p:tav>
                                      </p:tavLst>
                                    </p:anim>
                                    <p:anim calcmode="lin" valueType="num">
                                      <p:cBhvr additive="base">
                                        <p:cTn id="96" dur="500" fill="hold"/>
                                        <p:tgtEl>
                                          <p:spTgt spid="27"/>
                                        </p:tgtEl>
                                        <p:attrNameLst>
                                          <p:attrName>ppt_y</p:attrName>
                                        </p:attrNameLst>
                                      </p:cBhvr>
                                      <p:tavLst>
                                        <p:tav tm="0">
                                          <p:val>
                                            <p:strVal val="#ppt_y+0.1"/>
                                          </p:val>
                                        </p:tav>
                                        <p:tav tm="100000">
                                          <p:val>
                                            <p:strVal val="#ppt_y"/>
                                          </p:val>
                                        </p:tav>
                                      </p:tavLst>
                                    </p:anim>
                                    <p:animEffect transition="in" filter="fade">
                                      <p:cBhvr>
                                        <p:cTn id="97" dur="500"/>
                                        <p:tgtEl>
                                          <p:spTgt spid="27"/>
                                        </p:tgtEl>
                                      </p:cBhvr>
                                    </p:animEffect>
                                  </p:childTnLst>
                                </p:cTn>
                              </p:par>
                              <p:par>
                                <p:cTn id="98" presetID="2" presetClass="entr" presetSubtype="4" fill="hold" grpId="0" nodeType="with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additive="base">
                                        <p:cTn id="100" dur="500" fill="hold"/>
                                        <p:tgtEl>
                                          <p:spTgt spid="28"/>
                                        </p:tgtEl>
                                        <p:attrNameLst>
                                          <p:attrName>ppt_x</p:attrName>
                                        </p:attrNameLst>
                                      </p:cBhvr>
                                      <p:tavLst>
                                        <p:tav tm="0">
                                          <p:val>
                                            <p:strVal val="#ppt_x"/>
                                          </p:val>
                                        </p:tav>
                                        <p:tav tm="100000">
                                          <p:val>
                                            <p:strVal val="#ppt_x"/>
                                          </p:val>
                                        </p:tav>
                                      </p:tavLst>
                                    </p:anim>
                                    <p:anim calcmode="lin" valueType="num">
                                      <p:cBhvr additive="base">
                                        <p:cTn id="101" dur="500" fill="hold"/>
                                        <p:tgtEl>
                                          <p:spTgt spid="28"/>
                                        </p:tgtEl>
                                        <p:attrNameLst>
                                          <p:attrName>ppt_y</p:attrName>
                                        </p:attrNameLst>
                                      </p:cBhvr>
                                      <p:tavLst>
                                        <p:tav tm="0">
                                          <p:val>
                                            <p:strVal val="#ppt_y+0.1"/>
                                          </p:val>
                                        </p:tav>
                                        <p:tav tm="100000">
                                          <p:val>
                                            <p:strVal val="#ppt_y"/>
                                          </p:val>
                                        </p:tav>
                                      </p:tavLst>
                                    </p:anim>
                                    <p:animEffect transition="in" filter="fade">
                                      <p:cBhvr>
                                        <p:cTn id="102" dur="500"/>
                                        <p:tgtEl>
                                          <p:spTgt spid="28"/>
                                        </p:tgtEl>
                                      </p:cBhvr>
                                    </p:animEffect>
                                  </p:childTnLst>
                                </p:cTn>
                              </p:par>
                              <p:par>
                                <p:cTn id="103" presetID="2" presetClass="entr" presetSubtype="4"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additive="base">
                                        <p:cTn id="105" dur="500" fill="hold"/>
                                        <p:tgtEl>
                                          <p:spTgt spid="29"/>
                                        </p:tgtEl>
                                        <p:attrNameLst>
                                          <p:attrName>ppt_x</p:attrName>
                                        </p:attrNameLst>
                                      </p:cBhvr>
                                      <p:tavLst>
                                        <p:tav tm="0">
                                          <p:val>
                                            <p:strVal val="#ppt_x"/>
                                          </p:val>
                                        </p:tav>
                                        <p:tav tm="100000">
                                          <p:val>
                                            <p:strVal val="#ppt_x"/>
                                          </p:val>
                                        </p:tav>
                                      </p:tavLst>
                                    </p:anim>
                                    <p:anim calcmode="lin" valueType="num">
                                      <p:cBhvr additive="base">
                                        <p:cTn id="106" dur="500" fill="hold"/>
                                        <p:tgtEl>
                                          <p:spTgt spid="29"/>
                                        </p:tgtEl>
                                        <p:attrNameLst>
                                          <p:attrName>ppt_y</p:attrName>
                                        </p:attrNameLst>
                                      </p:cBhvr>
                                      <p:tavLst>
                                        <p:tav tm="0">
                                          <p:val>
                                            <p:strVal val="#ppt_y+0.1"/>
                                          </p:val>
                                        </p:tav>
                                        <p:tav tm="100000">
                                          <p:val>
                                            <p:strVal val="#ppt_y"/>
                                          </p:val>
                                        </p:tav>
                                      </p:tavLst>
                                    </p:anim>
                                    <p:animEffect transition="in" filter="fade">
                                      <p:cBhvr>
                                        <p:cTn id="107" dur="500"/>
                                        <p:tgtEl>
                                          <p:spTgt spid="29"/>
                                        </p:tgtEl>
                                      </p:cBhvr>
                                    </p:animEffect>
                                  </p:childTnLst>
                                </p:cTn>
                              </p:par>
                              <p:par>
                                <p:cTn id="108" presetID="2" presetClass="entr" presetSubtype="4"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3" presetID="2" presetClass="entr" presetSubtype="4"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18" presetID="2" presetClass="entr" presetSubtype="4" fill="hold" grpId="0" nodeType="with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3" presetID="2" presetClass="entr" presetSubtype="4" fill="hold" grpId="0" nodeType="withEffect">
                                  <p:stCondLst>
                                    <p:cond delay="80"/>
                                  </p:stCondLst>
                                  <p:childTnLst>
                                    <p:set>
                                      <p:cBhvr>
                                        <p:cTn id="124" dur="1" fill="hold">
                                          <p:stCondLst>
                                            <p:cond delay="0"/>
                                          </p:stCondLst>
                                        </p:cTn>
                                        <p:tgtEl>
                                          <p:spTgt spid="30"/>
                                        </p:tgtEl>
                                        <p:attrNameLst>
                                          <p:attrName>style.visibility</p:attrName>
                                        </p:attrNameLst>
                                      </p:cBhvr>
                                      <p:to>
                                        <p:strVal val="visible"/>
                                      </p:to>
                                    </p:set>
                                    <p:anim calcmode="lin" valueType="num">
                                      <p:cBhvr additive="base">
                                        <p:cTn id="125" dur="500" fill="hold"/>
                                        <p:tgtEl>
                                          <p:spTgt spid="30"/>
                                        </p:tgtEl>
                                        <p:attrNameLst>
                                          <p:attrName>ppt_x</p:attrName>
                                        </p:attrNameLst>
                                      </p:cBhvr>
                                      <p:tavLst>
                                        <p:tav tm="0">
                                          <p:val>
                                            <p:strVal val="#ppt_x"/>
                                          </p:val>
                                        </p:tav>
                                        <p:tav tm="100000">
                                          <p:val>
                                            <p:strVal val="#ppt_x"/>
                                          </p:val>
                                        </p:tav>
                                      </p:tavLst>
                                    </p:anim>
                                    <p:anim calcmode="lin" valueType="num">
                                      <p:cBhvr additive="base">
                                        <p:cTn id="126" dur="500" fill="hold"/>
                                        <p:tgtEl>
                                          <p:spTgt spid="30"/>
                                        </p:tgtEl>
                                        <p:attrNameLst>
                                          <p:attrName>ppt_y</p:attrName>
                                        </p:attrNameLst>
                                      </p:cBhvr>
                                      <p:tavLst>
                                        <p:tav tm="0">
                                          <p:val>
                                            <p:strVal val="#ppt_y+0.1"/>
                                          </p:val>
                                        </p:tav>
                                        <p:tav tm="100000">
                                          <p:val>
                                            <p:strVal val="#ppt_y"/>
                                          </p:val>
                                        </p:tav>
                                      </p:tavLst>
                                    </p:anim>
                                    <p:animEffect transition="in" filter="fade">
                                      <p:cBhvr>
                                        <p:cTn id="127" dur="500"/>
                                        <p:tgtEl>
                                          <p:spTgt spid="30"/>
                                        </p:tgtEl>
                                      </p:cBhvr>
                                    </p:animEffect>
                                  </p:childTnLst>
                                </p:cTn>
                              </p:par>
                              <p:par>
                                <p:cTn id="128" presetID="2" presetClass="entr" presetSubtype="4" fill="hold" grpId="0" nodeType="withEffect">
                                  <p:stCondLst>
                                    <p:cond delay="160"/>
                                  </p:stCondLst>
                                  <p:childTnLst>
                                    <p:set>
                                      <p:cBhvr>
                                        <p:cTn id="129" dur="1" fill="hold">
                                          <p:stCondLst>
                                            <p:cond delay="0"/>
                                          </p:stCondLst>
                                        </p:cTn>
                                        <p:tgtEl>
                                          <p:spTgt spid="34"/>
                                        </p:tgtEl>
                                        <p:attrNameLst>
                                          <p:attrName>style.visibility</p:attrName>
                                        </p:attrNameLst>
                                      </p:cBhvr>
                                      <p:to>
                                        <p:strVal val="visible"/>
                                      </p:to>
                                    </p:set>
                                    <p:anim calcmode="lin" valueType="num">
                                      <p:cBhvr additive="base">
                                        <p:cTn id="130" dur="500" fill="hold"/>
                                        <p:tgtEl>
                                          <p:spTgt spid="34"/>
                                        </p:tgtEl>
                                        <p:attrNameLst>
                                          <p:attrName>ppt_x</p:attrName>
                                        </p:attrNameLst>
                                      </p:cBhvr>
                                      <p:tavLst>
                                        <p:tav tm="0">
                                          <p:val>
                                            <p:strVal val="#ppt_x"/>
                                          </p:val>
                                        </p:tav>
                                        <p:tav tm="100000">
                                          <p:val>
                                            <p:strVal val="#ppt_x"/>
                                          </p:val>
                                        </p:tav>
                                      </p:tavLst>
                                    </p:anim>
                                    <p:anim calcmode="lin" valueType="num">
                                      <p:cBhvr additive="base">
                                        <p:cTn id="131" dur="500" fill="hold"/>
                                        <p:tgtEl>
                                          <p:spTgt spid="34"/>
                                        </p:tgtEl>
                                        <p:attrNameLst>
                                          <p:attrName>ppt_y</p:attrName>
                                        </p:attrNameLst>
                                      </p:cBhvr>
                                      <p:tavLst>
                                        <p:tav tm="0">
                                          <p:val>
                                            <p:strVal val="#ppt_y+0.1"/>
                                          </p:val>
                                        </p:tav>
                                        <p:tav tm="100000">
                                          <p:val>
                                            <p:strVal val="#ppt_y"/>
                                          </p:val>
                                        </p:tav>
                                      </p:tavLst>
                                    </p:anim>
                                    <p:animEffect transition="in" filter="fade">
                                      <p:cBhvr>
                                        <p:cTn id="132" dur="500"/>
                                        <p:tgtEl>
                                          <p:spTgt spid="34"/>
                                        </p:tgtEl>
                                      </p:cBhvr>
                                    </p:animEffect>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grpId="0" nodeType="clickEffect">
                                  <p:stCondLst>
                                    <p:cond delay="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ppt_x</p:attrName>
                                        </p:attrNameLst>
                                      </p:cBhvr>
                                      <p:tavLst>
                                        <p:tav tm="0">
                                          <p:val>
                                            <p:strVal val="#ppt_x"/>
                                          </p:val>
                                        </p:tav>
                                        <p:tav tm="100000">
                                          <p:val>
                                            <p:strVal val="#ppt_x"/>
                                          </p:val>
                                        </p:tav>
                                      </p:tavLst>
                                    </p:anim>
                                    <p:anim calcmode="lin" valueType="num">
                                      <p:cBhvr additive="base">
                                        <p:cTn id="138" dur="500" fill="hold"/>
                                        <p:tgtEl>
                                          <p:spTgt spid="35"/>
                                        </p:tgtEl>
                                        <p:attrNameLst>
                                          <p:attrName>ppt_y</p:attrName>
                                        </p:attrNameLst>
                                      </p:cBhvr>
                                      <p:tavLst>
                                        <p:tav tm="0">
                                          <p:val>
                                            <p:strVal val="#ppt_y+0.1"/>
                                          </p:val>
                                        </p:tav>
                                        <p:tav tm="100000">
                                          <p:val>
                                            <p:strVal val="#ppt_y"/>
                                          </p:val>
                                        </p:tav>
                                      </p:tavLst>
                                    </p:anim>
                                    <p:animEffect transition="in" filter="fade">
                                      <p:cBhvr>
                                        <p:cTn id="139" dur="500"/>
                                        <p:tgtEl>
                                          <p:spTgt spid="35"/>
                                        </p:tgtEl>
                                      </p:cBhvr>
                                    </p:animEffect>
                                  </p:childTnLst>
                                </p:cTn>
                              </p:par>
                              <p:par>
                                <p:cTn id="140" presetID="2" presetClass="entr" presetSubtype="4" fill="hold" grpId="0" nodeType="withEffect">
                                  <p:stCondLst>
                                    <p:cond delay="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500" fill="hold"/>
                                        <p:tgtEl>
                                          <p:spTgt spid="36"/>
                                        </p:tgtEl>
                                        <p:attrNameLst>
                                          <p:attrName>ppt_x</p:attrName>
                                        </p:attrNameLst>
                                      </p:cBhvr>
                                      <p:tavLst>
                                        <p:tav tm="0">
                                          <p:val>
                                            <p:strVal val="#ppt_x"/>
                                          </p:val>
                                        </p:tav>
                                        <p:tav tm="100000">
                                          <p:val>
                                            <p:strVal val="#ppt_x"/>
                                          </p:val>
                                        </p:tav>
                                      </p:tavLst>
                                    </p:anim>
                                    <p:anim calcmode="lin" valueType="num">
                                      <p:cBhvr additive="base">
                                        <p:cTn id="143" dur="500" fill="hold"/>
                                        <p:tgtEl>
                                          <p:spTgt spid="36"/>
                                        </p:tgtEl>
                                        <p:attrNameLst>
                                          <p:attrName>ppt_y</p:attrName>
                                        </p:attrNameLst>
                                      </p:cBhvr>
                                      <p:tavLst>
                                        <p:tav tm="0">
                                          <p:val>
                                            <p:strVal val="#ppt_y+0.1"/>
                                          </p:val>
                                        </p:tav>
                                        <p:tav tm="100000">
                                          <p:val>
                                            <p:strVal val="#ppt_y"/>
                                          </p:val>
                                        </p:tav>
                                      </p:tavLst>
                                    </p:anim>
                                    <p:animEffect transition="in" filter="fade">
                                      <p:cBhvr>
                                        <p:cTn id="144" dur="500"/>
                                        <p:tgtEl>
                                          <p:spTgt spid="36"/>
                                        </p:tgtEl>
                                      </p:cBhvr>
                                    </p:animEffect>
                                  </p:childTnLst>
                                </p:cTn>
                              </p:par>
                              <p:par>
                                <p:cTn id="145" presetID="2" presetClass="entr" presetSubtype="4" fill="hold" grpId="0" nodeType="withEffect">
                                  <p:stCondLst>
                                    <p:cond delay="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500" fill="hold"/>
                                        <p:tgtEl>
                                          <p:spTgt spid="37"/>
                                        </p:tgtEl>
                                        <p:attrNameLst>
                                          <p:attrName>ppt_x</p:attrName>
                                        </p:attrNameLst>
                                      </p:cBhvr>
                                      <p:tavLst>
                                        <p:tav tm="0">
                                          <p:val>
                                            <p:strVal val="#ppt_x"/>
                                          </p:val>
                                        </p:tav>
                                        <p:tav tm="100000">
                                          <p:val>
                                            <p:strVal val="#ppt_x"/>
                                          </p:val>
                                        </p:tav>
                                      </p:tavLst>
                                    </p:anim>
                                    <p:anim calcmode="lin" valueType="num">
                                      <p:cBhvr additive="base">
                                        <p:cTn id="148" dur="500" fill="hold"/>
                                        <p:tgtEl>
                                          <p:spTgt spid="37"/>
                                        </p:tgtEl>
                                        <p:attrNameLst>
                                          <p:attrName>ppt_y</p:attrName>
                                        </p:attrNameLst>
                                      </p:cBhvr>
                                      <p:tavLst>
                                        <p:tav tm="0">
                                          <p:val>
                                            <p:strVal val="#ppt_y+0.1"/>
                                          </p:val>
                                        </p:tav>
                                        <p:tav tm="100000">
                                          <p:val>
                                            <p:strVal val="#ppt_y"/>
                                          </p:val>
                                        </p:tav>
                                      </p:tavLst>
                                    </p:anim>
                                    <p:animEffect transition="in" filter="fade">
                                      <p:cBhvr>
                                        <p:cTn id="14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Every partition is copied</a:t>
            </a:r>
          </a:p>
          <a:p>
            <a:pPr algn="l">
              <a:spcAft>
                <a:spcPts val="100"/>
              </a:spcAft>
            </a:pPr>
            <a:r>
              <a:rPr sz="1000" b="0">
                <a:solidFill>
                  <a:srgbClr val="D6D3D1"/>
                </a:solidFill>
                <a:latin typeface="Segoe UI"/>
              </a:rPr>
              <a:t>The replication factor sets how many copies - often 3</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One leader, n - 1 followers</a:t>
            </a:r>
          </a:p>
          <a:p>
            <a:pPr algn="l">
              <a:spcAft>
                <a:spcPts val="100"/>
              </a:spcAft>
            </a:pPr>
            <a:r>
              <a:rPr sz="1000" b="0">
                <a:solidFill>
                  <a:srgbClr val="D6D3D1"/>
                </a:solidFill>
                <a:latin typeface="Segoe UI"/>
              </a:rPr>
              <a:t>Followers fetch from the leader to keep up</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A broker fails? Nothing lost</a:t>
            </a:r>
          </a:p>
          <a:p>
            <a:pPr algn="l">
              <a:spcAft>
                <a:spcPts val="100"/>
              </a:spcAft>
            </a:pPr>
            <a:r>
              <a:rPr sz="1000" b="0">
                <a:solidFill>
                  <a:srgbClr val="D6D3D1"/>
                </a:solidFill>
                <a:latin typeface="Segoe UI"/>
              </a:rPr>
              <a:t>A new leader is elected from the in-sync followers</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Writes go to the leader</a:t>
            </a:r>
          </a:p>
          <a:p>
            <a:pPr algn="l">
              <a:spcAft>
                <a:spcPts val="100"/>
              </a:spcAft>
            </a:pPr>
            <a:r>
              <a:rPr sz="1000" b="0">
                <a:solidFill>
                  <a:srgbClr val="D6D3D1"/>
                </a:solidFill>
                <a:latin typeface="Segoe UI"/>
              </a:rPr>
              <a:t>Reads too - or to the nearest replica, if you ask</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Built into Kafka</a:t>
            </a:r>
          </a:p>
          <a:p>
            <a:pPr algn="l">
              <a:spcAft>
                <a:spcPts val="100"/>
              </a:spcAft>
            </a:pPr>
            <a:r>
              <a:rPr sz="1000" b="0">
                <a:solidFill>
                  <a:srgbClr val="D6D3D1"/>
                </a:solidFill>
                <a:latin typeface="Segoe UI"/>
              </a:rPr>
              <a:t>Fault tolerance, availability and load balancing</a:t>
            </a:r>
          </a:p>
        </p:txBody>
      </p:sp>
      <p:sp>
        <p:nvSpPr>
          <p:cNvPr id="25" name="a2u_next24"/>
          <p:cNvSpPr/>
          <p:nvPr/>
        </p:nvSpPr>
        <p:spPr>
          <a:xfrm>
            <a:off x="6263640" y="1234440"/>
            <a:ext cx="2423160" cy="1097280"/>
          </a:xfrm>
          <a:prstGeom prst="roundRect">
            <a:avLst>
              <a:gd name="adj" fmla="val 8333"/>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2u_nextt25"/>
          <p:cNvSpPr txBox="1"/>
          <p:nvPr/>
        </p:nvSpPr>
        <p:spPr>
          <a:xfrm>
            <a:off x="6446520" y="1353312"/>
            <a:ext cx="2103120" cy="86868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6 - Producers</a:t>
            </a:r>
          </a:p>
          <a:p>
            <a:pPr algn="l">
              <a:spcAft>
                <a:spcPts val="400"/>
              </a:spcAft>
            </a:pPr>
            <a:r>
              <a:rPr sz="850" b="0">
                <a:solidFill>
                  <a:srgbClr val="A8A29E"/>
                </a:solidFill>
                <a:latin typeface="Segoe UI"/>
              </a:rPr>
              <a:t>the client apps that write messages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ppt_y+0.1"/>
                                          </p:val>
                                        </p:tav>
                                        <p:tav tm="100000">
                                          <p:val>
                                            <p:strVal val="#ppt_y"/>
                                          </p:val>
                                        </p:tav>
                                      </p:tavLst>
                                    </p:anim>
                                    <p:animEffect transition="in" filter="fade">
                                      <p:cBhvr>
                                        <p:cTn id="14" dur="500"/>
                                        <p:tgtEl>
                                          <p:spTgt spid="10"/>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ppt_y+0.1"/>
                                          </p:val>
                                        </p:tav>
                                        <p:tav tm="100000">
                                          <p:val>
                                            <p:strVal val="#ppt_y"/>
                                          </p:val>
                                        </p:tav>
                                      </p:tavLst>
                                    </p:anim>
                                    <p:animEffect transition="in" filter="fade">
                                      <p:cBhvr>
                                        <p:cTn id="19" dur="500"/>
                                        <p:tgtEl>
                                          <p:spTgt spid="11"/>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ppt_y+0.1"/>
                                          </p:val>
                                        </p:tav>
                                        <p:tav tm="100000">
                                          <p:val>
                                            <p:strVal val="#ppt_y"/>
                                          </p:val>
                                        </p:tav>
                                      </p:tavLst>
                                    </p:anim>
                                    <p:animEffect transition="in" filter="fade">
                                      <p:cBhvr>
                                        <p:cTn id="24" dur="500"/>
                                        <p:tgtEl>
                                          <p:spTgt spid="12"/>
                                        </p:tgtEl>
                                      </p:cBhvr>
                                    </p:animEffect>
                                  </p:childTnLst>
                                </p:cTn>
                              </p:par>
                              <p:par>
                                <p:cTn id="25" presetID="2" presetClass="entr" presetSubtype="4" fill="hold" grpId="0" nodeType="withEffect">
                                  <p:stCondLst>
                                    <p:cond delay="20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ppt_y+0.1"/>
                                          </p:val>
                                        </p:tav>
                                        <p:tav tm="100000">
                                          <p:val>
                                            <p:strVal val="#ppt_y"/>
                                          </p:val>
                                        </p:tav>
                                      </p:tavLst>
                                    </p:anim>
                                    <p:animEffect transition="in" filter="fade">
                                      <p:cBhvr>
                                        <p:cTn id="29" dur="500"/>
                                        <p:tgtEl>
                                          <p:spTgt spid="13"/>
                                        </p:tgtEl>
                                      </p:cBhvr>
                                    </p:animEffect>
                                  </p:childTnLst>
                                </p:cTn>
                              </p:par>
                              <p:par>
                                <p:cTn id="30" presetID="2" presetClass="entr" presetSubtype="4" fill="hold" grpId="0" nodeType="withEffect">
                                  <p:stCondLst>
                                    <p:cond delay="20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ppt_y+0.1"/>
                                          </p:val>
                                        </p:tav>
                                        <p:tav tm="100000">
                                          <p:val>
                                            <p:strVal val="#ppt_y"/>
                                          </p:val>
                                        </p:tav>
                                      </p:tavLst>
                                    </p:anim>
                                    <p:animEffect transition="in" filter="fade">
                                      <p:cBhvr>
                                        <p:cTn id="34" dur="500"/>
                                        <p:tgtEl>
                                          <p:spTgt spid="14"/>
                                        </p:tgtEl>
                                      </p:cBhvr>
                                    </p:animEffect>
                                  </p:childTnLst>
                                </p:cTn>
                              </p:par>
                              <p:par>
                                <p:cTn id="35" presetID="2" presetClass="entr" presetSubtype="4" fill="hold" grpId="0" nodeType="withEffect">
                                  <p:stCondLst>
                                    <p:cond delay="20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ppt_y+0.1"/>
                                          </p:val>
                                        </p:tav>
                                        <p:tav tm="100000">
                                          <p:val>
                                            <p:strVal val="#ppt_y"/>
                                          </p:val>
                                        </p:tav>
                                      </p:tavLst>
                                    </p:anim>
                                    <p:animEffect transition="in" filter="fade">
                                      <p:cBhvr>
                                        <p:cTn id="39" dur="500"/>
                                        <p:tgtEl>
                                          <p:spTgt spid="15"/>
                                        </p:tgtEl>
                                      </p:cBhvr>
                                    </p:animEffect>
                                  </p:childTnLst>
                                </p:cTn>
                              </p:par>
                              <p:par>
                                <p:cTn id="40" presetID="2" presetClass="entr" presetSubtype="4" fill="hold" grpId="0" nodeType="withEffect">
                                  <p:stCondLst>
                                    <p:cond delay="40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1"/>
                                          </p:val>
                                        </p:tav>
                                        <p:tav tm="100000">
                                          <p:val>
                                            <p:strVal val="#ppt_y"/>
                                          </p:val>
                                        </p:tav>
                                      </p:tavLst>
                                    </p:anim>
                                    <p:animEffect transition="in" filter="fade">
                                      <p:cBhvr>
                                        <p:cTn id="44" dur="500"/>
                                        <p:tgtEl>
                                          <p:spTgt spid="16"/>
                                        </p:tgtEl>
                                      </p:cBhvr>
                                    </p:animEffect>
                                  </p:childTnLst>
                                </p:cTn>
                              </p:par>
                              <p:par>
                                <p:cTn id="45" presetID="2" presetClass="entr" presetSubtype="4" fill="hold" grpId="0" nodeType="withEffect">
                                  <p:stCondLst>
                                    <p:cond delay="40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1"/>
                                          </p:val>
                                        </p:tav>
                                        <p:tav tm="100000">
                                          <p:val>
                                            <p:strVal val="#ppt_y"/>
                                          </p:val>
                                        </p:tav>
                                      </p:tavLst>
                                    </p:anim>
                                    <p:animEffect transition="in" filter="fade">
                                      <p:cBhvr>
                                        <p:cTn id="49" dur="500"/>
                                        <p:tgtEl>
                                          <p:spTgt spid="17"/>
                                        </p:tgtEl>
                                      </p:cBhvr>
                                    </p:animEffect>
                                  </p:childTnLst>
                                </p:cTn>
                              </p:par>
                              <p:par>
                                <p:cTn id="50" presetID="2" presetClass="entr" presetSubtype="4" fill="hold" grpId="0" nodeType="withEffect">
                                  <p:stCondLst>
                                    <p:cond delay="40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1"/>
                                          </p:val>
                                        </p:tav>
                                        <p:tav tm="100000">
                                          <p:val>
                                            <p:strVal val="#ppt_y"/>
                                          </p:val>
                                        </p:tav>
                                      </p:tavLst>
                                    </p:anim>
                                    <p:animEffect transition="in" filter="fade">
                                      <p:cBhvr>
                                        <p:cTn id="54" dur="500"/>
                                        <p:tgtEl>
                                          <p:spTgt spid="18"/>
                                        </p:tgtEl>
                                      </p:cBhvr>
                                    </p:animEffect>
                                  </p:childTnLst>
                                </p:cTn>
                              </p:par>
                              <p:par>
                                <p:cTn id="55" presetID="2" presetClass="entr" presetSubtype="4" fill="hold" grpId="0" nodeType="withEffect">
                                  <p:stCondLst>
                                    <p:cond delay="60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1"/>
                                          </p:val>
                                        </p:tav>
                                        <p:tav tm="100000">
                                          <p:val>
                                            <p:strVal val="#ppt_y"/>
                                          </p:val>
                                        </p:tav>
                                      </p:tavLst>
                                    </p:anim>
                                    <p:animEffect transition="in" filter="fade">
                                      <p:cBhvr>
                                        <p:cTn id="59" dur="500"/>
                                        <p:tgtEl>
                                          <p:spTgt spid="19"/>
                                        </p:tgtEl>
                                      </p:cBhvr>
                                    </p:animEffect>
                                  </p:childTnLst>
                                </p:cTn>
                              </p:par>
                              <p:par>
                                <p:cTn id="60" presetID="2" presetClass="entr" presetSubtype="4" fill="hold" grpId="0" nodeType="withEffect">
                                  <p:stCondLst>
                                    <p:cond delay="60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1"/>
                                          </p:val>
                                        </p:tav>
                                        <p:tav tm="100000">
                                          <p:val>
                                            <p:strVal val="#ppt_y"/>
                                          </p:val>
                                        </p:tav>
                                      </p:tavLst>
                                    </p:anim>
                                    <p:animEffect transition="in" filter="fade">
                                      <p:cBhvr>
                                        <p:cTn id="64" dur="500"/>
                                        <p:tgtEl>
                                          <p:spTgt spid="20"/>
                                        </p:tgtEl>
                                      </p:cBhvr>
                                    </p:animEffect>
                                  </p:childTnLst>
                                </p:cTn>
                              </p:par>
                              <p:par>
                                <p:cTn id="65" presetID="2" presetClass="entr" presetSubtype="4" fill="hold" grpId="0" nodeType="withEffect">
                                  <p:stCondLst>
                                    <p:cond delay="60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1"/>
                                          </p:val>
                                        </p:tav>
                                        <p:tav tm="100000">
                                          <p:val>
                                            <p:strVal val="#ppt_y"/>
                                          </p:val>
                                        </p:tav>
                                      </p:tavLst>
                                    </p:anim>
                                    <p:animEffect transition="in" filter="fade">
                                      <p:cBhvr>
                                        <p:cTn id="69" dur="500"/>
                                        <p:tgtEl>
                                          <p:spTgt spid="21"/>
                                        </p:tgtEl>
                                      </p:cBhvr>
                                    </p:animEffect>
                                  </p:childTnLst>
                                </p:cTn>
                              </p:par>
                              <p:par>
                                <p:cTn id="70" presetID="2" presetClass="entr" presetSubtype="4" fill="hold" grpId="0" nodeType="withEffect">
                                  <p:stCondLst>
                                    <p:cond delay="80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500" fill="hold"/>
                                        <p:tgtEl>
                                          <p:spTgt spid="22"/>
                                        </p:tgtEl>
                                        <p:attrNameLst>
                                          <p:attrName>ppt_x</p:attrName>
                                        </p:attrNameLst>
                                      </p:cBhvr>
                                      <p:tavLst>
                                        <p:tav tm="0">
                                          <p:val>
                                            <p:strVal val="#ppt_x"/>
                                          </p:val>
                                        </p:tav>
                                        <p:tav tm="100000">
                                          <p:val>
                                            <p:strVal val="#ppt_x"/>
                                          </p:val>
                                        </p:tav>
                                      </p:tavLst>
                                    </p:anim>
                                    <p:anim calcmode="lin" valueType="num">
                                      <p:cBhvr additive="base">
                                        <p:cTn id="73" dur="500" fill="hold"/>
                                        <p:tgtEl>
                                          <p:spTgt spid="22"/>
                                        </p:tgtEl>
                                        <p:attrNameLst>
                                          <p:attrName>ppt_y</p:attrName>
                                        </p:attrNameLst>
                                      </p:cBhvr>
                                      <p:tavLst>
                                        <p:tav tm="0">
                                          <p:val>
                                            <p:strVal val="#ppt_y+0.1"/>
                                          </p:val>
                                        </p:tav>
                                        <p:tav tm="100000">
                                          <p:val>
                                            <p:strVal val="#ppt_y"/>
                                          </p:val>
                                        </p:tav>
                                      </p:tavLst>
                                    </p:anim>
                                    <p:animEffect transition="in" filter="fade">
                                      <p:cBhvr>
                                        <p:cTn id="74" dur="500"/>
                                        <p:tgtEl>
                                          <p:spTgt spid="22"/>
                                        </p:tgtEl>
                                      </p:cBhvr>
                                    </p:animEffect>
                                  </p:childTnLst>
                                </p:cTn>
                              </p:par>
                              <p:par>
                                <p:cTn id="75" presetID="2" presetClass="entr" presetSubtype="4" fill="hold" grpId="0" nodeType="withEffect">
                                  <p:stCondLst>
                                    <p:cond delay="80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ppt_y+0.1"/>
                                          </p:val>
                                        </p:tav>
                                        <p:tav tm="100000">
                                          <p:val>
                                            <p:strVal val="#ppt_y"/>
                                          </p:val>
                                        </p:tav>
                                      </p:tavLst>
                                    </p:anim>
                                    <p:animEffect transition="in" filter="fade">
                                      <p:cBhvr>
                                        <p:cTn id="79" dur="500"/>
                                        <p:tgtEl>
                                          <p:spTgt spid="23"/>
                                        </p:tgtEl>
                                      </p:cBhvr>
                                    </p:animEffect>
                                  </p:childTnLst>
                                </p:cTn>
                              </p:par>
                              <p:par>
                                <p:cTn id="80" presetID="2" presetClass="entr" presetSubtype="4" fill="hold" grpId="0" nodeType="withEffect">
                                  <p:stCondLst>
                                    <p:cond delay="80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ppt_x"/>
                                          </p:val>
                                        </p:tav>
                                        <p:tav tm="100000">
                                          <p:val>
                                            <p:strVal val="#ppt_x"/>
                                          </p:val>
                                        </p:tav>
                                      </p:tavLst>
                                    </p:anim>
                                    <p:anim calcmode="lin" valueType="num">
                                      <p:cBhvr additive="base">
                                        <p:cTn id="83" dur="500" fill="hold"/>
                                        <p:tgtEl>
                                          <p:spTgt spid="24"/>
                                        </p:tgtEl>
                                        <p:attrNameLst>
                                          <p:attrName>ppt_y</p:attrName>
                                        </p:attrNameLst>
                                      </p:cBhvr>
                                      <p:tavLst>
                                        <p:tav tm="0">
                                          <p:val>
                                            <p:strVal val="#ppt_y+0.1"/>
                                          </p:val>
                                        </p:tav>
                                        <p:tav tm="100000">
                                          <p:val>
                                            <p:strVal val="#ppt_y"/>
                                          </p:val>
                                        </p:tav>
                                      </p:tavLst>
                                    </p:anim>
                                    <p:animEffect transition="in" filter="fade">
                                      <p:cBhvr>
                                        <p:cTn id="84"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500" fill="hold"/>
                                        <p:tgtEl>
                                          <p:spTgt spid="25"/>
                                        </p:tgtEl>
                                        <p:attrNameLst>
                                          <p:attrName>ppt_x</p:attrName>
                                        </p:attrNameLst>
                                      </p:cBhvr>
                                      <p:tavLst>
                                        <p:tav tm="0">
                                          <p:val>
                                            <p:strVal val="#ppt_x"/>
                                          </p:val>
                                        </p:tav>
                                        <p:tav tm="100000">
                                          <p:val>
                                            <p:strVal val="#ppt_x"/>
                                          </p:val>
                                        </p:tav>
                                      </p:tavLst>
                                    </p:anim>
                                    <p:anim calcmode="lin" valueType="num">
                                      <p:cBhvr additive="base">
                                        <p:cTn id="90" dur="500" fill="hold"/>
                                        <p:tgtEl>
                                          <p:spTgt spid="25"/>
                                        </p:tgtEl>
                                        <p:attrNameLst>
                                          <p:attrName>ppt_y</p:attrName>
                                        </p:attrNameLst>
                                      </p:cBhvr>
                                      <p:tavLst>
                                        <p:tav tm="0">
                                          <p:val>
                                            <p:strVal val="#ppt_y+0.1"/>
                                          </p:val>
                                        </p:tav>
                                        <p:tav tm="100000">
                                          <p:val>
                                            <p:strVal val="#ppt_y"/>
                                          </p:val>
                                        </p:tav>
                                      </p:tavLst>
                                    </p:anim>
                                    <p:animEffect transition="in" filter="fade">
                                      <p:cBhvr>
                                        <p:cTn id="91" dur="500"/>
                                        <p:tgtEl>
                                          <p:spTgt spid="25"/>
                                        </p:tgtEl>
                                      </p:cBhvr>
                                    </p:animEffect>
                                  </p:childTnLst>
                                </p:cTn>
                              </p:par>
                              <p:par>
                                <p:cTn id="92" presetID="2" presetClass="entr" presetSubtype="4" fill="hold" grpId="0" nodeType="withEffect">
                                  <p:stCondLst>
                                    <p:cond delay="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500" fill="hold"/>
                                        <p:tgtEl>
                                          <p:spTgt spid="26"/>
                                        </p:tgtEl>
                                        <p:attrNameLst>
                                          <p:attrName>ppt_x</p:attrName>
                                        </p:attrNameLst>
                                      </p:cBhvr>
                                      <p:tavLst>
                                        <p:tav tm="0">
                                          <p:val>
                                            <p:strVal val="#ppt_x"/>
                                          </p:val>
                                        </p:tav>
                                        <p:tav tm="100000">
                                          <p:val>
                                            <p:strVal val="#ppt_x"/>
                                          </p:val>
                                        </p:tav>
                                      </p:tavLst>
                                    </p:anim>
                                    <p:anim calcmode="lin" valueType="num">
                                      <p:cBhvr additive="base">
                                        <p:cTn id="95" dur="500" fill="hold"/>
                                        <p:tgtEl>
                                          <p:spTgt spid="26"/>
                                        </p:tgtEl>
                                        <p:attrNameLst>
                                          <p:attrName>ppt_y</p:attrName>
                                        </p:attrNameLst>
                                      </p:cBhvr>
                                      <p:tavLst>
                                        <p:tav tm="0">
                                          <p:val>
                                            <p:strVal val="#ppt_y+0.1"/>
                                          </p:val>
                                        </p:tav>
                                        <p:tav tm="100000">
                                          <p:val>
                                            <p:strVal val="#ppt_y"/>
                                          </p:val>
                                        </p:tav>
                                      </p:tavLst>
                                    </p:anim>
                                    <p:animEffect transition="in" filter="fade">
                                      <p:cBhvr>
                                        <p:cTn id="9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2227</Words>
  <Application>Microsoft Office PowerPoint</Application>
  <PresentationFormat>On-screen Show (16:9)</PresentationFormat>
  <Paragraphs>361</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Bahnschrift SemiBold</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Subramanian Murugan</cp:lastModifiedBy>
  <cp:revision>2</cp:revision>
  <dcterms:created xsi:type="dcterms:W3CDTF">2013-01-27T09:14:16Z</dcterms:created>
  <dcterms:modified xsi:type="dcterms:W3CDTF">2026-09-27T10:49:20Z</dcterms:modified>
  <cp:category/>
</cp:coreProperties>
</file>