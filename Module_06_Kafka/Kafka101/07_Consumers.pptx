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7 of the Kafka 101 series: consumers - the applications that read from Kafka. This is the other half of the producer story from Module 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Consumers are the client components outside the cluster that read data from Kafka topics - and, ideally, do something with it: show it, alert on it, store it. Using the consumer API is very similar in principle to using the producer from the last module, and the examples are in Java again.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Java you use a class called KafkaConsumer to connect to the cluster, and you give it the same kind of key-value configuration as the producer - here a properties file. In real life there might be five or ten settings, security among them, but at a minimum you point the consumer at the cluster. As with producers, you do not list every broker - just enough that one is up; the consumer talks to that one and learns what it needs about the whole cluster. Trainer note: the lesson's slide shows only bootstrap.servers, but subscribe() needs a group.id as well - the Java client refuses to subscribe without one. The written summary lists both.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connected, give the consumer a list of topics to subscribe to. Only want one topic? That is fine - it is a list of one thing, because subscribe takes a list. For the stout-hearted, it can also take a regular expression and subscribe to every topic that matches. The lesson is careful: you can, not that you should. Trainer note: a pattern subscription also picks up matching topics created later, when the consumer next refreshes its metadata.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subscribing, we enter an infinite loop. If that feels wrong, think about it: this is event-driven code, and reading messages is what it does forever. There is no last message - the idea of a last thing is batch-oriented thinking, and this is streaming data, so there is always more. In the loop we call poll, which tells the library to ask the cluster whether there are new messages for it. Trainer note: a real application leaves the loop on shutdown by calling consumer.wakeup() from another thread, catching the WakeupException, and closing the consumer.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 under the hood, poll knows which partitions are involved: which topics we subscribed to, how many partitions each has, and which brokers are the leaders for each of those partitions. So it really is asking specific computers in the cluster - specific broker processes - whether they have new messages. When they do, we get back a collection called ConsumerRecords. Trainer note: with the nearest-replica setting from Module 5, some of those fetches can go to a nearby follower instead of the leader.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ConsumerRecords is a generic type. In Java the angle brackets with String, String say that the key is a string and the value is a string - just like what we produced. You want these types to match what the producer wrote. A string is not a bad type for a key; keys are often primitives like string, int or long. The value is usually a domain object you have modelled in your language, so in data terms there is a schema, and it matters. The lesson glosses over that for now, to keep the code in its simplest form - schemas come in the Schema Registry module. Trainer note: Kafka does not check types on write; a mismatch shows up at the consumer as a deserialization error, or as garbage if both sides happen to use strings.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poll returns a collection of consumer records, and we iterate over it. It might hold one record, or many if this is a busy topic with plenty waiting. For each one we are mostly interested in the key and the value - the message itself - and in this genius bit of computation we just print them. There is more on a record than key and value, as the docs show: which partition it came from, its offset, its timestamp, its headers. But key and value are usually what you really need.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Consumers have a bigger story than network plumbing. First, a reminder: Kafka is not a queue, it is a log. A topic is fundamentally a log, so consuming does not make messages go away. When consumer A reads a message, consumer B can still come along and read it - and so can C, D and as many more as you have. Each keeps its own position; a new one can start from the beginning. Very important. Trainer note: messages leave a topic only through retention (time or size) or compaction - never because someone read them.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if a consumer goes away and is restored - how does it know where it was? Every so often a consumer reports back to the cluster the most recent offset it has consumed. This is consumer offset tracking, or offset commits - telling the cluster is called a commit. The offsets are stored in a special internal topic, so Kafka uses Kafka to build this feature. Here the consumer handles 0, 1 and 2, then 3 fails, so it does not commit 3. Once 3 is processed properly after recovery, it commits that. Trainer note: the value Kafka stores is the next offset to read - last handled plus one - which is why the table shows 3 and then 4. Offsets are kept per group and per partition.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real details are a little more complicated. A consumer does not commit every single offset it consumes - that could be expensive. Commits are usually batched, with a threshold such as an amount of time, after which the offsets are committed. It is all documented and tunable if you need to optimize it. The picture shows the consequence: the consumer committed after 3 and after 7, crashed after 9, and on restart resumes at 8 - so 8 and 9 are processed twice. Trainer note: the Java consumer auto-commits by default (enable.auto.commit=true) every 5 seconds, during poll(); applications that need tighter control turn that off and call commitSync or commitAsync after processing. Either way the usual guarantee is at-least-once, so processing should be idempotent.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Consumers can scale, and they do it by forming consumer groups. Start with consumer A reading a three-partition topic. Its messages can come from any of the three partitions, but it processes them one at a time - consumers are fundamentally single-threaded. Add consumer B, and it reads messages too: A and B operate independently, each single-threaded, one message from one partition at a time. The lesson's transcript ends here; the next two slides follow its written summary. Trainer note: a KafkaConsumer must not be shared between threads.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lesson's written summary: to scale processing, Kafka has consumer groups. All consumers with the same group id share the work of reading a topic's partitions. Kafka assigns each partition to exactly one consumer in the group, so no two consumers in a group read the same partition. With three partitions and three consumers, each takes one. A different group - here the alerting service - is completely independent and gets every message, because consuming does not delete anything. Order is still kept within each partition, since one partition is read by one consumer in the group.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Also from the written summary: when more consumers join a group, Kafka automatically rebalances the partitions across them, and when a consumer fails, its partitions are reassigned to the ones that remain, so processing carries on. The number of partitions caps the useful size of a group - extra consumers get nothing and sit idle, ready to take over. For the lab kit: run kafka-console-consumer.sh with --group dash in two terminals, then a third, and run kafka-consumer-groups.sh --bootstrap-server localhost:9092 --describe --group dash to see who owns which partition, and each partition's lag.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points to leave with. Quick check: two apps read the same topic - does the second miss what the first consumed? (No - consuming does not delete.) And a group has four consumers on a three-partition topic - what does the fourth do? (Nothing, until another fails.)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181B"/>
        </a:solidFill>
        <a:effectLst/>
      </p:bgPr>
    </p:bg>
    <p:spTree>
      <p:nvGrpSpPr>
        <p:cNvPr id="1" name=""/>
        <p:cNvGrpSpPr/>
        <p:nvPr/>
      </p:nvGrpSpPr>
      <p:grpSpPr/>
      <p:sp>
        <p:nvSpPr>
          <p:cNvPr id="2" name="edge1"/>
          <p:cNvSpPr/>
          <p:nvPr/>
        </p:nvSpPr>
        <p:spPr>
          <a:xfrm>
            <a:off x="0" y="0"/>
            <a:ext cx="128016" cy="51435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a0f_kick2"/>
          <p:cNvSpPr txBox="1"/>
          <p:nvPr/>
        </p:nvSpPr>
        <p:spPr>
          <a:xfrm>
            <a:off x="548640" y="868680"/>
            <a:ext cx="4937760" cy="292608"/>
          </a:xfrm>
          <a:prstGeom prst="rect">
            <a:avLst/>
          </a:prstGeom>
          <a:noFill/>
        </p:spPr>
        <p:txBody>
          <a:bodyPr wrap="square" lIns="0" tIns="0" rIns="0" bIns="0" anchor="ctr">
            <a:spAutoFit/>
          </a:bodyPr>
          <a:lstStyle/>
          <a:p>
            <a:pPr algn="l"/>
            <a:r>
              <a:rPr sz="1050" b="1" spc="300">
                <a:solidFill>
                  <a:srgbClr val="FB923C"/>
                </a:solidFill>
                <a:latin typeface="Segoe UI"/>
              </a:rPr>
              <a:t>APACHE KAFKA 101</a:t>
            </a:r>
          </a:p>
        </p:txBody>
      </p:sp>
      <p:sp>
        <p:nvSpPr>
          <p:cNvPr id="4" name="a0ud200_t3"/>
          <p:cNvSpPr txBox="1"/>
          <p:nvPr/>
        </p:nvSpPr>
        <p:spPr>
          <a:xfrm>
            <a:off x="548640" y="1188720"/>
            <a:ext cx="5212080" cy="1417320"/>
          </a:xfrm>
          <a:prstGeom prst="rect">
            <a:avLst/>
          </a:prstGeom>
          <a:noFill/>
        </p:spPr>
        <p:txBody>
          <a:bodyPr wrap="square" lIns="0" tIns="0" rIns="0" bIns="0" anchor="ctr">
            <a:spAutoFit/>
          </a:bodyPr>
          <a:lstStyle/>
          <a:p>
            <a:pPr algn="l"/>
            <a:r>
              <a:rPr sz="4200" b="0">
                <a:solidFill>
                  <a:srgbClr val="FFFFFF"/>
                </a:solidFill>
                <a:latin typeface="Bahnschrift SemiBold"/>
              </a:rPr>
              <a:t>Apache Kafka 101</a:t>
            </a:r>
          </a:p>
        </p:txBody>
      </p:sp>
      <p:sp>
        <p:nvSpPr>
          <p:cNvPr id="5" name="a0fd500_sub4"/>
          <p:cNvSpPr txBox="1"/>
          <p:nvPr/>
        </p:nvSpPr>
        <p:spPr>
          <a:xfrm>
            <a:off x="548640" y="2670048"/>
            <a:ext cx="5029200" cy="457200"/>
          </a:xfrm>
          <a:prstGeom prst="rect">
            <a:avLst/>
          </a:prstGeom>
          <a:noFill/>
        </p:spPr>
        <p:txBody>
          <a:bodyPr wrap="square" lIns="0" tIns="0" rIns="0" bIns="0" anchor="ctr">
            <a:spAutoFit/>
          </a:bodyPr>
          <a:lstStyle/>
          <a:p>
            <a:pPr algn="l"/>
            <a:r>
              <a:rPr sz="1450" b="0">
                <a:solidFill>
                  <a:srgbClr val="D6D3D1"/>
                </a:solidFill>
                <a:latin typeface="Segoe UI"/>
              </a:rPr>
              <a:t>Consumers</a:t>
            </a:r>
          </a:p>
          <a:p>
            <a:pPr algn="l"/>
            <a:r>
              <a:rPr sz="1450" b="0">
                <a:solidFill>
                  <a:srgbClr val="D6D3D1"/>
                </a:solidFill>
                <a:latin typeface="Segoe UI"/>
              </a:rPr>
              <a:t>the client applications that read from Kafka</a:t>
            </a:r>
          </a:p>
        </p:txBody>
      </p:sp>
      <p:sp>
        <p:nvSpPr>
          <p:cNvPr id="6" name="a0ud800_pill5"/>
          <p:cNvSpPr/>
          <p:nvPr/>
        </p:nvSpPr>
        <p:spPr>
          <a:xfrm>
            <a:off x="548640"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SUBSCRIBE</a:t>
            </a:r>
          </a:p>
        </p:txBody>
      </p:sp>
      <p:sp>
        <p:nvSpPr>
          <p:cNvPr id="7" name="a0ud950_pill6"/>
          <p:cNvSpPr/>
          <p:nvPr/>
        </p:nvSpPr>
        <p:spPr>
          <a:xfrm>
            <a:off x="1572768"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POLL</a:t>
            </a:r>
          </a:p>
        </p:txBody>
      </p:sp>
      <p:sp>
        <p:nvSpPr>
          <p:cNvPr id="8" name="a0ud1100_pill7"/>
          <p:cNvSpPr/>
          <p:nvPr/>
        </p:nvSpPr>
        <p:spPr>
          <a:xfrm>
            <a:off x="2596896"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OFFSETS</a:t>
            </a:r>
          </a:p>
        </p:txBody>
      </p:sp>
      <p:sp>
        <p:nvSpPr>
          <p:cNvPr id="9" name="a0ud1250_pill8"/>
          <p:cNvSpPr/>
          <p:nvPr/>
        </p:nvSpPr>
        <p:spPr>
          <a:xfrm>
            <a:off x="3621024"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GROUPS</a:t>
            </a:r>
          </a:p>
        </p:txBody>
      </p:sp>
      <p:sp>
        <p:nvSpPr>
          <p:cNvPr id="10" name="a0fd1400_nt9"/>
          <p:cNvSpPr txBox="1"/>
          <p:nvPr/>
        </p:nvSpPr>
        <p:spPr>
          <a:xfrm>
            <a:off x="548640" y="3950208"/>
            <a:ext cx="4937760" cy="457200"/>
          </a:xfrm>
          <a:prstGeom prst="rect">
            <a:avLst/>
          </a:prstGeom>
          <a:noFill/>
        </p:spPr>
        <p:txBody>
          <a:bodyPr wrap="square" lIns="0" tIns="0" rIns="0" bIns="0" anchor="ctr">
            <a:spAutoFit/>
          </a:bodyPr>
          <a:lstStyle/>
          <a:p>
            <a:pPr algn="l"/>
            <a:r>
              <a:rPr sz="1050" b="0">
                <a:solidFill>
                  <a:srgbClr val="A8A29E"/>
                </a:solidFill>
                <a:latin typeface="Segoe UI"/>
              </a:rPr>
              <a:t>Module 7  ·  Following the Kafka 101 Consumers lesson by Tim Berglund, Confluent</a:t>
            </a:r>
          </a:p>
        </p:txBody>
      </p:sp>
      <p:sp>
        <p:nvSpPr>
          <p:cNvPr id="11" name="a0fd1600_lc10"/>
          <p:cNvSpPr/>
          <p:nvPr/>
        </p:nvSpPr>
        <p:spPr>
          <a:xfrm>
            <a:off x="548640"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0fd1600_lct11"/>
          <p:cNvSpPr txBox="1"/>
          <p:nvPr/>
        </p:nvSpPr>
        <p:spPr>
          <a:xfrm>
            <a:off x="548640"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0</a:t>
            </a:r>
          </a:p>
        </p:txBody>
      </p:sp>
      <p:sp>
        <p:nvSpPr>
          <p:cNvPr id="13" name="a0fd1645_lc12"/>
          <p:cNvSpPr/>
          <p:nvPr/>
        </p:nvSpPr>
        <p:spPr>
          <a:xfrm>
            <a:off x="987552"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0fd1645_lct13"/>
          <p:cNvSpPr txBox="1"/>
          <p:nvPr/>
        </p:nvSpPr>
        <p:spPr>
          <a:xfrm>
            <a:off x="987552"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a:t>
            </a:r>
          </a:p>
        </p:txBody>
      </p:sp>
      <p:sp>
        <p:nvSpPr>
          <p:cNvPr id="15" name="a0fd1690_lc14"/>
          <p:cNvSpPr/>
          <p:nvPr/>
        </p:nvSpPr>
        <p:spPr>
          <a:xfrm>
            <a:off x="1426464"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0fd1690_lct15"/>
          <p:cNvSpPr txBox="1"/>
          <p:nvPr/>
        </p:nvSpPr>
        <p:spPr>
          <a:xfrm>
            <a:off x="1426464"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2</a:t>
            </a:r>
          </a:p>
        </p:txBody>
      </p:sp>
      <p:sp>
        <p:nvSpPr>
          <p:cNvPr id="17" name="a0fd1735_lc16"/>
          <p:cNvSpPr/>
          <p:nvPr/>
        </p:nvSpPr>
        <p:spPr>
          <a:xfrm>
            <a:off x="1865376"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0fd1735_lct17"/>
          <p:cNvSpPr txBox="1"/>
          <p:nvPr/>
        </p:nvSpPr>
        <p:spPr>
          <a:xfrm>
            <a:off x="1865376"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3</a:t>
            </a:r>
          </a:p>
        </p:txBody>
      </p:sp>
      <p:sp>
        <p:nvSpPr>
          <p:cNvPr id="19" name="a0fd1780_lc18"/>
          <p:cNvSpPr/>
          <p:nvPr/>
        </p:nvSpPr>
        <p:spPr>
          <a:xfrm>
            <a:off x="2304288"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0fd1780_lct19"/>
          <p:cNvSpPr txBox="1"/>
          <p:nvPr/>
        </p:nvSpPr>
        <p:spPr>
          <a:xfrm>
            <a:off x="2304288"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4</a:t>
            </a:r>
          </a:p>
        </p:txBody>
      </p:sp>
      <p:sp>
        <p:nvSpPr>
          <p:cNvPr id="21" name="a0fd1825_lc20"/>
          <p:cNvSpPr/>
          <p:nvPr/>
        </p:nvSpPr>
        <p:spPr>
          <a:xfrm>
            <a:off x="2743200"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0fd1825_lct21"/>
          <p:cNvSpPr txBox="1"/>
          <p:nvPr/>
        </p:nvSpPr>
        <p:spPr>
          <a:xfrm>
            <a:off x="2743200"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5</a:t>
            </a:r>
          </a:p>
        </p:txBody>
      </p:sp>
      <p:sp>
        <p:nvSpPr>
          <p:cNvPr id="23" name="a0fd1870_lc22"/>
          <p:cNvSpPr/>
          <p:nvPr/>
        </p:nvSpPr>
        <p:spPr>
          <a:xfrm>
            <a:off x="3182112"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0fd1870_lct23"/>
          <p:cNvSpPr txBox="1"/>
          <p:nvPr/>
        </p:nvSpPr>
        <p:spPr>
          <a:xfrm>
            <a:off x="3182112"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6</a:t>
            </a:r>
          </a:p>
        </p:txBody>
      </p:sp>
      <p:sp>
        <p:nvSpPr>
          <p:cNvPr id="25" name="a0fd1915_lc24"/>
          <p:cNvSpPr/>
          <p:nvPr/>
        </p:nvSpPr>
        <p:spPr>
          <a:xfrm>
            <a:off x="3621024"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0fd1915_lct25"/>
          <p:cNvSpPr txBox="1"/>
          <p:nvPr/>
        </p:nvSpPr>
        <p:spPr>
          <a:xfrm>
            <a:off x="3621024"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7</a:t>
            </a:r>
          </a:p>
        </p:txBody>
      </p:sp>
      <p:sp>
        <p:nvSpPr>
          <p:cNvPr id="27" name="a0fd1960_lc26"/>
          <p:cNvSpPr/>
          <p:nvPr/>
        </p:nvSpPr>
        <p:spPr>
          <a:xfrm>
            <a:off x="4059935"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0fd1960_lct27"/>
          <p:cNvSpPr txBox="1"/>
          <p:nvPr/>
        </p:nvSpPr>
        <p:spPr>
          <a:xfrm>
            <a:off x="4059935"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8</a:t>
            </a:r>
          </a:p>
        </p:txBody>
      </p:sp>
      <p:sp>
        <p:nvSpPr>
          <p:cNvPr id="29" name="a0fd2005_lc28"/>
          <p:cNvSpPr/>
          <p:nvPr/>
        </p:nvSpPr>
        <p:spPr>
          <a:xfrm>
            <a:off x="4498848"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0fd2005_lct29"/>
          <p:cNvSpPr txBox="1"/>
          <p:nvPr/>
        </p:nvSpPr>
        <p:spPr>
          <a:xfrm>
            <a:off x="4498848"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9</a:t>
            </a:r>
          </a:p>
        </p:txBody>
      </p:sp>
      <p:sp>
        <p:nvSpPr>
          <p:cNvPr id="31" name="a0fd2050_lc30"/>
          <p:cNvSpPr/>
          <p:nvPr/>
        </p:nvSpPr>
        <p:spPr>
          <a:xfrm>
            <a:off x="4937759" y="4553712"/>
            <a:ext cx="384048" cy="237744"/>
          </a:xfrm>
          <a:prstGeom prst="roundRect">
            <a:avLst>
              <a:gd name="adj" fmla="val 1538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0fd2050_lct31"/>
          <p:cNvSpPr txBox="1"/>
          <p:nvPr/>
        </p:nvSpPr>
        <p:spPr>
          <a:xfrm>
            <a:off x="4937759"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10</a:t>
            </a:r>
          </a:p>
        </p:txBody>
      </p:sp>
      <p:sp>
        <p:nvSpPr>
          <p:cNvPr id="33" name="a0fd2095_lc32"/>
          <p:cNvSpPr/>
          <p:nvPr/>
        </p:nvSpPr>
        <p:spPr>
          <a:xfrm>
            <a:off x="5376671" y="4553712"/>
            <a:ext cx="384048" cy="237744"/>
          </a:xfrm>
          <a:prstGeom prst="roundRect">
            <a:avLst>
              <a:gd name="adj" fmla="val 1538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0fd2095_lct33"/>
          <p:cNvSpPr txBox="1"/>
          <p:nvPr/>
        </p:nvSpPr>
        <p:spPr>
          <a:xfrm>
            <a:off x="5376671"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11</a:t>
            </a:r>
          </a:p>
        </p:txBody>
      </p:sp>
      <p:sp>
        <p:nvSpPr>
          <p:cNvPr id="35" name="a0fd2140_lc34"/>
          <p:cNvSpPr/>
          <p:nvPr/>
        </p:nvSpPr>
        <p:spPr>
          <a:xfrm>
            <a:off x="5815583" y="4553712"/>
            <a:ext cx="384048" cy="237744"/>
          </a:xfrm>
          <a:prstGeom prst="roundRect">
            <a:avLst>
              <a:gd name="adj" fmla="val 1538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0fd2140_lct35"/>
          <p:cNvSpPr txBox="1"/>
          <p:nvPr/>
        </p:nvSpPr>
        <p:spPr>
          <a:xfrm>
            <a:off x="5815583"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12</a:t>
            </a:r>
          </a:p>
        </p:txBody>
      </p:sp>
      <p:sp>
        <p:nvSpPr>
          <p:cNvPr id="37" name="a0fd2185_lc36"/>
          <p:cNvSpPr/>
          <p:nvPr/>
        </p:nvSpPr>
        <p:spPr>
          <a:xfrm>
            <a:off x="6254496" y="4553712"/>
            <a:ext cx="384048" cy="237744"/>
          </a:xfrm>
          <a:prstGeom prst="roundRect">
            <a:avLst>
              <a:gd name="adj" fmla="val 15384"/>
            </a:avLst>
          </a:prstGeom>
          <a:solidFill>
            <a:srgbClr val="7C2D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0fd2185_lct37"/>
          <p:cNvSpPr txBox="1"/>
          <p:nvPr/>
        </p:nvSpPr>
        <p:spPr>
          <a:xfrm>
            <a:off x="6254496"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13</a:t>
            </a:r>
          </a:p>
        </p:txBody>
      </p:sp>
      <p:sp>
        <p:nvSpPr>
          <p:cNvPr id="39" name="a0fd2230_lc38"/>
          <p:cNvSpPr/>
          <p:nvPr/>
        </p:nvSpPr>
        <p:spPr>
          <a:xfrm>
            <a:off x="6693407" y="4553712"/>
            <a:ext cx="384048" cy="237744"/>
          </a:xfrm>
          <a:prstGeom prst="roundRect">
            <a:avLst>
              <a:gd name="adj" fmla="val 15384"/>
            </a:avLst>
          </a:prstGeom>
          <a:solidFill>
            <a:srgbClr val="9A34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0fd2230_lct39"/>
          <p:cNvSpPr txBox="1"/>
          <p:nvPr/>
        </p:nvSpPr>
        <p:spPr>
          <a:xfrm>
            <a:off x="6693407"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14</a:t>
            </a:r>
          </a:p>
        </p:txBody>
      </p:sp>
      <p:sp>
        <p:nvSpPr>
          <p:cNvPr id="41" name="a0fd2275_lc40"/>
          <p:cNvSpPr/>
          <p:nvPr/>
        </p:nvSpPr>
        <p:spPr>
          <a:xfrm>
            <a:off x="7132319" y="4553712"/>
            <a:ext cx="384048" cy="237744"/>
          </a:xfrm>
          <a:prstGeom prst="roundRect">
            <a:avLst>
              <a:gd name="adj" fmla="val 15384"/>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0fd2275_lct41"/>
          <p:cNvSpPr txBox="1"/>
          <p:nvPr/>
        </p:nvSpPr>
        <p:spPr>
          <a:xfrm>
            <a:off x="7132319"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15</a:t>
            </a:r>
          </a:p>
        </p:txBody>
      </p:sp>
      <p:sp>
        <p:nvSpPr>
          <p:cNvPr id="43" name="a0fd2320_lc42"/>
          <p:cNvSpPr/>
          <p:nvPr/>
        </p:nvSpPr>
        <p:spPr>
          <a:xfrm>
            <a:off x="7571231" y="4553712"/>
            <a:ext cx="384048" cy="237744"/>
          </a:xfrm>
          <a:prstGeom prst="roundRect">
            <a:avLst>
              <a:gd name="adj" fmla="val 15384"/>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0fd2320_lct43"/>
          <p:cNvSpPr txBox="1"/>
          <p:nvPr/>
        </p:nvSpPr>
        <p:spPr>
          <a:xfrm>
            <a:off x="7571231"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16</a:t>
            </a:r>
          </a:p>
        </p:txBody>
      </p:sp>
      <p:sp>
        <p:nvSpPr>
          <p:cNvPr id="45" name="a0fd2365_lc44"/>
          <p:cNvSpPr/>
          <p:nvPr/>
        </p:nvSpPr>
        <p:spPr>
          <a:xfrm>
            <a:off x="8010144" y="4553712"/>
            <a:ext cx="384048" cy="237744"/>
          </a:xfrm>
          <a:prstGeom prst="roundRect">
            <a:avLst>
              <a:gd name="adj" fmla="val 15384"/>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0fd2365_lct45"/>
          <p:cNvSpPr txBox="1"/>
          <p:nvPr/>
        </p:nvSpPr>
        <p:spPr>
          <a:xfrm>
            <a:off x="8010144"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17</a:t>
            </a:r>
          </a:p>
        </p:txBody>
      </p:sp>
      <p:cxnSp>
        <p:nvCxnSpPr>
          <p:cNvPr id="47" name="a0fd2410_la46"/>
          <p:cNvCxnSpPr/>
          <p:nvPr/>
        </p:nvCxnSpPr>
        <p:spPr>
          <a:xfrm>
            <a:off x="8449056" y="4672584"/>
            <a:ext cx="237744" cy="0"/>
          </a:xfrm>
          <a:prstGeom prst="line">
            <a:avLst/>
          </a:prstGeom>
          <a:ln w="19050">
            <a:solidFill>
              <a:srgbClr val="FB923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a0fd900_lg47"/>
          <p:cNvSpPr/>
          <p:nvPr/>
        </p:nvSpPr>
        <p:spPr>
          <a:xfrm>
            <a:off x="5806440" y="1188720"/>
            <a:ext cx="2880360" cy="1783080"/>
          </a:xfrm>
          <a:prstGeom prst="roundRect">
            <a:avLst>
              <a:gd name="adj" fmla="val 4102"/>
            </a:avLst>
          </a:prstGeom>
          <a:solidFill>
            <a:srgbClr val="27272A"/>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0fd900_lgt48"/>
          <p:cNvSpPr txBox="1"/>
          <p:nvPr/>
        </p:nvSpPr>
        <p:spPr>
          <a:xfrm>
            <a:off x="5961888" y="1280160"/>
            <a:ext cx="2560320" cy="219456"/>
          </a:xfrm>
          <a:prstGeom prst="rect">
            <a:avLst/>
          </a:prstGeom>
          <a:noFill/>
        </p:spPr>
        <p:txBody>
          <a:bodyPr wrap="square" lIns="0" tIns="0" rIns="0" bIns="0" anchor="ctr">
            <a:spAutoFit/>
          </a:bodyPr>
          <a:lstStyle/>
          <a:p>
            <a:pPr algn="l"/>
            <a:r>
              <a:rPr sz="900" b="1">
                <a:solidFill>
                  <a:srgbClr val="A8A29E"/>
                </a:solidFill>
                <a:latin typeface="Consolas"/>
              </a:rPr>
              <a:t>thermostat_readings  -&gt;  app</a:t>
            </a:r>
          </a:p>
        </p:txBody>
      </p:sp>
      <p:sp>
        <p:nvSpPr>
          <p:cNvPr id="50" name="a0fd1100_pl49"/>
          <p:cNvSpPr txBox="1"/>
          <p:nvPr/>
        </p:nvSpPr>
        <p:spPr>
          <a:xfrm>
            <a:off x="5961888" y="1645920"/>
            <a:ext cx="292608" cy="256032"/>
          </a:xfrm>
          <a:prstGeom prst="rect">
            <a:avLst/>
          </a:prstGeom>
          <a:noFill/>
        </p:spPr>
        <p:txBody>
          <a:bodyPr wrap="square" lIns="0" tIns="0" rIns="0" bIns="0" anchor="ctr">
            <a:spAutoFit/>
          </a:bodyPr>
          <a:lstStyle/>
          <a:p>
            <a:pPr algn="l"/>
            <a:r>
              <a:rPr sz="850" b="1">
                <a:solidFill>
                  <a:srgbClr val="A8A29E"/>
                </a:solidFill>
                <a:latin typeface="Consolas"/>
              </a:rPr>
              <a:t>P0</a:t>
            </a:r>
          </a:p>
        </p:txBody>
      </p:sp>
      <p:sp>
        <p:nvSpPr>
          <p:cNvPr id="51" name="a0fd1100_pc50"/>
          <p:cNvSpPr/>
          <p:nvPr/>
        </p:nvSpPr>
        <p:spPr>
          <a:xfrm>
            <a:off x="6272784" y="1645920"/>
            <a:ext cx="237744" cy="256032"/>
          </a:xfrm>
          <a:prstGeom prst="roundRect">
            <a:avLst>
              <a:gd name="adj" fmla="val 11538"/>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a0fd1160_pc51"/>
          <p:cNvSpPr/>
          <p:nvPr/>
        </p:nvSpPr>
        <p:spPr>
          <a:xfrm>
            <a:off x="6547104" y="1645920"/>
            <a:ext cx="237744" cy="256032"/>
          </a:xfrm>
          <a:prstGeom prst="roundRect">
            <a:avLst>
              <a:gd name="adj" fmla="val 11538"/>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a0fd1220_pc52"/>
          <p:cNvSpPr/>
          <p:nvPr/>
        </p:nvSpPr>
        <p:spPr>
          <a:xfrm>
            <a:off x="6821424" y="1645920"/>
            <a:ext cx="237744" cy="256032"/>
          </a:xfrm>
          <a:prstGeom prst="roundRect">
            <a:avLst>
              <a:gd name="adj" fmla="val 11538"/>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a0fd1280_pc53"/>
          <p:cNvSpPr/>
          <p:nvPr/>
        </p:nvSpPr>
        <p:spPr>
          <a:xfrm>
            <a:off x="7095744" y="1645920"/>
            <a:ext cx="237744" cy="256032"/>
          </a:xfrm>
          <a:prstGeom prst="roundRect">
            <a:avLst>
              <a:gd name="adj" fmla="val 11538"/>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5" name="a0fd1400_la54"/>
          <p:cNvCxnSpPr/>
          <p:nvPr/>
        </p:nvCxnSpPr>
        <p:spPr>
          <a:xfrm>
            <a:off x="7388352" y="1773936"/>
            <a:ext cx="201168" cy="347472"/>
          </a:xfrm>
          <a:prstGeom prst="line">
            <a:avLst/>
          </a:prstGeom>
          <a:ln w="15875">
            <a:solidFill>
              <a:srgbClr val="FB923C"/>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a0fd1300_pl55"/>
          <p:cNvSpPr txBox="1"/>
          <p:nvPr/>
        </p:nvSpPr>
        <p:spPr>
          <a:xfrm>
            <a:off x="5961888" y="2011680"/>
            <a:ext cx="292608" cy="256032"/>
          </a:xfrm>
          <a:prstGeom prst="rect">
            <a:avLst/>
          </a:prstGeom>
          <a:noFill/>
        </p:spPr>
        <p:txBody>
          <a:bodyPr wrap="square" lIns="0" tIns="0" rIns="0" bIns="0" anchor="ctr">
            <a:spAutoFit/>
          </a:bodyPr>
          <a:lstStyle/>
          <a:p>
            <a:pPr algn="l"/>
            <a:r>
              <a:rPr sz="850" b="1">
                <a:solidFill>
                  <a:srgbClr val="A8A29E"/>
                </a:solidFill>
                <a:latin typeface="Consolas"/>
              </a:rPr>
              <a:t>P1</a:t>
            </a:r>
          </a:p>
        </p:txBody>
      </p:sp>
      <p:sp>
        <p:nvSpPr>
          <p:cNvPr id="57" name="a0fd1300_pc56"/>
          <p:cNvSpPr/>
          <p:nvPr/>
        </p:nvSpPr>
        <p:spPr>
          <a:xfrm>
            <a:off x="6272784" y="2011680"/>
            <a:ext cx="237744" cy="256032"/>
          </a:xfrm>
          <a:prstGeom prst="roundRect">
            <a:avLst>
              <a:gd name="adj" fmla="val 11538"/>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a0fd1360_pc57"/>
          <p:cNvSpPr/>
          <p:nvPr/>
        </p:nvSpPr>
        <p:spPr>
          <a:xfrm>
            <a:off x="6547104" y="2011680"/>
            <a:ext cx="237744" cy="256032"/>
          </a:xfrm>
          <a:prstGeom prst="roundRect">
            <a:avLst>
              <a:gd name="adj" fmla="val 11538"/>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a0fd1420_pc58"/>
          <p:cNvSpPr/>
          <p:nvPr/>
        </p:nvSpPr>
        <p:spPr>
          <a:xfrm>
            <a:off x="6821424" y="2011680"/>
            <a:ext cx="237744" cy="256032"/>
          </a:xfrm>
          <a:prstGeom prst="roundRect">
            <a:avLst>
              <a:gd name="adj" fmla="val 11538"/>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a0fd1480_pc59"/>
          <p:cNvSpPr/>
          <p:nvPr/>
        </p:nvSpPr>
        <p:spPr>
          <a:xfrm>
            <a:off x="7095744" y="2011680"/>
            <a:ext cx="237744" cy="256032"/>
          </a:xfrm>
          <a:prstGeom prst="roundRect">
            <a:avLst>
              <a:gd name="adj" fmla="val 11538"/>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61" name="a0fd1600_la60"/>
          <p:cNvCxnSpPr/>
          <p:nvPr/>
        </p:nvCxnSpPr>
        <p:spPr>
          <a:xfrm flipV="1">
            <a:off x="7388352" y="2121408"/>
            <a:ext cx="201168" cy="18288"/>
          </a:xfrm>
          <a:prstGeom prst="line">
            <a:avLst/>
          </a:prstGeom>
          <a:ln w="15875">
            <a:solidFill>
              <a:srgbClr val="FB923C"/>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a0fd1500_pl61"/>
          <p:cNvSpPr txBox="1"/>
          <p:nvPr/>
        </p:nvSpPr>
        <p:spPr>
          <a:xfrm>
            <a:off x="5961888" y="2377440"/>
            <a:ext cx="292608" cy="256032"/>
          </a:xfrm>
          <a:prstGeom prst="rect">
            <a:avLst/>
          </a:prstGeom>
          <a:noFill/>
        </p:spPr>
        <p:txBody>
          <a:bodyPr wrap="square" lIns="0" tIns="0" rIns="0" bIns="0" anchor="ctr">
            <a:spAutoFit/>
          </a:bodyPr>
          <a:lstStyle/>
          <a:p>
            <a:pPr algn="l"/>
            <a:r>
              <a:rPr sz="850" b="1">
                <a:solidFill>
                  <a:srgbClr val="A8A29E"/>
                </a:solidFill>
                <a:latin typeface="Consolas"/>
              </a:rPr>
              <a:t>P2</a:t>
            </a:r>
          </a:p>
        </p:txBody>
      </p:sp>
      <p:sp>
        <p:nvSpPr>
          <p:cNvPr id="63" name="a0fd1500_pc62"/>
          <p:cNvSpPr/>
          <p:nvPr/>
        </p:nvSpPr>
        <p:spPr>
          <a:xfrm>
            <a:off x="6272784" y="2377440"/>
            <a:ext cx="237744" cy="256032"/>
          </a:xfrm>
          <a:prstGeom prst="roundRect">
            <a:avLst>
              <a:gd name="adj" fmla="val 11538"/>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a0fd1560_pc63"/>
          <p:cNvSpPr/>
          <p:nvPr/>
        </p:nvSpPr>
        <p:spPr>
          <a:xfrm>
            <a:off x="6547104" y="2377440"/>
            <a:ext cx="237744" cy="256032"/>
          </a:xfrm>
          <a:prstGeom prst="roundRect">
            <a:avLst>
              <a:gd name="adj" fmla="val 11538"/>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a0fd1620_pc64"/>
          <p:cNvSpPr/>
          <p:nvPr/>
        </p:nvSpPr>
        <p:spPr>
          <a:xfrm>
            <a:off x="6821424" y="2377440"/>
            <a:ext cx="237744" cy="256032"/>
          </a:xfrm>
          <a:prstGeom prst="roundRect">
            <a:avLst>
              <a:gd name="adj" fmla="val 11538"/>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a0fd1680_pc65"/>
          <p:cNvSpPr/>
          <p:nvPr/>
        </p:nvSpPr>
        <p:spPr>
          <a:xfrm>
            <a:off x="7095744" y="2377440"/>
            <a:ext cx="237744" cy="256032"/>
          </a:xfrm>
          <a:prstGeom prst="roundRect">
            <a:avLst>
              <a:gd name="adj" fmla="val 11538"/>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67" name="a0fd1800_la66"/>
          <p:cNvCxnSpPr/>
          <p:nvPr/>
        </p:nvCxnSpPr>
        <p:spPr>
          <a:xfrm flipV="1">
            <a:off x="7388352" y="2121408"/>
            <a:ext cx="201168" cy="384048"/>
          </a:xfrm>
          <a:prstGeom prst="line">
            <a:avLst/>
          </a:prstGeom>
          <a:ln w="15875">
            <a:solidFill>
              <a:srgbClr val="FB923C"/>
            </a:solidFill>
            <a:tailEnd type="triangle" w="med" len="med"/>
          </a:ln>
        </p:spPr>
        <p:style>
          <a:lnRef idx="2">
            <a:schemeClr val="accent1"/>
          </a:lnRef>
          <a:fillRef idx="0">
            <a:schemeClr val="accent1"/>
          </a:fillRef>
          <a:effectRef idx="1">
            <a:schemeClr val="accent1"/>
          </a:effectRef>
          <a:fontRef idx="minor">
            <a:schemeClr val="tx1"/>
          </a:fontRef>
        </p:style>
      </p:cxnSp>
      <p:sp>
        <p:nvSpPr>
          <p:cNvPr id="68" name="a0fd1900_app67"/>
          <p:cNvSpPr/>
          <p:nvPr/>
        </p:nvSpPr>
        <p:spPr>
          <a:xfrm>
            <a:off x="7607808" y="1755648"/>
            <a:ext cx="932688" cy="731520"/>
          </a:xfrm>
          <a:prstGeom prst="roundRect">
            <a:avLst>
              <a:gd name="adj" fmla="val 75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a0fd1900_appt68"/>
          <p:cNvSpPr txBox="1"/>
          <p:nvPr/>
        </p:nvSpPr>
        <p:spPr>
          <a:xfrm>
            <a:off x="7607808" y="1755648"/>
            <a:ext cx="932688" cy="731520"/>
          </a:xfrm>
          <a:prstGeom prst="rect">
            <a:avLst/>
          </a:prstGeom>
          <a:noFill/>
        </p:spPr>
        <p:txBody>
          <a:bodyPr wrap="square" lIns="0" tIns="0" rIns="0" bIns="0" anchor="ctr">
            <a:spAutoFit/>
          </a:bodyPr>
          <a:lstStyle/>
          <a:p>
            <a:pPr algn="ctr"/>
            <a:r>
              <a:rPr sz="950" b="1">
                <a:solidFill>
                  <a:srgbClr val="E7E5E4"/>
                </a:solidFill>
                <a:latin typeface="Consolas"/>
              </a:rPr>
              <a:t>app</a:t>
            </a:r>
          </a:p>
          <a:p>
            <a:pPr algn="ctr"/>
            <a:r>
              <a:rPr sz="750" b="0">
                <a:solidFill>
                  <a:srgbClr val="FDBA74"/>
                </a:solidFill>
                <a:latin typeface="Consolas"/>
              </a:rPr>
              <a:t>Kafka</a:t>
            </a:r>
          </a:p>
          <a:p>
            <a:pPr algn="ctr"/>
            <a:r>
              <a:rPr sz="750" b="0">
                <a:solidFill>
                  <a:srgbClr val="FDBA74"/>
                </a:solidFill>
                <a:latin typeface="Consolas"/>
              </a:rPr>
              <a:t>Consumer</a:t>
            </a:r>
          </a:p>
        </p:txBody>
      </p:sp>
      <p:sp>
        <p:nvSpPr>
          <p:cNvPr id="70" name="a0fd2300_cap69"/>
          <p:cNvSpPr txBox="1"/>
          <p:nvPr/>
        </p:nvSpPr>
        <p:spPr>
          <a:xfrm>
            <a:off x="5806440" y="3090672"/>
            <a:ext cx="2880360" cy="256032"/>
          </a:xfrm>
          <a:prstGeom prst="rect">
            <a:avLst/>
          </a:prstGeom>
          <a:noFill/>
        </p:spPr>
        <p:txBody>
          <a:bodyPr wrap="square" lIns="0" tIns="0" rIns="0" bIns="0" anchor="ctr">
            <a:spAutoFit/>
          </a:bodyPr>
          <a:lstStyle/>
          <a:p>
            <a:pPr algn="l"/>
            <a:r>
              <a:rPr sz="850" b="0">
                <a:solidFill>
                  <a:srgbClr val="A8A29E"/>
                </a:solidFill>
                <a:latin typeface="Segoe UI"/>
              </a:rPr>
              <a:t>an application reading from a topic</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00"/>
                                        <p:tgtEl>
                                          <p:spTgt spid="3"/>
                                        </p:tgtEl>
                                      </p:cBhvr>
                                    </p:animEffect>
                                  </p:childTnLst>
                                </p:cTn>
                              </p:par>
                              <p:par>
                                <p:cTn id="12" presetID="2" presetClass="entr" presetSubtype="4" fill="hold" grpId="0" nodeType="withEffect">
                                  <p:stCondLst>
                                    <p:cond delay="200"/>
                                  </p:stCondLst>
                                  <p:childTnLst>
                                    <p:set>
                                      <p:cBhvr>
                                        <p:cTn id="8" dur="1" fill="hold">
                                          <p:stCondLst>
                                            <p:cond delay="0"/>
                                          </p:stCondLst>
                                        </p:cTn>
                                        <p:tgtEl>
                                          <p:spTgt spid="4"/>
                                        </p:tgtEl>
                                        <p:attrNameLst>
                                          <p:attrName>style.visibility</p:attrName>
                                        </p:attrNameLst>
                                      </p:cBhvr>
                                      <p:to>
                                        <p:strVal val="visible"/>
                                      </p:to>
                                    </p:set>
                                    <p:anim calcmode="lin" valueType="num">
                                      <p:cBhvr additive="base">
                                        <p:cTn id="9" dur="500" fill="hold"/>
                                        <p:tgtEl>
                                          <p:spTgt spid="4"/>
                                        </p:tgtEl>
                                        <p:attrNameLst>
                                          <p:attrName>ppt_x</p:attrName>
                                        </p:attrNameLst>
                                      </p:cBhvr>
                                      <p:tavLst>
                                        <p:tav tm="0">
                                          <p:val>
                                            <p:strVal val="#ppt_x"/>
                                          </p:val>
                                        </p:tav>
                                        <p:tav tm="100000">
                                          <p:val>
                                            <p:strVal val="#ppt_x"/>
                                          </p:val>
                                        </p:tav>
                                      </p:tavLst>
                                    </p:anim>
                                    <p:anim calcmode="lin" valueType="num">
                                      <p:cBhvr additive="base">
                                        <p:cTn id="10" dur="500" fill="hold"/>
                                        <p:tgtEl>
                                          <p:spTgt spid="4"/>
                                        </p:tgtEl>
                                        <p:attrNameLst>
                                          <p:attrName>ppt_y</p:attrName>
                                        </p:attrNameLst>
                                      </p:cBhvr>
                                      <p:tavLst>
                                        <p:tav tm="0">
                                          <p:val>
                                            <p:strVal val="#ppt_y+0.1"/>
                                          </p:val>
                                        </p:tav>
                                        <p:tav tm="100000">
                                          <p:val>
                                            <p:strVal val="#ppt_y"/>
                                          </p:val>
                                        </p:tav>
                                      </p:tavLst>
                                    </p:anim>
                                    <p:animEffect transition="in" filter="fade">
                                      <p:cBhvr>
                                        <p:cTn id="11" dur="500"/>
                                        <p:tgtEl>
                                          <p:spTgt spid="4"/>
                                        </p:tgtEl>
                                      </p:cBhvr>
                                    </p:animEffect>
                                  </p:childTnLst>
                                </p:cTn>
                              </p:par>
                              <p:par>
                                <p:cTn id="15" presetID="10" presetClass="entr" presetSubtype="0" fill="hold" grpId="0" nodeType="withEffect">
                                  <p:stCondLst>
                                    <p:cond delay="50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20" presetID="2" presetClass="entr" presetSubtype="4" fill="hold" grpId="0" nodeType="withEffect">
                                  <p:stCondLst>
                                    <p:cond delay="80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ppt_y+0.1"/>
                                          </p:val>
                                        </p:tav>
                                        <p:tav tm="100000">
                                          <p:val>
                                            <p:strVal val="#ppt_y"/>
                                          </p:val>
                                        </p:tav>
                                      </p:tavLst>
                                    </p:anim>
                                    <p:animEffect transition="in" filter="fade">
                                      <p:cBhvr>
                                        <p:cTn id="19" dur="500"/>
                                        <p:tgtEl>
                                          <p:spTgt spid="6"/>
                                        </p:tgtEl>
                                      </p:cBhvr>
                                    </p:animEffect>
                                  </p:childTnLst>
                                </p:cTn>
                              </p:par>
                              <p:par>
                                <p:cTn id="23" presetID="10" presetClass="entr" presetSubtype="0" fill="hold" grpId="0" nodeType="withEffect">
                                  <p:stCondLst>
                                    <p:cond delay="90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500"/>
                                        <p:tgtEl>
                                          <p:spTgt spid="48"/>
                                        </p:tgtEl>
                                      </p:cBhvr>
                                    </p:animEffect>
                                  </p:childTnLst>
                                </p:cTn>
                              </p:par>
                              <p:par>
                                <p:cTn id="26" presetID="10" presetClass="entr" presetSubtype="0" fill="hold" grpId="0" nodeType="withEffect">
                                  <p:stCondLst>
                                    <p:cond delay="90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500"/>
                                        <p:tgtEl>
                                          <p:spTgt spid="49"/>
                                        </p:tgtEl>
                                      </p:cBhvr>
                                    </p:animEffect>
                                  </p:childTnLst>
                                </p:cTn>
                              </p:par>
                              <p:par>
                                <p:cTn id="31" presetID="2" presetClass="entr" presetSubtype="4" fill="hold" grpId="0" nodeType="withEffect">
                                  <p:stCondLst>
                                    <p:cond delay="95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ppt_y+0.1"/>
                                          </p:val>
                                        </p:tav>
                                        <p:tav tm="100000">
                                          <p:val>
                                            <p:strVal val="#ppt_y"/>
                                          </p:val>
                                        </p:tav>
                                      </p:tavLst>
                                    </p:anim>
                                    <p:animEffect transition="in" filter="fade">
                                      <p:cBhvr>
                                        <p:cTn id="30" dur="500"/>
                                        <p:tgtEl>
                                          <p:spTgt spid="7"/>
                                        </p:tgtEl>
                                      </p:cBhvr>
                                    </p:animEffect>
                                  </p:childTnLst>
                                </p:cTn>
                              </p:par>
                              <p:par>
                                <p:cTn id="36" presetID="2" presetClass="entr" presetSubtype="4" fill="hold" grpId="0" nodeType="withEffect">
                                  <p:stCondLst>
                                    <p:cond delay="110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ppt_y+0.1"/>
                                          </p:val>
                                        </p:tav>
                                        <p:tav tm="100000">
                                          <p:val>
                                            <p:strVal val="#ppt_y"/>
                                          </p:val>
                                        </p:tav>
                                      </p:tavLst>
                                    </p:anim>
                                    <p:animEffect transition="in" filter="fade">
                                      <p:cBhvr>
                                        <p:cTn id="35" dur="500"/>
                                        <p:tgtEl>
                                          <p:spTgt spid="8"/>
                                        </p:tgtEl>
                                      </p:cBhvr>
                                    </p:animEffect>
                                  </p:childTnLst>
                                </p:cTn>
                              </p:par>
                              <p:par>
                                <p:cTn id="39" presetID="10" presetClass="entr" presetSubtype="0" fill="hold" grpId="0" nodeType="withEffect">
                                  <p:stCondLst>
                                    <p:cond delay="1100"/>
                                  </p:stCondLst>
                                  <p:childTnLst>
                                    <p:set>
                                      <p:cBhvr>
                                        <p:cTn id="37" dur="1" fill="hold">
                                          <p:stCondLst>
                                            <p:cond delay="0"/>
                                          </p:stCondLst>
                                        </p:cTn>
                                        <p:tgtEl>
                                          <p:spTgt spid="50"/>
                                        </p:tgtEl>
                                        <p:attrNameLst>
                                          <p:attrName>style.visibility</p:attrName>
                                        </p:attrNameLst>
                                      </p:cBhvr>
                                      <p:to>
                                        <p:strVal val="visible"/>
                                      </p:to>
                                    </p:set>
                                    <p:animEffect transition="in" filter="fade">
                                      <p:cBhvr>
                                        <p:cTn id="38" dur="500"/>
                                        <p:tgtEl>
                                          <p:spTgt spid="50"/>
                                        </p:tgtEl>
                                      </p:cBhvr>
                                    </p:animEffect>
                                  </p:childTnLst>
                                </p:cTn>
                              </p:par>
                              <p:par>
                                <p:cTn id="42" presetID="10" presetClass="entr" presetSubtype="0" fill="hold" grpId="0" nodeType="withEffect">
                                  <p:stCondLst>
                                    <p:cond delay="1100"/>
                                  </p:stCondLst>
                                  <p:childTnLst>
                                    <p:set>
                                      <p:cBhvr>
                                        <p:cTn id="40" dur="1" fill="hold">
                                          <p:stCondLst>
                                            <p:cond delay="0"/>
                                          </p:stCondLst>
                                        </p:cTn>
                                        <p:tgtEl>
                                          <p:spTgt spid="51"/>
                                        </p:tgtEl>
                                        <p:attrNameLst>
                                          <p:attrName>style.visibility</p:attrName>
                                        </p:attrNameLst>
                                      </p:cBhvr>
                                      <p:to>
                                        <p:strVal val="visible"/>
                                      </p:to>
                                    </p:set>
                                    <p:animEffect transition="in" filter="fade">
                                      <p:cBhvr>
                                        <p:cTn id="41" dur="500"/>
                                        <p:tgtEl>
                                          <p:spTgt spid="51"/>
                                        </p:tgtEl>
                                      </p:cBhvr>
                                    </p:animEffect>
                                  </p:childTnLst>
                                </p:cTn>
                              </p:par>
                              <p:par>
                                <p:cTn id="45" presetID="10" presetClass="entr" presetSubtype="0" fill="hold" grpId="0" nodeType="withEffect">
                                  <p:stCondLst>
                                    <p:cond delay="1160"/>
                                  </p:stCondLst>
                                  <p:childTnLst>
                                    <p:set>
                                      <p:cBhvr>
                                        <p:cTn id="43" dur="1" fill="hold">
                                          <p:stCondLst>
                                            <p:cond delay="0"/>
                                          </p:stCondLst>
                                        </p:cTn>
                                        <p:tgtEl>
                                          <p:spTgt spid="52"/>
                                        </p:tgtEl>
                                        <p:attrNameLst>
                                          <p:attrName>style.visibility</p:attrName>
                                        </p:attrNameLst>
                                      </p:cBhvr>
                                      <p:to>
                                        <p:strVal val="visible"/>
                                      </p:to>
                                    </p:set>
                                    <p:animEffect transition="in" filter="fade">
                                      <p:cBhvr>
                                        <p:cTn id="44" dur="500"/>
                                        <p:tgtEl>
                                          <p:spTgt spid="52"/>
                                        </p:tgtEl>
                                      </p:cBhvr>
                                    </p:animEffect>
                                  </p:childTnLst>
                                </p:cTn>
                              </p:par>
                              <p:par>
                                <p:cTn id="48" presetID="10" presetClass="entr" presetSubtype="0" fill="hold" grpId="0" nodeType="withEffect">
                                  <p:stCondLst>
                                    <p:cond delay="1220"/>
                                  </p:stCondLst>
                                  <p:childTnLst>
                                    <p:set>
                                      <p:cBhvr>
                                        <p:cTn id="46" dur="1" fill="hold">
                                          <p:stCondLst>
                                            <p:cond delay="0"/>
                                          </p:stCondLst>
                                        </p:cTn>
                                        <p:tgtEl>
                                          <p:spTgt spid="53"/>
                                        </p:tgtEl>
                                        <p:attrNameLst>
                                          <p:attrName>style.visibility</p:attrName>
                                        </p:attrNameLst>
                                      </p:cBhvr>
                                      <p:to>
                                        <p:strVal val="visible"/>
                                      </p:to>
                                    </p:set>
                                    <p:animEffect transition="in" filter="fade">
                                      <p:cBhvr>
                                        <p:cTn id="47" dur="500"/>
                                        <p:tgtEl>
                                          <p:spTgt spid="53"/>
                                        </p:tgtEl>
                                      </p:cBhvr>
                                    </p:animEffect>
                                  </p:childTnLst>
                                </p:cTn>
                              </p:par>
                              <p:par>
                                <p:cTn id="53" presetID="2" presetClass="entr" presetSubtype="4" fill="hold" grpId="0" nodeType="withEffect">
                                  <p:stCondLst>
                                    <p:cond delay="1250"/>
                                  </p:stCondLst>
                                  <p:childTnLst>
                                    <p:set>
                                      <p:cBhvr>
                                        <p:cTn id="49" dur="1" fill="hold">
                                          <p:stCondLst>
                                            <p:cond delay="0"/>
                                          </p:stCondLst>
                                        </p:cTn>
                                        <p:tgtEl>
                                          <p:spTgt spid="9"/>
                                        </p:tgtEl>
                                        <p:attrNameLst>
                                          <p:attrName>style.visibility</p:attrName>
                                        </p:attrNameLst>
                                      </p:cBhvr>
                                      <p:to>
                                        <p:strVal val="visible"/>
                                      </p:to>
                                    </p:set>
                                    <p:anim calcmode="lin" valueType="num">
                                      <p:cBhvr additive="base">
                                        <p:cTn id="50" dur="500" fill="hold"/>
                                        <p:tgtEl>
                                          <p:spTgt spid="9"/>
                                        </p:tgtEl>
                                        <p:attrNameLst>
                                          <p:attrName>ppt_x</p:attrName>
                                        </p:attrNameLst>
                                      </p:cBhvr>
                                      <p:tavLst>
                                        <p:tav tm="0">
                                          <p:val>
                                            <p:strVal val="#ppt_x"/>
                                          </p:val>
                                        </p:tav>
                                        <p:tav tm="100000">
                                          <p:val>
                                            <p:strVal val="#ppt_x"/>
                                          </p:val>
                                        </p:tav>
                                      </p:tavLst>
                                    </p:anim>
                                    <p:anim calcmode="lin" valueType="num">
                                      <p:cBhvr additive="base">
                                        <p:cTn id="51" dur="500" fill="hold"/>
                                        <p:tgtEl>
                                          <p:spTgt spid="9"/>
                                        </p:tgtEl>
                                        <p:attrNameLst>
                                          <p:attrName>ppt_y</p:attrName>
                                        </p:attrNameLst>
                                      </p:cBhvr>
                                      <p:tavLst>
                                        <p:tav tm="0">
                                          <p:val>
                                            <p:strVal val="#ppt_y+0.1"/>
                                          </p:val>
                                        </p:tav>
                                        <p:tav tm="100000">
                                          <p:val>
                                            <p:strVal val="#ppt_y"/>
                                          </p:val>
                                        </p:tav>
                                      </p:tavLst>
                                    </p:anim>
                                    <p:animEffect transition="in" filter="fade">
                                      <p:cBhvr>
                                        <p:cTn id="52" dur="500"/>
                                        <p:tgtEl>
                                          <p:spTgt spid="9"/>
                                        </p:tgtEl>
                                      </p:cBhvr>
                                    </p:animEffect>
                                  </p:childTnLst>
                                </p:cTn>
                              </p:par>
                              <p:par>
                                <p:cTn id="56" presetID="10" presetClass="entr" presetSubtype="0" fill="hold" grpId="0" nodeType="withEffect">
                                  <p:stCondLst>
                                    <p:cond delay="1280"/>
                                  </p:stCondLst>
                                  <p:childTnLst>
                                    <p:set>
                                      <p:cBhvr>
                                        <p:cTn id="54" dur="1" fill="hold">
                                          <p:stCondLst>
                                            <p:cond delay="0"/>
                                          </p:stCondLst>
                                        </p:cTn>
                                        <p:tgtEl>
                                          <p:spTgt spid="54"/>
                                        </p:tgtEl>
                                        <p:attrNameLst>
                                          <p:attrName>style.visibility</p:attrName>
                                        </p:attrNameLst>
                                      </p:cBhvr>
                                      <p:to>
                                        <p:strVal val="visible"/>
                                      </p:to>
                                    </p:set>
                                    <p:animEffect transition="in" filter="fade">
                                      <p:cBhvr>
                                        <p:cTn id="55" dur="500"/>
                                        <p:tgtEl>
                                          <p:spTgt spid="54"/>
                                        </p:tgtEl>
                                      </p:cBhvr>
                                    </p:animEffect>
                                  </p:childTnLst>
                                </p:cTn>
                              </p:par>
                              <p:par>
                                <p:cTn id="59" presetID="10" presetClass="entr" presetSubtype="0" fill="hold" grpId="0" nodeType="withEffect">
                                  <p:stCondLst>
                                    <p:cond delay="1300"/>
                                  </p:stCondLst>
                                  <p:childTnLst>
                                    <p:set>
                                      <p:cBhvr>
                                        <p:cTn id="57" dur="1" fill="hold">
                                          <p:stCondLst>
                                            <p:cond delay="0"/>
                                          </p:stCondLst>
                                        </p:cTn>
                                        <p:tgtEl>
                                          <p:spTgt spid="56"/>
                                        </p:tgtEl>
                                        <p:attrNameLst>
                                          <p:attrName>style.visibility</p:attrName>
                                        </p:attrNameLst>
                                      </p:cBhvr>
                                      <p:to>
                                        <p:strVal val="visible"/>
                                      </p:to>
                                    </p:set>
                                    <p:animEffect transition="in" filter="fade">
                                      <p:cBhvr>
                                        <p:cTn id="58" dur="500"/>
                                        <p:tgtEl>
                                          <p:spTgt spid="56"/>
                                        </p:tgtEl>
                                      </p:cBhvr>
                                    </p:animEffect>
                                  </p:childTnLst>
                                </p:cTn>
                              </p:par>
                              <p:par>
                                <p:cTn id="62" presetID="10" presetClass="entr" presetSubtype="0" fill="hold" grpId="0" nodeType="withEffect">
                                  <p:stCondLst>
                                    <p:cond delay="1300"/>
                                  </p:stCondLst>
                                  <p:childTnLst>
                                    <p:set>
                                      <p:cBhvr>
                                        <p:cTn id="60" dur="1" fill="hold">
                                          <p:stCondLst>
                                            <p:cond delay="0"/>
                                          </p:stCondLst>
                                        </p:cTn>
                                        <p:tgtEl>
                                          <p:spTgt spid="57"/>
                                        </p:tgtEl>
                                        <p:attrNameLst>
                                          <p:attrName>style.visibility</p:attrName>
                                        </p:attrNameLst>
                                      </p:cBhvr>
                                      <p:to>
                                        <p:strVal val="visible"/>
                                      </p:to>
                                    </p:set>
                                    <p:animEffect transition="in" filter="fade">
                                      <p:cBhvr>
                                        <p:cTn id="61" dur="500"/>
                                        <p:tgtEl>
                                          <p:spTgt spid="57"/>
                                        </p:tgtEl>
                                      </p:cBhvr>
                                    </p:animEffect>
                                  </p:childTnLst>
                                </p:cTn>
                              </p:par>
                              <p:par>
                                <p:cTn id="65" presetID="10" presetClass="entr" presetSubtype="0" fill="hold" grpId="0" nodeType="withEffect">
                                  <p:stCondLst>
                                    <p:cond delay="1360"/>
                                  </p:stCondLst>
                                  <p:childTnLst>
                                    <p:set>
                                      <p:cBhvr>
                                        <p:cTn id="63" dur="1" fill="hold">
                                          <p:stCondLst>
                                            <p:cond delay="0"/>
                                          </p:stCondLst>
                                        </p:cTn>
                                        <p:tgtEl>
                                          <p:spTgt spid="58"/>
                                        </p:tgtEl>
                                        <p:attrNameLst>
                                          <p:attrName>style.visibility</p:attrName>
                                        </p:attrNameLst>
                                      </p:cBhvr>
                                      <p:to>
                                        <p:strVal val="visible"/>
                                      </p:to>
                                    </p:set>
                                    <p:animEffect transition="in" filter="fade">
                                      <p:cBhvr>
                                        <p:cTn id="64" dur="500"/>
                                        <p:tgtEl>
                                          <p:spTgt spid="58"/>
                                        </p:tgtEl>
                                      </p:cBhvr>
                                    </p:animEffect>
                                  </p:childTnLst>
                                </p:cTn>
                              </p:par>
                              <p:par>
                                <p:cTn id="68" presetID="10" presetClass="entr" presetSubtype="0" fill="hold" grpId="0" nodeType="withEffect">
                                  <p:stCondLst>
                                    <p:cond delay="1400"/>
                                  </p:stCondLst>
                                  <p:childTnLst>
                                    <p:set>
                                      <p:cBhvr>
                                        <p:cTn id="66" dur="1" fill="hold">
                                          <p:stCondLst>
                                            <p:cond delay="0"/>
                                          </p:stCondLst>
                                        </p:cTn>
                                        <p:tgtEl>
                                          <p:spTgt spid="10"/>
                                        </p:tgtEl>
                                        <p:attrNameLst>
                                          <p:attrName>style.visibility</p:attrName>
                                        </p:attrNameLst>
                                      </p:cBhvr>
                                      <p:to>
                                        <p:strVal val="visible"/>
                                      </p:to>
                                    </p:set>
                                    <p:animEffect transition="in" filter="fade">
                                      <p:cBhvr>
                                        <p:cTn id="67" dur="500"/>
                                        <p:tgtEl>
                                          <p:spTgt spid="10"/>
                                        </p:tgtEl>
                                      </p:cBhvr>
                                    </p:animEffect>
                                  </p:childTnLst>
                                </p:cTn>
                              </p:par>
                              <p:par>
                                <p:cTn id="71" presetID="10" presetClass="entr" presetSubtype="0" fill="hold" grpId="0" nodeType="withEffect">
                                  <p:stCondLst>
                                    <p:cond delay="1400"/>
                                  </p:stCondLst>
                                  <p:childTnLst>
                                    <p:set>
                                      <p:cBhvr>
                                        <p:cTn id="69" dur="1" fill="hold">
                                          <p:stCondLst>
                                            <p:cond delay="0"/>
                                          </p:stCondLst>
                                        </p:cTn>
                                        <p:tgtEl>
                                          <p:spTgt spid="55"/>
                                        </p:tgtEl>
                                        <p:attrNameLst>
                                          <p:attrName>style.visibility</p:attrName>
                                        </p:attrNameLst>
                                      </p:cBhvr>
                                      <p:to>
                                        <p:strVal val="visible"/>
                                      </p:to>
                                    </p:set>
                                    <p:animEffect transition="in" filter="fade">
                                      <p:cBhvr>
                                        <p:cTn id="70" dur="500"/>
                                        <p:tgtEl>
                                          <p:spTgt spid="55"/>
                                        </p:tgtEl>
                                      </p:cBhvr>
                                    </p:animEffect>
                                  </p:childTnLst>
                                </p:cTn>
                              </p:par>
                              <p:par>
                                <p:cTn id="74" presetID="10" presetClass="entr" presetSubtype="0" fill="hold" grpId="0" nodeType="withEffect">
                                  <p:stCondLst>
                                    <p:cond delay="1420"/>
                                  </p:stCondLst>
                                  <p:childTnLst>
                                    <p:set>
                                      <p:cBhvr>
                                        <p:cTn id="72" dur="1" fill="hold">
                                          <p:stCondLst>
                                            <p:cond delay="0"/>
                                          </p:stCondLst>
                                        </p:cTn>
                                        <p:tgtEl>
                                          <p:spTgt spid="59"/>
                                        </p:tgtEl>
                                        <p:attrNameLst>
                                          <p:attrName>style.visibility</p:attrName>
                                        </p:attrNameLst>
                                      </p:cBhvr>
                                      <p:to>
                                        <p:strVal val="visible"/>
                                      </p:to>
                                    </p:set>
                                    <p:animEffect transition="in" filter="fade">
                                      <p:cBhvr>
                                        <p:cTn id="73" dur="500"/>
                                        <p:tgtEl>
                                          <p:spTgt spid="59"/>
                                        </p:tgtEl>
                                      </p:cBhvr>
                                    </p:animEffect>
                                  </p:childTnLst>
                                </p:cTn>
                              </p:par>
                              <p:par>
                                <p:cTn id="77" presetID="10" presetClass="entr" presetSubtype="0" fill="hold" grpId="0" nodeType="withEffect">
                                  <p:stCondLst>
                                    <p:cond delay="1480"/>
                                  </p:stCondLst>
                                  <p:childTnLst>
                                    <p:set>
                                      <p:cBhvr>
                                        <p:cTn id="75" dur="1" fill="hold">
                                          <p:stCondLst>
                                            <p:cond delay="0"/>
                                          </p:stCondLst>
                                        </p:cTn>
                                        <p:tgtEl>
                                          <p:spTgt spid="60"/>
                                        </p:tgtEl>
                                        <p:attrNameLst>
                                          <p:attrName>style.visibility</p:attrName>
                                        </p:attrNameLst>
                                      </p:cBhvr>
                                      <p:to>
                                        <p:strVal val="visible"/>
                                      </p:to>
                                    </p:set>
                                    <p:animEffect transition="in" filter="fade">
                                      <p:cBhvr>
                                        <p:cTn id="76" dur="500"/>
                                        <p:tgtEl>
                                          <p:spTgt spid="60"/>
                                        </p:tgtEl>
                                      </p:cBhvr>
                                    </p:animEffect>
                                  </p:childTnLst>
                                </p:cTn>
                              </p:par>
                              <p:par>
                                <p:cTn id="80" presetID="10" presetClass="entr" presetSubtype="0" fill="hold" grpId="0" nodeType="withEffect">
                                  <p:stCondLst>
                                    <p:cond delay="1500"/>
                                  </p:stCondLst>
                                  <p:childTnLst>
                                    <p:set>
                                      <p:cBhvr>
                                        <p:cTn id="78" dur="1" fill="hold">
                                          <p:stCondLst>
                                            <p:cond delay="0"/>
                                          </p:stCondLst>
                                        </p:cTn>
                                        <p:tgtEl>
                                          <p:spTgt spid="62"/>
                                        </p:tgtEl>
                                        <p:attrNameLst>
                                          <p:attrName>style.visibility</p:attrName>
                                        </p:attrNameLst>
                                      </p:cBhvr>
                                      <p:to>
                                        <p:strVal val="visible"/>
                                      </p:to>
                                    </p:set>
                                    <p:animEffect transition="in" filter="fade">
                                      <p:cBhvr>
                                        <p:cTn id="79" dur="500"/>
                                        <p:tgtEl>
                                          <p:spTgt spid="62"/>
                                        </p:tgtEl>
                                      </p:cBhvr>
                                    </p:animEffect>
                                  </p:childTnLst>
                                </p:cTn>
                              </p:par>
                              <p:par>
                                <p:cTn id="83" presetID="10" presetClass="entr" presetSubtype="0" fill="hold" grpId="0" nodeType="withEffect">
                                  <p:stCondLst>
                                    <p:cond delay="1500"/>
                                  </p:stCondLst>
                                  <p:childTnLst>
                                    <p:set>
                                      <p:cBhvr>
                                        <p:cTn id="81" dur="1" fill="hold">
                                          <p:stCondLst>
                                            <p:cond delay="0"/>
                                          </p:stCondLst>
                                        </p:cTn>
                                        <p:tgtEl>
                                          <p:spTgt spid="63"/>
                                        </p:tgtEl>
                                        <p:attrNameLst>
                                          <p:attrName>style.visibility</p:attrName>
                                        </p:attrNameLst>
                                      </p:cBhvr>
                                      <p:to>
                                        <p:strVal val="visible"/>
                                      </p:to>
                                    </p:set>
                                    <p:animEffect transition="in" filter="fade">
                                      <p:cBhvr>
                                        <p:cTn id="82" dur="500"/>
                                        <p:tgtEl>
                                          <p:spTgt spid="63"/>
                                        </p:tgtEl>
                                      </p:cBhvr>
                                    </p:animEffect>
                                  </p:childTnLst>
                                </p:cTn>
                              </p:par>
                              <p:par>
                                <p:cTn id="86" presetID="10" presetClass="entr" presetSubtype="0" fill="hold" grpId="0" nodeType="withEffect">
                                  <p:stCondLst>
                                    <p:cond delay="1560"/>
                                  </p:stCondLst>
                                  <p:childTnLst>
                                    <p:set>
                                      <p:cBhvr>
                                        <p:cTn id="84" dur="1" fill="hold">
                                          <p:stCondLst>
                                            <p:cond delay="0"/>
                                          </p:stCondLst>
                                        </p:cTn>
                                        <p:tgtEl>
                                          <p:spTgt spid="64"/>
                                        </p:tgtEl>
                                        <p:attrNameLst>
                                          <p:attrName>style.visibility</p:attrName>
                                        </p:attrNameLst>
                                      </p:cBhvr>
                                      <p:to>
                                        <p:strVal val="visible"/>
                                      </p:to>
                                    </p:set>
                                    <p:animEffect transition="in" filter="fade">
                                      <p:cBhvr>
                                        <p:cTn id="85" dur="500"/>
                                        <p:tgtEl>
                                          <p:spTgt spid="64"/>
                                        </p:tgtEl>
                                      </p:cBhvr>
                                    </p:animEffect>
                                  </p:childTnLst>
                                </p:cTn>
                              </p:par>
                              <p:par>
                                <p:cTn id="89" presetID="10" presetClass="entr" presetSubtype="0" fill="hold" grpId="0" nodeType="withEffect">
                                  <p:stCondLst>
                                    <p:cond delay="1600"/>
                                  </p:stCondLst>
                                  <p:childTnLst>
                                    <p:set>
                                      <p:cBhvr>
                                        <p:cTn id="87" dur="1" fill="hold">
                                          <p:stCondLst>
                                            <p:cond delay="0"/>
                                          </p:stCondLst>
                                        </p:cTn>
                                        <p:tgtEl>
                                          <p:spTgt spid="11"/>
                                        </p:tgtEl>
                                        <p:attrNameLst>
                                          <p:attrName>style.visibility</p:attrName>
                                        </p:attrNameLst>
                                      </p:cBhvr>
                                      <p:to>
                                        <p:strVal val="visible"/>
                                      </p:to>
                                    </p:set>
                                    <p:animEffect transition="in" filter="fade">
                                      <p:cBhvr>
                                        <p:cTn id="88" dur="500"/>
                                        <p:tgtEl>
                                          <p:spTgt spid="11"/>
                                        </p:tgtEl>
                                      </p:cBhvr>
                                    </p:animEffect>
                                  </p:childTnLst>
                                </p:cTn>
                              </p:par>
                              <p:par>
                                <p:cTn id="92" presetID="10" presetClass="entr" presetSubtype="0" fill="hold" grpId="0" nodeType="withEffect">
                                  <p:stCondLst>
                                    <p:cond delay="1600"/>
                                  </p:stCondLst>
                                  <p:childTnLst>
                                    <p:set>
                                      <p:cBhvr>
                                        <p:cTn id="90" dur="1" fill="hold">
                                          <p:stCondLst>
                                            <p:cond delay="0"/>
                                          </p:stCondLst>
                                        </p:cTn>
                                        <p:tgtEl>
                                          <p:spTgt spid="12"/>
                                        </p:tgtEl>
                                        <p:attrNameLst>
                                          <p:attrName>style.visibility</p:attrName>
                                        </p:attrNameLst>
                                      </p:cBhvr>
                                      <p:to>
                                        <p:strVal val="visible"/>
                                      </p:to>
                                    </p:set>
                                    <p:animEffect transition="in" filter="fade">
                                      <p:cBhvr>
                                        <p:cTn id="91" dur="500"/>
                                        <p:tgtEl>
                                          <p:spTgt spid="12"/>
                                        </p:tgtEl>
                                      </p:cBhvr>
                                    </p:animEffect>
                                  </p:childTnLst>
                                </p:cTn>
                              </p:par>
                              <p:par>
                                <p:cTn id="95" presetID="10" presetClass="entr" presetSubtype="0" fill="hold" grpId="0" nodeType="withEffect">
                                  <p:stCondLst>
                                    <p:cond delay="1600"/>
                                  </p:stCondLst>
                                  <p:childTnLst>
                                    <p:set>
                                      <p:cBhvr>
                                        <p:cTn id="93" dur="1" fill="hold">
                                          <p:stCondLst>
                                            <p:cond delay="0"/>
                                          </p:stCondLst>
                                        </p:cTn>
                                        <p:tgtEl>
                                          <p:spTgt spid="61"/>
                                        </p:tgtEl>
                                        <p:attrNameLst>
                                          <p:attrName>style.visibility</p:attrName>
                                        </p:attrNameLst>
                                      </p:cBhvr>
                                      <p:to>
                                        <p:strVal val="visible"/>
                                      </p:to>
                                    </p:set>
                                    <p:animEffect transition="in" filter="fade">
                                      <p:cBhvr>
                                        <p:cTn id="94" dur="500"/>
                                        <p:tgtEl>
                                          <p:spTgt spid="61"/>
                                        </p:tgtEl>
                                      </p:cBhvr>
                                    </p:animEffect>
                                  </p:childTnLst>
                                </p:cTn>
                              </p:par>
                              <p:par>
                                <p:cTn id="98" presetID="10" presetClass="entr" presetSubtype="0" fill="hold" grpId="0" nodeType="withEffect">
                                  <p:stCondLst>
                                    <p:cond delay="1620"/>
                                  </p:stCondLst>
                                  <p:childTnLst>
                                    <p:set>
                                      <p:cBhvr>
                                        <p:cTn id="96" dur="1" fill="hold">
                                          <p:stCondLst>
                                            <p:cond delay="0"/>
                                          </p:stCondLst>
                                        </p:cTn>
                                        <p:tgtEl>
                                          <p:spTgt spid="65"/>
                                        </p:tgtEl>
                                        <p:attrNameLst>
                                          <p:attrName>style.visibility</p:attrName>
                                        </p:attrNameLst>
                                      </p:cBhvr>
                                      <p:to>
                                        <p:strVal val="visible"/>
                                      </p:to>
                                    </p:set>
                                    <p:animEffect transition="in" filter="fade">
                                      <p:cBhvr>
                                        <p:cTn id="97" dur="500"/>
                                        <p:tgtEl>
                                          <p:spTgt spid="65"/>
                                        </p:tgtEl>
                                      </p:cBhvr>
                                    </p:animEffect>
                                  </p:childTnLst>
                                </p:cTn>
                              </p:par>
                              <p:par>
                                <p:cTn id="101" presetID="10" presetClass="entr" presetSubtype="0" fill="hold" grpId="0" nodeType="withEffect">
                                  <p:stCondLst>
                                    <p:cond delay="1645"/>
                                  </p:stCondLst>
                                  <p:childTnLst>
                                    <p:set>
                                      <p:cBhvr>
                                        <p:cTn id="99" dur="1" fill="hold">
                                          <p:stCondLst>
                                            <p:cond delay="0"/>
                                          </p:stCondLst>
                                        </p:cTn>
                                        <p:tgtEl>
                                          <p:spTgt spid="13"/>
                                        </p:tgtEl>
                                        <p:attrNameLst>
                                          <p:attrName>style.visibility</p:attrName>
                                        </p:attrNameLst>
                                      </p:cBhvr>
                                      <p:to>
                                        <p:strVal val="visible"/>
                                      </p:to>
                                    </p:set>
                                    <p:animEffect transition="in" filter="fade">
                                      <p:cBhvr>
                                        <p:cTn id="100" dur="500"/>
                                        <p:tgtEl>
                                          <p:spTgt spid="13"/>
                                        </p:tgtEl>
                                      </p:cBhvr>
                                    </p:animEffect>
                                  </p:childTnLst>
                                </p:cTn>
                              </p:par>
                              <p:par>
                                <p:cTn id="104" presetID="10" presetClass="entr" presetSubtype="0" fill="hold" grpId="0" nodeType="withEffect">
                                  <p:stCondLst>
                                    <p:cond delay="1645"/>
                                  </p:stCondLst>
                                  <p:childTnLst>
                                    <p:set>
                                      <p:cBhvr>
                                        <p:cTn id="102" dur="1" fill="hold">
                                          <p:stCondLst>
                                            <p:cond delay="0"/>
                                          </p:stCondLst>
                                        </p:cTn>
                                        <p:tgtEl>
                                          <p:spTgt spid="14"/>
                                        </p:tgtEl>
                                        <p:attrNameLst>
                                          <p:attrName>style.visibility</p:attrName>
                                        </p:attrNameLst>
                                      </p:cBhvr>
                                      <p:to>
                                        <p:strVal val="visible"/>
                                      </p:to>
                                    </p:set>
                                    <p:animEffect transition="in" filter="fade">
                                      <p:cBhvr>
                                        <p:cTn id="103" dur="500"/>
                                        <p:tgtEl>
                                          <p:spTgt spid="14"/>
                                        </p:tgtEl>
                                      </p:cBhvr>
                                    </p:animEffect>
                                  </p:childTnLst>
                                </p:cTn>
                              </p:par>
                              <p:par>
                                <p:cTn id="107" presetID="10" presetClass="entr" presetSubtype="0" fill="hold" grpId="0" nodeType="withEffect">
                                  <p:stCondLst>
                                    <p:cond delay="1680"/>
                                  </p:stCondLst>
                                  <p:childTnLst>
                                    <p:set>
                                      <p:cBhvr>
                                        <p:cTn id="105" dur="1" fill="hold">
                                          <p:stCondLst>
                                            <p:cond delay="0"/>
                                          </p:stCondLst>
                                        </p:cTn>
                                        <p:tgtEl>
                                          <p:spTgt spid="66"/>
                                        </p:tgtEl>
                                        <p:attrNameLst>
                                          <p:attrName>style.visibility</p:attrName>
                                        </p:attrNameLst>
                                      </p:cBhvr>
                                      <p:to>
                                        <p:strVal val="visible"/>
                                      </p:to>
                                    </p:set>
                                    <p:animEffect transition="in" filter="fade">
                                      <p:cBhvr>
                                        <p:cTn id="106" dur="500"/>
                                        <p:tgtEl>
                                          <p:spTgt spid="66"/>
                                        </p:tgtEl>
                                      </p:cBhvr>
                                    </p:animEffect>
                                  </p:childTnLst>
                                </p:cTn>
                              </p:par>
                              <p:par>
                                <p:cTn id="110" presetID="10" presetClass="entr" presetSubtype="0" fill="hold" grpId="0" nodeType="withEffect">
                                  <p:stCondLst>
                                    <p:cond delay="1690"/>
                                  </p:stCondLst>
                                  <p:childTnLst>
                                    <p:set>
                                      <p:cBhvr>
                                        <p:cTn id="108" dur="1" fill="hold">
                                          <p:stCondLst>
                                            <p:cond delay="0"/>
                                          </p:stCondLst>
                                        </p:cTn>
                                        <p:tgtEl>
                                          <p:spTgt spid="15"/>
                                        </p:tgtEl>
                                        <p:attrNameLst>
                                          <p:attrName>style.visibility</p:attrName>
                                        </p:attrNameLst>
                                      </p:cBhvr>
                                      <p:to>
                                        <p:strVal val="visible"/>
                                      </p:to>
                                    </p:set>
                                    <p:animEffect transition="in" filter="fade">
                                      <p:cBhvr>
                                        <p:cTn id="109" dur="500"/>
                                        <p:tgtEl>
                                          <p:spTgt spid="15"/>
                                        </p:tgtEl>
                                      </p:cBhvr>
                                    </p:animEffect>
                                  </p:childTnLst>
                                </p:cTn>
                              </p:par>
                              <p:par>
                                <p:cTn id="113" presetID="10" presetClass="entr" presetSubtype="0" fill="hold" grpId="0" nodeType="withEffect">
                                  <p:stCondLst>
                                    <p:cond delay="1690"/>
                                  </p:stCondLst>
                                  <p:childTnLst>
                                    <p:set>
                                      <p:cBhvr>
                                        <p:cTn id="111" dur="1" fill="hold">
                                          <p:stCondLst>
                                            <p:cond delay="0"/>
                                          </p:stCondLst>
                                        </p:cTn>
                                        <p:tgtEl>
                                          <p:spTgt spid="16"/>
                                        </p:tgtEl>
                                        <p:attrNameLst>
                                          <p:attrName>style.visibility</p:attrName>
                                        </p:attrNameLst>
                                      </p:cBhvr>
                                      <p:to>
                                        <p:strVal val="visible"/>
                                      </p:to>
                                    </p:set>
                                    <p:animEffect transition="in" filter="fade">
                                      <p:cBhvr>
                                        <p:cTn id="112" dur="500"/>
                                        <p:tgtEl>
                                          <p:spTgt spid="16"/>
                                        </p:tgtEl>
                                      </p:cBhvr>
                                    </p:animEffect>
                                  </p:childTnLst>
                                </p:cTn>
                              </p:par>
                              <p:par>
                                <p:cTn id="116" presetID="10" presetClass="entr" presetSubtype="0" fill="hold" grpId="0" nodeType="withEffect">
                                  <p:stCondLst>
                                    <p:cond delay="1735"/>
                                  </p:stCondLst>
                                  <p:childTnLst>
                                    <p:set>
                                      <p:cBhvr>
                                        <p:cTn id="114" dur="1" fill="hold">
                                          <p:stCondLst>
                                            <p:cond delay="0"/>
                                          </p:stCondLst>
                                        </p:cTn>
                                        <p:tgtEl>
                                          <p:spTgt spid="17"/>
                                        </p:tgtEl>
                                        <p:attrNameLst>
                                          <p:attrName>style.visibility</p:attrName>
                                        </p:attrNameLst>
                                      </p:cBhvr>
                                      <p:to>
                                        <p:strVal val="visible"/>
                                      </p:to>
                                    </p:set>
                                    <p:animEffect transition="in" filter="fade">
                                      <p:cBhvr>
                                        <p:cTn id="115" dur="500"/>
                                        <p:tgtEl>
                                          <p:spTgt spid="17"/>
                                        </p:tgtEl>
                                      </p:cBhvr>
                                    </p:animEffect>
                                  </p:childTnLst>
                                </p:cTn>
                              </p:par>
                              <p:par>
                                <p:cTn id="119" presetID="10" presetClass="entr" presetSubtype="0" fill="hold" grpId="0" nodeType="withEffect">
                                  <p:stCondLst>
                                    <p:cond delay="1735"/>
                                  </p:stCondLst>
                                  <p:childTnLst>
                                    <p:set>
                                      <p:cBhvr>
                                        <p:cTn id="117" dur="1" fill="hold">
                                          <p:stCondLst>
                                            <p:cond delay="0"/>
                                          </p:stCondLst>
                                        </p:cTn>
                                        <p:tgtEl>
                                          <p:spTgt spid="18"/>
                                        </p:tgtEl>
                                        <p:attrNameLst>
                                          <p:attrName>style.visibility</p:attrName>
                                        </p:attrNameLst>
                                      </p:cBhvr>
                                      <p:to>
                                        <p:strVal val="visible"/>
                                      </p:to>
                                    </p:set>
                                    <p:animEffect transition="in" filter="fade">
                                      <p:cBhvr>
                                        <p:cTn id="118" dur="500"/>
                                        <p:tgtEl>
                                          <p:spTgt spid="18"/>
                                        </p:tgtEl>
                                      </p:cBhvr>
                                    </p:animEffect>
                                  </p:childTnLst>
                                </p:cTn>
                              </p:par>
                              <p:par>
                                <p:cTn id="122" presetID="10" presetClass="entr" presetSubtype="0" fill="hold" grpId="0" nodeType="withEffect">
                                  <p:stCondLst>
                                    <p:cond delay="1780"/>
                                  </p:stCondLst>
                                  <p:childTnLst>
                                    <p:set>
                                      <p:cBhvr>
                                        <p:cTn id="120" dur="1" fill="hold">
                                          <p:stCondLst>
                                            <p:cond delay="0"/>
                                          </p:stCondLst>
                                        </p:cTn>
                                        <p:tgtEl>
                                          <p:spTgt spid="19"/>
                                        </p:tgtEl>
                                        <p:attrNameLst>
                                          <p:attrName>style.visibility</p:attrName>
                                        </p:attrNameLst>
                                      </p:cBhvr>
                                      <p:to>
                                        <p:strVal val="visible"/>
                                      </p:to>
                                    </p:set>
                                    <p:animEffect transition="in" filter="fade">
                                      <p:cBhvr>
                                        <p:cTn id="121" dur="500"/>
                                        <p:tgtEl>
                                          <p:spTgt spid="19"/>
                                        </p:tgtEl>
                                      </p:cBhvr>
                                    </p:animEffect>
                                  </p:childTnLst>
                                </p:cTn>
                              </p:par>
                              <p:par>
                                <p:cTn id="125" presetID="10" presetClass="entr" presetSubtype="0" fill="hold" grpId="0" nodeType="withEffect">
                                  <p:stCondLst>
                                    <p:cond delay="1780"/>
                                  </p:stCondLst>
                                  <p:childTnLst>
                                    <p:set>
                                      <p:cBhvr>
                                        <p:cTn id="123" dur="1" fill="hold">
                                          <p:stCondLst>
                                            <p:cond delay="0"/>
                                          </p:stCondLst>
                                        </p:cTn>
                                        <p:tgtEl>
                                          <p:spTgt spid="20"/>
                                        </p:tgtEl>
                                        <p:attrNameLst>
                                          <p:attrName>style.visibility</p:attrName>
                                        </p:attrNameLst>
                                      </p:cBhvr>
                                      <p:to>
                                        <p:strVal val="visible"/>
                                      </p:to>
                                    </p:set>
                                    <p:animEffect transition="in" filter="fade">
                                      <p:cBhvr>
                                        <p:cTn id="124" dur="500"/>
                                        <p:tgtEl>
                                          <p:spTgt spid="20"/>
                                        </p:tgtEl>
                                      </p:cBhvr>
                                    </p:animEffect>
                                  </p:childTnLst>
                                </p:cTn>
                              </p:par>
                              <p:par>
                                <p:cTn id="128" presetID="10" presetClass="entr" presetSubtype="0" fill="hold" grpId="0" nodeType="withEffect">
                                  <p:stCondLst>
                                    <p:cond delay="1800"/>
                                  </p:stCondLst>
                                  <p:childTnLst>
                                    <p:set>
                                      <p:cBhvr>
                                        <p:cTn id="126" dur="1" fill="hold">
                                          <p:stCondLst>
                                            <p:cond delay="0"/>
                                          </p:stCondLst>
                                        </p:cTn>
                                        <p:tgtEl>
                                          <p:spTgt spid="67"/>
                                        </p:tgtEl>
                                        <p:attrNameLst>
                                          <p:attrName>style.visibility</p:attrName>
                                        </p:attrNameLst>
                                      </p:cBhvr>
                                      <p:to>
                                        <p:strVal val="visible"/>
                                      </p:to>
                                    </p:set>
                                    <p:animEffect transition="in" filter="fade">
                                      <p:cBhvr>
                                        <p:cTn id="127" dur="500"/>
                                        <p:tgtEl>
                                          <p:spTgt spid="67"/>
                                        </p:tgtEl>
                                      </p:cBhvr>
                                    </p:animEffect>
                                  </p:childTnLst>
                                </p:cTn>
                              </p:par>
                              <p:par>
                                <p:cTn id="131" presetID="10" presetClass="entr" presetSubtype="0" fill="hold" grpId="0" nodeType="withEffect">
                                  <p:stCondLst>
                                    <p:cond delay="1825"/>
                                  </p:stCondLst>
                                  <p:childTnLst>
                                    <p:set>
                                      <p:cBhvr>
                                        <p:cTn id="129" dur="1" fill="hold">
                                          <p:stCondLst>
                                            <p:cond delay="0"/>
                                          </p:stCondLst>
                                        </p:cTn>
                                        <p:tgtEl>
                                          <p:spTgt spid="21"/>
                                        </p:tgtEl>
                                        <p:attrNameLst>
                                          <p:attrName>style.visibility</p:attrName>
                                        </p:attrNameLst>
                                      </p:cBhvr>
                                      <p:to>
                                        <p:strVal val="visible"/>
                                      </p:to>
                                    </p:set>
                                    <p:animEffect transition="in" filter="fade">
                                      <p:cBhvr>
                                        <p:cTn id="130" dur="500"/>
                                        <p:tgtEl>
                                          <p:spTgt spid="21"/>
                                        </p:tgtEl>
                                      </p:cBhvr>
                                    </p:animEffect>
                                  </p:childTnLst>
                                </p:cTn>
                              </p:par>
                              <p:par>
                                <p:cTn id="134" presetID="10" presetClass="entr" presetSubtype="0" fill="hold" grpId="0" nodeType="withEffect">
                                  <p:stCondLst>
                                    <p:cond delay="1825"/>
                                  </p:stCondLst>
                                  <p:childTnLst>
                                    <p:set>
                                      <p:cBhvr>
                                        <p:cTn id="132" dur="1" fill="hold">
                                          <p:stCondLst>
                                            <p:cond delay="0"/>
                                          </p:stCondLst>
                                        </p:cTn>
                                        <p:tgtEl>
                                          <p:spTgt spid="22"/>
                                        </p:tgtEl>
                                        <p:attrNameLst>
                                          <p:attrName>style.visibility</p:attrName>
                                        </p:attrNameLst>
                                      </p:cBhvr>
                                      <p:to>
                                        <p:strVal val="visible"/>
                                      </p:to>
                                    </p:set>
                                    <p:animEffect transition="in" filter="fade">
                                      <p:cBhvr>
                                        <p:cTn id="133" dur="500"/>
                                        <p:tgtEl>
                                          <p:spTgt spid="22"/>
                                        </p:tgtEl>
                                      </p:cBhvr>
                                    </p:animEffect>
                                  </p:childTnLst>
                                </p:cTn>
                              </p:par>
                              <p:par>
                                <p:cTn id="137" presetID="10" presetClass="entr" presetSubtype="0" fill="hold" grpId="0" nodeType="withEffect">
                                  <p:stCondLst>
                                    <p:cond delay="1870"/>
                                  </p:stCondLst>
                                  <p:childTnLst>
                                    <p:set>
                                      <p:cBhvr>
                                        <p:cTn id="135" dur="1" fill="hold">
                                          <p:stCondLst>
                                            <p:cond delay="0"/>
                                          </p:stCondLst>
                                        </p:cTn>
                                        <p:tgtEl>
                                          <p:spTgt spid="23"/>
                                        </p:tgtEl>
                                        <p:attrNameLst>
                                          <p:attrName>style.visibility</p:attrName>
                                        </p:attrNameLst>
                                      </p:cBhvr>
                                      <p:to>
                                        <p:strVal val="visible"/>
                                      </p:to>
                                    </p:set>
                                    <p:animEffect transition="in" filter="fade">
                                      <p:cBhvr>
                                        <p:cTn id="136" dur="500"/>
                                        <p:tgtEl>
                                          <p:spTgt spid="23"/>
                                        </p:tgtEl>
                                      </p:cBhvr>
                                    </p:animEffect>
                                  </p:childTnLst>
                                </p:cTn>
                              </p:par>
                              <p:par>
                                <p:cTn id="140" presetID="10" presetClass="entr" presetSubtype="0" fill="hold" grpId="0" nodeType="withEffect">
                                  <p:stCondLst>
                                    <p:cond delay="1870"/>
                                  </p:stCondLst>
                                  <p:childTnLst>
                                    <p:set>
                                      <p:cBhvr>
                                        <p:cTn id="138" dur="1" fill="hold">
                                          <p:stCondLst>
                                            <p:cond delay="0"/>
                                          </p:stCondLst>
                                        </p:cTn>
                                        <p:tgtEl>
                                          <p:spTgt spid="24"/>
                                        </p:tgtEl>
                                        <p:attrNameLst>
                                          <p:attrName>style.visibility</p:attrName>
                                        </p:attrNameLst>
                                      </p:cBhvr>
                                      <p:to>
                                        <p:strVal val="visible"/>
                                      </p:to>
                                    </p:set>
                                    <p:animEffect transition="in" filter="fade">
                                      <p:cBhvr>
                                        <p:cTn id="139" dur="500"/>
                                        <p:tgtEl>
                                          <p:spTgt spid="24"/>
                                        </p:tgtEl>
                                      </p:cBhvr>
                                    </p:animEffect>
                                  </p:childTnLst>
                                </p:cTn>
                              </p:par>
                              <p:par>
                                <p:cTn id="143" presetID="10" presetClass="entr" presetSubtype="0" fill="hold" grpId="0" nodeType="withEffect">
                                  <p:stCondLst>
                                    <p:cond delay="1900"/>
                                  </p:stCondLst>
                                  <p:childTnLst>
                                    <p:set>
                                      <p:cBhvr>
                                        <p:cTn id="141" dur="1" fill="hold">
                                          <p:stCondLst>
                                            <p:cond delay="0"/>
                                          </p:stCondLst>
                                        </p:cTn>
                                        <p:tgtEl>
                                          <p:spTgt spid="68"/>
                                        </p:tgtEl>
                                        <p:attrNameLst>
                                          <p:attrName>style.visibility</p:attrName>
                                        </p:attrNameLst>
                                      </p:cBhvr>
                                      <p:to>
                                        <p:strVal val="visible"/>
                                      </p:to>
                                    </p:set>
                                    <p:animEffect transition="in" filter="fade">
                                      <p:cBhvr>
                                        <p:cTn id="142" dur="500"/>
                                        <p:tgtEl>
                                          <p:spTgt spid="68"/>
                                        </p:tgtEl>
                                      </p:cBhvr>
                                    </p:animEffect>
                                  </p:childTnLst>
                                </p:cTn>
                              </p:par>
                              <p:par>
                                <p:cTn id="146" presetID="10" presetClass="entr" presetSubtype="0" fill="hold" grpId="0" nodeType="withEffect">
                                  <p:stCondLst>
                                    <p:cond delay="1900"/>
                                  </p:stCondLst>
                                  <p:childTnLst>
                                    <p:set>
                                      <p:cBhvr>
                                        <p:cTn id="144" dur="1" fill="hold">
                                          <p:stCondLst>
                                            <p:cond delay="0"/>
                                          </p:stCondLst>
                                        </p:cTn>
                                        <p:tgtEl>
                                          <p:spTgt spid="69"/>
                                        </p:tgtEl>
                                        <p:attrNameLst>
                                          <p:attrName>style.visibility</p:attrName>
                                        </p:attrNameLst>
                                      </p:cBhvr>
                                      <p:to>
                                        <p:strVal val="visible"/>
                                      </p:to>
                                    </p:set>
                                    <p:animEffect transition="in" filter="fade">
                                      <p:cBhvr>
                                        <p:cTn id="145" dur="500"/>
                                        <p:tgtEl>
                                          <p:spTgt spid="69"/>
                                        </p:tgtEl>
                                      </p:cBhvr>
                                    </p:animEffect>
                                  </p:childTnLst>
                                </p:cTn>
                              </p:par>
                              <p:par>
                                <p:cTn id="149" presetID="10" presetClass="entr" presetSubtype="0" fill="hold" grpId="0" nodeType="withEffect">
                                  <p:stCondLst>
                                    <p:cond delay="1915"/>
                                  </p:stCondLst>
                                  <p:childTnLst>
                                    <p:set>
                                      <p:cBhvr>
                                        <p:cTn id="147" dur="1" fill="hold">
                                          <p:stCondLst>
                                            <p:cond delay="0"/>
                                          </p:stCondLst>
                                        </p:cTn>
                                        <p:tgtEl>
                                          <p:spTgt spid="25"/>
                                        </p:tgtEl>
                                        <p:attrNameLst>
                                          <p:attrName>style.visibility</p:attrName>
                                        </p:attrNameLst>
                                      </p:cBhvr>
                                      <p:to>
                                        <p:strVal val="visible"/>
                                      </p:to>
                                    </p:set>
                                    <p:animEffect transition="in" filter="fade">
                                      <p:cBhvr>
                                        <p:cTn id="148" dur="500"/>
                                        <p:tgtEl>
                                          <p:spTgt spid="25"/>
                                        </p:tgtEl>
                                      </p:cBhvr>
                                    </p:animEffect>
                                  </p:childTnLst>
                                </p:cTn>
                              </p:par>
                              <p:par>
                                <p:cTn id="152" presetID="10" presetClass="entr" presetSubtype="0" fill="hold" grpId="0" nodeType="withEffect">
                                  <p:stCondLst>
                                    <p:cond delay="1915"/>
                                  </p:stCondLst>
                                  <p:childTnLst>
                                    <p:set>
                                      <p:cBhvr>
                                        <p:cTn id="150" dur="1" fill="hold">
                                          <p:stCondLst>
                                            <p:cond delay="0"/>
                                          </p:stCondLst>
                                        </p:cTn>
                                        <p:tgtEl>
                                          <p:spTgt spid="26"/>
                                        </p:tgtEl>
                                        <p:attrNameLst>
                                          <p:attrName>style.visibility</p:attrName>
                                        </p:attrNameLst>
                                      </p:cBhvr>
                                      <p:to>
                                        <p:strVal val="visible"/>
                                      </p:to>
                                    </p:set>
                                    <p:animEffect transition="in" filter="fade">
                                      <p:cBhvr>
                                        <p:cTn id="151" dur="500"/>
                                        <p:tgtEl>
                                          <p:spTgt spid="26"/>
                                        </p:tgtEl>
                                      </p:cBhvr>
                                    </p:animEffect>
                                  </p:childTnLst>
                                </p:cTn>
                              </p:par>
                              <p:par>
                                <p:cTn id="155" presetID="10" presetClass="entr" presetSubtype="0" fill="hold" grpId="0" nodeType="withEffect">
                                  <p:stCondLst>
                                    <p:cond delay="1960"/>
                                  </p:stCondLst>
                                  <p:childTnLst>
                                    <p:set>
                                      <p:cBhvr>
                                        <p:cTn id="153" dur="1" fill="hold">
                                          <p:stCondLst>
                                            <p:cond delay="0"/>
                                          </p:stCondLst>
                                        </p:cTn>
                                        <p:tgtEl>
                                          <p:spTgt spid="27"/>
                                        </p:tgtEl>
                                        <p:attrNameLst>
                                          <p:attrName>style.visibility</p:attrName>
                                        </p:attrNameLst>
                                      </p:cBhvr>
                                      <p:to>
                                        <p:strVal val="visible"/>
                                      </p:to>
                                    </p:set>
                                    <p:animEffect transition="in" filter="fade">
                                      <p:cBhvr>
                                        <p:cTn id="154" dur="500"/>
                                        <p:tgtEl>
                                          <p:spTgt spid="27"/>
                                        </p:tgtEl>
                                      </p:cBhvr>
                                    </p:animEffect>
                                  </p:childTnLst>
                                </p:cTn>
                              </p:par>
                              <p:par>
                                <p:cTn id="158" presetID="10" presetClass="entr" presetSubtype="0" fill="hold" grpId="0" nodeType="withEffect">
                                  <p:stCondLst>
                                    <p:cond delay="1960"/>
                                  </p:stCondLst>
                                  <p:childTnLst>
                                    <p:set>
                                      <p:cBhvr>
                                        <p:cTn id="156" dur="1" fill="hold">
                                          <p:stCondLst>
                                            <p:cond delay="0"/>
                                          </p:stCondLst>
                                        </p:cTn>
                                        <p:tgtEl>
                                          <p:spTgt spid="28"/>
                                        </p:tgtEl>
                                        <p:attrNameLst>
                                          <p:attrName>style.visibility</p:attrName>
                                        </p:attrNameLst>
                                      </p:cBhvr>
                                      <p:to>
                                        <p:strVal val="visible"/>
                                      </p:to>
                                    </p:set>
                                    <p:animEffect transition="in" filter="fade">
                                      <p:cBhvr>
                                        <p:cTn id="157" dur="500"/>
                                        <p:tgtEl>
                                          <p:spTgt spid="28"/>
                                        </p:tgtEl>
                                      </p:cBhvr>
                                    </p:animEffect>
                                  </p:childTnLst>
                                </p:cTn>
                              </p:par>
                              <p:par>
                                <p:cTn id="161" presetID="10" presetClass="entr" presetSubtype="0" fill="hold" grpId="0" nodeType="withEffect">
                                  <p:stCondLst>
                                    <p:cond delay="2005"/>
                                  </p:stCondLst>
                                  <p:childTnLst>
                                    <p:set>
                                      <p:cBhvr>
                                        <p:cTn id="159" dur="1" fill="hold">
                                          <p:stCondLst>
                                            <p:cond delay="0"/>
                                          </p:stCondLst>
                                        </p:cTn>
                                        <p:tgtEl>
                                          <p:spTgt spid="29"/>
                                        </p:tgtEl>
                                        <p:attrNameLst>
                                          <p:attrName>style.visibility</p:attrName>
                                        </p:attrNameLst>
                                      </p:cBhvr>
                                      <p:to>
                                        <p:strVal val="visible"/>
                                      </p:to>
                                    </p:set>
                                    <p:animEffect transition="in" filter="fade">
                                      <p:cBhvr>
                                        <p:cTn id="160" dur="500"/>
                                        <p:tgtEl>
                                          <p:spTgt spid="29"/>
                                        </p:tgtEl>
                                      </p:cBhvr>
                                    </p:animEffect>
                                  </p:childTnLst>
                                </p:cTn>
                              </p:par>
                              <p:par>
                                <p:cTn id="164" presetID="10" presetClass="entr" presetSubtype="0" fill="hold" grpId="0" nodeType="withEffect">
                                  <p:stCondLst>
                                    <p:cond delay="2005"/>
                                  </p:stCondLst>
                                  <p:childTnLst>
                                    <p:set>
                                      <p:cBhvr>
                                        <p:cTn id="162" dur="1" fill="hold">
                                          <p:stCondLst>
                                            <p:cond delay="0"/>
                                          </p:stCondLst>
                                        </p:cTn>
                                        <p:tgtEl>
                                          <p:spTgt spid="30"/>
                                        </p:tgtEl>
                                        <p:attrNameLst>
                                          <p:attrName>style.visibility</p:attrName>
                                        </p:attrNameLst>
                                      </p:cBhvr>
                                      <p:to>
                                        <p:strVal val="visible"/>
                                      </p:to>
                                    </p:set>
                                    <p:animEffect transition="in" filter="fade">
                                      <p:cBhvr>
                                        <p:cTn id="163" dur="500"/>
                                        <p:tgtEl>
                                          <p:spTgt spid="30"/>
                                        </p:tgtEl>
                                      </p:cBhvr>
                                    </p:animEffect>
                                  </p:childTnLst>
                                </p:cTn>
                              </p:par>
                              <p:par>
                                <p:cTn id="167" presetID="10" presetClass="entr" presetSubtype="0" fill="hold" grpId="0" nodeType="withEffect">
                                  <p:stCondLst>
                                    <p:cond delay="2050"/>
                                  </p:stCondLst>
                                  <p:childTnLst>
                                    <p:set>
                                      <p:cBhvr>
                                        <p:cTn id="165" dur="1" fill="hold">
                                          <p:stCondLst>
                                            <p:cond delay="0"/>
                                          </p:stCondLst>
                                        </p:cTn>
                                        <p:tgtEl>
                                          <p:spTgt spid="31"/>
                                        </p:tgtEl>
                                        <p:attrNameLst>
                                          <p:attrName>style.visibility</p:attrName>
                                        </p:attrNameLst>
                                      </p:cBhvr>
                                      <p:to>
                                        <p:strVal val="visible"/>
                                      </p:to>
                                    </p:set>
                                    <p:animEffect transition="in" filter="fade">
                                      <p:cBhvr>
                                        <p:cTn id="166" dur="500"/>
                                        <p:tgtEl>
                                          <p:spTgt spid="31"/>
                                        </p:tgtEl>
                                      </p:cBhvr>
                                    </p:animEffect>
                                  </p:childTnLst>
                                </p:cTn>
                              </p:par>
                              <p:par>
                                <p:cTn id="170" presetID="10" presetClass="entr" presetSubtype="0" fill="hold" grpId="0" nodeType="withEffect">
                                  <p:stCondLst>
                                    <p:cond delay="2050"/>
                                  </p:stCondLst>
                                  <p:childTnLst>
                                    <p:set>
                                      <p:cBhvr>
                                        <p:cTn id="168" dur="1" fill="hold">
                                          <p:stCondLst>
                                            <p:cond delay="0"/>
                                          </p:stCondLst>
                                        </p:cTn>
                                        <p:tgtEl>
                                          <p:spTgt spid="32"/>
                                        </p:tgtEl>
                                        <p:attrNameLst>
                                          <p:attrName>style.visibility</p:attrName>
                                        </p:attrNameLst>
                                      </p:cBhvr>
                                      <p:to>
                                        <p:strVal val="visible"/>
                                      </p:to>
                                    </p:set>
                                    <p:animEffect transition="in" filter="fade">
                                      <p:cBhvr>
                                        <p:cTn id="169" dur="500"/>
                                        <p:tgtEl>
                                          <p:spTgt spid="32"/>
                                        </p:tgtEl>
                                      </p:cBhvr>
                                    </p:animEffect>
                                  </p:childTnLst>
                                </p:cTn>
                              </p:par>
                              <p:par>
                                <p:cTn id="173" presetID="10" presetClass="entr" presetSubtype="0" fill="hold" grpId="0" nodeType="withEffect">
                                  <p:stCondLst>
                                    <p:cond delay="2095"/>
                                  </p:stCondLst>
                                  <p:childTnLst>
                                    <p:set>
                                      <p:cBhvr>
                                        <p:cTn id="171" dur="1" fill="hold">
                                          <p:stCondLst>
                                            <p:cond delay="0"/>
                                          </p:stCondLst>
                                        </p:cTn>
                                        <p:tgtEl>
                                          <p:spTgt spid="33"/>
                                        </p:tgtEl>
                                        <p:attrNameLst>
                                          <p:attrName>style.visibility</p:attrName>
                                        </p:attrNameLst>
                                      </p:cBhvr>
                                      <p:to>
                                        <p:strVal val="visible"/>
                                      </p:to>
                                    </p:set>
                                    <p:animEffect transition="in" filter="fade">
                                      <p:cBhvr>
                                        <p:cTn id="172" dur="500"/>
                                        <p:tgtEl>
                                          <p:spTgt spid="33"/>
                                        </p:tgtEl>
                                      </p:cBhvr>
                                    </p:animEffect>
                                  </p:childTnLst>
                                </p:cTn>
                              </p:par>
                              <p:par>
                                <p:cTn id="176" presetID="10" presetClass="entr" presetSubtype="0" fill="hold" grpId="0" nodeType="withEffect">
                                  <p:stCondLst>
                                    <p:cond delay="2095"/>
                                  </p:stCondLst>
                                  <p:childTnLst>
                                    <p:set>
                                      <p:cBhvr>
                                        <p:cTn id="174" dur="1" fill="hold">
                                          <p:stCondLst>
                                            <p:cond delay="0"/>
                                          </p:stCondLst>
                                        </p:cTn>
                                        <p:tgtEl>
                                          <p:spTgt spid="34"/>
                                        </p:tgtEl>
                                        <p:attrNameLst>
                                          <p:attrName>style.visibility</p:attrName>
                                        </p:attrNameLst>
                                      </p:cBhvr>
                                      <p:to>
                                        <p:strVal val="visible"/>
                                      </p:to>
                                    </p:set>
                                    <p:animEffect transition="in" filter="fade">
                                      <p:cBhvr>
                                        <p:cTn id="175" dur="500"/>
                                        <p:tgtEl>
                                          <p:spTgt spid="34"/>
                                        </p:tgtEl>
                                      </p:cBhvr>
                                    </p:animEffect>
                                  </p:childTnLst>
                                </p:cTn>
                              </p:par>
                              <p:par>
                                <p:cTn id="179" presetID="10" presetClass="entr" presetSubtype="0" fill="hold" grpId="0" nodeType="withEffect">
                                  <p:stCondLst>
                                    <p:cond delay="2140"/>
                                  </p:stCondLst>
                                  <p:childTnLst>
                                    <p:set>
                                      <p:cBhvr>
                                        <p:cTn id="177" dur="1" fill="hold">
                                          <p:stCondLst>
                                            <p:cond delay="0"/>
                                          </p:stCondLst>
                                        </p:cTn>
                                        <p:tgtEl>
                                          <p:spTgt spid="35"/>
                                        </p:tgtEl>
                                        <p:attrNameLst>
                                          <p:attrName>style.visibility</p:attrName>
                                        </p:attrNameLst>
                                      </p:cBhvr>
                                      <p:to>
                                        <p:strVal val="visible"/>
                                      </p:to>
                                    </p:set>
                                    <p:animEffect transition="in" filter="fade">
                                      <p:cBhvr>
                                        <p:cTn id="178" dur="500"/>
                                        <p:tgtEl>
                                          <p:spTgt spid="35"/>
                                        </p:tgtEl>
                                      </p:cBhvr>
                                    </p:animEffect>
                                  </p:childTnLst>
                                </p:cTn>
                              </p:par>
                              <p:par>
                                <p:cTn id="182" presetID="10" presetClass="entr" presetSubtype="0" fill="hold" grpId="0" nodeType="withEffect">
                                  <p:stCondLst>
                                    <p:cond delay="2140"/>
                                  </p:stCondLst>
                                  <p:childTnLst>
                                    <p:set>
                                      <p:cBhvr>
                                        <p:cTn id="180" dur="1" fill="hold">
                                          <p:stCondLst>
                                            <p:cond delay="0"/>
                                          </p:stCondLst>
                                        </p:cTn>
                                        <p:tgtEl>
                                          <p:spTgt spid="36"/>
                                        </p:tgtEl>
                                        <p:attrNameLst>
                                          <p:attrName>style.visibility</p:attrName>
                                        </p:attrNameLst>
                                      </p:cBhvr>
                                      <p:to>
                                        <p:strVal val="visible"/>
                                      </p:to>
                                    </p:set>
                                    <p:animEffect transition="in" filter="fade">
                                      <p:cBhvr>
                                        <p:cTn id="181" dur="500"/>
                                        <p:tgtEl>
                                          <p:spTgt spid="36"/>
                                        </p:tgtEl>
                                      </p:cBhvr>
                                    </p:animEffect>
                                  </p:childTnLst>
                                </p:cTn>
                              </p:par>
                              <p:par>
                                <p:cTn id="185" presetID="10" presetClass="entr" presetSubtype="0" fill="hold" grpId="0" nodeType="withEffect">
                                  <p:stCondLst>
                                    <p:cond delay="2185"/>
                                  </p:stCondLst>
                                  <p:childTnLst>
                                    <p:set>
                                      <p:cBhvr>
                                        <p:cTn id="183" dur="1" fill="hold">
                                          <p:stCondLst>
                                            <p:cond delay="0"/>
                                          </p:stCondLst>
                                        </p:cTn>
                                        <p:tgtEl>
                                          <p:spTgt spid="37"/>
                                        </p:tgtEl>
                                        <p:attrNameLst>
                                          <p:attrName>style.visibility</p:attrName>
                                        </p:attrNameLst>
                                      </p:cBhvr>
                                      <p:to>
                                        <p:strVal val="visible"/>
                                      </p:to>
                                    </p:set>
                                    <p:animEffect transition="in" filter="fade">
                                      <p:cBhvr>
                                        <p:cTn id="184" dur="500"/>
                                        <p:tgtEl>
                                          <p:spTgt spid="37"/>
                                        </p:tgtEl>
                                      </p:cBhvr>
                                    </p:animEffect>
                                  </p:childTnLst>
                                </p:cTn>
                              </p:par>
                              <p:par>
                                <p:cTn id="188" presetID="10" presetClass="entr" presetSubtype="0" fill="hold" grpId="0" nodeType="withEffect">
                                  <p:stCondLst>
                                    <p:cond delay="2185"/>
                                  </p:stCondLst>
                                  <p:childTnLst>
                                    <p:set>
                                      <p:cBhvr>
                                        <p:cTn id="186" dur="1" fill="hold">
                                          <p:stCondLst>
                                            <p:cond delay="0"/>
                                          </p:stCondLst>
                                        </p:cTn>
                                        <p:tgtEl>
                                          <p:spTgt spid="38"/>
                                        </p:tgtEl>
                                        <p:attrNameLst>
                                          <p:attrName>style.visibility</p:attrName>
                                        </p:attrNameLst>
                                      </p:cBhvr>
                                      <p:to>
                                        <p:strVal val="visible"/>
                                      </p:to>
                                    </p:set>
                                    <p:animEffect transition="in" filter="fade">
                                      <p:cBhvr>
                                        <p:cTn id="187" dur="500"/>
                                        <p:tgtEl>
                                          <p:spTgt spid="38"/>
                                        </p:tgtEl>
                                      </p:cBhvr>
                                    </p:animEffect>
                                  </p:childTnLst>
                                </p:cTn>
                              </p:par>
                              <p:par>
                                <p:cTn id="191" presetID="10" presetClass="entr" presetSubtype="0" fill="hold" grpId="0" nodeType="withEffect">
                                  <p:stCondLst>
                                    <p:cond delay="2230"/>
                                  </p:stCondLst>
                                  <p:childTnLst>
                                    <p:set>
                                      <p:cBhvr>
                                        <p:cTn id="189" dur="1" fill="hold">
                                          <p:stCondLst>
                                            <p:cond delay="0"/>
                                          </p:stCondLst>
                                        </p:cTn>
                                        <p:tgtEl>
                                          <p:spTgt spid="39"/>
                                        </p:tgtEl>
                                        <p:attrNameLst>
                                          <p:attrName>style.visibility</p:attrName>
                                        </p:attrNameLst>
                                      </p:cBhvr>
                                      <p:to>
                                        <p:strVal val="visible"/>
                                      </p:to>
                                    </p:set>
                                    <p:animEffect transition="in" filter="fade">
                                      <p:cBhvr>
                                        <p:cTn id="190" dur="500"/>
                                        <p:tgtEl>
                                          <p:spTgt spid="39"/>
                                        </p:tgtEl>
                                      </p:cBhvr>
                                    </p:animEffect>
                                  </p:childTnLst>
                                </p:cTn>
                              </p:par>
                              <p:par>
                                <p:cTn id="194" presetID="10" presetClass="entr" presetSubtype="0" fill="hold" grpId="0" nodeType="withEffect">
                                  <p:stCondLst>
                                    <p:cond delay="2230"/>
                                  </p:stCondLst>
                                  <p:childTnLst>
                                    <p:set>
                                      <p:cBhvr>
                                        <p:cTn id="192" dur="1" fill="hold">
                                          <p:stCondLst>
                                            <p:cond delay="0"/>
                                          </p:stCondLst>
                                        </p:cTn>
                                        <p:tgtEl>
                                          <p:spTgt spid="40"/>
                                        </p:tgtEl>
                                        <p:attrNameLst>
                                          <p:attrName>style.visibility</p:attrName>
                                        </p:attrNameLst>
                                      </p:cBhvr>
                                      <p:to>
                                        <p:strVal val="visible"/>
                                      </p:to>
                                    </p:set>
                                    <p:animEffect transition="in" filter="fade">
                                      <p:cBhvr>
                                        <p:cTn id="193" dur="500"/>
                                        <p:tgtEl>
                                          <p:spTgt spid="40"/>
                                        </p:tgtEl>
                                      </p:cBhvr>
                                    </p:animEffect>
                                  </p:childTnLst>
                                </p:cTn>
                              </p:par>
                              <p:par>
                                <p:cTn id="197" presetID="10" presetClass="entr" presetSubtype="0" fill="hold" grpId="0" nodeType="withEffect">
                                  <p:stCondLst>
                                    <p:cond delay="2275"/>
                                  </p:stCondLst>
                                  <p:childTnLst>
                                    <p:set>
                                      <p:cBhvr>
                                        <p:cTn id="195" dur="1" fill="hold">
                                          <p:stCondLst>
                                            <p:cond delay="0"/>
                                          </p:stCondLst>
                                        </p:cTn>
                                        <p:tgtEl>
                                          <p:spTgt spid="41"/>
                                        </p:tgtEl>
                                        <p:attrNameLst>
                                          <p:attrName>style.visibility</p:attrName>
                                        </p:attrNameLst>
                                      </p:cBhvr>
                                      <p:to>
                                        <p:strVal val="visible"/>
                                      </p:to>
                                    </p:set>
                                    <p:animEffect transition="in" filter="fade">
                                      <p:cBhvr>
                                        <p:cTn id="196" dur="500"/>
                                        <p:tgtEl>
                                          <p:spTgt spid="41"/>
                                        </p:tgtEl>
                                      </p:cBhvr>
                                    </p:animEffect>
                                  </p:childTnLst>
                                </p:cTn>
                              </p:par>
                              <p:par>
                                <p:cTn id="200" presetID="10" presetClass="entr" presetSubtype="0" fill="hold" grpId="0" nodeType="withEffect">
                                  <p:stCondLst>
                                    <p:cond delay="2275"/>
                                  </p:stCondLst>
                                  <p:childTnLst>
                                    <p:set>
                                      <p:cBhvr>
                                        <p:cTn id="198" dur="1" fill="hold">
                                          <p:stCondLst>
                                            <p:cond delay="0"/>
                                          </p:stCondLst>
                                        </p:cTn>
                                        <p:tgtEl>
                                          <p:spTgt spid="42"/>
                                        </p:tgtEl>
                                        <p:attrNameLst>
                                          <p:attrName>style.visibility</p:attrName>
                                        </p:attrNameLst>
                                      </p:cBhvr>
                                      <p:to>
                                        <p:strVal val="visible"/>
                                      </p:to>
                                    </p:set>
                                    <p:animEffect transition="in" filter="fade">
                                      <p:cBhvr>
                                        <p:cTn id="199" dur="500"/>
                                        <p:tgtEl>
                                          <p:spTgt spid="42"/>
                                        </p:tgtEl>
                                      </p:cBhvr>
                                    </p:animEffect>
                                  </p:childTnLst>
                                </p:cTn>
                              </p:par>
                              <p:par>
                                <p:cTn id="203" presetID="10" presetClass="entr" presetSubtype="0" fill="hold" grpId="0" nodeType="withEffect">
                                  <p:stCondLst>
                                    <p:cond delay="2300"/>
                                  </p:stCondLst>
                                  <p:childTnLst>
                                    <p:set>
                                      <p:cBhvr>
                                        <p:cTn id="201" dur="1" fill="hold">
                                          <p:stCondLst>
                                            <p:cond delay="0"/>
                                          </p:stCondLst>
                                        </p:cTn>
                                        <p:tgtEl>
                                          <p:spTgt spid="70"/>
                                        </p:tgtEl>
                                        <p:attrNameLst>
                                          <p:attrName>style.visibility</p:attrName>
                                        </p:attrNameLst>
                                      </p:cBhvr>
                                      <p:to>
                                        <p:strVal val="visible"/>
                                      </p:to>
                                    </p:set>
                                    <p:animEffect transition="in" filter="fade">
                                      <p:cBhvr>
                                        <p:cTn id="202" dur="500"/>
                                        <p:tgtEl>
                                          <p:spTgt spid="70"/>
                                        </p:tgtEl>
                                      </p:cBhvr>
                                    </p:animEffect>
                                  </p:childTnLst>
                                </p:cTn>
                              </p:par>
                              <p:par>
                                <p:cTn id="206" presetID="10" presetClass="entr" presetSubtype="0" fill="hold" grpId="0" nodeType="withEffect">
                                  <p:stCondLst>
                                    <p:cond delay="2320"/>
                                  </p:stCondLst>
                                  <p:childTnLst>
                                    <p:set>
                                      <p:cBhvr>
                                        <p:cTn id="204" dur="1" fill="hold">
                                          <p:stCondLst>
                                            <p:cond delay="0"/>
                                          </p:stCondLst>
                                        </p:cTn>
                                        <p:tgtEl>
                                          <p:spTgt spid="43"/>
                                        </p:tgtEl>
                                        <p:attrNameLst>
                                          <p:attrName>style.visibility</p:attrName>
                                        </p:attrNameLst>
                                      </p:cBhvr>
                                      <p:to>
                                        <p:strVal val="visible"/>
                                      </p:to>
                                    </p:set>
                                    <p:animEffect transition="in" filter="fade">
                                      <p:cBhvr>
                                        <p:cTn id="205" dur="500"/>
                                        <p:tgtEl>
                                          <p:spTgt spid="43"/>
                                        </p:tgtEl>
                                      </p:cBhvr>
                                    </p:animEffect>
                                  </p:childTnLst>
                                </p:cTn>
                              </p:par>
                              <p:par>
                                <p:cTn id="209" presetID="10" presetClass="entr" presetSubtype="0" fill="hold" grpId="0" nodeType="withEffect">
                                  <p:stCondLst>
                                    <p:cond delay="2320"/>
                                  </p:stCondLst>
                                  <p:childTnLst>
                                    <p:set>
                                      <p:cBhvr>
                                        <p:cTn id="207" dur="1" fill="hold">
                                          <p:stCondLst>
                                            <p:cond delay="0"/>
                                          </p:stCondLst>
                                        </p:cTn>
                                        <p:tgtEl>
                                          <p:spTgt spid="44"/>
                                        </p:tgtEl>
                                        <p:attrNameLst>
                                          <p:attrName>style.visibility</p:attrName>
                                        </p:attrNameLst>
                                      </p:cBhvr>
                                      <p:to>
                                        <p:strVal val="visible"/>
                                      </p:to>
                                    </p:set>
                                    <p:animEffect transition="in" filter="fade">
                                      <p:cBhvr>
                                        <p:cTn id="208" dur="500"/>
                                        <p:tgtEl>
                                          <p:spTgt spid="44"/>
                                        </p:tgtEl>
                                      </p:cBhvr>
                                    </p:animEffect>
                                  </p:childTnLst>
                                </p:cTn>
                              </p:par>
                              <p:par>
                                <p:cTn id="212" presetID="10" presetClass="entr" presetSubtype="0" fill="hold" grpId="0" nodeType="withEffect">
                                  <p:stCondLst>
                                    <p:cond delay="2365"/>
                                  </p:stCondLst>
                                  <p:childTnLst>
                                    <p:set>
                                      <p:cBhvr>
                                        <p:cTn id="210" dur="1" fill="hold">
                                          <p:stCondLst>
                                            <p:cond delay="0"/>
                                          </p:stCondLst>
                                        </p:cTn>
                                        <p:tgtEl>
                                          <p:spTgt spid="45"/>
                                        </p:tgtEl>
                                        <p:attrNameLst>
                                          <p:attrName>style.visibility</p:attrName>
                                        </p:attrNameLst>
                                      </p:cBhvr>
                                      <p:to>
                                        <p:strVal val="visible"/>
                                      </p:to>
                                    </p:set>
                                    <p:animEffect transition="in" filter="fade">
                                      <p:cBhvr>
                                        <p:cTn id="211" dur="500"/>
                                        <p:tgtEl>
                                          <p:spTgt spid="45"/>
                                        </p:tgtEl>
                                      </p:cBhvr>
                                    </p:animEffect>
                                  </p:childTnLst>
                                </p:cTn>
                              </p:par>
                              <p:par>
                                <p:cTn id="215" presetID="10" presetClass="entr" presetSubtype="0" fill="hold" grpId="0" nodeType="withEffect">
                                  <p:stCondLst>
                                    <p:cond delay="2365"/>
                                  </p:stCondLst>
                                  <p:childTnLst>
                                    <p:set>
                                      <p:cBhvr>
                                        <p:cTn id="213" dur="1" fill="hold">
                                          <p:stCondLst>
                                            <p:cond delay="0"/>
                                          </p:stCondLst>
                                        </p:cTn>
                                        <p:tgtEl>
                                          <p:spTgt spid="46"/>
                                        </p:tgtEl>
                                        <p:attrNameLst>
                                          <p:attrName>style.visibility</p:attrName>
                                        </p:attrNameLst>
                                      </p:cBhvr>
                                      <p:to>
                                        <p:strVal val="visible"/>
                                      </p:to>
                                    </p:set>
                                    <p:animEffect transition="in" filter="fade">
                                      <p:cBhvr>
                                        <p:cTn id="214" dur="500"/>
                                        <p:tgtEl>
                                          <p:spTgt spid="46"/>
                                        </p:tgtEl>
                                      </p:cBhvr>
                                    </p:animEffect>
                                  </p:childTnLst>
                                </p:cTn>
                              </p:par>
                              <p:par>
                                <p:cTn id="218" presetID="10" presetClass="entr" presetSubtype="0" fill="hold" grpId="0" nodeType="withEffect">
                                  <p:stCondLst>
                                    <p:cond delay="2410"/>
                                  </p:stCondLst>
                                  <p:childTnLst>
                                    <p:set>
                                      <p:cBhvr>
                                        <p:cTn id="216" dur="1" fill="hold">
                                          <p:stCondLst>
                                            <p:cond delay="0"/>
                                          </p:stCondLst>
                                        </p:cTn>
                                        <p:tgtEl>
                                          <p:spTgt spid="47"/>
                                        </p:tgtEl>
                                        <p:attrNameLst>
                                          <p:attrName>style.visibility</p:attrName>
                                        </p:attrNameLst>
                                      </p:cBhvr>
                                      <p:to>
                                        <p:strVal val="visible"/>
                                      </p:to>
                                    </p:set>
                                    <p:animEffect transition="in" filter="fade">
                                      <p:cBhvr>
                                        <p:cTn id="21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Consumers: How Data Gets Out</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Client applications that read from topics - and, ideally, do something with it</a:t>
            </a:r>
          </a:p>
        </p:txBody>
      </p:sp>
      <p:sp>
        <p:nvSpPr>
          <p:cNvPr id="11" name="a0f_cl10"/>
          <p:cNvSpPr/>
          <p:nvPr/>
        </p:nvSpPr>
        <p:spPr>
          <a:xfrm>
            <a:off x="457200" y="1280160"/>
            <a:ext cx="3749039" cy="2331720"/>
          </a:xfrm>
          <a:prstGeom prst="roundRect">
            <a:avLst>
              <a:gd name="adj" fmla="val 3921"/>
            </a:avLst>
          </a:prstGeom>
          <a:solidFill>
            <a:srgbClr val="F7F6F3"/>
          </a:solidFill>
          <a:ln w="15875">
            <a:solidFill>
              <a:srgbClr val="0E749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0f_clh11"/>
          <p:cNvSpPr txBox="1"/>
          <p:nvPr/>
        </p:nvSpPr>
        <p:spPr>
          <a:xfrm>
            <a:off x="621792" y="1371600"/>
            <a:ext cx="3474720" cy="237744"/>
          </a:xfrm>
          <a:prstGeom prst="rect">
            <a:avLst/>
          </a:prstGeom>
          <a:noFill/>
        </p:spPr>
        <p:txBody>
          <a:bodyPr wrap="square" lIns="0" tIns="0" rIns="0" bIns="0" anchor="ctr">
            <a:spAutoFit/>
          </a:bodyPr>
          <a:lstStyle/>
          <a:p>
            <a:pPr algn="l"/>
            <a:r>
              <a:rPr sz="850" b="1" spc="160">
                <a:solidFill>
                  <a:srgbClr val="0E7490"/>
                </a:solidFill>
                <a:latin typeface="Segoe UI"/>
              </a:rPr>
              <a:t>KAFKA CLUSTER</a:t>
            </a:r>
          </a:p>
        </p:txBody>
      </p:sp>
      <p:sp>
        <p:nvSpPr>
          <p:cNvPr id="13" name="a0f_lb12"/>
          <p:cNvSpPr txBox="1"/>
          <p:nvPr/>
        </p:nvSpPr>
        <p:spPr>
          <a:xfrm>
            <a:off x="621792" y="1572768"/>
            <a:ext cx="3200400" cy="201168"/>
          </a:xfrm>
          <a:prstGeom prst="rect">
            <a:avLst/>
          </a:prstGeom>
          <a:noFill/>
        </p:spPr>
        <p:txBody>
          <a:bodyPr wrap="square" lIns="0" tIns="0" rIns="0" bIns="0" anchor="ctr">
            <a:spAutoFit/>
          </a:bodyPr>
          <a:lstStyle/>
          <a:p>
            <a:pPr algn="l"/>
            <a:r>
              <a:rPr sz="900" b="1">
                <a:solidFill>
                  <a:srgbClr val="1C1917"/>
                </a:solidFill>
                <a:latin typeface="Consolas"/>
              </a:rPr>
              <a:t>thermostat_readings</a:t>
            </a:r>
          </a:p>
        </p:txBody>
      </p:sp>
      <p:sp>
        <p:nvSpPr>
          <p:cNvPr id="14" name="a0f_pn13"/>
          <p:cNvSpPr txBox="1"/>
          <p:nvPr/>
        </p:nvSpPr>
        <p:spPr>
          <a:xfrm>
            <a:off x="621792" y="1901952"/>
            <a:ext cx="411480" cy="402336"/>
          </a:xfrm>
          <a:prstGeom prst="rect">
            <a:avLst/>
          </a:prstGeom>
          <a:noFill/>
        </p:spPr>
        <p:txBody>
          <a:bodyPr wrap="square" lIns="0" tIns="0" rIns="0" bIns="0" anchor="ctr">
            <a:spAutoFit/>
          </a:bodyPr>
          <a:lstStyle/>
          <a:p>
            <a:pPr algn="l"/>
            <a:r>
              <a:rPr sz="1000" b="1">
                <a:solidFill>
                  <a:srgbClr val="0E7490"/>
                </a:solidFill>
                <a:latin typeface="Consolas"/>
              </a:rPr>
              <a:t>P0</a:t>
            </a:r>
          </a:p>
        </p:txBody>
      </p:sp>
      <p:sp>
        <p:nvSpPr>
          <p:cNvPr id="15" name="a0f_cell14"/>
          <p:cNvSpPr/>
          <p:nvPr/>
        </p:nvSpPr>
        <p:spPr>
          <a:xfrm>
            <a:off x="1051560" y="1901952"/>
            <a:ext cx="420624" cy="402336"/>
          </a:xfrm>
          <a:prstGeom prst="rect">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0f_cellt15"/>
          <p:cNvSpPr txBox="1"/>
          <p:nvPr/>
        </p:nvSpPr>
        <p:spPr>
          <a:xfrm>
            <a:off x="1051560" y="1901952"/>
            <a:ext cx="420624" cy="402336"/>
          </a:xfrm>
          <a:prstGeom prst="rect">
            <a:avLst/>
          </a:prstGeom>
          <a:noFill/>
        </p:spPr>
        <p:txBody>
          <a:bodyPr wrap="square" lIns="0" tIns="0" rIns="0" bIns="0" anchor="ctr">
            <a:spAutoFit/>
          </a:bodyPr>
          <a:lstStyle/>
          <a:p>
            <a:pPr algn="ctr"/>
            <a:r>
              <a:rPr sz="900" b="1">
                <a:solidFill>
                  <a:srgbClr val="0E7490"/>
                </a:solidFill>
                <a:latin typeface="Consolas"/>
              </a:rPr>
              <a:t>0</a:t>
            </a:r>
          </a:p>
        </p:txBody>
      </p:sp>
      <p:sp>
        <p:nvSpPr>
          <p:cNvPr id="17" name="a0f_cell16"/>
          <p:cNvSpPr/>
          <p:nvPr/>
        </p:nvSpPr>
        <p:spPr>
          <a:xfrm>
            <a:off x="1472184" y="1901952"/>
            <a:ext cx="420624" cy="402336"/>
          </a:xfrm>
          <a:prstGeom prst="rect">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0f_cellt17"/>
          <p:cNvSpPr txBox="1"/>
          <p:nvPr/>
        </p:nvSpPr>
        <p:spPr>
          <a:xfrm>
            <a:off x="1472184" y="1901952"/>
            <a:ext cx="420624" cy="402336"/>
          </a:xfrm>
          <a:prstGeom prst="rect">
            <a:avLst/>
          </a:prstGeom>
          <a:noFill/>
        </p:spPr>
        <p:txBody>
          <a:bodyPr wrap="square" lIns="0" tIns="0" rIns="0" bIns="0" anchor="ctr">
            <a:spAutoFit/>
          </a:bodyPr>
          <a:lstStyle/>
          <a:p>
            <a:pPr algn="ctr"/>
            <a:r>
              <a:rPr sz="900" b="1">
                <a:solidFill>
                  <a:srgbClr val="0E7490"/>
                </a:solidFill>
                <a:latin typeface="Consolas"/>
              </a:rPr>
              <a:t>1</a:t>
            </a:r>
          </a:p>
        </p:txBody>
      </p:sp>
      <p:sp>
        <p:nvSpPr>
          <p:cNvPr id="19" name="a0f_cell18"/>
          <p:cNvSpPr/>
          <p:nvPr/>
        </p:nvSpPr>
        <p:spPr>
          <a:xfrm>
            <a:off x="1892807" y="1901952"/>
            <a:ext cx="420624" cy="402336"/>
          </a:xfrm>
          <a:prstGeom prst="rect">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0f_cellt19"/>
          <p:cNvSpPr txBox="1"/>
          <p:nvPr/>
        </p:nvSpPr>
        <p:spPr>
          <a:xfrm>
            <a:off x="1892807" y="1901952"/>
            <a:ext cx="420624" cy="402336"/>
          </a:xfrm>
          <a:prstGeom prst="rect">
            <a:avLst/>
          </a:prstGeom>
          <a:noFill/>
        </p:spPr>
        <p:txBody>
          <a:bodyPr wrap="square" lIns="0" tIns="0" rIns="0" bIns="0" anchor="ctr">
            <a:spAutoFit/>
          </a:bodyPr>
          <a:lstStyle/>
          <a:p>
            <a:pPr algn="ctr"/>
            <a:r>
              <a:rPr sz="900" b="1">
                <a:solidFill>
                  <a:srgbClr val="0E7490"/>
                </a:solidFill>
                <a:latin typeface="Consolas"/>
              </a:rPr>
              <a:t>2</a:t>
            </a:r>
          </a:p>
        </p:txBody>
      </p:sp>
      <p:sp>
        <p:nvSpPr>
          <p:cNvPr id="21" name="a0f_cell20"/>
          <p:cNvSpPr/>
          <p:nvPr/>
        </p:nvSpPr>
        <p:spPr>
          <a:xfrm>
            <a:off x="2313432" y="1901952"/>
            <a:ext cx="420624" cy="402336"/>
          </a:xfrm>
          <a:prstGeom prst="rect">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0f_cellt21"/>
          <p:cNvSpPr txBox="1"/>
          <p:nvPr/>
        </p:nvSpPr>
        <p:spPr>
          <a:xfrm>
            <a:off x="2313432" y="1901952"/>
            <a:ext cx="420624" cy="402336"/>
          </a:xfrm>
          <a:prstGeom prst="rect">
            <a:avLst/>
          </a:prstGeom>
          <a:noFill/>
        </p:spPr>
        <p:txBody>
          <a:bodyPr wrap="square" lIns="0" tIns="0" rIns="0" bIns="0" anchor="ctr">
            <a:spAutoFit/>
          </a:bodyPr>
          <a:lstStyle/>
          <a:p>
            <a:pPr algn="ctr"/>
            <a:r>
              <a:rPr sz="900" b="1">
                <a:solidFill>
                  <a:srgbClr val="0E7490"/>
                </a:solidFill>
                <a:latin typeface="Consolas"/>
              </a:rPr>
              <a:t>3</a:t>
            </a:r>
          </a:p>
        </p:txBody>
      </p:sp>
      <p:sp>
        <p:nvSpPr>
          <p:cNvPr id="23" name="a0f_cell22"/>
          <p:cNvSpPr/>
          <p:nvPr/>
        </p:nvSpPr>
        <p:spPr>
          <a:xfrm>
            <a:off x="2734056" y="1901952"/>
            <a:ext cx="420624" cy="402336"/>
          </a:xfrm>
          <a:prstGeom prst="rect">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0f_cellt23"/>
          <p:cNvSpPr txBox="1"/>
          <p:nvPr/>
        </p:nvSpPr>
        <p:spPr>
          <a:xfrm>
            <a:off x="2734056" y="1901952"/>
            <a:ext cx="420624" cy="402336"/>
          </a:xfrm>
          <a:prstGeom prst="rect">
            <a:avLst/>
          </a:prstGeom>
          <a:noFill/>
        </p:spPr>
        <p:txBody>
          <a:bodyPr wrap="square" lIns="0" tIns="0" rIns="0" bIns="0" anchor="ctr">
            <a:spAutoFit/>
          </a:bodyPr>
          <a:lstStyle/>
          <a:p>
            <a:pPr algn="ctr"/>
            <a:r>
              <a:rPr sz="900" b="1">
                <a:solidFill>
                  <a:srgbClr val="0E7490"/>
                </a:solidFill>
                <a:latin typeface="Consolas"/>
              </a:rPr>
              <a:t>4</a:t>
            </a:r>
          </a:p>
        </p:txBody>
      </p:sp>
      <p:sp>
        <p:nvSpPr>
          <p:cNvPr id="25" name="a0f_cell24"/>
          <p:cNvSpPr/>
          <p:nvPr/>
        </p:nvSpPr>
        <p:spPr>
          <a:xfrm>
            <a:off x="3154680" y="1901952"/>
            <a:ext cx="420624" cy="402336"/>
          </a:xfrm>
          <a:prstGeom prst="rect">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0f_cellt25"/>
          <p:cNvSpPr txBox="1"/>
          <p:nvPr/>
        </p:nvSpPr>
        <p:spPr>
          <a:xfrm>
            <a:off x="3154680" y="1901952"/>
            <a:ext cx="420624" cy="402336"/>
          </a:xfrm>
          <a:prstGeom prst="rect">
            <a:avLst/>
          </a:prstGeom>
          <a:noFill/>
        </p:spPr>
        <p:txBody>
          <a:bodyPr wrap="square" lIns="0" tIns="0" rIns="0" bIns="0" anchor="ctr">
            <a:spAutoFit/>
          </a:bodyPr>
          <a:lstStyle/>
          <a:p>
            <a:pPr algn="ctr"/>
            <a:r>
              <a:rPr sz="900" b="1">
                <a:solidFill>
                  <a:srgbClr val="0E7490"/>
                </a:solidFill>
                <a:latin typeface="Consolas"/>
              </a:rPr>
              <a:t>5</a:t>
            </a:r>
          </a:p>
        </p:txBody>
      </p:sp>
      <p:sp>
        <p:nvSpPr>
          <p:cNvPr id="27" name="a0f_pn26"/>
          <p:cNvSpPr txBox="1"/>
          <p:nvPr/>
        </p:nvSpPr>
        <p:spPr>
          <a:xfrm>
            <a:off x="621792" y="2414016"/>
            <a:ext cx="411480" cy="402336"/>
          </a:xfrm>
          <a:prstGeom prst="rect">
            <a:avLst/>
          </a:prstGeom>
          <a:noFill/>
        </p:spPr>
        <p:txBody>
          <a:bodyPr wrap="square" lIns="0" tIns="0" rIns="0" bIns="0" anchor="ctr">
            <a:spAutoFit/>
          </a:bodyPr>
          <a:lstStyle/>
          <a:p>
            <a:pPr algn="l"/>
            <a:r>
              <a:rPr sz="1000" b="1">
                <a:solidFill>
                  <a:srgbClr val="4F46E5"/>
                </a:solidFill>
                <a:latin typeface="Consolas"/>
              </a:rPr>
              <a:t>P1</a:t>
            </a:r>
          </a:p>
        </p:txBody>
      </p:sp>
      <p:sp>
        <p:nvSpPr>
          <p:cNvPr id="28" name="a0f_cell27"/>
          <p:cNvSpPr/>
          <p:nvPr/>
        </p:nvSpPr>
        <p:spPr>
          <a:xfrm>
            <a:off x="1051560" y="2414016"/>
            <a:ext cx="420624" cy="402336"/>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0f_cellt28"/>
          <p:cNvSpPr txBox="1"/>
          <p:nvPr/>
        </p:nvSpPr>
        <p:spPr>
          <a:xfrm>
            <a:off x="1051560" y="2414016"/>
            <a:ext cx="420624" cy="402336"/>
          </a:xfrm>
          <a:prstGeom prst="rect">
            <a:avLst/>
          </a:prstGeom>
          <a:noFill/>
        </p:spPr>
        <p:txBody>
          <a:bodyPr wrap="square" lIns="0" tIns="0" rIns="0" bIns="0" anchor="ctr">
            <a:spAutoFit/>
          </a:bodyPr>
          <a:lstStyle/>
          <a:p>
            <a:pPr algn="ctr"/>
            <a:r>
              <a:rPr sz="900" b="1">
                <a:solidFill>
                  <a:srgbClr val="4F46E5"/>
                </a:solidFill>
                <a:latin typeface="Consolas"/>
              </a:rPr>
              <a:t>0</a:t>
            </a:r>
          </a:p>
        </p:txBody>
      </p:sp>
      <p:sp>
        <p:nvSpPr>
          <p:cNvPr id="30" name="a0f_cell29"/>
          <p:cNvSpPr/>
          <p:nvPr/>
        </p:nvSpPr>
        <p:spPr>
          <a:xfrm>
            <a:off x="1472184" y="2414016"/>
            <a:ext cx="420624" cy="402336"/>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0f_cellt30"/>
          <p:cNvSpPr txBox="1"/>
          <p:nvPr/>
        </p:nvSpPr>
        <p:spPr>
          <a:xfrm>
            <a:off x="1472184" y="2414016"/>
            <a:ext cx="420624" cy="402336"/>
          </a:xfrm>
          <a:prstGeom prst="rect">
            <a:avLst/>
          </a:prstGeom>
          <a:noFill/>
        </p:spPr>
        <p:txBody>
          <a:bodyPr wrap="square" lIns="0" tIns="0" rIns="0" bIns="0" anchor="ctr">
            <a:spAutoFit/>
          </a:bodyPr>
          <a:lstStyle/>
          <a:p>
            <a:pPr algn="ctr"/>
            <a:r>
              <a:rPr sz="900" b="1">
                <a:solidFill>
                  <a:srgbClr val="4F46E5"/>
                </a:solidFill>
                <a:latin typeface="Consolas"/>
              </a:rPr>
              <a:t>1</a:t>
            </a:r>
          </a:p>
        </p:txBody>
      </p:sp>
      <p:sp>
        <p:nvSpPr>
          <p:cNvPr id="32" name="a0f_cell31"/>
          <p:cNvSpPr/>
          <p:nvPr/>
        </p:nvSpPr>
        <p:spPr>
          <a:xfrm>
            <a:off x="1892807" y="2414016"/>
            <a:ext cx="420624" cy="402336"/>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0f_cellt32"/>
          <p:cNvSpPr txBox="1"/>
          <p:nvPr/>
        </p:nvSpPr>
        <p:spPr>
          <a:xfrm>
            <a:off x="1892807" y="2414016"/>
            <a:ext cx="420624" cy="402336"/>
          </a:xfrm>
          <a:prstGeom prst="rect">
            <a:avLst/>
          </a:prstGeom>
          <a:noFill/>
        </p:spPr>
        <p:txBody>
          <a:bodyPr wrap="square" lIns="0" tIns="0" rIns="0" bIns="0" anchor="ctr">
            <a:spAutoFit/>
          </a:bodyPr>
          <a:lstStyle/>
          <a:p>
            <a:pPr algn="ctr"/>
            <a:r>
              <a:rPr sz="900" b="1">
                <a:solidFill>
                  <a:srgbClr val="4F46E5"/>
                </a:solidFill>
                <a:latin typeface="Consolas"/>
              </a:rPr>
              <a:t>2</a:t>
            </a:r>
          </a:p>
        </p:txBody>
      </p:sp>
      <p:sp>
        <p:nvSpPr>
          <p:cNvPr id="34" name="a0f_cell33"/>
          <p:cNvSpPr/>
          <p:nvPr/>
        </p:nvSpPr>
        <p:spPr>
          <a:xfrm>
            <a:off x="2313432" y="2414016"/>
            <a:ext cx="420624" cy="402336"/>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0f_cellt34"/>
          <p:cNvSpPr txBox="1"/>
          <p:nvPr/>
        </p:nvSpPr>
        <p:spPr>
          <a:xfrm>
            <a:off x="2313432" y="2414016"/>
            <a:ext cx="420624" cy="402336"/>
          </a:xfrm>
          <a:prstGeom prst="rect">
            <a:avLst/>
          </a:prstGeom>
          <a:noFill/>
        </p:spPr>
        <p:txBody>
          <a:bodyPr wrap="square" lIns="0" tIns="0" rIns="0" bIns="0" anchor="ctr">
            <a:spAutoFit/>
          </a:bodyPr>
          <a:lstStyle/>
          <a:p>
            <a:pPr algn="ctr"/>
            <a:r>
              <a:rPr sz="900" b="1">
                <a:solidFill>
                  <a:srgbClr val="4F46E5"/>
                </a:solidFill>
                <a:latin typeface="Consolas"/>
              </a:rPr>
              <a:t>3</a:t>
            </a:r>
          </a:p>
        </p:txBody>
      </p:sp>
      <p:sp>
        <p:nvSpPr>
          <p:cNvPr id="36" name="a0f_cell35"/>
          <p:cNvSpPr/>
          <p:nvPr/>
        </p:nvSpPr>
        <p:spPr>
          <a:xfrm>
            <a:off x="2734056" y="2414016"/>
            <a:ext cx="420624" cy="402336"/>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0f_cellt36"/>
          <p:cNvSpPr txBox="1"/>
          <p:nvPr/>
        </p:nvSpPr>
        <p:spPr>
          <a:xfrm>
            <a:off x="2734056" y="2414016"/>
            <a:ext cx="420624" cy="402336"/>
          </a:xfrm>
          <a:prstGeom prst="rect">
            <a:avLst/>
          </a:prstGeom>
          <a:noFill/>
        </p:spPr>
        <p:txBody>
          <a:bodyPr wrap="square" lIns="0" tIns="0" rIns="0" bIns="0" anchor="ctr">
            <a:spAutoFit/>
          </a:bodyPr>
          <a:lstStyle/>
          <a:p>
            <a:pPr algn="ctr"/>
            <a:r>
              <a:rPr sz="900" b="1">
                <a:solidFill>
                  <a:srgbClr val="4F46E5"/>
                </a:solidFill>
                <a:latin typeface="Consolas"/>
              </a:rPr>
              <a:t>4</a:t>
            </a:r>
          </a:p>
        </p:txBody>
      </p:sp>
      <p:sp>
        <p:nvSpPr>
          <p:cNvPr id="38" name="a0f_cell37"/>
          <p:cNvSpPr/>
          <p:nvPr/>
        </p:nvSpPr>
        <p:spPr>
          <a:xfrm>
            <a:off x="3154680" y="2414016"/>
            <a:ext cx="420624" cy="402336"/>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0f_cellt38"/>
          <p:cNvSpPr txBox="1"/>
          <p:nvPr/>
        </p:nvSpPr>
        <p:spPr>
          <a:xfrm>
            <a:off x="3154680" y="2414016"/>
            <a:ext cx="420624" cy="402336"/>
          </a:xfrm>
          <a:prstGeom prst="rect">
            <a:avLst/>
          </a:prstGeom>
          <a:noFill/>
        </p:spPr>
        <p:txBody>
          <a:bodyPr wrap="square" lIns="0" tIns="0" rIns="0" bIns="0" anchor="ctr">
            <a:spAutoFit/>
          </a:bodyPr>
          <a:lstStyle/>
          <a:p>
            <a:pPr algn="ctr"/>
            <a:r>
              <a:rPr sz="900" b="1">
                <a:solidFill>
                  <a:srgbClr val="4F46E5"/>
                </a:solidFill>
                <a:latin typeface="Consolas"/>
              </a:rPr>
              <a:t>5</a:t>
            </a:r>
          </a:p>
        </p:txBody>
      </p:sp>
      <p:sp>
        <p:nvSpPr>
          <p:cNvPr id="40" name="a0f_pn39"/>
          <p:cNvSpPr txBox="1"/>
          <p:nvPr/>
        </p:nvSpPr>
        <p:spPr>
          <a:xfrm>
            <a:off x="621792" y="2926080"/>
            <a:ext cx="411480" cy="402336"/>
          </a:xfrm>
          <a:prstGeom prst="rect">
            <a:avLst/>
          </a:prstGeom>
          <a:noFill/>
        </p:spPr>
        <p:txBody>
          <a:bodyPr wrap="square" lIns="0" tIns="0" rIns="0" bIns="0" anchor="ctr">
            <a:spAutoFit/>
          </a:bodyPr>
          <a:lstStyle/>
          <a:p>
            <a:pPr algn="l"/>
            <a:r>
              <a:rPr sz="1000" b="1">
                <a:solidFill>
                  <a:srgbClr val="EA580C"/>
                </a:solidFill>
                <a:latin typeface="Consolas"/>
              </a:rPr>
              <a:t>P2</a:t>
            </a:r>
          </a:p>
        </p:txBody>
      </p:sp>
      <p:sp>
        <p:nvSpPr>
          <p:cNvPr id="41" name="a0f_cell40"/>
          <p:cNvSpPr/>
          <p:nvPr/>
        </p:nvSpPr>
        <p:spPr>
          <a:xfrm>
            <a:off x="1051560" y="2926080"/>
            <a:ext cx="420624" cy="402336"/>
          </a:xfrm>
          <a:prstGeom prst="rect">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0f_cellt41"/>
          <p:cNvSpPr txBox="1"/>
          <p:nvPr/>
        </p:nvSpPr>
        <p:spPr>
          <a:xfrm>
            <a:off x="1051560" y="2926080"/>
            <a:ext cx="420624" cy="402336"/>
          </a:xfrm>
          <a:prstGeom prst="rect">
            <a:avLst/>
          </a:prstGeom>
          <a:noFill/>
        </p:spPr>
        <p:txBody>
          <a:bodyPr wrap="square" lIns="0" tIns="0" rIns="0" bIns="0" anchor="ctr">
            <a:spAutoFit/>
          </a:bodyPr>
          <a:lstStyle/>
          <a:p>
            <a:pPr algn="ctr"/>
            <a:r>
              <a:rPr sz="900" b="1">
                <a:solidFill>
                  <a:srgbClr val="C2410C"/>
                </a:solidFill>
                <a:latin typeface="Consolas"/>
              </a:rPr>
              <a:t>0</a:t>
            </a:r>
          </a:p>
        </p:txBody>
      </p:sp>
      <p:sp>
        <p:nvSpPr>
          <p:cNvPr id="43" name="a0f_cell42"/>
          <p:cNvSpPr/>
          <p:nvPr/>
        </p:nvSpPr>
        <p:spPr>
          <a:xfrm>
            <a:off x="1472184" y="2926080"/>
            <a:ext cx="420624" cy="402336"/>
          </a:xfrm>
          <a:prstGeom prst="rect">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0f_cellt43"/>
          <p:cNvSpPr txBox="1"/>
          <p:nvPr/>
        </p:nvSpPr>
        <p:spPr>
          <a:xfrm>
            <a:off x="1472184" y="2926080"/>
            <a:ext cx="420624" cy="402336"/>
          </a:xfrm>
          <a:prstGeom prst="rect">
            <a:avLst/>
          </a:prstGeom>
          <a:noFill/>
        </p:spPr>
        <p:txBody>
          <a:bodyPr wrap="square" lIns="0" tIns="0" rIns="0" bIns="0" anchor="ctr">
            <a:spAutoFit/>
          </a:bodyPr>
          <a:lstStyle/>
          <a:p>
            <a:pPr algn="ctr"/>
            <a:r>
              <a:rPr sz="900" b="1">
                <a:solidFill>
                  <a:srgbClr val="C2410C"/>
                </a:solidFill>
                <a:latin typeface="Consolas"/>
              </a:rPr>
              <a:t>1</a:t>
            </a:r>
          </a:p>
        </p:txBody>
      </p:sp>
      <p:sp>
        <p:nvSpPr>
          <p:cNvPr id="45" name="a0f_cell44"/>
          <p:cNvSpPr/>
          <p:nvPr/>
        </p:nvSpPr>
        <p:spPr>
          <a:xfrm>
            <a:off x="1892807" y="2926080"/>
            <a:ext cx="420624" cy="402336"/>
          </a:xfrm>
          <a:prstGeom prst="rect">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0f_cellt45"/>
          <p:cNvSpPr txBox="1"/>
          <p:nvPr/>
        </p:nvSpPr>
        <p:spPr>
          <a:xfrm>
            <a:off x="1892807" y="2926080"/>
            <a:ext cx="420624" cy="402336"/>
          </a:xfrm>
          <a:prstGeom prst="rect">
            <a:avLst/>
          </a:prstGeom>
          <a:noFill/>
        </p:spPr>
        <p:txBody>
          <a:bodyPr wrap="square" lIns="0" tIns="0" rIns="0" bIns="0" anchor="ctr">
            <a:spAutoFit/>
          </a:bodyPr>
          <a:lstStyle/>
          <a:p>
            <a:pPr algn="ctr"/>
            <a:r>
              <a:rPr sz="900" b="1">
                <a:solidFill>
                  <a:srgbClr val="C2410C"/>
                </a:solidFill>
                <a:latin typeface="Consolas"/>
              </a:rPr>
              <a:t>2</a:t>
            </a:r>
          </a:p>
        </p:txBody>
      </p:sp>
      <p:sp>
        <p:nvSpPr>
          <p:cNvPr id="47" name="a0f_cell46"/>
          <p:cNvSpPr/>
          <p:nvPr/>
        </p:nvSpPr>
        <p:spPr>
          <a:xfrm>
            <a:off x="2313432" y="2926080"/>
            <a:ext cx="420624" cy="402336"/>
          </a:xfrm>
          <a:prstGeom prst="rect">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a0f_cellt47"/>
          <p:cNvSpPr txBox="1"/>
          <p:nvPr/>
        </p:nvSpPr>
        <p:spPr>
          <a:xfrm>
            <a:off x="2313432" y="2926080"/>
            <a:ext cx="420624" cy="402336"/>
          </a:xfrm>
          <a:prstGeom prst="rect">
            <a:avLst/>
          </a:prstGeom>
          <a:noFill/>
        </p:spPr>
        <p:txBody>
          <a:bodyPr wrap="square" lIns="0" tIns="0" rIns="0" bIns="0" anchor="ctr">
            <a:spAutoFit/>
          </a:bodyPr>
          <a:lstStyle/>
          <a:p>
            <a:pPr algn="ctr"/>
            <a:r>
              <a:rPr sz="900" b="1">
                <a:solidFill>
                  <a:srgbClr val="C2410C"/>
                </a:solidFill>
                <a:latin typeface="Consolas"/>
              </a:rPr>
              <a:t>3</a:t>
            </a:r>
          </a:p>
        </p:txBody>
      </p:sp>
      <p:sp>
        <p:nvSpPr>
          <p:cNvPr id="49" name="a0f_cell48"/>
          <p:cNvSpPr/>
          <p:nvPr/>
        </p:nvSpPr>
        <p:spPr>
          <a:xfrm>
            <a:off x="2734056" y="2926080"/>
            <a:ext cx="420624" cy="402336"/>
          </a:xfrm>
          <a:prstGeom prst="rect">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a0f_cellt49"/>
          <p:cNvSpPr txBox="1"/>
          <p:nvPr/>
        </p:nvSpPr>
        <p:spPr>
          <a:xfrm>
            <a:off x="2734056" y="2926080"/>
            <a:ext cx="420624" cy="402336"/>
          </a:xfrm>
          <a:prstGeom prst="rect">
            <a:avLst/>
          </a:prstGeom>
          <a:noFill/>
        </p:spPr>
        <p:txBody>
          <a:bodyPr wrap="square" lIns="0" tIns="0" rIns="0" bIns="0" anchor="ctr">
            <a:spAutoFit/>
          </a:bodyPr>
          <a:lstStyle/>
          <a:p>
            <a:pPr algn="ctr"/>
            <a:r>
              <a:rPr sz="900" b="1">
                <a:solidFill>
                  <a:srgbClr val="C2410C"/>
                </a:solidFill>
                <a:latin typeface="Consolas"/>
              </a:rPr>
              <a:t>4</a:t>
            </a:r>
          </a:p>
        </p:txBody>
      </p:sp>
      <p:sp>
        <p:nvSpPr>
          <p:cNvPr id="51" name="a0f_cell50"/>
          <p:cNvSpPr/>
          <p:nvPr/>
        </p:nvSpPr>
        <p:spPr>
          <a:xfrm>
            <a:off x="3154680" y="2926080"/>
            <a:ext cx="420624" cy="402336"/>
          </a:xfrm>
          <a:prstGeom prst="rect">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a0f_cellt51"/>
          <p:cNvSpPr txBox="1"/>
          <p:nvPr/>
        </p:nvSpPr>
        <p:spPr>
          <a:xfrm>
            <a:off x="3154680" y="2926080"/>
            <a:ext cx="420624" cy="402336"/>
          </a:xfrm>
          <a:prstGeom prst="rect">
            <a:avLst/>
          </a:prstGeom>
          <a:noFill/>
        </p:spPr>
        <p:txBody>
          <a:bodyPr wrap="square" lIns="0" tIns="0" rIns="0" bIns="0" anchor="ctr">
            <a:spAutoFit/>
          </a:bodyPr>
          <a:lstStyle/>
          <a:p>
            <a:pPr algn="ctr"/>
            <a:r>
              <a:rPr sz="900" b="1">
                <a:solidFill>
                  <a:srgbClr val="C2410C"/>
                </a:solidFill>
                <a:latin typeface="Consolas"/>
              </a:rPr>
              <a:t>5</a:t>
            </a:r>
          </a:p>
        </p:txBody>
      </p:sp>
      <p:cxnSp>
        <p:nvCxnSpPr>
          <p:cNvPr id="53" name="a1u_ar52"/>
          <p:cNvCxnSpPr/>
          <p:nvPr/>
        </p:nvCxnSpPr>
        <p:spPr>
          <a:xfrm>
            <a:off x="4224528" y="1719072"/>
            <a:ext cx="557784" cy="0"/>
          </a:xfrm>
          <a:prstGeom prst="line">
            <a:avLst/>
          </a:prstGeom>
          <a:ln w="1905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a1u_nd53"/>
          <p:cNvSpPr/>
          <p:nvPr/>
        </p:nvSpPr>
        <p:spPr>
          <a:xfrm>
            <a:off x="4800600" y="1417320"/>
            <a:ext cx="2240280" cy="603504"/>
          </a:xfrm>
          <a:prstGeom prst="roundRect">
            <a:avLst>
              <a:gd name="adj" fmla="val 12121"/>
            </a:avLst>
          </a:prstGeom>
          <a:solidFill>
            <a:srgbClr val="F7F6F3"/>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a1u_ndt54"/>
          <p:cNvSpPr txBox="1"/>
          <p:nvPr/>
        </p:nvSpPr>
        <p:spPr>
          <a:xfrm>
            <a:off x="4846320" y="1453896"/>
            <a:ext cx="2148840" cy="283464"/>
          </a:xfrm>
          <a:prstGeom prst="rect">
            <a:avLst/>
          </a:prstGeom>
          <a:noFill/>
        </p:spPr>
        <p:txBody>
          <a:bodyPr wrap="square" lIns="0" tIns="0" rIns="0" bIns="0" anchor="b">
            <a:spAutoFit/>
          </a:bodyPr>
          <a:lstStyle/>
          <a:p>
            <a:pPr algn="ctr"/>
            <a:r>
              <a:rPr sz="950" b="1">
                <a:solidFill>
                  <a:srgbClr val="1C1917"/>
                </a:solidFill>
                <a:latin typeface="Segoe UI"/>
              </a:rPr>
              <a:t>Dashboard</a:t>
            </a:r>
          </a:p>
        </p:txBody>
      </p:sp>
      <p:sp>
        <p:nvSpPr>
          <p:cNvPr id="56" name="a1u_nds55"/>
          <p:cNvSpPr txBox="1"/>
          <p:nvPr/>
        </p:nvSpPr>
        <p:spPr>
          <a:xfrm>
            <a:off x="4846320" y="1746504"/>
            <a:ext cx="2148840" cy="237744"/>
          </a:xfrm>
          <a:prstGeom prst="rect">
            <a:avLst/>
          </a:prstGeom>
          <a:noFill/>
        </p:spPr>
        <p:txBody>
          <a:bodyPr wrap="square" lIns="0" tIns="0" rIns="0" bIns="0" anchor="t">
            <a:spAutoFit/>
          </a:bodyPr>
          <a:lstStyle/>
          <a:p>
            <a:pPr algn="ctr"/>
            <a:r>
              <a:rPr sz="800" b="0">
                <a:solidFill>
                  <a:srgbClr val="4F46E5"/>
                </a:solidFill>
                <a:latin typeface="Segoe UI"/>
              </a:rPr>
              <a:t>shows the latest readings</a:t>
            </a:r>
          </a:p>
        </p:txBody>
      </p:sp>
      <p:cxnSp>
        <p:nvCxnSpPr>
          <p:cNvPr id="57" name="a2u_ar56"/>
          <p:cNvCxnSpPr/>
          <p:nvPr/>
        </p:nvCxnSpPr>
        <p:spPr>
          <a:xfrm>
            <a:off x="7059168" y="1719072"/>
            <a:ext cx="466344" cy="0"/>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a2u_pill57"/>
          <p:cNvSpPr/>
          <p:nvPr/>
        </p:nvSpPr>
        <p:spPr>
          <a:xfrm>
            <a:off x="7543800" y="1563624"/>
            <a:ext cx="1143000" cy="310896"/>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15803D"/>
                </a:solidFill>
                <a:latin typeface="Consolas"/>
              </a:rPr>
              <a:t>show</a:t>
            </a:r>
          </a:p>
        </p:txBody>
      </p:sp>
      <p:cxnSp>
        <p:nvCxnSpPr>
          <p:cNvPr id="59" name="a1ud120_ar58"/>
          <p:cNvCxnSpPr/>
          <p:nvPr/>
        </p:nvCxnSpPr>
        <p:spPr>
          <a:xfrm>
            <a:off x="4224528" y="2496312"/>
            <a:ext cx="557784" cy="0"/>
          </a:xfrm>
          <a:prstGeom prst="line">
            <a:avLst/>
          </a:prstGeom>
          <a:ln w="1905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a1ud120_nd59"/>
          <p:cNvSpPr/>
          <p:nvPr/>
        </p:nvSpPr>
        <p:spPr>
          <a:xfrm>
            <a:off x="4800600" y="2194560"/>
            <a:ext cx="2240280" cy="603504"/>
          </a:xfrm>
          <a:prstGeom prst="roundRect">
            <a:avLst>
              <a:gd name="adj" fmla="val 12121"/>
            </a:avLst>
          </a:prstGeom>
          <a:solidFill>
            <a:srgbClr val="F7F6F3"/>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a1ud120_ndt60"/>
          <p:cNvSpPr txBox="1"/>
          <p:nvPr/>
        </p:nvSpPr>
        <p:spPr>
          <a:xfrm>
            <a:off x="4846320" y="2231136"/>
            <a:ext cx="2148840" cy="283464"/>
          </a:xfrm>
          <a:prstGeom prst="rect">
            <a:avLst/>
          </a:prstGeom>
          <a:noFill/>
        </p:spPr>
        <p:txBody>
          <a:bodyPr wrap="square" lIns="0" tIns="0" rIns="0" bIns="0" anchor="b">
            <a:spAutoFit/>
          </a:bodyPr>
          <a:lstStyle/>
          <a:p>
            <a:pPr algn="ctr"/>
            <a:r>
              <a:rPr sz="950" b="1">
                <a:solidFill>
                  <a:srgbClr val="1C1917"/>
                </a:solidFill>
                <a:latin typeface="Segoe UI"/>
              </a:rPr>
              <a:t>Alerting service</a:t>
            </a:r>
          </a:p>
        </p:txBody>
      </p:sp>
      <p:sp>
        <p:nvSpPr>
          <p:cNvPr id="62" name="a1ud120_nds61"/>
          <p:cNvSpPr txBox="1"/>
          <p:nvPr/>
        </p:nvSpPr>
        <p:spPr>
          <a:xfrm>
            <a:off x="4846320" y="2523744"/>
            <a:ext cx="2148840" cy="237744"/>
          </a:xfrm>
          <a:prstGeom prst="rect">
            <a:avLst/>
          </a:prstGeom>
          <a:noFill/>
        </p:spPr>
        <p:txBody>
          <a:bodyPr wrap="square" lIns="0" tIns="0" rIns="0" bIns="0" anchor="t">
            <a:spAutoFit/>
          </a:bodyPr>
          <a:lstStyle/>
          <a:p>
            <a:pPr algn="ctr"/>
            <a:r>
              <a:rPr sz="800" b="0">
                <a:solidFill>
                  <a:srgbClr val="4F46E5"/>
                </a:solidFill>
                <a:latin typeface="Segoe UI"/>
              </a:rPr>
              <a:t>warns when it is too hot</a:t>
            </a:r>
          </a:p>
        </p:txBody>
      </p:sp>
      <p:cxnSp>
        <p:nvCxnSpPr>
          <p:cNvPr id="63" name="a2ud120_ar62"/>
          <p:cNvCxnSpPr/>
          <p:nvPr/>
        </p:nvCxnSpPr>
        <p:spPr>
          <a:xfrm>
            <a:off x="7059168" y="2496312"/>
            <a:ext cx="466344" cy="0"/>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64" name="a2ud120_pill63"/>
          <p:cNvSpPr/>
          <p:nvPr/>
        </p:nvSpPr>
        <p:spPr>
          <a:xfrm>
            <a:off x="7543800" y="2340864"/>
            <a:ext cx="1143000" cy="310896"/>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15803D"/>
                </a:solidFill>
                <a:latin typeface="Consolas"/>
              </a:rPr>
              <a:t>alert</a:t>
            </a:r>
          </a:p>
        </p:txBody>
      </p:sp>
      <p:cxnSp>
        <p:nvCxnSpPr>
          <p:cNvPr id="65" name="a1ud240_ar64"/>
          <p:cNvCxnSpPr/>
          <p:nvPr/>
        </p:nvCxnSpPr>
        <p:spPr>
          <a:xfrm>
            <a:off x="4224528" y="3273552"/>
            <a:ext cx="557784" cy="0"/>
          </a:xfrm>
          <a:prstGeom prst="line">
            <a:avLst/>
          </a:prstGeom>
          <a:ln w="1905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66" name="a1ud240_nd65"/>
          <p:cNvSpPr/>
          <p:nvPr/>
        </p:nvSpPr>
        <p:spPr>
          <a:xfrm>
            <a:off x="4800600" y="2971800"/>
            <a:ext cx="2240280" cy="603504"/>
          </a:xfrm>
          <a:prstGeom prst="roundRect">
            <a:avLst>
              <a:gd name="adj" fmla="val 12121"/>
            </a:avLst>
          </a:prstGeom>
          <a:solidFill>
            <a:srgbClr val="F7F6F3"/>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a1ud240_ndt66"/>
          <p:cNvSpPr txBox="1"/>
          <p:nvPr/>
        </p:nvSpPr>
        <p:spPr>
          <a:xfrm>
            <a:off x="4846320" y="3008376"/>
            <a:ext cx="2148840" cy="283464"/>
          </a:xfrm>
          <a:prstGeom prst="rect">
            <a:avLst/>
          </a:prstGeom>
          <a:noFill/>
        </p:spPr>
        <p:txBody>
          <a:bodyPr wrap="square" lIns="0" tIns="0" rIns="0" bIns="0" anchor="b">
            <a:spAutoFit/>
          </a:bodyPr>
          <a:lstStyle/>
          <a:p>
            <a:pPr algn="ctr"/>
            <a:r>
              <a:rPr sz="950" b="1">
                <a:solidFill>
                  <a:srgbClr val="1C1917"/>
                </a:solidFill>
                <a:latin typeface="Segoe UI"/>
              </a:rPr>
              <a:t>Database sink</a:t>
            </a:r>
          </a:p>
        </p:txBody>
      </p:sp>
      <p:sp>
        <p:nvSpPr>
          <p:cNvPr id="68" name="a1ud240_nds67"/>
          <p:cNvSpPr txBox="1"/>
          <p:nvPr/>
        </p:nvSpPr>
        <p:spPr>
          <a:xfrm>
            <a:off x="4846320" y="3300984"/>
            <a:ext cx="2148840" cy="237744"/>
          </a:xfrm>
          <a:prstGeom prst="rect">
            <a:avLst/>
          </a:prstGeom>
          <a:noFill/>
        </p:spPr>
        <p:txBody>
          <a:bodyPr wrap="square" lIns="0" tIns="0" rIns="0" bIns="0" anchor="t">
            <a:spAutoFit/>
          </a:bodyPr>
          <a:lstStyle/>
          <a:p>
            <a:pPr algn="ctr"/>
            <a:r>
              <a:rPr sz="800" b="0">
                <a:solidFill>
                  <a:srgbClr val="4F46E5"/>
                </a:solidFill>
                <a:latin typeface="Segoe UI"/>
              </a:rPr>
              <a:t>Kafka Connect</a:t>
            </a:r>
          </a:p>
        </p:txBody>
      </p:sp>
      <p:cxnSp>
        <p:nvCxnSpPr>
          <p:cNvPr id="69" name="a2ud240_ar68"/>
          <p:cNvCxnSpPr/>
          <p:nvPr/>
        </p:nvCxnSpPr>
        <p:spPr>
          <a:xfrm>
            <a:off x="7059168" y="3273552"/>
            <a:ext cx="466344" cy="0"/>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70" name="a2ud240_pill69"/>
          <p:cNvSpPr/>
          <p:nvPr/>
        </p:nvSpPr>
        <p:spPr>
          <a:xfrm>
            <a:off x="7543800" y="3118104"/>
            <a:ext cx="1143000" cy="310896"/>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15803D"/>
                </a:solidFill>
                <a:latin typeface="Consolas"/>
              </a:rPr>
              <a:t>store</a:t>
            </a:r>
          </a:p>
        </p:txBody>
      </p:sp>
      <p:sp>
        <p:nvSpPr>
          <p:cNvPr id="71" name="a3u_nb70"/>
          <p:cNvSpPr/>
          <p:nvPr/>
        </p:nvSpPr>
        <p:spPr>
          <a:xfrm>
            <a:off x="457200" y="3886200"/>
            <a:ext cx="8229600" cy="566928"/>
          </a:xfrm>
          <a:prstGeom prst="roundRect">
            <a:avLst>
              <a:gd name="adj" fmla="val 12903"/>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a3u_nacc71"/>
          <p:cNvSpPr/>
          <p:nvPr/>
        </p:nvSpPr>
        <p:spPr>
          <a:xfrm>
            <a:off x="457200" y="3886200"/>
            <a:ext cx="54864" cy="5669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a3u_nt72"/>
          <p:cNvSpPr txBox="1"/>
          <p:nvPr/>
        </p:nvSpPr>
        <p:spPr>
          <a:xfrm>
            <a:off x="658368" y="3886200"/>
            <a:ext cx="7827264" cy="566928"/>
          </a:xfrm>
          <a:prstGeom prst="rect">
            <a:avLst/>
          </a:prstGeom>
          <a:noFill/>
        </p:spPr>
        <p:txBody>
          <a:bodyPr wrap="square" lIns="0" tIns="0" rIns="0" bIns="0" anchor="ctr">
            <a:spAutoFit/>
          </a:bodyPr>
          <a:lstStyle/>
          <a:p>
            <a:pPr algn="l"/>
            <a:r>
              <a:rPr sz="950" b="1">
                <a:solidFill>
                  <a:srgbClr val="4F46E5"/>
                </a:solidFill>
                <a:latin typeface="Segoe UI"/>
              </a:rPr>
              <a:t>KEY  </a:t>
            </a:r>
            <a:r>
              <a:rPr sz="950" b="0">
                <a:solidFill>
                  <a:srgbClr val="44403C"/>
                </a:solidFill>
                <a:latin typeface="Segoe UI"/>
              </a:rPr>
              <a:t>Much like the producer API: a client class and a configuration map - with the data flowing the other way.</a:t>
            </a:r>
          </a:p>
        </p:txBody>
      </p:sp>
      <p:sp>
        <p:nvSpPr>
          <p:cNvPr id="74" name="ft73"/>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02</a:t>
            </a:r>
          </a:p>
        </p:txBody>
      </p:sp>
      <p:sp>
        <p:nvSpPr>
          <p:cNvPr id="75" name="ft74"/>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ft75"/>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Consumers</a:t>
            </a:r>
          </a:p>
        </p:txBody>
      </p:sp>
      <p:sp>
        <p:nvSpPr>
          <p:cNvPr id="77" name="ft76"/>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7</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5"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8" presetID="10"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par>
                                <p:cTn id="40" presetID="10"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par>
                                <p:cTn id="43" presetID="10"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par>
                                <p:cTn id="46" presetID="10"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00"/>
                                        <p:tgtEl>
                                          <p:spTgt spid="24"/>
                                        </p:tgtEl>
                                      </p:cBhvr>
                                    </p:animEffect>
                                  </p:childTnLst>
                                </p:cTn>
                              </p:par>
                              <p:par>
                                <p:cTn id="49" presetID="10"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500"/>
                                        <p:tgtEl>
                                          <p:spTgt spid="25"/>
                                        </p:tgtEl>
                                      </p:cBhvr>
                                    </p:animEffect>
                                  </p:childTnLst>
                                </p:cTn>
                              </p:par>
                              <p:par>
                                <p:cTn id="52" presetID="10"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500"/>
                                        <p:tgtEl>
                                          <p:spTgt spid="26"/>
                                        </p:tgtEl>
                                      </p:cBhvr>
                                    </p:animEffect>
                                  </p:childTnLst>
                                </p:cTn>
                              </p:par>
                              <p:par>
                                <p:cTn id="55" presetID="10"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500"/>
                                        <p:tgtEl>
                                          <p:spTgt spid="27"/>
                                        </p:tgtEl>
                                      </p:cBhvr>
                                    </p:animEffect>
                                  </p:childTnLst>
                                </p:cTn>
                              </p:par>
                              <p:par>
                                <p:cTn id="58" presetID="10"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500"/>
                                        <p:tgtEl>
                                          <p:spTgt spid="28"/>
                                        </p:tgtEl>
                                      </p:cBhvr>
                                    </p:animEffect>
                                  </p:childTnLst>
                                </p:cTn>
                              </p:par>
                              <p:par>
                                <p:cTn id="61" presetID="10" presetClass="entr" presetSubtype="0" fill="hold" grpId="0" nodeType="with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500"/>
                                        <p:tgtEl>
                                          <p:spTgt spid="29"/>
                                        </p:tgtEl>
                                      </p:cBhvr>
                                    </p:animEffect>
                                  </p:childTnLst>
                                </p:cTn>
                              </p:par>
                              <p:par>
                                <p:cTn id="64" presetID="10" presetClass="entr" presetSubtype="0" fill="hold" grpId="0" nodeType="with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fade">
                                      <p:cBhvr>
                                        <p:cTn id="63" dur="500"/>
                                        <p:tgtEl>
                                          <p:spTgt spid="30"/>
                                        </p:tgtEl>
                                      </p:cBhvr>
                                    </p:animEffect>
                                  </p:childTnLst>
                                </p:cTn>
                              </p:par>
                              <p:par>
                                <p:cTn id="67" presetID="10" presetClass="entr" presetSubtype="0" fill="hold" grpId="0" nodeType="with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fade">
                                      <p:cBhvr>
                                        <p:cTn id="66" dur="500"/>
                                        <p:tgtEl>
                                          <p:spTgt spid="31"/>
                                        </p:tgtEl>
                                      </p:cBhvr>
                                    </p:animEffect>
                                  </p:childTnLst>
                                </p:cTn>
                              </p:par>
                              <p:par>
                                <p:cTn id="70" presetID="10" presetClass="entr" presetSubtype="0" fill="hold" grpId="0" nodeType="withEffect">
                                  <p:stCondLst>
                                    <p:cond delay="0"/>
                                  </p:stCondLst>
                                  <p:childTnLst>
                                    <p:set>
                                      <p:cBhvr>
                                        <p:cTn id="68" dur="1" fill="hold">
                                          <p:stCondLst>
                                            <p:cond delay="0"/>
                                          </p:stCondLst>
                                        </p:cTn>
                                        <p:tgtEl>
                                          <p:spTgt spid="32"/>
                                        </p:tgtEl>
                                        <p:attrNameLst>
                                          <p:attrName>style.visibility</p:attrName>
                                        </p:attrNameLst>
                                      </p:cBhvr>
                                      <p:to>
                                        <p:strVal val="visible"/>
                                      </p:to>
                                    </p:set>
                                    <p:animEffect transition="in" filter="fade">
                                      <p:cBhvr>
                                        <p:cTn id="69" dur="500"/>
                                        <p:tgtEl>
                                          <p:spTgt spid="32"/>
                                        </p:tgtEl>
                                      </p:cBhvr>
                                    </p:animEffect>
                                  </p:childTnLst>
                                </p:cTn>
                              </p:par>
                              <p:par>
                                <p:cTn id="73" presetID="10" presetClass="entr" presetSubtype="0" fill="hold" grpId="0" nodeType="withEffect">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2" dur="500"/>
                                        <p:tgtEl>
                                          <p:spTgt spid="33"/>
                                        </p:tgtEl>
                                      </p:cBhvr>
                                    </p:animEffect>
                                  </p:childTnLst>
                                </p:cTn>
                              </p:par>
                              <p:par>
                                <p:cTn id="76" presetID="10" presetClass="entr" presetSubtype="0" fill="hold" grpId="0" nodeType="withEffect">
                                  <p:stCondLst>
                                    <p:cond delay="0"/>
                                  </p:stCondLst>
                                  <p:childTnLst>
                                    <p:set>
                                      <p:cBhvr>
                                        <p:cTn id="74" dur="1" fill="hold">
                                          <p:stCondLst>
                                            <p:cond delay="0"/>
                                          </p:stCondLst>
                                        </p:cTn>
                                        <p:tgtEl>
                                          <p:spTgt spid="34"/>
                                        </p:tgtEl>
                                        <p:attrNameLst>
                                          <p:attrName>style.visibility</p:attrName>
                                        </p:attrNameLst>
                                      </p:cBhvr>
                                      <p:to>
                                        <p:strVal val="visible"/>
                                      </p:to>
                                    </p:set>
                                    <p:animEffect transition="in" filter="fade">
                                      <p:cBhvr>
                                        <p:cTn id="75" dur="500"/>
                                        <p:tgtEl>
                                          <p:spTgt spid="34"/>
                                        </p:tgtEl>
                                      </p:cBhvr>
                                    </p:animEffect>
                                  </p:childTnLst>
                                </p:cTn>
                              </p:par>
                              <p:par>
                                <p:cTn id="79" presetID="10" presetClass="entr" presetSubtype="0" fill="hold" grpId="0" nodeType="withEffect">
                                  <p:stCondLst>
                                    <p:cond delay="0"/>
                                  </p:stCondLst>
                                  <p:childTnLst>
                                    <p:set>
                                      <p:cBhvr>
                                        <p:cTn id="77" dur="1" fill="hold">
                                          <p:stCondLst>
                                            <p:cond delay="0"/>
                                          </p:stCondLst>
                                        </p:cTn>
                                        <p:tgtEl>
                                          <p:spTgt spid="35"/>
                                        </p:tgtEl>
                                        <p:attrNameLst>
                                          <p:attrName>style.visibility</p:attrName>
                                        </p:attrNameLst>
                                      </p:cBhvr>
                                      <p:to>
                                        <p:strVal val="visible"/>
                                      </p:to>
                                    </p:set>
                                    <p:animEffect transition="in" filter="fade">
                                      <p:cBhvr>
                                        <p:cTn id="78" dur="500"/>
                                        <p:tgtEl>
                                          <p:spTgt spid="35"/>
                                        </p:tgtEl>
                                      </p:cBhvr>
                                    </p:animEffect>
                                  </p:childTnLst>
                                </p:cTn>
                              </p:par>
                              <p:par>
                                <p:cTn id="82" presetID="10" presetClass="entr" presetSubtype="0" fill="hold" grpId="0" nodeType="withEffect">
                                  <p:stCondLst>
                                    <p:cond delay="0"/>
                                  </p:stCondLst>
                                  <p:childTnLst>
                                    <p:set>
                                      <p:cBhvr>
                                        <p:cTn id="80" dur="1" fill="hold">
                                          <p:stCondLst>
                                            <p:cond delay="0"/>
                                          </p:stCondLst>
                                        </p:cTn>
                                        <p:tgtEl>
                                          <p:spTgt spid="36"/>
                                        </p:tgtEl>
                                        <p:attrNameLst>
                                          <p:attrName>style.visibility</p:attrName>
                                        </p:attrNameLst>
                                      </p:cBhvr>
                                      <p:to>
                                        <p:strVal val="visible"/>
                                      </p:to>
                                    </p:set>
                                    <p:animEffect transition="in" filter="fade">
                                      <p:cBhvr>
                                        <p:cTn id="81" dur="500"/>
                                        <p:tgtEl>
                                          <p:spTgt spid="36"/>
                                        </p:tgtEl>
                                      </p:cBhvr>
                                    </p:animEffect>
                                  </p:childTnLst>
                                </p:cTn>
                              </p:par>
                              <p:par>
                                <p:cTn id="85" presetID="10" presetClass="entr" presetSubtype="0" fill="hold" grpId="0" nodeType="withEffect">
                                  <p:stCondLst>
                                    <p:cond delay="0"/>
                                  </p:stCondLst>
                                  <p:childTnLst>
                                    <p:set>
                                      <p:cBhvr>
                                        <p:cTn id="83" dur="1" fill="hold">
                                          <p:stCondLst>
                                            <p:cond delay="0"/>
                                          </p:stCondLst>
                                        </p:cTn>
                                        <p:tgtEl>
                                          <p:spTgt spid="37"/>
                                        </p:tgtEl>
                                        <p:attrNameLst>
                                          <p:attrName>style.visibility</p:attrName>
                                        </p:attrNameLst>
                                      </p:cBhvr>
                                      <p:to>
                                        <p:strVal val="visible"/>
                                      </p:to>
                                    </p:set>
                                    <p:animEffect transition="in" filter="fade">
                                      <p:cBhvr>
                                        <p:cTn id="84" dur="500"/>
                                        <p:tgtEl>
                                          <p:spTgt spid="37"/>
                                        </p:tgtEl>
                                      </p:cBhvr>
                                    </p:animEffect>
                                  </p:childTnLst>
                                </p:cTn>
                              </p:par>
                              <p:par>
                                <p:cTn id="88" presetID="10" presetClass="entr" presetSubtype="0" fill="hold" grpId="0" nodeType="withEffect">
                                  <p:stCondLst>
                                    <p:cond delay="0"/>
                                  </p:stCondLst>
                                  <p:childTnLst>
                                    <p:set>
                                      <p:cBhvr>
                                        <p:cTn id="86" dur="1" fill="hold">
                                          <p:stCondLst>
                                            <p:cond delay="0"/>
                                          </p:stCondLst>
                                        </p:cTn>
                                        <p:tgtEl>
                                          <p:spTgt spid="38"/>
                                        </p:tgtEl>
                                        <p:attrNameLst>
                                          <p:attrName>style.visibility</p:attrName>
                                        </p:attrNameLst>
                                      </p:cBhvr>
                                      <p:to>
                                        <p:strVal val="visible"/>
                                      </p:to>
                                    </p:set>
                                    <p:animEffect transition="in" filter="fade">
                                      <p:cBhvr>
                                        <p:cTn id="87" dur="500"/>
                                        <p:tgtEl>
                                          <p:spTgt spid="38"/>
                                        </p:tgtEl>
                                      </p:cBhvr>
                                    </p:animEffect>
                                  </p:childTnLst>
                                </p:cTn>
                              </p:par>
                              <p:par>
                                <p:cTn id="91" presetID="10" presetClass="entr" presetSubtype="0" fill="hold" grpId="0" nodeType="withEffect">
                                  <p:stCondLst>
                                    <p:cond delay="0"/>
                                  </p:stCondLst>
                                  <p:childTnLst>
                                    <p:set>
                                      <p:cBhvr>
                                        <p:cTn id="89" dur="1" fill="hold">
                                          <p:stCondLst>
                                            <p:cond delay="0"/>
                                          </p:stCondLst>
                                        </p:cTn>
                                        <p:tgtEl>
                                          <p:spTgt spid="39"/>
                                        </p:tgtEl>
                                        <p:attrNameLst>
                                          <p:attrName>style.visibility</p:attrName>
                                        </p:attrNameLst>
                                      </p:cBhvr>
                                      <p:to>
                                        <p:strVal val="visible"/>
                                      </p:to>
                                    </p:set>
                                    <p:animEffect transition="in" filter="fade">
                                      <p:cBhvr>
                                        <p:cTn id="90" dur="500"/>
                                        <p:tgtEl>
                                          <p:spTgt spid="39"/>
                                        </p:tgtEl>
                                      </p:cBhvr>
                                    </p:animEffect>
                                  </p:childTnLst>
                                </p:cTn>
                              </p:par>
                              <p:par>
                                <p:cTn id="94" presetID="10" presetClass="entr" presetSubtype="0" fill="hold" grpId="0" nodeType="withEffect">
                                  <p:stCondLst>
                                    <p:cond delay="0"/>
                                  </p:stCondLst>
                                  <p:childTnLst>
                                    <p:set>
                                      <p:cBhvr>
                                        <p:cTn id="92" dur="1" fill="hold">
                                          <p:stCondLst>
                                            <p:cond delay="0"/>
                                          </p:stCondLst>
                                        </p:cTn>
                                        <p:tgtEl>
                                          <p:spTgt spid="40"/>
                                        </p:tgtEl>
                                        <p:attrNameLst>
                                          <p:attrName>style.visibility</p:attrName>
                                        </p:attrNameLst>
                                      </p:cBhvr>
                                      <p:to>
                                        <p:strVal val="visible"/>
                                      </p:to>
                                    </p:set>
                                    <p:animEffect transition="in" filter="fade">
                                      <p:cBhvr>
                                        <p:cTn id="93" dur="500"/>
                                        <p:tgtEl>
                                          <p:spTgt spid="40"/>
                                        </p:tgtEl>
                                      </p:cBhvr>
                                    </p:animEffect>
                                  </p:childTnLst>
                                </p:cTn>
                              </p:par>
                              <p:par>
                                <p:cTn id="97" presetID="10" presetClass="entr" presetSubtype="0" fill="hold" grpId="0" nodeType="withEffect">
                                  <p:stCondLst>
                                    <p:cond delay="0"/>
                                  </p:stCondLst>
                                  <p:childTnLst>
                                    <p:set>
                                      <p:cBhvr>
                                        <p:cTn id="95" dur="1" fill="hold">
                                          <p:stCondLst>
                                            <p:cond delay="0"/>
                                          </p:stCondLst>
                                        </p:cTn>
                                        <p:tgtEl>
                                          <p:spTgt spid="41"/>
                                        </p:tgtEl>
                                        <p:attrNameLst>
                                          <p:attrName>style.visibility</p:attrName>
                                        </p:attrNameLst>
                                      </p:cBhvr>
                                      <p:to>
                                        <p:strVal val="visible"/>
                                      </p:to>
                                    </p:set>
                                    <p:animEffect transition="in" filter="fade">
                                      <p:cBhvr>
                                        <p:cTn id="96" dur="500"/>
                                        <p:tgtEl>
                                          <p:spTgt spid="41"/>
                                        </p:tgtEl>
                                      </p:cBhvr>
                                    </p:animEffect>
                                  </p:childTnLst>
                                </p:cTn>
                              </p:par>
                              <p:par>
                                <p:cTn id="100" presetID="10" presetClass="entr" presetSubtype="0" fill="hold" grpId="0" nodeType="withEffect">
                                  <p:stCondLst>
                                    <p:cond delay="0"/>
                                  </p:stCondLst>
                                  <p:childTnLst>
                                    <p:set>
                                      <p:cBhvr>
                                        <p:cTn id="98" dur="1" fill="hold">
                                          <p:stCondLst>
                                            <p:cond delay="0"/>
                                          </p:stCondLst>
                                        </p:cTn>
                                        <p:tgtEl>
                                          <p:spTgt spid="42"/>
                                        </p:tgtEl>
                                        <p:attrNameLst>
                                          <p:attrName>style.visibility</p:attrName>
                                        </p:attrNameLst>
                                      </p:cBhvr>
                                      <p:to>
                                        <p:strVal val="visible"/>
                                      </p:to>
                                    </p:set>
                                    <p:animEffect transition="in" filter="fade">
                                      <p:cBhvr>
                                        <p:cTn id="99" dur="500"/>
                                        <p:tgtEl>
                                          <p:spTgt spid="42"/>
                                        </p:tgtEl>
                                      </p:cBhvr>
                                    </p:animEffect>
                                  </p:childTnLst>
                                </p:cTn>
                              </p:par>
                              <p:par>
                                <p:cTn id="103" presetID="10" presetClass="entr" presetSubtype="0" fill="hold" grpId="0" nodeType="withEffect">
                                  <p:stCondLst>
                                    <p:cond delay="0"/>
                                  </p:stCondLst>
                                  <p:childTnLst>
                                    <p:set>
                                      <p:cBhvr>
                                        <p:cTn id="101" dur="1" fill="hold">
                                          <p:stCondLst>
                                            <p:cond delay="0"/>
                                          </p:stCondLst>
                                        </p:cTn>
                                        <p:tgtEl>
                                          <p:spTgt spid="43"/>
                                        </p:tgtEl>
                                        <p:attrNameLst>
                                          <p:attrName>style.visibility</p:attrName>
                                        </p:attrNameLst>
                                      </p:cBhvr>
                                      <p:to>
                                        <p:strVal val="visible"/>
                                      </p:to>
                                    </p:set>
                                    <p:animEffect transition="in" filter="fade">
                                      <p:cBhvr>
                                        <p:cTn id="102" dur="500"/>
                                        <p:tgtEl>
                                          <p:spTgt spid="43"/>
                                        </p:tgtEl>
                                      </p:cBhvr>
                                    </p:animEffect>
                                  </p:childTnLst>
                                </p:cTn>
                              </p:par>
                              <p:par>
                                <p:cTn id="106" presetID="10" presetClass="entr" presetSubtype="0" fill="hold" grpId="0" nodeType="withEffect">
                                  <p:stCondLst>
                                    <p:cond delay="0"/>
                                  </p:stCondLst>
                                  <p:childTnLst>
                                    <p:set>
                                      <p:cBhvr>
                                        <p:cTn id="104" dur="1" fill="hold">
                                          <p:stCondLst>
                                            <p:cond delay="0"/>
                                          </p:stCondLst>
                                        </p:cTn>
                                        <p:tgtEl>
                                          <p:spTgt spid="44"/>
                                        </p:tgtEl>
                                        <p:attrNameLst>
                                          <p:attrName>style.visibility</p:attrName>
                                        </p:attrNameLst>
                                      </p:cBhvr>
                                      <p:to>
                                        <p:strVal val="visible"/>
                                      </p:to>
                                    </p:set>
                                    <p:animEffect transition="in" filter="fade">
                                      <p:cBhvr>
                                        <p:cTn id="105" dur="500"/>
                                        <p:tgtEl>
                                          <p:spTgt spid="44"/>
                                        </p:tgtEl>
                                      </p:cBhvr>
                                    </p:animEffect>
                                  </p:childTnLst>
                                </p:cTn>
                              </p:par>
                              <p:par>
                                <p:cTn id="109" presetID="10" presetClass="entr" presetSubtype="0" fill="hold" grpId="0" nodeType="withEffect">
                                  <p:stCondLst>
                                    <p:cond delay="0"/>
                                  </p:stCondLst>
                                  <p:childTnLst>
                                    <p:set>
                                      <p:cBhvr>
                                        <p:cTn id="107" dur="1" fill="hold">
                                          <p:stCondLst>
                                            <p:cond delay="0"/>
                                          </p:stCondLst>
                                        </p:cTn>
                                        <p:tgtEl>
                                          <p:spTgt spid="45"/>
                                        </p:tgtEl>
                                        <p:attrNameLst>
                                          <p:attrName>style.visibility</p:attrName>
                                        </p:attrNameLst>
                                      </p:cBhvr>
                                      <p:to>
                                        <p:strVal val="visible"/>
                                      </p:to>
                                    </p:set>
                                    <p:animEffect transition="in" filter="fade">
                                      <p:cBhvr>
                                        <p:cTn id="108" dur="500"/>
                                        <p:tgtEl>
                                          <p:spTgt spid="45"/>
                                        </p:tgtEl>
                                      </p:cBhvr>
                                    </p:animEffect>
                                  </p:childTnLst>
                                </p:cTn>
                              </p:par>
                              <p:par>
                                <p:cTn id="112" presetID="10" presetClass="entr" presetSubtype="0" fill="hold" grpId="0" nodeType="withEffect">
                                  <p:stCondLst>
                                    <p:cond delay="0"/>
                                  </p:stCondLst>
                                  <p:childTnLst>
                                    <p:set>
                                      <p:cBhvr>
                                        <p:cTn id="110" dur="1" fill="hold">
                                          <p:stCondLst>
                                            <p:cond delay="0"/>
                                          </p:stCondLst>
                                        </p:cTn>
                                        <p:tgtEl>
                                          <p:spTgt spid="46"/>
                                        </p:tgtEl>
                                        <p:attrNameLst>
                                          <p:attrName>style.visibility</p:attrName>
                                        </p:attrNameLst>
                                      </p:cBhvr>
                                      <p:to>
                                        <p:strVal val="visible"/>
                                      </p:to>
                                    </p:set>
                                    <p:animEffect transition="in" filter="fade">
                                      <p:cBhvr>
                                        <p:cTn id="111" dur="500"/>
                                        <p:tgtEl>
                                          <p:spTgt spid="46"/>
                                        </p:tgtEl>
                                      </p:cBhvr>
                                    </p:animEffect>
                                  </p:childTnLst>
                                </p:cTn>
                              </p:par>
                              <p:par>
                                <p:cTn id="115" presetID="10" presetClass="entr" presetSubtype="0" fill="hold" grpId="0" nodeType="withEffect">
                                  <p:stCondLst>
                                    <p:cond delay="0"/>
                                  </p:stCondLst>
                                  <p:childTnLst>
                                    <p:set>
                                      <p:cBhvr>
                                        <p:cTn id="113" dur="1" fill="hold">
                                          <p:stCondLst>
                                            <p:cond delay="0"/>
                                          </p:stCondLst>
                                        </p:cTn>
                                        <p:tgtEl>
                                          <p:spTgt spid="47"/>
                                        </p:tgtEl>
                                        <p:attrNameLst>
                                          <p:attrName>style.visibility</p:attrName>
                                        </p:attrNameLst>
                                      </p:cBhvr>
                                      <p:to>
                                        <p:strVal val="visible"/>
                                      </p:to>
                                    </p:set>
                                    <p:animEffect transition="in" filter="fade">
                                      <p:cBhvr>
                                        <p:cTn id="114" dur="500"/>
                                        <p:tgtEl>
                                          <p:spTgt spid="47"/>
                                        </p:tgtEl>
                                      </p:cBhvr>
                                    </p:animEffect>
                                  </p:childTnLst>
                                </p:cTn>
                              </p:par>
                              <p:par>
                                <p:cTn id="118" presetID="10" presetClass="entr" presetSubtype="0" fill="hold" grpId="0" nodeType="withEffect">
                                  <p:stCondLst>
                                    <p:cond delay="0"/>
                                  </p:stCondLst>
                                  <p:childTnLst>
                                    <p:set>
                                      <p:cBhvr>
                                        <p:cTn id="116" dur="1" fill="hold">
                                          <p:stCondLst>
                                            <p:cond delay="0"/>
                                          </p:stCondLst>
                                        </p:cTn>
                                        <p:tgtEl>
                                          <p:spTgt spid="48"/>
                                        </p:tgtEl>
                                        <p:attrNameLst>
                                          <p:attrName>style.visibility</p:attrName>
                                        </p:attrNameLst>
                                      </p:cBhvr>
                                      <p:to>
                                        <p:strVal val="visible"/>
                                      </p:to>
                                    </p:set>
                                    <p:animEffect transition="in" filter="fade">
                                      <p:cBhvr>
                                        <p:cTn id="117" dur="500"/>
                                        <p:tgtEl>
                                          <p:spTgt spid="48"/>
                                        </p:tgtEl>
                                      </p:cBhvr>
                                    </p:animEffect>
                                  </p:childTnLst>
                                </p:cTn>
                              </p:par>
                              <p:par>
                                <p:cTn id="121" presetID="10" presetClass="entr" presetSubtype="0" fill="hold" grpId="0" nodeType="withEffect">
                                  <p:stCondLst>
                                    <p:cond delay="0"/>
                                  </p:stCondLst>
                                  <p:childTnLst>
                                    <p:set>
                                      <p:cBhvr>
                                        <p:cTn id="119" dur="1" fill="hold">
                                          <p:stCondLst>
                                            <p:cond delay="0"/>
                                          </p:stCondLst>
                                        </p:cTn>
                                        <p:tgtEl>
                                          <p:spTgt spid="49"/>
                                        </p:tgtEl>
                                        <p:attrNameLst>
                                          <p:attrName>style.visibility</p:attrName>
                                        </p:attrNameLst>
                                      </p:cBhvr>
                                      <p:to>
                                        <p:strVal val="visible"/>
                                      </p:to>
                                    </p:set>
                                    <p:animEffect transition="in" filter="fade">
                                      <p:cBhvr>
                                        <p:cTn id="120" dur="500"/>
                                        <p:tgtEl>
                                          <p:spTgt spid="49"/>
                                        </p:tgtEl>
                                      </p:cBhvr>
                                    </p:animEffect>
                                  </p:childTnLst>
                                </p:cTn>
                              </p:par>
                              <p:par>
                                <p:cTn id="124" presetID="10" presetClass="entr" presetSubtype="0" fill="hold" grpId="0" nodeType="withEffect">
                                  <p:stCondLst>
                                    <p:cond delay="0"/>
                                  </p:stCondLst>
                                  <p:childTnLst>
                                    <p:set>
                                      <p:cBhvr>
                                        <p:cTn id="122" dur="1" fill="hold">
                                          <p:stCondLst>
                                            <p:cond delay="0"/>
                                          </p:stCondLst>
                                        </p:cTn>
                                        <p:tgtEl>
                                          <p:spTgt spid="50"/>
                                        </p:tgtEl>
                                        <p:attrNameLst>
                                          <p:attrName>style.visibility</p:attrName>
                                        </p:attrNameLst>
                                      </p:cBhvr>
                                      <p:to>
                                        <p:strVal val="visible"/>
                                      </p:to>
                                    </p:set>
                                    <p:animEffect transition="in" filter="fade">
                                      <p:cBhvr>
                                        <p:cTn id="123" dur="500"/>
                                        <p:tgtEl>
                                          <p:spTgt spid="50"/>
                                        </p:tgtEl>
                                      </p:cBhvr>
                                    </p:animEffect>
                                  </p:childTnLst>
                                </p:cTn>
                              </p:par>
                              <p:par>
                                <p:cTn id="127" presetID="10" presetClass="entr" presetSubtype="0" fill="hold" grpId="0" nodeType="withEffect">
                                  <p:stCondLst>
                                    <p:cond delay="0"/>
                                  </p:stCondLst>
                                  <p:childTnLst>
                                    <p:set>
                                      <p:cBhvr>
                                        <p:cTn id="125" dur="1" fill="hold">
                                          <p:stCondLst>
                                            <p:cond delay="0"/>
                                          </p:stCondLst>
                                        </p:cTn>
                                        <p:tgtEl>
                                          <p:spTgt spid="51"/>
                                        </p:tgtEl>
                                        <p:attrNameLst>
                                          <p:attrName>style.visibility</p:attrName>
                                        </p:attrNameLst>
                                      </p:cBhvr>
                                      <p:to>
                                        <p:strVal val="visible"/>
                                      </p:to>
                                    </p:set>
                                    <p:animEffect transition="in" filter="fade">
                                      <p:cBhvr>
                                        <p:cTn id="126" dur="500"/>
                                        <p:tgtEl>
                                          <p:spTgt spid="51"/>
                                        </p:tgtEl>
                                      </p:cBhvr>
                                    </p:animEffect>
                                  </p:childTnLst>
                                </p:cTn>
                              </p:par>
                              <p:par>
                                <p:cTn id="130" presetID="10" presetClass="entr" presetSubtype="0" fill="hold" grpId="0" nodeType="withEffect">
                                  <p:stCondLst>
                                    <p:cond delay="0"/>
                                  </p:stCondLst>
                                  <p:childTnLst>
                                    <p:set>
                                      <p:cBhvr>
                                        <p:cTn id="128" dur="1" fill="hold">
                                          <p:stCondLst>
                                            <p:cond delay="0"/>
                                          </p:stCondLst>
                                        </p:cTn>
                                        <p:tgtEl>
                                          <p:spTgt spid="52"/>
                                        </p:tgtEl>
                                        <p:attrNameLst>
                                          <p:attrName>style.visibility</p:attrName>
                                        </p:attrNameLst>
                                      </p:cBhvr>
                                      <p:to>
                                        <p:strVal val="visible"/>
                                      </p:to>
                                    </p:set>
                                    <p:animEffect transition="in" filter="fade">
                                      <p:cBhvr>
                                        <p:cTn id="129" dur="500"/>
                                        <p:tgtEl>
                                          <p:spTgt spid="52"/>
                                        </p:tgtEl>
                                      </p:cBhvr>
                                    </p:animEffect>
                                  </p:childTnLst>
                                </p:cTn>
                              </p:par>
                            </p:childTnLst>
                          </p:cTn>
                        </p:par>
                      </p:childTnLst>
                    </p:cTn>
                  </p:par>
                  <p:par>
                    <p:cTn id="131" fill="hold">
                      <p:stCondLst>
                        <p:cond delay="indefinite"/>
                      </p:stCondLst>
                      <p:childTnLst>
                        <p:par>
                          <p:cTn id="132" fill="hold">
                            <p:stCondLst>
                              <p:cond delay="0"/>
                            </p:stCondLst>
                            <p:childTnLst>
                              <p:par>
                                <p:cTn id="137" presetID="2" presetClass="entr" presetSubtype="4" fill="hold" grpId="0" nodeType="clickEffect">
                                  <p:stCondLst>
                                    <p:cond delay="0"/>
                                  </p:stCondLst>
                                  <p:childTnLst>
                                    <p:set>
                                      <p:cBhvr>
                                        <p:cTn id="133" dur="1" fill="hold">
                                          <p:stCondLst>
                                            <p:cond delay="0"/>
                                          </p:stCondLst>
                                        </p:cTn>
                                        <p:tgtEl>
                                          <p:spTgt spid="53"/>
                                        </p:tgtEl>
                                        <p:attrNameLst>
                                          <p:attrName>style.visibility</p:attrName>
                                        </p:attrNameLst>
                                      </p:cBhvr>
                                      <p:to>
                                        <p:strVal val="visible"/>
                                      </p:to>
                                    </p:set>
                                    <p:anim calcmode="lin" valueType="num">
                                      <p:cBhvr additive="base">
                                        <p:cTn id="134" dur="500" fill="hold"/>
                                        <p:tgtEl>
                                          <p:spTgt spid="53"/>
                                        </p:tgtEl>
                                        <p:attrNameLst>
                                          <p:attrName>ppt_x</p:attrName>
                                        </p:attrNameLst>
                                      </p:cBhvr>
                                      <p:tavLst>
                                        <p:tav tm="0">
                                          <p:val>
                                            <p:strVal val="#ppt_x"/>
                                          </p:val>
                                        </p:tav>
                                        <p:tav tm="100000">
                                          <p:val>
                                            <p:strVal val="#ppt_x"/>
                                          </p:val>
                                        </p:tav>
                                      </p:tavLst>
                                    </p:anim>
                                    <p:anim calcmode="lin" valueType="num">
                                      <p:cBhvr additive="base">
                                        <p:cTn id="135" dur="500" fill="hold"/>
                                        <p:tgtEl>
                                          <p:spTgt spid="53"/>
                                        </p:tgtEl>
                                        <p:attrNameLst>
                                          <p:attrName>ppt_y</p:attrName>
                                        </p:attrNameLst>
                                      </p:cBhvr>
                                      <p:tavLst>
                                        <p:tav tm="0">
                                          <p:val>
                                            <p:strVal val="#ppt_y+0.1"/>
                                          </p:val>
                                        </p:tav>
                                        <p:tav tm="100000">
                                          <p:val>
                                            <p:strVal val="#ppt_y"/>
                                          </p:val>
                                        </p:tav>
                                      </p:tavLst>
                                    </p:anim>
                                    <p:animEffect transition="in" filter="fade">
                                      <p:cBhvr>
                                        <p:cTn id="136" dur="500"/>
                                        <p:tgtEl>
                                          <p:spTgt spid="53"/>
                                        </p:tgtEl>
                                      </p:cBhvr>
                                    </p:animEffect>
                                  </p:childTnLst>
                                </p:cTn>
                              </p:par>
                              <p:par>
                                <p:cTn id="142" presetID="2" presetClass="entr" presetSubtype="4" fill="hold" grpId="0" nodeType="withEffect">
                                  <p:stCondLst>
                                    <p:cond delay="0"/>
                                  </p:stCondLst>
                                  <p:childTnLst>
                                    <p:set>
                                      <p:cBhvr>
                                        <p:cTn id="138" dur="1" fill="hold">
                                          <p:stCondLst>
                                            <p:cond delay="0"/>
                                          </p:stCondLst>
                                        </p:cTn>
                                        <p:tgtEl>
                                          <p:spTgt spid="54"/>
                                        </p:tgtEl>
                                        <p:attrNameLst>
                                          <p:attrName>style.visibility</p:attrName>
                                        </p:attrNameLst>
                                      </p:cBhvr>
                                      <p:to>
                                        <p:strVal val="visible"/>
                                      </p:to>
                                    </p:set>
                                    <p:anim calcmode="lin" valueType="num">
                                      <p:cBhvr additive="base">
                                        <p:cTn id="139" dur="500" fill="hold"/>
                                        <p:tgtEl>
                                          <p:spTgt spid="54"/>
                                        </p:tgtEl>
                                        <p:attrNameLst>
                                          <p:attrName>ppt_x</p:attrName>
                                        </p:attrNameLst>
                                      </p:cBhvr>
                                      <p:tavLst>
                                        <p:tav tm="0">
                                          <p:val>
                                            <p:strVal val="#ppt_x"/>
                                          </p:val>
                                        </p:tav>
                                        <p:tav tm="100000">
                                          <p:val>
                                            <p:strVal val="#ppt_x"/>
                                          </p:val>
                                        </p:tav>
                                      </p:tavLst>
                                    </p:anim>
                                    <p:anim calcmode="lin" valueType="num">
                                      <p:cBhvr additive="base">
                                        <p:cTn id="140" dur="500" fill="hold"/>
                                        <p:tgtEl>
                                          <p:spTgt spid="54"/>
                                        </p:tgtEl>
                                        <p:attrNameLst>
                                          <p:attrName>ppt_y</p:attrName>
                                        </p:attrNameLst>
                                      </p:cBhvr>
                                      <p:tavLst>
                                        <p:tav tm="0">
                                          <p:val>
                                            <p:strVal val="#ppt_y+0.1"/>
                                          </p:val>
                                        </p:tav>
                                        <p:tav tm="100000">
                                          <p:val>
                                            <p:strVal val="#ppt_y"/>
                                          </p:val>
                                        </p:tav>
                                      </p:tavLst>
                                    </p:anim>
                                    <p:animEffect transition="in" filter="fade">
                                      <p:cBhvr>
                                        <p:cTn id="141" dur="500"/>
                                        <p:tgtEl>
                                          <p:spTgt spid="54"/>
                                        </p:tgtEl>
                                      </p:cBhvr>
                                    </p:animEffect>
                                  </p:childTnLst>
                                </p:cTn>
                              </p:par>
                              <p:par>
                                <p:cTn id="147" presetID="2" presetClass="entr" presetSubtype="4" fill="hold" grpId="0" nodeType="withEffect">
                                  <p:stCondLst>
                                    <p:cond delay="0"/>
                                  </p:stCondLst>
                                  <p:childTnLst>
                                    <p:set>
                                      <p:cBhvr>
                                        <p:cTn id="143" dur="1" fill="hold">
                                          <p:stCondLst>
                                            <p:cond delay="0"/>
                                          </p:stCondLst>
                                        </p:cTn>
                                        <p:tgtEl>
                                          <p:spTgt spid="55"/>
                                        </p:tgtEl>
                                        <p:attrNameLst>
                                          <p:attrName>style.visibility</p:attrName>
                                        </p:attrNameLst>
                                      </p:cBhvr>
                                      <p:to>
                                        <p:strVal val="visible"/>
                                      </p:to>
                                    </p:set>
                                    <p:anim calcmode="lin" valueType="num">
                                      <p:cBhvr additive="base">
                                        <p:cTn id="144" dur="500" fill="hold"/>
                                        <p:tgtEl>
                                          <p:spTgt spid="55"/>
                                        </p:tgtEl>
                                        <p:attrNameLst>
                                          <p:attrName>ppt_x</p:attrName>
                                        </p:attrNameLst>
                                      </p:cBhvr>
                                      <p:tavLst>
                                        <p:tav tm="0">
                                          <p:val>
                                            <p:strVal val="#ppt_x"/>
                                          </p:val>
                                        </p:tav>
                                        <p:tav tm="100000">
                                          <p:val>
                                            <p:strVal val="#ppt_x"/>
                                          </p:val>
                                        </p:tav>
                                      </p:tavLst>
                                    </p:anim>
                                    <p:anim calcmode="lin" valueType="num">
                                      <p:cBhvr additive="base">
                                        <p:cTn id="145" dur="500" fill="hold"/>
                                        <p:tgtEl>
                                          <p:spTgt spid="55"/>
                                        </p:tgtEl>
                                        <p:attrNameLst>
                                          <p:attrName>ppt_y</p:attrName>
                                        </p:attrNameLst>
                                      </p:cBhvr>
                                      <p:tavLst>
                                        <p:tav tm="0">
                                          <p:val>
                                            <p:strVal val="#ppt_y+0.1"/>
                                          </p:val>
                                        </p:tav>
                                        <p:tav tm="100000">
                                          <p:val>
                                            <p:strVal val="#ppt_y"/>
                                          </p:val>
                                        </p:tav>
                                      </p:tavLst>
                                    </p:anim>
                                    <p:animEffect transition="in" filter="fade">
                                      <p:cBhvr>
                                        <p:cTn id="146" dur="500"/>
                                        <p:tgtEl>
                                          <p:spTgt spid="55"/>
                                        </p:tgtEl>
                                      </p:cBhvr>
                                    </p:animEffect>
                                  </p:childTnLst>
                                </p:cTn>
                              </p:par>
                              <p:par>
                                <p:cTn id="152" presetID="2" presetClass="entr" presetSubtype="4" fill="hold" grpId="0" nodeType="withEffect">
                                  <p:stCondLst>
                                    <p:cond delay="0"/>
                                  </p:stCondLst>
                                  <p:childTnLst>
                                    <p:set>
                                      <p:cBhvr>
                                        <p:cTn id="148" dur="1" fill="hold">
                                          <p:stCondLst>
                                            <p:cond delay="0"/>
                                          </p:stCondLst>
                                        </p:cTn>
                                        <p:tgtEl>
                                          <p:spTgt spid="56"/>
                                        </p:tgtEl>
                                        <p:attrNameLst>
                                          <p:attrName>style.visibility</p:attrName>
                                        </p:attrNameLst>
                                      </p:cBhvr>
                                      <p:to>
                                        <p:strVal val="visible"/>
                                      </p:to>
                                    </p:set>
                                    <p:anim calcmode="lin" valueType="num">
                                      <p:cBhvr additive="base">
                                        <p:cTn id="149" dur="500" fill="hold"/>
                                        <p:tgtEl>
                                          <p:spTgt spid="56"/>
                                        </p:tgtEl>
                                        <p:attrNameLst>
                                          <p:attrName>ppt_x</p:attrName>
                                        </p:attrNameLst>
                                      </p:cBhvr>
                                      <p:tavLst>
                                        <p:tav tm="0">
                                          <p:val>
                                            <p:strVal val="#ppt_x"/>
                                          </p:val>
                                        </p:tav>
                                        <p:tav tm="100000">
                                          <p:val>
                                            <p:strVal val="#ppt_x"/>
                                          </p:val>
                                        </p:tav>
                                      </p:tavLst>
                                    </p:anim>
                                    <p:anim calcmode="lin" valueType="num">
                                      <p:cBhvr additive="base">
                                        <p:cTn id="150" dur="500" fill="hold"/>
                                        <p:tgtEl>
                                          <p:spTgt spid="56"/>
                                        </p:tgtEl>
                                        <p:attrNameLst>
                                          <p:attrName>ppt_y</p:attrName>
                                        </p:attrNameLst>
                                      </p:cBhvr>
                                      <p:tavLst>
                                        <p:tav tm="0">
                                          <p:val>
                                            <p:strVal val="#ppt_y+0.1"/>
                                          </p:val>
                                        </p:tav>
                                        <p:tav tm="100000">
                                          <p:val>
                                            <p:strVal val="#ppt_y"/>
                                          </p:val>
                                        </p:tav>
                                      </p:tavLst>
                                    </p:anim>
                                    <p:animEffect transition="in" filter="fade">
                                      <p:cBhvr>
                                        <p:cTn id="151" dur="500"/>
                                        <p:tgtEl>
                                          <p:spTgt spid="56"/>
                                        </p:tgtEl>
                                      </p:cBhvr>
                                    </p:animEffect>
                                  </p:childTnLst>
                                </p:cTn>
                              </p:par>
                              <p:par>
                                <p:cTn id="157" presetID="2" presetClass="entr" presetSubtype="4" fill="hold" grpId="0" nodeType="withEffect">
                                  <p:stCondLst>
                                    <p:cond delay="120"/>
                                  </p:stCondLst>
                                  <p:childTnLst>
                                    <p:set>
                                      <p:cBhvr>
                                        <p:cTn id="153" dur="1" fill="hold">
                                          <p:stCondLst>
                                            <p:cond delay="0"/>
                                          </p:stCondLst>
                                        </p:cTn>
                                        <p:tgtEl>
                                          <p:spTgt spid="59"/>
                                        </p:tgtEl>
                                        <p:attrNameLst>
                                          <p:attrName>style.visibility</p:attrName>
                                        </p:attrNameLst>
                                      </p:cBhvr>
                                      <p:to>
                                        <p:strVal val="visible"/>
                                      </p:to>
                                    </p:set>
                                    <p:anim calcmode="lin" valueType="num">
                                      <p:cBhvr additive="base">
                                        <p:cTn id="154" dur="500" fill="hold"/>
                                        <p:tgtEl>
                                          <p:spTgt spid="59"/>
                                        </p:tgtEl>
                                        <p:attrNameLst>
                                          <p:attrName>ppt_x</p:attrName>
                                        </p:attrNameLst>
                                      </p:cBhvr>
                                      <p:tavLst>
                                        <p:tav tm="0">
                                          <p:val>
                                            <p:strVal val="#ppt_x"/>
                                          </p:val>
                                        </p:tav>
                                        <p:tav tm="100000">
                                          <p:val>
                                            <p:strVal val="#ppt_x"/>
                                          </p:val>
                                        </p:tav>
                                      </p:tavLst>
                                    </p:anim>
                                    <p:anim calcmode="lin" valueType="num">
                                      <p:cBhvr additive="base">
                                        <p:cTn id="155" dur="500" fill="hold"/>
                                        <p:tgtEl>
                                          <p:spTgt spid="59"/>
                                        </p:tgtEl>
                                        <p:attrNameLst>
                                          <p:attrName>ppt_y</p:attrName>
                                        </p:attrNameLst>
                                      </p:cBhvr>
                                      <p:tavLst>
                                        <p:tav tm="0">
                                          <p:val>
                                            <p:strVal val="#ppt_y+0.1"/>
                                          </p:val>
                                        </p:tav>
                                        <p:tav tm="100000">
                                          <p:val>
                                            <p:strVal val="#ppt_y"/>
                                          </p:val>
                                        </p:tav>
                                      </p:tavLst>
                                    </p:anim>
                                    <p:animEffect transition="in" filter="fade">
                                      <p:cBhvr>
                                        <p:cTn id="156" dur="500"/>
                                        <p:tgtEl>
                                          <p:spTgt spid="59"/>
                                        </p:tgtEl>
                                      </p:cBhvr>
                                    </p:animEffect>
                                  </p:childTnLst>
                                </p:cTn>
                              </p:par>
                              <p:par>
                                <p:cTn id="162" presetID="2" presetClass="entr" presetSubtype="4" fill="hold" grpId="0" nodeType="withEffect">
                                  <p:stCondLst>
                                    <p:cond delay="120"/>
                                  </p:stCondLst>
                                  <p:childTnLst>
                                    <p:set>
                                      <p:cBhvr>
                                        <p:cTn id="158" dur="1" fill="hold">
                                          <p:stCondLst>
                                            <p:cond delay="0"/>
                                          </p:stCondLst>
                                        </p:cTn>
                                        <p:tgtEl>
                                          <p:spTgt spid="60"/>
                                        </p:tgtEl>
                                        <p:attrNameLst>
                                          <p:attrName>style.visibility</p:attrName>
                                        </p:attrNameLst>
                                      </p:cBhvr>
                                      <p:to>
                                        <p:strVal val="visible"/>
                                      </p:to>
                                    </p:set>
                                    <p:anim calcmode="lin" valueType="num">
                                      <p:cBhvr additive="base">
                                        <p:cTn id="159" dur="500" fill="hold"/>
                                        <p:tgtEl>
                                          <p:spTgt spid="60"/>
                                        </p:tgtEl>
                                        <p:attrNameLst>
                                          <p:attrName>ppt_x</p:attrName>
                                        </p:attrNameLst>
                                      </p:cBhvr>
                                      <p:tavLst>
                                        <p:tav tm="0">
                                          <p:val>
                                            <p:strVal val="#ppt_x"/>
                                          </p:val>
                                        </p:tav>
                                        <p:tav tm="100000">
                                          <p:val>
                                            <p:strVal val="#ppt_x"/>
                                          </p:val>
                                        </p:tav>
                                      </p:tavLst>
                                    </p:anim>
                                    <p:anim calcmode="lin" valueType="num">
                                      <p:cBhvr additive="base">
                                        <p:cTn id="160" dur="500" fill="hold"/>
                                        <p:tgtEl>
                                          <p:spTgt spid="60"/>
                                        </p:tgtEl>
                                        <p:attrNameLst>
                                          <p:attrName>ppt_y</p:attrName>
                                        </p:attrNameLst>
                                      </p:cBhvr>
                                      <p:tavLst>
                                        <p:tav tm="0">
                                          <p:val>
                                            <p:strVal val="#ppt_y+0.1"/>
                                          </p:val>
                                        </p:tav>
                                        <p:tav tm="100000">
                                          <p:val>
                                            <p:strVal val="#ppt_y"/>
                                          </p:val>
                                        </p:tav>
                                      </p:tavLst>
                                    </p:anim>
                                    <p:animEffect transition="in" filter="fade">
                                      <p:cBhvr>
                                        <p:cTn id="161" dur="500"/>
                                        <p:tgtEl>
                                          <p:spTgt spid="60"/>
                                        </p:tgtEl>
                                      </p:cBhvr>
                                    </p:animEffect>
                                  </p:childTnLst>
                                </p:cTn>
                              </p:par>
                              <p:par>
                                <p:cTn id="167" presetID="2" presetClass="entr" presetSubtype="4" fill="hold" grpId="0" nodeType="withEffect">
                                  <p:stCondLst>
                                    <p:cond delay="120"/>
                                  </p:stCondLst>
                                  <p:childTnLst>
                                    <p:set>
                                      <p:cBhvr>
                                        <p:cTn id="163" dur="1" fill="hold">
                                          <p:stCondLst>
                                            <p:cond delay="0"/>
                                          </p:stCondLst>
                                        </p:cTn>
                                        <p:tgtEl>
                                          <p:spTgt spid="61"/>
                                        </p:tgtEl>
                                        <p:attrNameLst>
                                          <p:attrName>style.visibility</p:attrName>
                                        </p:attrNameLst>
                                      </p:cBhvr>
                                      <p:to>
                                        <p:strVal val="visible"/>
                                      </p:to>
                                    </p:set>
                                    <p:anim calcmode="lin" valueType="num">
                                      <p:cBhvr additive="base">
                                        <p:cTn id="164" dur="500" fill="hold"/>
                                        <p:tgtEl>
                                          <p:spTgt spid="61"/>
                                        </p:tgtEl>
                                        <p:attrNameLst>
                                          <p:attrName>ppt_x</p:attrName>
                                        </p:attrNameLst>
                                      </p:cBhvr>
                                      <p:tavLst>
                                        <p:tav tm="0">
                                          <p:val>
                                            <p:strVal val="#ppt_x"/>
                                          </p:val>
                                        </p:tav>
                                        <p:tav tm="100000">
                                          <p:val>
                                            <p:strVal val="#ppt_x"/>
                                          </p:val>
                                        </p:tav>
                                      </p:tavLst>
                                    </p:anim>
                                    <p:anim calcmode="lin" valueType="num">
                                      <p:cBhvr additive="base">
                                        <p:cTn id="165" dur="500" fill="hold"/>
                                        <p:tgtEl>
                                          <p:spTgt spid="61"/>
                                        </p:tgtEl>
                                        <p:attrNameLst>
                                          <p:attrName>ppt_y</p:attrName>
                                        </p:attrNameLst>
                                      </p:cBhvr>
                                      <p:tavLst>
                                        <p:tav tm="0">
                                          <p:val>
                                            <p:strVal val="#ppt_y+0.1"/>
                                          </p:val>
                                        </p:tav>
                                        <p:tav tm="100000">
                                          <p:val>
                                            <p:strVal val="#ppt_y"/>
                                          </p:val>
                                        </p:tav>
                                      </p:tavLst>
                                    </p:anim>
                                    <p:animEffect transition="in" filter="fade">
                                      <p:cBhvr>
                                        <p:cTn id="166" dur="500"/>
                                        <p:tgtEl>
                                          <p:spTgt spid="61"/>
                                        </p:tgtEl>
                                      </p:cBhvr>
                                    </p:animEffect>
                                  </p:childTnLst>
                                </p:cTn>
                              </p:par>
                              <p:par>
                                <p:cTn id="172" presetID="2" presetClass="entr" presetSubtype="4" fill="hold" grpId="0" nodeType="withEffect">
                                  <p:stCondLst>
                                    <p:cond delay="120"/>
                                  </p:stCondLst>
                                  <p:childTnLst>
                                    <p:set>
                                      <p:cBhvr>
                                        <p:cTn id="168" dur="1" fill="hold">
                                          <p:stCondLst>
                                            <p:cond delay="0"/>
                                          </p:stCondLst>
                                        </p:cTn>
                                        <p:tgtEl>
                                          <p:spTgt spid="62"/>
                                        </p:tgtEl>
                                        <p:attrNameLst>
                                          <p:attrName>style.visibility</p:attrName>
                                        </p:attrNameLst>
                                      </p:cBhvr>
                                      <p:to>
                                        <p:strVal val="visible"/>
                                      </p:to>
                                    </p:set>
                                    <p:anim calcmode="lin" valueType="num">
                                      <p:cBhvr additive="base">
                                        <p:cTn id="169" dur="500" fill="hold"/>
                                        <p:tgtEl>
                                          <p:spTgt spid="62"/>
                                        </p:tgtEl>
                                        <p:attrNameLst>
                                          <p:attrName>ppt_x</p:attrName>
                                        </p:attrNameLst>
                                      </p:cBhvr>
                                      <p:tavLst>
                                        <p:tav tm="0">
                                          <p:val>
                                            <p:strVal val="#ppt_x"/>
                                          </p:val>
                                        </p:tav>
                                        <p:tav tm="100000">
                                          <p:val>
                                            <p:strVal val="#ppt_x"/>
                                          </p:val>
                                        </p:tav>
                                      </p:tavLst>
                                    </p:anim>
                                    <p:anim calcmode="lin" valueType="num">
                                      <p:cBhvr additive="base">
                                        <p:cTn id="170" dur="500" fill="hold"/>
                                        <p:tgtEl>
                                          <p:spTgt spid="62"/>
                                        </p:tgtEl>
                                        <p:attrNameLst>
                                          <p:attrName>ppt_y</p:attrName>
                                        </p:attrNameLst>
                                      </p:cBhvr>
                                      <p:tavLst>
                                        <p:tav tm="0">
                                          <p:val>
                                            <p:strVal val="#ppt_y+0.1"/>
                                          </p:val>
                                        </p:tav>
                                        <p:tav tm="100000">
                                          <p:val>
                                            <p:strVal val="#ppt_y"/>
                                          </p:val>
                                        </p:tav>
                                      </p:tavLst>
                                    </p:anim>
                                    <p:animEffect transition="in" filter="fade">
                                      <p:cBhvr>
                                        <p:cTn id="171" dur="500"/>
                                        <p:tgtEl>
                                          <p:spTgt spid="62"/>
                                        </p:tgtEl>
                                      </p:cBhvr>
                                    </p:animEffect>
                                  </p:childTnLst>
                                </p:cTn>
                              </p:par>
                              <p:par>
                                <p:cTn id="177" presetID="2" presetClass="entr" presetSubtype="4" fill="hold" grpId="0" nodeType="withEffect">
                                  <p:stCondLst>
                                    <p:cond delay="240"/>
                                  </p:stCondLst>
                                  <p:childTnLst>
                                    <p:set>
                                      <p:cBhvr>
                                        <p:cTn id="173" dur="1" fill="hold">
                                          <p:stCondLst>
                                            <p:cond delay="0"/>
                                          </p:stCondLst>
                                        </p:cTn>
                                        <p:tgtEl>
                                          <p:spTgt spid="65"/>
                                        </p:tgtEl>
                                        <p:attrNameLst>
                                          <p:attrName>style.visibility</p:attrName>
                                        </p:attrNameLst>
                                      </p:cBhvr>
                                      <p:to>
                                        <p:strVal val="visible"/>
                                      </p:to>
                                    </p:set>
                                    <p:anim calcmode="lin" valueType="num">
                                      <p:cBhvr additive="base">
                                        <p:cTn id="174" dur="500" fill="hold"/>
                                        <p:tgtEl>
                                          <p:spTgt spid="65"/>
                                        </p:tgtEl>
                                        <p:attrNameLst>
                                          <p:attrName>ppt_x</p:attrName>
                                        </p:attrNameLst>
                                      </p:cBhvr>
                                      <p:tavLst>
                                        <p:tav tm="0">
                                          <p:val>
                                            <p:strVal val="#ppt_x"/>
                                          </p:val>
                                        </p:tav>
                                        <p:tav tm="100000">
                                          <p:val>
                                            <p:strVal val="#ppt_x"/>
                                          </p:val>
                                        </p:tav>
                                      </p:tavLst>
                                    </p:anim>
                                    <p:anim calcmode="lin" valueType="num">
                                      <p:cBhvr additive="base">
                                        <p:cTn id="175" dur="500" fill="hold"/>
                                        <p:tgtEl>
                                          <p:spTgt spid="65"/>
                                        </p:tgtEl>
                                        <p:attrNameLst>
                                          <p:attrName>ppt_y</p:attrName>
                                        </p:attrNameLst>
                                      </p:cBhvr>
                                      <p:tavLst>
                                        <p:tav tm="0">
                                          <p:val>
                                            <p:strVal val="#ppt_y+0.1"/>
                                          </p:val>
                                        </p:tav>
                                        <p:tav tm="100000">
                                          <p:val>
                                            <p:strVal val="#ppt_y"/>
                                          </p:val>
                                        </p:tav>
                                      </p:tavLst>
                                    </p:anim>
                                    <p:animEffect transition="in" filter="fade">
                                      <p:cBhvr>
                                        <p:cTn id="176" dur="500"/>
                                        <p:tgtEl>
                                          <p:spTgt spid="65"/>
                                        </p:tgtEl>
                                      </p:cBhvr>
                                    </p:animEffect>
                                  </p:childTnLst>
                                </p:cTn>
                              </p:par>
                              <p:par>
                                <p:cTn id="182" presetID="2" presetClass="entr" presetSubtype="4" fill="hold" grpId="0" nodeType="withEffect">
                                  <p:stCondLst>
                                    <p:cond delay="240"/>
                                  </p:stCondLst>
                                  <p:childTnLst>
                                    <p:set>
                                      <p:cBhvr>
                                        <p:cTn id="178" dur="1" fill="hold">
                                          <p:stCondLst>
                                            <p:cond delay="0"/>
                                          </p:stCondLst>
                                        </p:cTn>
                                        <p:tgtEl>
                                          <p:spTgt spid="66"/>
                                        </p:tgtEl>
                                        <p:attrNameLst>
                                          <p:attrName>style.visibility</p:attrName>
                                        </p:attrNameLst>
                                      </p:cBhvr>
                                      <p:to>
                                        <p:strVal val="visible"/>
                                      </p:to>
                                    </p:set>
                                    <p:anim calcmode="lin" valueType="num">
                                      <p:cBhvr additive="base">
                                        <p:cTn id="179" dur="500" fill="hold"/>
                                        <p:tgtEl>
                                          <p:spTgt spid="66"/>
                                        </p:tgtEl>
                                        <p:attrNameLst>
                                          <p:attrName>ppt_x</p:attrName>
                                        </p:attrNameLst>
                                      </p:cBhvr>
                                      <p:tavLst>
                                        <p:tav tm="0">
                                          <p:val>
                                            <p:strVal val="#ppt_x"/>
                                          </p:val>
                                        </p:tav>
                                        <p:tav tm="100000">
                                          <p:val>
                                            <p:strVal val="#ppt_x"/>
                                          </p:val>
                                        </p:tav>
                                      </p:tavLst>
                                    </p:anim>
                                    <p:anim calcmode="lin" valueType="num">
                                      <p:cBhvr additive="base">
                                        <p:cTn id="180" dur="500" fill="hold"/>
                                        <p:tgtEl>
                                          <p:spTgt spid="66"/>
                                        </p:tgtEl>
                                        <p:attrNameLst>
                                          <p:attrName>ppt_y</p:attrName>
                                        </p:attrNameLst>
                                      </p:cBhvr>
                                      <p:tavLst>
                                        <p:tav tm="0">
                                          <p:val>
                                            <p:strVal val="#ppt_y+0.1"/>
                                          </p:val>
                                        </p:tav>
                                        <p:tav tm="100000">
                                          <p:val>
                                            <p:strVal val="#ppt_y"/>
                                          </p:val>
                                        </p:tav>
                                      </p:tavLst>
                                    </p:anim>
                                    <p:animEffect transition="in" filter="fade">
                                      <p:cBhvr>
                                        <p:cTn id="181" dur="500"/>
                                        <p:tgtEl>
                                          <p:spTgt spid="66"/>
                                        </p:tgtEl>
                                      </p:cBhvr>
                                    </p:animEffect>
                                  </p:childTnLst>
                                </p:cTn>
                              </p:par>
                              <p:par>
                                <p:cTn id="187" presetID="2" presetClass="entr" presetSubtype="4" fill="hold" grpId="0" nodeType="withEffect">
                                  <p:stCondLst>
                                    <p:cond delay="240"/>
                                  </p:stCondLst>
                                  <p:childTnLst>
                                    <p:set>
                                      <p:cBhvr>
                                        <p:cTn id="183" dur="1" fill="hold">
                                          <p:stCondLst>
                                            <p:cond delay="0"/>
                                          </p:stCondLst>
                                        </p:cTn>
                                        <p:tgtEl>
                                          <p:spTgt spid="67"/>
                                        </p:tgtEl>
                                        <p:attrNameLst>
                                          <p:attrName>style.visibility</p:attrName>
                                        </p:attrNameLst>
                                      </p:cBhvr>
                                      <p:to>
                                        <p:strVal val="visible"/>
                                      </p:to>
                                    </p:set>
                                    <p:anim calcmode="lin" valueType="num">
                                      <p:cBhvr additive="base">
                                        <p:cTn id="184" dur="500" fill="hold"/>
                                        <p:tgtEl>
                                          <p:spTgt spid="67"/>
                                        </p:tgtEl>
                                        <p:attrNameLst>
                                          <p:attrName>ppt_x</p:attrName>
                                        </p:attrNameLst>
                                      </p:cBhvr>
                                      <p:tavLst>
                                        <p:tav tm="0">
                                          <p:val>
                                            <p:strVal val="#ppt_x"/>
                                          </p:val>
                                        </p:tav>
                                        <p:tav tm="100000">
                                          <p:val>
                                            <p:strVal val="#ppt_x"/>
                                          </p:val>
                                        </p:tav>
                                      </p:tavLst>
                                    </p:anim>
                                    <p:anim calcmode="lin" valueType="num">
                                      <p:cBhvr additive="base">
                                        <p:cTn id="185" dur="500" fill="hold"/>
                                        <p:tgtEl>
                                          <p:spTgt spid="67"/>
                                        </p:tgtEl>
                                        <p:attrNameLst>
                                          <p:attrName>ppt_y</p:attrName>
                                        </p:attrNameLst>
                                      </p:cBhvr>
                                      <p:tavLst>
                                        <p:tav tm="0">
                                          <p:val>
                                            <p:strVal val="#ppt_y+0.1"/>
                                          </p:val>
                                        </p:tav>
                                        <p:tav tm="100000">
                                          <p:val>
                                            <p:strVal val="#ppt_y"/>
                                          </p:val>
                                        </p:tav>
                                      </p:tavLst>
                                    </p:anim>
                                    <p:animEffect transition="in" filter="fade">
                                      <p:cBhvr>
                                        <p:cTn id="186" dur="500"/>
                                        <p:tgtEl>
                                          <p:spTgt spid="67"/>
                                        </p:tgtEl>
                                      </p:cBhvr>
                                    </p:animEffect>
                                  </p:childTnLst>
                                </p:cTn>
                              </p:par>
                              <p:par>
                                <p:cTn id="192" presetID="2" presetClass="entr" presetSubtype="4" fill="hold" grpId="0" nodeType="withEffect">
                                  <p:stCondLst>
                                    <p:cond delay="240"/>
                                  </p:stCondLst>
                                  <p:childTnLst>
                                    <p:set>
                                      <p:cBhvr>
                                        <p:cTn id="188" dur="1" fill="hold">
                                          <p:stCondLst>
                                            <p:cond delay="0"/>
                                          </p:stCondLst>
                                        </p:cTn>
                                        <p:tgtEl>
                                          <p:spTgt spid="68"/>
                                        </p:tgtEl>
                                        <p:attrNameLst>
                                          <p:attrName>style.visibility</p:attrName>
                                        </p:attrNameLst>
                                      </p:cBhvr>
                                      <p:to>
                                        <p:strVal val="visible"/>
                                      </p:to>
                                    </p:set>
                                    <p:anim calcmode="lin" valueType="num">
                                      <p:cBhvr additive="base">
                                        <p:cTn id="189" dur="500" fill="hold"/>
                                        <p:tgtEl>
                                          <p:spTgt spid="68"/>
                                        </p:tgtEl>
                                        <p:attrNameLst>
                                          <p:attrName>ppt_x</p:attrName>
                                        </p:attrNameLst>
                                      </p:cBhvr>
                                      <p:tavLst>
                                        <p:tav tm="0">
                                          <p:val>
                                            <p:strVal val="#ppt_x"/>
                                          </p:val>
                                        </p:tav>
                                        <p:tav tm="100000">
                                          <p:val>
                                            <p:strVal val="#ppt_x"/>
                                          </p:val>
                                        </p:tav>
                                      </p:tavLst>
                                    </p:anim>
                                    <p:anim calcmode="lin" valueType="num">
                                      <p:cBhvr additive="base">
                                        <p:cTn id="190" dur="500" fill="hold"/>
                                        <p:tgtEl>
                                          <p:spTgt spid="68"/>
                                        </p:tgtEl>
                                        <p:attrNameLst>
                                          <p:attrName>ppt_y</p:attrName>
                                        </p:attrNameLst>
                                      </p:cBhvr>
                                      <p:tavLst>
                                        <p:tav tm="0">
                                          <p:val>
                                            <p:strVal val="#ppt_y+0.1"/>
                                          </p:val>
                                        </p:tav>
                                        <p:tav tm="100000">
                                          <p:val>
                                            <p:strVal val="#ppt_y"/>
                                          </p:val>
                                        </p:tav>
                                      </p:tavLst>
                                    </p:anim>
                                    <p:animEffect transition="in" filter="fade">
                                      <p:cBhvr>
                                        <p:cTn id="191" dur="500"/>
                                        <p:tgtEl>
                                          <p:spTgt spid="68"/>
                                        </p:tgtEl>
                                      </p:cBhvr>
                                    </p:animEffect>
                                  </p:childTnLst>
                                </p:cTn>
                              </p:par>
                            </p:childTnLst>
                          </p:cTn>
                        </p:par>
                      </p:childTnLst>
                    </p:cTn>
                  </p:par>
                  <p:par>
                    <p:cTn id="193" fill="hold">
                      <p:stCondLst>
                        <p:cond delay="indefinite"/>
                      </p:stCondLst>
                      <p:childTnLst>
                        <p:par>
                          <p:cTn id="194" fill="hold">
                            <p:stCondLst>
                              <p:cond delay="0"/>
                            </p:stCondLst>
                            <p:childTnLst>
                              <p:par>
                                <p:cTn id="199" presetID="2" presetClass="entr" presetSubtype="4" fill="hold" grpId="0" nodeType="clickEffect">
                                  <p:stCondLst>
                                    <p:cond delay="0"/>
                                  </p:stCondLst>
                                  <p:childTnLst>
                                    <p:set>
                                      <p:cBhvr>
                                        <p:cTn id="195" dur="1" fill="hold">
                                          <p:stCondLst>
                                            <p:cond delay="0"/>
                                          </p:stCondLst>
                                        </p:cTn>
                                        <p:tgtEl>
                                          <p:spTgt spid="57"/>
                                        </p:tgtEl>
                                        <p:attrNameLst>
                                          <p:attrName>style.visibility</p:attrName>
                                        </p:attrNameLst>
                                      </p:cBhvr>
                                      <p:to>
                                        <p:strVal val="visible"/>
                                      </p:to>
                                    </p:set>
                                    <p:anim calcmode="lin" valueType="num">
                                      <p:cBhvr additive="base">
                                        <p:cTn id="196" dur="500" fill="hold"/>
                                        <p:tgtEl>
                                          <p:spTgt spid="57"/>
                                        </p:tgtEl>
                                        <p:attrNameLst>
                                          <p:attrName>ppt_x</p:attrName>
                                        </p:attrNameLst>
                                      </p:cBhvr>
                                      <p:tavLst>
                                        <p:tav tm="0">
                                          <p:val>
                                            <p:strVal val="#ppt_x"/>
                                          </p:val>
                                        </p:tav>
                                        <p:tav tm="100000">
                                          <p:val>
                                            <p:strVal val="#ppt_x"/>
                                          </p:val>
                                        </p:tav>
                                      </p:tavLst>
                                    </p:anim>
                                    <p:anim calcmode="lin" valueType="num">
                                      <p:cBhvr additive="base">
                                        <p:cTn id="197" dur="500" fill="hold"/>
                                        <p:tgtEl>
                                          <p:spTgt spid="57"/>
                                        </p:tgtEl>
                                        <p:attrNameLst>
                                          <p:attrName>ppt_y</p:attrName>
                                        </p:attrNameLst>
                                      </p:cBhvr>
                                      <p:tavLst>
                                        <p:tav tm="0">
                                          <p:val>
                                            <p:strVal val="#ppt_y+0.1"/>
                                          </p:val>
                                        </p:tav>
                                        <p:tav tm="100000">
                                          <p:val>
                                            <p:strVal val="#ppt_y"/>
                                          </p:val>
                                        </p:tav>
                                      </p:tavLst>
                                    </p:anim>
                                    <p:animEffect transition="in" filter="fade">
                                      <p:cBhvr>
                                        <p:cTn id="198" dur="500"/>
                                        <p:tgtEl>
                                          <p:spTgt spid="57"/>
                                        </p:tgtEl>
                                      </p:cBhvr>
                                    </p:animEffect>
                                  </p:childTnLst>
                                </p:cTn>
                              </p:par>
                              <p:par>
                                <p:cTn id="204" presetID="2" presetClass="entr" presetSubtype="4" fill="hold" grpId="0" nodeType="withEffect">
                                  <p:stCondLst>
                                    <p:cond delay="0"/>
                                  </p:stCondLst>
                                  <p:childTnLst>
                                    <p:set>
                                      <p:cBhvr>
                                        <p:cTn id="200" dur="1" fill="hold">
                                          <p:stCondLst>
                                            <p:cond delay="0"/>
                                          </p:stCondLst>
                                        </p:cTn>
                                        <p:tgtEl>
                                          <p:spTgt spid="58"/>
                                        </p:tgtEl>
                                        <p:attrNameLst>
                                          <p:attrName>style.visibility</p:attrName>
                                        </p:attrNameLst>
                                      </p:cBhvr>
                                      <p:to>
                                        <p:strVal val="visible"/>
                                      </p:to>
                                    </p:set>
                                    <p:anim calcmode="lin" valueType="num">
                                      <p:cBhvr additive="base">
                                        <p:cTn id="201" dur="500" fill="hold"/>
                                        <p:tgtEl>
                                          <p:spTgt spid="58"/>
                                        </p:tgtEl>
                                        <p:attrNameLst>
                                          <p:attrName>ppt_x</p:attrName>
                                        </p:attrNameLst>
                                      </p:cBhvr>
                                      <p:tavLst>
                                        <p:tav tm="0">
                                          <p:val>
                                            <p:strVal val="#ppt_x"/>
                                          </p:val>
                                        </p:tav>
                                        <p:tav tm="100000">
                                          <p:val>
                                            <p:strVal val="#ppt_x"/>
                                          </p:val>
                                        </p:tav>
                                      </p:tavLst>
                                    </p:anim>
                                    <p:anim calcmode="lin" valueType="num">
                                      <p:cBhvr additive="base">
                                        <p:cTn id="202" dur="500" fill="hold"/>
                                        <p:tgtEl>
                                          <p:spTgt spid="58"/>
                                        </p:tgtEl>
                                        <p:attrNameLst>
                                          <p:attrName>ppt_y</p:attrName>
                                        </p:attrNameLst>
                                      </p:cBhvr>
                                      <p:tavLst>
                                        <p:tav tm="0">
                                          <p:val>
                                            <p:strVal val="#ppt_y+0.1"/>
                                          </p:val>
                                        </p:tav>
                                        <p:tav tm="100000">
                                          <p:val>
                                            <p:strVal val="#ppt_y"/>
                                          </p:val>
                                        </p:tav>
                                      </p:tavLst>
                                    </p:anim>
                                    <p:animEffect transition="in" filter="fade">
                                      <p:cBhvr>
                                        <p:cTn id="203" dur="500"/>
                                        <p:tgtEl>
                                          <p:spTgt spid="58"/>
                                        </p:tgtEl>
                                      </p:cBhvr>
                                    </p:animEffect>
                                  </p:childTnLst>
                                </p:cTn>
                              </p:par>
                              <p:par>
                                <p:cTn id="209" presetID="2" presetClass="entr" presetSubtype="4" fill="hold" grpId="0" nodeType="withEffect">
                                  <p:stCondLst>
                                    <p:cond delay="120"/>
                                  </p:stCondLst>
                                  <p:childTnLst>
                                    <p:set>
                                      <p:cBhvr>
                                        <p:cTn id="205" dur="1" fill="hold">
                                          <p:stCondLst>
                                            <p:cond delay="0"/>
                                          </p:stCondLst>
                                        </p:cTn>
                                        <p:tgtEl>
                                          <p:spTgt spid="63"/>
                                        </p:tgtEl>
                                        <p:attrNameLst>
                                          <p:attrName>style.visibility</p:attrName>
                                        </p:attrNameLst>
                                      </p:cBhvr>
                                      <p:to>
                                        <p:strVal val="visible"/>
                                      </p:to>
                                    </p:set>
                                    <p:anim calcmode="lin" valueType="num">
                                      <p:cBhvr additive="base">
                                        <p:cTn id="206" dur="500" fill="hold"/>
                                        <p:tgtEl>
                                          <p:spTgt spid="63"/>
                                        </p:tgtEl>
                                        <p:attrNameLst>
                                          <p:attrName>ppt_x</p:attrName>
                                        </p:attrNameLst>
                                      </p:cBhvr>
                                      <p:tavLst>
                                        <p:tav tm="0">
                                          <p:val>
                                            <p:strVal val="#ppt_x"/>
                                          </p:val>
                                        </p:tav>
                                        <p:tav tm="100000">
                                          <p:val>
                                            <p:strVal val="#ppt_x"/>
                                          </p:val>
                                        </p:tav>
                                      </p:tavLst>
                                    </p:anim>
                                    <p:anim calcmode="lin" valueType="num">
                                      <p:cBhvr additive="base">
                                        <p:cTn id="207" dur="500" fill="hold"/>
                                        <p:tgtEl>
                                          <p:spTgt spid="63"/>
                                        </p:tgtEl>
                                        <p:attrNameLst>
                                          <p:attrName>ppt_y</p:attrName>
                                        </p:attrNameLst>
                                      </p:cBhvr>
                                      <p:tavLst>
                                        <p:tav tm="0">
                                          <p:val>
                                            <p:strVal val="#ppt_y+0.1"/>
                                          </p:val>
                                        </p:tav>
                                        <p:tav tm="100000">
                                          <p:val>
                                            <p:strVal val="#ppt_y"/>
                                          </p:val>
                                        </p:tav>
                                      </p:tavLst>
                                    </p:anim>
                                    <p:animEffect transition="in" filter="fade">
                                      <p:cBhvr>
                                        <p:cTn id="208" dur="500"/>
                                        <p:tgtEl>
                                          <p:spTgt spid="63"/>
                                        </p:tgtEl>
                                      </p:cBhvr>
                                    </p:animEffect>
                                  </p:childTnLst>
                                </p:cTn>
                              </p:par>
                              <p:par>
                                <p:cTn id="214" presetID="2" presetClass="entr" presetSubtype="4" fill="hold" grpId="0" nodeType="withEffect">
                                  <p:stCondLst>
                                    <p:cond delay="120"/>
                                  </p:stCondLst>
                                  <p:childTnLst>
                                    <p:set>
                                      <p:cBhvr>
                                        <p:cTn id="210" dur="1" fill="hold">
                                          <p:stCondLst>
                                            <p:cond delay="0"/>
                                          </p:stCondLst>
                                        </p:cTn>
                                        <p:tgtEl>
                                          <p:spTgt spid="64"/>
                                        </p:tgtEl>
                                        <p:attrNameLst>
                                          <p:attrName>style.visibility</p:attrName>
                                        </p:attrNameLst>
                                      </p:cBhvr>
                                      <p:to>
                                        <p:strVal val="visible"/>
                                      </p:to>
                                    </p:set>
                                    <p:anim calcmode="lin" valueType="num">
                                      <p:cBhvr additive="base">
                                        <p:cTn id="211" dur="500" fill="hold"/>
                                        <p:tgtEl>
                                          <p:spTgt spid="64"/>
                                        </p:tgtEl>
                                        <p:attrNameLst>
                                          <p:attrName>ppt_x</p:attrName>
                                        </p:attrNameLst>
                                      </p:cBhvr>
                                      <p:tavLst>
                                        <p:tav tm="0">
                                          <p:val>
                                            <p:strVal val="#ppt_x"/>
                                          </p:val>
                                        </p:tav>
                                        <p:tav tm="100000">
                                          <p:val>
                                            <p:strVal val="#ppt_x"/>
                                          </p:val>
                                        </p:tav>
                                      </p:tavLst>
                                    </p:anim>
                                    <p:anim calcmode="lin" valueType="num">
                                      <p:cBhvr additive="base">
                                        <p:cTn id="212" dur="500" fill="hold"/>
                                        <p:tgtEl>
                                          <p:spTgt spid="64"/>
                                        </p:tgtEl>
                                        <p:attrNameLst>
                                          <p:attrName>ppt_y</p:attrName>
                                        </p:attrNameLst>
                                      </p:cBhvr>
                                      <p:tavLst>
                                        <p:tav tm="0">
                                          <p:val>
                                            <p:strVal val="#ppt_y+0.1"/>
                                          </p:val>
                                        </p:tav>
                                        <p:tav tm="100000">
                                          <p:val>
                                            <p:strVal val="#ppt_y"/>
                                          </p:val>
                                        </p:tav>
                                      </p:tavLst>
                                    </p:anim>
                                    <p:animEffect transition="in" filter="fade">
                                      <p:cBhvr>
                                        <p:cTn id="213" dur="500"/>
                                        <p:tgtEl>
                                          <p:spTgt spid="64"/>
                                        </p:tgtEl>
                                      </p:cBhvr>
                                    </p:animEffect>
                                  </p:childTnLst>
                                </p:cTn>
                              </p:par>
                              <p:par>
                                <p:cTn id="219" presetID="2" presetClass="entr" presetSubtype="4" fill="hold" grpId="0" nodeType="withEffect">
                                  <p:stCondLst>
                                    <p:cond delay="240"/>
                                  </p:stCondLst>
                                  <p:childTnLst>
                                    <p:set>
                                      <p:cBhvr>
                                        <p:cTn id="215" dur="1" fill="hold">
                                          <p:stCondLst>
                                            <p:cond delay="0"/>
                                          </p:stCondLst>
                                        </p:cTn>
                                        <p:tgtEl>
                                          <p:spTgt spid="69"/>
                                        </p:tgtEl>
                                        <p:attrNameLst>
                                          <p:attrName>style.visibility</p:attrName>
                                        </p:attrNameLst>
                                      </p:cBhvr>
                                      <p:to>
                                        <p:strVal val="visible"/>
                                      </p:to>
                                    </p:set>
                                    <p:anim calcmode="lin" valueType="num">
                                      <p:cBhvr additive="base">
                                        <p:cTn id="216" dur="500" fill="hold"/>
                                        <p:tgtEl>
                                          <p:spTgt spid="69"/>
                                        </p:tgtEl>
                                        <p:attrNameLst>
                                          <p:attrName>ppt_x</p:attrName>
                                        </p:attrNameLst>
                                      </p:cBhvr>
                                      <p:tavLst>
                                        <p:tav tm="0">
                                          <p:val>
                                            <p:strVal val="#ppt_x"/>
                                          </p:val>
                                        </p:tav>
                                        <p:tav tm="100000">
                                          <p:val>
                                            <p:strVal val="#ppt_x"/>
                                          </p:val>
                                        </p:tav>
                                      </p:tavLst>
                                    </p:anim>
                                    <p:anim calcmode="lin" valueType="num">
                                      <p:cBhvr additive="base">
                                        <p:cTn id="217" dur="500" fill="hold"/>
                                        <p:tgtEl>
                                          <p:spTgt spid="69"/>
                                        </p:tgtEl>
                                        <p:attrNameLst>
                                          <p:attrName>ppt_y</p:attrName>
                                        </p:attrNameLst>
                                      </p:cBhvr>
                                      <p:tavLst>
                                        <p:tav tm="0">
                                          <p:val>
                                            <p:strVal val="#ppt_y+0.1"/>
                                          </p:val>
                                        </p:tav>
                                        <p:tav tm="100000">
                                          <p:val>
                                            <p:strVal val="#ppt_y"/>
                                          </p:val>
                                        </p:tav>
                                      </p:tavLst>
                                    </p:anim>
                                    <p:animEffect transition="in" filter="fade">
                                      <p:cBhvr>
                                        <p:cTn id="218" dur="500"/>
                                        <p:tgtEl>
                                          <p:spTgt spid="69"/>
                                        </p:tgtEl>
                                      </p:cBhvr>
                                    </p:animEffect>
                                  </p:childTnLst>
                                </p:cTn>
                              </p:par>
                              <p:par>
                                <p:cTn id="224" presetID="2" presetClass="entr" presetSubtype="4" fill="hold" grpId="0" nodeType="withEffect">
                                  <p:stCondLst>
                                    <p:cond delay="240"/>
                                  </p:stCondLst>
                                  <p:childTnLst>
                                    <p:set>
                                      <p:cBhvr>
                                        <p:cTn id="220" dur="1" fill="hold">
                                          <p:stCondLst>
                                            <p:cond delay="0"/>
                                          </p:stCondLst>
                                        </p:cTn>
                                        <p:tgtEl>
                                          <p:spTgt spid="70"/>
                                        </p:tgtEl>
                                        <p:attrNameLst>
                                          <p:attrName>style.visibility</p:attrName>
                                        </p:attrNameLst>
                                      </p:cBhvr>
                                      <p:to>
                                        <p:strVal val="visible"/>
                                      </p:to>
                                    </p:set>
                                    <p:anim calcmode="lin" valueType="num">
                                      <p:cBhvr additive="base">
                                        <p:cTn id="221" dur="500" fill="hold"/>
                                        <p:tgtEl>
                                          <p:spTgt spid="70"/>
                                        </p:tgtEl>
                                        <p:attrNameLst>
                                          <p:attrName>ppt_x</p:attrName>
                                        </p:attrNameLst>
                                      </p:cBhvr>
                                      <p:tavLst>
                                        <p:tav tm="0">
                                          <p:val>
                                            <p:strVal val="#ppt_x"/>
                                          </p:val>
                                        </p:tav>
                                        <p:tav tm="100000">
                                          <p:val>
                                            <p:strVal val="#ppt_x"/>
                                          </p:val>
                                        </p:tav>
                                      </p:tavLst>
                                    </p:anim>
                                    <p:anim calcmode="lin" valueType="num">
                                      <p:cBhvr additive="base">
                                        <p:cTn id="222" dur="500" fill="hold"/>
                                        <p:tgtEl>
                                          <p:spTgt spid="70"/>
                                        </p:tgtEl>
                                        <p:attrNameLst>
                                          <p:attrName>ppt_y</p:attrName>
                                        </p:attrNameLst>
                                      </p:cBhvr>
                                      <p:tavLst>
                                        <p:tav tm="0">
                                          <p:val>
                                            <p:strVal val="#ppt_y+0.1"/>
                                          </p:val>
                                        </p:tav>
                                        <p:tav tm="100000">
                                          <p:val>
                                            <p:strVal val="#ppt_y"/>
                                          </p:val>
                                        </p:tav>
                                      </p:tavLst>
                                    </p:anim>
                                    <p:animEffect transition="in" filter="fade">
                                      <p:cBhvr>
                                        <p:cTn id="223" dur="500"/>
                                        <p:tgtEl>
                                          <p:spTgt spid="70"/>
                                        </p:tgtEl>
                                      </p:cBhvr>
                                    </p:animEffect>
                                  </p:childTnLst>
                                </p:cTn>
                              </p:par>
                            </p:childTnLst>
                          </p:cTn>
                        </p:par>
                      </p:childTnLst>
                    </p:cTn>
                  </p:par>
                  <p:par>
                    <p:cTn id="225" fill="hold">
                      <p:stCondLst>
                        <p:cond delay="indefinite"/>
                      </p:stCondLst>
                      <p:childTnLst>
                        <p:par>
                          <p:cTn id="226" fill="hold">
                            <p:stCondLst>
                              <p:cond delay="0"/>
                            </p:stCondLst>
                            <p:childTnLst>
                              <p:par>
                                <p:cTn id="231" presetID="2" presetClass="entr" presetSubtype="4" fill="hold" grpId="0" nodeType="clickEffect">
                                  <p:stCondLst>
                                    <p:cond delay="0"/>
                                  </p:stCondLst>
                                  <p:childTnLst>
                                    <p:set>
                                      <p:cBhvr>
                                        <p:cTn id="227" dur="1" fill="hold">
                                          <p:stCondLst>
                                            <p:cond delay="0"/>
                                          </p:stCondLst>
                                        </p:cTn>
                                        <p:tgtEl>
                                          <p:spTgt spid="71"/>
                                        </p:tgtEl>
                                        <p:attrNameLst>
                                          <p:attrName>style.visibility</p:attrName>
                                        </p:attrNameLst>
                                      </p:cBhvr>
                                      <p:to>
                                        <p:strVal val="visible"/>
                                      </p:to>
                                    </p:set>
                                    <p:anim calcmode="lin" valueType="num">
                                      <p:cBhvr additive="base">
                                        <p:cTn id="228" dur="500" fill="hold"/>
                                        <p:tgtEl>
                                          <p:spTgt spid="71"/>
                                        </p:tgtEl>
                                        <p:attrNameLst>
                                          <p:attrName>ppt_x</p:attrName>
                                        </p:attrNameLst>
                                      </p:cBhvr>
                                      <p:tavLst>
                                        <p:tav tm="0">
                                          <p:val>
                                            <p:strVal val="#ppt_x"/>
                                          </p:val>
                                        </p:tav>
                                        <p:tav tm="100000">
                                          <p:val>
                                            <p:strVal val="#ppt_x"/>
                                          </p:val>
                                        </p:tav>
                                      </p:tavLst>
                                    </p:anim>
                                    <p:anim calcmode="lin" valueType="num">
                                      <p:cBhvr additive="base">
                                        <p:cTn id="229" dur="500" fill="hold"/>
                                        <p:tgtEl>
                                          <p:spTgt spid="71"/>
                                        </p:tgtEl>
                                        <p:attrNameLst>
                                          <p:attrName>ppt_y</p:attrName>
                                        </p:attrNameLst>
                                      </p:cBhvr>
                                      <p:tavLst>
                                        <p:tav tm="0">
                                          <p:val>
                                            <p:strVal val="#ppt_y+0.1"/>
                                          </p:val>
                                        </p:tav>
                                        <p:tav tm="100000">
                                          <p:val>
                                            <p:strVal val="#ppt_y"/>
                                          </p:val>
                                        </p:tav>
                                      </p:tavLst>
                                    </p:anim>
                                    <p:animEffect transition="in" filter="fade">
                                      <p:cBhvr>
                                        <p:cTn id="230" dur="500"/>
                                        <p:tgtEl>
                                          <p:spTgt spid="71"/>
                                        </p:tgtEl>
                                      </p:cBhvr>
                                    </p:animEffect>
                                  </p:childTnLst>
                                </p:cTn>
                              </p:par>
                              <p:par>
                                <p:cTn id="236" presetID="2" presetClass="entr" presetSubtype="4" fill="hold" grpId="0" nodeType="withEffect">
                                  <p:stCondLst>
                                    <p:cond delay="0"/>
                                  </p:stCondLst>
                                  <p:childTnLst>
                                    <p:set>
                                      <p:cBhvr>
                                        <p:cTn id="232" dur="1" fill="hold">
                                          <p:stCondLst>
                                            <p:cond delay="0"/>
                                          </p:stCondLst>
                                        </p:cTn>
                                        <p:tgtEl>
                                          <p:spTgt spid="72"/>
                                        </p:tgtEl>
                                        <p:attrNameLst>
                                          <p:attrName>style.visibility</p:attrName>
                                        </p:attrNameLst>
                                      </p:cBhvr>
                                      <p:to>
                                        <p:strVal val="visible"/>
                                      </p:to>
                                    </p:set>
                                    <p:anim calcmode="lin" valueType="num">
                                      <p:cBhvr additive="base">
                                        <p:cTn id="233" dur="500" fill="hold"/>
                                        <p:tgtEl>
                                          <p:spTgt spid="72"/>
                                        </p:tgtEl>
                                        <p:attrNameLst>
                                          <p:attrName>ppt_x</p:attrName>
                                        </p:attrNameLst>
                                      </p:cBhvr>
                                      <p:tavLst>
                                        <p:tav tm="0">
                                          <p:val>
                                            <p:strVal val="#ppt_x"/>
                                          </p:val>
                                        </p:tav>
                                        <p:tav tm="100000">
                                          <p:val>
                                            <p:strVal val="#ppt_x"/>
                                          </p:val>
                                        </p:tav>
                                      </p:tavLst>
                                    </p:anim>
                                    <p:anim calcmode="lin" valueType="num">
                                      <p:cBhvr additive="base">
                                        <p:cTn id="234" dur="500" fill="hold"/>
                                        <p:tgtEl>
                                          <p:spTgt spid="72"/>
                                        </p:tgtEl>
                                        <p:attrNameLst>
                                          <p:attrName>ppt_y</p:attrName>
                                        </p:attrNameLst>
                                      </p:cBhvr>
                                      <p:tavLst>
                                        <p:tav tm="0">
                                          <p:val>
                                            <p:strVal val="#ppt_y+0.1"/>
                                          </p:val>
                                        </p:tav>
                                        <p:tav tm="100000">
                                          <p:val>
                                            <p:strVal val="#ppt_y"/>
                                          </p:val>
                                        </p:tav>
                                      </p:tavLst>
                                    </p:anim>
                                    <p:animEffect transition="in" filter="fade">
                                      <p:cBhvr>
                                        <p:cTn id="235" dur="500"/>
                                        <p:tgtEl>
                                          <p:spTgt spid="72"/>
                                        </p:tgtEl>
                                      </p:cBhvr>
                                    </p:animEffect>
                                  </p:childTnLst>
                                </p:cTn>
                              </p:par>
                              <p:par>
                                <p:cTn id="241" presetID="2" presetClass="entr" presetSubtype="4" fill="hold" grpId="0" nodeType="withEffect">
                                  <p:stCondLst>
                                    <p:cond delay="0"/>
                                  </p:stCondLst>
                                  <p:childTnLst>
                                    <p:set>
                                      <p:cBhvr>
                                        <p:cTn id="237" dur="1" fill="hold">
                                          <p:stCondLst>
                                            <p:cond delay="0"/>
                                          </p:stCondLst>
                                        </p:cTn>
                                        <p:tgtEl>
                                          <p:spTgt spid="73"/>
                                        </p:tgtEl>
                                        <p:attrNameLst>
                                          <p:attrName>style.visibility</p:attrName>
                                        </p:attrNameLst>
                                      </p:cBhvr>
                                      <p:to>
                                        <p:strVal val="visible"/>
                                      </p:to>
                                    </p:set>
                                    <p:anim calcmode="lin" valueType="num">
                                      <p:cBhvr additive="base">
                                        <p:cTn id="238" dur="500" fill="hold"/>
                                        <p:tgtEl>
                                          <p:spTgt spid="73"/>
                                        </p:tgtEl>
                                        <p:attrNameLst>
                                          <p:attrName>ppt_x</p:attrName>
                                        </p:attrNameLst>
                                      </p:cBhvr>
                                      <p:tavLst>
                                        <p:tav tm="0">
                                          <p:val>
                                            <p:strVal val="#ppt_x"/>
                                          </p:val>
                                        </p:tav>
                                        <p:tav tm="100000">
                                          <p:val>
                                            <p:strVal val="#ppt_x"/>
                                          </p:val>
                                        </p:tav>
                                      </p:tavLst>
                                    </p:anim>
                                    <p:anim calcmode="lin" valueType="num">
                                      <p:cBhvr additive="base">
                                        <p:cTn id="239" dur="500" fill="hold"/>
                                        <p:tgtEl>
                                          <p:spTgt spid="73"/>
                                        </p:tgtEl>
                                        <p:attrNameLst>
                                          <p:attrName>ppt_y</p:attrName>
                                        </p:attrNameLst>
                                      </p:cBhvr>
                                      <p:tavLst>
                                        <p:tav tm="0">
                                          <p:val>
                                            <p:strVal val="#ppt_y+0.1"/>
                                          </p:val>
                                        </p:tav>
                                        <p:tav tm="100000">
                                          <p:val>
                                            <p:strVal val="#ppt_y"/>
                                          </p:val>
                                        </p:tav>
                                      </p:tavLst>
                                    </p:anim>
                                    <p:animEffect transition="in" filter="fade">
                                      <p:cBhvr>
                                        <p:cTn id="240"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KafkaConsumer: Connecting to the Cluster</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The same kind of configuration map as the producer - bootstrap.servers at a minimum</a:t>
            </a:r>
          </a:p>
        </p:txBody>
      </p:sp>
      <p:sp>
        <p:nvSpPr>
          <p:cNvPr id="11" name="a1f_codebg10"/>
          <p:cNvSpPr/>
          <p:nvPr/>
        </p:nvSpPr>
        <p:spPr>
          <a:xfrm>
            <a:off x="457200" y="1280160"/>
            <a:ext cx="4800600" cy="932688"/>
          </a:xfrm>
          <a:prstGeom prst="roundRect">
            <a:avLst>
              <a:gd name="adj" fmla="val 7843"/>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f_codeh11"/>
          <p:cNvSpPr txBox="1"/>
          <p:nvPr/>
        </p:nvSpPr>
        <p:spPr>
          <a:xfrm>
            <a:off x="585216" y="1335024"/>
            <a:ext cx="4544568" cy="219456"/>
          </a:xfrm>
          <a:prstGeom prst="rect">
            <a:avLst/>
          </a:prstGeom>
          <a:noFill/>
        </p:spPr>
        <p:txBody>
          <a:bodyPr wrap="square" lIns="0" tIns="0" rIns="0" bIns="0" anchor="ctr">
            <a:spAutoFit/>
          </a:bodyPr>
          <a:lstStyle/>
          <a:p>
            <a:pPr algn="l"/>
            <a:r>
              <a:rPr sz="950" b="1">
                <a:solidFill>
                  <a:srgbClr val="A8A29E"/>
                </a:solidFill>
                <a:latin typeface="Consolas"/>
              </a:rPr>
              <a:t>consumer.properties</a:t>
            </a:r>
          </a:p>
        </p:txBody>
      </p:sp>
      <p:sp>
        <p:nvSpPr>
          <p:cNvPr id="13" name="a1f_codesep12"/>
          <p:cNvSpPr/>
          <p:nvPr/>
        </p:nvSpPr>
        <p:spPr>
          <a:xfrm>
            <a:off x="585216" y="1609343"/>
            <a:ext cx="4544568" cy="109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w_code13"/>
          <p:cNvSpPr txBox="1"/>
          <p:nvPr/>
        </p:nvSpPr>
        <p:spPr>
          <a:xfrm>
            <a:off x="585216" y="1682495"/>
            <a:ext cx="4544568" cy="201168"/>
          </a:xfrm>
          <a:prstGeom prst="rect">
            <a:avLst/>
          </a:prstGeom>
          <a:noFill/>
        </p:spPr>
        <p:txBody>
          <a:bodyPr wrap="none" lIns="0" tIns="0" rIns="0" bIns="0" anchor="ctr">
            <a:spAutoFit/>
          </a:bodyPr>
          <a:lstStyle/>
          <a:p>
            <a:pPr algn="l"/>
            <a:r>
              <a:rPr sz="850" b="1">
                <a:solidFill>
                  <a:srgbClr val="FDBA74"/>
                </a:solidFill>
                <a:latin typeface="Consolas"/>
              </a:rPr>
              <a:t>bootstrap.servers=broker1:9092,broker2:9092,broker3:9092</a:t>
            </a:r>
          </a:p>
        </p:txBody>
      </p:sp>
      <p:sp>
        <p:nvSpPr>
          <p:cNvPr id="15" name="a1wd90_code14"/>
          <p:cNvSpPr txBox="1"/>
          <p:nvPr/>
        </p:nvSpPr>
        <p:spPr>
          <a:xfrm>
            <a:off x="585216" y="1883664"/>
            <a:ext cx="4544568" cy="201168"/>
          </a:xfrm>
          <a:prstGeom prst="rect">
            <a:avLst/>
          </a:prstGeom>
          <a:noFill/>
        </p:spPr>
        <p:txBody>
          <a:bodyPr wrap="none" lIns="0" tIns="0" rIns="0" bIns="0" anchor="ctr">
            <a:spAutoFit/>
          </a:bodyPr>
          <a:lstStyle/>
          <a:p>
            <a:pPr algn="l"/>
            <a:r>
              <a:rPr sz="850" b="0">
                <a:solidFill>
                  <a:srgbClr val="E7E5E4"/>
                </a:solidFill>
                <a:latin typeface="Consolas"/>
              </a:rPr>
              <a:t>group.id=thermostat-dashboard</a:t>
            </a:r>
          </a:p>
        </p:txBody>
      </p:sp>
      <p:sp>
        <p:nvSpPr>
          <p:cNvPr id="16" name="a2f_codebg15"/>
          <p:cNvSpPr/>
          <p:nvPr/>
        </p:nvSpPr>
        <p:spPr>
          <a:xfrm>
            <a:off x="457200" y="2395728"/>
            <a:ext cx="4800600" cy="1261872"/>
          </a:xfrm>
          <a:prstGeom prst="roundRect">
            <a:avLst>
              <a:gd name="adj" fmla="val 5797"/>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2f_codeh16"/>
          <p:cNvSpPr txBox="1"/>
          <p:nvPr/>
        </p:nvSpPr>
        <p:spPr>
          <a:xfrm>
            <a:off x="585216" y="2450592"/>
            <a:ext cx="4544568" cy="219456"/>
          </a:xfrm>
          <a:prstGeom prst="rect">
            <a:avLst/>
          </a:prstGeom>
          <a:noFill/>
        </p:spPr>
        <p:txBody>
          <a:bodyPr wrap="square" lIns="0" tIns="0" rIns="0" bIns="0" anchor="ctr">
            <a:spAutoFit/>
          </a:bodyPr>
          <a:lstStyle/>
          <a:p>
            <a:pPr algn="l"/>
            <a:r>
              <a:rPr sz="950" b="1">
                <a:solidFill>
                  <a:srgbClr val="A8A29E"/>
                </a:solidFill>
                <a:latin typeface="Consolas"/>
              </a:rPr>
              <a:t>ThermostatDashboard.java</a:t>
            </a:r>
          </a:p>
        </p:txBody>
      </p:sp>
      <p:sp>
        <p:nvSpPr>
          <p:cNvPr id="18" name="a2f_codesep17"/>
          <p:cNvSpPr/>
          <p:nvPr/>
        </p:nvSpPr>
        <p:spPr>
          <a:xfrm>
            <a:off x="585216" y="2724912"/>
            <a:ext cx="4544568" cy="109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2w_code18"/>
          <p:cNvSpPr txBox="1"/>
          <p:nvPr/>
        </p:nvSpPr>
        <p:spPr>
          <a:xfrm>
            <a:off x="585216" y="2798064"/>
            <a:ext cx="4544568" cy="182880"/>
          </a:xfrm>
          <a:prstGeom prst="rect">
            <a:avLst/>
          </a:prstGeom>
          <a:noFill/>
        </p:spPr>
        <p:txBody>
          <a:bodyPr wrap="none" lIns="0" tIns="0" rIns="0" bIns="0" anchor="ctr">
            <a:spAutoFit/>
          </a:bodyPr>
          <a:lstStyle/>
          <a:p>
            <a:pPr algn="l"/>
            <a:r>
              <a:rPr sz="850" b="0">
                <a:solidFill>
                  <a:srgbClr val="E7E5E4"/>
                </a:solidFill>
                <a:latin typeface="Consolas"/>
              </a:rPr>
              <a:t>Properties props = new Properties();</a:t>
            </a:r>
          </a:p>
        </p:txBody>
      </p:sp>
      <p:sp>
        <p:nvSpPr>
          <p:cNvPr id="20" name="a2wd90_code19"/>
          <p:cNvSpPr txBox="1"/>
          <p:nvPr/>
        </p:nvSpPr>
        <p:spPr>
          <a:xfrm>
            <a:off x="585216" y="2980944"/>
            <a:ext cx="4544568" cy="182880"/>
          </a:xfrm>
          <a:prstGeom prst="rect">
            <a:avLst/>
          </a:prstGeom>
          <a:noFill/>
        </p:spPr>
        <p:txBody>
          <a:bodyPr wrap="none" lIns="0" tIns="0" rIns="0" bIns="0" anchor="ctr">
            <a:spAutoFit/>
          </a:bodyPr>
          <a:lstStyle/>
          <a:p>
            <a:pPr algn="l"/>
            <a:r>
              <a:rPr sz="850" b="0">
                <a:solidFill>
                  <a:srgbClr val="E7E5E4"/>
                </a:solidFill>
                <a:latin typeface="Consolas"/>
              </a:rPr>
              <a:t>props.load(new FileReader("consumer.properties"));</a:t>
            </a:r>
          </a:p>
        </p:txBody>
      </p:sp>
      <p:sp>
        <p:nvSpPr>
          <p:cNvPr id="21" name="a2wd180_code20"/>
          <p:cNvSpPr txBox="1"/>
          <p:nvPr/>
        </p:nvSpPr>
        <p:spPr>
          <a:xfrm>
            <a:off x="585216" y="3163824"/>
            <a:ext cx="4544568" cy="182880"/>
          </a:xfrm>
          <a:prstGeom prst="rect">
            <a:avLst/>
          </a:prstGeom>
          <a:noFill/>
        </p:spPr>
        <p:txBody>
          <a:bodyPr wrap="none" lIns="0" tIns="0" rIns="0" bIns="0" anchor="ctr">
            <a:spAutoFit/>
          </a:bodyPr>
          <a:lstStyle/>
          <a:p>
            <a:pPr algn="l"/>
            <a:r>
              <a:rPr sz="850" b="1">
                <a:solidFill>
                  <a:srgbClr val="FDBA74"/>
                </a:solidFill>
                <a:latin typeface="Consolas"/>
              </a:rPr>
              <a:t>var consumer = new KafkaConsumer&lt;&gt;(props,</a:t>
            </a:r>
          </a:p>
        </p:txBody>
      </p:sp>
      <p:sp>
        <p:nvSpPr>
          <p:cNvPr id="22" name="a2wd270_code21"/>
          <p:cNvSpPr txBox="1"/>
          <p:nvPr/>
        </p:nvSpPr>
        <p:spPr>
          <a:xfrm>
            <a:off x="585216" y="3346704"/>
            <a:ext cx="4544568" cy="182880"/>
          </a:xfrm>
          <a:prstGeom prst="rect">
            <a:avLst/>
          </a:prstGeom>
          <a:noFill/>
        </p:spPr>
        <p:txBody>
          <a:bodyPr wrap="none" lIns="0" tIns="0" rIns="0" bIns="0" anchor="ctr">
            <a:spAutoFit/>
          </a:bodyPr>
          <a:lstStyle/>
          <a:p>
            <a:pPr algn="l"/>
            <a:r>
              <a:rPr sz="850" b="1">
                <a:solidFill>
                  <a:srgbClr val="FDBA74"/>
                </a:solidFill>
                <a:latin typeface="Consolas"/>
              </a:rPr>
              <a:t>        new StringDeserializer(), new StringDeserializer());</a:t>
            </a:r>
          </a:p>
        </p:txBody>
      </p:sp>
      <p:sp>
        <p:nvSpPr>
          <p:cNvPr id="23" name="a3u_dot22"/>
          <p:cNvSpPr/>
          <p:nvPr/>
        </p:nvSpPr>
        <p:spPr>
          <a:xfrm>
            <a:off x="5532120" y="1403604"/>
            <a:ext cx="91440" cy="91440"/>
          </a:xfrm>
          <a:prstGeom prst="roundRect">
            <a:avLst>
              <a:gd name="adj" fmla="val 2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3u_b23"/>
          <p:cNvSpPr txBox="1"/>
          <p:nvPr/>
        </p:nvSpPr>
        <p:spPr>
          <a:xfrm>
            <a:off x="5751576" y="1307592"/>
            <a:ext cx="2935224" cy="694944"/>
          </a:xfrm>
          <a:prstGeom prst="rect">
            <a:avLst/>
          </a:prstGeom>
          <a:noFill/>
        </p:spPr>
        <p:txBody>
          <a:bodyPr wrap="square" lIns="0" tIns="0" rIns="0" bIns="0" anchor="t">
            <a:spAutoFit/>
          </a:bodyPr>
          <a:lstStyle/>
          <a:p>
            <a:pPr algn="l"/>
            <a:r>
              <a:rPr sz="950" b="1">
                <a:solidFill>
                  <a:srgbClr val="1C1917"/>
                </a:solidFill>
                <a:latin typeface="Segoe UI"/>
              </a:rPr>
              <a:t>bootstrap.servers  </a:t>
            </a:r>
            <a:r>
              <a:rPr sz="950" b="0">
                <a:solidFill>
                  <a:srgbClr val="44403C"/>
                </a:solidFill>
                <a:latin typeface="Segoe UI"/>
              </a:rPr>
              <a:t>a few brokers - one reachable is enough (Module 6)</a:t>
            </a:r>
          </a:p>
        </p:txBody>
      </p:sp>
      <p:sp>
        <p:nvSpPr>
          <p:cNvPr id="25" name="a3ud120_dot24"/>
          <p:cNvSpPr/>
          <p:nvPr/>
        </p:nvSpPr>
        <p:spPr>
          <a:xfrm>
            <a:off x="5532120" y="2135124"/>
            <a:ext cx="91440" cy="91440"/>
          </a:xfrm>
          <a:prstGeom prst="roundRect">
            <a:avLst>
              <a:gd name="adj" fmla="val 2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3ud120_b25"/>
          <p:cNvSpPr txBox="1"/>
          <p:nvPr/>
        </p:nvSpPr>
        <p:spPr>
          <a:xfrm>
            <a:off x="5751576" y="2039112"/>
            <a:ext cx="2935224" cy="694944"/>
          </a:xfrm>
          <a:prstGeom prst="rect">
            <a:avLst/>
          </a:prstGeom>
          <a:noFill/>
        </p:spPr>
        <p:txBody>
          <a:bodyPr wrap="square" lIns="0" tIns="0" rIns="0" bIns="0" anchor="t">
            <a:spAutoFit/>
          </a:bodyPr>
          <a:lstStyle/>
          <a:p>
            <a:pPr algn="l"/>
            <a:r>
              <a:rPr sz="950" b="1">
                <a:solidFill>
                  <a:srgbClr val="1C1917"/>
                </a:solidFill>
                <a:latin typeface="Segoe UI"/>
              </a:rPr>
              <a:t>group.id  </a:t>
            </a:r>
            <a:r>
              <a:rPr sz="950" b="0">
                <a:solidFill>
                  <a:srgbClr val="44403C"/>
                </a:solidFill>
                <a:latin typeface="Segoe UI"/>
              </a:rPr>
              <a:t>names the consumer's group - needed to subscribe; more at the end</a:t>
            </a:r>
          </a:p>
        </p:txBody>
      </p:sp>
      <p:sp>
        <p:nvSpPr>
          <p:cNvPr id="27" name="a3ud240_dot26"/>
          <p:cNvSpPr/>
          <p:nvPr/>
        </p:nvSpPr>
        <p:spPr>
          <a:xfrm>
            <a:off x="5532120" y="2866644"/>
            <a:ext cx="91440" cy="91440"/>
          </a:xfrm>
          <a:prstGeom prst="roundRect">
            <a:avLst>
              <a:gd name="adj" fmla="val 2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3ud240_b27"/>
          <p:cNvSpPr txBox="1"/>
          <p:nvPr/>
        </p:nvSpPr>
        <p:spPr>
          <a:xfrm>
            <a:off x="5751576" y="2770632"/>
            <a:ext cx="2935224" cy="694944"/>
          </a:xfrm>
          <a:prstGeom prst="rect">
            <a:avLst/>
          </a:prstGeom>
          <a:noFill/>
        </p:spPr>
        <p:txBody>
          <a:bodyPr wrap="square" lIns="0" tIns="0" rIns="0" bIns="0" anchor="t">
            <a:spAutoFit/>
          </a:bodyPr>
          <a:lstStyle/>
          <a:p>
            <a:pPr algn="l"/>
            <a:r>
              <a:rPr sz="950" b="1">
                <a:solidFill>
                  <a:srgbClr val="1C1917"/>
                </a:solidFill>
                <a:latin typeface="Segoe UI"/>
              </a:rPr>
              <a:t>A real config  </a:t>
            </a:r>
            <a:r>
              <a:rPr sz="950" b="0">
                <a:solidFill>
                  <a:srgbClr val="44403C"/>
                </a:solidFill>
                <a:latin typeface="Segoe UI"/>
              </a:rPr>
              <a:t>5 to 10 settings - security among them</a:t>
            </a:r>
          </a:p>
        </p:txBody>
      </p:sp>
      <p:sp>
        <p:nvSpPr>
          <p:cNvPr id="29" name="a4u_nb28"/>
          <p:cNvSpPr/>
          <p:nvPr/>
        </p:nvSpPr>
        <p:spPr>
          <a:xfrm>
            <a:off x="457200" y="3886200"/>
            <a:ext cx="8229600" cy="566928"/>
          </a:xfrm>
          <a:prstGeom prst="roundRect">
            <a:avLst>
              <a:gd name="adj" fmla="val 12903"/>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4u_nacc29"/>
          <p:cNvSpPr/>
          <p:nvPr/>
        </p:nvSpPr>
        <p:spPr>
          <a:xfrm>
            <a:off x="457200" y="3886200"/>
            <a:ext cx="54864" cy="56692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4u_nt30"/>
          <p:cNvSpPr txBox="1"/>
          <p:nvPr/>
        </p:nvSpPr>
        <p:spPr>
          <a:xfrm>
            <a:off x="658368" y="3886200"/>
            <a:ext cx="7827264" cy="566928"/>
          </a:xfrm>
          <a:prstGeom prst="rect">
            <a:avLst/>
          </a:prstGeom>
          <a:noFill/>
        </p:spPr>
        <p:txBody>
          <a:bodyPr wrap="square" lIns="0" tIns="0" rIns="0" bIns="0" anchor="ctr">
            <a:spAutoFit/>
          </a:bodyPr>
          <a:lstStyle/>
          <a:p>
            <a:pPr algn="l"/>
            <a:r>
              <a:rPr sz="950" b="1">
                <a:solidFill>
                  <a:srgbClr val="0E7490"/>
                </a:solidFill>
                <a:latin typeface="Segoe UI"/>
              </a:rPr>
              <a:t>KEY  </a:t>
            </a:r>
            <a:r>
              <a:rPr sz="950" b="0">
                <a:solidFill>
                  <a:srgbClr val="44403C"/>
                </a:solidFill>
                <a:latin typeface="Segoe UI"/>
              </a:rPr>
              <a:t>The consumer talks to one listed broker, learns the whole cluster from its metadata - and is connected.</a:t>
            </a:r>
          </a:p>
        </p:txBody>
      </p:sp>
      <p:sp>
        <p:nvSpPr>
          <p:cNvPr id="32" name="ft31"/>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03</a:t>
            </a:r>
          </a:p>
        </p:txBody>
      </p:sp>
      <p:sp>
        <p:nvSpPr>
          <p:cNvPr id="33" name="ft32"/>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ft33"/>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Consumers</a:t>
            </a:r>
          </a:p>
        </p:txBody>
      </p:sp>
      <p:sp>
        <p:nvSpPr>
          <p:cNvPr id="35" name="ft34"/>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7</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22" presetClass="entr" presetSubtype="8"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par>
                                <p:cTn id="19" presetID="22" presetClass="entr" presetSubtype="8" fill="hold" grpId="0" nodeType="withEffect">
                                  <p:stCondLst>
                                    <p:cond delay="9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childTnLst>
                          </p:cTn>
                        </p:par>
                      </p:childTnLst>
                    </p:cTn>
                  </p:par>
                  <p:par>
                    <p:cTn id="20" fill="hold">
                      <p:stCondLst>
                        <p:cond delay="indefinite"/>
                      </p:stCondLst>
                      <p:childTnLst>
                        <p:par>
                          <p:cTn id="21" fill="hold">
                            <p:stCondLst>
                              <p:cond delay="0"/>
                            </p:stCondLst>
                            <p:childTnLst>
                              <p:par>
                                <p:cTn id="24" presetID="10"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par>
                                <p:cTn id="27"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par>
                                <p:cTn id="30" presetID="10"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par>
                                <p:cTn id="33" presetID="22" presetClass="entr" presetSubtype="8"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left)">
                                      <p:cBhvr>
                                        <p:cTn id="32" dur="500"/>
                                        <p:tgtEl>
                                          <p:spTgt spid="19"/>
                                        </p:tgtEl>
                                      </p:cBhvr>
                                    </p:animEffect>
                                  </p:childTnLst>
                                </p:cTn>
                              </p:par>
                              <p:par>
                                <p:cTn id="36" presetID="22" presetClass="entr" presetSubtype="8" fill="hold" grpId="0" nodeType="withEffect">
                                  <p:stCondLst>
                                    <p:cond delay="90"/>
                                  </p:stCondLst>
                                  <p:childTnLst>
                                    <p:set>
                                      <p:cBhvr>
                                        <p:cTn id="34" dur="1" fill="hold">
                                          <p:stCondLst>
                                            <p:cond delay="0"/>
                                          </p:stCondLst>
                                        </p:cTn>
                                        <p:tgtEl>
                                          <p:spTgt spid="20"/>
                                        </p:tgtEl>
                                        <p:attrNameLst>
                                          <p:attrName>style.visibility</p:attrName>
                                        </p:attrNameLst>
                                      </p:cBhvr>
                                      <p:to>
                                        <p:strVal val="visible"/>
                                      </p:to>
                                    </p:set>
                                    <p:animEffect transition="in" filter="wipe(left)">
                                      <p:cBhvr>
                                        <p:cTn id="35" dur="500"/>
                                        <p:tgtEl>
                                          <p:spTgt spid="20"/>
                                        </p:tgtEl>
                                      </p:cBhvr>
                                    </p:animEffect>
                                  </p:childTnLst>
                                </p:cTn>
                              </p:par>
                              <p:par>
                                <p:cTn id="39" presetID="22" presetClass="entr" presetSubtype="8" fill="hold" grpId="0" nodeType="withEffect">
                                  <p:stCondLst>
                                    <p:cond delay="18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par>
                                <p:cTn id="42" presetID="22" presetClass="entr" presetSubtype="8" fill="hold" grpId="0" nodeType="withEffect">
                                  <p:stCondLst>
                                    <p:cond delay="270"/>
                                  </p:stCondLst>
                                  <p:childTnLst>
                                    <p:set>
                                      <p:cBhvr>
                                        <p:cTn id="40" dur="1" fill="hold">
                                          <p:stCondLst>
                                            <p:cond delay="0"/>
                                          </p:stCondLst>
                                        </p:cTn>
                                        <p:tgtEl>
                                          <p:spTgt spid="22"/>
                                        </p:tgtEl>
                                        <p:attrNameLst>
                                          <p:attrName>style.visibility</p:attrName>
                                        </p:attrNameLst>
                                      </p:cBhvr>
                                      <p:to>
                                        <p:strVal val="visible"/>
                                      </p:to>
                                    </p:set>
                                    <p:animEffect transition="in" filter="wipe(left)">
                                      <p:cBhvr>
                                        <p:cTn id="41"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9" presetID="2" presetClass="entr" presetSubtype="4" fill="hold" grpId="0" nodeType="clickEffect">
                                  <p:stCondLst>
                                    <p:cond delay="0"/>
                                  </p:stCondLst>
                                  <p:childTnLst>
                                    <p:set>
                                      <p:cBhvr>
                                        <p:cTn id="45" dur="1" fill="hold">
                                          <p:stCondLst>
                                            <p:cond delay="0"/>
                                          </p:stCondLst>
                                        </p:cTn>
                                        <p:tgtEl>
                                          <p:spTgt spid="23"/>
                                        </p:tgtEl>
                                        <p:attrNameLst>
                                          <p:attrName>style.visibility</p:attrName>
                                        </p:attrNameLst>
                                      </p:cBhvr>
                                      <p:to>
                                        <p:strVal val="visible"/>
                                      </p:to>
                                    </p:set>
                                    <p:anim calcmode="lin" valueType="num">
                                      <p:cBhvr additive="base">
                                        <p:cTn id="46" dur="500" fill="hold"/>
                                        <p:tgtEl>
                                          <p:spTgt spid="23"/>
                                        </p:tgtEl>
                                        <p:attrNameLst>
                                          <p:attrName>ppt_x</p:attrName>
                                        </p:attrNameLst>
                                      </p:cBhvr>
                                      <p:tavLst>
                                        <p:tav tm="0">
                                          <p:val>
                                            <p:strVal val="#ppt_x"/>
                                          </p:val>
                                        </p:tav>
                                        <p:tav tm="100000">
                                          <p:val>
                                            <p:strVal val="#ppt_x"/>
                                          </p:val>
                                        </p:tav>
                                      </p:tavLst>
                                    </p:anim>
                                    <p:anim calcmode="lin" valueType="num">
                                      <p:cBhvr additive="base">
                                        <p:cTn id="47" dur="500" fill="hold"/>
                                        <p:tgtEl>
                                          <p:spTgt spid="23"/>
                                        </p:tgtEl>
                                        <p:attrNameLst>
                                          <p:attrName>ppt_y</p:attrName>
                                        </p:attrNameLst>
                                      </p:cBhvr>
                                      <p:tavLst>
                                        <p:tav tm="0">
                                          <p:val>
                                            <p:strVal val="#ppt_y+0.1"/>
                                          </p:val>
                                        </p:tav>
                                        <p:tav tm="100000">
                                          <p:val>
                                            <p:strVal val="#ppt_y"/>
                                          </p:val>
                                        </p:tav>
                                      </p:tavLst>
                                    </p:anim>
                                    <p:animEffect transition="in" filter="fade">
                                      <p:cBhvr>
                                        <p:cTn id="48" dur="500"/>
                                        <p:tgtEl>
                                          <p:spTgt spid="23"/>
                                        </p:tgtEl>
                                      </p:cBhvr>
                                    </p:animEffect>
                                  </p:childTnLst>
                                </p:cTn>
                              </p:par>
                              <p:par>
                                <p:cTn id="54" presetID="2" presetClass="entr" presetSubtype="4"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anim calcmode="lin" valueType="num">
                                      <p:cBhvr additive="base">
                                        <p:cTn id="51" dur="500" fill="hold"/>
                                        <p:tgtEl>
                                          <p:spTgt spid="24"/>
                                        </p:tgtEl>
                                        <p:attrNameLst>
                                          <p:attrName>ppt_x</p:attrName>
                                        </p:attrNameLst>
                                      </p:cBhvr>
                                      <p:tavLst>
                                        <p:tav tm="0">
                                          <p:val>
                                            <p:strVal val="#ppt_x"/>
                                          </p:val>
                                        </p:tav>
                                        <p:tav tm="100000">
                                          <p:val>
                                            <p:strVal val="#ppt_x"/>
                                          </p:val>
                                        </p:tav>
                                      </p:tavLst>
                                    </p:anim>
                                    <p:anim calcmode="lin" valueType="num">
                                      <p:cBhvr additive="base">
                                        <p:cTn id="52" dur="500" fill="hold"/>
                                        <p:tgtEl>
                                          <p:spTgt spid="24"/>
                                        </p:tgtEl>
                                        <p:attrNameLst>
                                          <p:attrName>ppt_y</p:attrName>
                                        </p:attrNameLst>
                                      </p:cBhvr>
                                      <p:tavLst>
                                        <p:tav tm="0">
                                          <p:val>
                                            <p:strVal val="#ppt_y+0.1"/>
                                          </p:val>
                                        </p:tav>
                                        <p:tav tm="100000">
                                          <p:val>
                                            <p:strVal val="#ppt_y"/>
                                          </p:val>
                                        </p:tav>
                                      </p:tavLst>
                                    </p:anim>
                                    <p:animEffect transition="in" filter="fade">
                                      <p:cBhvr>
                                        <p:cTn id="53" dur="500"/>
                                        <p:tgtEl>
                                          <p:spTgt spid="24"/>
                                        </p:tgtEl>
                                      </p:cBhvr>
                                    </p:animEffect>
                                  </p:childTnLst>
                                </p:cTn>
                              </p:par>
                              <p:par>
                                <p:cTn id="59" presetID="2" presetClass="entr" presetSubtype="4" fill="hold" grpId="0" nodeType="withEffect">
                                  <p:stCondLst>
                                    <p:cond delay="120"/>
                                  </p:stCondLst>
                                  <p:childTnLst>
                                    <p:set>
                                      <p:cBhvr>
                                        <p:cTn id="55" dur="1" fill="hold">
                                          <p:stCondLst>
                                            <p:cond delay="0"/>
                                          </p:stCondLst>
                                        </p:cTn>
                                        <p:tgtEl>
                                          <p:spTgt spid="25"/>
                                        </p:tgtEl>
                                        <p:attrNameLst>
                                          <p:attrName>style.visibility</p:attrName>
                                        </p:attrNameLst>
                                      </p:cBhvr>
                                      <p:to>
                                        <p:strVal val="visible"/>
                                      </p:to>
                                    </p:set>
                                    <p:anim calcmode="lin" valueType="num">
                                      <p:cBhvr additive="base">
                                        <p:cTn id="56" dur="500" fill="hold"/>
                                        <p:tgtEl>
                                          <p:spTgt spid="25"/>
                                        </p:tgtEl>
                                        <p:attrNameLst>
                                          <p:attrName>ppt_x</p:attrName>
                                        </p:attrNameLst>
                                      </p:cBhvr>
                                      <p:tavLst>
                                        <p:tav tm="0">
                                          <p:val>
                                            <p:strVal val="#ppt_x"/>
                                          </p:val>
                                        </p:tav>
                                        <p:tav tm="100000">
                                          <p:val>
                                            <p:strVal val="#ppt_x"/>
                                          </p:val>
                                        </p:tav>
                                      </p:tavLst>
                                    </p:anim>
                                    <p:anim calcmode="lin" valueType="num">
                                      <p:cBhvr additive="base">
                                        <p:cTn id="57" dur="500" fill="hold"/>
                                        <p:tgtEl>
                                          <p:spTgt spid="25"/>
                                        </p:tgtEl>
                                        <p:attrNameLst>
                                          <p:attrName>ppt_y</p:attrName>
                                        </p:attrNameLst>
                                      </p:cBhvr>
                                      <p:tavLst>
                                        <p:tav tm="0">
                                          <p:val>
                                            <p:strVal val="#ppt_y+0.1"/>
                                          </p:val>
                                        </p:tav>
                                        <p:tav tm="100000">
                                          <p:val>
                                            <p:strVal val="#ppt_y"/>
                                          </p:val>
                                        </p:tav>
                                      </p:tavLst>
                                    </p:anim>
                                    <p:animEffect transition="in" filter="fade">
                                      <p:cBhvr>
                                        <p:cTn id="58" dur="500"/>
                                        <p:tgtEl>
                                          <p:spTgt spid="25"/>
                                        </p:tgtEl>
                                      </p:cBhvr>
                                    </p:animEffect>
                                  </p:childTnLst>
                                </p:cTn>
                              </p:par>
                              <p:par>
                                <p:cTn id="64" presetID="2" presetClass="entr" presetSubtype="4" fill="hold" grpId="0" nodeType="withEffect">
                                  <p:stCondLst>
                                    <p:cond delay="120"/>
                                  </p:stCondLst>
                                  <p:childTnLst>
                                    <p:set>
                                      <p:cBhvr>
                                        <p:cTn id="60" dur="1" fill="hold">
                                          <p:stCondLst>
                                            <p:cond delay="0"/>
                                          </p:stCondLst>
                                        </p:cTn>
                                        <p:tgtEl>
                                          <p:spTgt spid="26"/>
                                        </p:tgtEl>
                                        <p:attrNameLst>
                                          <p:attrName>style.visibility</p:attrName>
                                        </p:attrNameLst>
                                      </p:cBhvr>
                                      <p:to>
                                        <p:strVal val="visible"/>
                                      </p:to>
                                    </p:set>
                                    <p:anim calcmode="lin" valueType="num">
                                      <p:cBhvr additive="base">
                                        <p:cTn id="61" dur="500" fill="hold"/>
                                        <p:tgtEl>
                                          <p:spTgt spid="26"/>
                                        </p:tgtEl>
                                        <p:attrNameLst>
                                          <p:attrName>ppt_x</p:attrName>
                                        </p:attrNameLst>
                                      </p:cBhvr>
                                      <p:tavLst>
                                        <p:tav tm="0">
                                          <p:val>
                                            <p:strVal val="#ppt_x"/>
                                          </p:val>
                                        </p:tav>
                                        <p:tav tm="100000">
                                          <p:val>
                                            <p:strVal val="#ppt_x"/>
                                          </p:val>
                                        </p:tav>
                                      </p:tavLst>
                                    </p:anim>
                                    <p:anim calcmode="lin" valueType="num">
                                      <p:cBhvr additive="base">
                                        <p:cTn id="62" dur="500" fill="hold"/>
                                        <p:tgtEl>
                                          <p:spTgt spid="26"/>
                                        </p:tgtEl>
                                        <p:attrNameLst>
                                          <p:attrName>ppt_y</p:attrName>
                                        </p:attrNameLst>
                                      </p:cBhvr>
                                      <p:tavLst>
                                        <p:tav tm="0">
                                          <p:val>
                                            <p:strVal val="#ppt_y+0.1"/>
                                          </p:val>
                                        </p:tav>
                                        <p:tav tm="100000">
                                          <p:val>
                                            <p:strVal val="#ppt_y"/>
                                          </p:val>
                                        </p:tav>
                                      </p:tavLst>
                                    </p:anim>
                                    <p:animEffect transition="in" filter="fade">
                                      <p:cBhvr>
                                        <p:cTn id="63" dur="500"/>
                                        <p:tgtEl>
                                          <p:spTgt spid="26"/>
                                        </p:tgtEl>
                                      </p:cBhvr>
                                    </p:animEffect>
                                  </p:childTnLst>
                                </p:cTn>
                              </p:par>
                              <p:par>
                                <p:cTn id="69" presetID="2" presetClass="entr" presetSubtype="4" fill="hold" grpId="0" nodeType="withEffect">
                                  <p:stCondLst>
                                    <p:cond delay="240"/>
                                  </p:stCondLst>
                                  <p:childTnLst>
                                    <p:set>
                                      <p:cBhvr>
                                        <p:cTn id="65" dur="1" fill="hold">
                                          <p:stCondLst>
                                            <p:cond delay="0"/>
                                          </p:stCondLst>
                                        </p:cTn>
                                        <p:tgtEl>
                                          <p:spTgt spid="27"/>
                                        </p:tgtEl>
                                        <p:attrNameLst>
                                          <p:attrName>style.visibility</p:attrName>
                                        </p:attrNameLst>
                                      </p:cBhvr>
                                      <p:to>
                                        <p:strVal val="visible"/>
                                      </p:to>
                                    </p:set>
                                    <p:anim calcmode="lin" valueType="num">
                                      <p:cBhvr additive="base">
                                        <p:cTn id="66" dur="500" fill="hold"/>
                                        <p:tgtEl>
                                          <p:spTgt spid="27"/>
                                        </p:tgtEl>
                                        <p:attrNameLst>
                                          <p:attrName>ppt_x</p:attrName>
                                        </p:attrNameLst>
                                      </p:cBhvr>
                                      <p:tavLst>
                                        <p:tav tm="0">
                                          <p:val>
                                            <p:strVal val="#ppt_x"/>
                                          </p:val>
                                        </p:tav>
                                        <p:tav tm="100000">
                                          <p:val>
                                            <p:strVal val="#ppt_x"/>
                                          </p:val>
                                        </p:tav>
                                      </p:tavLst>
                                    </p:anim>
                                    <p:anim calcmode="lin" valueType="num">
                                      <p:cBhvr additive="base">
                                        <p:cTn id="67" dur="500" fill="hold"/>
                                        <p:tgtEl>
                                          <p:spTgt spid="27"/>
                                        </p:tgtEl>
                                        <p:attrNameLst>
                                          <p:attrName>ppt_y</p:attrName>
                                        </p:attrNameLst>
                                      </p:cBhvr>
                                      <p:tavLst>
                                        <p:tav tm="0">
                                          <p:val>
                                            <p:strVal val="#ppt_y+0.1"/>
                                          </p:val>
                                        </p:tav>
                                        <p:tav tm="100000">
                                          <p:val>
                                            <p:strVal val="#ppt_y"/>
                                          </p:val>
                                        </p:tav>
                                      </p:tavLst>
                                    </p:anim>
                                    <p:animEffect transition="in" filter="fade">
                                      <p:cBhvr>
                                        <p:cTn id="68" dur="500"/>
                                        <p:tgtEl>
                                          <p:spTgt spid="27"/>
                                        </p:tgtEl>
                                      </p:cBhvr>
                                    </p:animEffect>
                                  </p:childTnLst>
                                </p:cTn>
                              </p:par>
                              <p:par>
                                <p:cTn id="74" presetID="2" presetClass="entr" presetSubtype="4" fill="hold" grpId="0" nodeType="withEffect">
                                  <p:stCondLst>
                                    <p:cond delay="240"/>
                                  </p:stCondLst>
                                  <p:childTnLst>
                                    <p:set>
                                      <p:cBhvr>
                                        <p:cTn id="70" dur="1" fill="hold">
                                          <p:stCondLst>
                                            <p:cond delay="0"/>
                                          </p:stCondLst>
                                        </p:cTn>
                                        <p:tgtEl>
                                          <p:spTgt spid="28"/>
                                        </p:tgtEl>
                                        <p:attrNameLst>
                                          <p:attrName>style.visibility</p:attrName>
                                        </p:attrNameLst>
                                      </p:cBhvr>
                                      <p:to>
                                        <p:strVal val="visible"/>
                                      </p:to>
                                    </p:set>
                                    <p:anim calcmode="lin" valueType="num">
                                      <p:cBhvr additive="base">
                                        <p:cTn id="71" dur="500" fill="hold"/>
                                        <p:tgtEl>
                                          <p:spTgt spid="28"/>
                                        </p:tgtEl>
                                        <p:attrNameLst>
                                          <p:attrName>ppt_x</p:attrName>
                                        </p:attrNameLst>
                                      </p:cBhvr>
                                      <p:tavLst>
                                        <p:tav tm="0">
                                          <p:val>
                                            <p:strVal val="#ppt_x"/>
                                          </p:val>
                                        </p:tav>
                                        <p:tav tm="100000">
                                          <p:val>
                                            <p:strVal val="#ppt_x"/>
                                          </p:val>
                                        </p:tav>
                                      </p:tavLst>
                                    </p:anim>
                                    <p:anim calcmode="lin" valueType="num">
                                      <p:cBhvr additive="base">
                                        <p:cTn id="72" dur="500" fill="hold"/>
                                        <p:tgtEl>
                                          <p:spTgt spid="28"/>
                                        </p:tgtEl>
                                        <p:attrNameLst>
                                          <p:attrName>ppt_y</p:attrName>
                                        </p:attrNameLst>
                                      </p:cBhvr>
                                      <p:tavLst>
                                        <p:tav tm="0">
                                          <p:val>
                                            <p:strVal val="#ppt_y+0.1"/>
                                          </p:val>
                                        </p:tav>
                                        <p:tav tm="100000">
                                          <p:val>
                                            <p:strVal val="#ppt_y"/>
                                          </p:val>
                                        </p:tav>
                                      </p:tavLst>
                                    </p:anim>
                                    <p:animEffect transition="in" filter="fade">
                                      <p:cBhvr>
                                        <p:cTn id="73" dur="500"/>
                                        <p:tgtEl>
                                          <p:spTgt spid="28"/>
                                        </p:tgtEl>
                                      </p:cBhvr>
                                    </p:animEffect>
                                  </p:childTnLst>
                                </p:cTn>
                              </p:par>
                            </p:childTnLst>
                          </p:cTn>
                        </p:par>
                      </p:childTnLst>
                    </p:cTn>
                  </p:par>
                  <p:par>
                    <p:cTn id="75" fill="hold">
                      <p:stCondLst>
                        <p:cond delay="indefinite"/>
                      </p:stCondLst>
                      <p:childTnLst>
                        <p:par>
                          <p:cTn id="76" fill="hold">
                            <p:stCondLst>
                              <p:cond delay="0"/>
                            </p:stCondLst>
                            <p:childTnLst>
                              <p:par>
                                <p:cTn id="81" presetID="2" presetClass="entr" presetSubtype="4" fill="hold" grpId="0" nodeType="clickEffect">
                                  <p:stCondLst>
                                    <p:cond delay="0"/>
                                  </p:stCondLst>
                                  <p:childTnLst>
                                    <p:set>
                                      <p:cBhvr>
                                        <p:cTn id="77" dur="1" fill="hold">
                                          <p:stCondLst>
                                            <p:cond delay="0"/>
                                          </p:stCondLst>
                                        </p:cTn>
                                        <p:tgtEl>
                                          <p:spTgt spid="29"/>
                                        </p:tgtEl>
                                        <p:attrNameLst>
                                          <p:attrName>style.visibility</p:attrName>
                                        </p:attrNameLst>
                                      </p:cBhvr>
                                      <p:to>
                                        <p:strVal val="visible"/>
                                      </p:to>
                                    </p:set>
                                    <p:anim calcmode="lin" valueType="num">
                                      <p:cBhvr additive="base">
                                        <p:cTn id="78" dur="500" fill="hold"/>
                                        <p:tgtEl>
                                          <p:spTgt spid="29"/>
                                        </p:tgtEl>
                                        <p:attrNameLst>
                                          <p:attrName>ppt_x</p:attrName>
                                        </p:attrNameLst>
                                      </p:cBhvr>
                                      <p:tavLst>
                                        <p:tav tm="0">
                                          <p:val>
                                            <p:strVal val="#ppt_x"/>
                                          </p:val>
                                        </p:tav>
                                        <p:tav tm="100000">
                                          <p:val>
                                            <p:strVal val="#ppt_x"/>
                                          </p:val>
                                        </p:tav>
                                      </p:tavLst>
                                    </p:anim>
                                    <p:anim calcmode="lin" valueType="num">
                                      <p:cBhvr additive="base">
                                        <p:cTn id="79" dur="500" fill="hold"/>
                                        <p:tgtEl>
                                          <p:spTgt spid="29"/>
                                        </p:tgtEl>
                                        <p:attrNameLst>
                                          <p:attrName>ppt_y</p:attrName>
                                        </p:attrNameLst>
                                      </p:cBhvr>
                                      <p:tavLst>
                                        <p:tav tm="0">
                                          <p:val>
                                            <p:strVal val="#ppt_y+0.1"/>
                                          </p:val>
                                        </p:tav>
                                        <p:tav tm="100000">
                                          <p:val>
                                            <p:strVal val="#ppt_y"/>
                                          </p:val>
                                        </p:tav>
                                      </p:tavLst>
                                    </p:anim>
                                    <p:animEffect transition="in" filter="fade">
                                      <p:cBhvr>
                                        <p:cTn id="80" dur="500"/>
                                        <p:tgtEl>
                                          <p:spTgt spid="29"/>
                                        </p:tgtEl>
                                      </p:cBhvr>
                                    </p:animEffect>
                                  </p:childTnLst>
                                </p:cTn>
                              </p:par>
                              <p:par>
                                <p:cTn id="86" presetID="2" presetClass="entr" presetSubtype="4"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 calcmode="lin" valueType="num">
                                      <p:cBhvr additive="base">
                                        <p:cTn id="83" dur="500" fill="hold"/>
                                        <p:tgtEl>
                                          <p:spTgt spid="30"/>
                                        </p:tgtEl>
                                        <p:attrNameLst>
                                          <p:attrName>ppt_x</p:attrName>
                                        </p:attrNameLst>
                                      </p:cBhvr>
                                      <p:tavLst>
                                        <p:tav tm="0">
                                          <p:val>
                                            <p:strVal val="#ppt_x"/>
                                          </p:val>
                                        </p:tav>
                                        <p:tav tm="100000">
                                          <p:val>
                                            <p:strVal val="#ppt_x"/>
                                          </p:val>
                                        </p:tav>
                                      </p:tavLst>
                                    </p:anim>
                                    <p:anim calcmode="lin" valueType="num">
                                      <p:cBhvr additive="base">
                                        <p:cTn id="84" dur="500" fill="hold"/>
                                        <p:tgtEl>
                                          <p:spTgt spid="30"/>
                                        </p:tgtEl>
                                        <p:attrNameLst>
                                          <p:attrName>ppt_y</p:attrName>
                                        </p:attrNameLst>
                                      </p:cBhvr>
                                      <p:tavLst>
                                        <p:tav tm="0">
                                          <p:val>
                                            <p:strVal val="#ppt_y+0.1"/>
                                          </p:val>
                                        </p:tav>
                                        <p:tav tm="100000">
                                          <p:val>
                                            <p:strVal val="#ppt_y"/>
                                          </p:val>
                                        </p:tav>
                                      </p:tavLst>
                                    </p:anim>
                                    <p:animEffect transition="in" filter="fade">
                                      <p:cBhvr>
                                        <p:cTn id="85" dur="500"/>
                                        <p:tgtEl>
                                          <p:spTgt spid="30"/>
                                        </p:tgtEl>
                                      </p:cBhvr>
                                    </p:animEffect>
                                  </p:childTnLst>
                                </p:cTn>
                              </p:par>
                              <p:par>
                                <p:cTn id="91" presetID="2" presetClass="entr" presetSubtype="4"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 calcmode="lin" valueType="num">
                                      <p:cBhvr additive="base">
                                        <p:cTn id="88" dur="500" fill="hold"/>
                                        <p:tgtEl>
                                          <p:spTgt spid="31"/>
                                        </p:tgtEl>
                                        <p:attrNameLst>
                                          <p:attrName>ppt_x</p:attrName>
                                        </p:attrNameLst>
                                      </p:cBhvr>
                                      <p:tavLst>
                                        <p:tav tm="0">
                                          <p:val>
                                            <p:strVal val="#ppt_x"/>
                                          </p:val>
                                        </p:tav>
                                        <p:tav tm="100000">
                                          <p:val>
                                            <p:strVal val="#ppt_x"/>
                                          </p:val>
                                        </p:tav>
                                      </p:tavLst>
                                    </p:anim>
                                    <p:anim calcmode="lin" valueType="num">
                                      <p:cBhvr additive="base">
                                        <p:cTn id="89" dur="500" fill="hold"/>
                                        <p:tgtEl>
                                          <p:spTgt spid="31"/>
                                        </p:tgtEl>
                                        <p:attrNameLst>
                                          <p:attrName>ppt_y</p:attrName>
                                        </p:attrNameLst>
                                      </p:cBhvr>
                                      <p:tavLst>
                                        <p:tav tm="0">
                                          <p:val>
                                            <p:strVal val="#ppt_y+0.1"/>
                                          </p:val>
                                        </p:tav>
                                        <p:tav tm="100000">
                                          <p:val>
                                            <p:strVal val="#ppt_y"/>
                                          </p:val>
                                        </p:tav>
                                      </p:tavLst>
                                    </p:anim>
                                    <p:animEffect transition="in" filter="fade">
                                      <p:cBhvr>
                                        <p:cTn id="9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Subscribe: Always a List of Topics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Even a single topic goes in a list - and a pattern can match many</a:t>
            </a:r>
          </a:p>
        </p:txBody>
      </p:sp>
      <p:sp>
        <p:nvSpPr>
          <p:cNvPr id="11" name="a1f_codebg10"/>
          <p:cNvSpPr/>
          <p:nvPr/>
        </p:nvSpPr>
        <p:spPr>
          <a:xfrm>
            <a:off x="457200" y="1280160"/>
            <a:ext cx="4754880" cy="1993392"/>
          </a:xfrm>
          <a:prstGeom prst="roundRect">
            <a:avLst>
              <a:gd name="adj" fmla="val 3669"/>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f_codeh11"/>
          <p:cNvSpPr txBox="1"/>
          <p:nvPr/>
        </p:nvSpPr>
        <p:spPr>
          <a:xfrm>
            <a:off x="585216" y="1335024"/>
            <a:ext cx="4498848" cy="219456"/>
          </a:xfrm>
          <a:prstGeom prst="rect">
            <a:avLst/>
          </a:prstGeom>
          <a:noFill/>
        </p:spPr>
        <p:txBody>
          <a:bodyPr wrap="square" lIns="0" tIns="0" rIns="0" bIns="0" anchor="ctr">
            <a:spAutoFit/>
          </a:bodyPr>
          <a:lstStyle/>
          <a:p>
            <a:pPr algn="l"/>
            <a:r>
              <a:rPr sz="950" b="1">
                <a:solidFill>
                  <a:srgbClr val="A8A29E"/>
                </a:solidFill>
                <a:latin typeface="Consolas"/>
              </a:rPr>
              <a:t>subscribe()</a:t>
            </a:r>
          </a:p>
        </p:txBody>
      </p:sp>
      <p:sp>
        <p:nvSpPr>
          <p:cNvPr id="13" name="a1f_codesep12"/>
          <p:cNvSpPr/>
          <p:nvPr/>
        </p:nvSpPr>
        <p:spPr>
          <a:xfrm>
            <a:off x="585216" y="1609343"/>
            <a:ext cx="4498848" cy="109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w_code13"/>
          <p:cNvSpPr txBox="1"/>
          <p:nvPr/>
        </p:nvSpPr>
        <p:spPr>
          <a:xfrm>
            <a:off x="585216" y="1682495"/>
            <a:ext cx="4498848" cy="182880"/>
          </a:xfrm>
          <a:prstGeom prst="rect">
            <a:avLst/>
          </a:prstGeom>
          <a:noFill/>
        </p:spPr>
        <p:txBody>
          <a:bodyPr wrap="none" lIns="0" tIns="0" rIns="0" bIns="0" anchor="ctr">
            <a:spAutoFit/>
          </a:bodyPr>
          <a:lstStyle/>
          <a:p>
            <a:pPr algn="l"/>
            <a:r>
              <a:rPr sz="800" b="0">
                <a:solidFill>
                  <a:srgbClr val="8A8580"/>
                </a:solidFill>
                <a:latin typeface="Consolas"/>
              </a:rPr>
              <a:t>// one topic? still a list - a list of one</a:t>
            </a:r>
          </a:p>
        </p:txBody>
      </p:sp>
      <p:sp>
        <p:nvSpPr>
          <p:cNvPr id="15" name="a1wd90_code14"/>
          <p:cNvSpPr txBox="1"/>
          <p:nvPr/>
        </p:nvSpPr>
        <p:spPr>
          <a:xfrm>
            <a:off x="585216" y="1865376"/>
            <a:ext cx="4498848" cy="182880"/>
          </a:xfrm>
          <a:prstGeom prst="rect">
            <a:avLst/>
          </a:prstGeom>
          <a:noFill/>
        </p:spPr>
        <p:txBody>
          <a:bodyPr wrap="none" lIns="0" tIns="0" rIns="0" bIns="0" anchor="ctr">
            <a:spAutoFit/>
          </a:bodyPr>
          <a:lstStyle/>
          <a:p>
            <a:pPr algn="l"/>
            <a:r>
              <a:rPr sz="800" b="1">
                <a:solidFill>
                  <a:srgbClr val="FDBA74"/>
                </a:solidFill>
                <a:latin typeface="Consolas"/>
              </a:rPr>
              <a:t>consumer.subscribe(List.of("thermostat_readings"));</a:t>
            </a:r>
          </a:p>
        </p:txBody>
      </p:sp>
      <p:sp>
        <p:nvSpPr>
          <p:cNvPr id="16" name="a1wd180_code15"/>
          <p:cNvSpPr txBox="1"/>
          <p:nvPr/>
        </p:nvSpPr>
        <p:spPr>
          <a:xfrm>
            <a:off x="585216" y="2048255"/>
            <a:ext cx="4498848" cy="182880"/>
          </a:xfrm>
          <a:prstGeom prst="rect">
            <a:avLst/>
          </a:prstGeom>
          <a:noFill/>
        </p:spPr>
        <p:txBody>
          <a:bodyPr wrap="none" lIns="0" tIns="0" rIns="0" bIns="0" anchor="ctr">
            <a:spAutoFit/>
          </a:bodyPr>
          <a:lstStyle/>
          <a:p>
            <a:pPr algn="l"/>
            <a:r>
              <a:rPr sz="800" b="0">
                <a:solidFill>
                  <a:srgbClr val="E7E5E4"/>
                </a:solidFill>
                <a:latin typeface="Consolas"/>
              </a:rPr>
              <a:t/>
            </a:r>
          </a:p>
        </p:txBody>
      </p:sp>
      <p:sp>
        <p:nvSpPr>
          <p:cNvPr id="17" name="a1wd270_code16"/>
          <p:cNvSpPr txBox="1"/>
          <p:nvPr/>
        </p:nvSpPr>
        <p:spPr>
          <a:xfrm>
            <a:off x="585216" y="2231136"/>
            <a:ext cx="4498848" cy="182880"/>
          </a:xfrm>
          <a:prstGeom prst="rect">
            <a:avLst/>
          </a:prstGeom>
          <a:noFill/>
        </p:spPr>
        <p:txBody>
          <a:bodyPr wrap="none" lIns="0" tIns="0" rIns="0" bIns="0" anchor="ctr">
            <a:spAutoFit/>
          </a:bodyPr>
          <a:lstStyle/>
          <a:p>
            <a:pPr algn="l"/>
            <a:r>
              <a:rPr sz="800" b="0">
                <a:solidFill>
                  <a:srgbClr val="8A8580"/>
                </a:solidFill>
                <a:latin typeface="Consolas"/>
              </a:rPr>
              <a:t>// several topics</a:t>
            </a:r>
          </a:p>
        </p:txBody>
      </p:sp>
      <p:sp>
        <p:nvSpPr>
          <p:cNvPr id="18" name="a1wd360_code17"/>
          <p:cNvSpPr txBox="1"/>
          <p:nvPr/>
        </p:nvSpPr>
        <p:spPr>
          <a:xfrm>
            <a:off x="585216" y="2414015"/>
            <a:ext cx="4498848" cy="182880"/>
          </a:xfrm>
          <a:prstGeom prst="rect">
            <a:avLst/>
          </a:prstGeom>
          <a:noFill/>
        </p:spPr>
        <p:txBody>
          <a:bodyPr wrap="none" lIns="0" tIns="0" rIns="0" bIns="0" anchor="ctr">
            <a:spAutoFit/>
          </a:bodyPr>
          <a:lstStyle/>
          <a:p>
            <a:pPr algn="l"/>
            <a:r>
              <a:rPr sz="800" b="0">
                <a:solidFill>
                  <a:srgbClr val="E7E5E4"/>
                </a:solidFill>
                <a:latin typeface="Consolas"/>
              </a:rPr>
              <a:t>consumer.subscribe(List.of("thermostat_readings", "hot_locations"));</a:t>
            </a:r>
          </a:p>
        </p:txBody>
      </p:sp>
      <p:sp>
        <p:nvSpPr>
          <p:cNvPr id="19" name="a1wd450_code18"/>
          <p:cNvSpPr txBox="1"/>
          <p:nvPr/>
        </p:nvSpPr>
        <p:spPr>
          <a:xfrm>
            <a:off x="585216" y="2596896"/>
            <a:ext cx="4498848" cy="182880"/>
          </a:xfrm>
          <a:prstGeom prst="rect">
            <a:avLst/>
          </a:prstGeom>
          <a:noFill/>
        </p:spPr>
        <p:txBody>
          <a:bodyPr wrap="none" lIns="0" tIns="0" rIns="0" bIns="0" anchor="ctr">
            <a:spAutoFit/>
          </a:bodyPr>
          <a:lstStyle/>
          <a:p>
            <a:pPr algn="l"/>
            <a:r>
              <a:rPr sz="800" b="0">
                <a:solidFill>
                  <a:srgbClr val="E7E5E4"/>
                </a:solidFill>
                <a:latin typeface="Consolas"/>
              </a:rPr>
              <a:t/>
            </a:r>
          </a:p>
        </p:txBody>
      </p:sp>
      <p:sp>
        <p:nvSpPr>
          <p:cNvPr id="20" name="a1wd540_code19"/>
          <p:cNvSpPr txBox="1"/>
          <p:nvPr/>
        </p:nvSpPr>
        <p:spPr>
          <a:xfrm>
            <a:off x="585216" y="2779776"/>
            <a:ext cx="4498848" cy="182880"/>
          </a:xfrm>
          <a:prstGeom prst="rect">
            <a:avLst/>
          </a:prstGeom>
          <a:noFill/>
        </p:spPr>
        <p:txBody>
          <a:bodyPr wrap="none" lIns="0" tIns="0" rIns="0" bIns="0" anchor="ctr">
            <a:spAutoFit/>
          </a:bodyPr>
          <a:lstStyle/>
          <a:p>
            <a:pPr algn="l"/>
            <a:r>
              <a:rPr sz="800" b="0">
                <a:solidFill>
                  <a:srgbClr val="8A8580"/>
                </a:solidFill>
                <a:latin typeface="Consolas"/>
              </a:rPr>
              <a:t>// for the stout-hearted: every topic matching a pattern</a:t>
            </a:r>
          </a:p>
        </p:txBody>
      </p:sp>
      <p:sp>
        <p:nvSpPr>
          <p:cNvPr id="21" name="a1wd630_code20"/>
          <p:cNvSpPr txBox="1"/>
          <p:nvPr/>
        </p:nvSpPr>
        <p:spPr>
          <a:xfrm>
            <a:off x="585216" y="2962656"/>
            <a:ext cx="4498848" cy="182880"/>
          </a:xfrm>
          <a:prstGeom prst="rect">
            <a:avLst/>
          </a:prstGeom>
          <a:noFill/>
        </p:spPr>
        <p:txBody>
          <a:bodyPr wrap="none" lIns="0" tIns="0" rIns="0" bIns="0" anchor="ctr">
            <a:spAutoFit/>
          </a:bodyPr>
          <a:lstStyle/>
          <a:p>
            <a:pPr algn="l"/>
            <a:r>
              <a:rPr sz="800" b="0">
                <a:solidFill>
                  <a:srgbClr val="E7E5E4"/>
                </a:solidFill>
                <a:latin typeface="Consolas"/>
              </a:rPr>
              <a:t>consumer.subscribe(Pattern.compile("thermostat_.*"));</a:t>
            </a:r>
          </a:p>
        </p:txBody>
      </p:sp>
      <p:sp>
        <p:nvSpPr>
          <p:cNvPr id="22" name="a2u_ch21"/>
          <p:cNvSpPr txBox="1"/>
          <p:nvPr/>
        </p:nvSpPr>
        <p:spPr>
          <a:xfrm>
            <a:off x="5532120" y="1280160"/>
            <a:ext cx="3154680" cy="237744"/>
          </a:xfrm>
          <a:prstGeom prst="rect">
            <a:avLst/>
          </a:prstGeom>
          <a:noFill/>
        </p:spPr>
        <p:txBody>
          <a:bodyPr wrap="square" lIns="0" tIns="0" rIns="0" bIns="0" anchor="ctr">
            <a:spAutoFit/>
          </a:bodyPr>
          <a:lstStyle/>
          <a:p>
            <a:pPr algn="l"/>
            <a:r>
              <a:rPr sz="850" b="1" spc="140">
                <a:solidFill>
                  <a:srgbClr val="78716C"/>
                </a:solidFill>
                <a:latin typeface="Segoe UI"/>
              </a:rPr>
              <a:t>TOPICS IN THE CLUSTER</a:t>
            </a:r>
          </a:p>
        </p:txBody>
      </p:sp>
      <p:sp>
        <p:nvSpPr>
          <p:cNvPr id="23" name="a2u_pill22"/>
          <p:cNvSpPr/>
          <p:nvPr/>
        </p:nvSpPr>
        <p:spPr>
          <a:xfrm>
            <a:off x="5532120" y="1627632"/>
            <a:ext cx="2788920" cy="310896"/>
          </a:xfrm>
          <a:prstGeom prst="roundRect">
            <a:avLst>
              <a:gd name="adj" fmla="val 50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78716C"/>
                </a:solidFill>
                <a:latin typeface="Consolas"/>
              </a:rPr>
              <a:t>thermostat_readings</a:t>
            </a:r>
          </a:p>
        </p:txBody>
      </p:sp>
      <p:sp>
        <p:nvSpPr>
          <p:cNvPr id="24" name="a3u_pill23"/>
          <p:cNvSpPr/>
          <p:nvPr/>
        </p:nvSpPr>
        <p:spPr>
          <a:xfrm>
            <a:off x="5532120" y="1627632"/>
            <a:ext cx="2788920" cy="310896"/>
          </a:xfrm>
          <a:prstGeom prst="roundRect">
            <a:avLst>
              <a:gd name="adj" fmla="val 50000"/>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C2410C"/>
                </a:solidFill>
                <a:latin typeface="Consolas"/>
              </a:rPr>
              <a:t>thermostat_readings</a:t>
            </a:r>
          </a:p>
        </p:txBody>
      </p:sp>
      <p:sp>
        <p:nvSpPr>
          <p:cNvPr id="25" name="a2ud60_pill24"/>
          <p:cNvSpPr/>
          <p:nvPr/>
        </p:nvSpPr>
        <p:spPr>
          <a:xfrm>
            <a:off x="5532120" y="2029968"/>
            <a:ext cx="2788920" cy="310896"/>
          </a:xfrm>
          <a:prstGeom prst="roundRect">
            <a:avLst>
              <a:gd name="adj" fmla="val 50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78716C"/>
                </a:solidFill>
                <a:latin typeface="Consolas"/>
              </a:rPr>
              <a:t>thermostat_alerts</a:t>
            </a:r>
          </a:p>
        </p:txBody>
      </p:sp>
      <p:sp>
        <p:nvSpPr>
          <p:cNvPr id="26" name="a3ud100_pill25"/>
          <p:cNvSpPr/>
          <p:nvPr/>
        </p:nvSpPr>
        <p:spPr>
          <a:xfrm>
            <a:off x="5532120" y="2029968"/>
            <a:ext cx="2788920" cy="310896"/>
          </a:xfrm>
          <a:prstGeom prst="roundRect">
            <a:avLst>
              <a:gd name="adj" fmla="val 50000"/>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C2410C"/>
                </a:solidFill>
                <a:latin typeface="Consolas"/>
              </a:rPr>
              <a:t>thermostat_alerts</a:t>
            </a:r>
          </a:p>
        </p:txBody>
      </p:sp>
      <p:sp>
        <p:nvSpPr>
          <p:cNvPr id="27" name="a2ud120_pill26"/>
          <p:cNvSpPr/>
          <p:nvPr/>
        </p:nvSpPr>
        <p:spPr>
          <a:xfrm>
            <a:off x="5532120" y="2432304"/>
            <a:ext cx="2788920" cy="310896"/>
          </a:xfrm>
          <a:prstGeom prst="roundRect">
            <a:avLst>
              <a:gd name="adj" fmla="val 50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78716C"/>
                </a:solidFill>
                <a:latin typeface="Consolas"/>
              </a:rPr>
              <a:t>hot_locations</a:t>
            </a:r>
          </a:p>
        </p:txBody>
      </p:sp>
      <p:sp>
        <p:nvSpPr>
          <p:cNvPr id="28" name="a2ud180_pill27"/>
          <p:cNvSpPr/>
          <p:nvPr/>
        </p:nvSpPr>
        <p:spPr>
          <a:xfrm>
            <a:off x="5532120" y="2834640"/>
            <a:ext cx="2788920" cy="310896"/>
          </a:xfrm>
          <a:prstGeom prst="roundRect">
            <a:avLst>
              <a:gd name="adj" fmla="val 50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78716C"/>
                </a:solidFill>
                <a:latin typeface="Consolas"/>
              </a:rPr>
              <a:t>payments</a:t>
            </a:r>
          </a:p>
        </p:txBody>
      </p:sp>
      <p:sp>
        <p:nvSpPr>
          <p:cNvPr id="29" name="a2ud240_pill28"/>
          <p:cNvSpPr/>
          <p:nvPr/>
        </p:nvSpPr>
        <p:spPr>
          <a:xfrm>
            <a:off x="5532120" y="3236976"/>
            <a:ext cx="2788920" cy="310896"/>
          </a:xfrm>
          <a:prstGeom prst="roundRect">
            <a:avLst>
              <a:gd name="adj" fmla="val 50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78716C"/>
                </a:solidFill>
                <a:latin typeface="Consolas"/>
              </a:rPr>
              <a:t>orders</a:t>
            </a:r>
          </a:p>
        </p:txBody>
      </p:sp>
      <p:sp>
        <p:nvSpPr>
          <p:cNvPr id="30" name="a3ud200_lb29"/>
          <p:cNvSpPr txBox="1"/>
          <p:nvPr/>
        </p:nvSpPr>
        <p:spPr>
          <a:xfrm>
            <a:off x="5532120" y="3639312"/>
            <a:ext cx="3154680" cy="201168"/>
          </a:xfrm>
          <a:prstGeom prst="rect">
            <a:avLst/>
          </a:prstGeom>
          <a:noFill/>
        </p:spPr>
        <p:txBody>
          <a:bodyPr wrap="square" lIns="0" tIns="0" rIns="0" bIns="0" anchor="ctr">
            <a:spAutoFit/>
          </a:bodyPr>
          <a:lstStyle/>
          <a:p>
            <a:pPr algn="l"/>
            <a:r>
              <a:rPr sz="850" b="1">
                <a:solidFill>
                  <a:srgbClr val="C2410C"/>
                </a:solidFill>
                <a:latin typeface="Segoe UI"/>
              </a:rPr>
              <a:t>the pattern thermostat_.* matches two</a:t>
            </a:r>
          </a:p>
        </p:txBody>
      </p:sp>
      <p:sp>
        <p:nvSpPr>
          <p:cNvPr id="31" name="a4u_nb30"/>
          <p:cNvSpPr/>
          <p:nvPr/>
        </p:nvSpPr>
        <p:spPr>
          <a:xfrm>
            <a:off x="457200" y="3986784"/>
            <a:ext cx="8229600" cy="530352"/>
          </a:xfrm>
          <a:prstGeom prst="roundRect">
            <a:avLst>
              <a:gd name="adj" fmla="val 13793"/>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4u_nacc31"/>
          <p:cNvSpPr/>
          <p:nvPr/>
        </p:nvSpPr>
        <p:spPr>
          <a:xfrm>
            <a:off x="457200" y="3986784"/>
            <a:ext cx="54864" cy="530352"/>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4u_nt32"/>
          <p:cNvSpPr txBox="1"/>
          <p:nvPr/>
        </p:nvSpPr>
        <p:spPr>
          <a:xfrm>
            <a:off x="658368" y="3986784"/>
            <a:ext cx="7827264" cy="530352"/>
          </a:xfrm>
          <a:prstGeom prst="rect">
            <a:avLst/>
          </a:prstGeom>
          <a:noFill/>
        </p:spPr>
        <p:txBody>
          <a:bodyPr wrap="square" lIns="0" tIns="0" rIns="0" bIns="0" anchor="ctr">
            <a:spAutoFit/>
          </a:bodyPr>
          <a:lstStyle/>
          <a:p>
            <a:pPr algn="l"/>
            <a:r>
              <a:rPr sz="950" b="1">
                <a:solidFill>
                  <a:srgbClr val="A16207"/>
                </a:solidFill>
                <a:latin typeface="Segoe UI"/>
              </a:rPr>
              <a:t>!  </a:t>
            </a:r>
            <a:r>
              <a:rPr sz="950" b="0">
                <a:solidFill>
                  <a:srgbClr val="44403C"/>
                </a:solidFill>
                <a:latin typeface="Segoe UI"/>
              </a:rPr>
              <a:t>A pattern is allowed - not that you should. It also picks up matching topics created later.</a:t>
            </a:r>
          </a:p>
        </p:txBody>
      </p:sp>
      <p:sp>
        <p:nvSpPr>
          <p:cNvPr id="34" name="ft33"/>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04</a:t>
            </a:r>
          </a:p>
        </p:txBody>
      </p:sp>
      <p:sp>
        <p:nvSpPr>
          <p:cNvPr id="35" name="ft34"/>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ft35"/>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Consumers</a:t>
            </a:r>
          </a:p>
        </p:txBody>
      </p:sp>
      <p:sp>
        <p:nvSpPr>
          <p:cNvPr id="37" name="ft36"/>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7</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22" presetClass="entr" presetSubtype="8"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par>
                                <p:cTn id="19" presetID="22" presetClass="entr" presetSubtype="8" fill="hold" grpId="0" nodeType="withEffect">
                                  <p:stCondLst>
                                    <p:cond delay="9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par>
                                <p:cTn id="22" presetID="22" presetClass="entr" presetSubtype="8" fill="hold" grpId="0" nodeType="withEffect">
                                  <p:stCondLst>
                                    <p:cond delay="18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500"/>
                                        <p:tgtEl>
                                          <p:spTgt spid="16"/>
                                        </p:tgtEl>
                                      </p:cBhvr>
                                    </p:animEffect>
                                  </p:childTnLst>
                                </p:cTn>
                              </p:par>
                              <p:par>
                                <p:cTn id="25" presetID="22" presetClass="entr" presetSubtype="8" fill="hold" grpId="0" nodeType="withEffect">
                                  <p:stCondLst>
                                    <p:cond delay="27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500"/>
                                        <p:tgtEl>
                                          <p:spTgt spid="17"/>
                                        </p:tgtEl>
                                      </p:cBhvr>
                                    </p:animEffect>
                                  </p:childTnLst>
                                </p:cTn>
                              </p:par>
                              <p:par>
                                <p:cTn id="28" presetID="22" presetClass="entr" presetSubtype="8" fill="hold" grpId="0" nodeType="withEffect">
                                  <p:stCondLst>
                                    <p:cond delay="36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par>
                                <p:cTn id="31" presetID="22" presetClass="entr" presetSubtype="8" fill="hold" grpId="0" nodeType="withEffect">
                                  <p:stCondLst>
                                    <p:cond delay="450"/>
                                  </p:stCondLst>
                                  <p:childTnLst>
                                    <p:set>
                                      <p:cBhvr>
                                        <p:cTn id="29" dur="1" fill="hold">
                                          <p:stCondLst>
                                            <p:cond delay="0"/>
                                          </p:stCondLst>
                                        </p:cTn>
                                        <p:tgtEl>
                                          <p:spTgt spid="19"/>
                                        </p:tgtEl>
                                        <p:attrNameLst>
                                          <p:attrName>style.visibility</p:attrName>
                                        </p:attrNameLst>
                                      </p:cBhvr>
                                      <p:to>
                                        <p:strVal val="visible"/>
                                      </p:to>
                                    </p:set>
                                    <p:animEffect transition="in" filter="wipe(left)">
                                      <p:cBhvr>
                                        <p:cTn id="30" dur="500"/>
                                        <p:tgtEl>
                                          <p:spTgt spid="19"/>
                                        </p:tgtEl>
                                      </p:cBhvr>
                                    </p:animEffect>
                                  </p:childTnLst>
                                </p:cTn>
                              </p:par>
                              <p:par>
                                <p:cTn id="34" presetID="22" presetClass="entr" presetSubtype="8" fill="hold" grpId="0" nodeType="withEffect">
                                  <p:stCondLst>
                                    <p:cond delay="540"/>
                                  </p:stCondLst>
                                  <p:childTnLst>
                                    <p:set>
                                      <p:cBhvr>
                                        <p:cTn id="32" dur="1" fill="hold">
                                          <p:stCondLst>
                                            <p:cond delay="0"/>
                                          </p:stCondLst>
                                        </p:cTn>
                                        <p:tgtEl>
                                          <p:spTgt spid="20"/>
                                        </p:tgtEl>
                                        <p:attrNameLst>
                                          <p:attrName>style.visibility</p:attrName>
                                        </p:attrNameLst>
                                      </p:cBhvr>
                                      <p:to>
                                        <p:strVal val="visible"/>
                                      </p:to>
                                    </p:set>
                                    <p:animEffect transition="in" filter="wipe(left)">
                                      <p:cBhvr>
                                        <p:cTn id="33" dur="500"/>
                                        <p:tgtEl>
                                          <p:spTgt spid="20"/>
                                        </p:tgtEl>
                                      </p:cBhvr>
                                    </p:animEffect>
                                  </p:childTnLst>
                                </p:cTn>
                              </p:par>
                              <p:par>
                                <p:cTn id="37" presetID="22" presetClass="entr" presetSubtype="8" fill="hold" grpId="0" nodeType="withEffect">
                                  <p:stCondLst>
                                    <p:cond delay="630"/>
                                  </p:stCondLst>
                                  <p:childTnLst>
                                    <p:set>
                                      <p:cBhvr>
                                        <p:cTn id="35" dur="1" fill="hold">
                                          <p:stCondLst>
                                            <p:cond delay="0"/>
                                          </p:stCondLst>
                                        </p:cTn>
                                        <p:tgtEl>
                                          <p:spTgt spid="21"/>
                                        </p:tgtEl>
                                        <p:attrNameLst>
                                          <p:attrName>style.visibility</p:attrName>
                                        </p:attrNameLst>
                                      </p:cBhvr>
                                      <p:to>
                                        <p:strVal val="visible"/>
                                      </p:to>
                                    </p:set>
                                    <p:animEffect transition="in" filter="wipe(left)">
                                      <p:cBhvr>
                                        <p:cTn id="36" dur="5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4" presetID="2" presetClass="entr" presetSubtype="4"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 calcmode="lin" valueType="num">
                                      <p:cBhvr additive="base">
                                        <p:cTn id="41" dur="500" fill="hold"/>
                                        <p:tgtEl>
                                          <p:spTgt spid="22"/>
                                        </p:tgtEl>
                                        <p:attrNameLst>
                                          <p:attrName>ppt_x</p:attrName>
                                        </p:attrNameLst>
                                      </p:cBhvr>
                                      <p:tavLst>
                                        <p:tav tm="0">
                                          <p:val>
                                            <p:strVal val="#ppt_x"/>
                                          </p:val>
                                        </p:tav>
                                        <p:tav tm="100000">
                                          <p:val>
                                            <p:strVal val="#ppt_x"/>
                                          </p:val>
                                        </p:tav>
                                      </p:tavLst>
                                    </p:anim>
                                    <p:anim calcmode="lin" valueType="num">
                                      <p:cBhvr additive="base">
                                        <p:cTn id="42" dur="500" fill="hold"/>
                                        <p:tgtEl>
                                          <p:spTgt spid="22"/>
                                        </p:tgtEl>
                                        <p:attrNameLst>
                                          <p:attrName>ppt_y</p:attrName>
                                        </p:attrNameLst>
                                      </p:cBhvr>
                                      <p:tavLst>
                                        <p:tav tm="0">
                                          <p:val>
                                            <p:strVal val="#ppt_y+0.1"/>
                                          </p:val>
                                        </p:tav>
                                        <p:tav tm="100000">
                                          <p:val>
                                            <p:strVal val="#ppt_y"/>
                                          </p:val>
                                        </p:tav>
                                      </p:tavLst>
                                    </p:anim>
                                    <p:animEffect transition="in" filter="fade">
                                      <p:cBhvr>
                                        <p:cTn id="43" dur="500"/>
                                        <p:tgtEl>
                                          <p:spTgt spid="22"/>
                                        </p:tgtEl>
                                      </p:cBhvr>
                                    </p:animEffect>
                                  </p:childTnLst>
                                </p:cTn>
                              </p:par>
                              <p:par>
                                <p:cTn id="49" presetID="2" presetClass="entr" presetSubtype="4"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anim calcmode="lin" valueType="num">
                                      <p:cBhvr additive="base">
                                        <p:cTn id="46" dur="500" fill="hold"/>
                                        <p:tgtEl>
                                          <p:spTgt spid="23"/>
                                        </p:tgtEl>
                                        <p:attrNameLst>
                                          <p:attrName>ppt_x</p:attrName>
                                        </p:attrNameLst>
                                      </p:cBhvr>
                                      <p:tavLst>
                                        <p:tav tm="0">
                                          <p:val>
                                            <p:strVal val="#ppt_x"/>
                                          </p:val>
                                        </p:tav>
                                        <p:tav tm="100000">
                                          <p:val>
                                            <p:strVal val="#ppt_x"/>
                                          </p:val>
                                        </p:tav>
                                      </p:tavLst>
                                    </p:anim>
                                    <p:anim calcmode="lin" valueType="num">
                                      <p:cBhvr additive="base">
                                        <p:cTn id="47" dur="500" fill="hold"/>
                                        <p:tgtEl>
                                          <p:spTgt spid="23"/>
                                        </p:tgtEl>
                                        <p:attrNameLst>
                                          <p:attrName>ppt_y</p:attrName>
                                        </p:attrNameLst>
                                      </p:cBhvr>
                                      <p:tavLst>
                                        <p:tav tm="0">
                                          <p:val>
                                            <p:strVal val="#ppt_y+0.1"/>
                                          </p:val>
                                        </p:tav>
                                        <p:tav tm="100000">
                                          <p:val>
                                            <p:strVal val="#ppt_y"/>
                                          </p:val>
                                        </p:tav>
                                      </p:tavLst>
                                    </p:anim>
                                    <p:animEffect transition="in" filter="fade">
                                      <p:cBhvr>
                                        <p:cTn id="48" dur="500"/>
                                        <p:tgtEl>
                                          <p:spTgt spid="23"/>
                                        </p:tgtEl>
                                      </p:cBhvr>
                                    </p:animEffect>
                                  </p:childTnLst>
                                </p:cTn>
                              </p:par>
                              <p:par>
                                <p:cTn id="54" presetID="2" presetClass="entr" presetSubtype="4" fill="hold" grpId="0" nodeType="withEffect">
                                  <p:stCondLst>
                                    <p:cond delay="60"/>
                                  </p:stCondLst>
                                  <p:childTnLst>
                                    <p:set>
                                      <p:cBhvr>
                                        <p:cTn id="50" dur="1" fill="hold">
                                          <p:stCondLst>
                                            <p:cond delay="0"/>
                                          </p:stCondLst>
                                        </p:cTn>
                                        <p:tgtEl>
                                          <p:spTgt spid="25"/>
                                        </p:tgtEl>
                                        <p:attrNameLst>
                                          <p:attrName>style.visibility</p:attrName>
                                        </p:attrNameLst>
                                      </p:cBhvr>
                                      <p:to>
                                        <p:strVal val="visible"/>
                                      </p:to>
                                    </p:set>
                                    <p:anim calcmode="lin" valueType="num">
                                      <p:cBhvr additive="base">
                                        <p:cTn id="51" dur="500" fill="hold"/>
                                        <p:tgtEl>
                                          <p:spTgt spid="25"/>
                                        </p:tgtEl>
                                        <p:attrNameLst>
                                          <p:attrName>ppt_x</p:attrName>
                                        </p:attrNameLst>
                                      </p:cBhvr>
                                      <p:tavLst>
                                        <p:tav tm="0">
                                          <p:val>
                                            <p:strVal val="#ppt_x"/>
                                          </p:val>
                                        </p:tav>
                                        <p:tav tm="100000">
                                          <p:val>
                                            <p:strVal val="#ppt_x"/>
                                          </p:val>
                                        </p:tav>
                                      </p:tavLst>
                                    </p:anim>
                                    <p:anim calcmode="lin" valueType="num">
                                      <p:cBhvr additive="base">
                                        <p:cTn id="52" dur="500" fill="hold"/>
                                        <p:tgtEl>
                                          <p:spTgt spid="25"/>
                                        </p:tgtEl>
                                        <p:attrNameLst>
                                          <p:attrName>ppt_y</p:attrName>
                                        </p:attrNameLst>
                                      </p:cBhvr>
                                      <p:tavLst>
                                        <p:tav tm="0">
                                          <p:val>
                                            <p:strVal val="#ppt_y+0.1"/>
                                          </p:val>
                                        </p:tav>
                                        <p:tav tm="100000">
                                          <p:val>
                                            <p:strVal val="#ppt_y"/>
                                          </p:val>
                                        </p:tav>
                                      </p:tavLst>
                                    </p:anim>
                                    <p:animEffect transition="in" filter="fade">
                                      <p:cBhvr>
                                        <p:cTn id="53" dur="500"/>
                                        <p:tgtEl>
                                          <p:spTgt spid="25"/>
                                        </p:tgtEl>
                                      </p:cBhvr>
                                    </p:animEffect>
                                  </p:childTnLst>
                                </p:cTn>
                              </p:par>
                              <p:par>
                                <p:cTn id="59" presetID="2" presetClass="entr" presetSubtype="4" fill="hold" grpId="0" nodeType="withEffect">
                                  <p:stCondLst>
                                    <p:cond delay="120"/>
                                  </p:stCondLst>
                                  <p:childTnLst>
                                    <p:set>
                                      <p:cBhvr>
                                        <p:cTn id="55" dur="1" fill="hold">
                                          <p:stCondLst>
                                            <p:cond delay="0"/>
                                          </p:stCondLst>
                                        </p:cTn>
                                        <p:tgtEl>
                                          <p:spTgt spid="27"/>
                                        </p:tgtEl>
                                        <p:attrNameLst>
                                          <p:attrName>style.visibility</p:attrName>
                                        </p:attrNameLst>
                                      </p:cBhvr>
                                      <p:to>
                                        <p:strVal val="visible"/>
                                      </p:to>
                                    </p:set>
                                    <p:anim calcmode="lin" valueType="num">
                                      <p:cBhvr additive="base">
                                        <p:cTn id="56" dur="500" fill="hold"/>
                                        <p:tgtEl>
                                          <p:spTgt spid="27"/>
                                        </p:tgtEl>
                                        <p:attrNameLst>
                                          <p:attrName>ppt_x</p:attrName>
                                        </p:attrNameLst>
                                      </p:cBhvr>
                                      <p:tavLst>
                                        <p:tav tm="0">
                                          <p:val>
                                            <p:strVal val="#ppt_x"/>
                                          </p:val>
                                        </p:tav>
                                        <p:tav tm="100000">
                                          <p:val>
                                            <p:strVal val="#ppt_x"/>
                                          </p:val>
                                        </p:tav>
                                      </p:tavLst>
                                    </p:anim>
                                    <p:anim calcmode="lin" valueType="num">
                                      <p:cBhvr additive="base">
                                        <p:cTn id="57" dur="500" fill="hold"/>
                                        <p:tgtEl>
                                          <p:spTgt spid="27"/>
                                        </p:tgtEl>
                                        <p:attrNameLst>
                                          <p:attrName>ppt_y</p:attrName>
                                        </p:attrNameLst>
                                      </p:cBhvr>
                                      <p:tavLst>
                                        <p:tav tm="0">
                                          <p:val>
                                            <p:strVal val="#ppt_y+0.1"/>
                                          </p:val>
                                        </p:tav>
                                        <p:tav tm="100000">
                                          <p:val>
                                            <p:strVal val="#ppt_y"/>
                                          </p:val>
                                        </p:tav>
                                      </p:tavLst>
                                    </p:anim>
                                    <p:animEffect transition="in" filter="fade">
                                      <p:cBhvr>
                                        <p:cTn id="58" dur="500"/>
                                        <p:tgtEl>
                                          <p:spTgt spid="27"/>
                                        </p:tgtEl>
                                      </p:cBhvr>
                                    </p:animEffect>
                                  </p:childTnLst>
                                </p:cTn>
                              </p:par>
                              <p:par>
                                <p:cTn id="64" presetID="2" presetClass="entr" presetSubtype="4" fill="hold" grpId="0" nodeType="withEffect">
                                  <p:stCondLst>
                                    <p:cond delay="180"/>
                                  </p:stCondLst>
                                  <p:childTnLst>
                                    <p:set>
                                      <p:cBhvr>
                                        <p:cTn id="60" dur="1" fill="hold">
                                          <p:stCondLst>
                                            <p:cond delay="0"/>
                                          </p:stCondLst>
                                        </p:cTn>
                                        <p:tgtEl>
                                          <p:spTgt spid="28"/>
                                        </p:tgtEl>
                                        <p:attrNameLst>
                                          <p:attrName>style.visibility</p:attrName>
                                        </p:attrNameLst>
                                      </p:cBhvr>
                                      <p:to>
                                        <p:strVal val="visible"/>
                                      </p:to>
                                    </p:set>
                                    <p:anim calcmode="lin" valueType="num">
                                      <p:cBhvr additive="base">
                                        <p:cTn id="61" dur="500" fill="hold"/>
                                        <p:tgtEl>
                                          <p:spTgt spid="28"/>
                                        </p:tgtEl>
                                        <p:attrNameLst>
                                          <p:attrName>ppt_x</p:attrName>
                                        </p:attrNameLst>
                                      </p:cBhvr>
                                      <p:tavLst>
                                        <p:tav tm="0">
                                          <p:val>
                                            <p:strVal val="#ppt_x"/>
                                          </p:val>
                                        </p:tav>
                                        <p:tav tm="100000">
                                          <p:val>
                                            <p:strVal val="#ppt_x"/>
                                          </p:val>
                                        </p:tav>
                                      </p:tavLst>
                                    </p:anim>
                                    <p:anim calcmode="lin" valueType="num">
                                      <p:cBhvr additive="base">
                                        <p:cTn id="62" dur="500" fill="hold"/>
                                        <p:tgtEl>
                                          <p:spTgt spid="28"/>
                                        </p:tgtEl>
                                        <p:attrNameLst>
                                          <p:attrName>ppt_y</p:attrName>
                                        </p:attrNameLst>
                                      </p:cBhvr>
                                      <p:tavLst>
                                        <p:tav tm="0">
                                          <p:val>
                                            <p:strVal val="#ppt_y+0.1"/>
                                          </p:val>
                                        </p:tav>
                                        <p:tav tm="100000">
                                          <p:val>
                                            <p:strVal val="#ppt_y"/>
                                          </p:val>
                                        </p:tav>
                                      </p:tavLst>
                                    </p:anim>
                                    <p:animEffect transition="in" filter="fade">
                                      <p:cBhvr>
                                        <p:cTn id="63" dur="500"/>
                                        <p:tgtEl>
                                          <p:spTgt spid="28"/>
                                        </p:tgtEl>
                                      </p:cBhvr>
                                    </p:animEffect>
                                  </p:childTnLst>
                                </p:cTn>
                              </p:par>
                              <p:par>
                                <p:cTn id="69" presetID="2" presetClass="entr" presetSubtype="4" fill="hold" grpId="0" nodeType="withEffect">
                                  <p:stCondLst>
                                    <p:cond delay="240"/>
                                  </p:stCondLst>
                                  <p:childTnLst>
                                    <p:set>
                                      <p:cBhvr>
                                        <p:cTn id="65" dur="1" fill="hold">
                                          <p:stCondLst>
                                            <p:cond delay="0"/>
                                          </p:stCondLst>
                                        </p:cTn>
                                        <p:tgtEl>
                                          <p:spTgt spid="29"/>
                                        </p:tgtEl>
                                        <p:attrNameLst>
                                          <p:attrName>style.visibility</p:attrName>
                                        </p:attrNameLst>
                                      </p:cBhvr>
                                      <p:to>
                                        <p:strVal val="visible"/>
                                      </p:to>
                                    </p:set>
                                    <p:anim calcmode="lin" valueType="num">
                                      <p:cBhvr additive="base">
                                        <p:cTn id="66" dur="500" fill="hold"/>
                                        <p:tgtEl>
                                          <p:spTgt spid="29"/>
                                        </p:tgtEl>
                                        <p:attrNameLst>
                                          <p:attrName>ppt_x</p:attrName>
                                        </p:attrNameLst>
                                      </p:cBhvr>
                                      <p:tavLst>
                                        <p:tav tm="0">
                                          <p:val>
                                            <p:strVal val="#ppt_x"/>
                                          </p:val>
                                        </p:tav>
                                        <p:tav tm="100000">
                                          <p:val>
                                            <p:strVal val="#ppt_x"/>
                                          </p:val>
                                        </p:tav>
                                      </p:tavLst>
                                    </p:anim>
                                    <p:anim calcmode="lin" valueType="num">
                                      <p:cBhvr additive="base">
                                        <p:cTn id="67" dur="500" fill="hold"/>
                                        <p:tgtEl>
                                          <p:spTgt spid="29"/>
                                        </p:tgtEl>
                                        <p:attrNameLst>
                                          <p:attrName>ppt_y</p:attrName>
                                        </p:attrNameLst>
                                      </p:cBhvr>
                                      <p:tavLst>
                                        <p:tav tm="0">
                                          <p:val>
                                            <p:strVal val="#ppt_y+0.1"/>
                                          </p:val>
                                        </p:tav>
                                        <p:tav tm="100000">
                                          <p:val>
                                            <p:strVal val="#ppt_y"/>
                                          </p:val>
                                        </p:tav>
                                      </p:tavLst>
                                    </p:anim>
                                    <p:animEffect transition="in" filter="fade">
                                      <p:cBhvr>
                                        <p:cTn id="68" dur="500"/>
                                        <p:tgtEl>
                                          <p:spTgt spid="29"/>
                                        </p:tgtEl>
                                      </p:cBhvr>
                                    </p:animEffect>
                                  </p:childTnLst>
                                </p:cTn>
                              </p:par>
                            </p:childTnLst>
                          </p:cTn>
                        </p:par>
                      </p:childTnLst>
                    </p:cTn>
                  </p:par>
                  <p:par>
                    <p:cTn id="70" fill="hold">
                      <p:stCondLst>
                        <p:cond delay="indefinite"/>
                      </p:stCondLst>
                      <p:childTnLst>
                        <p:par>
                          <p:cTn id="71" fill="hold">
                            <p:stCondLst>
                              <p:cond delay="0"/>
                            </p:stCondLst>
                            <p:childTnLst>
                              <p:par>
                                <p:cTn id="76" presetID="2" presetClass="entr" presetSubtype="4" fill="hold" grpId="0" nodeType="clickEffect">
                                  <p:stCondLst>
                                    <p:cond delay="0"/>
                                  </p:stCondLst>
                                  <p:childTnLst>
                                    <p:set>
                                      <p:cBhvr>
                                        <p:cTn id="72" dur="1" fill="hold">
                                          <p:stCondLst>
                                            <p:cond delay="0"/>
                                          </p:stCondLst>
                                        </p:cTn>
                                        <p:tgtEl>
                                          <p:spTgt spid="24"/>
                                        </p:tgtEl>
                                        <p:attrNameLst>
                                          <p:attrName>style.visibility</p:attrName>
                                        </p:attrNameLst>
                                      </p:cBhvr>
                                      <p:to>
                                        <p:strVal val="visible"/>
                                      </p:to>
                                    </p:set>
                                    <p:anim calcmode="lin" valueType="num">
                                      <p:cBhvr additive="base">
                                        <p:cTn id="73" dur="500" fill="hold"/>
                                        <p:tgtEl>
                                          <p:spTgt spid="24"/>
                                        </p:tgtEl>
                                        <p:attrNameLst>
                                          <p:attrName>ppt_x</p:attrName>
                                        </p:attrNameLst>
                                      </p:cBhvr>
                                      <p:tavLst>
                                        <p:tav tm="0">
                                          <p:val>
                                            <p:strVal val="#ppt_x"/>
                                          </p:val>
                                        </p:tav>
                                        <p:tav tm="100000">
                                          <p:val>
                                            <p:strVal val="#ppt_x"/>
                                          </p:val>
                                        </p:tav>
                                      </p:tavLst>
                                    </p:anim>
                                    <p:anim calcmode="lin" valueType="num">
                                      <p:cBhvr additive="base">
                                        <p:cTn id="74" dur="500" fill="hold"/>
                                        <p:tgtEl>
                                          <p:spTgt spid="24"/>
                                        </p:tgtEl>
                                        <p:attrNameLst>
                                          <p:attrName>ppt_y</p:attrName>
                                        </p:attrNameLst>
                                      </p:cBhvr>
                                      <p:tavLst>
                                        <p:tav tm="0">
                                          <p:val>
                                            <p:strVal val="#ppt_y+0.1"/>
                                          </p:val>
                                        </p:tav>
                                        <p:tav tm="100000">
                                          <p:val>
                                            <p:strVal val="#ppt_y"/>
                                          </p:val>
                                        </p:tav>
                                      </p:tavLst>
                                    </p:anim>
                                    <p:animEffect transition="in" filter="fade">
                                      <p:cBhvr>
                                        <p:cTn id="75" dur="500"/>
                                        <p:tgtEl>
                                          <p:spTgt spid="24"/>
                                        </p:tgtEl>
                                      </p:cBhvr>
                                    </p:animEffect>
                                  </p:childTnLst>
                                </p:cTn>
                              </p:par>
                              <p:par>
                                <p:cTn id="81" presetID="2" presetClass="entr" presetSubtype="4" fill="hold" grpId="0" nodeType="withEffect">
                                  <p:stCondLst>
                                    <p:cond delay="100"/>
                                  </p:stCondLst>
                                  <p:childTnLst>
                                    <p:set>
                                      <p:cBhvr>
                                        <p:cTn id="77" dur="1" fill="hold">
                                          <p:stCondLst>
                                            <p:cond delay="0"/>
                                          </p:stCondLst>
                                        </p:cTn>
                                        <p:tgtEl>
                                          <p:spTgt spid="26"/>
                                        </p:tgtEl>
                                        <p:attrNameLst>
                                          <p:attrName>style.visibility</p:attrName>
                                        </p:attrNameLst>
                                      </p:cBhvr>
                                      <p:to>
                                        <p:strVal val="visible"/>
                                      </p:to>
                                    </p:set>
                                    <p:anim calcmode="lin" valueType="num">
                                      <p:cBhvr additive="base">
                                        <p:cTn id="78" dur="500" fill="hold"/>
                                        <p:tgtEl>
                                          <p:spTgt spid="26"/>
                                        </p:tgtEl>
                                        <p:attrNameLst>
                                          <p:attrName>ppt_x</p:attrName>
                                        </p:attrNameLst>
                                      </p:cBhvr>
                                      <p:tavLst>
                                        <p:tav tm="0">
                                          <p:val>
                                            <p:strVal val="#ppt_x"/>
                                          </p:val>
                                        </p:tav>
                                        <p:tav tm="100000">
                                          <p:val>
                                            <p:strVal val="#ppt_x"/>
                                          </p:val>
                                        </p:tav>
                                      </p:tavLst>
                                    </p:anim>
                                    <p:anim calcmode="lin" valueType="num">
                                      <p:cBhvr additive="base">
                                        <p:cTn id="79" dur="500" fill="hold"/>
                                        <p:tgtEl>
                                          <p:spTgt spid="26"/>
                                        </p:tgtEl>
                                        <p:attrNameLst>
                                          <p:attrName>ppt_y</p:attrName>
                                        </p:attrNameLst>
                                      </p:cBhvr>
                                      <p:tavLst>
                                        <p:tav tm="0">
                                          <p:val>
                                            <p:strVal val="#ppt_y+0.1"/>
                                          </p:val>
                                        </p:tav>
                                        <p:tav tm="100000">
                                          <p:val>
                                            <p:strVal val="#ppt_y"/>
                                          </p:val>
                                        </p:tav>
                                      </p:tavLst>
                                    </p:anim>
                                    <p:animEffect transition="in" filter="fade">
                                      <p:cBhvr>
                                        <p:cTn id="80" dur="500"/>
                                        <p:tgtEl>
                                          <p:spTgt spid="26"/>
                                        </p:tgtEl>
                                      </p:cBhvr>
                                    </p:animEffect>
                                  </p:childTnLst>
                                </p:cTn>
                              </p:par>
                              <p:par>
                                <p:cTn id="86" presetID="2" presetClass="entr" presetSubtype="4" fill="hold" grpId="0" nodeType="withEffect">
                                  <p:stCondLst>
                                    <p:cond delay="200"/>
                                  </p:stCondLst>
                                  <p:childTnLst>
                                    <p:set>
                                      <p:cBhvr>
                                        <p:cTn id="82" dur="1" fill="hold">
                                          <p:stCondLst>
                                            <p:cond delay="0"/>
                                          </p:stCondLst>
                                        </p:cTn>
                                        <p:tgtEl>
                                          <p:spTgt spid="30"/>
                                        </p:tgtEl>
                                        <p:attrNameLst>
                                          <p:attrName>style.visibility</p:attrName>
                                        </p:attrNameLst>
                                      </p:cBhvr>
                                      <p:to>
                                        <p:strVal val="visible"/>
                                      </p:to>
                                    </p:set>
                                    <p:anim calcmode="lin" valueType="num">
                                      <p:cBhvr additive="base">
                                        <p:cTn id="83" dur="500" fill="hold"/>
                                        <p:tgtEl>
                                          <p:spTgt spid="30"/>
                                        </p:tgtEl>
                                        <p:attrNameLst>
                                          <p:attrName>ppt_x</p:attrName>
                                        </p:attrNameLst>
                                      </p:cBhvr>
                                      <p:tavLst>
                                        <p:tav tm="0">
                                          <p:val>
                                            <p:strVal val="#ppt_x"/>
                                          </p:val>
                                        </p:tav>
                                        <p:tav tm="100000">
                                          <p:val>
                                            <p:strVal val="#ppt_x"/>
                                          </p:val>
                                        </p:tav>
                                      </p:tavLst>
                                    </p:anim>
                                    <p:anim calcmode="lin" valueType="num">
                                      <p:cBhvr additive="base">
                                        <p:cTn id="84" dur="500" fill="hold"/>
                                        <p:tgtEl>
                                          <p:spTgt spid="30"/>
                                        </p:tgtEl>
                                        <p:attrNameLst>
                                          <p:attrName>ppt_y</p:attrName>
                                        </p:attrNameLst>
                                      </p:cBhvr>
                                      <p:tavLst>
                                        <p:tav tm="0">
                                          <p:val>
                                            <p:strVal val="#ppt_y+0.1"/>
                                          </p:val>
                                        </p:tav>
                                        <p:tav tm="100000">
                                          <p:val>
                                            <p:strVal val="#ppt_y"/>
                                          </p:val>
                                        </p:tav>
                                      </p:tavLst>
                                    </p:anim>
                                    <p:animEffect transition="in" filter="fade">
                                      <p:cBhvr>
                                        <p:cTn id="85" dur="500"/>
                                        <p:tgtEl>
                                          <p:spTgt spid="30"/>
                                        </p:tgtEl>
                                      </p:cBhvr>
                                    </p:animEffect>
                                  </p:childTnLst>
                                </p:cTn>
                              </p:par>
                            </p:childTnLst>
                          </p:cTn>
                        </p:par>
                      </p:childTnLst>
                    </p:cTn>
                  </p:par>
                  <p:par>
                    <p:cTn id="87" fill="hold">
                      <p:stCondLst>
                        <p:cond delay="indefinite"/>
                      </p:stCondLst>
                      <p:childTnLst>
                        <p:par>
                          <p:cTn id="88" fill="hold">
                            <p:stCondLst>
                              <p:cond delay="0"/>
                            </p:stCondLst>
                            <p:childTnLst>
                              <p:par>
                                <p:cTn id="93" presetID="2" presetClass="entr" presetSubtype="4" fill="hold" grpId="0" nodeType="clickEffect">
                                  <p:stCondLst>
                                    <p:cond delay="0"/>
                                  </p:stCondLst>
                                  <p:childTnLst>
                                    <p:set>
                                      <p:cBhvr>
                                        <p:cTn id="89" dur="1" fill="hold">
                                          <p:stCondLst>
                                            <p:cond delay="0"/>
                                          </p:stCondLst>
                                        </p:cTn>
                                        <p:tgtEl>
                                          <p:spTgt spid="31"/>
                                        </p:tgtEl>
                                        <p:attrNameLst>
                                          <p:attrName>style.visibility</p:attrName>
                                        </p:attrNameLst>
                                      </p:cBhvr>
                                      <p:to>
                                        <p:strVal val="visible"/>
                                      </p:to>
                                    </p:set>
                                    <p:anim calcmode="lin" valueType="num">
                                      <p:cBhvr additive="base">
                                        <p:cTn id="90" dur="500" fill="hold"/>
                                        <p:tgtEl>
                                          <p:spTgt spid="31"/>
                                        </p:tgtEl>
                                        <p:attrNameLst>
                                          <p:attrName>ppt_x</p:attrName>
                                        </p:attrNameLst>
                                      </p:cBhvr>
                                      <p:tavLst>
                                        <p:tav tm="0">
                                          <p:val>
                                            <p:strVal val="#ppt_x"/>
                                          </p:val>
                                        </p:tav>
                                        <p:tav tm="100000">
                                          <p:val>
                                            <p:strVal val="#ppt_x"/>
                                          </p:val>
                                        </p:tav>
                                      </p:tavLst>
                                    </p:anim>
                                    <p:anim calcmode="lin" valueType="num">
                                      <p:cBhvr additive="base">
                                        <p:cTn id="91" dur="500" fill="hold"/>
                                        <p:tgtEl>
                                          <p:spTgt spid="31"/>
                                        </p:tgtEl>
                                        <p:attrNameLst>
                                          <p:attrName>ppt_y</p:attrName>
                                        </p:attrNameLst>
                                      </p:cBhvr>
                                      <p:tavLst>
                                        <p:tav tm="0">
                                          <p:val>
                                            <p:strVal val="#ppt_y+0.1"/>
                                          </p:val>
                                        </p:tav>
                                        <p:tav tm="100000">
                                          <p:val>
                                            <p:strVal val="#ppt_y"/>
                                          </p:val>
                                        </p:tav>
                                      </p:tavLst>
                                    </p:anim>
                                    <p:animEffect transition="in" filter="fade">
                                      <p:cBhvr>
                                        <p:cTn id="92" dur="500"/>
                                        <p:tgtEl>
                                          <p:spTgt spid="31"/>
                                        </p:tgtEl>
                                      </p:cBhvr>
                                    </p:animEffect>
                                  </p:childTnLst>
                                </p:cTn>
                              </p:par>
                              <p:par>
                                <p:cTn id="98" presetID="2" presetClass="entr" presetSubtype="4" fill="hold" grpId="0" nodeType="withEffect">
                                  <p:stCondLst>
                                    <p:cond delay="0"/>
                                  </p:stCondLst>
                                  <p:childTnLst>
                                    <p:set>
                                      <p:cBhvr>
                                        <p:cTn id="94" dur="1" fill="hold">
                                          <p:stCondLst>
                                            <p:cond delay="0"/>
                                          </p:stCondLst>
                                        </p:cTn>
                                        <p:tgtEl>
                                          <p:spTgt spid="32"/>
                                        </p:tgtEl>
                                        <p:attrNameLst>
                                          <p:attrName>style.visibility</p:attrName>
                                        </p:attrNameLst>
                                      </p:cBhvr>
                                      <p:to>
                                        <p:strVal val="visible"/>
                                      </p:to>
                                    </p:set>
                                    <p:anim calcmode="lin" valueType="num">
                                      <p:cBhvr additive="base">
                                        <p:cTn id="95" dur="500" fill="hold"/>
                                        <p:tgtEl>
                                          <p:spTgt spid="32"/>
                                        </p:tgtEl>
                                        <p:attrNameLst>
                                          <p:attrName>ppt_x</p:attrName>
                                        </p:attrNameLst>
                                      </p:cBhvr>
                                      <p:tavLst>
                                        <p:tav tm="0">
                                          <p:val>
                                            <p:strVal val="#ppt_x"/>
                                          </p:val>
                                        </p:tav>
                                        <p:tav tm="100000">
                                          <p:val>
                                            <p:strVal val="#ppt_x"/>
                                          </p:val>
                                        </p:tav>
                                      </p:tavLst>
                                    </p:anim>
                                    <p:anim calcmode="lin" valueType="num">
                                      <p:cBhvr additive="base">
                                        <p:cTn id="96" dur="500" fill="hold"/>
                                        <p:tgtEl>
                                          <p:spTgt spid="32"/>
                                        </p:tgtEl>
                                        <p:attrNameLst>
                                          <p:attrName>ppt_y</p:attrName>
                                        </p:attrNameLst>
                                      </p:cBhvr>
                                      <p:tavLst>
                                        <p:tav tm="0">
                                          <p:val>
                                            <p:strVal val="#ppt_y+0.1"/>
                                          </p:val>
                                        </p:tav>
                                        <p:tav tm="100000">
                                          <p:val>
                                            <p:strVal val="#ppt_y"/>
                                          </p:val>
                                        </p:tav>
                                      </p:tavLst>
                                    </p:anim>
                                    <p:animEffect transition="in" filter="fade">
                                      <p:cBhvr>
                                        <p:cTn id="97" dur="500"/>
                                        <p:tgtEl>
                                          <p:spTgt spid="32"/>
                                        </p:tgtEl>
                                      </p:cBhvr>
                                    </p:animEffect>
                                  </p:childTnLst>
                                </p:cTn>
                              </p:par>
                              <p:par>
                                <p:cTn id="103" presetID="2" presetClass="entr" presetSubtype="4" fill="hold" grpId="0" nodeType="withEffect">
                                  <p:stCondLst>
                                    <p:cond delay="0"/>
                                  </p:stCondLst>
                                  <p:childTnLst>
                                    <p:set>
                                      <p:cBhvr>
                                        <p:cTn id="99" dur="1" fill="hold">
                                          <p:stCondLst>
                                            <p:cond delay="0"/>
                                          </p:stCondLst>
                                        </p:cTn>
                                        <p:tgtEl>
                                          <p:spTgt spid="33"/>
                                        </p:tgtEl>
                                        <p:attrNameLst>
                                          <p:attrName>style.visibility</p:attrName>
                                        </p:attrNameLst>
                                      </p:cBhvr>
                                      <p:to>
                                        <p:strVal val="visible"/>
                                      </p:to>
                                    </p:set>
                                    <p:anim calcmode="lin" valueType="num">
                                      <p:cBhvr additive="base">
                                        <p:cTn id="100" dur="500" fill="hold"/>
                                        <p:tgtEl>
                                          <p:spTgt spid="33"/>
                                        </p:tgtEl>
                                        <p:attrNameLst>
                                          <p:attrName>ppt_x</p:attrName>
                                        </p:attrNameLst>
                                      </p:cBhvr>
                                      <p:tavLst>
                                        <p:tav tm="0">
                                          <p:val>
                                            <p:strVal val="#ppt_x"/>
                                          </p:val>
                                        </p:tav>
                                        <p:tav tm="100000">
                                          <p:val>
                                            <p:strVal val="#ppt_x"/>
                                          </p:val>
                                        </p:tav>
                                      </p:tavLst>
                                    </p:anim>
                                    <p:anim calcmode="lin" valueType="num">
                                      <p:cBhvr additive="base">
                                        <p:cTn id="101" dur="500" fill="hold"/>
                                        <p:tgtEl>
                                          <p:spTgt spid="33"/>
                                        </p:tgtEl>
                                        <p:attrNameLst>
                                          <p:attrName>ppt_y</p:attrName>
                                        </p:attrNameLst>
                                      </p:cBhvr>
                                      <p:tavLst>
                                        <p:tav tm="0">
                                          <p:val>
                                            <p:strVal val="#ppt_y+0.1"/>
                                          </p:val>
                                        </p:tav>
                                        <p:tav tm="100000">
                                          <p:val>
                                            <p:strVal val="#ppt_y"/>
                                          </p:val>
                                        </p:tav>
                                      </p:tavLst>
                                    </p:anim>
                                    <p:animEffect transition="in" filter="fade">
                                      <p:cBhvr>
                                        <p:cTn id="10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Then Loop - Forever</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An infinite loop is exactly right: a stream has no last message</a:t>
            </a:r>
          </a:p>
        </p:txBody>
      </p:sp>
      <p:sp>
        <p:nvSpPr>
          <p:cNvPr id="11" name="a1f_codebg10"/>
          <p:cNvSpPr/>
          <p:nvPr/>
        </p:nvSpPr>
        <p:spPr>
          <a:xfrm>
            <a:off x="457200" y="1280160"/>
            <a:ext cx="4069080" cy="1490472"/>
          </a:xfrm>
          <a:prstGeom prst="roundRect">
            <a:avLst>
              <a:gd name="adj" fmla="val 4907"/>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f_codeh11"/>
          <p:cNvSpPr txBox="1"/>
          <p:nvPr/>
        </p:nvSpPr>
        <p:spPr>
          <a:xfrm>
            <a:off x="585216" y="1335024"/>
            <a:ext cx="3813048" cy="219456"/>
          </a:xfrm>
          <a:prstGeom prst="rect">
            <a:avLst/>
          </a:prstGeom>
          <a:noFill/>
        </p:spPr>
        <p:txBody>
          <a:bodyPr wrap="square" lIns="0" tIns="0" rIns="0" bIns="0" anchor="ctr">
            <a:spAutoFit/>
          </a:bodyPr>
          <a:lstStyle/>
          <a:p>
            <a:pPr algn="l"/>
            <a:r>
              <a:rPr sz="950" b="1">
                <a:solidFill>
                  <a:srgbClr val="A8A29E"/>
                </a:solidFill>
                <a:latin typeface="Consolas"/>
              </a:rPr>
              <a:t>the poll loop</a:t>
            </a:r>
          </a:p>
        </p:txBody>
      </p:sp>
      <p:sp>
        <p:nvSpPr>
          <p:cNvPr id="13" name="a1f_codesep12"/>
          <p:cNvSpPr/>
          <p:nvPr/>
        </p:nvSpPr>
        <p:spPr>
          <a:xfrm>
            <a:off x="585216" y="1609343"/>
            <a:ext cx="3813048" cy="109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w_code13"/>
          <p:cNvSpPr txBox="1"/>
          <p:nvPr/>
        </p:nvSpPr>
        <p:spPr>
          <a:xfrm>
            <a:off x="585216" y="1682495"/>
            <a:ext cx="3813048" cy="192024"/>
          </a:xfrm>
          <a:prstGeom prst="rect">
            <a:avLst/>
          </a:prstGeom>
          <a:noFill/>
        </p:spPr>
        <p:txBody>
          <a:bodyPr wrap="none" lIns="0" tIns="0" rIns="0" bIns="0" anchor="ctr">
            <a:spAutoFit/>
          </a:bodyPr>
          <a:lstStyle/>
          <a:p>
            <a:pPr algn="l"/>
            <a:r>
              <a:rPr sz="800" b="0">
                <a:solidFill>
                  <a:srgbClr val="E7E5E4"/>
                </a:solidFill>
                <a:latin typeface="Consolas"/>
              </a:rPr>
              <a:t>consumer.subscribe(List.of("thermostat_readings"));</a:t>
            </a:r>
          </a:p>
        </p:txBody>
      </p:sp>
      <p:sp>
        <p:nvSpPr>
          <p:cNvPr id="15" name="a1wd110_code14"/>
          <p:cNvSpPr txBox="1"/>
          <p:nvPr/>
        </p:nvSpPr>
        <p:spPr>
          <a:xfrm>
            <a:off x="585216" y="1874519"/>
            <a:ext cx="3813048" cy="192024"/>
          </a:xfrm>
          <a:prstGeom prst="rect">
            <a:avLst/>
          </a:prstGeom>
          <a:noFill/>
        </p:spPr>
        <p:txBody>
          <a:bodyPr wrap="none" lIns="0" tIns="0" rIns="0" bIns="0" anchor="ctr">
            <a:spAutoFit/>
          </a:bodyPr>
          <a:lstStyle/>
          <a:p>
            <a:pPr algn="l"/>
            <a:r>
              <a:rPr sz="800" b="1">
                <a:solidFill>
                  <a:srgbClr val="FDBA74"/>
                </a:solidFill>
                <a:latin typeface="Consolas"/>
              </a:rPr>
              <a:t>while (true) {                          // yes, forever</a:t>
            </a:r>
          </a:p>
        </p:txBody>
      </p:sp>
      <p:sp>
        <p:nvSpPr>
          <p:cNvPr id="16" name="a1wd220_code15"/>
          <p:cNvSpPr txBox="1"/>
          <p:nvPr/>
        </p:nvSpPr>
        <p:spPr>
          <a:xfrm>
            <a:off x="585216" y="2066543"/>
            <a:ext cx="3813048" cy="192024"/>
          </a:xfrm>
          <a:prstGeom prst="rect">
            <a:avLst/>
          </a:prstGeom>
          <a:noFill/>
        </p:spPr>
        <p:txBody>
          <a:bodyPr wrap="none" lIns="0" tIns="0" rIns="0" bIns="0" anchor="ctr">
            <a:spAutoFit/>
          </a:bodyPr>
          <a:lstStyle/>
          <a:p>
            <a:pPr algn="l"/>
            <a:r>
              <a:rPr sz="800" b="1">
                <a:solidFill>
                  <a:srgbClr val="FDBA74"/>
                </a:solidFill>
                <a:latin typeface="Consolas"/>
              </a:rPr>
              <a:t>    var records = consumer.poll(Duration.ofMillis(100));</a:t>
            </a:r>
          </a:p>
        </p:txBody>
      </p:sp>
      <p:sp>
        <p:nvSpPr>
          <p:cNvPr id="17" name="a1wd330_code16"/>
          <p:cNvSpPr txBox="1"/>
          <p:nvPr/>
        </p:nvSpPr>
        <p:spPr>
          <a:xfrm>
            <a:off x="585216" y="2258568"/>
            <a:ext cx="3813048" cy="192024"/>
          </a:xfrm>
          <a:prstGeom prst="rect">
            <a:avLst/>
          </a:prstGeom>
          <a:noFill/>
        </p:spPr>
        <p:txBody>
          <a:bodyPr wrap="none" lIns="0" tIns="0" rIns="0" bIns="0" anchor="ctr">
            <a:spAutoFit/>
          </a:bodyPr>
          <a:lstStyle/>
          <a:p>
            <a:pPr algn="l"/>
            <a:r>
              <a:rPr sz="800" b="0">
                <a:solidFill>
                  <a:srgbClr val="8A8580"/>
                </a:solidFill>
                <a:latin typeface="Consolas"/>
              </a:rPr>
              <a:t>    // ... do something with them ...</a:t>
            </a:r>
          </a:p>
        </p:txBody>
      </p:sp>
      <p:sp>
        <p:nvSpPr>
          <p:cNvPr id="18" name="a1wd440_code17"/>
          <p:cNvSpPr txBox="1"/>
          <p:nvPr/>
        </p:nvSpPr>
        <p:spPr>
          <a:xfrm>
            <a:off x="585216" y="2450591"/>
            <a:ext cx="3813048" cy="192024"/>
          </a:xfrm>
          <a:prstGeom prst="rect">
            <a:avLst/>
          </a:prstGeom>
          <a:noFill/>
        </p:spPr>
        <p:txBody>
          <a:bodyPr wrap="none" lIns="0" tIns="0" rIns="0" bIns="0" anchor="ctr">
            <a:spAutoFit/>
          </a:bodyPr>
          <a:lstStyle/>
          <a:p>
            <a:pPr algn="l"/>
            <a:r>
              <a:rPr sz="800" b="0">
                <a:solidFill>
                  <a:srgbClr val="E7E5E4"/>
                </a:solidFill>
                <a:latin typeface="Consolas"/>
              </a:rPr>
              <a:t>}</a:t>
            </a:r>
          </a:p>
        </p:txBody>
      </p:sp>
      <p:sp>
        <p:nvSpPr>
          <p:cNvPr id="19" name="a2u_lb18"/>
          <p:cNvSpPr txBox="1"/>
          <p:nvPr/>
        </p:nvSpPr>
        <p:spPr>
          <a:xfrm>
            <a:off x="457200" y="2907792"/>
            <a:ext cx="4069080" cy="201168"/>
          </a:xfrm>
          <a:prstGeom prst="rect">
            <a:avLst/>
          </a:prstGeom>
          <a:noFill/>
        </p:spPr>
        <p:txBody>
          <a:bodyPr wrap="square" lIns="0" tIns="0" rIns="0" bIns="0" anchor="ctr">
            <a:spAutoFit/>
          </a:bodyPr>
          <a:lstStyle/>
          <a:p>
            <a:pPr algn="l"/>
            <a:r>
              <a:rPr sz="850" b="1">
                <a:solidFill>
                  <a:srgbClr val="0E7490"/>
                </a:solidFill>
                <a:latin typeface="Segoe UI"/>
              </a:rPr>
              <a:t>the stream keeps arriving</a:t>
            </a:r>
          </a:p>
        </p:txBody>
      </p:sp>
      <p:sp>
        <p:nvSpPr>
          <p:cNvPr id="20" name="a2w_cell19"/>
          <p:cNvSpPr/>
          <p:nvPr/>
        </p:nvSpPr>
        <p:spPr>
          <a:xfrm>
            <a:off x="457200" y="3154680"/>
            <a:ext cx="402336" cy="36576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2w_cellt20"/>
          <p:cNvSpPr txBox="1"/>
          <p:nvPr/>
        </p:nvSpPr>
        <p:spPr>
          <a:xfrm>
            <a:off x="457200" y="3154680"/>
            <a:ext cx="402336" cy="365760"/>
          </a:xfrm>
          <a:prstGeom prst="rect">
            <a:avLst/>
          </a:prstGeom>
          <a:noFill/>
        </p:spPr>
        <p:txBody>
          <a:bodyPr wrap="square" lIns="0" tIns="0" rIns="0" bIns="0" anchor="ctr">
            <a:spAutoFit/>
          </a:bodyPr>
          <a:lstStyle/>
          <a:p>
            <a:pPr algn="ctr"/>
            <a:r>
              <a:rPr sz="900" b="1">
                <a:solidFill>
                  <a:srgbClr val="0E7490"/>
                </a:solidFill>
                <a:latin typeface="Consolas"/>
              </a:rPr>
              <a:t>0</a:t>
            </a:r>
          </a:p>
        </p:txBody>
      </p:sp>
      <p:sp>
        <p:nvSpPr>
          <p:cNvPr id="22" name="a2wd60_cell21"/>
          <p:cNvSpPr/>
          <p:nvPr/>
        </p:nvSpPr>
        <p:spPr>
          <a:xfrm>
            <a:off x="859536" y="3154680"/>
            <a:ext cx="402336" cy="36576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2wd60_cellt22"/>
          <p:cNvSpPr txBox="1"/>
          <p:nvPr/>
        </p:nvSpPr>
        <p:spPr>
          <a:xfrm>
            <a:off x="859536" y="3154680"/>
            <a:ext cx="402336" cy="365760"/>
          </a:xfrm>
          <a:prstGeom prst="rect">
            <a:avLst/>
          </a:prstGeom>
          <a:noFill/>
        </p:spPr>
        <p:txBody>
          <a:bodyPr wrap="square" lIns="0" tIns="0" rIns="0" bIns="0" anchor="ctr">
            <a:spAutoFit/>
          </a:bodyPr>
          <a:lstStyle/>
          <a:p>
            <a:pPr algn="ctr"/>
            <a:r>
              <a:rPr sz="900" b="1">
                <a:solidFill>
                  <a:srgbClr val="0E7490"/>
                </a:solidFill>
                <a:latin typeface="Consolas"/>
              </a:rPr>
              <a:t>1</a:t>
            </a:r>
          </a:p>
        </p:txBody>
      </p:sp>
      <p:sp>
        <p:nvSpPr>
          <p:cNvPr id="24" name="a2wd120_cell23"/>
          <p:cNvSpPr/>
          <p:nvPr/>
        </p:nvSpPr>
        <p:spPr>
          <a:xfrm>
            <a:off x="1261872" y="3154680"/>
            <a:ext cx="402336" cy="36576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2wd120_cellt24"/>
          <p:cNvSpPr txBox="1"/>
          <p:nvPr/>
        </p:nvSpPr>
        <p:spPr>
          <a:xfrm>
            <a:off x="1261872" y="3154680"/>
            <a:ext cx="402336" cy="365760"/>
          </a:xfrm>
          <a:prstGeom prst="rect">
            <a:avLst/>
          </a:prstGeom>
          <a:noFill/>
        </p:spPr>
        <p:txBody>
          <a:bodyPr wrap="square" lIns="0" tIns="0" rIns="0" bIns="0" anchor="ctr">
            <a:spAutoFit/>
          </a:bodyPr>
          <a:lstStyle/>
          <a:p>
            <a:pPr algn="ctr"/>
            <a:r>
              <a:rPr sz="900" b="1">
                <a:solidFill>
                  <a:srgbClr val="0E7490"/>
                </a:solidFill>
                <a:latin typeface="Consolas"/>
              </a:rPr>
              <a:t>2</a:t>
            </a:r>
          </a:p>
        </p:txBody>
      </p:sp>
      <p:sp>
        <p:nvSpPr>
          <p:cNvPr id="26" name="a2wd180_cell25"/>
          <p:cNvSpPr/>
          <p:nvPr/>
        </p:nvSpPr>
        <p:spPr>
          <a:xfrm>
            <a:off x="1664208" y="3154680"/>
            <a:ext cx="402336" cy="36576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2wd180_cellt26"/>
          <p:cNvSpPr txBox="1"/>
          <p:nvPr/>
        </p:nvSpPr>
        <p:spPr>
          <a:xfrm>
            <a:off x="1664208" y="3154680"/>
            <a:ext cx="402336" cy="365760"/>
          </a:xfrm>
          <a:prstGeom prst="rect">
            <a:avLst/>
          </a:prstGeom>
          <a:noFill/>
        </p:spPr>
        <p:txBody>
          <a:bodyPr wrap="square" lIns="0" tIns="0" rIns="0" bIns="0" anchor="ctr">
            <a:spAutoFit/>
          </a:bodyPr>
          <a:lstStyle/>
          <a:p>
            <a:pPr algn="ctr"/>
            <a:r>
              <a:rPr sz="900" b="1">
                <a:solidFill>
                  <a:srgbClr val="0E7490"/>
                </a:solidFill>
                <a:latin typeface="Consolas"/>
              </a:rPr>
              <a:t>3</a:t>
            </a:r>
          </a:p>
        </p:txBody>
      </p:sp>
      <p:sp>
        <p:nvSpPr>
          <p:cNvPr id="28" name="a2wd240_cell27"/>
          <p:cNvSpPr/>
          <p:nvPr/>
        </p:nvSpPr>
        <p:spPr>
          <a:xfrm>
            <a:off x="2066543" y="3154680"/>
            <a:ext cx="402336" cy="36576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2wd240_cellt28"/>
          <p:cNvSpPr txBox="1"/>
          <p:nvPr/>
        </p:nvSpPr>
        <p:spPr>
          <a:xfrm>
            <a:off x="2066543" y="3154680"/>
            <a:ext cx="402336" cy="365760"/>
          </a:xfrm>
          <a:prstGeom prst="rect">
            <a:avLst/>
          </a:prstGeom>
          <a:noFill/>
        </p:spPr>
        <p:txBody>
          <a:bodyPr wrap="square" lIns="0" tIns="0" rIns="0" bIns="0" anchor="ctr">
            <a:spAutoFit/>
          </a:bodyPr>
          <a:lstStyle/>
          <a:p>
            <a:pPr algn="ctr"/>
            <a:r>
              <a:rPr sz="900" b="1">
                <a:solidFill>
                  <a:srgbClr val="0E7490"/>
                </a:solidFill>
                <a:latin typeface="Consolas"/>
              </a:rPr>
              <a:t>4</a:t>
            </a:r>
          </a:p>
        </p:txBody>
      </p:sp>
      <p:sp>
        <p:nvSpPr>
          <p:cNvPr id="30" name="a2wd300_cell29"/>
          <p:cNvSpPr/>
          <p:nvPr/>
        </p:nvSpPr>
        <p:spPr>
          <a:xfrm>
            <a:off x="2468880" y="3154680"/>
            <a:ext cx="402336" cy="36576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2wd300_cellt30"/>
          <p:cNvSpPr txBox="1"/>
          <p:nvPr/>
        </p:nvSpPr>
        <p:spPr>
          <a:xfrm>
            <a:off x="2468880" y="3154680"/>
            <a:ext cx="402336" cy="365760"/>
          </a:xfrm>
          <a:prstGeom prst="rect">
            <a:avLst/>
          </a:prstGeom>
          <a:noFill/>
        </p:spPr>
        <p:txBody>
          <a:bodyPr wrap="square" lIns="0" tIns="0" rIns="0" bIns="0" anchor="ctr">
            <a:spAutoFit/>
          </a:bodyPr>
          <a:lstStyle/>
          <a:p>
            <a:pPr algn="ctr"/>
            <a:r>
              <a:rPr sz="900" b="1">
                <a:solidFill>
                  <a:srgbClr val="0E7490"/>
                </a:solidFill>
                <a:latin typeface="Consolas"/>
              </a:rPr>
              <a:t>5</a:t>
            </a:r>
          </a:p>
        </p:txBody>
      </p:sp>
      <p:sp>
        <p:nvSpPr>
          <p:cNvPr id="32" name="a2wd360_cell31"/>
          <p:cNvSpPr/>
          <p:nvPr/>
        </p:nvSpPr>
        <p:spPr>
          <a:xfrm>
            <a:off x="2871216" y="3154680"/>
            <a:ext cx="402336" cy="36576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2wd360_cellt32"/>
          <p:cNvSpPr txBox="1"/>
          <p:nvPr/>
        </p:nvSpPr>
        <p:spPr>
          <a:xfrm>
            <a:off x="2871216" y="3154680"/>
            <a:ext cx="402336" cy="365760"/>
          </a:xfrm>
          <a:prstGeom prst="rect">
            <a:avLst/>
          </a:prstGeom>
          <a:noFill/>
        </p:spPr>
        <p:txBody>
          <a:bodyPr wrap="square" lIns="0" tIns="0" rIns="0" bIns="0" anchor="ctr">
            <a:spAutoFit/>
          </a:bodyPr>
          <a:lstStyle/>
          <a:p>
            <a:pPr algn="ctr"/>
            <a:r>
              <a:rPr sz="900" b="1">
                <a:solidFill>
                  <a:srgbClr val="0E7490"/>
                </a:solidFill>
                <a:latin typeface="Consolas"/>
              </a:rPr>
              <a:t>6</a:t>
            </a:r>
          </a:p>
        </p:txBody>
      </p:sp>
      <p:sp>
        <p:nvSpPr>
          <p:cNvPr id="34" name="a2wd420_cell33"/>
          <p:cNvSpPr/>
          <p:nvPr/>
        </p:nvSpPr>
        <p:spPr>
          <a:xfrm>
            <a:off x="3273552" y="3154680"/>
            <a:ext cx="402336" cy="36576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2wd420_cellt34"/>
          <p:cNvSpPr txBox="1"/>
          <p:nvPr/>
        </p:nvSpPr>
        <p:spPr>
          <a:xfrm>
            <a:off x="3273552" y="3154680"/>
            <a:ext cx="402336" cy="365760"/>
          </a:xfrm>
          <a:prstGeom prst="rect">
            <a:avLst/>
          </a:prstGeom>
          <a:noFill/>
        </p:spPr>
        <p:txBody>
          <a:bodyPr wrap="square" lIns="0" tIns="0" rIns="0" bIns="0" anchor="ctr">
            <a:spAutoFit/>
          </a:bodyPr>
          <a:lstStyle/>
          <a:p>
            <a:pPr algn="ctr"/>
            <a:r>
              <a:rPr sz="900" b="1">
                <a:solidFill>
                  <a:srgbClr val="0E7490"/>
                </a:solidFill>
                <a:latin typeface="Consolas"/>
              </a:rPr>
              <a:t>7</a:t>
            </a:r>
          </a:p>
        </p:txBody>
      </p:sp>
      <p:sp>
        <p:nvSpPr>
          <p:cNvPr id="36" name="a2ud500_more35"/>
          <p:cNvSpPr txBox="1"/>
          <p:nvPr/>
        </p:nvSpPr>
        <p:spPr>
          <a:xfrm>
            <a:off x="3712463" y="3154680"/>
            <a:ext cx="548640" cy="365760"/>
          </a:xfrm>
          <a:prstGeom prst="rect">
            <a:avLst/>
          </a:prstGeom>
          <a:noFill/>
        </p:spPr>
        <p:txBody>
          <a:bodyPr wrap="square" lIns="0" tIns="0" rIns="0" bIns="0" anchor="ctr">
            <a:spAutoFit/>
          </a:bodyPr>
          <a:lstStyle/>
          <a:p>
            <a:pPr algn="l"/>
            <a:r>
              <a:rPr sz="1300" b="1">
                <a:solidFill>
                  <a:srgbClr val="0E7490"/>
                </a:solidFill>
                <a:latin typeface="Segoe UI"/>
              </a:rPr>
              <a:t>...</a:t>
            </a:r>
          </a:p>
        </p:txBody>
      </p:sp>
      <p:cxnSp>
        <p:nvCxnSpPr>
          <p:cNvPr id="37" name="a2ud500_ar36"/>
          <p:cNvCxnSpPr/>
          <p:nvPr/>
        </p:nvCxnSpPr>
        <p:spPr>
          <a:xfrm>
            <a:off x="4160520" y="3337560"/>
            <a:ext cx="365760" cy="0"/>
          </a:xfrm>
          <a:prstGeom prst="line">
            <a:avLst/>
          </a:prstGeom>
          <a:ln w="19050">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a3u_card37"/>
          <p:cNvSpPr/>
          <p:nvPr/>
        </p:nvSpPr>
        <p:spPr>
          <a:xfrm>
            <a:off x="4800600" y="1280160"/>
            <a:ext cx="3886200" cy="1024128"/>
          </a:xfrm>
          <a:prstGeom prst="roundRect">
            <a:avLst>
              <a:gd name="adj" fmla="val 1071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3u_acc38"/>
          <p:cNvSpPr/>
          <p:nvPr/>
        </p:nvSpPr>
        <p:spPr>
          <a:xfrm>
            <a:off x="4800600" y="1280160"/>
            <a:ext cx="50292" cy="1024128"/>
          </a:xfrm>
          <a:prstGeom prst="rect">
            <a:avLst/>
          </a:prstGeom>
          <a:solidFill>
            <a:srgbClr val="7871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3u_hh39"/>
          <p:cNvSpPr txBox="1"/>
          <p:nvPr/>
        </p:nvSpPr>
        <p:spPr>
          <a:xfrm>
            <a:off x="5001768" y="1389888"/>
            <a:ext cx="3520440" cy="237744"/>
          </a:xfrm>
          <a:prstGeom prst="rect">
            <a:avLst/>
          </a:prstGeom>
          <a:noFill/>
        </p:spPr>
        <p:txBody>
          <a:bodyPr wrap="square" lIns="0" tIns="0" rIns="0" bIns="0" anchor="ctr">
            <a:spAutoFit/>
          </a:bodyPr>
          <a:lstStyle/>
          <a:p>
            <a:pPr algn="l"/>
            <a:r>
              <a:rPr sz="900" b="1">
                <a:solidFill>
                  <a:srgbClr val="78716C"/>
                </a:solidFill>
                <a:latin typeface="Segoe UI"/>
              </a:rPr>
              <a:t>BATCH THINKING</a:t>
            </a:r>
          </a:p>
        </p:txBody>
      </p:sp>
      <p:sp>
        <p:nvSpPr>
          <p:cNvPr id="41" name="a3ud80_c140"/>
          <p:cNvSpPr txBox="1"/>
          <p:nvPr/>
        </p:nvSpPr>
        <p:spPr>
          <a:xfrm>
            <a:off x="5001768" y="1591056"/>
            <a:ext cx="3520440" cy="640080"/>
          </a:xfrm>
          <a:prstGeom prst="rect">
            <a:avLst/>
          </a:prstGeom>
          <a:noFill/>
        </p:spPr>
        <p:txBody>
          <a:bodyPr wrap="square" lIns="0" tIns="0" rIns="0" bIns="0" anchor="t">
            <a:spAutoFit/>
          </a:bodyPr>
          <a:lstStyle/>
          <a:p>
            <a:pPr algn="l"/>
            <a:r>
              <a:rPr sz="950" b="0">
                <a:solidFill>
                  <a:srgbClr val="44403C"/>
                </a:solidFill>
                <a:latin typeface="Segoe UI"/>
              </a:rPr>
              <a:t>read the file to its end, then stop - there is a last record</a:t>
            </a:r>
          </a:p>
        </p:txBody>
      </p:sp>
      <p:sp>
        <p:nvSpPr>
          <p:cNvPr id="42" name="a4u_card41"/>
          <p:cNvSpPr/>
          <p:nvPr/>
        </p:nvSpPr>
        <p:spPr>
          <a:xfrm>
            <a:off x="4800600" y="2468880"/>
            <a:ext cx="3886200" cy="1024128"/>
          </a:xfrm>
          <a:prstGeom prst="roundRect">
            <a:avLst>
              <a:gd name="adj" fmla="val 1071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4u_acc42"/>
          <p:cNvSpPr/>
          <p:nvPr/>
        </p:nvSpPr>
        <p:spPr>
          <a:xfrm>
            <a:off x="4800600" y="2468880"/>
            <a:ext cx="50292" cy="102412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4u_hh43"/>
          <p:cNvSpPr txBox="1"/>
          <p:nvPr/>
        </p:nvSpPr>
        <p:spPr>
          <a:xfrm>
            <a:off x="5001768" y="2578608"/>
            <a:ext cx="3520440" cy="237744"/>
          </a:xfrm>
          <a:prstGeom prst="rect">
            <a:avLst/>
          </a:prstGeom>
          <a:noFill/>
        </p:spPr>
        <p:txBody>
          <a:bodyPr wrap="square" lIns="0" tIns="0" rIns="0" bIns="0" anchor="ctr">
            <a:spAutoFit/>
          </a:bodyPr>
          <a:lstStyle/>
          <a:p>
            <a:pPr algn="l"/>
            <a:r>
              <a:rPr sz="900" b="1">
                <a:solidFill>
                  <a:srgbClr val="0E7490"/>
                </a:solidFill>
                <a:latin typeface="Segoe UI"/>
              </a:rPr>
              <a:t>STREAMING</a:t>
            </a:r>
          </a:p>
        </p:txBody>
      </p:sp>
      <p:sp>
        <p:nvSpPr>
          <p:cNvPr id="45" name="a4ud80_c244"/>
          <p:cNvSpPr txBox="1"/>
          <p:nvPr/>
        </p:nvSpPr>
        <p:spPr>
          <a:xfrm>
            <a:off x="5001768" y="2779776"/>
            <a:ext cx="3520440" cy="640080"/>
          </a:xfrm>
          <a:prstGeom prst="rect">
            <a:avLst/>
          </a:prstGeom>
          <a:noFill/>
        </p:spPr>
        <p:txBody>
          <a:bodyPr wrap="square" lIns="0" tIns="0" rIns="0" bIns="0" anchor="t">
            <a:spAutoFit/>
          </a:bodyPr>
          <a:lstStyle/>
          <a:p>
            <a:pPr algn="l"/>
            <a:r>
              <a:rPr sz="950" b="0">
                <a:solidFill>
                  <a:srgbClr val="44403C"/>
                </a:solidFill>
                <a:latin typeface="Segoe UI"/>
              </a:rPr>
              <a:t>there is always more data coming - so keep polling, for as long as the app runs</a:t>
            </a:r>
          </a:p>
        </p:txBody>
      </p:sp>
      <p:sp>
        <p:nvSpPr>
          <p:cNvPr id="46" name="a5u_nb45"/>
          <p:cNvSpPr/>
          <p:nvPr/>
        </p:nvSpPr>
        <p:spPr>
          <a:xfrm>
            <a:off x="457200" y="3886200"/>
            <a:ext cx="8229600" cy="566928"/>
          </a:xfrm>
          <a:prstGeom prst="roundRect">
            <a:avLst>
              <a:gd name="adj" fmla="val 12903"/>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5u_nacc46"/>
          <p:cNvSpPr/>
          <p:nvPr/>
        </p:nvSpPr>
        <p:spPr>
          <a:xfrm>
            <a:off x="457200" y="3886200"/>
            <a:ext cx="54864" cy="56692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a5u_nt47"/>
          <p:cNvSpPr txBox="1"/>
          <p:nvPr/>
        </p:nvSpPr>
        <p:spPr>
          <a:xfrm>
            <a:off x="658368" y="3886200"/>
            <a:ext cx="7827264" cy="566928"/>
          </a:xfrm>
          <a:prstGeom prst="rect">
            <a:avLst/>
          </a:prstGeom>
          <a:noFill/>
        </p:spPr>
        <p:txBody>
          <a:bodyPr wrap="square" lIns="0" tIns="0" rIns="0" bIns="0" anchor="ctr">
            <a:spAutoFit/>
          </a:bodyPr>
          <a:lstStyle/>
          <a:p>
            <a:pPr algn="l"/>
            <a:r>
              <a:rPr sz="950" b="1">
                <a:solidFill>
                  <a:srgbClr val="0E7490"/>
                </a:solidFill>
                <a:latin typeface="Segoe UI"/>
              </a:rPr>
              <a:t>KEY  </a:t>
            </a:r>
            <a:r>
              <a:rPr sz="950" b="0">
                <a:solidFill>
                  <a:srgbClr val="44403C"/>
                </a:solidFill>
                <a:latin typeface="Segoe UI"/>
              </a:rPr>
              <a:t>poll() asks the cluster: any new messages for me? Then you handle them - and ask again.</a:t>
            </a:r>
          </a:p>
        </p:txBody>
      </p:sp>
      <p:sp>
        <p:nvSpPr>
          <p:cNvPr id="49" name="ft48"/>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05</a:t>
            </a:r>
          </a:p>
        </p:txBody>
      </p:sp>
      <p:sp>
        <p:nvSpPr>
          <p:cNvPr id="50" name="ft49"/>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ft50"/>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Consumers</a:t>
            </a:r>
          </a:p>
        </p:txBody>
      </p:sp>
      <p:sp>
        <p:nvSpPr>
          <p:cNvPr id="52" name="ft51"/>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7</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22" presetClass="entr" presetSubtype="8"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par>
                                <p:cTn id="19" presetID="22" presetClass="entr" presetSubtype="8" fill="hold" grpId="0" nodeType="withEffect">
                                  <p:stCondLst>
                                    <p:cond delay="11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par>
                                <p:cTn id="22" presetID="22" presetClass="entr" presetSubtype="8" fill="hold" grpId="0" nodeType="withEffect">
                                  <p:stCondLst>
                                    <p:cond delay="22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500"/>
                                        <p:tgtEl>
                                          <p:spTgt spid="16"/>
                                        </p:tgtEl>
                                      </p:cBhvr>
                                    </p:animEffect>
                                  </p:childTnLst>
                                </p:cTn>
                              </p:par>
                              <p:par>
                                <p:cTn id="25" presetID="22" presetClass="entr" presetSubtype="8" fill="hold" grpId="0" nodeType="withEffect">
                                  <p:stCondLst>
                                    <p:cond delay="33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500"/>
                                        <p:tgtEl>
                                          <p:spTgt spid="17"/>
                                        </p:tgtEl>
                                      </p:cBhvr>
                                    </p:animEffect>
                                  </p:childTnLst>
                                </p:cTn>
                              </p:par>
                              <p:par>
                                <p:cTn id="28" presetID="22" presetClass="entr" presetSubtype="8" fill="hold" grpId="0" nodeType="withEffect">
                                  <p:stCondLst>
                                    <p:cond delay="44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childTnLst>
                          </p:cTn>
                        </p:par>
                      </p:childTnLst>
                    </p:cTn>
                  </p:par>
                  <p:par>
                    <p:cTn id="29" fill="hold">
                      <p:stCondLst>
                        <p:cond delay="indefinite"/>
                      </p:stCondLst>
                      <p:childTnLst>
                        <p:par>
                          <p:cTn id="30" fill="hold">
                            <p:stCondLst>
                              <p:cond delay="0"/>
                            </p:stCondLst>
                            <p:childTnLst>
                              <p:par>
                                <p:cTn id="35" presetID="2" presetClass="entr" presetSubtype="4"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 calcmode="lin" valueType="num">
                                      <p:cBhvr additive="base">
                                        <p:cTn id="32" dur="500" fill="hold"/>
                                        <p:tgtEl>
                                          <p:spTgt spid="19"/>
                                        </p:tgtEl>
                                        <p:attrNameLst>
                                          <p:attrName>ppt_x</p:attrName>
                                        </p:attrNameLst>
                                      </p:cBhvr>
                                      <p:tavLst>
                                        <p:tav tm="0">
                                          <p:val>
                                            <p:strVal val="#ppt_x"/>
                                          </p:val>
                                        </p:tav>
                                        <p:tav tm="100000">
                                          <p:val>
                                            <p:strVal val="#ppt_x"/>
                                          </p:val>
                                        </p:tav>
                                      </p:tavLst>
                                    </p:anim>
                                    <p:anim calcmode="lin" valueType="num">
                                      <p:cBhvr additive="base">
                                        <p:cTn id="33" dur="500" fill="hold"/>
                                        <p:tgtEl>
                                          <p:spTgt spid="19"/>
                                        </p:tgtEl>
                                        <p:attrNameLst>
                                          <p:attrName>ppt_y</p:attrName>
                                        </p:attrNameLst>
                                      </p:cBhvr>
                                      <p:tavLst>
                                        <p:tav tm="0">
                                          <p:val>
                                            <p:strVal val="#ppt_y+0.1"/>
                                          </p:val>
                                        </p:tav>
                                        <p:tav tm="100000">
                                          <p:val>
                                            <p:strVal val="#ppt_y"/>
                                          </p:val>
                                        </p:tav>
                                      </p:tavLst>
                                    </p:anim>
                                    <p:animEffect transition="in" filter="fade">
                                      <p:cBhvr>
                                        <p:cTn id="34" dur="500"/>
                                        <p:tgtEl>
                                          <p:spTgt spid="19"/>
                                        </p:tgtEl>
                                      </p:cBhvr>
                                    </p:animEffect>
                                  </p:childTnLst>
                                </p:cTn>
                              </p:par>
                              <p:par>
                                <p:cTn id="38" presetID="22" presetClass="entr" presetSubtype="8"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wipe(left)">
                                      <p:cBhvr>
                                        <p:cTn id="37" dur="500"/>
                                        <p:tgtEl>
                                          <p:spTgt spid="20"/>
                                        </p:tgtEl>
                                      </p:cBhvr>
                                    </p:animEffect>
                                  </p:childTnLst>
                                </p:cTn>
                              </p:par>
                              <p:par>
                                <p:cTn id="41" presetID="22" presetClass="entr" presetSubtype="8"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wipe(left)">
                                      <p:cBhvr>
                                        <p:cTn id="40" dur="500"/>
                                        <p:tgtEl>
                                          <p:spTgt spid="21"/>
                                        </p:tgtEl>
                                      </p:cBhvr>
                                    </p:animEffect>
                                  </p:childTnLst>
                                </p:cTn>
                              </p:par>
                              <p:par>
                                <p:cTn id="44" presetID="22" presetClass="entr" presetSubtype="8" fill="hold" grpId="0" nodeType="withEffect">
                                  <p:stCondLst>
                                    <p:cond delay="60"/>
                                  </p:stCondLst>
                                  <p:childTnLst>
                                    <p:set>
                                      <p:cBhvr>
                                        <p:cTn id="42" dur="1" fill="hold">
                                          <p:stCondLst>
                                            <p:cond delay="0"/>
                                          </p:stCondLst>
                                        </p:cTn>
                                        <p:tgtEl>
                                          <p:spTgt spid="22"/>
                                        </p:tgtEl>
                                        <p:attrNameLst>
                                          <p:attrName>style.visibility</p:attrName>
                                        </p:attrNameLst>
                                      </p:cBhvr>
                                      <p:to>
                                        <p:strVal val="visible"/>
                                      </p:to>
                                    </p:set>
                                    <p:animEffect transition="in" filter="wipe(left)">
                                      <p:cBhvr>
                                        <p:cTn id="43" dur="500"/>
                                        <p:tgtEl>
                                          <p:spTgt spid="22"/>
                                        </p:tgtEl>
                                      </p:cBhvr>
                                    </p:animEffect>
                                  </p:childTnLst>
                                </p:cTn>
                              </p:par>
                              <p:par>
                                <p:cTn id="47" presetID="22" presetClass="entr" presetSubtype="8" fill="hold" grpId="0" nodeType="withEffect">
                                  <p:stCondLst>
                                    <p:cond delay="60"/>
                                  </p:stCondLst>
                                  <p:childTnLst>
                                    <p:set>
                                      <p:cBhvr>
                                        <p:cTn id="45" dur="1" fill="hold">
                                          <p:stCondLst>
                                            <p:cond delay="0"/>
                                          </p:stCondLst>
                                        </p:cTn>
                                        <p:tgtEl>
                                          <p:spTgt spid="23"/>
                                        </p:tgtEl>
                                        <p:attrNameLst>
                                          <p:attrName>style.visibility</p:attrName>
                                        </p:attrNameLst>
                                      </p:cBhvr>
                                      <p:to>
                                        <p:strVal val="visible"/>
                                      </p:to>
                                    </p:set>
                                    <p:animEffect transition="in" filter="wipe(left)">
                                      <p:cBhvr>
                                        <p:cTn id="46" dur="500"/>
                                        <p:tgtEl>
                                          <p:spTgt spid="23"/>
                                        </p:tgtEl>
                                      </p:cBhvr>
                                    </p:animEffect>
                                  </p:childTnLst>
                                </p:cTn>
                              </p:par>
                              <p:par>
                                <p:cTn id="50" presetID="22" presetClass="entr" presetSubtype="8" fill="hold" grpId="0" nodeType="withEffect">
                                  <p:stCondLst>
                                    <p:cond delay="120"/>
                                  </p:stCondLst>
                                  <p:childTnLst>
                                    <p:set>
                                      <p:cBhvr>
                                        <p:cTn id="48" dur="1" fill="hold">
                                          <p:stCondLst>
                                            <p:cond delay="0"/>
                                          </p:stCondLst>
                                        </p:cTn>
                                        <p:tgtEl>
                                          <p:spTgt spid="24"/>
                                        </p:tgtEl>
                                        <p:attrNameLst>
                                          <p:attrName>style.visibility</p:attrName>
                                        </p:attrNameLst>
                                      </p:cBhvr>
                                      <p:to>
                                        <p:strVal val="visible"/>
                                      </p:to>
                                    </p:set>
                                    <p:animEffect transition="in" filter="wipe(left)">
                                      <p:cBhvr>
                                        <p:cTn id="49" dur="500"/>
                                        <p:tgtEl>
                                          <p:spTgt spid="24"/>
                                        </p:tgtEl>
                                      </p:cBhvr>
                                    </p:animEffect>
                                  </p:childTnLst>
                                </p:cTn>
                              </p:par>
                              <p:par>
                                <p:cTn id="53" presetID="22" presetClass="entr" presetSubtype="8" fill="hold" grpId="0" nodeType="withEffect">
                                  <p:stCondLst>
                                    <p:cond delay="120"/>
                                  </p:stCondLst>
                                  <p:childTnLst>
                                    <p:set>
                                      <p:cBhvr>
                                        <p:cTn id="51" dur="1" fill="hold">
                                          <p:stCondLst>
                                            <p:cond delay="0"/>
                                          </p:stCondLst>
                                        </p:cTn>
                                        <p:tgtEl>
                                          <p:spTgt spid="25"/>
                                        </p:tgtEl>
                                        <p:attrNameLst>
                                          <p:attrName>style.visibility</p:attrName>
                                        </p:attrNameLst>
                                      </p:cBhvr>
                                      <p:to>
                                        <p:strVal val="visible"/>
                                      </p:to>
                                    </p:set>
                                    <p:animEffect transition="in" filter="wipe(left)">
                                      <p:cBhvr>
                                        <p:cTn id="52" dur="500"/>
                                        <p:tgtEl>
                                          <p:spTgt spid="25"/>
                                        </p:tgtEl>
                                      </p:cBhvr>
                                    </p:animEffect>
                                  </p:childTnLst>
                                </p:cTn>
                              </p:par>
                              <p:par>
                                <p:cTn id="56" presetID="22" presetClass="entr" presetSubtype="8" fill="hold" grpId="0" nodeType="withEffect">
                                  <p:stCondLst>
                                    <p:cond delay="180"/>
                                  </p:stCondLst>
                                  <p:childTnLst>
                                    <p:set>
                                      <p:cBhvr>
                                        <p:cTn id="54" dur="1" fill="hold">
                                          <p:stCondLst>
                                            <p:cond delay="0"/>
                                          </p:stCondLst>
                                        </p:cTn>
                                        <p:tgtEl>
                                          <p:spTgt spid="26"/>
                                        </p:tgtEl>
                                        <p:attrNameLst>
                                          <p:attrName>style.visibility</p:attrName>
                                        </p:attrNameLst>
                                      </p:cBhvr>
                                      <p:to>
                                        <p:strVal val="visible"/>
                                      </p:to>
                                    </p:set>
                                    <p:animEffect transition="in" filter="wipe(left)">
                                      <p:cBhvr>
                                        <p:cTn id="55" dur="500"/>
                                        <p:tgtEl>
                                          <p:spTgt spid="26"/>
                                        </p:tgtEl>
                                      </p:cBhvr>
                                    </p:animEffect>
                                  </p:childTnLst>
                                </p:cTn>
                              </p:par>
                              <p:par>
                                <p:cTn id="59" presetID="22" presetClass="entr" presetSubtype="8" fill="hold" grpId="0" nodeType="withEffect">
                                  <p:stCondLst>
                                    <p:cond delay="180"/>
                                  </p:stCondLst>
                                  <p:childTnLst>
                                    <p:set>
                                      <p:cBhvr>
                                        <p:cTn id="57" dur="1" fill="hold">
                                          <p:stCondLst>
                                            <p:cond delay="0"/>
                                          </p:stCondLst>
                                        </p:cTn>
                                        <p:tgtEl>
                                          <p:spTgt spid="27"/>
                                        </p:tgtEl>
                                        <p:attrNameLst>
                                          <p:attrName>style.visibility</p:attrName>
                                        </p:attrNameLst>
                                      </p:cBhvr>
                                      <p:to>
                                        <p:strVal val="visible"/>
                                      </p:to>
                                    </p:set>
                                    <p:animEffect transition="in" filter="wipe(left)">
                                      <p:cBhvr>
                                        <p:cTn id="58" dur="500"/>
                                        <p:tgtEl>
                                          <p:spTgt spid="27"/>
                                        </p:tgtEl>
                                      </p:cBhvr>
                                    </p:animEffect>
                                  </p:childTnLst>
                                </p:cTn>
                              </p:par>
                              <p:par>
                                <p:cTn id="62" presetID="22" presetClass="entr" presetSubtype="8" fill="hold" grpId="0" nodeType="withEffect">
                                  <p:stCondLst>
                                    <p:cond delay="240"/>
                                  </p:stCondLst>
                                  <p:childTnLst>
                                    <p:set>
                                      <p:cBhvr>
                                        <p:cTn id="60" dur="1" fill="hold">
                                          <p:stCondLst>
                                            <p:cond delay="0"/>
                                          </p:stCondLst>
                                        </p:cTn>
                                        <p:tgtEl>
                                          <p:spTgt spid="28"/>
                                        </p:tgtEl>
                                        <p:attrNameLst>
                                          <p:attrName>style.visibility</p:attrName>
                                        </p:attrNameLst>
                                      </p:cBhvr>
                                      <p:to>
                                        <p:strVal val="visible"/>
                                      </p:to>
                                    </p:set>
                                    <p:animEffect transition="in" filter="wipe(left)">
                                      <p:cBhvr>
                                        <p:cTn id="61" dur="500"/>
                                        <p:tgtEl>
                                          <p:spTgt spid="28"/>
                                        </p:tgtEl>
                                      </p:cBhvr>
                                    </p:animEffect>
                                  </p:childTnLst>
                                </p:cTn>
                              </p:par>
                              <p:par>
                                <p:cTn id="65" presetID="22" presetClass="entr" presetSubtype="8" fill="hold" grpId="0" nodeType="withEffect">
                                  <p:stCondLst>
                                    <p:cond delay="240"/>
                                  </p:stCondLst>
                                  <p:childTnLst>
                                    <p:set>
                                      <p:cBhvr>
                                        <p:cTn id="63" dur="1" fill="hold">
                                          <p:stCondLst>
                                            <p:cond delay="0"/>
                                          </p:stCondLst>
                                        </p:cTn>
                                        <p:tgtEl>
                                          <p:spTgt spid="29"/>
                                        </p:tgtEl>
                                        <p:attrNameLst>
                                          <p:attrName>style.visibility</p:attrName>
                                        </p:attrNameLst>
                                      </p:cBhvr>
                                      <p:to>
                                        <p:strVal val="visible"/>
                                      </p:to>
                                    </p:set>
                                    <p:animEffect transition="in" filter="wipe(left)">
                                      <p:cBhvr>
                                        <p:cTn id="64" dur="500"/>
                                        <p:tgtEl>
                                          <p:spTgt spid="29"/>
                                        </p:tgtEl>
                                      </p:cBhvr>
                                    </p:animEffect>
                                  </p:childTnLst>
                                </p:cTn>
                              </p:par>
                              <p:par>
                                <p:cTn id="68" presetID="22" presetClass="entr" presetSubtype="8" fill="hold" grpId="0" nodeType="withEffect">
                                  <p:stCondLst>
                                    <p:cond delay="300"/>
                                  </p:stCondLst>
                                  <p:childTnLst>
                                    <p:set>
                                      <p:cBhvr>
                                        <p:cTn id="66" dur="1" fill="hold">
                                          <p:stCondLst>
                                            <p:cond delay="0"/>
                                          </p:stCondLst>
                                        </p:cTn>
                                        <p:tgtEl>
                                          <p:spTgt spid="30"/>
                                        </p:tgtEl>
                                        <p:attrNameLst>
                                          <p:attrName>style.visibility</p:attrName>
                                        </p:attrNameLst>
                                      </p:cBhvr>
                                      <p:to>
                                        <p:strVal val="visible"/>
                                      </p:to>
                                    </p:set>
                                    <p:animEffect transition="in" filter="wipe(left)">
                                      <p:cBhvr>
                                        <p:cTn id="67" dur="500"/>
                                        <p:tgtEl>
                                          <p:spTgt spid="30"/>
                                        </p:tgtEl>
                                      </p:cBhvr>
                                    </p:animEffect>
                                  </p:childTnLst>
                                </p:cTn>
                              </p:par>
                              <p:par>
                                <p:cTn id="71" presetID="22" presetClass="entr" presetSubtype="8" fill="hold" grpId="0" nodeType="withEffect">
                                  <p:stCondLst>
                                    <p:cond delay="300"/>
                                  </p:stCondLst>
                                  <p:childTnLst>
                                    <p:set>
                                      <p:cBhvr>
                                        <p:cTn id="69" dur="1" fill="hold">
                                          <p:stCondLst>
                                            <p:cond delay="0"/>
                                          </p:stCondLst>
                                        </p:cTn>
                                        <p:tgtEl>
                                          <p:spTgt spid="31"/>
                                        </p:tgtEl>
                                        <p:attrNameLst>
                                          <p:attrName>style.visibility</p:attrName>
                                        </p:attrNameLst>
                                      </p:cBhvr>
                                      <p:to>
                                        <p:strVal val="visible"/>
                                      </p:to>
                                    </p:set>
                                    <p:animEffect transition="in" filter="wipe(left)">
                                      <p:cBhvr>
                                        <p:cTn id="70" dur="500"/>
                                        <p:tgtEl>
                                          <p:spTgt spid="31"/>
                                        </p:tgtEl>
                                      </p:cBhvr>
                                    </p:animEffect>
                                  </p:childTnLst>
                                </p:cTn>
                              </p:par>
                              <p:par>
                                <p:cTn id="74" presetID="22" presetClass="entr" presetSubtype="8" fill="hold" grpId="0" nodeType="withEffect">
                                  <p:stCondLst>
                                    <p:cond delay="360"/>
                                  </p:stCondLst>
                                  <p:childTnLst>
                                    <p:set>
                                      <p:cBhvr>
                                        <p:cTn id="72" dur="1" fill="hold">
                                          <p:stCondLst>
                                            <p:cond delay="0"/>
                                          </p:stCondLst>
                                        </p:cTn>
                                        <p:tgtEl>
                                          <p:spTgt spid="32"/>
                                        </p:tgtEl>
                                        <p:attrNameLst>
                                          <p:attrName>style.visibility</p:attrName>
                                        </p:attrNameLst>
                                      </p:cBhvr>
                                      <p:to>
                                        <p:strVal val="visible"/>
                                      </p:to>
                                    </p:set>
                                    <p:animEffect transition="in" filter="wipe(left)">
                                      <p:cBhvr>
                                        <p:cTn id="73" dur="500"/>
                                        <p:tgtEl>
                                          <p:spTgt spid="32"/>
                                        </p:tgtEl>
                                      </p:cBhvr>
                                    </p:animEffect>
                                  </p:childTnLst>
                                </p:cTn>
                              </p:par>
                              <p:par>
                                <p:cTn id="77" presetID="22" presetClass="entr" presetSubtype="8" fill="hold" grpId="0" nodeType="withEffect">
                                  <p:stCondLst>
                                    <p:cond delay="360"/>
                                  </p:stCondLst>
                                  <p:childTnLst>
                                    <p:set>
                                      <p:cBhvr>
                                        <p:cTn id="75" dur="1" fill="hold">
                                          <p:stCondLst>
                                            <p:cond delay="0"/>
                                          </p:stCondLst>
                                        </p:cTn>
                                        <p:tgtEl>
                                          <p:spTgt spid="33"/>
                                        </p:tgtEl>
                                        <p:attrNameLst>
                                          <p:attrName>style.visibility</p:attrName>
                                        </p:attrNameLst>
                                      </p:cBhvr>
                                      <p:to>
                                        <p:strVal val="visible"/>
                                      </p:to>
                                    </p:set>
                                    <p:animEffect transition="in" filter="wipe(left)">
                                      <p:cBhvr>
                                        <p:cTn id="76" dur="500"/>
                                        <p:tgtEl>
                                          <p:spTgt spid="33"/>
                                        </p:tgtEl>
                                      </p:cBhvr>
                                    </p:animEffect>
                                  </p:childTnLst>
                                </p:cTn>
                              </p:par>
                              <p:par>
                                <p:cTn id="80" presetID="22" presetClass="entr" presetSubtype="8" fill="hold" grpId="0" nodeType="withEffect">
                                  <p:stCondLst>
                                    <p:cond delay="420"/>
                                  </p:stCondLst>
                                  <p:childTnLst>
                                    <p:set>
                                      <p:cBhvr>
                                        <p:cTn id="78" dur="1" fill="hold">
                                          <p:stCondLst>
                                            <p:cond delay="0"/>
                                          </p:stCondLst>
                                        </p:cTn>
                                        <p:tgtEl>
                                          <p:spTgt spid="34"/>
                                        </p:tgtEl>
                                        <p:attrNameLst>
                                          <p:attrName>style.visibility</p:attrName>
                                        </p:attrNameLst>
                                      </p:cBhvr>
                                      <p:to>
                                        <p:strVal val="visible"/>
                                      </p:to>
                                    </p:set>
                                    <p:animEffect transition="in" filter="wipe(left)">
                                      <p:cBhvr>
                                        <p:cTn id="79" dur="500"/>
                                        <p:tgtEl>
                                          <p:spTgt spid="34"/>
                                        </p:tgtEl>
                                      </p:cBhvr>
                                    </p:animEffect>
                                  </p:childTnLst>
                                </p:cTn>
                              </p:par>
                              <p:par>
                                <p:cTn id="83" presetID="22" presetClass="entr" presetSubtype="8" fill="hold" grpId="0" nodeType="withEffect">
                                  <p:stCondLst>
                                    <p:cond delay="420"/>
                                  </p:stCondLst>
                                  <p:childTnLst>
                                    <p:set>
                                      <p:cBhvr>
                                        <p:cTn id="81" dur="1" fill="hold">
                                          <p:stCondLst>
                                            <p:cond delay="0"/>
                                          </p:stCondLst>
                                        </p:cTn>
                                        <p:tgtEl>
                                          <p:spTgt spid="35"/>
                                        </p:tgtEl>
                                        <p:attrNameLst>
                                          <p:attrName>style.visibility</p:attrName>
                                        </p:attrNameLst>
                                      </p:cBhvr>
                                      <p:to>
                                        <p:strVal val="visible"/>
                                      </p:to>
                                    </p:set>
                                    <p:animEffect transition="in" filter="wipe(left)">
                                      <p:cBhvr>
                                        <p:cTn id="82" dur="500"/>
                                        <p:tgtEl>
                                          <p:spTgt spid="35"/>
                                        </p:tgtEl>
                                      </p:cBhvr>
                                    </p:animEffect>
                                  </p:childTnLst>
                                </p:cTn>
                              </p:par>
                              <p:par>
                                <p:cTn id="88" presetID="2" presetClass="entr" presetSubtype="4" fill="hold" grpId="0" nodeType="withEffect">
                                  <p:stCondLst>
                                    <p:cond delay="500"/>
                                  </p:stCondLst>
                                  <p:childTnLst>
                                    <p:set>
                                      <p:cBhvr>
                                        <p:cTn id="84" dur="1" fill="hold">
                                          <p:stCondLst>
                                            <p:cond delay="0"/>
                                          </p:stCondLst>
                                        </p:cTn>
                                        <p:tgtEl>
                                          <p:spTgt spid="36"/>
                                        </p:tgtEl>
                                        <p:attrNameLst>
                                          <p:attrName>style.visibility</p:attrName>
                                        </p:attrNameLst>
                                      </p:cBhvr>
                                      <p:to>
                                        <p:strVal val="visible"/>
                                      </p:to>
                                    </p:set>
                                    <p:anim calcmode="lin" valueType="num">
                                      <p:cBhvr additive="base">
                                        <p:cTn id="85" dur="500" fill="hold"/>
                                        <p:tgtEl>
                                          <p:spTgt spid="36"/>
                                        </p:tgtEl>
                                        <p:attrNameLst>
                                          <p:attrName>ppt_x</p:attrName>
                                        </p:attrNameLst>
                                      </p:cBhvr>
                                      <p:tavLst>
                                        <p:tav tm="0">
                                          <p:val>
                                            <p:strVal val="#ppt_x"/>
                                          </p:val>
                                        </p:tav>
                                        <p:tav tm="100000">
                                          <p:val>
                                            <p:strVal val="#ppt_x"/>
                                          </p:val>
                                        </p:tav>
                                      </p:tavLst>
                                    </p:anim>
                                    <p:anim calcmode="lin" valueType="num">
                                      <p:cBhvr additive="base">
                                        <p:cTn id="86" dur="500" fill="hold"/>
                                        <p:tgtEl>
                                          <p:spTgt spid="36"/>
                                        </p:tgtEl>
                                        <p:attrNameLst>
                                          <p:attrName>ppt_y</p:attrName>
                                        </p:attrNameLst>
                                      </p:cBhvr>
                                      <p:tavLst>
                                        <p:tav tm="0">
                                          <p:val>
                                            <p:strVal val="#ppt_y+0.1"/>
                                          </p:val>
                                        </p:tav>
                                        <p:tav tm="100000">
                                          <p:val>
                                            <p:strVal val="#ppt_y"/>
                                          </p:val>
                                        </p:tav>
                                      </p:tavLst>
                                    </p:anim>
                                    <p:animEffect transition="in" filter="fade">
                                      <p:cBhvr>
                                        <p:cTn id="87" dur="500"/>
                                        <p:tgtEl>
                                          <p:spTgt spid="36"/>
                                        </p:tgtEl>
                                      </p:cBhvr>
                                    </p:animEffect>
                                  </p:childTnLst>
                                </p:cTn>
                              </p:par>
                              <p:par>
                                <p:cTn id="93" presetID="2" presetClass="entr" presetSubtype="4" fill="hold" grpId="0" nodeType="withEffect">
                                  <p:stCondLst>
                                    <p:cond delay="500"/>
                                  </p:stCondLst>
                                  <p:childTnLst>
                                    <p:set>
                                      <p:cBhvr>
                                        <p:cTn id="89" dur="1" fill="hold">
                                          <p:stCondLst>
                                            <p:cond delay="0"/>
                                          </p:stCondLst>
                                        </p:cTn>
                                        <p:tgtEl>
                                          <p:spTgt spid="37"/>
                                        </p:tgtEl>
                                        <p:attrNameLst>
                                          <p:attrName>style.visibility</p:attrName>
                                        </p:attrNameLst>
                                      </p:cBhvr>
                                      <p:to>
                                        <p:strVal val="visible"/>
                                      </p:to>
                                    </p:set>
                                    <p:anim calcmode="lin" valueType="num">
                                      <p:cBhvr additive="base">
                                        <p:cTn id="90" dur="500" fill="hold"/>
                                        <p:tgtEl>
                                          <p:spTgt spid="37"/>
                                        </p:tgtEl>
                                        <p:attrNameLst>
                                          <p:attrName>ppt_x</p:attrName>
                                        </p:attrNameLst>
                                      </p:cBhvr>
                                      <p:tavLst>
                                        <p:tav tm="0">
                                          <p:val>
                                            <p:strVal val="#ppt_x"/>
                                          </p:val>
                                        </p:tav>
                                        <p:tav tm="100000">
                                          <p:val>
                                            <p:strVal val="#ppt_x"/>
                                          </p:val>
                                        </p:tav>
                                      </p:tavLst>
                                    </p:anim>
                                    <p:anim calcmode="lin" valueType="num">
                                      <p:cBhvr additive="base">
                                        <p:cTn id="91" dur="500" fill="hold"/>
                                        <p:tgtEl>
                                          <p:spTgt spid="37"/>
                                        </p:tgtEl>
                                        <p:attrNameLst>
                                          <p:attrName>ppt_y</p:attrName>
                                        </p:attrNameLst>
                                      </p:cBhvr>
                                      <p:tavLst>
                                        <p:tav tm="0">
                                          <p:val>
                                            <p:strVal val="#ppt_y+0.1"/>
                                          </p:val>
                                        </p:tav>
                                        <p:tav tm="100000">
                                          <p:val>
                                            <p:strVal val="#ppt_y"/>
                                          </p:val>
                                        </p:tav>
                                      </p:tavLst>
                                    </p:anim>
                                    <p:animEffect transition="in" filter="fade">
                                      <p:cBhvr>
                                        <p:cTn id="92" dur="500"/>
                                        <p:tgtEl>
                                          <p:spTgt spid="37"/>
                                        </p:tgtEl>
                                      </p:cBhvr>
                                    </p:animEffect>
                                  </p:childTnLst>
                                </p:cTn>
                              </p:par>
                            </p:childTnLst>
                          </p:cTn>
                        </p:par>
                      </p:childTnLst>
                    </p:cTn>
                  </p:par>
                  <p:par>
                    <p:cTn id="94" fill="hold">
                      <p:stCondLst>
                        <p:cond delay="indefinite"/>
                      </p:stCondLst>
                      <p:childTnLst>
                        <p:par>
                          <p:cTn id="95" fill="hold">
                            <p:stCondLst>
                              <p:cond delay="0"/>
                            </p:stCondLst>
                            <p:childTnLst>
                              <p:par>
                                <p:cTn id="100" presetID="2" presetClass="entr" presetSubtype="4" fill="hold" grpId="0" nodeType="clickEffect">
                                  <p:stCondLst>
                                    <p:cond delay="0"/>
                                  </p:stCondLst>
                                  <p:childTnLst>
                                    <p:set>
                                      <p:cBhvr>
                                        <p:cTn id="96" dur="1" fill="hold">
                                          <p:stCondLst>
                                            <p:cond delay="0"/>
                                          </p:stCondLst>
                                        </p:cTn>
                                        <p:tgtEl>
                                          <p:spTgt spid="38"/>
                                        </p:tgtEl>
                                        <p:attrNameLst>
                                          <p:attrName>style.visibility</p:attrName>
                                        </p:attrNameLst>
                                      </p:cBhvr>
                                      <p:to>
                                        <p:strVal val="visible"/>
                                      </p:to>
                                    </p:set>
                                    <p:anim calcmode="lin" valueType="num">
                                      <p:cBhvr additive="base">
                                        <p:cTn id="97" dur="500" fill="hold"/>
                                        <p:tgtEl>
                                          <p:spTgt spid="38"/>
                                        </p:tgtEl>
                                        <p:attrNameLst>
                                          <p:attrName>ppt_x</p:attrName>
                                        </p:attrNameLst>
                                      </p:cBhvr>
                                      <p:tavLst>
                                        <p:tav tm="0">
                                          <p:val>
                                            <p:strVal val="#ppt_x"/>
                                          </p:val>
                                        </p:tav>
                                        <p:tav tm="100000">
                                          <p:val>
                                            <p:strVal val="#ppt_x"/>
                                          </p:val>
                                        </p:tav>
                                      </p:tavLst>
                                    </p:anim>
                                    <p:anim calcmode="lin" valueType="num">
                                      <p:cBhvr additive="base">
                                        <p:cTn id="98" dur="500" fill="hold"/>
                                        <p:tgtEl>
                                          <p:spTgt spid="38"/>
                                        </p:tgtEl>
                                        <p:attrNameLst>
                                          <p:attrName>ppt_y</p:attrName>
                                        </p:attrNameLst>
                                      </p:cBhvr>
                                      <p:tavLst>
                                        <p:tav tm="0">
                                          <p:val>
                                            <p:strVal val="#ppt_y+0.1"/>
                                          </p:val>
                                        </p:tav>
                                        <p:tav tm="100000">
                                          <p:val>
                                            <p:strVal val="#ppt_y"/>
                                          </p:val>
                                        </p:tav>
                                      </p:tavLst>
                                    </p:anim>
                                    <p:animEffect transition="in" filter="fade">
                                      <p:cBhvr>
                                        <p:cTn id="99" dur="500"/>
                                        <p:tgtEl>
                                          <p:spTgt spid="38"/>
                                        </p:tgtEl>
                                      </p:cBhvr>
                                    </p:animEffect>
                                  </p:childTnLst>
                                </p:cTn>
                              </p:par>
                              <p:par>
                                <p:cTn id="105" presetID="2" presetClass="entr" presetSubtype="4" fill="hold" grpId="0" nodeType="withEffect">
                                  <p:stCondLst>
                                    <p:cond delay="0"/>
                                  </p:stCondLst>
                                  <p:childTnLst>
                                    <p:set>
                                      <p:cBhvr>
                                        <p:cTn id="101" dur="1" fill="hold">
                                          <p:stCondLst>
                                            <p:cond delay="0"/>
                                          </p:stCondLst>
                                        </p:cTn>
                                        <p:tgtEl>
                                          <p:spTgt spid="39"/>
                                        </p:tgtEl>
                                        <p:attrNameLst>
                                          <p:attrName>style.visibility</p:attrName>
                                        </p:attrNameLst>
                                      </p:cBhvr>
                                      <p:to>
                                        <p:strVal val="visible"/>
                                      </p:to>
                                    </p:set>
                                    <p:anim calcmode="lin" valueType="num">
                                      <p:cBhvr additive="base">
                                        <p:cTn id="102" dur="500" fill="hold"/>
                                        <p:tgtEl>
                                          <p:spTgt spid="39"/>
                                        </p:tgtEl>
                                        <p:attrNameLst>
                                          <p:attrName>ppt_x</p:attrName>
                                        </p:attrNameLst>
                                      </p:cBhvr>
                                      <p:tavLst>
                                        <p:tav tm="0">
                                          <p:val>
                                            <p:strVal val="#ppt_x"/>
                                          </p:val>
                                        </p:tav>
                                        <p:tav tm="100000">
                                          <p:val>
                                            <p:strVal val="#ppt_x"/>
                                          </p:val>
                                        </p:tav>
                                      </p:tavLst>
                                    </p:anim>
                                    <p:anim calcmode="lin" valueType="num">
                                      <p:cBhvr additive="base">
                                        <p:cTn id="103" dur="500" fill="hold"/>
                                        <p:tgtEl>
                                          <p:spTgt spid="39"/>
                                        </p:tgtEl>
                                        <p:attrNameLst>
                                          <p:attrName>ppt_y</p:attrName>
                                        </p:attrNameLst>
                                      </p:cBhvr>
                                      <p:tavLst>
                                        <p:tav tm="0">
                                          <p:val>
                                            <p:strVal val="#ppt_y+0.1"/>
                                          </p:val>
                                        </p:tav>
                                        <p:tav tm="100000">
                                          <p:val>
                                            <p:strVal val="#ppt_y"/>
                                          </p:val>
                                        </p:tav>
                                      </p:tavLst>
                                    </p:anim>
                                    <p:animEffect transition="in" filter="fade">
                                      <p:cBhvr>
                                        <p:cTn id="104" dur="500"/>
                                        <p:tgtEl>
                                          <p:spTgt spid="39"/>
                                        </p:tgtEl>
                                      </p:cBhvr>
                                    </p:animEffect>
                                  </p:childTnLst>
                                </p:cTn>
                              </p:par>
                              <p:par>
                                <p:cTn id="110" presetID="2" presetClass="entr" presetSubtype="4" fill="hold" grpId="0" nodeType="withEffect">
                                  <p:stCondLst>
                                    <p:cond delay="0"/>
                                  </p:stCondLst>
                                  <p:childTnLst>
                                    <p:set>
                                      <p:cBhvr>
                                        <p:cTn id="106" dur="1" fill="hold">
                                          <p:stCondLst>
                                            <p:cond delay="0"/>
                                          </p:stCondLst>
                                        </p:cTn>
                                        <p:tgtEl>
                                          <p:spTgt spid="40"/>
                                        </p:tgtEl>
                                        <p:attrNameLst>
                                          <p:attrName>style.visibility</p:attrName>
                                        </p:attrNameLst>
                                      </p:cBhvr>
                                      <p:to>
                                        <p:strVal val="visible"/>
                                      </p:to>
                                    </p:set>
                                    <p:anim calcmode="lin" valueType="num">
                                      <p:cBhvr additive="base">
                                        <p:cTn id="107" dur="500" fill="hold"/>
                                        <p:tgtEl>
                                          <p:spTgt spid="40"/>
                                        </p:tgtEl>
                                        <p:attrNameLst>
                                          <p:attrName>ppt_x</p:attrName>
                                        </p:attrNameLst>
                                      </p:cBhvr>
                                      <p:tavLst>
                                        <p:tav tm="0">
                                          <p:val>
                                            <p:strVal val="#ppt_x"/>
                                          </p:val>
                                        </p:tav>
                                        <p:tav tm="100000">
                                          <p:val>
                                            <p:strVal val="#ppt_x"/>
                                          </p:val>
                                        </p:tav>
                                      </p:tavLst>
                                    </p:anim>
                                    <p:anim calcmode="lin" valueType="num">
                                      <p:cBhvr additive="base">
                                        <p:cTn id="108" dur="500" fill="hold"/>
                                        <p:tgtEl>
                                          <p:spTgt spid="40"/>
                                        </p:tgtEl>
                                        <p:attrNameLst>
                                          <p:attrName>ppt_y</p:attrName>
                                        </p:attrNameLst>
                                      </p:cBhvr>
                                      <p:tavLst>
                                        <p:tav tm="0">
                                          <p:val>
                                            <p:strVal val="#ppt_y+0.1"/>
                                          </p:val>
                                        </p:tav>
                                        <p:tav tm="100000">
                                          <p:val>
                                            <p:strVal val="#ppt_y"/>
                                          </p:val>
                                        </p:tav>
                                      </p:tavLst>
                                    </p:anim>
                                    <p:animEffect transition="in" filter="fade">
                                      <p:cBhvr>
                                        <p:cTn id="109" dur="500"/>
                                        <p:tgtEl>
                                          <p:spTgt spid="40"/>
                                        </p:tgtEl>
                                      </p:cBhvr>
                                    </p:animEffect>
                                  </p:childTnLst>
                                </p:cTn>
                              </p:par>
                              <p:par>
                                <p:cTn id="115" presetID="2" presetClass="entr" presetSubtype="4" fill="hold" grpId="0" nodeType="withEffect">
                                  <p:stCondLst>
                                    <p:cond delay="80"/>
                                  </p:stCondLst>
                                  <p:childTnLst>
                                    <p:set>
                                      <p:cBhvr>
                                        <p:cTn id="111" dur="1" fill="hold">
                                          <p:stCondLst>
                                            <p:cond delay="0"/>
                                          </p:stCondLst>
                                        </p:cTn>
                                        <p:tgtEl>
                                          <p:spTgt spid="41"/>
                                        </p:tgtEl>
                                        <p:attrNameLst>
                                          <p:attrName>style.visibility</p:attrName>
                                        </p:attrNameLst>
                                      </p:cBhvr>
                                      <p:to>
                                        <p:strVal val="visible"/>
                                      </p:to>
                                    </p:set>
                                    <p:anim calcmode="lin" valueType="num">
                                      <p:cBhvr additive="base">
                                        <p:cTn id="112" dur="500" fill="hold"/>
                                        <p:tgtEl>
                                          <p:spTgt spid="41"/>
                                        </p:tgtEl>
                                        <p:attrNameLst>
                                          <p:attrName>ppt_x</p:attrName>
                                        </p:attrNameLst>
                                      </p:cBhvr>
                                      <p:tavLst>
                                        <p:tav tm="0">
                                          <p:val>
                                            <p:strVal val="#ppt_x"/>
                                          </p:val>
                                        </p:tav>
                                        <p:tav tm="100000">
                                          <p:val>
                                            <p:strVal val="#ppt_x"/>
                                          </p:val>
                                        </p:tav>
                                      </p:tavLst>
                                    </p:anim>
                                    <p:anim calcmode="lin" valueType="num">
                                      <p:cBhvr additive="base">
                                        <p:cTn id="113" dur="500" fill="hold"/>
                                        <p:tgtEl>
                                          <p:spTgt spid="41"/>
                                        </p:tgtEl>
                                        <p:attrNameLst>
                                          <p:attrName>ppt_y</p:attrName>
                                        </p:attrNameLst>
                                      </p:cBhvr>
                                      <p:tavLst>
                                        <p:tav tm="0">
                                          <p:val>
                                            <p:strVal val="#ppt_y+0.1"/>
                                          </p:val>
                                        </p:tav>
                                        <p:tav tm="100000">
                                          <p:val>
                                            <p:strVal val="#ppt_y"/>
                                          </p:val>
                                        </p:tav>
                                      </p:tavLst>
                                    </p:anim>
                                    <p:animEffect transition="in" filter="fade">
                                      <p:cBhvr>
                                        <p:cTn id="114" dur="500"/>
                                        <p:tgtEl>
                                          <p:spTgt spid="41"/>
                                        </p:tgtEl>
                                      </p:cBhvr>
                                    </p:animEffect>
                                  </p:childTnLst>
                                </p:cTn>
                              </p:par>
                            </p:childTnLst>
                          </p:cTn>
                        </p:par>
                      </p:childTnLst>
                    </p:cTn>
                  </p:par>
                  <p:par>
                    <p:cTn id="116" fill="hold">
                      <p:stCondLst>
                        <p:cond delay="indefinite"/>
                      </p:stCondLst>
                      <p:childTnLst>
                        <p:par>
                          <p:cTn id="117" fill="hold">
                            <p:stCondLst>
                              <p:cond delay="0"/>
                            </p:stCondLst>
                            <p:childTnLst>
                              <p:par>
                                <p:cTn id="122" presetID="2" presetClass="entr" presetSubtype="4" fill="hold" grpId="0" nodeType="clickEffect">
                                  <p:stCondLst>
                                    <p:cond delay="0"/>
                                  </p:stCondLst>
                                  <p:childTnLst>
                                    <p:set>
                                      <p:cBhvr>
                                        <p:cTn id="118" dur="1" fill="hold">
                                          <p:stCondLst>
                                            <p:cond delay="0"/>
                                          </p:stCondLst>
                                        </p:cTn>
                                        <p:tgtEl>
                                          <p:spTgt spid="42"/>
                                        </p:tgtEl>
                                        <p:attrNameLst>
                                          <p:attrName>style.visibility</p:attrName>
                                        </p:attrNameLst>
                                      </p:cBhvr>
                                      <p:to>
                                        <p:strVal val="visible"/>
                                      </p:to>
                                    </p:set>
                                    <p:anim calcmode="lin" valueType="num">
                                      <p:cBhvr additive="base">
                                        <p:cTn id="119" dur="500" fill="hold"/>
                                        <p:tgtEl>
                                          <p:spTgt spid="42"/>
                                        </p:tgtEl>
                                        <p:attrNameLst>
                                          <p:attrName>ppt_x</p:attrName>
                                        </p:attrNameLst>
                                      </p:cBhvr>
                                      <p:tavLst>
                                        <p:tav tm="0">
                                          <p:val>
                                            <p:strVal val="#ppt_x"/>
                                          </p:val>
                                        </p:tav>
                                        <p:tav tm="100000">
                                          <p:val>
                                            <p:strVal val="#ppt_x"/>
                                          </p:val>
                                        </p:tav>
                                      </p:tavLst>
                                    </p:anim>
                                    <p:anim calcmode="lin" valueType="num">
                                      <p:cBhvr additive="base">
                                        <p:cTn id="120" dur="500" fill="hold"/>
                                        <p:tgtEl>
                                          <p:spTgt spid="42"/>
                                        </p:tgtEl>
                                        <p:attrNameLst>
                                          <p:attrName>ppt_y</p:attrName>
                                        </p:attrNameLst>
                                      </p:cBhvr>
                                      <p:tavLst>
                                        <p:tav tm="0">
                                          <p:val>
                                            <p:strVal val="#ppt_y+0.1"/>
                                          </p:val>
                                        </p:tav>
                                        <p:tav tm="100000">
                                          <p:val>
                                            <p:strVal val="#ppt_y"/>
                                          </p:val>
                                        </p:tav>
                                      </p:tavLst>
                                    </p:anim>
                                    <p:animEffect transition="in" filter="fade">
                                      <p:cBhvr>
                                        <p:cTn id="121" dur="500"/>
                                        <p:tgtEl>
                                          <p:spTgt spid="42"/>
                                        </p:tgtEl>
                                      </p:cBhvr>
                                    </p:animEffect>
                                  </p:childTnLst>
                                </p:cTn>
                              </p:par>
                              <p:par>
                                <p:cTn id="127" presetID="2" presetClass="entr" presetSubtype="4" fill="hold" grpId="0" nodeType="withEffect">
                                  <p:stCondLst>
                                    <p:cond delay="0"/>
                                  </p:stCondLst>
                                  <p:childTnLst>
                                    <p:set>
                                      <p:cBhvr>
                                        <p:cTn id="123" dur="1" fill="hold">
                                          <p:stCondLst>
                                            <p:cond delay="0"/>
                                          </p:stCondLst>
                                        </p:cTn>
                                        <p:tgtEl>
                                          <p:spTgt spid="43"/>
                                        </p:tgtEl>
                                        <p:attrNameLst>
                                          <p:attrName>style.visibility</p:attrName>
                                        </p:attrNameLst>
                                      </p:cBhvr>
                                      <p:to>
                                        <p:strVal val="visible"/>
                                      </p:to>
                                    </p:set>
                                    <p:anim calcmode="lin" valueType="num">
                                      <p:cBhvr additive="base">
                                        <p:cTn id="124" dur="500" fill="hold"/>
                                        <p:tgtEl>
                                          <p:spTgt spid="43"/>
                                        </p:tgtEl>
                                        <p:attrNameLst>
                                          <p:attrName>ppt_x</p:attrName>
                                        </p:attrNameLst>
                                      </p:cBhvr>
                                      <p:tavLst>
                                        <p:tav tm="0">
                                          <p:val>
                                            <p:strVal val="#ppt_x"/>
                                          </p:val>
                                        </p:tav>
                                        <p:tav tm="100000">
                                          <p:val>
                                            <p:strVal val="#ppt_x"/>
                                          </p:val>
                                        </p:tav>
                                      </p:tavLst>
                                    </p:anim>
                                    <p:anim calcmode="lin" valueType="num">
                                      <p:cBhvr additive="base">
                                        <p:cTn id="125" dur="500" fill="hold"/>
                                        <p:tgtEl>
                                          <p:spTgt spid="43"/>
                                        </p:tgtEl>
                                        <p:attrNameLst>
                                          <p:attrName>ppt_y</p:attrName>
                                        </p:attrNameLst>
                                      </p:cBhvr>
                                      <p:tavLst>
                                        <p:tav tm="0">
                                          <p:val>
                                            <p:strVal val="#ppt_y+0.1"/>
                                          </p:val>
                                        </p:tav>
                                        <p:tav tm="100000">
                                          <p:val>
                                            <p:strVal val="#ppt_y"/>
                                          </p:val>
                                        </p:tav>
                                      </p:tavLst>
                                    </p:anim>
                                    <p:animEffect transition="in" filter="fade">
                                      <p:cBhvr>
                                        <p:cTn id="126" dur="500"/>
                                        <p:tgtEl>
                                          <p:spTgt spid="43"/>
                                        </p:tgtEl>
                                      </p:cBhvr>
                                    </p:animEffect>
                                  </p:childTnLst>
                                </p:cTn>
                              </p:par>
                              <p:par>
                                <p:cTn id="132" presetID="2" presetClass="entr" presetSubtype="4" fill="hold" grpId="0" nodeType="withEffect">
                                  <p:stCondLst>
                                    <p:cond delay="0"/>
                                  </p:stCondLst>
                                  <p:childTnLst>
                                    <p:set>
                                      <p:cBhvr>
                                        <p:cTn id="128" dur="1" fill="hold">
                                          <p:stCondLst>
                                            <p:cond delay="0"/>
                                          </p:stCondLst>
                                        </p:cTn>
                                        <p:tgtEl>
                                          <p:spTgt spid="44"/>
                                        </p:tgtEl>
                                        <p:attrNameLst>
                                          <p:attrName>style.visibility</p:attrName>
                                        </p:attrNameLst>
                                      </p:cBhvr>
                                      <p:to>
                                        <p:strVal val="visible"/>
                                      </p:to>
                                    </p:set>
                                    <p:anim calcmode="lin" valueType="num">
                                      <p:cBhvr additive="base">
                                        <p:cTn id="129" dur="500" fill="hold"/>
                                        <p:tgtEl>
                                          <p:spTgt spid="44"/>
                                        </p:tgtEl>
                                        <p:attrNameLst>
                                          <p:attrName>ppt_x</p:attrName>
                                        </p:attrNameLst>
                                      </p:cBhvr>
                                      <p:tavLst>
                                        <p:tav tm="0">
                                          <p:val>
                                            <p:strVal val="#ppt_x"/>
                                          </p:val>
                                        </p:tav>
                                        <p:tav tm="100000">
                                          <p:val>
                                            <p:strVal val="#ppt_x"/>
                                          </p:val>
                                        </p:tav>
                                      </p:tavLst>
                                    </p:anim>
                                    <p:anim calcmode="lin" valueType="num">
                                      <p:cBhvr additive="base">
                                        <p:cTn id="130" dur="500" fill="hold"/>
                                        <p:tgtEl>
                                          <p:spTgt spid="44"/>
                                        </p:tgtEl>
                                        <p:attrNameLst>
                                          <p:attrName>ppt_y</p:attrName>
                                        </p:attrNameLst>
                                      </p:cBhvr>
                                      <p:tavLst>
                                        <p:tav tm="0">
                                          <p:val>
                                            <p:strVal val="#ppt_y+0.1"/>
                                          </p:val>
                                        </p:tav>
                                        <p:tav tm="100000">
                                          <p:val>
                                            <p:strVal val="#ppt_y"/>
                                          </p:val>
                                        </p:tav>
                                      </p:tavLst>
                                    </p:anim>
                                    <p:animEffect transition="in" filter="fade">
                                      <p:cBhvr>
                                        <p:cTn id="131" dur="500"/>
                                        <p:tgtEl>
                                          <p:spTgt spid="44"/>
                                        </p:tgtEl>
                                      </p:cBhvr>
                                    </p:animEffect>
                                  </p:childTnLst>
                                </p:cTn>
                              </p:par>
                              <p:par>
                                <p:cTn id="137" presetID="2" presetClass="entr" presetSubtype="4" fill="hold" grpId="0" nodeType="withEffect">
                                  <p:stCondLst>
                                    <p:cond delay="80"/>
                                  </p:stCondLst>
                                  <p:childTnLst>
                                    <p:set>
                                      <p:cBhvr>
                                        <p:cTn id="133" dur="1" fill="hold">
                                          <p:stCondLst>
                                            <p:cond delay="0"/>
                                          </p:stCondLst>
                                        </p:cTn>
                                        <p:tgtEl>
                                          <p:spTgt spid="45"/>
                                        </p:tgtEl>
                                        <p:attrNameLst>
                                          <p:attrName>style.visibility</p:attrName>
                                        </p:attrNameLst>
                                      </p:cBhvr>
                                      <p:to>
                                        <p:strVal val="visible"/>
                                      </p:to>
                                    </p:set>
                                    <p:anim calcmode="lin" valueType="num">
                                      <p:cBhvr additive="base">
                                        <p:cTn id="134" dur="500" fill="hold"/>
                                        <p:tgtEl>
                                          <p:spTgt spid="45"/>
                                        </p:tgtEl>
                                        <p:attrNameLst>
                                          <p:attrName>ppt_x</p:attrName>
                                        </p:attrNameLst>
                                      </p:cBhvr>
                                      <p:tavLst>
                                        <p:tav tm="0">
                                          <p:val>
                                            <p:strVal val="#ppt_x"/>
                                          </p:val>
                                        </p:tav>
                                        <p:tav tm="100000">
                                          <p:val>
                                            <p:strVal val="#ppt_x"/>
                                          </p:val>
                                        </p:tav>
                                      </p:tavLst>
                                    </p:anim>
                                    <p:anim calcmode="lin" valueType="num">
                                      <p:cBhvr additive="base">
                                        <p:cTn id="135" dur="500" fill="hold"/>
                                        <p:tgtEl>
                                          <p:spTgt spid="45"/>
                                        </p:tgtEl>
                                        <p:attrNameLst>
                                          <p:attrName>ppt_y</p:attrName>
                                        </p:attrNameLst>
                                      </p:cBhvr>
                                      <p:tavLst>
                                        <p:tav tm="0">
                                          <p:val>
                                            <p:strVal val="#ppt_y+0.1"/>
                                          </p:val>
                                        </p:tav>
                                        <p:tav tm="100000">
                                          <p:val>
                                            <p:strVal val="#ppt_y"/>
                                          </p:val>
                                        </p:tav>
                                      </p:tavLst>
                                    </p:anim>
                                    <p:animEffect transition="in" filter="fade">
                                      <p:cBhvr>
                                        <p:cTn id="136" dur="500"/>
                                        <p:tgtEl>
                                          <p:spTgt spid="45"/>
                                        </p:tgtEl>
                                      </p:cBhvr>
                                    </p:animEffect>
                                  </p:childTnLst>
                                </p:cTn>
                              </p:par>
                            </p:childTnLst>
                          </p:cTn>
                        </p:par>
                      </p:childTnLst>
                    </p:cTn>
                  </p:par>
                  <p:par>
                    <p:cTn id="138" fill="hold">
                      <p:stCondLst>
                        <p:cond delay="indefinite"/>
                      </p:stCondLst>
                      <p:childTnLst>
                        <p:par>
                          <p:cTn id="139" fill="hold">
                            <p:stCondLst>
                              <p:cond delay="0"/>
                            </p:stCondLst>
                            <p:childTnLst>
                              <p:par>
                                <p:cTn id="144" presetID="2" presetClass="entr" presetSubtype="4" fill="hold" grpId="0" nodeType="clickEffect">
                                  <p:stCondLst>
                                    <p:cond delay="0"/>
                                  </p:stCondLst>
                                  <p:childTnLst>
                                    <p:set>
                                      <p:cBhvr>
                                        <p:cTn id="140" dur="1" fill="hold">
                                          <p:stCondLst>
                                            <p:cond delay="0"/>
                                          </p:stCondLst>
                                        </p:cTn>
                                        <p:tgtEl>
                                          <p:spTgt spid="46"/>
                                        </p:tgtEl>
                                        <p:attrNameLst>
                                          <p:attrName>style.visibility</p:attrName>
                                        </p:attrNameLst>
                                      </p:cBhvr>
                                      <p:to>
                                        <p:strVal val="visible"/>
                                      </p:to>
                                    </p:set>
                                    <p:anim calcmode="lin" valueType="num">
                                      <p:cBhvr additive="base">
                                        <p:cTn id="141" dur="500" fill="hold"/>
                                        <p:tgtEl>
                                          <p:spTgt spid="46"/>
                                        </p:tgtEl>
                                        <p:attrNameLst>
                                          <p:attrName>ppt_x</p:attrName>
                                        </p:attrNameLst>
                                      </p:cBhvr>
                                      <p:tavLst>
                                        <p:tav tm="0">
                                          <p:val>
                                            <p:strVal val="#ppt_x"/>
                                          </p:val>
                                        </p:tav>
                                        <p:tav tm="100000">
                                          <p:val>
                                            <p:strVal val="#ppt_x"/>
                                          </p:val>
                                        </p:tav>
                                      </p:tavLst>
                                    </p:anim>
                                    <p:anim calcmode="lin" valueType="num">
                                      <p:cBhvr additive="base">
                                        <p:cTn id="142" dur="500" fill="hold"/>
                                        <p:tgtEl>
                                          <p:spTgt spid="46"/>
                                        </p:tgtEl>
                                        <p:attrNameLst>
                                          <p:attrName>ppt_y</p:attrName>
                                        </p:attrNameLst>
                                      </p:cBhvr>
                                      <p:tavLst>
                                        <p:tav tm="0">
                                          <p:val>
                                            <p:strVal val="#ppt_y+0.1"/>
                                          </p:val>
                                        </p:tav>
                                        <p:tav tm="100000">
                                          <p:val>
                                            <p:strVal val="#ppt_y"/>
                                          </p:val>
                                        </p:tav>
                                      </p:tavLst>
                                    </p:anim>
                                    <p:animEffect transition="in" filter="fade">
                                      <p:cBhvr>
                                        <p:cTn id="143" dur="500"/>
                                        <p:tgtEl>
                                          <p:spTgt spid="46"/>
                                        </p:tgtEl>
                                      </p:cBhvr>
                                    </p:animEffect>
                                  </p:childTnLst>
                                </p:cTn>
                              </p:par>
                              <p:par>
                                <p:cTn id="149" presetID="2" presetClass="entr" presetSubtype="4" fill="hold" grpId="0" nodeType="withEffect">
                                  <p:stCondLst>
                                    <p:cond delay="0"/>
                                  </p:stCondLst>
                                  <p:childTnLst>
                                    <p:set>
                                      <p:cBhvr>
                                        <p:cTn id="145" dur="1" fill="hold">
                                          <p:stCondLst>
                                            <p:cond delay="0"/>
                                          </p:stCondLst>
                                        </p:cTn>
                                        <p:tgtEl>
                                          <p:spTgt spid="47"/>
                                        </p:tgtEl>
                                        <p:attrNameLst>
                                          <p:attrName>style.visibility</p:attrName>
                                        </p:attrNameLst>
                                      </p:cBhvr>
                                      <p:to>
                                        <p:strVal val="visible"/>
                                      </p:to>
                                    </p:set>
                                    <p:anim calcmode="lin" valueType="num">
                                      <p:cBhvr additive="base">
                                        <p:cTn id="146" dur="500" fill="hold"/>
                                        <p:tgtEl>
                                          <p:spTgt spid="47"/>
                                        </p:tgtEl>
                                        <p:attrNameLst>
                                          <p:attrName>ppt_x</p:attrName>
                                        </p:attrNameLst>
                                      </p:cBhvr>
                                      <p:tavLst>
                                        <p:tav tm="0">
                                          <p:val>
                                            <p:strVal val="#ppt_x"/>
                                          </p:val>
                                        </p:tav>
                                        <p:tav tm="100000">
                                          <p:val>
                                            <p:strVal val="#ppt_x"/>
                                          </p:val>
                                        </p:tav>
                                      </p:tavLst>
                                    </p:anim>
                                    <p:anim calcmode="lin" valueType="num">
                                      <p:cBhvr additive="base">
                                        <p:cTn id="147" dur="500" fill="hold"/>
                                        <p:tgtEl>
                                          <p:spTgt spid="47"/>
                                        </p:tgtEl>
                                        <p:attrNameLst>
                                          <p:attrName>ppt_y</p:attrName>
                                        </p:attrNameLst>
                                      </p:cBhvr>
                                      <p:tavLst>
                                        <p:tav tm="0">
                                          <p:val>
                                            <p:strVal val="#ppt_y+0.1"/>
                                          </p:val>
                                        </p:tav>
                                        <p:tav tm="100000">
                                          <p:val>
                                            <p:strVal val="#ppt_y"/>
                                          </p:val>
                                        </p:tav>
                                      </p:tavLst>
                                    </p:anim>
                                    <p:animEffect transition="in" filter="fade">
                                      <p:cBhvr>
                                        <p:cTn id="148" dur="500"/>
                                        <p:tgtEl>
                                          <p:spTgt spid="47"/>
                                        </p:tgtEl>
                                      </p:cBhvr>
                                    </p:animEffect>
                                  </p:childTnLst>
                                </p:cTn>
                              </p:par>
                              <p:par>
                                <p:cTn id="154" presetID="2" presetClass="entr" presetSubtype="4" fill="hold" grpId="0" nodeType="withEffect">
                                  <p:stCondLst>
                                    <p:cond delay="0"/>
                                  </p:stCondLst>
                                  <p:childTnLst>
                                    <p:set>
                                      <p:cBhvr>
                                        <p:cTn id="150" dur="1" fill="hold">
                                          <p:stCondLst>
                                            <p:cond delay="0"/>
                                          </p:stCondLst>
                                        </p:cTn>
                                        <p:tgtEl>
                                          <p:spTgt spid="48"/>
                                        </p:tgtEl>
                                        <p:attrNameLst>
                                          <p:attrName>style.visibility</p:attrName>
                                        </p:attrNameLst>
                                      </p:cBhvr>
                                      <p:to>
                                        <p:strVal val="visible"/>
                                      </p:to>
                                    </p:set>
                                    <p:anim calcmode="lin" valueType="num">
                                      <p:cBhvr additive="base">
                                        <p:cTn id="151" dur="500" fill="hold"/>
                                        <p:tgtEl>
                                          <p:spTgt spid="48"/>
                                        </p:tgtEl>
                                        <p:attrNameLst>
                                          <p:attrName>ppt_x</p:attrName>
                                        </p:attrNameLst>
                                      </p:cBhvr>
                                      <p:tavLst>
                                        <p:tav tm="0">
                                          <p:val>
                                            <p:strVal val="#ppt_x"/>
                                          </p:val>
                                        </p:tav>
                                        <p:tav tm="100000">
                                          <p:val>
                                            <p:strVal val="#ppt_x"/>
                                          </p:val>
                                        </p:tav>
                                      </p:tavLst>
                                    </p:anim>
                                    <p:anim calcmode="lin" valueType="num">
                                      <p:cBhvr additive="base">
                                        <p:cTn id="152" dur="500" fill="hold"/>
                                        <p:tgtEl>
                                          <p:spTgt spid="48"/>
                                        </p:tgtEl>
                                        <p:attrNameLst>
                                          <p:attrName>ppt_y</p:attrName>
                                        </p:attrNameLst>
                                      </p:cBhvr>
                                      <p:tavLst>
                                        <p:tav tm="0">
                                          <p:val>
                                            <p:strVal val="#ppt_y+0.1"/>
                                          </p:val>
                                        </p:tav>
                                        <p:tav tm="100000">
                                          <p:val>
                                            <p:strVal val="#ppt_y"/>
                                          </p:val>
                                        </p:tav>
                                      </p:tavLst>
                                    </p:anim>
                                    <p:animEffect transition="in" filter="fade">
                                      <p:cBhvr>
                                        <p:cTn id="153"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What poll() Really Does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One call - and underneath, requests to the specific brokers that lead your partitions</a:t>
            </a:r>
          </a:p>
        </p:txBody>
      </p:sp>
      <p:sp>
        <p:nvSpPr>
          <p:cNvPr id="11" name="a1u_nd10"/>
          <p:cNvSpPr/>
          <p:nvPr/>
        </p:nvSpPr>
        <p:spPr>
          <a:xfrm>
            <a:off x="457200" y="1645920"/>
            <a:ext cx="1417320" cy="822960"/>
          </a:xfrm>
          <a:prstGeom prst="roundRect">
            <a:avLst>
              <a:gd name="adj" fmla="val 8888"/>
            </a:avLst>
          </a:prstGeom>
          <a:solidFill>
            <a:srgbClr val="F7F6F3"/>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ndt11"/>
          <p:cNvSpPr txBox="1"/>
          <p:nvPr/>
        </p:nvSpPr>
        <p:spPr>
          <a:xfrm>
            <a:off x="502920" y="1682496"/>
            <a:ext cx="1325880" cy="393192"/>
          </a:xfrm>
          <a:prstGeom prst="rect">
            <a:avLst/>
          </a:prstGeom>
          <a:noFill/>
        </p:spPr>
        <p:txBody>
          <a:bodyPr wrap="square" lIns="0" tIns="0" rIns="0" bIns="0" anchor="b">
            <a:spAutoFit/>
          </a:bodyPr>
          <a:lstStyle/>
          <a:p>
            <a:pPr algn="ctr"/>
            <a:r>
              <a:rPr sz="1000" b="1">
                <a:solidFill>
                  <a:srgbClr val="1C1917"/>
                </a:solidFill>
                <a:latin typeface="Segoe UI"/>
              </a:rPr>
              <a:t>Consumer</a:t>
            </a:r>
          </a:p>
        </p:txBody>
      </p:sp>
      <p:sp>
        <p:nvSpPr>
          <p:cNvPr id="13" name="a1u_nds12"/>
          <p:cNvSpPr txBox="1"/>
          <p:nvPr/>
        </p:nvSpPr>
        <p:spPr>
          <a:xfrm>
            <a:off x="502920" y="2084831"/>
            <a:ext cx="1325880" cy="347472"/>
          </a:xfrm>
          <a:prstGeom prst="rect">
            <a:avLst/>
          </a:prstGeom>
          <a:noFill/>
        </p:spPr>
        <p:txBody>
          <a:bodyPr wrap="square" lIns="0" tIns="0" rIns="0" bIns="0" anchor="t">
            <a:spAutoFit/>
          </a:bodyPr>
          <a:lstStyle/>
          <a:p>
            <a:pPr algn="ctr"/>
            <a:r>
              <a:rPr sz="850" b="0">
                <a:solidFill>
                  <a:srgbClr val="4F46E5"/>
                </a:solidFill>
                <a:latin typeface="Segoe UI"/>
              </a:rPr>
              <a:t>calls poll()</a:t>
            </a:r>
          </a:p>
        </p:txBody>
      </p:sp>
      <p:cxnSp>
        <p:nvCxnSpPr>
          <p:cNvPr id="14" name="a1ud100_ar13"/>
          <p:cNvCxnSpPr/>
          <p:nvPr/>
        </p:nvCxnSpPr>
        <p:spPr>
          <a:xfrm>
            <a:off x="1892807" y="2057400"/>
            <a:ext cx="237745" cy="0"/>
          </a:xfrm>
          <a:prstGeom prst="line">
            <a:avLst/>
          </a:prstGeom>
          <a:ln w="1905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a1ud100_ch14"/>
          <p:cNvSpPr txBox="1"/>
          <p:nvPr/>
        </p:nvSpPr>
        <p:spPr>
          <a:xfrm>
            <a:off x="2148840" y="1280160"/>
            <a:ext cx="2377440" cy="237744"/>
          </a:xfrm>
          <a:prstGeom prst="rect">
            <a:avLst/>
          </a:prstGeom>
          <a:noFill/>
        </p:spPr>
        <p:txBody>
          <a:bodyPr wrap="square" lIns="0" tIns="0" rIns="0" bIns="0" anchor="ctr">
            <a:spAutoFit/>
          </a:bodyPr>
          <a:lstStyle/>
          <a:p>
            <a:pPr algn="l"/>
            <a:r>
              <a:rPr sz="850" b="1" spc="140">
                <a:solidFill>
                  <a:srgbClr val="4F46E5"/>
                </a:solidFill>
                <a:latin typeface="Segoe UI"/>
              </a:rPr>
              <a:t>THE LIBRARY KNOWS</a:t>
            </a:r>
          </a:p>
        </p:txBody>
      </p:sp>
      <p:sp>
        <p:nvSpPr>
          <p:cNvPr id="16" name="a2u_kn15"/>
          <p:cNvSpPr/>
          <p:nvPr/>
        </p:nvSpPr>
        <p:spPr>
          <a:xfrm>
            <a:off x="2148840" y="1572768"/>
            <a:ext cx="2377440" cy="347472"/>
          </a:xfrm>
          <a:prstGeom prst="roundRect">
            <a:avLst>
              <a:gd name="adj" fmla="val 13157"/>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2u_knt16"/>
          <p:cNvSpPr txBox="1"/>
          <p:nvPr/>
        </p:nvSpPr>
        <p:spPr>
          <a:xfrm>
            <a:off x="2258568" y="1572768"/>
            <a:ext cx="2194560" cy="347472"/>
          </a:xfrm>
          <a:prstGeom prst="rect">
            <a:avLst/>
          </a:prstGeom>
          <a:noFill/>
        </p:spPr>
        <p:txBody>
          <a:bodyPr wrap="square" lIns="0" tIns="0" rIns="0" bIns="0" anchor="ctr">
            <a:spAutoFit/>
          </a:bodyPr>
          <a:lstStyle/>
          <a:p>
            <a:pPr algn="l"/>
            <a:r>
              <a:rPr sz="850" b="1">
                <a:solidFill>
                  <a:srgbClr val="4F46E5"/>
                </a:solidFill>
                <a:latin typeface="Segoe UI"/>
              </a:rPr>
              <a:t>topics  </a:t>
            </a:r>
            <a:r>
              <a:rPr sz="900" b="0">
                <a:solidFill>
                  <a:srgbClr val="1C1917"/>
                </a:solidFill>
                <a:latin typeface="Consolas"/>
              </a:rPr>
              <a:t>thermostat_readings</a:t>
            </a:r>
          </a:p>
        </p:txBody>
      </p:sp>
      <p:sp>
        <p:nvSpPr>
          <p:cNvPr id="18" name="a2ud120_kn17"/>
          <p:cNvSpPr/>
          <p:nvPr/>
        </p:nvSpPr>
        <p:spPr>
          <a:xfrm>
            <a:off x="2148840" y="2011680"/>
            <a:ext cx="2377440" cy="347472"/>
          </a:xfrm>
          <a:prstGeom prst="roundRect">
            <a:avLst>
              <a:gd name="adj" fmla="val 13157"/>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2ud120_knt18"/>
          <p:cNvSpPr txBox="1"/>
          <p:nvPr/>
        </p:nvSpPr>
        <p:spPr>
          <a:xfrm>
            <a:off x="2258568" y="2011680"/>
            <a:ext cx="2194560" cy="347472"/>
          </a:xfrm>
          <a:prstGeom prst="rect">
            <a:avLst/>
          </a:prstGeom>
          <a:noFill/>
        </p:spPr>
        <p:txBody>
          <a:bodyPr wrap="square" lIns="0" tIns="0" rIns="0" bIns="0" anchor="ctr">
            <a:spAutoFit/>
          </a:bodyPr>
          <a:lstStyle/>
          <a:p>
            <a:pPr algn="l"/>
            <a:r>
              <a:rPr sz="850" b="1">
                <a:solidFill>
                  <a:srgbClr val="4F46E5"/>
                </a:solidFill>
                <a:latin typeface="Segoe UI"/>
              </a:rPr>
              <a:t>partitions  </a:t>
            </a:r>
            <a:r>
              <a:rPr sz="900" b="0">
                <a:solidFill>
                  <a:srgbClr val="1C1917"/>
                </a:solidFill>
                <a:latin typeface="Consolas"/>
              </a:rPr>
              <a:t>P0  P1  P2</a:t>
            </a:r>
          </a:p>
        </p:txBody>
      </p:sp>
      <p:sp>
        <p:nvSpPr>
          <p:cNvPr id="20" name="a2ud240_kn19"/>
          <p:cNvSpPr/>
          <p:nvPr/>
        </p:nvSpPr>
        <p:spPr>
          <a:xfrm>
            <a:off x="2148840" y="2450591"/>
            <a:ext cx="2377440" cy="347472"/>
          </a:xfrm>
          <a:prstGeom prst="roundRect">
            <a:avLst>
              <a:gd name="adj" fmla="val 13157"/>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2ud240_knt20"/>
          <p:cNvSpPr txBox="1"/>
          <p:nvPr/>
        </p:nvSpPr>
        <p:spPr>
          <a:xfrm>
            <a:off x="2258568" y="2450591"/>
            <a:ext cx="2194560" cy="347472"/>
          </a:xfrm>
          <a:prstGeom prst="rect">
            <a:avLst/>
          </a:prstGeom>
          <a:noFill/>
        </p:spPr>
        <p:txBody>
          <a:bodyPr wrap="square" lIns="0" tIns="0" rIns="0" bIns="0" anchor="ctr">
            <a:spAutoFit/>
          </a:bodyPr>
          <a:lstStyle/>
          <a:p>
            <a:pPr algn="l"/>
            <a:r>
              <a:rPr sz="850" b="1">
                <a:solidFill>
                  <a:srgbClr val="4F46E5"/>
                </a:solidFill>
                <a:latin typeface="Segoe UI"/>
              </a:rPr>
              <a:t>leaders  </a:t>
            </a:r>
            <a:r>
              <a:rPr sz="900" b="0">
                <a:solidFill>
                  <a:srgbClr val="1C1917"/>
                </a:solidFill>
                <a:latin typeface="Consolas"/>
              </a:rPr>
              <a:t>b1  b2  b3</a:t>
            </a:r>
          </a:p>
        </p:txBody>
      </p:sp>
      <p:sp>
        <p:nvSpPr>
          <p:cNvPr id="22" name="a0f_cl21"/>
          <p:cNvSpPr/>
          <p:nvPr/>
        </p:nvSpPr>
        <p:spPr>
          <a:xfrm>
            <a:off x="4983480" y="1280160"/>
            <a:ext cx="3703320" cy="1691640"/>
          </a:xfrm>
          <a:prstGeom prst="roundRect">
            <a:avLst>
              <a:gd name="adj" fmla="val 5405"/>
            </a:avLst>
          </a:prstGeom>
          <a:solidFill>
            <a:srgbClr val="F7F6F3"/>
          </a:solidFill>
          <a:ln w="15875">
            <a:solidFill>
              <a:srgbClr val="0E749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0f_clh22"/>
          <p:cNvSpPr txBox="1"/>
          <p:nvPr/>
        </p:nvSpPr>
        <p:spPr>
          <a:xfrm>
            <a:off x="5148072" y="1371600"/>
            <a:ext cx="3429000" cy="237744"/>
          </a:xfrm>
          <a:prstGeom prst="rect">
            <a:avLst/>
          </a:prstGeom>
          <a:noFill/>
        </p:spPr>
        <p:txBody>
          <a:bodyPr wrap="square" lIns="0" tIns="0" rIns="0" bIns="0" anchor="ctr">
            <a:spAutoFit/>
          </a:bodyPr>
          <a:lstStyle/>
          <a:p>
            <a:pPr algn="l"/>
            <a:r>
              <a:rPr sz="850" b="1" spc="160">
                <a:solidFill>
                  <a:srgbClr val="0E7490"/>
                </a:solidFill>
                <a:latin typeface="Segoe UI"/>
              </a:rPr>
              <a:t>KAFKA CLUSTER</a:t>
            </a:r>
          </a:p>
        </p:txBody>
      </p:sp>
      <p:sp>
        <p:nvSpPr>
          <p:cNvPr id="24" name="a0f_bk23"/>
          <p:cNvSpPr/>
          <p:nvPr/>
        </p:nvSpPr>
        <p:spPr>
          <a:xfrm>
            <a:off x="5138928" y="1627632"/>
            <a:ext cx="3383280" cy="347472"/>
          </a:xfrm>
          <a:prstGeom prst="roundRect">
            <a:avLst>
              <a:gd name="adj" fmla="val 13157"/>
            </a:avLst>
          </a:prstGeom>
          <a:solidFill>
            <a:srgbClr val="FFFFFF"/>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0f_bkn24"/>
          <p:cNvSpPr txBox="1"/>
          <p:nvPr/>
        </p:nvSpPr>
        <p:spPr>
          <a:xfrm>
            <a:off x="5248656" y="1627632"/>
            <a:ext cx="1097280" cy="347472"/>
          </a:xfrm>
          <a:prstGeom prst="rect">
            <a:avLst/>
          </a:prstGeom>
          <a:noFill/>
        </p:spPr>
        <p:txBody>
          <a:bodyPr wrap="square" lIns="0" tIns="0" rIns="0" bIns="0" anchor="ctr">
            <a:spAutoFit/>
          </a:bodyPr>
          <a:lstStyle/>
          <a:p>
            <a:pPr algn="l"/>
            <a:r>
              <a:rPr sz="900" b="1">
                <a:solidFill>
                  <a:srgbClr val="1C1917"/>
                </a:solidFill>
                <a:latin typeface="Segoe UI"/>
              </a:rPr>
              <a:t>broker 1</a:t>
            </a:r>
          </a:p>
        </p:txBody>
      </p:sp>
      <p:sp>
        <p:nvSpPr>
          <p:cNvPr id="26" name="a0f_pill25"/>
          <p:cNvSpPr/>
          <p:nvPr/>
        </p:nvSpPr>
        <p:spPr>
          <a:xfrm>
            <a:off x="7269480" y="1682496"/>
            <a:ext cx="1115568" cy="237744"/>
          </a:xfrm>
          <a:prstGeom prst="roundRect">
            <a:avLst>
              <a:gd name="adj" fmla="val 5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00" b="1">
                <a:solidFill>
                  <a:srgbClr val="FFFFFF"/>
                </a:solidFill>
                <a:latin typeface="Consolas"/>
              </a:rPr>
              <a:t>leader of P0</a:t>
            </a:r>
          </a:p>
        </p:txBody>
      </p:sp>
      <p:cxnSp>
        <p:nvCxnSpPr>
          <p:cNvPr id="27" name="a3u_ar26"/>
          <p:cNvCxnSpPr/>
          <p:nvPr/>
        </p:nvCxnSpPr>
        <p:spPr>
          <a:xfrm>
            <a:off x="4544568" y="1746504"/>
            <a:ext cx="576072" cy="54864"/>
          </a:xfrm>
          <a:prstGeom prst="line">
            <a:avLst/>
          </a:prstGeom>
          <a:ln w="1905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a0f_bk27"/>
          <p:cNvSpPr/>
          <p:nvPr/>
        </p:nvSpPr>
        <p:spPr>
          <a:xfrm>
            <a:off x="5138928" y="2048256"/>
            <a:ext cx="3383280" cy="347472"/>
          </a:xfrm>
          <a:prstGeom prst="roundRect">
            <a:avLst>
              <a:gd name="adj" fmla="val 13157"/>
            </a:avLst>
          </a:prstGeom>
          <a:solidFill>
            <a:srgbClr val="FFFFFF"/>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0f_bkn28"/>
          <p:cNvSpPr txBox="1"/>
          <p:nvPr/>
        </p:nvSpPr>
        <p:spPr>
          <a:xfrm>
            <a:off x="5248656" y="2048256"/>
            <a:ext cx="1097280" cy="347472"/>
          </a:xfrm>
          <a:prstGeom prst="rect">
            <a:avLst/>
          </a:prstGeom>
          <a:noFill/>
        </p:spPr>
        <p:txBody>
          <a:bodyPr wrap="square" lIns="0" tIns="0" rIns="0" bIns="0" anchor="ctr">
            <a:spAutoFit/>
          </a:bodyPr>
          <a:lstStyle/>
          <a:p>
            <a:pPr algn="l"/>
            <a:r>
              <a:rPr sz="900" b="1">
                <a:solidFill>
                  <a:srgbClr val="1C1917"/>
                </a:solidFill>
                <a:latin typeface="Segoe UI"/>
              </a:rPr>
              <a:t>broker 2</a:t>
            </a:r>
          </a:p>
        </p:txBody>
      </p:sp>
      <p:sp>
        <p:nvSpPr>
          <p:cNvPr id="30" name="a0f_pill29"/>
          <p:cNvSpPr/>
          <p:nvPr/>
        </p:nvSpPr>
        <p:spPr>
          <a:xfrm>
            <a:off x="7269480" y="2103120"/>
            <a:ext cx="1115568" cy="237744"/>
          </a:xfrm>
          <a:prstGeom prst="roundRect">
            <a:avLst>
              <a:gd name="adj" fmla="val 5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00" b="1">
                <a:solidFill>
                  <a:srgbClr val="FFFFFF"/>
                </a:solidFill>
                <a:latin typeface="Consolas"/>
              </a:rPr>
              <a:t>leader of P1</a:t>
            </a:r>
          </a:p>
        </p:txBody>
      </p:sp>
      <p:cxnSp>
        <p:nvCxnSpPr>
          <p:cNvPr id="31" name="a3ud120_ar30"/>
          <p:cNvCxnSpPr/>
          <p:nvPr/>
        </p:nvCxnSpPr>
        <p:spPr>
          <a:xfrm>
            <a:off x="4544568" y="2185415"/>
            <a:ext cx="576072" cy="36577"/>
          </a:xfrm>
          <a:prstGeom prst="line">
            <a:avLst/>
          </a:prstGeom>
          <a:ln w="1905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a0f_bk31"/>
          <p:cNvSpPr/>
          <p:nvPr/>
        </p:nvSpPr>
        <p:spPr>
          <a:xfrm>
            <a:off x="5138928" y="2468880"/>
            <a:ext cx="3383280" cy="347472"/>
          </a:xfrm>
          <a:prstGeom prst="roundRect">
            <a:avLst>
              <a:gd name="adj" fmla="val 13157"/>
            </a:avLst>
          </a:prstGeom>
          <a:solidFill>
            <a:srgbClr val="FFFFFF"/>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0f_bkn32"/>
          <p:cNvSpPr txBox="1"/>
          <p:nvPr/>
        </p:nvSpPr>
        <p:spPr>
          <a:xfrm>
            <a:off x="5248656" y="2468880"/>
            <a:ext cx="1097280" cy="347472"/>
          </a:xfrm>
          <a:prstGeom prst="rect">
            <a:avLst/>
          </a:prstGeom>
          <a:noFill/>
        </p:spPr>
        <p:txBody>
          <a:bodyPr wrap="square" lIns="0" tIns="0" rIns="0" bIns="0" anchor="ctr">
            <a:spAutoFit/>
          </a:bodyPr>
          <a:lstStyle/>
          <a:p>
            <a:pPr algn="l"/>
            <a:r>
              <a:rPr sz="900" b="1">
                <a:solidFill>
                  <a:srgbClr val="1C1917"/>
                </a:solidFill>
                <a:latin typeface="Segoe UI"/>
              </a:rPr>
              <a:t>broker 3</a:t>
            </a:r>
          </a:p>
        </p:txBody>
      </p:sp>
      <p:sp>
        <p:nvSpPr>
          <p:cNvPr id="34" name="a0f_pill33"/>
          <p:cNvSpPr/>
          <p:nvPr/>
        </p:nvSpPr>
        <p:spPr>
          <a:xfrm>
            <a:off x="7269480" y="2523744"/>
            <a:ext cx="1115568" cy="237744"/>
          </a:xfrm>
          <a:prstGeom prst="roundRect">
            <a:avLst>
              <a:gd name="adj" fmla="val 50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00" b="1">
                <a:solidFill>
                  <a:srgbClr val="FFFFFF"/>
                </a:solidFill>
                <a:latin typeface="Consolas"/>
              </a:rPr>
              <a:t>leader of P2</a:t>
            </a:r>
          </a:p>
        </p:txBody>
      </p:sp>
      <p:cxnSp>
        <p:nvCxnSpPr>
          <p:cNvPr id="35" name="a3ud240_ar34"/>
          <p:cNvCxnSpPr/>
          <p:nvPr/>
        </p:nvCxnSpPr>
        <p:spPr>
          <a:xfrm>
            <a:off x="4544568" y="2624328"/>
            <a:ext cx="576072" cy="18288"/>
          </a:xfrm>
          <a:prstGeom prst="line">
            <a:avLst/>
          </a:prstGeom>
          <a:ln w="1905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a3u_lb35"/>
          <p:cNvSpPr txBox="1"/>
          <p:nvPr/>
        </p:nvSpPr>
        <p:spPr>
          <a:xfrm>
            <a:off x="4507992" y="1389888"/>
            <a:ext cx="640080" cy="201168"/>
          </a:xfrm>
          <a:prstGeom prst="rect">
            <a:avLst/>
          </a:prstGeom>
          <a:noFill/>
        </p:spPr>
        <p:txBody>
          <a:bodyPr wrap="square" lIns="0" tIns="0" rIns="0" bIns="0" anchor="ctr">
            <a:spAutoFit/>
          </a:bodyPr>
          <a:lstStyle/>
          <a:p>
            <a:pPr algn="ctr"/>
            <a:r>
              <a:rPr sz="800" b="1">
                <a:solidFill>
                  <a:srgbClr val="4F46E5"/>
                </a:solidFill>
                <a:latin typeface="Segoe UI"/>
              </a:rPr>
              <a:t>fetch</a:t>
            </a:r>
          </a:p>
        </p:txBody>
      </p:sp>
      <p:cxnSp>
        <p:nvCxnSpPr>
          <p:cNvPr id="37" name="a4u_ar36"/>
          <p:cNvCxnSpPr/>
          <p:nvPr/>
        </p:nvCxnSpPr>
        <p:spPr>
          <a:xfrm>
            <a:off x="6766560" y="2990088"/>
            <a:ext cx="0" cy="173736"/>
          </a:xfrm>
          <a:prstGeom prst="line">
            <a:avLst/>
          </a:prstGeom>
          <a:ln w="22225">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a4u_cr37"/>
          <p:cNvSpPr/>
          <p:nvPr/>
        </p:nvSpPr>
        <p:spPr>
          <a:xfrm>
            <a:off x="2148840" y="3182112"/>
            <a:ext cx="6537960" cy="457200"/>
          </a:xfrm>
          <a:prstGeom prst="roundRect">
            <a:avLst>
              <a:gd name="adj" fmla="val 12000"/>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4u_crt38"/>
          <p:cNvSpPr txBox="1"/>
          <p:nvPr/>
        </p:nvSpPr>
        <p:spPr>
          <a:xfrm>
            <a:off x="2286000" y="3182112"/>
            <a:ext cx="6309360" cy="457200"/>
          </a:xfrm>
          <a:prstGeom prst="rect">
            <a:avLst/>
          </a:prstGeom>
          <a:noFill/>
        </p:spPr>
        <p:txBody>
          <a:bodyPr wrap="square" lIns="0" tIns="0" rIns="0" bIns="0" anchor="ctr">
            <a:spAutoFit/>
          </a:bodyPr>
          <a:lstStyle/>
          <a:p>
            <a:pPr algn="l"/>
            <a:r>
              <a:rPr sz="1000" b="1">
                <a:solidFill>
                  <a:srgbClr val="C2410C"/>
                </a:solidFill>
                <a:latin typeface="Consolas"/>
              </a:rPr>
              <a:t>ConsumerRecords&lt;String, String&gt;</a:t>
            </a:r>
            <a:r>
              <a:rPr sz="900" b="0">
                <a:solidFill>
                  <a:srgbClr val="44403C"/>
                </a:solidFill>
                <a:latin typeface="Segoe UI"/>
              </a:rPr>
              <a:t>   whatever is new, from any of the partitions</a:t>
            </a:r>
          </a:p>
        </p:txBody>
      </p:sp>
      <p:cxnSp>
        <p:nvCxnSpPr>
          <p:cNvPr id="40" name="a4ud150_ar39"/>
          <p:cNvCxnSpPr/>
          <p:nvPr/>
        </p:nvCxnSpPr>
        <p:spPr>
          <a:xfrm flipH="1" flipV="1">
            <a:off x="1170432" y="2487168"/>
            <a:ext cx="960120" cy="923544"/>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a5u_nb40"/>
          <p:cNvSpPr/>
          <p:nvPr/>
        </p:nvSpPr>
        <p:spPr>
          <a:xfrm>
            <a:off x="457200" y="3886200"/>
            <a:ext cx="8229600" cy="566928"/>
          </a:xfrm>
          <a:prstGeom prst="roundRect">
            <a:avLst>
              <a:gd name="adj" fmla="val 12903"/>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5u_nacc41"/>
          <p:cNvSpPr/>
          <p:nvPr/>
        </p:nvSpPr>
        <p:spPr>
          <a:xfrm>
            <a:off x="457200" y="3886200"/>
            <a:ext cx="54864" cy="5669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5u_nt42"/>
          <p:cNvSpPr txBox="1"/>
          <p:nvPr/>
        </p:nvSpPr>
        <p:spPr>
          <a:xfrm>
            <a:off x="658368" y="3886200"/>
            <a:ext cx="7827264" cy="566928"/>
          </a:xfrm>
          <a:prstGeom prst="rect">
            <a:avLst/>
          </a:prstGeom>
          <a:noFill/>
        </p:spPr>
        <p:txBody>
          <a:bodyPr wrap="square" lIns="0" tIns="0" rIns="0" bIns="0" anchor="ctr">
            <a:spAutoFit/>
          </a:bodyPr>
          <a:lstStyle/>
          <a:p>
            <a:pPr algn="l"/>
            <a:r>
              <a:rPr sz="950" b="1">
                <a:solidFill>
                  <a:srgbClr val="4F46E5"/>
                </a:solidFill>
                <a:latin typeface="Segoe UI"/>
              </a:rPr>
              <a:t>KEY  </a:t>
            </a:r>
            <a:r>
              <a:rPr sz="950" b="0">
                <a:solidFill>
                  <a:srgbClr val="44403C"/>
                </a:solidFill>
                <a:latin typeface="Segoe UI"/>
              </a:rPr>
              <a:t>poll() is not a vague question to 'Kafka' - it asks specific broker processes whether they have anything new.</a:t>
            </a:r>
          </a:p>
        </p:txBody>
      </p:sp>
      <p:sp>
        <p:nvSpPr>
          <p:cNvPr id="44" name="ft43"/>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06</a:t>
            </a:r>
          </a:p>
        </p:txBody>
      </p:sp>
      <p:sp>
        <p:nvSpPr>
          <p:cNvPr id="45" name="ft44"/>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ft45"/>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Consumers</a:t>
            </a:r>
          </a:p>
        </p:txBody>
      </p:sp>
      <p:sp>
        <p:nvSpPr>
          <p:cNvPr id="47" name="ft46"/>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7</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22"/>
                                        </p:tgtEl>
                                        <p:attrNameLst>
                                          <p:attrName>style.visibility</p:attrName>
                                        </p:attrNameLst>
                                      </p:cBhvr>
                                      <p:to>
                                        <p:strVal val="visible"/>
                                      </p:to>
                                    </p:set>
                                    <p:animEffect transition="in" filter="fade">
                                      <p:cBhvr>
                                        <p:cTn id="6" dur="500"/>
                                        <p:tgtEl>
                                          <p:spTgt spid="22"/>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500"/>
                                        <p:tgtEl>
                                          <p:spTgt spid="23"/>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00"/>
                                        <p:tgtEl>
                                          <p:spTgt spid="25"/>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500"/>
                                        <p:tgtEl>
                                          <p:spTgt spid="26"/>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00"/>
                                        <p:tgtEl>
                                          <p:spTgt spid="28"/>
                                        </p:tgtEl>
                                      </p:cBhvr>
                                    </p:animEffect>
                                  </p:childTnLst>
                                </p:cTn>
                              </p:par>
                              <p:par>
                                <p:cTn id="25" presetID="10" presetClass="entr" presetSubtype="0" fill="hold" grpId="0" nodeType="with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500"/>
                                        <p:tgtEl>
                                          <p:spTgt spid="29"/>
                                        </p:tgtEl>
                                      </p:cBhvr>
                                    </p:animEffect>
                                  </p:childTnLst>
                                </p:cTn>
                              </p:par>
                              <p:par>
                                <p:cTn id="28" presetID="10"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500"/>
                                        <p:tgtEl>
                                          <p:spTgt spid="30"/>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fade">
                                      <p:cBhvr>
                                        <p:cTn id="30" dur="500"/>
                                        <p:tgtEl>
                                          <p:spTgt spid="32"/>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fade">
                                      <p:cBhvr>
                                        <p:cTn id="33" dur="500"/>
                                        <p:tgtEl>
                                          <p:spTgt spid="33"/>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34"/>
                                        </p:tgtEl>
                                        <p:attrNameLst>
                                          <p:attrName>style.visibility</p:attrName>
                                        </p:attrNameLst>
                                      </p:cBhvr>
                                      <p:to>
                                        <p:strVal val="visible"/>
                                      </p:to>
                                    </p:set>
                                    <p:animEffect transition="in" filter="fade">
                                      <p:cBhvr>
                                        <p:cTn id="36" dur="500"/>
                                        <p:tgtEl>
                                          <p:spTgt spid="34"/>
                                        </p:tgtEl>
                                      </p:cBhvr>
                                    </p:animEffect>
                                  </p:childTnLst>
                                </p:cTn>
                              </p:par>
                            </p:childTnLst>
                          </p:cTn>
                        </p:par>
                      </p:childTnLst>
                    </p:cTn>
                  </p:par>
                  <p:par>
                    <p:cTn id="38" fill="hold">
                      <p:stCondLst>
                        <p:cond delay="indefinite"/>
                      </p:stCondLst>
                      <p:childTnLst>
                        <p:par>
                          <p:cTn id="39" fill="hold">
                            <p:stCondLst>
                              <p:cond delay="0"/>
                            </p:stCondLst>
                            <p:childTnLst>
                              <p:par>
                                <p:cTn id="44" presetID="2" presetClass="entr" presetSubtype="4"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ppt_y+0.1"/>
                                          </p:val>
                                        </p:tav>
                                        <p:tav tm="100000">
                                          <p:val>
                                            <p:strVal val="#ppt_y"/>
                                          </p:val>
                                        </p:tav>
                                      </p:tavLst>
                                    </p:anim>
                                    <p:animEffect transition="in" filter="fade">
                                      <p:cBhvr>
                                        <p:cTn id="43" dur="500"/>
                                        <p:tgtEl>
                                          <p:spTgt spid="11"/>
                                        </p:tgtEl>
                                      </p:cBhvr>
                                    </p:animEffect>
                                  </p:childTnLst>
                                </p:cTn>
                              </p:par>
                              <p:par>
                                <p:cTn id="49" presetID="2" presetClass="entr" presetSubtype="4"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 calcmode="lin" valueType="num">
                                      <p:cBhvr additive="base">
                                        <p:cTn id="46" dur="500" fill="hold"/>
                                        <p:tgtEl>
                                          <p:spTgt spid="12"/>
                                        </p:tgtEl>
                                        <p:attrNameLst>
                                          <p:attrName>ppt_x</p:attrName>
                                        </p:attrNameLst>
                                      </p:cBhvr>
                                      <p:tavLst>
                                        <p:tav tm="0">
                                          <p:val>
                                            <p:strVal val="#ppt_x"/>
                                          </p:val>
                                        </p:tav>
                                        <p:tav tm="100000">
                                          <p:val>
                                            <p:strVal val="#ppt_x"/>
                                          </p:val>
                                        </p:tav>
                                      </p:tavLst>
                                    </p:anim>
                                    <p:anim calcmode="lin" valueType="num">
                                      <p:cBhvr additive="base">
                                        <p:cTn id="47" dur="500" fill="hold"/>
                                        <p:tgtEl>
                                          <p:spTgt spid="12"/>
                                        </p:tgtEl>
                                        <p:attrNameLst>
                                          <p:attrName>ppt_y</p:attrName>
                                        </p:attrNameLst>
                                      </p:cBhvr>
                                      <p:tavLst>
                                        <p:tav tm="0">
                                          <p:val>
                                            <p:strVal val="#ppt_y+0.1"/>
                                          </p:val>
                                        </p:tav>
                                        <p:tav tm="100000">
                                          <p:val>
                                            <p:strVal val="#ppt_y"/>
                                          </p:val>
                                        </p:tav>
                                      </p:tavLst>
                                    </p:anim>
                                    <p:animEffect transition="in" filter="fade">
                                      <p:cBhvr>
                                        <p:cTn id="48" dur="500"/>
                                        <p:tgtEl>
                                          <p:spTgt spid="12"/>
                                        </p:tgtEl>
                                      </p:cBhvr>
                                    </p:animEffect>
                                  </p:childTnLst>
                                </p:cTn>
                              </p:par>
                              <p:par>
                                <p:cTn id="54" presetID="2" presetClass="entr" presetSubtype="4"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500" fill="hold"/>
                                        <p:tgtEl>
                                          <p:spTgt spid="13"/>
                                        </p:tgtEl>
                                        <p:attrNameLst>
                                          <p:attrName>ppt_x</p:attrName>
                                        </p:attrNameLst>
                                      </p:cBhvr>
                                      <p:tavLst>
                                        <p:tav tm="0">
                                          <p:val>
                                            <p:strVal val="#ppt_x"/>
                                          </p:val>
                                        </p:tav>
                                        <p:tav tm="100000">
                                          <p:val>
                                            <p:strVal val="#ppt_x"/>
                                          </p:val>
                                        </p:tav>
                                      </p:tavLst>
                                    </p:anim>
                                    <p:anim calcmode="lin" valueType="num">
                                      <p:cBhvr additive="base">
                                        <p:cTn id="52" dur="500" fill="hold"/>
                                        <p:tgtEl>
                                          <p:spTgt spid="13"/>
                                        </p:tgtEl>
                                        <p:attrNameLst>
                                          <p:attrName>ppt_y</p:attrName>
                                        </p:attrNameLst>
                                      </p:cBhvr>
                                      <p:tavLst>
                                        <p:tav tm="0">
                                          <p:val>
                                            <p:strVal val="#ppt_y+0.1"/>
                                          </p:val>
                                        </p:tav>
                                        <p:tav tm="100000">
                                          <p:val>
                                            <p:strVal val="#ppt_y"/>
                                          </p:val>
                                        </p:tav>
                                      </p:tavLst>
                                    </p:anim>
                                    <p:animEffect transition="in" filter="fade">
                                      <p:cBhvr>
                                        <p:cTn id="53" dur="500"/>
                                        <p:tgtEl>
                                          <p:spTgt spid="13"/>
                                        </p:tgtEl>
                                      </p:cBhvr>
                                    </p:animEffect>
                                  </p:childTnLst>
                                </p:cTn>
                              </p:par>
                              <p:par>
                                <p:cTn id="59" presetID="2" presetClass="entr" presetSubtype="4" fill="hold" grpId="0" nodeType="withEffect">
                                  <p:stCondLst>
                                    <p:cond delay="100"/>
                                  </p:stCondLst>
                                  <p:childTnLst>
                                    <p:set>
                                      <p:cBhvr>
                                        <p:cTn id="55" dur="1" fill="hold">
                                          <p:stCondLst>
                                            <p:cond delay="0"/>
                                          </p:stCondLst>
                                        </p:cTn>
                                        <p:tgtEl>
                                          <p:spTgt spid="14"/>
                                        </p:tgtEl>
                                        <p:attrNameLst>
                                          <p:attrName>style.visibility</p:attrName>
                                        </p:attrNameLst>
                                      </p:cBhvr>
                                      <p:to>
                                        <p:strVal val="visible"/>
                                      </p:to>
                                    </p:set>
                                    <p:anim calcmode="lin" valueType="num">
                                      <p:cBhvr additive="base">
                                        <p:cTn id="56" dur="500" fill="hold"/>
                                        <p:tgtEl>
                                          <p:spTgt spid="14"/>
                                        </p:tgtEl>
                                        <p:attrNameLst>
                                          <p:attrName>ppt_x</p:attrName>
                                        </p:attrNameLst>
                                      </p:cBhvr>
                                      <p:tavLst>
                                        <p:tav tm="0">
                                          <p:val>
                                            <p:strVal val="#ppt_x"/>
                                          </p:val>
                                        </p:tav>
                                        <p:tav tm="100000">
                                          <p:val>
                                            <p:strVal val="#ppt_x"/>
                                          </p:val>
                                        </p:tav>
                                      </p:tavLst>
                                    </p:anim>
                                    <p:anim calcmode="lin" valueType="num">
                                      <p:cBhvr additive="base">
                                        <p:cTn id="57" dur="500" fill="hold"/>
                                        <p:tgtEl>
                                          <p:spTgt spid="14"/>
                                        </p:tgtEl>
                                        <p:attrNameLst>
                                          <p:attrName>ppt_y</p:attrName>
                                        </p:attrNameLst>
                                      </p:cBhvr>
                                      <p:tavLst>
                                        <p:tav tm="0">
                                          <p:val>
                                            <p:strVal val="#ppt_y+0.1"/>
                                          </p:val>
                                        </p:tav>
                                        <p:tav tm="100000">
                                          <p:val>
                                            <p:strVal val="#ppt_y"/>
                                          </p:val>
                                        </p:tav>
                                      </p:tavLst>
                                    </p:anim>
                                    <p:animEffect transition="in" filter="fade">
                                      <p:cBhvr>
                                        <p:cTn id="58" dur="500"/>
                                        <p:tgtEl>
                                          <p:spTgt spid="14"/>
                                        </p:tgtEl>
                                      </p:cBhvr>
                                    </p:animEffect>
                                  </p:childTnLst>
                                </p:cTn>
                              </p:par>
                              <p:par>
                                <p:cTn id="64" presetID="2" presetClass="entr" presetSubtype="4" fill="hold" grpId="0" nodeType="withEffect">
                                  <p:stCondLst>
                                    <p:cond delay="100"/>
                                  </p:stCondLst>
                                  <p:childTnLst>
                                    <p:set>
                                      <p:cBhvr>
                                        <p:cTn id="60" dur="1" fill="hold">
                                          <p:stCondLst>
                                            <p:cond delay="0"/>
                                          </p:stCondLst>
                                        </p:cTn>
                                        <p:tgtEl>
                                          <p:spTgt spid="15"/>
                                        </p:tgtEl>
                                        <p:attrNameLst>
                                          <p:attrName>style.visibility</p:attrName>
                                        </p:attrNameLst>
                                      </p:cBhvr>
                                      <p:to>
                                        <p:strVal val="visible"/>
                                      </p:to>
                                    </p:set>
                                    <p:anim calcmode="lin" valueType="num">
                                      <p:cBhvr additive="base">
                                        <p:cTn id="61" dur="500" fill="hold"/>
                                        <p:tgtEl>
                                          <p:spTgt spid="15"/>
                                        </p:tgtEl>
                                        <p:attrNameLst>
                                          <p:attrName>ppt_x</p:attrName>
                                        </p:attrNameLst>
                                      </p:cBhvr>
                                      <p:tavLst>
                                        <p:tav tm="0">
                                          <p:val>
                                            <p:strVal val="#ppt_x"/>
                                          </p:val>
                                        </p:tav>
                                        <p:tav tm="100000">
                                          <p:val>
                                            <p:strVal val="#ppt_x"/>
                                          </p:val>
                                        </p:tav>
                                      </p:tavLst>
                                    </p:anim>
                                    <p:anim calcmode="lin" valueType="num">
                                      <p:cBhvr additive="base">
                                        <p:cTn id="62" dur="500" fill="hold"/>
                                        <p:tgtEl>
                                          <p:spTgt spid="15"/>
                                        </p:tgtEl>
                                        <p:attrNameLst>
                                          <p:attrName>ppt_y</p:attrName>
                                        </p:attrNameLst>
                                      </p:cBhvr>
                                      <p:tavLst>
                                        <p:tav tm="0">
                                          <p:val>
                                            <p:strVal val="#ppt_y+0.1"/>
                                          </p:val>
                                        </p:tav>
                                        <p:tav tm="100000">
                                          <p:val>
                                            <p:strVal val="#ppt_y"/>
                                          </p:val>
                                        </p:tav>
                                      </p:tavLst>
                                    </p:anim>
                                    <p:animEffect transition="in" filter="fade">
                                      <p:cBhvr>
                                        <p:cTn id="63" dur="500"/>
                                        <p:tgtEl>
                                          <p:spTgt spid="15"/>
                                        </p:tgtEl>
                                      </p:cBhvr>
                                    </p:animEffect>
                                  </p:childTnLst>
                                </p:cTn>
                              </p:par>
                            </p:childTnLst>
                          </p:cTn>
                        </p:par>
                      </p:childTnLst>
                    </p:cTn>
                  </p:par>
                  <p:par>
                    <p:cTn id="65" fill="hold">
                      <p:stCondLst>
                        <p:cond delay="indefinite"/>
                      </p:stCondLst>
                      <p:childTnLst>
                        <p:par>
                          <p:cTn id="66" fill="hold">
                            <p:stCondLst>
                              <p:cond delay="0"/>
                            </p:stCondLst>
                            <p:childTnLst>
                              <p:par>
                                <p:cTn id="71" presetID="2" presetClass="entr" presetSubtype="4" fill="hold" grpId="0" nodeType="clickEffect">
                                  <p:stCondLst>
                                    <p:cond delay="0"/>
                                  </p:stCondLst>
                                  <p:childTnLst>
                                    <p:set>
                                      <p:cBhvr>
                                        <p:cTn id="67" dur="1" fill="hold">
                                          <p:stCondLst>
                                            <p:cond delay="0"/>
                                          </p:stCondLst>
                                        </p:cTn>
                                        <p:tgtEl>
                                          <p:spTgt spid="16"/>
                                        </p:tgtEl>
                                        <p:attrNameLst>
                                          <p:attrName>style.visibility</p:attrName>
                                        </p:attrNameLst>
                                      </p:cBhvr>
                                      <p:to>
                                        <p:strVal val="visible"/>
                                      </p:to>
                                    </p:set>
                                    <p:anim calcmode="lin" valueType="num">
                                      <p:cBhvr additive="base">
                                        <p:cTn id="68" dur="500" fill="hold"/>
                                        <p:tgtEl>
                                          <p:spTgt spid="16"/>
                                        </p:tgtEl>
                                        <p:attrNameLst>
                                          <p:attrName>ppt_x</p:attrName>
                                        </p:attrNameLst>
                                      </p:cBhvr>
                                      <p:tavLst>
                                        <p:tav tm="0">
                                          <p:val>
                                            <p:strVal val="#ppt_x"/>
                                          </p:val>
                                        </p:tav>
                                        <p:tav tm="100000">
                                          <p:val>
                                            <p:strVal val="#ppt_x"/>
                                          </p:val>
                                        </p:tav>
                                      </p:tavLst>
                                    </p:anim>
                                    <p:anim calcmode="lin" valueType="num">
                                      <p:cBhvr additive="base">
                                        <p:cTn id="69" dur="500" fill="hold"/>
                                        <p:tgtEl>
                                          <p:spTgt spid="16"/>
                                        </p:tgtEl>
                                        <p:attrNameLst>
                                          <p:attrName>ppt_y</p:attrName>
                                        </p:attrNameLst>
                                      </p:cBhvr>
                                      <p:tavLst>
                                        <p:tav tm="0">
                                          <p:val>
                                            <p:strVal val="#ppt_y+0.1"/>
                                          </p:val>
                                        </p:tav>
                                        <p:tav tm="100000">
                                          <p:val>
                                            <p:strVal val="#ppt_y"/>
                                          </p:val>
                                        </p:tav>
                                      </p:tavLst>
                                    </p:anim>
                                    <p:animEffect transition="in" filter="fade">
                                      <p:cBhvr>
                                        <p:cTn id="70" dur="500"/>
                                        <p:tgtEl>
                                          <p:spTgt spid="16"/>
                                        </p:tgtEl>
                                      </p:cBhvr>
                                    </p:animEffect>
                                  </p:childTnLst>
                                </p:cTn>
                              </p:par>
                              <p:par>
                                <p:cTn id="76" presetID="2" presetClass="entr" presetSubtype="4" fill="hold" grpId="0" nodeType="withEffect">
                                  <p:stCondLst>
                                    <p:cond delay="0"/>
                                  </p:stCondLst>
                                  <p:childTnLst>
                                    <p:set>
                                      <p:cBhvr>
                                        <p:cTn id="72" dur="1" fill="hold">
                                          <p:stCondLst>
                                            <p:cond delay="0"/>
                                          </p:stCondLst>
                                        </p:cTn>
                                        <p:tgtEl>
                                          <p:spTgt spid="17"/>
                                        </p:tgtEl>
                                        <p:attrNameLst>
                                          <p:attrName>style.visibility</p:attrName>
                                        </p:attrNameLst>
                                      </p:cBhvr>
                                      <p:to>
                                        <p:strVal val="visible"/>
                                      </p:to>
                                    </p:set>
                                    <p:anim calcmode="lin" valueType="num">
                                      <p:cBhvr additive="base">
                                        <p:cTn id="73" dur="500" fill="hold"/>
                                        <p:tgtEl>
                                          <p:spTgt spid="17"/>
                                        </p:tgtEl>
                                        <p:attrNameLst>
                                          <p:attrName>ppt_x</p:attrName>
                                        </p:attrNameLst>
                                      </p:cBhvr>
                                      <p:tavLst>
                                        <p:tav tm="0">
                                          <p:val>
                                            <p:strVal val="#ppt_x"/>
                                          </p:val>
                                        </p:tav>
                                        <p:tav tm="100000">
                                          <p:val>
                                            <p:strVal val="#ppt_x"/>
                                          </p:val>
                                        </p:tav>
                                      </p:tavLst>
                                    </p:anim>
                                    <p:anim calcmode="lin" valueType="num">
                                      <p:cBhvr additive="base">
                                        <p:cTn id="74" dur="500" fill="hold"/>
                                        <p:tgtEl>
                                          <p:spTgt spid="17"/>
                                        </p:tgtEl>
                                        <p:attrNameLst>
                                          <p:attrName>ppt_y</p:attrName>
                                        </p:attrNameLst>
                                      </p:cBhvr>
                                      <p:tavLst>
                                        <p:tav tm="0">
                                          <p:val>
                                            <p:strVal val="#ppt_y+0.1"/>
                                          </p:val>
                                        </p:tav>
                                        <p:tav tm="100000">
                                          <p:val>
                                            <p:strVal val="#ppt_y"/>
                                          </p:val>
                                        </p:tav>
                                      </p:tavLst>
                                    </p:anim>
                                    <p:animEffect transition="in" filter="fade">
                                      <p:cBhvr>
                                        <p:cTn id="75" dur="500"/>
                                        <p:tgtEl>
                                          <p:spTgt spid="17"/>
                                        </p:tgtEl>
                                      </p:cBhvr>
                                    </p:animEffect>
                                  </p:childTnLst>
                                </p:cTn>
                              </p:par>
                              <p:par>
                                <p:cTn id="81" presetID="2" presetClass="entr" presetSubtype="4" fill="hold" grpId="0" nodeType="withEffect">
                                  <p:stCondLst>
                                    <p:cond delay="120"/>
                                  </p:stCondLst>
                                  <p:childTnLst>
                                    <p:set>
                                      <p:cBhvr>
                                        <p:cTn id="77" dur="1" fill="hold">
                                          <p:stCondLst>
                                            <p:cond delay="0"/>
                                          </p:stCondLst>
                                        </p:cTn>
                                        <p:tgtEl>
                                          <p:spTgt spid="18"/>
                                        </p:tgtEl>
                                        <p:attrNameLst>
                                          <p:attrName>style.visibility</p:attrName>
                                        </p:attrNameLst>
                                      </p:cBhvr>
                                      <p:to>
                                        <p:strVal val="visible"/>
                                      </p:to>
                                    </p:set>
                                    <p:anim calcmode="lin" valueType="num">
                                      <p:cBhvr additive="base">
                                        <p:cTn id="78" dur="500" fill="hold"/>
                                        <p:tgtEl>
                                          <p:spTgt spid="18"/>
                                        </p:tgtEl>
                                        <p:attrNameLst>
                                          <p:attrName>ppt_x</p:attrName>
                                        </p:attrNameLst>
                                      </p:cBhvr>
                                      <p:tavLst>
                                        <p:tav tm="0">
                                          <p:val>
                                            <p:strVal val="#ppt_x"/>
                                          </p:val>
                                        </p:tav>
                                        <p:tav tm="100000">
                                          <p:val>
                                            <p:strVal val="#ppt_x"/>
                                          </p:val>
                                        </p:tav>
                                      </p:tavLst>
                                    </p:anim>
                                    <p:anim calcmode="lin" valueType="num">
                                      <p:cBhvr additive="base">
                                        <p:cTn id="79" dur="500" fill="hold"/>
                                        <p:tgtEl>
                                          <p:spTgt spid="18"/>
                                        </p:tgtEl>
                                        <p:attrNameLst>
                                          <p:attrName>ppt_y</p:attrName>
                                        </p:attrNameLst>
                                      </p:cBhvr>
                                      <p:tavLst>
                                        <p:tav tm="0">
                                          <p:val>
                                            <p:strVal val="#ppt_y+0.1"/>
                                          </p:val>
                                        </p:tav>
                                        <p:tav tm="100000">
                                          <p:val>
                                            <p:strVal val="#ppt_y"/>
                                          </p:val>
                                        </p:tav>
                                      </p:tavLst>
                                    </p:anim>
                                    <p:animEffect transition="in" filter="fade">
                                      <p:cBhvr>
                                        <p:cTn id="80" dur="500"/>
                                        <p:tgtEl>
                                          <p:spTgt spid="18"/>
                                        </p:tgtEl>
                                      </p:cBhvr>
                                    </p:animEffect>
                                  </p:childTnLst>
                                </p:cTn>
                              </p:par>
                              <p:par>
                                <p:cTn id="86" presetID="2" presetClass="entr" presetSubtype="4" fill="hold" grpId="0" nodeType="withEffect">
                                  <p:stCondLst>
                                    <p:cond delay="120"/>
                                  </p:stCondLst>
                                  <p:childTnLst>
                                    <p:set>
                                      <p:cBhvr>
                                        <p:cTn id="82" dur="1" fill="hold">
                                          <p:stCondLst>
                                            <p:cond delay="0"/>
                                          </p:stCondLst>
                                        </p:cTn>
                                        <p:tgtEl>
                                          <p:spTgt spid="19"/>
                                        </p:tgtEl>
                                        <p:attrNameLst>
                                          <p:attrName>style.visibility</p:attrName>
                                        </p:attrNameLst>
                                      </p:cBhvr>
                                      <p:to>
                                        <p:strVal val="visible"/>
                                      </p:to>
                                    </p:set>
                                    <p:anim calcmode="lin" valueType="num">
                                      <p:cBhvr additive="base">
                                        <p:cTn id="83" dur="500" fill="hold"/>
                                        <p:tgtEl>
                                          <p:spTgt spid="19"/>
                                        </p:tgtEl>
                                        <p:attrNameLst>
                                          <p:attrName>ppt_x</p:attrName>
                                        </p:attrNameLst>
                                      </p:cBhvr>
                                      <p:tavLst>
                                        <p:tav tm="0">
                                          <p:val>
                                            <p:strVal val="#ppt_x"/>
                                          </p:val>
                                        </p:tav>
                                        <p:tav tm="100000">
                                          <p:val>
                                            <p:strVal val="#ppt_x"/>
                                          </p:val>
                                        </p:tav>
                                      </p:tavLst>
                                    </p:anim>
                                    <p:anim calcmode="lin" valueType="num">
                                      <p:cBhvr additive="base">
                                        <p:cTn id="84" dur="500" fill="hold"/>
                                        <p:tgtEl>
                                          <p:spTgt spid="19"/>
                                        </p:tgtEl>
                                        <p:attrNameLst>
                                          <p:attrName>ppt_y</p:attrName>
                                        </p:attrNameLst>
                                      </p:cBhvr>
                                      <p:tavLst>
                                        <p:tav tm="0">
                                          <p:val>
                                            <p:strVal val="#ppt_y+0.1"/>
                                          </p:val>
                                        </p:tav>
                                        <p:tav tm="100000">
                                          <p:val>
                                            <p:strVal val="#ppt_y"/>
                                          </p:val>
                                        </p:tav>
                                      </p:tavLst>
                                    </p:anim>
                                    <p:animEffect transition="in" filter="fade">
                                      <p:cBhvr>
                                        <p:cTn id="85" dur="500"/>
                                        <p:tgtEl>
                                          <p:spTgt spid="19"/>
                                        </p:tgtEl>
                                      </p:cBhvr>
                                    </p:animEffect>
                                  </p:childTnLst>
                                </p:cTn>
                              </p:par>
                              <p:par>
                                <p:cTn id="91" presetID="2" presetClass="entr" presetSubtype="4" fill="hold" grpId="0" nodeType="withEffect">
                                  <p:stCondLst>
                                    <p:cond delay="240"/>
                                  </p:stCondLst>
                                  <p:childTnLst>
                                    <p:set>
                                      <p:cBhvr>
                                        <p:cTn id="87" dur="1" fill="hold">
                                          <p:stCondLst>
                                            <p:cond delay="0"/>
                                          </p:stCondLst>
                                        </p:cTn>
                                        <p:tgtEl>
                                          <p:spTgt spid="20"/>
                                        </p:tgtEl>
                                        <p:attrNameLst>
                                          <p:attrName>style.visibility</p:attrName>
                                        </p:attrNameLst>
                                      </p:cBhvr>
                                      <p:to>
                                        <p:strVal val="visible"/>
                                      </p:to>
                                    </p:set>
                                    <p:anim calcmode="lin" valueType="num">
                                      <p:cBhvr additive="base">
                                        <p:cTn id="88" dur="500" fill="hold"/>
                                        <p:tgtEl>
                                          <p:spTgt spid="20"/>
                                        </p:tgtEl>
                                        <p:attrNameLst>
                                          <p:attrName>ppt_x</p:attrName>
                                        </p:attrNameLst>
                                      </p:cBhvr>
                                      <p:tavLst>
                                        <p:tav tm="0">
                                          <p:val>
                                            <p:strVal val="#ppt_x"/>
                                          </p:val>
                                        </p:tav>
                                        <p:tav tm="100000">
                                          <p:val>
                                            <p:strVal val="#ppt_x"/>
                                          </p:val>
                                        </p:tav>
                                      </p:tavLst>
                                    </p:anim>
                                    <p:anim calcmode="lin" valueType="num">
                                      <p:cBhvr additive="base">
                                        <p:cTn id="89" dur="500" fill="hold"/>
                                        <p:tgtEl>
                                          <p:spTgt spid="20"/>
                                        </p:tgtEl>
                                        <p:attrNameLst>
                                          <p:attrName>ppt_y</p:attrName>
                                        </p:attrNameLst>
                                      </p:cBhvr>
                                      <p:tavLst>
                                        <p:tav tm="0">
                                          <p:val>
                                            <p:strVal val="#ppt_y+0.1"/>
                                          </p:val>
                                        </p:tav>
                                        <p:tav tm="100000">
                                          <p:val>
                                            <p:strVal val="#ppt_y"/>
                                          </p:val>
                                        </p:tav>
                                      </p:tavLst>
                                    </p:anim>
                                    <p:animEffect transition="in" filter="fade">
                                      <p:cBhvr>
                                        <p:cTn id="90" dur="500"/>
                                        <p:tgtEl>
                                          <p:spTgt spid="20"/>
                                        </p:tgtEl>
                                      </p:cBhvr>
                                    </p:animEffect>
                                  </p:childTnLst>
                                </p:cTn>
                              </p:par>
                              <p:par>
                                <p:cTn id="96" presetID="2" presetClass="entr" presetSubtype="4" fill="hold" grpId="0" nodeType="withEffect">
                                  <p:stCondLst>
                                    <p:cond delay="240"/>
                                  </p:stCondLst>
                                  <p:childTnLst>
                                    <p:set>
                                      <p:cBhvr>
                                        <p:cTn id="92" dur="1" fill="hold">
                                          <p:stCondLst>
                                            <p:cond delay="0"/>
                                          </p:stCondLst>
                                        </p:cTn>
                                        <p:tgtEl>
                                          <p:spTgt spid="21"/>
                                        </p:tgtEl>
                                        <p:attrNameLst>
                                          <p:attrName>style.visibility</p:attrName>
                                        </p:attrNameLst>
                                      </p:cBhvr>
                                      <p:to>
                                        <p:strVal val="visible"/>
                                      </p:to>
                                    </p:set>
                                    <p:anim calcmode="lin" valueType="num">
                                      <p:cBhvr additive="base">
                                        <p:cTn id="93" dur="500" fill="hold"/>
                                        <p:tgtEl>
                                          <p:spTgt spid="21"/>
                                        </p:tgtEl>
                                        <p:attrNameLst>
                                          <p:attrName>ppt_x</p:attrName>
                                        </p:attrNameLst>
                                      </p:cBhvr>
                                      <p:tavLst>
                                        <p:tav tm="0">
                                          <p:val>
                                            <p:strVal val="#ppt_x"/>
                                          </p:val>
                                        </p:tav>
                                        <p:tav tm="100000">
                                          <p:val>
                                            <p:strVal val="#ppt_x"/>
                                          </p:val>
                                        </p:tav>
                                      </p:tavLst>
                                    </p:anim>
                                    <p:anim calcmode="lin" valueType="num">
                                      <p:cBhvr additive="base">
                                        <p:cTn id="94" dur="500" fill="hold"/>
                                        <p:tgtEl>
                                          <p:spTgt spid="21"/>
                                        </p:tgtEl>
                                        <p:attrNameLst>
                                          <p:attrName>ppt_y</p:attrName>
                                        </p:attrNameLst>
                                      </p:cBhvr>
                                      <p:tavLst>
                                        <p:tav tm="0">
                                          <p:val>
                                            <p:strVal val="#ppt_y+0.1"/>
                                          </p:val>
                                        </p:tav>
                                        <p:tav tm="100000">
                                          <p:val>
                                            <p:strVal val="#ppt_y"/>
                                          </p:val>
                                        </p:tav>
                                      </p:tavLst>
                                    </p:anim>
                                    <p:animEffect transition="in" filter="fade">
                                      <p:cBhvr>
                                        <p:cTn id="95" dur="500"/>
                                        <p:tgtEl>
                                          <p:spTgt spid="21"/>
                                        </p:tgtEl>
                                      </p:cBhvr>
                                    </p:animEffect>
                                  </p:childTnLst>
                                </p:cTn>
                              </p:par>
                            </p:childTnLst>
                          </p:cTn>
                        </p:par>
                      </p:childTnLst>
                    </p:cTn>
                  </p:par>
                  <p:par>
                    <p:cTn id="97" fill="hold">
                      <p:stCondLst>
                        <p:cond delay="indefinite"/>
                      </p:stCondLst>
                      <p:childTnLst>
                        <p:par>
                          <p:cTn id="98" fill="hold">
                            <p:stCondLst>
                              <p:cond delay="0"/>
                            </p:stCondLst>
                            <p:childTnLst>
                              <p:par>
                                <p:cTn id="103" presetID="2" presetClass="entr" presetSubtype="4" fill="hold" grpId="0" nodeType="clickEffect">
                                  <p:stCondLst>
                                    <p:cond delay="0"/>
                                  </p:stCondLst>
                                  <p:childTnLst>
                                    <p:set>
                                      <p:cBhvr>
                                        <p:cTn id="99" dur="1" fill="hold">
                                          <p:stCondLst>
                                            <p:cond delay="0"/>
                                          </p:stCondLst>
                                        </p:cTn>
                                        <p:tgtEl>
                                          <p:spTgt spid="27"/>
                                        </p:tgtEl>
                                        <p:attrNameLst>
                                          <p:attrName>style.visibility</p:attrName>
                                        </p:attrNameLst>
                                      </p:cBhvr>
                                      <p:to>
                                        <p:strVal val="visible"/>
                                      </p:to>
                                    </p:set>
                                    <p:anim calcmode="lin" valueType="num">
                                      <p:cBhvr additive="base">
                                        <p:cTn id="100" dur="500" fill="hold"/>
                                        <p:tgtEl>
                                          <p:spTgt spid="27"/>
                                        </p:tgtEl>
                                        <p:attrNameLst>
                                          <p:attrName>ppt_x</p:attrName>
                                        </p:attrNameLst>
                                      </p:cBhvr>
                                      <p:tavLst>
                                        <p:tav tm="0">
                                          <p:val>
                                            <p:strVal val="#ppt_x"/>
                                          </p:val>
                                        </p:tav>
                                        <p:tav tm="100000">
                                          <p:val>
                                            <p:strVal val="#ppt_x"/>
                                          </p:val>
                                        </p:tav>
                                      </p:tavLst>
                                    </p:anim>
                                    <p:anim calcmode="lin" valueType="num">
                                      <p:cBhvr additive="base">
                                        <p:cTn id="101" dur="500" fill="hold"/>
                                        <p:tgtEl>
                                          <p:spTgt spid="27"/>
                                        </p:tgtEl>
                                        <p:attrNameLst>
                                          <p:attrName>ppt_y</p:attrName>
                                        </p:attrNameLst>
                                      </p:cBhvr>
                                      <p:tavLst>
                                        <p:tav tm="0">
                                          <p:val>
                                            <p:strVal val="#ppt_y+0.1"/>
                                          </p:val>
                                        </p:tav>
                                        <p:tav tm="100000">
                                          <p:val>
                                            <p:strVal val="#ppt_y"/>
                                          </p:val>
                                        </p:tav>
                                      </p:tavLst>
                                    </p:anim>
                                    <p:animEffect transition="in" filter="fade">
                                      <p:cBhvr>
                                        <p:cTn id="102" dur="500"/>
                                        <p:tgtEl>
                                          <p:spTgt spid="27"/>
                                        </p:tgtEl>
                                      </p:cBhvr>
                                    </p:animEffect>
                                  </p:childTnLst>
                                </p:cTn>
                              </p:par>
                              <p:par>
                                <p:cTn id="108" presetID="2" presetClass="entr" presetSubtype="4"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anim calcmode="lin" valueType="num">
                                      <p:cBhvr additive="base">
                                        <p:cTn id="105" dur="500" fill="hold"/>
                                        <p:tgtEl>
                                          <p:spTgt spid="36"/>
                                        </p:tgtEl>
                                        <p:attrNameLst>
                                          <p:attrName>ppt_x</p:attrName>
                                        </p:attrNameLst>
                                      </p:cBhvr>
                                      <p:tavLst>
                                        <p:tav tm="0">
                                          <p:val>
                                            <p:strVal val="#ppt_x"/>
                                          </p:val>
                                        </p:tav>
                                        <p:tav tm="100000">
                                          <p:val>
                                            <p:strVal val="#ppt_x"/>
                                          </p:val>
                                        </p:tav>
                                      </p:tavLst>
                                    </p:anim>
                                    <p:anim calcmode="lin" valueType="num">
                                      <p:cBhvr additive="base">
                                        <p:cTn id="106" dur="500" fill="hold"/>
                                        <p:tgtEl>
                                          <p:spTgt spid="36"/>
                                        </p:tgtEl>
                                        <p:attrNameLst>
                                          <p:attrName>ppt_y</p:attrName>
                                        </p:attrNameLst>
                                      </p:cBhvr>
                                      <p:tavLst>
                                        <p:tav tm="0">
                                          <p:val>
                                            <p:strVal val="#ppt_y+0.1"/>
                                          </p:val>
                                        </p:tav>
                                        <p:tav tm="100000">
                                          <p:val>
                                            <p:strVal val="#ppt_y"/>
                                          </p:val>
                                        </p:tav>
                                      </p:tavLst>
                                    </p:anim>
                                    <p:animEffect transition="in" filter="fade">
                                      <p:cBhvr>
                                        <p:cTn id="107" dur="500"/>
                                        <p:tgtEl>
                                          <p:spTgt spid="36"/>
                                        </p:tgtEl>
                                      </p:cBhvr>
                                    </p:animEffect>
                                  </p:childTnLst>
                                </p:cTn>
                              </p:par>
                              <p:par>
                                <p:cTn id="113" presetID="2" presetClass="entr" presetSubtype="4" fill="hold" grpId="0" nodeType="withEffect">
                                  <p:stCondLst>
                                    <p:cond delay="120"/>
                                  </p:stCondLst>
                                  <p:childTnLst>
                                    <p:set>
                                      <p:cBhvr>
                                        <p:cTn id="109" dur="1" fill="hold">
                                          <p:stCondLst>
                                            <p:cond delay="0"/>
                                          </p:stCondLst>
                                        </p:cTn>
                                        <p:tgtEl>
                                          <p:spTgt spid="31"/>
                                        </p:tgtEl>
                                        <p:attrNameLst>
                                          <p:attrName>style.visibility</p:attrName>
                                        </p:attrNameLst>
                                      </p:cBhvr>
                                      <p:to>
                                        <p:strVal val="visible"/>
                                      </p:to>
                                    </p:set>
                                    <p:anim calcmode="lin" valueType="num">
                                      <p:cBhvr additive="base">
                                        <p:cTn id="110" dur="500" fill="hold"/>
                                        <p:tgtEl>
                                          <p:spTgt spid="31"/>
                                        </p:tgtEl>
                                        <p:attrNameLst>
                                          <p:attrName>ppt_x</p:attrName>
                                        </p:attrNameLst>
                                      </p:cBhvr>
                                      <p:tavLst>
                                        <p:tav tm="0">
                                          <p:val>
                                            <p:strVal val="#ppt_x"/>
                                          </p:val>
                                        </p:tav>
                                        <p:tav tm="100000">
                                          <p:val>
                                            <p:strVal val="#ppt_x"/>
                                          </p:val>
                                        </p:tav>
                                      </p:tavLst>
                                    </p:anim>
                                    <p:anim calcmode="lin" valueType="num">
                                      <p:cBhvr additive="base">
                                        <p:cTn id="111" dur="500" fill="hold"/>
                                        <p:tgtEl>
                                          <p:spTgt spid="31"/>
                                        </p:tgtEl>
                                        <p:attrNameLst>
                                          <p:attrName>ppt_y</p:attrName>
                                        </p:attrNameLst>
                                      </p:cBhvr>
                                      <p:tavLst>
                                        <p:tav tm="0">
                                          <p:val>
                                            <p:strVal val="#ppt_y+0.1"/>
                                          </p:val>
                                        </p:tav>
                                        <p:tav tm="100000">
                                          <p:val>
                                            <p:strVal val="#ppt_y"/>
                                          </p:val>
                                        </p:tav>
                                      </p:tavLst>
                                    </p:anim>
                                    <p:animEffect transition="in" filter="fade">
                                      <p:cBhvr>
                                        <p:cTn id="112" dur="500"/>
                                        <p:tgtEl>
                                          <p:spTgt spid="31"/>
                                        </p:tgtEl>
                                      </p:cBhvr>
                                    </p:animEffect>
                                  </p:childTnLst>
                                </p:cTn>
                              </p:par>
                              <p:par>
                                <p:cTn id="118" presetID="2" presetClass="entr" presetSubtype="4" fill="hold" grpId="0" nodeType="withEffect">
                                  <p:stCondLst>
                                    <p:cond delay="240"/>
                                  </p:stCondLst>
                                  <p:childTnLst>
                                    <p:set>
                                      <p:cBhvr>
                                        <p:cTn id="114" dur="1" fill="hold">
                                          <p:stCondLst>
                                            <p:cond delay="0"/>
                                          </p:stCondLst>
                                        </p:cTn>
                                        <p:tgtEl>
                                          <p:spTgt spid="35"/>
                                        </p:tgtEl>
                                        <p:attrNameLst>
                                          <p:attrName>style.visibility</p:attrName>
                                        </p:attrNameLst>
                                      </p:cBhvr>
                                      <p:to>
                                        <p:strVal val="visible"/>
                                      </p:to>
                                    </p:set>
                                    <p:anim calcmode="lin" valueType="num">
                                      <p:cBhvr additive="base">
                                        <p:cTn id="115" dur="500" fill="hold"/>
                                        <p:tgtEl>
                                          <p:spTgt spid="35"/>
                                        </p:tgtEl>
                                        <p:attrNameLst>
                                          <p:attrName>ppt_x</p:attrName>
                                        </p:attrNameLst>
                                      </p:cBhvr>
                                      <p:tavLst>
                                        <p:tav tm="0">
                                          <p:val>
                                            <p:strVal val="#ppt_x"/>
                                          </p:val>
                                        </p:tav>
                                        <p:tav tm="100000">
                                          <p:val>
                                            <p:strVal val="#ppt_x"/>
                                          </p:val>
                                        </p:tav>
                                      </p:tavLst>
                                    </p:anim>
                                    <p:anim calcmode="lin" valueType="num">
                                      <p:cBhvr additive="base">
                                        <p:cTn id="116" dur="500" fill="hold"/>
                                        <p:tgtEl>
                                          <p:spTgt spid="35"/>
                                        </p:tgtEl>
                                        <p:attrNameLst>
                                          <p:attrName>ppt_y</p:attrName>
                                        </p:attrNameLst>
                                      </p:cBhvr>
                                      <p:tavLst>
                                        <p:tav tm="0">
                                          <p:val>
                                            <p:strVal val="#ppt_y+0.1"/>
                                          </p:val>
                                        </p:tav>
                                        <p:tav tm="100000">
                                          <p:val>
                                            <p:strVal val="#ppt_y"/>
                                          </p:val>
                                        </p:tav>
                                      </p:tavLst>
                                    </p:anim>
                                    <p:animEffect transition="in" filter="fade">
                                      <p:cBhvr>
                                        <p:cTn id="117" dur="500"/>
                                        <p:tgtEl>
                                          <p:spTgt spid="35"/>
                                        </p:tgtEl>
                                      </p:cBhvr>
                                    </p:animEffect>
                                  </p:childTnLst>
                                </p:cTn>
                              </p:par>
                            </p:childTnLst>
                          </p:cTn>
                        </p:par>
                      </p:childTnLst>
                    </p:cTn>
                  </p:par>
                  <p:par>
                    <p:cTn id="119" fill="hold">
                      <p:stCondLst>
                        <p:cond delay="indefinite"/>
                      </p:stCondLst>
                      <p:childTnLst>
                        <p:par>
                          <p:cTn id="120" fill="hold">
                            <p:stCondLst>
                              <p:cond delay="0"/>
                            </p:stCondLst>
                            <p:childTnLst>
                              <p:par>
                                <p:cTn id="125" presetID="2" presetClass="entr" presetSubtype="4" fill="hold" grpId="0" nodeType="clickEffect">
                                  <p:stCondLst>
                                    <p:cond delay="0"/>
                                  </p:stCondLst>
                                  <p:childTnLst>
                                    <p:set>
                                      <p:cBhvr>
                                        <p:cTn id="121" dur="1" fill="hold">
                                          <p:stCondLst>
                                            <p:cond delay="0"/>
                                          </p:stCondLst>
                                        </p:cTn>
                                        <p:tgtEl>
                                          <p:spTgt spid="37"/>
                                        </p:tgtEl>
                                        <p:attrNameLst>
                                          <p:attrName>style.visibility</p:attrName>
                                        </p:attrNameLst>
                                      </p:cBhvr>
                                      <p:to>
                                        <p:strVal val="visible"/>
                                      </p:to>
                                    </p:set>
                                    <p:anim calcmode="lin" valueType="num">
                                      <p:cBhvr additive="base">
                                        <p:cTn id="122" dur="500" fill="hold"/>
                                        <p:tgtEl>
                                          <p:spTgt spid="37"/>
                                        </p:tgtEl>
                                        <p:attrNameLst>
                                          <p:attrName>ppt_x</p:attrName>
                                        </p:attrNameLst>
                                      </p:cBhvr>
                                      <p:tavLst>
                                        <p:tav tm="0">
                                          <p:val>
                                            <p:strVal val="#ppt_x"/>
                                          </p:val>
                                        </p:tav>
                                        <p:tav tm="100000">
                                          <p:val>
                                            <p:strVal val="#ppt_x"/>
                                          </p:val>
                                        </p:tav>
                                      </p:tavLst>
                                    </p:anim>
                                    <p:anim calcmode="lin" valueType="num">
                                      <p:cBhvr additive="base">
                                        <p:cTn id="123" dur="500" fill="hold"/>
                                        <p:tgtEl>
                                          <p:spTgt spid="37"/>
                                        </p:tgtEl>
                                        <p:attrNameLst>
                                          <p:attrName>ppt_y</p:attrName>
                                        </p:attrNameLst>
                                      </p:cBhvr>
                                      <p:tavLst>
                                        <p:tav tm="0">
                                          <p:val>
                                            <p:strVal val="#ppt_y+0.1"/>
                                          </p:val>
                                        </p:tav>
                                        <p:tav tm="100000">
                                          <p:val>
                                            <p:strVal val="#ppt_y"/>
                                          </p:val>
                                        </p:tav>
                                      </p:tavLst>
                                    </p:anim>
                                    <p:animEffect transition="in" filter="fade">
                                      <p:cBhvr>
                                        <p:cTn id="124" dur="500"/>
                                        <p:tgtEl>
                                          <p:spTgt spid="37"/>
                                        </p:tgtEl>
                                      </p:cBhvr>
                                    </p:animEffect>
                                  </p:childTnLst>
                                </p:cTn>
                              </p:par>
                              <p:par>
                                <p:cTn id="130" presetID="2" presetClass="entr" presetSubtype="4" fill="hold" grpId="0" nodeType="withEffect">
                                  <p:stCondLst>
                                    <p:cond delay="0"/>
                                  </p:stCondLst>
                                  <p:childTnLst>
                                    <p:set>
                                      <p:cBhvr>
                                        <p:cTn id="126" dur="1" fill="hold">
                                          <p:stCondLst>
                                            <p:cond delay="0"/>
                                          </p:stCondLst>
                                        </p:cTn>
                                        <p:tgtEl>
                                          <p:spTgt spid="38"/>
                                        </p:tgtEl>
                                        <p:attrNameLst>
                                          <p:attrName>style.visibility</p:attrName>
                                        </p:attrNameLst>
                                      </p:cBhvr>
                                      <p:to>
                                        <p:strVal val="visible"/>
                                      </p:to>
                                    </p:set>
                                    <p:anim calcmode="lin" valueType="num">
                                      <p:cBhvr additive="base">
                                        <p:cTn id="127" dur="500" fill="hold"/>
                                        <p:tgtEl>
                                          <p:spTgt spid="38"/>
                                        </p:tgtEl>
                                        <p:attrNameLst>
                                          <p:attrName>ppt_x</p:attrName>
                                        </p:attrNameLst>
                                      </p:cBhvr>
                                      <p:tavLst>
                                        <p:tav tm="0">
                                          <p:val>
                                            <p:strVal val="#ppt_x"/>
                                          </p:val>
                                        </p:tav>
                                        <p:tav tm="100000">
                                          <p:val>
                                            <p:strVal val="#ppt_x"/>
                                          </p:val>
                                        </p:tav>
                                      </p:tavLst>
                                    </p:anim>
                                    <p:anim calcmode="lin" valueType="num">
                                      <p:cBhvr additive="base">
                                        <p:cTn id="128" dur="500" fill="hold"/>
                                        <p:tgtEl>
                                          <p:spTgt spid="38"/>
                                        </p:tgtEl>
                                        <p:attrNameLst>
                                          <p:attrName>ppt_y</p:attrName>
                                        </p:attrNameLst>
                                      </p:cBhvr>
                                      <p:tavLst>
                                        <p:tav tm="0">
                                          <p:val>
                                            <p:strVal val="#ppt_y+0.1"/>
                                          </p:val>
                                        </p:tav>
                                        <p:tav tm="100000">
                                          <p:val>
                                            <p:strVal val="#ppt_y"/>
                                          </p:val>
                                        </p:tav>
                                      </p:tavLst>
                                    </p:anim>
                                    <p:animEffect transition="in" filter="fade">
                                      <p:cBhvr>
                                        <p:cTn id="129" dur="500"/>
                                        <p:tgtEl>
                                          <p:spTgt spid="38"/>
                                        </p:tgtEl>
                                      </p:cBhvr>
                                    </p:animEffect>
                                  </p:childTnLst>
                                </p:cTn>
                              </p:par>
                              <p:par>
                                <p:cTn id="135" presetID="2" presetClass="entr" presetSubtype="4" fill="hold" grpId="0" nodeType="withEffect">
                                  <p:stCondLst>
                                    <p:cond delay="0"/>
                                  </p:stCondLst>
                                  <p:childTnLst>
                                    <p:set>
                                      <p:cBhvr>
                                        <p:cTn id="131" dur="1" fill="hold">
                                          <p:stCondLst>
                                            <p:cond delay="0"/>
                                          </p:stCondLst>
                                        </p:cTn>
                                        <p:tgtEl>
                                          <p:spTgt spid="39"/>
                                        </p:tgtEl>
                                        <p:attrNameLst>
                                          <p:attrName>style.visibility</p:attrName>
                                        </p:attrNameLst>
                                      </p:cBhvr>
                                      <p:to>
                                        <p:strVal val="visible"/>
                                      </p:to>
                                    </p:set>
                                    <p:anim calcmode="lin" valueType="num">
                                      <p:cBhvr additive="base">
                                        <p:cTn id="132" dur="500" fill="hold"/>
                                        <p:tgtEl>
                                          <p:spTgt spid="39"/>
                                        </p:tgtEl>
                                        <p:attrNameLst>
                                          <p:attrName>ppt_x</p:attrName>
                                        </p:attrNameLst>
                                      </p:cBhvr>
                                      <p:tavLst>
                                        <p:tav tm="0">
                                          <p:val>
                                            <p:strVal val="#ppt_x"/>
                                          </p:val>
                                        </p:tav>
                                        <p:tav tm="100000">
                                          <p:val>
                                            <p:strVal val="#ppt_x"/>
                                          </p:val>
                                        </p:tav>
                                      </p:tavLst>
                                    </p:anim>
                                    <p:anim calcmode="lin" valueType="num">
                                      <p:cBhvr additive="base">
                                        <p:cTn id="133" dur="500" fill="hold"/>
                                        <p:tgtEl>
                                          <p:spTgt spid="39"/>
                                        </p:tgtEl>
                                        <p:attrNameLst>
                                          <p:attrName>ppt_y</p:attrName>
                                        </p:attrNameLst>
                                      </p:cBhvr>
                                      <p:tavLst>
                                        <p:tav tm="0">
                                          <p:val>
                                            <p:strVal val="#ppt_y+0.1"/>
                                          </p:val>
                                        </p:tav>
                                        <p:tav tm="100000">
                                          <p:val>
                                            <p:strVal val="#ppt_y"/>
                                          </p:val>
                                        </p:tav>
                                      </p:tavLst>
                                    </p:anim>
                                    <p:animEffect transition="in" filter="fade">
                                      <p:cBhvr>
                                        <p:cTn id="134" dur="500"/>
                                        <p:tgtEl>
                                          <p:spTgt spid="39"/>
                                        </p:tgtEl>
                                      </p:cBhvr>
                                    </p:animEffect>
                                  </p:childTnLst>
                                </p:cTn>
                              </p:par>
                              <p:par>
                                <p:cTn id="140" presetID="2" presetClass="entr" presetSubtype="4" fill="hold" grpId="0" nodeType="withEffect">
                                  <p:stCondLst>
                                    <p:cond delay="150"/>
                                  </p:stCondLst>
                                  <p:childTnLst>
                                    <p:set>
                                      <p:cBhvr>
                                        <p:cTn id="136" dur="1" fill="hold">
                                          <p:stCondLst>
                                            <p:cond delay="0"/>
                                          </p:stCondLst>
                                        </p:cTn>
                                        <p:tgtEl>
                                          <p:spTgt spid="40"/>
                                        </p:tgtEl>
                                        <p:attrNameLst>
                                          <p:attrName>style.visibility</p:attrName>
                                        </p:attrNameLst>
                                      </p:cBhvr>
                                      <p:to>
                                        <p:strVal val="visible"/>
                                      </p:to>
                                    </p:set>
                                    <p:anim calcmode="lin" valueType="num">
                                      <p:cBhvr additive="base">
                                        <p:cTn id="137" dur="500" fill="hold"/>
                                        <p:tgtEl>
                                          <p:spTgt spid="40"/>
                                        </p:tgtEl>
                                        <p:attrNameLst>
                                          <p:attrName>ppt_x</p:attrName>
                                        </p:attrNameLst>
                                      </p:cBhvr>
                                      <p:tavLst>
                                        <p:tav tm="0">
                                          <p:val>
                                            <p:strVal val="#ppt_x"/>
                                          </p:val>
                                        </p:tav>
                                        <p:tav tm="100000">
                                          <p:val>
                                            <p:strVal val="#ppt_x"/>
                                          </p:val>
                                        </p:tav>
                                      </p:tavLst>
                                    </p:anim>
                                    <p:anim calcmode="lin" valueType="num">
                                      <p:cBhvr additive="base">
                                        <p:cTn id="138" dur="500" fill="hold"/>
                                        <p:tgtEl>
                                          <p:spTgt spid="40"/>
                                        </p:tgtEl>
                                        <p:attrNameLst>
                                          <p:attrName>ppt_y</p:attrName>
                                        </p:attrNameLst>
                                      </p:cBhvr>
                                      <p:tavLst>
                                        <p:tav tm="0">
                                          <p:val>
                                            <p:strVal val="#ppt_y+0.1"/>
                                          </p:val>
                                        </p:tav>
                                        <p:tav tm="100000">
                                          <p:val>
                                            <p:strVal val="#ppt_y"/>
                                          </p:val>
                                        </p:tav>
                                      </p:tavLst>
                                    </p:anim>
                                    <p:animEffect transition="in" filter="fade">
                                      <p:cBhvr>
                                        <p:cTn id="139" dur="500"/>
                                        <p:tgtEl>
                                          <p:spTgt spid="40"/>
                                        </p:tgtEl>
                                      </p:cBhvr>
                                    </p:animEffect>
                                  </p:childTnLst>
                                </p:cTn>
                              </p:par>
                            </p:childTnLst>
                          </p:cTn>
                        </p:par>
                      </p:childTnLst>
                    </p:cTn>
                  </p:par>
                  <p:par>
                    <p:cTn id="141" fill="hold">
                      <p:stCondLst>
                        <p:cond delay="indefinite"/>
                      </p:stCondLst>
                      <p:childTnLst>
                        <p:par>
                          <p:cTn id="142" fill="hold">
                            <p:stCondLst>
                              <p:cond delay="0"/>
                            </p:stCondLst>
                            <p:childTnLst>
                              <p:par>
                                <p:cTn id="147" presetID="2" presetClass="entr" presetSubtype="4" fill="hold" grpId="0" nodeType="clickEffect">
                                  <p:stCondLst>
                                    <p:cond delay="0"/>
                                  </p:stCondLst>
                                  <p:childTnLst>
                                    <p:set>
                                      <p:cBhvr>
                                        <p:cTn id="143" dur="1" fill="hold">
                                          <p:stCondLst>
                                            <p:cond delay="0"/>
                                          </p:stCondLst>
                                        </p:cTn>
                                        <p:tgtEl>
                                          <p:spTgt spid="41"/>
                                        </p:tgtEl>
                                        <p:attrNameLst>
                                          <p:attrName>style.visibility</p:attrName>
                                        </p:attrNameLst>
                                      </p:cBhvr>
                                      <p:to>
                                        <p:strVal val="visible"/>
                                      </p:to>
                                    </p:set>
                                    <p:anim calcmode="lin" valueType="num">
                                      <p:cBhvr additive="base">
                                        <p:cTn id="144" dur="500" fill="hold"/>
                                        <p:tgtEl>
                                          <p:spTgt spid="41"/>
                                        </p:tgtEl>
                                        <p:attrNameLst>
                                          <p:attrName>ppt_x</p:attrName>
                                        </p:attrNameLst>
                                      </p:cBhvr>
                                      <p:tavLst>
                                        <p:tav tm="0">
                                          <p:val>
                                            <p:strVal val="#ppt_x"/>
                                          </p:val>
                                        </p:tav>
                                        <p:tav tm="100000">
                                          <p:val>
                                            <p:strVal val="#ppt_x"/>
                                          </p:val>
                                        </p:tav>
                                      </p:tavLst>
                                    </p:anim>
                                    <p:anim calcmode="lin" valueType="num">
                                      <p:cBhvr additive="base">
                                        <p:cTn id="145" dur="500" fill="hold"/>
                                        <p:tgtEl>
                                          <p:spTgt spid="41"/>
                                        </p:tgtEl>
                                        <p:attrNameLst>
                                          <p:attrName>ppt_y</p:attrName>
                                        </p:attrNameLst>
                                      </p:cBhvr>
                                      <p:tavLst>
                                        <p:tav tm="0">
                                          <p:val>
                                            <p:strVal val="#ppt_y+0.1"/>
                                          </p:val>
                                        </p:tav>
                                        <p:tav tm="100000">
                                          <p:val>
                                            <p:strVal val="#ppt_y"/>
                                          </p:val>
                                        </p:tav>
                                      </p:tavLst>
                                    </p:anim>
                                    <p:animEffect transition="in" filter="fade">
                                      <p:cBhvr>
                                        <p:cTn id="146" dur="500"/>
                                        <p:tgtEl>
                                          <p:spTgt spid="41"/>
                                        </p:tgtEl>
                                      </p:cBhvr>
                                    </p:animEffect>
                                  </p:childTnLst>
                                </p:cTn>
                              </p:par>
                              <p:par>
                                <p:cTn id="152" presetID="2" presetClass="entr" presetSubtype="4" fill="hold" grpId="0" nodeType="withEffect">
                                  <p:stCondLst>
                                    <p:cond delay="0"/>
                                  </p:stCondLst>
                                  <p:childTnLst>
                                    <p:set>
                                      <p:cBhvr>
                                        <p:cTn id="148" dur="1" fill="hold">
                                          <p:stCondLst>
                                            <p:cond delay="0"/>
                                          </p:stCondLst>
                                        </p:cTn>
                                        <p:tgtEl>
                                          <p:spTgt spid="42"/>
                                        </p:tgtEl>
                                        <p:attrNameLst>
                                          <p:attrName>style.visibility</p:attrName>
                                        </p:attrNameLst>
                                      </p:cBhvr>
                                      <p:to>
                                        <p:strVal val="visible"/>
                                      </p:to>
                                    </p:set>
                                    <p:anim calcmode="lin" valueType="num">
                                      <p:cBhvr additive="base">
                                        <p:cTn id="149" dur="500" fill="hold"/>
                                        <p:tgtEl>
                                          <p:spTgt spid="42"/>
                                        </p:tgtEl>
                                        <p:attrNameLst>
                                          <p:attrName>ppt_x</p:attrName>
                                        </p:attrNameLst>
                                      </p:cBhvr>
                                      <p:tavLst>
                                        <p:tav tm="0">
                                          <p:val>
                                            <p:strVal val="#ppt_x"/>
                                          </p:val>
                                        </p:tav>
                                        <p:tav tm="100000">
                                          <p:val>
                                            <p:strVal val="#ppt_x"/>
                                          </p:val>
                                        </p:tav>
                                      </p:tavLst>
                                    </p:anim>
                                    <p:anim calcmode="lin" valueType="num">
                                      <p:cBhvr additive="base">
                                        <p:cTn id="150" dur="500" fill="hold"/>
                                        <p:tgtEl>
                                          <p:spTgt spid="42"/>
                                        </p:tgtEl>
                                        <p:attrNameLst>
                                          <p:attrName>ppt_y</p:attrName>
                                        </p:attrNameLst>
                                      </p:cBhvr>
                                      <p:tavLst>
                                        <p:tav tm="0">
                                          <p:val>
                                            <p:strVal val="#ppt_y+0.1"/>
                                          </p:val>
                                        </p:tav>
                                        <p:tav tm="100000">
                                          <p:val>
                                            <p:strVal val="#ppt_y"/>
                                          </p:val>
                                        </p:tav>
                                      </p:tavLst>
                                    </p:anim>
                                    <p:animEffect transition="in" filter="fade">
                                      <p:cBhvr>
                                        <p:cTn id="151" dur="500"/>
                                        <p:tgtEl>
                                          <p:spTgt spid="42"/>
                                        </p:tgtEl>
                                      </p:cBhvr>
                                    </p:animEffect>
                                  </p:childTnLst>
                                </p:cTn>
                              </p:par>
                              <p:par>
                                <p:cTn id="157" presetID="2" presetClass="entr" presetSubtype="4" fill="hold" grpId="0" nodeType="withEffect">
                                  <p:stCondLst>
                                    <p:cond delay="0"/>
                                  </p:stCondLst>
                                  <p:childTnLst>
                                    <p:set>
                                      <p:cBhvr>
                                        <p:cTn id="153" dur="1" fill="hold">
                                          <p:stCondLst>
                                            <p:cond delay="0"/>
                                          </p:stCondLst>
                                        </p:cTn>
                                        <p:tgtEl>
                                          <p:spTgt spid="43"/>
                                        </p:tgtEl>
                                        <p:attrNameLst>
                                          <p:attrName>style.visibility</p:attrName>
                                        </p:attrNameLst>
                                      </p:cBhvr>
                                      <p:to>
                                        <p:strVal val="visible"/>
                                      </p:to>
                                    </p:set>
                                    <p:anim calcmode="lin" valueType="num">
                                      <p:cBhvr additive="base">
                                        <p:cTn id="154" dur="500" fill="hold"/>
                                        <p:tgtEl>
                                          <p:spTgt spid="43"/>
                                        </p:tgtEl>
                                        <p:attrNameLst>
                                          <p:attrName>ppt_x</p:attrName>
                                        </p:attrNameLst>
                                      </p:cBhvr>
                                      <p:tavLst>
                                        <p:tav tm="0">
                                          <p:val>
                                            <p:strVal val="#ppt_x"/>
                                          </p:val>
                                        </p:tav>
                                        <p:tav tm="100000">
                                          <p:val>
                                            <p:strVal val="#ppt_x"/>
                                          </p:val>
                                        </p:tav>
                                      </p:tavLst>
                                    </p:anim>
                                    <p:anim calcmode="lin" valueType="num">
                                      <p:cBhvr additive="base">
                                        <p:cTn id="155" dur="500" fill="hold"/>
                                        <p:tgtEl>
                                          <p:spTgt spid="43"/>
                                        </p:tgtEl>
                                        <p:attrNameLst>
                                          <p:attrName>ppt_y</p:attrName>
                                        </p:attrNameLst>
                                      </p:cBhvr>
                                      <p:tavLst>
                                        <p:tav tm="0">
                                          <p:val>
                                            <p:strVal val="#ppt_y+0.1"/>
                                          </p:val>
                                        </p:tav>
                                        <p:tav tm="100000">
                                          <p:val>
                                            <p:strVal val="#ppt_y"/>
                                          </p:val>
                                        </p:tav>
                                      </p:tavLst>
                                    </p:anim>
                                    <p:animEffect transition="in" filter="fade">
                                      <p:cBhvr>
                                        <p:cTn id="156"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Keys and Values Have Types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ConsumerRecords&lt;String, String&gt; - the types should match what was produced</a:t>
            </a:r>
          </a:p>
        </p:txBody>
      </p:sp>
      <p:sp>
        <p:nvSpPr>
          <p:cNvPr id="11" name="a1u_nd10"/>
          <p:cNvSpPr/>
          <p:nvPr/>
        </p:nvSpPr>
        <p:spPr>
          <a:xfrm>
            <a:off x="457200" y="1325880"/>
            <a:ext cx="1554480" cy="731520"/>
          </a:xfrm>
          <a:prstGeom prst="roundRect">
            <a:avLst>
              <a:gd name="adj" fmla="val 10000"/>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ndt11"/>
          <p:cNvSpPr txBox="1"/>
          <p:nvPr/>
        </p:nvSpPr>
        <p:spPr>
          <a:xfrm>
            <a:off x="502920" y="1362456"/>
            <a:ext cx="1463039" cy="347472"/>
          </a:xfrm>
          <a:prstGeom prst="rect">
            <a:avLst/>
          </a:prstGeom>
          <a:noFill/>
        </p:spPr>
        <p:txBody>
          <a:bodyPr wrap="square" lIns="0" tIns="0" rIns="0" bIns="0" anchor="b">
            <a:spAutoFit/>
          </a:bodyPr>
          <a:lstStyle/>
          <a:p>
            <a:pPr algn="ctr"/>
            <a:r>
              <a:rPr sz="950" b="1">
                <a:solidFill>
                  <a:srgbClr val="1C1917"/>
                </a:solidFill>
                <a:latin typeface="Segoe UI"/>
              </a:rPr>
              <a:t>Producer</a:t>
            </a:r>
          </a:p>
        </p:txBody>
      </p:sp>
      <p:sp>
        <p:nvSpPr>
          <p:cNvPr id="13" name="a1u_nds12"/>
          <p:cNvSpPr txBox="1"/>
          <p:nvPr/>
        </p:nvSpPr>
        <p:spPr>
          <a:xfrm>
            <a:off x="502920" y="1719072"/>
            <a:ext cx="1463039" cy="301752"/>
          </a:xfrm>
          <a:prstGeom prst="rect">
            <a:avLst/>
          </a:prstGeom>
          <a:noFill/>
        </p:spPr>
        <p:txBody>
          <a:bodyPr wrap="square" lIns="0" tIns="0" rIns="0" bIns="0" anchor="t">
            <a:spAutoFit/>
          </a:bodyPr>
          <a:lstStyle/>
          <a:p>
            <a:pPr algn="ctr"/>
            <a:r>
              <a:rPr sz="800" b="0">
                <a:solidFill>
                  <a:srgbClr val="EA580C"/>
                </a:solidFill>
                <a:latin typeface="Segoe UI"/>
              </a:rPr>
              <a:t>String key, String value</a:t>
            </a:r>
          </a:p>
        </p:txBody>
      </p:sp>
      <p:sp>
        <p:nvSpPr>
          <p:cNvPr id="14" name="a1ud120_nd13"/>
          <p:cNvSpPr/>
          <p:nvPr/>
        </p:nvSpPr>
        <p:spPr>
          <a:xfrm>
            <a:off x="2331720" y="1325880"/>
            <a:ext cx="1508760" cy="731520"/>
          </a:xfrm>
          <a:prstGeom prst="roundRect">
            <a:avLst>
              <a:gd name="adj" fmla="val 10000"/>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ud120_ndt14"/>
          <p:cNvSpPr txBox="1"/>
          <p:nvPr/>
        </p:nvSpPr>
        <p:spPr>
          <a:xfrm>
            <a:off x="2377439" y="1362456"/>
            <a:ext cx="1417319" cy="347472"/>
          </a:xfrm>
          <a:prstGeom prst="rect">
            <a:avLst/>
          </a:prstGeom>
          <a:noFill/>
        </p:spPr>
        <p:txBody>
          <a:bodyPr wrap="square" lIns="0" tIns="0" rIns="0" bIns="0" anchor="b">
            <a:spAutoFit/>
          </a:bodyPr>
          <a:lstStyle/>
          <a:p>
            <a:pPr algn="ctr"/>
            <a:r>
              <a:rPr sz="950" b="1">
                <a:solidFill>
                  <a:srgbClr val="1C1917"/>
                </a:solidFill>
                <a:latin typeface="Segoe UI"/>
              </a:rPr>
              <a:t>StringSerializer</a:t>
            </a:r>
          </a:p>
        </p:txBody>
      </p:sp>
      <p:sp>
        <p:nvSpPr>
          <p:cNvPr id="16" name="a1ud120_nds15"/>
          <p:cNvSpPr txBox="1"/>
          <p:nvPr/>
        </p:nvSpPr>
        <p:spPr>
          <a:xfrm>
            <a:off x="2377439" y="1719072"/>
            <a:ext cx="1417319" cy="301752"/>
          </a:xfrm>
          <a:prstGeom prst="rect">
            <a:avLst/>
          </a:prstGeom>
          <a:noFill/>
        </p:spPr>
        <p:txBody>
          <a:bodyPr wrap="square" lIns="0" tIns="0" rIns="0" bIns="0" anchor="t">
            <a:spAutoFit/>
          </a:bodyPr>
          <a:lstStyle/>
          <a:p>
            <a:pPr algn="ctr"/>
            <a:r>
              <a:rPr sz="800" b="0">
                <a:solidFill>
                  <a:srgbClr val="EA580C"/>
                </a:solidFill>
                <a:latin typeface="Segoe UI"/>
              </a:rPr>
              <a:t>types -&gt; bytes</a:t>
            </a:r>
          </a:p>
        </p:txBody>
      </p:sp>
      <p:cxnSp>
        <p:nvCxnSpPr>
          <p:cNvPr id="17" name="a1ud120_ar16"/>
          <p:cNvCxnSpPr/>
          <p:nvPr/>
        </p:nvCxnSpPr>
        <p:spPr>
          <a:xfrm>
            <a:off x="2029967" y="1691640"/>
            <a:ext cx="274321" cy="0"/>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a1ud240_nd17"/>
          <p:cNvSpPr/>
          <p:nvPr/>
        </p:nvSpPr>
        <p:spPr>
          <a:xfrm>
            <a:off x="4160520" y="1325880"/>
            <a:ext cx="1005840" cy="731520"/>
          </a:xfrm>
          <a:prstGeom prst="roundRect">
            <a:avLst>
              <a:gd name="adj" fmla="val 10000"/>
            </a:avLst>
          </a:prstGeom>
          <a:solidFill>
            <a:srgbClr val="F7F6F3"/>
          </a:solidFill>
          <a:ln w="15875">
            <a:solidFill>
              <a:srgbClr val="78716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ud240_ndt18"/>
          <p:cNvSpPr txBox="1"/>
          <p:nvPr/>
        </p:nvSpPr>
        <p:spPr>
          <a:xfrm>
            <a:off x="4206240" y="1362456"/>
            <a:ext cx="914400" cy="347472"/>
          </a:xfrm>
          <a:prstGeom prst="rect">
            <a:avLst/>
          </a:prstGeom>
          <a:noFill/>
        </p:spPr>
        <p:txBody>
          <a:bodyPr wrap="square" lIns="0" tIns="0" rIns="0" bIns="0" anchor="b">
            <a:spAutoFit/>
          </a:bodyPr>
          <a:lstStyle/>
          <a:p>
            <a:pPr algn="ctr"/>
            <a:r>
              <a:rPr sz="950" b="1">
                <a:solidFill>
                  <a:srgbClr val="1C1917"/>
                </a:solidFill>
                <a:latin typeface="Segoe UI"/>
              </a:rPr>
              <a:t>bytes</a:t>
            </a:r>
          </a:p>
        </p:txBody>
      </p:sp>
      <p:sp>
        <p:nvSpPr>
          <p:cNvPr id="20" name="a1ud240_nds19"/>
          <p:cNvSpPr txBox="1"/>
          <p:nvPr/>
        </p:nvSpPr>
        <p:spPr>
          <a:xfrm>
            <a:off x="4206240" y="1719072"/>
            <a:ext cx="914400" cy="301752"/>
          </a:xfrm>
          <a:prstGeom prst="rect">
            <a:avLst/>
          </a:prstGeom>
          <a:noFill/>
        </p:spPr>
        <p:txBody>
          <a:bodyPr wrap="square" lIns="0" tIns="0" rIns="0" bIns="0" anchor="t">
            <a:spAutoFit/>
          </a:bodyPr>
          <a:lstStyle/>
          <a:p>
            <a:pPr algn="ctr"/>
            <a:r>
              <a:rPr sz="800" b="0">
                <a:solidFill>
                  <a:srgbClr val="78716C"/>
                </a:solidFill>
                <a:latin typeface="Segoe UI"/>
              </a:rPr>
              <a:t>in the topic</a:t>
            </a:r>
          </a:p>
        </p:txBody>
      </p:sp>
      <p:cxnSp>
        <p:nvCxnSpPr>
          <p:cNvPr id="21" name="a1ud240_ar20"/>
          <p:cNvCxnSpPr/>
          <p:nvPr/>
        </p:nvCxnSpPr>
        <p:spPr>
          <a:xfrm>
            <a:off x="3858768" y="1691640"/>
            <a:ext cx="274319" cy="0"/>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a1ud360_nd21"/>
          <p:cNvSpPr/>
          <p:nvPr/>
        </p:nvSpPr>
        <p:spPr>
          <a:xfrm>
            <a:off x="5486400" y="1325880"/>
            <a:ext cx="1600200" cy="731520"/>
          </a:xfrm>
          <a:prstGeom prst="roundRect">
            <a:avLst>
              <a:gd name="adj" fmla="val 10000"/>
            </a:avLst>
          </a:prstGeom>
          <a:solidFill>
            <a:srgbClr val="F7F6F3"/>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ud360_ndt22"/>
          <p:cNvSpPr txBox="1"/>
          <p:nvPr/>
        </p:nvSpPr>
        <p:spPr>
          <a:xfrm>
            <a:off x="5532120" y="1362456"/>
            <a:ext cx="1508760" cy="347472"/>
          </a:xfrm>
          <a:prstGeom prst="rect">
            <a:avLst/>
          </a:prstGeom>
          <a:noFill/>
        </p:spPr>
        <p:txBody>
          <a:bodyPr wrap="square" lIns="0" tIns="0" rIns="0" bIns="0" anchor="b">
            <a:spAutoFit/>
          </a:bodyPr>
          <a:lstStyle/>
          <a:p>
            <a:pPr algn="ctr"/>
            <a:r>
              <a:rPr sz="950" b="1">
                <a:solidFill>
                  <a:srgbClr val="1C1917"/>
                </a:solidFill>
                <a:latin typeface="Segoe UI"/>
              </a:rPr>
              <a:t>StringDeserializer</a:t>
            </a:r>
          </a:p>
        </p:txBody>
      </p:sp>
      <p:sp>
        <p:nvSpPr>
          <p:cNvPr id="24" name="a1ud360_nds23"/>
          <p:cNvSpPr txBox="1"/>
          <p:nvPr/>
        </p:nvSpPr>
        <p:spPr>
          <a:xfrm>
            <a:off x="5532120" y="1719072"/>
            <a:ext cx="1508760" cy="301752"/>
          </a:xfrm>
          <a:prstGeom prst="rect">
            <a:avLst/>
          </a:prstGeom>
          <a:noFill/>
        </p:spPr>
        <p:txBody>
          <a:bodyPr wrap="square" lIns="0" tIns="0" rIns="0" bIns="0" anchor="t">
            <a:spAutoFit/>
          </a:bodyPr>
          <a:lstStyle/>
          <a:p>
            <a:pPr algn="ctr"/>
            <a:r>
              <a:rPr sz="800" b="0">
                <a:solidFill>
                  <a:srgbClr val="4F46E5"/>
                </a:solidFill>
                <a:latin typeface="Segoe UI"/>
              </a:rPr>
              <a:t>bytes -&gt; types</a:t>
            </a:r>
          </a:p>
        </p:txBody>
      </p:sp>
      <p:cxnSp>
        <p:nvCxnSpPr>
          <p:cNvPr id="25" name="a1ud360_ar24"/>
          <p:cNvCxnSpPr/>
          <p:nvPr/>
        </p:nvCxnSpPr>
        <p:spPr>
          <a:xfrm>
            <a:off x="5184648" y="1691640"/>
            <a:ext cx="274320" cy="0"/>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a1ud480_nd25"/>
          <p:cNvSpPr/>
          <p:nvPr/>
        </p:nvSpPr>
        <p:spPr>
          <a:xfrm>
            <a:off x="7406640" y="1325880"/>
            <a:ext cx="1280160" cy="731520"/>
          </a:xfrm>
          <a:prstGeom prst="roundRect">
            <a:avLst>
              <a:gd name="adj" fmla="val 10000"/>
            </a:avLst>
          </a:prstGeom>
          <a:solidFill>
            <a:srgbClr val="F7F6F3"/>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1ud480_ndt26"/>
          <p:cNvSpPr txBox="1"/>
          <p:nvPr/>
        </p:nvSpPr>
        <p:spPr>
          <a:xfrm>
            <a:off x="7452360" y="1362456"/>
            <a:ext cx="1188719" cy="347472"/>
          </a:xfrm>
          <a:prstGeom prst="rect">
            <a:avLst/>
          </a:prstGeom>
          <a:noFill/>
        </p:spPr>
        <p:txBody>
          <a:bodyPr wrap="square" lIns="0" tIns="0" rIns="0" bIns="0" anchor="b">
            <a:spAutoFit/>
          </a:bodyPr>
          <a:lstStyle/>
          <a:p>
            <a:pPr algn="ctr"/>
            <a:r>
              <a:rPr sz="950" b="1">
                <a:solidFill>
                  <a:srgbClr val="1C1917"/>
                </a:solidFill>
                <a:latin typeface="Segoe UI"/>
              </a:rPr>
              <a:t>Consumer</a:t>
            </a:r>
          </a:p>
        </p:txBody>
      </p:sp>
      <p:sp>
        <p:nvSpPr>
          <p:cNvPr id="28" name="a1ud480_nds27"/>
          <p:cNvSpPr txBox="1"/>
          <p:nvPr/>
        </p:nvSpPr>
        <p:spPr>
          <a:xfrm>
            <a:off x="7452360" y="1719072"/>
            <a:ext cx="1188719" cy="301752"/>
          </a:xfrm>
          <a:prstGeom prst="rect">
            <a:avLst/>
          </a:prstGeom>
          <a:noFill/>
        </p:spPr>
        <p:txBody>
          <a:bodyPr wrap="square" lIns="0" tIns="0" rIns="0" bIns="0" anchor="t">
            <a:spAutoFit/>
          </a:bodyPr>
          <a:lstStyle/>
          <a:p>
            <a:pPr algn="ctr"/>
            <a:r>
              <a:rPr sz="800" b="0">
                <a:solidFill>
                  <a:srgbClr val="4F46E5"/>
                </a:solidFill>
                <a:latin typeface="Segoe UI"/>
              </a:rPr>
              <a:t>String, String</a:t>
            </a:r>
          </a:p>
        </p:txBody>
      </p:sp>
      <p:cxnSp>
        <p:nvCxnSpPr>
          <p:cNvPr id="29" name="a1ud480_ar28"/>
          <p:cNvCxnSpPr/>
          <p:nvPr/>
        </p:nvCxnSpPr>
        <p:spPr>
          <a:xfrm>
            <a:off x="7104888" y="1691640"/>
            <a:ext cx="274320" cy="0"/>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a2u_card29"/>
          <p:cNvSpPr/>
          <p:nvPr/>
        </p:nvSpPr>
        <p:spPr>
          <a:xfrm>
            <a:off x="457200" y="2331720"/>
            <a:ext cx="4023360" cy="1143000"/>
          </a:xfrm>
          <a:prstGeom prst="roundRect">
            <a:avLst>
              <a:gd name="adj" fmla="val 96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2u_acc30"/>
          <p:cNvSpPr/>
          <p:nvPr/>
        </p:nvSpPr>
        <p:spPr>
          <a:xfrm>
            <a:off x="457200" y="2331720"/>
            <a:ext cx="50292" cy="114300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2u_hh31"/>
          <p:cNvSpPr txBox="1"/>
          <p:nvPr/>
        </p:nvSpPr>
        <p:spPr>
          <a:xfrm>
            <a:off x="658368" y="2441448"/>
            <a:ext cx="3657600" cy="237744"/>
          </a:xfrm>
          <a:prstGeom prst="rect">
            <a:avLst/>
          </a:prstGeom>
          <a:noFill/>
        </p:spPr>
        <p:txBody>
          <a:bodyPr wrap="square" lIns="0" tIns="0" rIns="0" bIns="0" anchor="ctr">
            <a:spAutoFit/>
          </a:bodyPr>
          <a:lstStyle/>
          <a:p>
            <a:pPr algn="l"/>
            <a:r>
              <a:rPr sz="900" b="1">
                <a:solidFill>
                  <a:srgbClr val="0E7490"/>
                </a:solidFill>
                <a:latin typeface="Segoe UI"/>
              </a:rPr>
              <a:t>KEYS</a:t>
            </a:r>
          </a:p>
        </p:txBody>
      </p:sp>
      <p:sp>
        <p:nvSpPr>
          <p:cNvPr id="33" name="a2ud80_c132"/>
          <p:cNvSpPr txBox="1"/>
          <p:nvPr/>
        </p:nvSpPr>
        <p:spPr>
          <a:xfrm>
            <a:off x="658368" y="2651760"/>
            <a:ext cx="3657600" cy="914400"/>
          </a:xfrm>
          <a:prstGeom prst="rect">
            <a:avLst/>
          </a:prstGeom>
          <a:noFill/>
        </p:spPr>
        <p:txBody>
          <a:bodyPr wrap="square" lIns="0" tIns="0" rIns="0" bIns="0" anchor="t">
            <a:spAutoFit/>
          </a:bodyPr>
          <a:lstStyle/>
          <a:p>
            <a:pPr algn="l"/>
            <a:r>
              <a:rPr sz="950" b="0">
                <a:solidFill>
                  <a:srgbClr val="44403C"/>
                </a:solidFill>
                <a:latin typeface="Segoe UI"/>
              </a:rPr>
              <a:t>Often a primitive type - a String, an int or a long. Here, the sensor id.</a:t>
            </a:r>
          </a:p>
        </p:txBody>
      </p:sp>
      <p:sp>
        <p:nvSpPr>
          <p:cNvPr id="34" name="a3u_card33"/>
          <p:cNvSpPr/>
          <p:nvPr/>
        </p:nvSpPr>
        <p:spPr>
          <a:xfrm>
            <a:off x="4663440" y="2331720"/>
            <a:ext cx="4023360" cy="1143000"/>
          </a:xfrm>
          <a:prstGeom prst="roundRect">
            <a:avLst>
              <a:gd name="adj" fmla="val 96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3u_acc34"/>
          <p:cNvSpPr/>
          <p:nvPr/>
        </p:nvSpPr>
        <p:spPr>
          <a:xfrm>
            <a:off x="4663440" y="2331720"/>
            <a:ext cx="50292" cy="114300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3u_hh35"/>
          <p:cNvSpPr txBox="1"/>
          <p:nvPr/>
        </p:nvSpPr>
        <p:spPr>
          <a:xfrm>
            <a:off x="4864607" y="2441448"/>
            <a:ext cx="3657600" cy="237744"/>
          </a:xfrm>
          <a:prstGeom prst="rect">
            <a:avLst/>
          </a:prstGeom>
          <a:noFill/>
        </p:spPr>
        <p:txBody>
          <a:bodyPr wrap="square" lIns="0" tIns="0" rIns="0" bIns="0" anchor="ctr">
            <a:spAutoFit/>
          </a:bodyPr>
          <a:lstStyle/>
          <a:p>
            <a:pPr algn="l"/>
            <a:r>
              <a:rPr sz="900" b="1">
                <a:solidFill>
                  <a:srgbClr val="A16207"/>
                </a:solidFill>
                <a:latin typeface="Segoe UI"/>
              </a:rPr>
              <a:t>VALUES</a:t>
            </a:r>
          </a:p>
        </p:txBody>
      </p:sp>
      <p:sp>
        <p:nvSpPr>
          <p:cNvPr id="37" name="a3ud80_c236"/>
          <p:cNvSpPr txBox="1"/>
          <p:nvPr/>
        </p:nvSpPr>
        <p:spPr>
          <a:xfrm>
            <a:off x="4864608" y="2651760"/>
            <a:ext cx="3657600" cy="914400"/>
          </a:xfrm>
          <a:prstGeom prst="rect">
            <a:avLst/>
          </a:prstGeom>
          <a:noFill/>
        </p:spPr>
        <p:txBody>
          <a:bodyPr wrap="square" lIns="0" tIns="0" rIns="0" bIns="0" anchor="t">
            <a:spAutoFit/>
          </a:bodyPr>
          <a:lstStyle/>
          <a:p>
            <a:pPr algn="l"/>
            <a:r>
              <a:rPr sz="950" b="0">
                <a:solidFill>
                  <a:srgbClr val="44403C"/>
                </a:solidFill>
                <a:latin typeface="Segoe UI"/>
              </a:rPr>
              <a:t>Usually a domain object in your language's type system - it has a schema, and the schema matters. Schema Registry is the next module.</a:t>
            </a:r>
          </a:p>
        </p:txBody>
      </p:sp>
      <p:sp>
        <p:nvSpPr>
          <p:cNvPr id="38" name="a4u_nb37"/>
          <p:cNvSpPr/>
          <p:nvPr/>
        </p:nvSpPr>
        <p:spPr>
          <a:xfrm>
            <a:off x="457200" y="3886200"/>
            <a:ext cx="8229600" cy="566928"/>
          </a:xfrm>
          <a:prstGeom prst="roundRect">
            <a:avLst>
              <a:gd name="adj" fmla="val 12903"/>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4u_nacc38"/>
          <p:cNvSpPr/>
          <p:nvPr/>
        </p:nvSpPr>
        <p:spPr>
          <a:xfrm>
            <a:off x="457200" y="3886200"/>
            <a:ext cx="54864" cy="566928"/>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4u_nt39"/>
          <p:cNvSpPr txBox="1"/>
          <p:nvPr/>
        </p:nvSpPr>
        <p:spPr>
          <a:xfrm>
            <a:off x="658368" y="3886200"/>
            <a:ext cx="7827264" cy="566928"/>
          </a:xfrm>
          <a:prstGeom prst="rect">
            <a:avLst/>
          </a:prstGeom>
          <a:noFill/>
        </p:spPr>
        <p:txBody>
          <a:bodyPr wrap="square" lIns="0" tIns="0" rIns="0" bIns="0" anchor="ctr">
            <a:spAutoFit/>
          </a:bodyPr>
          <a:lstStyle/>
          <a:p>
            <a:pPr algn="l"/>
            <a:r>
              <a:rPr sz="950" b="1">
                <a:solidFill>
                  <a:srgbClr val="A16207"/>
                </a:solidFill>
                <a:latin typeface="Segoe UI"/>
              </a:rPr>
              <a:t>!  </a:t>
            </a:r>
            <a:r>
              <a:rPr sz="950" b="0">
                <a:solidFill>
                  <a:srgbClr val="44403C"/>
                </a:solidFill>
                <a:latin typeface="Segoe UI"/>
              </a:rPr>
              <a:t>Mismatched types do not fail when the message is written - they fail, or turn to nonsense, when it is read.</a:t>
            </a:r>
          </a:p>
        </p:txBody>
      </p:sp>
      <p:sp>
        <p:nvSpPr>
          <p:cNvPr id="41" name="ft40"/>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07</a:t>
            </a:r>
          </a:p>
        </p:txBody>
      </p:sp>
      <p:sp>
        <p:nvSpPr>
          <p:cNvPr id="42" name="ft41"/>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ft42"/>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Consumers</a:t>
            </a:r>
          </a:p>
        </p:txBody>
      </p:sp>
      <p:sp>
        <p:nvSpPr>
          <p:cNvPr id="44" name="ft43"/>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7</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12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12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12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12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24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24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par>
                                <p:cTn id="54" presetID="2" presetClass="entr" presetSubtype="4" fill="hold" grpId="0" nodeType="withEffect">
                                  <p:stCondLst>
                                    <p:cond delay="24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1"/>
                                          </p:val>
                                        </p:tav>
                                        <p:tav tm="100000">
                                          <p:val>
                                            <p:strVal val="#ppt_y"/>
                                          </p:val>
                                        </p:tav>
                                      </p:tavLst>
                                    </p:anim>
                                    <p:animEffect transition="in" filter="fade">
                                      <p:cBhvr>
                                        <p:cTn id="53" dur="500"/>
                                        <p:tgtEl>
                                          <p:spTgt spid="20"/>
                                        </p:tgtEl>
                                      </p:cBhvr>
                                    </p:animEffect>
                                  </p:childTnLst>
                                </p:cTn>
                              </p:par>
                              <p:par>
                                <p:cTn id="59" presetID="2" presetClass="entr" presetSubtype="4" fill="hold" grpId="0" nodeType="withEffect">
                                  <p:stCondLst>
                                    <p:cond delay="24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ppt_x"/>
                                          </p:val>
                                        </p:tav>
                                        <p:tav tm="100000">
                                          <p:val>
                                            <p:strVal val="#ppt_x"/>
                                          </p:val>
                                        </p:tav>
                                      </p:tavLst>
                                    </p:anim>
                                    <p:anim calcmode="lin" valueType="num">
                                      <p:cBhvr additive="base">
                                        <p:cTn id="57" dur="500" fill="hold"/>
                                        <p:tgtEl>
                                          <p:spTgt spid="21"/>
                                        </p:tgtEl>
                                        <p:attrNameLst>
                                          <p:attrName>ppt_y</p:attrName>
                                        </p:attrNameLst>
                                      </p:cBhvr>
                                      <p:tavLst>
                                        <p:tav tm="0">
                                          <p:val>
                                            <p:strVal val="#ppt_y+0.1"/>
                                          </p:val>
                                        </p:tav>
                                        <p:tav tm="100000">
                                          <p:val>
                                            <p:strVal val="#ppt_y"/>
                                          </p:val>
                                        </p:tav>
                                      </p:tavLst>
                                    </p:anim>
                                    <p:animEffect transition="in" filter="fade">
                                      <p:cBhvr>
                                        <p:cTn id="58" dur="500"/>
                                        <p:tgtEl>
                                          <p:spTgt spid="21"/>
                                        </p:tgtEl>
                                      </p:cBhvr>
                                    </p:animEffect>
                                  </p:childTnLst>
                                </p:cTn>
                              </p:par>
                              <p:par>
                                <p:cTn id="64" presetID="2" presetClass="entr" presetSubtype="4" fill="hold" grpId="0" nodeType="withEffect">
                                  <p:stCondLst>
                                    <p:cond delay="36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ppt_x"/>
                                          </p:val>
                                        </p:tav>
                                        <p:tav tm="100000">
                                          <p:val>
                                            <p:strVal val="#ppt_x"/>
                                          </p:val>
                                        </p:tav>
                                      </p:tavLst>
                                    </p:anim>
                                    <p:anim calcmode="lin" valueType="num">
                                      <p:cBhvr additive="base">
                                        <p:cTn id="62" dur="500" fill="hold"/>
                                        <p:tgtEl>
                                          <p:spTgt spid="22"/>
                                        </p:tgtEl>
                                        <p:attrNameLst>
                                          <p:attrName>ppt_y</p:attrName>
                                        </p:attrNameLst>
                                      </p:cBhvr>
                                      <p:tavLst>
                                        <p:tav tm="0">
                                          <p:val>
                                            <p:strVal val="#ppt_y+0.1"/>
                                          </p:val>
                                        </p:tav>
                                        <p:tav tm="100000">
                                          <p:val>
                                            <p:strVal val="#ppt_y"/>
                                          </p:val>
                                        </p:tav>
                                      </p:tavLst>
                                    </p:anim>
                                    <p:animEffect transition="in" filter="fade">
                                      <p:cBhvr>
                                        <p:cTn id="63" dur="500"/>
                                        <p:tgtEl>
                                          <p:spTgt spid="22"/>
                                        </p:tgtEl>
                                      </p:cBhvr>
                                    </p:animEffect>
                                  </p:childTnLst>
                                </p:cTn>
                              </p:par>
                              <p:par>
                                <p:cTn id="69" presetID="2" presetClass="entr" presetSubtype="4" fill="hold" grpId="0" nodeType="withEffect">
                                  <p:stCondLst>
                                    <p:cond delay="360"/>
                                  </p:stCondLst>
                                  <p:childTnLst>
                                    <p:set>
                                      <p:cBhvr>
                                        <p:cTn id="65" dur="1" fill="hold">
                                          <p:stCondLst>
                                            <p:cond delay="0"/>
                                          </p:stCondLst>
                                        </p:cTn>
                                        <p:tgtEl>
                                          <p:spTgt spid="23"/>
                                        </p:tgtEl>
                                        <p:attrNameLst>
                                          <p:attrName>style.visibility</p:attrName>
                                        </p:attrNameLst>
                                      </p:cBhvr>
                                      <p:to>
                                        <p:strVal val="visible"/>
                                      </p:to>
                                    </p:set>
                                    <p:anim calcmode="lin" valueType="num">
                                      <p:cBhvr additive="base">
                                        <p:cTn id="66" dur="500" fill="hold"/>
                                        <p:tgtEl>
                                          <p:spTgt spid="23"/>
                                        </p:tgtEl>
                                        <p:attrNameLst>
                                          <p:attrName>ppt_x</p:attrName>
                                        </p:attrNameLst>
                                      </p:cBhvr>
                                      <p:tavLst>
                                        <p:tav tm="0">
                                          <p:val>
                                            <p:strVal val="#ppt_x"/>
                                          </p:val>
                                        </p:tav>
                                        <p:tav tm="100000">
                                          <p:val>
                                            <p:strVal val="#ppt_x"/>
                                          </p:val>
                                        </p:tav>
                                      </p:tavLst>
                                    </p:anim>
                                    <p:anim calcmode="lin" valueType="num">
                                      <p:cBhvr additive="base">
                                        <p:cTn id="67" dur="500" fill="hold"/>
                                        <p:tgtEl>
                                          <p:spTgt spid="23"/>
                                        </p:tgtEl>
                                        <p:attrNameLst>
                                          <p:attrName>ppt_y</p:attrName>
                                        </p:attrNameLst>
                                      </p:cBhvr>
                                      <p:tavLst>
                                        <p:tav tm="0">
                                          <p:val>
                                            <p:strVal val="#ppt_y+0.1"/>
                                          </p:val>
                                        </p:tav>
                                        <p:tav tm="100000">
                                          <p:val>
                                            <p:strVal val="#ppt_y"/>
                                          </p:val>
                                        </p:tav>
                                      </p:tavLst>
                                    </p:anim>
                                    <p:animEffect transition="in" filter="fade">
                                      <p:cBhvr>
                                        <p:cTn id="68" dur="500"/>
                                        <p:tgtEl>
                                          <p:spTgt spid="23"/>
                                        </p:tgtEl>
                                      </p:cBhvr>
                                    </p:animEffect>
                                  </p:childTnLst>
                                </p:cTn>
                              </p:par>
                              <p:par>
                                <p:cTn id="74" presetID="2" presetClass="entr" presetSubtype="4" fill="hold" grpId="0" nodeType="withEffect">
                                  <p:stCondLst>
                                    <p:cond delay="360"/>
                                  </p:stCondLst>
                                  <p:childTnLst>
                                    <p:set>
                                      <p:cBhvr>
                                        <p:cTn id="70" dur="1" fill="hold">
                                          <p:stCondLst>
                                            <p:cond delay="0"/>
                                          </p:stCondLst>
                                        </p:cTn>
                                        <p:tgtEl>
                                          <p:spTgt spid="24"/>
                                        </p:tgtEl>
                                        <p:attrNameLst>
                                          <p:attrName>style.visibility</p:attrName>
                                        </p:attrNameLst>
                                      </p:cBhvr>
                                      <p:to>
                                        <p:strVal val="visible"/>
                                      </p:to>
                                    </p:set>
                                    <p:anim calcmode="lin" valueType="num">
                                      <p:cBhvr additive="base">
                                        <p:cTn id="71" dur="500" fill="hold"/>
                                        <p:tgtEl>
                                          <p:spTgt spid="24"/>
                                        </p:tgtEl>
                                        <p:attrNameLst>
                                          <p:attrName>ppt_x</p:attrName>
                                        </p:attrNameLst>
                                      </p:cBhvr>
                                      <p:tavLst>
                                        <p:tav tm="0">
                                          <p:val>
                                            <p:strVal val="#ppt_x"/>
                                          </p:val>
                                        </p:tav>
                                        <p:tav tm="100000">
                                          <p:val>
                                            <p:strVal val="#ppt_x"/>
                                          </p:val>
                                        </p:tav>
                                      </p:tavLst>
                                    </p:anim>
                                    <p:anim calcmode="lin" valueType="num">
                                      <p:cBhvr additive="base">
                                        <p:cTn id="72" dur="500" fill="hold"/>
                                        <p:tgtEl>
                                          <p:spTgt spid="24"/>
                                        </p:tgtEl>
                                        <p:attrNameLst>
                                          <p:attrName>ppt_y</p:attrName>
                                        </p:attrNameLst>
                                      </p:cBhvr>
                                      <p:tavLst>
                                        <p:tav tm="0">
                                          <p:val>
                                            <p:strVal val="#ppt_y+0.1"/>
                                          </p:val>
                                        </p:tav>
                                        <p:tav tm="100000">
                                          <p:val>
                                            <p:strVal val="#ppt_y"/>
                                          </p:val>
                                        </p:tav>
                                      </p:tavLst>
                                    </p:anim>
                                    <p:animEffect transition="in" filter="fade">
                                      <p:cBhvr>
                                        <p:cTn id="73" dur="500"/>
                                        <p:tgtEl>
                                          <p:spTgt spid="24"/>
                                        </p:tgtEl>
                                      </p:cBhvr>
                                    </p:animEffect>
                                  </p:childTnLst>
                                </p:cTn>
                              </p:par>
                              <p:par>
                                <p:cTn id="79" presetID="2" presetClass="entr" presetSubtype="4" fill="hold" grpId="0" nodeType="withEffect">
                                  <p:stCondLst>
                                    <p:cond delay="360"/>
                                  </p:stCondLst>
                                  <p:childTnLst>
                                    <p:set>
                                      <p:cBhvr>
                                        <p:cTn id="75" dur="1" fill="hold">
                                          <p:stCondLst>
                                            <p:cond delay="0"/>
                                          </p:stCondLst>
                                        </p:cTn>
                                        <p:tgtEl>
                                          <p:spTgt spid="25"/>
                                        </p:tgtEl>
                                        <p:attrNameLst>
                                          <p:attrName>style.visibility</p:attrName>
                                        </p:attrNameLst>
                                      </p:cBhvr>
                                      <p:to>
                                        <p:strVal val="visible"/>
                                      </p:to>
                                    </p:set>
                                    <p:anim calcmode="lin" valueType="num">
                                      <p:cBhvr additive="base">
                                        <p:cTn id="76" dur="500" fill="hold"/>
                                        <p:tgtEl>
                                          <p:spTgt spid="25"/>
                                        </p:tgtEl>
                                        <p:attrNameLst>
                                          <p:attrName>ppt_x</p:attrName>
                                        </p:attrNameLst>
                                      </p:cBhvr>
                                      <p:tavLst>
                                        <p:tav tm="0">
                                          <p:val>
                                            <p:strVal val="#ppt_x"/>
                                          </p:val>
                                        </p:tav>
                                        <p:tav tm="100000">
                                          <p:val>
                                            <p:strVal val="#ppt_x"/>
                                          </p:val>
                                        </p:tav>
                                      </p:tavLst>
                                    </p:anim>
                                    <p:anim calcmode="lin" valueType="num">
                                      <p:cBhvr additive="base">
                                        <p:cTn id="77" dur="500" fill="hold"/>
                                        <p:tgtEl>
                                          <p:spTgt spid="25"/>
                                        </p:tgtEl>
                                        <p:attrNameLst>
                                          <p:attrName>ppt_y</p:attrName>
                                        </p:attrNameLst>
                                      </p:cBhvr>
                                      <p:tavLst>
                                        <p:tav tm="0">
                                          <p:val>
                                            <p:strVal val="#ppt_y+0.1"/>
                                          </p:val>
                                        </p:tav>
                                        <p:tav tm="100000">
                                          <p:val>
                                            <p:strVal val="#ppt_y"/>
                                          </p:val>
                                        </p:tav>
                                      </p:tavLst>
                                    </p:anim>
                                    <p:animEffect transition="in" filter="fade">
                                      <p:cBhvr>
                                        <p:cTn id="78" dur="500"/>
                                        <p:tgtEl>
                                          <p:spTgt spid="25"/>
                                        </p:tgtEl>
                                      </p:cBhvr>
                                    </p:animEffect>
                                  </p:childTnLst>
                                </p:cTn>
                              </p:par>
                              <p:par>
                                <p:cTn id="84" presetID="2" presetClass="entr" presetSubtype="4" fill="hold" grpId="0" nodeType="withEffect">
                                  <p:stCondLst>
                                    <p:cond delay="480"/>
                                  </p:stCondLst>
                                  <p:childTnLst>
                                    <p:set>
                                      <p:cBhvr>
                                        <p:cTn id="80" dur="1" fill="hold">
                                          <p:stCondLst>
                                            <p:cond delay="0"/>
                                          </p:stCondLst>
                                        </p:cTn>
                                        <p:tgtEl>
                                          <p:spTgt spid="26"/>
                                        </p:tgtEl>
                                        <p:attrNameLst>
                                          <p:attrName>style.visibility</p:attrName>
                                        </p:attrNameLst>
                                      </p:cBhvr>
                                      <p:to>
                                        <p:strVal val="visible"/>
                                      </p:to>
                                    </p:set>
                                    <p:anim calcmode="lin" valueType="num">
                                      <p:cBhvr additive="base">
                                        <p:cTn id="81" dur="500" fill="hold"/>
                                        <p:tgtEl>
                                          <p:spTgt spid="26"/>
                                        </p:tgtEl>
                                        <p:attrNameLst>
                                          <p:attrName>ppt_x</p:attrName>
                                        </p:attrNameLst>
                                      </p:cBhvr>
                                      <p:tavLst>
                                        <p:tav tm="0">
                                          <p:val>
                                            <p:strVal val="#ppt_x"/>
                                          </p:val>
                                        </p:tav>
                                        <p:tav tm="100000">
                                          <p:val>
                                            <p:strVal val="#ppt_x"/>
                                          </p:val>
                                        </p:tav>
                                      </p:tavLst>
                                    </p:anim>
                                    <p:anim calcmode="lin" valueType="num">
                                      <p:cBhvr additive="base">
                                        <p:cTn id="82" dur="500" fill="hold"/>
                                        <p:tgtEl>
                                          <p:spTgt spid="26"/>
                                        </p:tgtEl>
                                        <p:attrNameLst>
                                          <p:attrName>ppt_y</p:attrName>
                                        </p:attrNameLst>
                                      </p:cBhvr>
                                      <p:tavLst>
                                        <p:tav tm="0">
                                          <p:val>
                                            <p:strVal val="#ppt_y+0.1"/>
                                          </p:val>
                                        </p:tav>
                                        <p:tav tm="100000">
                                          <p:val>
                                            <p:strVal val="#ppt_y"/>
                                          </p:val>
                                        </p:tav>
                                      </p:tavLst>
                                    </p:anim>
                                    <p:animEffect transition="in" filter="fade">
                                      <p:cBhvr>
                                        <p:cTn id="83" dur="500"/>
                                        <p:tgtEl>
                                          <p:spTgt spid="26"/>
                                        </p:tgtEl>
                                      </p:cBhvr>
                                    </p:animEffect>
                                  </p:childTnLst>
                                </p:cTn>
                              </p:par>
                              <p:par>
                                <p:cTn id="89" presetID="2" presetClass="entr" presetSubtype="4" fill="hold" grpId="0" nodeType="withEffect">
                                  <p:stCondLst>
                                    <p:cond delay="480"/>
                                  </p:stCondLst>
                                  <p:childTnLst>
                                    <p:set>
                                      <p:cBhvr>
                                        <p:cTn id="85" dur="1" fill="hold">
                                          <p:stCondLst>
                                            <p:cond delay="0"/>
                                          </p:stCondLst>
                                        </p:cTn>
                                        <p:tgtEl>
                                          <p:spTgt spid="27"/>
                                        </p:tgtEl>
                                        <p:attrNameLst>
                                          <p:attrName>style.visibility</p:attrName>
                                        </p:attrNameLst>
                                      </p:cBhvr>
                                      <p:to>
                                        <p:strVal val="visible"/>
                                      </p:to>
                                    </p:set>
                                    <p:anim calcmode="lin" valueType="num">
                                      <p:cBhvr additive="base">
                                        <p:cTn id="86" dur="500" fill="hold"/>
                                        <p:tgtEl>
                                          <p:spTgt spid="27"/>
                                        </p:tgtEl>
                                        <p:attrNameLst>
                                          <p:attrName>ppt_x</p:attrName>
                                        </p:attrNameLst>
                                      </p:cBhvr>
                                      <p:tavLst>
                                        <p:tav tm="0">
                                          <p:val>
                                            <p:strVal val="#ppt_x"/>
                                          </p:val>
                                        </p:tav>
                                        <p:tav tm="100000">
                                          <p:val>
                                            <p:strVal val="#ppt_x"/>
                                          </p:val>
                                        </p:tav>
                                      </p:tavLst>
                                    </p:anim>
                                    <p:anim calcmode="lin" valueType="num">
                                      <p:cBhvr additive="base">
                                        <p:cTn id="87" dur="500" fill="hold"/>
                                        <p:tgtEl>
                                          <p:spTgt spid="27"/>
                                        </p:tgtEl>
                                        <p:attrNameLst>
                                          <p:attrName>ppt_y</p:attrName>
                                        </p:attrNameLst>
                                      </p:cBhvr>
                                      <p:tavLst>
                                        <p:tav tm="0">
                                          <p:val>
                                            <p:strVal val="#ppt_y+0.1"/>
                                          </p:val>
                                        </p:tav>
                                        <p:tav tm="100000">
                                          <p:val>
                                            <p:strVal val="#ppt_y"/>
                                          </p:val>
                                        </p:tav>
                                      </p:tavLst>
                                    </p:anim>
                                    <p:animEffect transition="in" filter="fade">
                                      <p:cBhvr>
                                        <p:cTn id="88" dur="500"/>
                                        <p:tgtEl>
                                          <p:spTgt spid="27"/>
                                        </p:tgtEl>
                                      </p:cBhvr>
                                    </p:animEffect>
                                  </p:childTnLst>
                                </p:cTn>
                              </p:par>
                              <p:par>
                                <p:cTn id="94" presetID="2" presetClass="entr" presetSubtype="4" fill="hold" grpId="0" nodeType="withEffect">
                                  <p:stCondLst>
                                    <p:cond delay="48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ppt_x</p:attrName>
                                        </p:attrNameLst>
                                      </p:cBhvr>
                                      <p:tavLst>
                                        <p:tav tm="0">
                                          <p:val>
                                            <p:strVal val="#ppt_x"/>
                                          </p:val>
                                        </p:tav>
                                        <p:tav tm="100000">
                                          <p:val>
                                            <p:strVal val="#ppt_x"/>
                                          </p:val>
                                        </p:tav>
                                      </p:tavLst>
                                    </p:anim>
                                    <p:anim calcmode="lin" valueType="num">
                                      <p:cBhvr additive="base">
                                        <p:cTn id="92" dur="500" fill="hold"/>
                                        <p:tgtEl>
                                          <p:spTgt spid="28"/>
                                        </p:tgtEl>
                                        <p:attrNameLst>
                                          <p:attrName>ppt_y</p:attrName>
                                        </p:attrNameLst>
                                      </p:cBhvr>
                                      <p:tavLst>
                                        <p:tav tm="0">
                                          <p:val>
                                            <p:strVal val="#ppt_y+0.1"/>
                                          </p:val>
                                        </p:tav>
                                        <p:tav tm="100000">
                                          <p:val>
                                            <p:strVal val="#ppt_y"/>
                                          </p:val>
                                        </p:tav>
                                      </p:tavLst>
                                    </p:anim>
                                    <p:animEffect transition="in" filter="fade">
                                      <p:cBhvr>
                                        <p:cTn id="93" dur="500"/>
                                        <p:tgtEl>
                                          <p:spTgt spid="28"/>
                                        </p:tgtEl>
                                      </p:cBhvr>
                                    </p:animEffect>
                                  </p:childTnLst>
                                </p:cTn>
                              </p:par>
                              <p:par>
                                <p:cTn id="99" presetID="2" presetClass="entr" presetSubtype="4" fill="hold" grpId="0" nodeType="withEffect">
                                  <p:stCondLst>
                                    <p:cond delay="480"/>
                                  </p:stCondLst>
                                  <p:childTnLst>
                                    <p:set>
                                      <p:cBhvr>
                                        <p:cTn id="95" dur="1" fill="hold">
                                          <p:stCondLst>
                                            <p:cond delay="0"/>
                                          </p:stCondLst>
                                        </p:cTn>
                                        <p:tgtEl>
                                          <p:spTgt spid="29"/>
                                        </p:tgtEl>
                                        <p:attrNameLst>
                                          <p:attrName>style.visibility</p:attrName>
                                        </p:attrNameLst>
                                      </p:cBhvr>
                                      <p:to>
                                        <p:strVal val="visible"/>
                                      </p:to>
                                    </p:set>
                                    <p:anim calcmode="lin" valueType="num">
                                      <p:cBhvr additive="base">
                                        <p:cTn id="96" dur="500" fill="hold"/>
                                        <p:tgtEl>
                                          <p:spTgt spid="29"/>
                                        </p:tgtEl>
                                        <p:attrNameLst>
                                          <p:attrName>ppt_x</p:attrName>
                                        </p:attrNameLst>
                                      </p:cBhvr>
                                      <p:tavLst>
                                        <p:tav tm="0">
                                          <p:val>
                                            <p:strVal val="#ppt_x"/>
                                          </p:val>
                                        </p:tav>
                                        <p:tav tm="100000">
                                          <p:val>
                                            <p:strVal val="#ppt_x"/>
                                          </p:val>
                                        </p:tav>
                                      </p:tavLst>
                                    </p:anim>
                                    <p:anim calcmode="lin" valueType="num">
                                      <p:cBhvr additive="base">
                                        <p:cTn id="97" dur="500" fill="hold"/>
                                        <p:tgtEl>
                                          <p:spTgt spid="29"/>
                                        </p:tgtEl>
                                        <p:attrNameLst>
                                          <p:attrName>ppt_y</p:attrName>
                                        </p:attrNameLst>
                                      </p:cBhvr>
                                      <p:tavLst>
                                        <p:tav tm="0">
                                          <p:val>
                                            <p:strVal val="#ppt_y+0.1"/>
                                          </p:val>
                                        </p:tav>
                                        <p:tav tm="100000">
                                          <p:val>
                                            <p:strVal val="#ppt_y"/>
                                          </p:val>
                                        </p:tav>
                                      </p:tavLst>
                                    </p:anim>
                                    <p:animEffect transition="in" filter="fade">
                                      <p:cBhvr>
                                        <p:cTn id="98" dur="500"/>
                                        <p:tgtEl>
                                          <p:spTgt spid="29"/>
                                        </p:tgtEl>
                                      </p:cBhvr>
                                    </p:animEffect>
                                  </p:childTnLst>
                                </p:cTn>
                              </p:par>
                            </p:childTnLst>
                          </p:cTn>
                        </p:par>
                      </p:childTnLst>
                    </p:cTn>
                  </p:par>
                  <p:par>
                    <p:cTn id="100" fill="hold">
                      <p:stCondLst>
                        <p:cond delay="indefinite"/>
                      </p:stCondLst>
                      <p:childTnLst>
                        <p:par>
                          <p:cTn id="101" fill="hold">
                            <p:stCondLst>
                              <p:cond delay="0"/>
                            </p:stCondLst>
                            <p:childTnLst>
                              <p:par>
                                <p:cTn id="106" presetID="2" presetClass="entr" presetSubtype="4" fill="hold" grpId="0" nodeType="clickEffect">
                                  <p:stCondLst>
                                    <p:cond delay="0"/>
                                  </p:stCondLst>
                                  <p:childTnLst>
                                    <p:set>
                                      <p:cBhvr>
                                        <p:cTn id="102" dur="1" fill="hold">
                                          <p:stCondLst>
                                            <p:cond delay="0"/>
                                          </p:stCondLst>
                                        </p:cTn>
                                        <p:tgtEl>
                                          <p:spTgt spid="30"/>
                                        </p:tgtEl>
                                        <p:attrNameLst>
                                          <p:attrName>style.visibility</p:attrName>
                                        </p:attrNameLst>
                                      </p:cBhvr>
                                      <p:to>
                                        <p:strVal val="visible"/>
                                      </p:to>
                                    </p:set>
                                    <p:anim calcmode="lin" valueType="num">
                                      <p:cBhvr additive="base">
                                        <p:cTn id="103" dur="500" fill="hold"/>
                                        <p:tgtEl>
                                          <p:spTgt spid="30"/>
                                        </p:tgtEl>
                                        <p:attrNameLst>
                                          <p:attrName>ppt_x</p:attrName>
                                        </p:attrNameLst>
                                      </p:cBhvr>
                                      <p:tavLst>
                                        <p:tav tm="0">
                                          <p:val>
                                            <p:strVal val="#ppt_x"/>
                                          </p:val>
                                        </p:tav>
                                        <p:tav tm="100000">
                                          <p:val>
                                            <p:strVal val="#ppt_x"/>
                                          </p:val>
                                        </p:tav>
                                      </p:tavLst>
                                    </p:anim>
                                    <p:anim calcmode="lin" valueType="num">
                                      <p:cBhvr additive="base">
                                        <p:cTn id="104" dur="500" fill="hold"/>
                                        <p:tgtEl>
                                          <p:spTgt spid="30"/>
                                        </p:tgtEl>
                                        <p:attrNameLst>
                                          <p:attrName>ppt_y</p:attrName>
                                        </p:attrNameLst>
                                      </p:cBhvr>
                                      <p:tavLst>
                                        <p:tav tm="0">
                                          <p:val>
                                            <p:strVal val="#ppt_y+0.1"/>
                                          </p:val>
                                        </p:tav>
                                        <p:tav tm="100000">
                                          <p:val>
                                            <p:strVal val="#ppt_y"/>
                                          </p:val>
                                        </p:tav>
                                      </p:tavLst>
                                    </p:anim>
                                    <p:animEffect transition="in" filter="fade">
                                      <p:cBhvr>
                                        <p:cTn id="105" dur="500"/>
                                        <p:tgtEl>
                                          <p:spTgt spid="30"/>
                                        </p:tgtEl>
                                      </p:cBhvr>
                                    </p:animEffect>
                                  </p:childTnLst>
                                </p:cTn>
                              </p:par>
                              <p:par>
                                <p:cTn id="111" presetID="2" presetClass="entr" presetSubtype="4" fill="hold" grpId="0" nodeType="withEffect">
                                  <p:stCondLst>
                                    <p:cond delay="0"/>
                                  </p:stCondLst>
                                  <p:childTnLst>
                                    <p:set>
                                      <p:cBhvr>
                                        <p:cTn id="107" dur="1" fill="hold">
                                          <p:stCondLst>
                                            <p:cond delay="0"/>
                                          </p:stCondLst>
                                        </p:cTn>
                                        <p:tgtEl>
                                          <p:spTgt spid="31"/>
                                        </p:tgtEl>
                                        <p:attrNameLst>
                                          <p:attrName>style.visibility</p:attrName>
                                        </p:attrNameLst>
                                      </p:cBhvr>
                                      <p:to>
                                        <p:strVal val="visible"/>
                                      </p:to>
                                    </p:set>
                                    <p:anim calcmode="lin" valueType="num">
                                      <p:cBhvr additive="base">
                                        <p:cTn id="108" dur="500" fill="hold"/>
                                        <p:tgtEl>
                                          <p:spTgt spid="31"/>
                                        </p:tgtEl>
                                        <p:attrNameLst>
                                          <p:attrName>ppt_x</p:attrName>
                                        </p:attrNameLst>
                                      </p:cBhvr>
                                      <p:tavLst>
                                        <p:tav tm="0">
                                          <p:val>
                                            <p:strVal val="#ppt_x"/>
                                          </p:val>
                                        </p:tav>
                                        <p:tav tm="100000">
                                          <p:val>
                                            <p:strVal val="#ppt_x"/>
                                          </p:val>
                                        </p:tav>
                                      </p:tavLst>
                                    </p:anim>
                                    <p:anim calcmode="lin" valueType="num">
                                      <p:cBhvr additive="base">
                                        <p:cTn id="109" dur="500" fill="hold"/>
                                        <p:tgtEl>
                                          <p:spTgt spid="31"/>
                                        </p:tgtEl>
                                        <p:attrNameLst>
                                          <p:attrName>ppt_y</p:attrName>
                                        </p:attrNameLst>
                                      </p:cBhvr>
                                      <p:tavLst>
                                        <p:tav tm="0">
                                          <p:val>
                                            <p:strVal val="#ppt_y+0.1"/>
                                          </p:val>
                                        </p:tav>
                                        <p:tav tm="100000">
                                          <p:val>
                                            <p:strVal val="#ppt_y"/>
                                          </p:val>
                                        </p:tav>
                                      </p:tavLst>
                                    </p:anim>
                                    <p:animEffect transition="in" filter="fade">
                                      <p:cBhvr>
                                        <p:cTn id="110" dur="500"/>
                                        <p:tgtEl>
                                          <p:spTgt spid="31"/>
                                        </p:tgtEl>
                                      </p:cBhvr>
                                    </p:animEffect>
                                  </p:childTnLst>
                                </p:cTn>
                              </p:par>
                              <p:par>
                                <p:cTn id="116" presetID="2" presetClass="entr" presetSubtype="4" fill="hold" grpId="0" nodeType="withEffect">
                                  <p:stCondLst>
                                    <p:cond delay="0"/>
                                  </p:stCondLst>
                                  <p:childTnLst>
                                    <p:set>
                                      <p:cBhvr>
                                        <p:cTn id="112" dur="1" fill="hold">
                                          <p:stCondLst>
                                            <p:cond delay="0"/>
                                          </p:stCondLst>
                                        </p:cTn>
                                        <p:tgtEl>
                                          <p:spTgt spid="32"/>
                                        </p:tgtEl>
                                        <p:attrNameLst>
                                          <p:attrName>style.visibility</p:attrName>
                                        </p:attrNameLst>
                                      </p:cBhvr>
                                      <p:to>
                                        <p:strVal val="visible"/>
                                      </p:to>
                                    </p:set>
                                    <p:anim calcmode="lin" valueType="num">
                                      <p:cBhvr additive="base">
                                        <p:cTn id="113" dur="500" fill="hold"/>
                                        <p:tgtEl>
                                          <p:spTgt spid="32"/>
                                        </p:tgtEl>
                                        <p:attrNameLst>
                                          <p:attrName>ppt_x</p:attrName>
                                        </p:attrNameLst>
                                      </p:cBhvr>
                                      <p:tavLst>
                                        <p:tav tm="0">
                                          <p:val>
                                            <p:strVal val="#ppt_x"/>
                                          </p:val>
                                        </p:tav>
                                        <p:tav tm="100000">
                                          <p:val>
                                            <p:strVal val="#ppt_x"/>
                                          </p:val>
                                        </p:tav>
                                      </p:tavLst>
                                    </p:anim>
                                    <p:anim calcmode="lin" valueType="num">
                                      <p:cBhvr additive="base">
                                        <p:cTn id="114" dur="500" fill="hold"/>
                                        <p:tgtEl>
                                          <p:spTgt spid="32"/>
                                        </p:tgtEl>
                                        <p:attrNameLst>
                                          <p:attrName>ppt_y</p:attrName>
                                        </p:attrNameLst>
                                      </p:cBhvr>
                                      <p:tavLst>
                                        <p:tav tm="0">
                                          <p:val>
                                            <p:strVal val="#ppt_y+0.1"/>
                                          </p:val>
                                        </p:tav>
                                        <p:tav tm="100000">
                                          <p:val>
                                            <p:strVal val="#ppt_y"/>
                                          </p:val>
                                        </p:tav>
                                      </p:tavLst>
                                    </p:anim>
                                    <p:animEffect transition="in" filter="fade">
                                      <p:cBhvr>
                                        <p:cTn id="115" dur="500"/>
                                        <p:tgtEl>
                                          <p:spTgt spid="32"/>
                                        </p:tgtEl>
                                      </p:cBhvr>
                                    </p:animEffect>
                                  </p:childTnLst>
                                </p:cTn>
                              </p:par>
                              <p:par>
                                <p:cTn id="121" presetID="2" presetClass="entr" presetSubtype="4" fill="hold" grpId="0" nodeType="withEffect">
                                  <p:stCondLst>
                                    <p:cond delay="80"/>
                                  </p:stCondLst>
                                  <p:childTnLst>
                                    <p:set>
                                      <p:cBhvr>
                                        <p:cTn id="117" dur="1" fill="hold">
                                          <p:stCondLst>
                                            <p:cond delay="0"/>
                                          </p:stCondLst>
                                        </p:cTn>
                                        <p:tgtEl>
                                          <p:spTgt spid="33"/>
                                        </p:tgtEl>
                                        <p:attrNameLst>
                                          <p:attrName>style.visibility</p:attrName>
                                        </p:attrNameLst>
                                      </p:cBhvr>
                                      <p:to>
                                        <p:strVal val="visible"/>
                                      </p:to>
                                    </p:set>
                                    <p:anim calcmode="lin" valueType="num">
                                      <p:cBhvr additive="base">
                                        <p:cTn id="118" dur="500" fill="hold"/>
                                        <p:tgtEl>
                                          <p:spTgt spid="33"/>
                                        </p:tgtEl>
                                        <p:attrNameLst>
                                          <p:attrName>ppt_x</p:attrName>
                                        </p:attrNameLst>
                                      </p:cBhvr>
                                      <p:tavLst>
                                        <p:tav tm="0">
                                          <p:val>
                                            <p:strVal val="#ppt_x"/>
                                          </p:val>
                                        </p:tav>
                                        <p:tav tm="100000">
                                          <p:val>
                                            <p:strVal val="#ppt_x"/>
                                          </p:val>
                                        </p:tav>
                                      </p:tavLst>
                                    </p:anim>
                                    <p:anim calcmode="lin" valueType="num">
                                      <p:cBhvr additive="base">
                                        <p:cTn id="119" dur="500" fill="hold"/>
                                        <p:tgtEl>
                                          <p:spTgt spid="33"/>
                                        </p:tgtEl>
                                        <p:attrNameLst>
                                          <p:attrName>ppt_y</p:attrName>
                                        </p:attrNameLst>
                                      </p:cBhvr>
                                      <p:tavLst>
                                        <p:tav tm="0">
                                          <p:val>
                                            <p:strVal val="#ppt_y+0.1"/>
                                          </p:val>
                                        </p:tav>
                                        <p:tav tm="100000">
                                          <p:val>
                                            <p:strVal val="#ppt_y"/>
                                          </p:val>
                                        </p:tav>
                                      </p:tavLst>
                                    </p:anim>
                                    <p:animEffect transition="in" filter="fade">
                                      <p:cBhvr>
                                        <p:cTn id="120" dur="500"/>
                                        <p:tgtEl>
                                          <p:spTgt spid="33"/>
                                        </p:tgtEl>
                                      </p:cBhvr>
                                    </p:animEffect>
                                  </p:childTnLst>
                                </p:cTn>
                              </p:par>
                            </p:childTnLst>
                          </p:cTn>
                        </p:par>
                      </p:childTnLst>
                    </p:cTn>
                  </p:par>
                  <p:par>
                    <p:cTn id="122" fill="hold">
                      <p:stCondLst>
                        <p:cond delay="indefinite"/>
                      </p:stCondLst>
                      <p:childTnLst>
                        <p:par>
                          <p:cTn id="123" fill="hold">
                            <p:stCondLst>
                              <p:cond delay="0"/>
                            </p:stCondLst>
                            <p:childTnLst>
                              <p:par>
                                <p:cTn id="128" presetID="2" presetClass="entr" presetSubtype="4" fill="hold" grpId="0" nodeType="clickEffect">
                                  <p:stCondLst>
                                    <p:cond delay="0"/>
                                  </p:stCondLst>
                                  <p:childTnLst>
                                    <p:set>
                                      <p:cBhvr>
                                        <p:cTn id="124" dur="1" fill="hold">
                                          <p:stCondLst>
                                            <p:cond delay="0"/>
                                          </p:stCondLst>
                                        </p:cTn>
                                        <p:tgtEl>
                                          <p:spTgt spid="34"/>
                                        </p:tgtEl>
                                        <p:attrNameLst>
                                          <p:attrName>style.visibility</p:attrName>
                                        </p:attrNameLst>
                                      </p:cBhvr>
                                      <p:to>
                                        <p:strVal val="visible"/>
                                      </p:to>
                                    </p:set>
                                    <p:anim calcmode="lin" valueType="num">
                                      <p:cBhvr additive="base">
                                        <p:cTn id="125" dur="500" fill="hold"/>
                                        <p:tgtEl>
                                          <p:spTgt spid="34"/>
                                        </p:tgtEl>
                                        <p:attrNameLst>
                                          <p:attrName>ppt_x</p:attrName>
                                        </p:attrNameLst>
                                      </p:cBhvr>
                                      <p:tavLst>
                                        <p:tav tm="0">
                                          <p:val>
                                            <p:strVal val="#ppt_x"/>
                                          </p:val>
                                        </p:tav>
                                        <p:tav tm="100000">
                                          <p:val>
                                            <p:strVal val="#ppt_x"/>
                                          </p:val>
                                        </p:tav>
                                      </p:tavLst>
                                    </p:anim>
                                    <p:anim calcmode="lin" valueType="num">
                                      <p:cBhvr additive="base">
                                        <p:cTn id="126" dur="500" fill="hold"/>
                                        <p:tgtEl>
                                          <p:spTgt spid="34"/>
                                        </p:tgtEl>
                                        <p:attrNameLst>
                                          <p:attrName>ppt_y</p:attrName>
                                        </p:attrNameLst>
                                      </p:cBhvr>
                                      <p:tavLst>
                                        <p:tav tm="0">
                                          <p:val>
                                            <p:strVal val="#ppt_y+0.1"/>
                                          </p:val>
                                        </p:tav>
                                        <p:tav tm="100000">
                                          <p:val>
                                            <p:strVal val="#ppt_y"/>
                                          </p:val>
                                        </p:tav>
                                      </p:tavLst>
                                    </p:anim>
                                    <p:animEffect transition="in" filter="fade">
                                      <p:cBhvr>
                                        <p:cTn id="127" dur="500"/>
                                        <p:tgtEl>
                                          <p:spTgt spid="34"/>
                                        </p:tgtEl>
                                      </p:cBhvr>
                                    </p:animEffect>
                                  </p:childTnLst>
                                </p:cTn>
                              </p:par>
                              <p:par>
                                <p:cTn id="133" presetID="2" presetClass="entr" presetSubtype="4" fill="hold" grpId="0" nodeType="withEffect">
                                  <p:stCondLst>
                                    <p:cond delay="0"/>
                                  </p:stCondLst>
                                  <p:childTnLst>
                                    <p:set>
                                      <p:cBhvr>
                                        <p:cTn id="129" dur="1" fill="hold">
                                          <p:stCondLst>
                                            <p:cond delay="0"/>
                                          </p:stCondLst>
                                        </p:cTn>
                                        <p:tgtEl>
                                          <p:spTgt spid="35"/>
                                        </p:tgtEl>
                                        <p:attrNameLst>
                                          <p:attrName>style.visibility</p:attrName>
                                        </p:attrNameLst>
                                      </p:cBhvr>
                                      <p:to>
                                        <p:strVal val="visible"/>
                                      </p:to>
                                    </p:set>
                                    <p:anim calcmode="lin" valueType="num">
                                      <p:cBhvr additive="base">
                                        <p:cTn id="130" dur="500" fill="hold"/>
                                        <p:tgtEl>
                                          <p:spTgt spid="35"/>
                                        </p:tgtEl>
                                        <p:attrNameLst>
                                          <p:attrName>ppt_x</p:attrName>
                                        </p:attrNameLst>
                                      </p:cBhvr>
                                      <p:tavLst>
                                        <p:tav tm="0">
                                          <p:val>
                                            <p:strVal val="#ppt_x"/>
                                          </p:val>
                                        </p:tav>
                                        <p:tav tm="100000">
                                          <p:val>
                                            <p:strVal val="#ppt_x"/>
                                          </p:val>
                                        </p:tav>
                                      </p:tavLst>
                                    </p:anim>
                                    <p:anim calcmode="lin" valueType="num">
                                      <p:cBhvr additive="base">
                                        <p:cTn id="131" dur="500" fill="hold"/>
                                        <p:tgtEl>
                                          <p:spTgt spid="35"/>
                                        </p:tgtEl>
                                        <p:attrNameLst>
                                          <p:attrName>ppt_y</p:attrName>
                                        </p:attrNameLst>
                                      </p:cBhvr>
                                      <p:tavLst>
                                        <p:tav tm="0">
                                          <p:val>
                                            <p:strVal val="#ppt_y+0.1"/>
                                          </p:val>
                                        </p:tav>
                                        <p:tav tm="100000">
                                          <p:val>
                                            <p:strVal val="#ppt_y"/>
                                          </p:val>
                                        </p:tav>
                                      </p:tavLst>
                                    </p:anim>
                                    <p:animEffect transition="in" filter="fade">
                                      <p:cBhvr>
                                        <p:cTn id="132" dur="500"/>
                                        <p:tgtEl>
                                          <p:spTgt spid="35"/>
                                        </p:tgtEl>
                                      </p:cBhvr>
                                    </p:animEffect>
                                  </p:childTnLst>
                                </p:cTn>
                              </p:par>
                              <p:par>
                                <p:cTn id="138" presetID="2" presetClass="entr" presetSubtype="4" fill="hold" grpId="0" nodeType="withEffect">
                                  <p:stCondLst>
                                    <p:cond delay="0"/>
                                  </p:stCondLst>
                                  <p:childTnLst>
                                    <p:set>
                                      <p:cBhvr>
                                        <p:cTn id="134" dur="1" fill="hold">
                                          <p:stCondLst>
                                            <p:cond delay="0"/>
                                          </p:stCondLst>
                                        </p:cTn>
                                        <p:tgtEl>
                                          <p:spTgt spid="36"/>
                                        </p:tgtEl>
                                        <p:attrNameLst>
                                          <p:attrName>style.visibility</p:attrName>
                                        </p:attrNameLst>
                                      </p:cBhvr>
                                      <p:to>
                                        <p:strVal val="visible"/>
                                      </p:to>
                                    </p:set>
                                    <p:anim calcmode="lin" valueType="num">
                                      <p:cBhvr additive="base">
                                        <p:cTn id="135" dur="500" fill="hold"/>
                                        <p:tgtEl>
                                          <p:spTgt spid="36"/>
                                        </p:tgtEl>
                                        <p:attrNameLst>
                                          <p:attrName>ppt_x</p:attrName>
                                        </p:attrNameLst>
                                      </p:cBhvr>
                                      <p:tavLst>
                                        <p:tav tm="0">
                                          <p:val>
                                            <p:strVal val="#ppt_x"/>
                                          </p:val>
                                        </p:tav>
                                        <p:tav tm="100000">
                                          <p:val>
                                            <p:strVal val="#ppt_x"/>
                                          </p:val>
                                        </p:tav>
                                      </p:tavLst>
                                    </p:anim>
                                    <p:anim calcmode="lin" valueType="num">
                                      <p:cBhvr additive="base">
                                        <p:cTn id="136" dur="500" fill="hold"/>
                                        <p:tgtEl>
                                          <p:spTgt spid="36"/>
                                        </p:tgtEl>
                                        <p:attrNameLst>
                                          <p:attrName>ppt_y</p:attrName>
                                        </p:attrNameLst>
                                      </p:cBhvr>
                                      <p:tavLst>
                                        <p:tav tm="0">
                                          <p:val>
                                            <p:strVal val="#ppt_y+0.1"/>
                                          </p:val>
                                        </p:tav>
                                        <p:tav tm="100000">
                                          <p:val>
                                            <p:strVal val="#ppt_y"/>
                                          </p:val>
                                        </p:tav>
                                      </p:tavLst>
                                    </p:anim>
                                    <p:animEffect transition="in" filter="fade">
                                      <p:cBhvr>
                                        <p:cTn id="137" dur="500"/>
                                        <p:tgtEl>
                                          <p:spTgt spid="36"/>
                                        </p:tgtEl>
                                      </p:cBhvr>
                                    </p:animEffect>
                                  </p:childTnLst>
                                </p:cTn>
                              </p:par>
                              <p:par>
                                <p:cTn id="143" presetID="2" presetClass="entr" presetSubtype="4" fill="hold" grpId="0" nodeType="withEffect">
                                  <p:stCondLst>
                                    <p:cond delay="80"/>
                                  </p:stCondLst>
                                  <p:childTnLst>
                                    <p:set>
                                      <p:cBhvr>
                                        <p:cTn id="139" dur="1" fill="hold">
                                          <p:stCondLst>
                                            <p:cond delay="0"/>
                                          </p:stCondLst>
                                        </p:cTn>
                                        <p:tgtEl>
                                          <p:spTgt spid="37"/>
                                        </p:tgtEl>
                                        <p:attrNameLst>
                                          <p:attrName>style.visibility</p:attrName>
                                        </p:attrNameLst>
                                      </p:cBhvr>
                                      <p:to>
                                        <p:strVal val="visible"/>
                                      </p:to>
                                    </p:set>
                                    <p:anim calcmode="lin" valueType="num">
                                      <p:cBhvr additive="base">
                                        <p:cTn id="140" dur="500" fill="hold"/>
                                        <p:tgtEl>
                                          <p:spTgt spid="37"/>
                                        </p:tgtEl>
                                        <p:attrNameLst>
                                          <p:attrName>ppt_x</p:attrName>
                                        </p:attrNameLst>
                                      </p:cBhvr>
                                      <p:tavLst>
                                        <p:tav tm="0">
                                          <p:val>
                                            <p:strVal val="#ppt_x"/>
                                          </p:val>
                                        </p:tav>
                                        <p:tav tm="100000">
                                          <p:val>
                                            <p:strVal val="#ppt_x"/>
                                          </p:val>
                                        </p:tav>
                                      </p:tavLst>
                                    </p:anim>
                                    <p:anim calcmode="lin" valueType="num">
                                      <p:cBhvr additive="base">
                                        <p:cTn id="141" dur="500" fill="hold"/>
                                        <p:tgtEl>
                                          <p:spTgt spid="37"/>
                                        </p:tgtEl>
                                        <p:attrNameLst>
                                          <p:attrName>ppt_y</p:attrName>
                                        </p:attrNameLst>
                                      </p:cBhvr>
                                      <p:tavLst>
                                        <p:tav tm="0">
                                          <p:val>
                                            <p:strVal val="#ppt_y+0.1"/>
                                          </p:val>
                                        </p:tav>
                                        <p:tav tm="100000">
                                          <p:val>
                                            <p:strVal val="#ppt_y"/>
                                          </p:val>
                                        </p:tav>
                                      </p:tavLst>
                                    </p:anim>
                                    <p:animEffect transition="in" filter="fade">
                                      <p:cBhvr>
                                        <p:cTn id="142" dur="500"/>
                                        <p:tgtEl>
                                          <p:spTgt spid="37"/>
                                        </p:tgtEl>
                                      </p:cBhvr>
                                    </p:animEffect>
                                  </p:childTnLst>
                                </p:cTn>
                              </p:par>
                            </p:childTnLst>
                          </p:cTn>
                        </p:par>
                      </p:childTnLst>
                    </p:cTn>
                  </p:par>
                  <p:par>
                    <p:cTn id="144" fill="hold">
                      <p:stCondLst>
                        <p:cond delay="indefinite"/>
                      </p:stCondLst>
                      <p:childTnLst>
                        <p:par>
                          <p:cTn id="145" fill="hold">
                            <p:stCondLst>
                              <p:cond delay="0"/>
                            </p:stCondLst>
                            <p:childTnLst>
                              <p:par>
                                <p:cTn id="150" presetID="2" presetClass="entr" presetSubtype="4" fill="hold" grpId="0" nodeType="clickEffect">
                                  <p:stCondLst>
                                    <p:cond delay="0"/>
                                  </p:stCondLst>
                                  <p:childTnLst>
                                    <p:set>
                                      <p:cBhvr>
                                        <p:cTn id="146" dur="1" fill="hold">
                                          <p:stCondLst>
                                            <p:cond delay="0"/>
                                          </p:stCondLst>
                                        </p:cTn>
                                        <p:tgtEl>
                                          <p:spTgt spid="38"/>
                                        </p:tgtEl>
                                        <p:attrNameLst>
                                          <p:attrName>style.visibility</p:attrName>
                                        </p:attrNameLst>
                                      </p:cBhvr>
                                      <p:to>
                                        <p:strVal val="visible"/>
                                      </p:to>
                                    </p:set>
                                    <p:anim calcmode="lin" valueType="num">
                                      <p:cBhvr additive="base">
                                        <p:cTn id="147" dur="500" fill="hold"/>
                                        <p:tgtEl>
                                          <p:spTgt spid="38"/>
                                        </p:tgtEl>
                                        <p:attrNameLst>
                                          <p:attrName>ppt_x</p:attrName>
                                        </p:attrNameLst>
                                      </p:cBhvr>
                                      <p:tavLst>
                                        <p:tav tm="0">
                                          <p:val>
                                            <p:strVal val="#ppt_x"/>
                                          </p:val>
                                        </p:tav>
                                        <p:tav tm="100000">
                                          <p:val>
                                            <p:strVal val="#ppt_x"/>
                                          </p:val>
                                        </p:tav>
                                      </p:tavLst>
                                    </p:anim>
                                    <p:anim calcmode="lin" valueType="num">
                                      <p:cBhvr additive="base">
                                        <p:cTn id="148" dur="500" fill="hold"/>
                                        <p:tgtEl>
                                          <p:spTgt spid="38"/>
                                        </p:tgtEl>
                                        <p:attrNameLst>
                                          <p:attrName>ppt_y</p:attrName>
                                        </p:attrNameLst>
                                      </p:cBhvr>
                                      <p:tavLst>
                                        <p:tav tm="0">
                                          <p:val>
                                            <p:strVal val="#ppt_y+0.1"/>
                                          </p:val>
                                        </p:tav>
                                        <p:tav tm="100000">
                                          <p:val>
                                            <p:strVal val="#ppt_y"/>
                                          </p:val>
                                        </p:tav>
                                      </p:tavLst>
                                    </p:anim>
                                    <p:animEffect transition="in" filter="fade">
                                      <p:cBhvr>
                                        <p:cTn id="149" dur="500"/>
                                        <p:tgtEl>
                                          <p:spTgt spid="38"/>
                                        </p:tgtEl>
                                      </p:cBhvr>
                                    </p:animEffect>
                                  </p:childTnLst>
                                </p:cTn>
                              </p:par>
                              <p:par>
                                <p:cTn id="155" presetID="2" presetClass="entr" presetSubtype="4" fill="hold" grpId="0" nodeType="withEffect">
                                  <p:stCondLst>
                                    <p:cond delay="0"/>
                                  </p:stCondLst>
                                  <p:childTnLst>
                                    <p:set>
                                      <p:cBhvr>
                                        <p:cTn id="151" dur="1" fill="hold">
                                          <p:stCondLst>
                                            <p:cond delay="0"/>
                                          </p:stCondLst>
                                        </p:cTn>
                                        <p:tgtEl>
                                          <p:spTgt spid="39"/>
                                        </p:tgtEl>
                                        <p:attrNameLst>
                                          <p:attrName>style.visibility</p:attrName>
                                        </p:attrNameLst>
                                      </p:cBhvr>
                                      <p:to>
                                        <p:strVal val="visible"/>
                                      </p:to>
                                    </p:set>
                                    <p:anim calcmode="lin" valueType="num">
                                      <p:cBhvr additive="base">
                                        <p:cTn id="152" dur="500" fill="hold"/>
                                        <p:tgtEl>
                                          <p:spTgt spid="39"/>
                                        </p:tgtEl>
                                        <p:attrNameLst>
                                          <p:attrName>ppt_x</p:attrName>
                                        </p:attrNameLst>
                                      </p:cBhvr>
                                      <p:tavLst>
                                        <p:tav tm="0">
                                          <p:val>
                                            <p:strVal val="#ppt_x"/>
                                          </p:val>
                                        </p:tav>
                                        <p:tav tm="100000">
                                          <p:val>
                                            <p:strVal val="#ppt_x"/>
                                          </p:val>
                                        </p:tav>
                                      </p:tavLst>
                                    </p:anim>
                                    <p:anim calcmode="lin" valueType="num">
                                      <p:cBhvr additive="base">
                                        <p:cTn id="153" dur="500" fill="hold"/>
                                        <p:tgtEl>
                                          <p:spTgt spid="39"/>
                                        </p:tgtEl>
                                        <p:attrNameLst>
                                          <p:attrName>ppt_y</p:attrName>
                                        </p:attrNameLst>
                                      </p:cBhvr>
                                      <p:tavLst>
                                        <p:tav tm="0">
                                          <p:val>
                                            <p:strVal val="#ppt_y+0.1"/>
                                          </p:val>
                                        </p:tav>
                                        <p:tav tm="100000">
                                          <p:val>
                                            <p:strVal val="#ppt_y"/>
                                          </p:val>
                                        </p:tav>
                                      </p:tavLst>
                                    </p:anim>
                                    <p:animEffect transition="in" filter="fade">
                                      <p:cBhvr>
                                        <p:cTn id="154" dur="500"/>
                                        <p:tgtEl>
                                          <p:spTgt spid="39"/>
                                        </p:tgtEl>
                                      </p:cBhvr>
                                    </p:animEffect>
                                  </p:childTnLst>
                                </p:cTn>
                              </p:par>
                              <p:par>
                                <p:cTn id="160" presetID="2" presetClass="entr" presetSubtype="4" fill="hold" grpId="0" nodeType="withEffect">
                                  <p:stCondLst>
                                    <p:cond delay="0"/>
                                  </p:stCondLst>
                                  <p:childTnLst>
                                    <p:set>
                                      <p:cBhvr>
                                        <p:cTn id="156" dur="1" fill="hold">
                                          <p:stCondLst>
                                            <p:cond delay="0"/>
                                          </p:stCondLst>
                                        </p:cTn>
                                        <p:tgtEl>
                                          <p:spTgt spid="40"/>
                                        </p:tgtEl>
                                        <p:attrNameLst>
                                          <p:attrName>style.visibility</p:attrName>
                                        </p:attrNameLst>
                                      </p:cBhvr>
                                      <p:to>
                                        <p:strVal val="visible"/>
                                      </p:to>
                                    </p:set>
                                    <p:anim calcmode="lin" valueType="num">
                                      <p:cBhvr additive="base">
                                        <p:cTn id="157" dur="500" fill="hold"/>
                                        <p:tgtEl>
                                          <p:spTgt spid="40"/>
                                        </p:tgtEl>
                                        <p:attrNameLst>
                                          <p:attrName>ppt_x</p:attrName>
                                        </p:attrNameLst>
                                      </p:cBhvr>
                                      <p:tavLst>
                                        <p:tav tm="0">
                                          <p:val>
                                            <p:strVal val="#ppt_x"/>
                                          </p:val>
                                        </p:tav>
                                        <p:tav tm="100000">
                                          <p:val>
                                            <p:strVal val="#ppt_x"/>
                                          </p:val>
                                        </p:tav>
                                      </p:tavLst>
                                    </p:anim>
                                    <p:anim calcmode="lin" valueType="num">
                                      <p:cBhvr additive="base">
                                        <p:cTn id="158" dur="500" fill="hold"/>
                                        <p:tgtEl>
                                          <p:spTgt spid="40"/>
                                        </p:tgtEl>
                                        <p:attrNameLst>
                                          <p:attrName>ppt_y</p:attrName>
                                        </p:attrNameLst>
                                      </p:cBhvr>
                                      <p:tavLst>
                                        <p:tav tm="0">
                                          <p:val>
                                            <p:strVal val="#ppt_y+0.1"/>
                                          </p:val>
                                        </p:tav>
                                        <p:tav tm="100000">
                                          <p:val>
                                            <p:strVal val="#ppt_y"/>
                                          </p:val>
                                        </p:tav>
                                      </p:tavLst>
                                    </p:anim>
                                    <p:animEffect transition="in" filter="fade">
                                      <p:cBhvr>
                                        <p:cTn id="159"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The Code: Poll, Then Iterate</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One record or many - handle each one, then poll again</a:t>
            </a:r>
          </a:p>
        </p:txBody>
      </p:sp>
      <p:sp>
        <p:nvSpPr>
          <p:cNvPr id="11" name="a1f_codebg10"/>
          <p:cNvSpPr/>
          <p:nvPr/>
        </p:nvSpPr>
        <p:spPr>
          <a:xfrm>
            <a:off x="457200" y="1280160"/>
            <a:ext cx="5120640" cy="2359152"/>
          </a:xfrm>
          <a:prstGeom prst="roundRect">
            <a:avLst>
              <a:gd name="adj" fmla="val 3100"/>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f_codeh11"/>
          <p:cNvSpPr txBox="1"/>
          <p:nvPr/>
        </p:nvSpPr>
        <p:spPr>
          <a:xfrm>
            <a:off x="585216" y="1335024"/>
            <a:ext cx="4864607" cy="219456"/>
          </a:xfrm>
          <a:prstGeom prst="rect">
            <a:avLst/>
          </a:prstGeom>
          <a:noFill/>
        </p:spPr>
        <p:txBody>
          <a:bodyPr wrap="square" lIns="0" tIns="0" rIns="0" bIns="0" anchor="ctr">
            <a:spAutoFit/>
          </a:bodyPr>
          <a:lstStyle/>
          <a:p>
            <a:pPr algn="l"/>
            <a:r>
              <a:rPr sz="950" b="1">
                <a:solidFill>
                  <a:srgbClr val="A8A29E"/>
                </a:solidFill>
                <a:latin typeface="Consolas"/>
              </a:rPr>
              <a:t>ThermostatDashboard.java</a:t>
            </a:r>
          </a:p>
        </p:txBody>
      </p:sp>
      <p:sp>
        <p:nvSpPr>
          <p:cNvPr id="13" name="a1f_codesep12"/>
          <p:cNvSpPr/>
          <p:nvPr/>
        </p:nvSpPr>
        <p:spPr>
          <a:xfrm>
            <a:off x="585216" y="1609343"/>
            <a:ext cx="4864607" cy="109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w_code13"/>
          <p:cNvSpPr txBox="1"/>
          <p:nvPr/>
        </p:nvSpPr>
        <p:spPr>
          <a:xfrm>
            <a:off x="585216" y="1682495"/>
            <a:ext cx="4864607" cy="182880"/>
          </a:xfrm>
          <a:prstGeom prst="rect">
            <a:avLst/>
          </a:prstGeom>
          <a:noFill/>
        </p:spPr>
        <p:txBody>
          <a:bodyPr wrap="none" lIns="0" tIns="0" rIns="0" bIns="0" anchor="ctr">
            <a:spAutoFit/>
          </a:bodyPr>
          <a:lstStyle/>
          <a:p>
            <a:pPr algn="l"/>
            <a:r>
              <a:rPr sz="800" b="0">
                <a:solidFill>
                  <a:srgbClr val="E7E5E4"/>
                </a:solidFill>
                <a:latin typeface="Consolas"/>
              </a:rPr>
              <a:t>consumer.subscribe(List.of("thermostat_readings"));</a:t>
            </a:r>
          </a:p>
        </p:txBody>
      </p:sp>
      <p:sp>
        <p:nvSpPr>
          <p:cNvPr id="15" name="a1wd110_code14"/>
          <p:cNvSpPr txBox="1"/>
          <p:nvPr/>
        </p:nvSpPr>
        <p:spPr>
          <a:xfrm>
            <a:off x="585216" y="1865376"/>
            <a:ext cx="4864607" cy="182880"/>
          </a:xfrm>
          <a:prstGeom prst="rect">
            <a:avLst/>
          </a:prstGeom>
          <a:noFill/>
        </p:spPr>
        <p:txBody>
          <a:bodyPr wrap="none" lIns="0" tIns="0" rIns="0" bIns="0" anchor="ctr">
            <a:spAutoFit/>
          </a:bodyPr>
          <a:lstStyle/>
          <a:p>
            <a:pPr algn="l"/>
            <a:r>
              <a:rPr sz="800" b="0">
                <a:solidFill>
                  <a:srgbClr val="E7E5E4"/>
                </a:solidFill>
                <a:latin typeface="Consolas"/>
              </a:rPr>
              <a:t/>
            </a:r>
          </a:p>
        </p:txBody>
      </p:sp>
      <p:sp>
        <p:nvSpPr>
          <p:cNvPr id="16" name="a1wd220_code15"/>
          <p:cNvSpPr txBox="1"/>
          <p:nvPr/>
        </p:nvSpPr>
        <p:spPr>
          <a:xfrm>
            <a:off x="585216" y="2048255"/>
            <a:ext cx="4864607" cy="182880"/>
          </a:xfrm>
          <a:prstGeom prst="rect">
            <a:avLst/>
          </a:prstGeom>
          <a:noFill/>
        </p:spPr>
        <p:txBody>
          <a:bodyPr wrap="none" lIns="0" tIns="0" rIns="0" bIns="0" anchor="ctr">
            <a:spAutoFit/>
          </a:bodyPr>
          <a:lstStyle/>
          <a:p>
            <a:pPr algn="l"/>
            <a:r>
              <a:rPr sz="800" b="0">
                <a:solidFill>
                  <a:srgbClr val="E7E5E4"/>
                </a:solidFill>
                <a:latin typeface="Consolas"/>
              </a:rPr>
              <a:t>while (true) {</a:t>
            </a:r>
          </a:p>
        </p:txBody>
      </p:sp>
      <p:sp>
        <p:nvSpPr>
          <p:cNvPr id="17" name="a1wd330_code16"/>
          <p:cNvSpPr txBox="1"/>
          <p:nvPr/>
        </p:nvSpPr>
        <p:spPr>
          <a:xfrm>
            <a:off x="585216" y="2231136"/>
            <a:ext cx="4864607" cy="182880"/>
          </a:xfrm>
          <a:prstGeom prst="rect">
            <a:avLst/>
          </a:prstGeom>
          <a:noFill/>
        </p:spPr>
        <p:txBody>
          <a:bodyPr wrap="none" lIns="0" tIns="0" rIns="0" bIns="0" anchor="ctr">
            <a:spAutoFit/>
          </a:bodyPr>
          <a:lstStyle/>
          <a:p>
            <a:pPr algn="l"/>
            <a:r>
              <a:rPr sz="800" b="1">
                <a:solidFill>
                  <a:srgbClr val="FDBA74"/>
                </a:solidFill>
                <a:latin typeface="Consolas"/>
              </a:rPr>
              <a:t>    ConsumerRecords&lt;String, String&gt; records =</a:t>
            </a:r>
          </a:p>
        </p:txBody>
      </p:sp>
      <p:sp>
        <p:nvSpPr>
          <p:cNvPr id="18" name="a1wd440_code17"/>
          <p:cNvSpPr txBox="1"/>
          <p:nvPr/>
        </p:nvSpPr>
        <p:spPr>
          <a:xfrm>
            <a:off x="585216" y="2414015"/>
            <a:ext cx="4864607" cy="182880"/>
          </a:xfrm>
          <a:prstGeom prst="rect">
            <a:avLst/>
          </a:prstGeom>
          <a:noFill/>
        </p:spPr>
        <p:txBody>
          <a:bodyPr wrap="none" lIns="0" tIns="0" rIns="0" bIns="0" anchor="ctr">
            <a:spAutoFit/>
          </a:bodyPr>
          <a:lstStyle/>
          <a:p>
            <a:pPr algn="l"/>
            <a:r>
              <a:rPr sz="800" b="1">
                <a:solidFill>
                  <a:srgbClr val="FDBA74"/>
                </a:solidFill>
                <a:latin typeface="Consolas"/>
              </a:rPr>
              <a:t>        consumer.poll(Duration.ofMillis(100));</a:t>
            </a:r>
          </a:p>
        </p:txBody>
      </p:sp>
      <p:sp>
        <p:nvSpPr>
          <p:cNvPr id="19" name="a1wd550_code18"/>
          <p:cNvSpPr txBox="1"/>
          <p:nvPr/>
        </p:nvSpPr>
        <p:spPr>
          <a:xfrm>
            <a:off x="585216" y="2596896"/>
            <a:ext cx="4864607" cy="182880"/>
          </a:xfrm>
          <a:prstGeom prst="rect">
            <a:avLst/>
          </a:prstGeom>
          <a:noFill/>
        </p:spPr>
        <p:txBody>
          <a:bodyPr wrap="none" lIns="0" tIns="0" rIns="0" bIns="0" anchor="ctr">
            <a:spAutoFit/>
          </a:bodyPr>
          <a:lstStyle/>
          <a:p>
            <a:pPr algn="l"/>
            <a:r>
              <a:rPr sz="800" b="0">
                <a:solidFill>
                  <a:srgbClr val="E7E5E4"/>
                </a:solidFill>
                <a:latin typeface="Consolas"/>
              </a:rPr>
              <a:t/>
            </a:r>
          </a:p>
        </p:txBody>
      </p:sp>
      <p:sp>
        <p:nvSpPr>
          <p:cNvPr id="20" name="a1wd660_code19"/>
          <p:cNvSpPr txBox="1"/>
          <p:nvPr/>
        </p:nvSpPr>
        <p:spPr>
          <a:xfrm>
            <a:off x="585216" y="2779776"/>
            <a:ext cx="4864607" cy="182880"/>
          </a:xfrm>
          <a:prstGeom prst="rect">
            <a:avLst/>
          </a:prstGeom>
          <a:noFill/>
        </p:spPr>
        <p:txBody>
          <a:bodyPr wrap="none" lIns="0" tIns="0" rIns="0" bIns="0" anchor="ctr">
            <a:spAutoFit/>
          </a:bodyPr>
          <a:lstStyle/>
          <a:p>
            <a:pPr algn="l"/>
            <a:r>
              <a:rPr sz="800" b="1">
                <a:solidFill>
                  <a:srgbClr val="FDBA74"/>
                </a:solidFill>
                <a:latin typeface="Consolas"/>
              </a:rPr>
              <a:t>    for (ConsumerRecord&lt;String, String&gt; r : records) {</a:t>
            </a:r>
          </a:p>
        </p:txBody>
      </p:sp>
      <p:sp>
        <p:nvSpPr>
          <p:cNvPr id="21" name="a1wd770_code20"/>
          <p:cNvSpPr txBox="1"/>
          <p:nvPr/>
        </p:nvSpPr>
        <p:spPr>
          <a:xfrm>
            <a:off x="585216" y="2962656"/>
            <a:ext cx="4864607" cy="182880"/>
          </a:xfrm>
          <a:prstGeom prst="rect">
            <a:avLst/>
          </a:prstGeom>
          <a:noFill/>
        </p:spPr>
        <p:txBody>
          <a:bodyPr wrap="none" lIns="0" tIns="0" rIns="0" bIns="0" anchor="ctr">
            <a:spAutoFit/>
          </a:bodyPr>
          <a:lstStyle/>
          <a:p>
            <a:pPr algn="l"/>
            <a:r>
              <a:rPr sz="800" b="0">
                <a:solidFill>
                  <a:srgbClr val="E7E5E4"/>
                </a:solidFill>
                <a:latin typeface="Consolas"/>
              </a:rPr>
              <a:t>        System.out.printf("sensor %s -&gt; %s%n", r.key(), r.value());</a:t>
            </a:r>
          </a:p>
        </p:txBody>
      </p:sp>
      <p:sp>
        <p:nvSpPr>
          <p:cNvPr id="22" name="a1wd880_code21"/>
          <p:cNvSpPr txBox="1"/>
          <p:nvPr/>
        </p:nvSpPr>
        <p:spPr>
          <a:xfrm>
            <a:off x="585216" y="3145536"/>
            <a:ext cx="4864607" cy="182880"/>
          </a:xfrm>
          <a:prstGeom prst="rect">
            <a:avLst/>
          </a:prstGeom>
          <a:noFill/>
        </p:spPr>
        <p:txBody>
          <a:bodyPr wrap="none" lIns="0" tIns="0" rIns="0" bIns="0" anchor="ctr">
            <a:spAutoFit/>
          </a:bodyPr>
          <a:lstStyle/>
          <a:p>
            <a:pPr algn="l"/>
            <a:r>
              <a:rPr sz="800" b="0">
                <a:solidFill>
                  <a:srgbClr val="E7E5E4"/>
                </a:solidFill>
                <a:latin typeface="Consolas"/>
              </a:rPr>
              <a:t>    }</a:t>
            </a:r>
          </a:p>
        </p:txBody>
      </p:sp>
      <p:sp>
        <p:nvSpPr>
          <p:cNvPr id="23" name="a1wd990_code22"/>
          <p:cNvSpPr txBox="1"/>
          <p:nvPr/>
        </p:nvSpPr>
        <p:spPr>
          <a:xfrm>
            <a:off x="585216" y="3328415"/>
            <a:ext cx="4864607" cy="182880"/>
          </a:xfrm>
          <a:prstGeom prst="rect">
            <a:avLst/>
          </a:prstGeom>
          <a:noFill/>
        </p:spPr>
        <p:txBody>
          <a:bodyPr wrap="none" lIns="0" tIns="0" rIns="0" bIns="0" anchor="ctr">
            <a:spAutoFit/>
          </a:bodyPr>
          <a:lstStyle/>
          <a:p>
            <a:pPr algn="l"/>
            <a:r>
              <a:rPr sz="800" b="0">
                <a:solidFill>
                  <a:srgbClr val="E7E5E4"/>
                </a:solidFill>
                <a:latin typeface="Consolas"/>
              </a:rPr>
              <a:t>}</a:t>
            </a:r>
          </a:p>
        </p:txBody>
      </p:sp>
      <p:sp>
        <p:nvSpPr>
          <p:cNvPr id="24" name="a2u_ch23"/>
          <p:cNvSpPr txBox="1"/>
          <p:nvPr/>
        </p:nvSpPr>
        <p:spPr>
          <a:xfrm>
            <a:off x="5852160" y="1280160"/>
            <a:ext cx="2834640" cy="237744"/>
          </a:xfrm>
          <a:prstGeom prst="rect">
            <a:avLst/>
          </a:prstGeom>
          <a:noFill/>
        </p:spPr>
        <p:txBody>
          <a:bodyPr wrap="square" lIns="0" tIns="0" rIns="0" bIns="0" anchor="ctr">
            <a:spAutoFit/>
          </a:bodyPr>
          <a:lstStyle/>
          <a:p>
            <a:pPr algn="l"/>
            <a:r>
              <a:rPr sz="850" b="1" spc="140">
                <a:solidFill>
                  <a:srgbClr val="4F46E5"/>
                </a:solidFill>
                <a:latin typeface="Segoe UI"/>
              </a:rPr>
              <a:t>ALSO ON EVERY RECORD</a:t>
            </a:r>
          </a:p>
        </p:txBody>
      </p:sp>
      <p:sp>
        <p:nvSpPr>
          <p:cNvPr id="25" name="a2ud80_pill24"/>
          <p:cNvSpPr/>
          <p:nvPr/>
        </p:nvSpPr>
        <p:spPr>
          <a:xfrm>
            <a:off x="5852160" y="1627632"/>
            <a:ext cx="1280160" cy="292608"/>
          </a:xfrm>
          <a:prstGeom prst="roundRect">
            <a:avLst>
              <a:gd name="adj" fmla="val 50000"/>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4F46E5"/>
                </a:solidFill>
                <a:latin typeface="Consolas"/>
              </a:rPr>
              <a:t>r.topic()</a:t>
            </a:r>
          </a:p>
        </p:txBody>
      </p:sp>
      <p:sp>
        <p:nvSpPr>
          <p:cNvPr id="26" name="a2ud80_rw25"/>
          <p:cNvSpPr txBox="1"/>
          <p:nvPr/>
        </p:nvSpPr>
        <p:spPr>
          <a:xfrm>
            <a:off x="7269480" y="1627632"/>
            <a:ext cx="1417320" cy="292608"/>
          </a:xfrm>
          <a:prstGeom prst="rect">
            <a:avLst/>
          </a:prstGeom>
          <a:noFill/>
        </p:spPr>
        <p:txBody>
          <a:bodyPr wrap="square" lIns="0" tIns="0" rIns="0" bIns="0" anchor="ctr">
            <a:spAutoFit/>
          </a:bodyPr>
          <a:lstStyle/>
          <a:p>
            <a:pPr algn="l"/>
            <a:r>
              <a:rPr sz="900" b="0">
                <a:solidFill>
                  <a:srgbClr val="44403C"/>
                </a:solidFill>
                <a:latin typeface="Segoe UI"/>
              </a:rPr>
              <a:t>which topic</a:t>
            </a:r>
          </a:p>
        </p:txBody>
      </p:sp>
      <p:sp>
        <p:nvSpPr>
          <p:cNvPr id="27" name="a2ud170_pill26"/>
          <p:cNvSpPr/>
          <p:nvPr/>
        </p:nvSpPr>
        <p:spPr>
          <a:xfrm>
            <a:off x="5852160" y="2029968"/>
            <a:ext cx="1280160" cy="292608"/>
          </a:xfrm>
          <a:prstGeom prst="roundRect">
            <a:avLst>
              <a:gd name="adj" fmla="val 50000"/>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4F46E5"/>
                </a:solidFill>
                <a:latin typeface="Consolas"/>
              </a:rPr>
              <a:t>r.partition()</a:t>
            </a:r>
          </a:p>
        </p:txBody>
      </p:sp>
      <p:sp>
        <p:nvSpPr>
          <p:cNvPr id="28" name="a2ud170_rw27"/>
          <p:cNvSpPr txBox="1"/>
          <p:nvPr/>
        </p:nvSpPr>
        <p:spPr>
          <a:xfrm>
            <a:off x="7269480" y="2029968"/>
            <a:ext cx="1417320" cy="292608"/>
          </a:xfrm>
          <a:prstGeom prst="rect">
            <a:avLst/>
          </a:prstGeom>
          <a:noFill/>
        </p:spPr>
        <p:txBody>
          <a:bodyPr wrap="square" lIns="0" tIns="0" rIns="0" bIns="0" anchor="ctr">
            <a:spAutoFit/>
          </a:bodyPr>
          <a:lstStyle/>
          <a:p>
            <a:pPr algn="l"/>
            <a:r>
              <a:rPr sz="900" b="0">
                <a:solidFill>
                  <a:srgbClr val="44403C"/>
                </a:solidFill>
                <a:latin typeface="Segoe UI"/>
              </a:rPr>
              <a:t>which partition</a:t>
            </a:r>
          </a:p>
        </p:txBody>
      </p:sp>
      <p:sp>
        <p:nvSpPr>
          <p:cNvPr id="29" name="a2ud260_pill28"/>
          <p:cNvSpPr/>
          <p:nvPr/>
        </p:nvSpPr>
        <p:spPr>
          <a:xfrm>
            <a:off x="5852160" y="2432304"/>
            <a:ext cx="1280160" cy="292608"/>
          </a:xfrm>
          <a:prstGeom prst="roundRect">
            <a:avLst>
              <a:gd name="adj" fmla="val 50000"/>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4F46E5"/>
                </a:solidFill>
                <a:latin typeface="Consolas"/>
              </a:rPr>
              <a:t>r.offset()</a:t>
            </a:r>
          </a:p>
        </p:txBody>
      </p:sp>
      <p:sp>
        <p:nvSpPr>
          <p:cNvPr id="30" name="a2ud260_rw29"/>
          <p:cNvSpPr txBox="1"/>
          <p:nvPr/>
        </p:nvSpPr>
        <p:spPr>
          <a:xfrm>
            <a:off x="7269480" y="2432304"/>
            <a:ext cx="1417320" cy="292608"/>
          </a:xfrm>
          <a:prstGeom prst="rect">
            <a:avLst/>
          </a:prstGeom>
          <a:noFill/>
        </p:spPr>
        <p:txBody>
          <a:bodyPr wrap="square" lIns="0" tIns="0" rIns="0" bIns="0" anchor="ctr">
            <a:spAutoFit/>
          </a:bodyPr>
          <a:lstStyle/>
          <a:p>
            <a:pPr algn="l"/>
            <a:r>
              <a:rPr sz="900" b="0">
                <a:solidFill>
                  <a:srgbClr val="44403C"/>
                </a:solidFill>
                <a:latin typeface="Segoe UI"/>
              </a:rPr>
              <a:t>its position there</a:t>
            </a:r>
          </a:p>
        </p:txBody>
      </p:sp>
      <p:sp>
        <p:nvSpPr>
          <p:cNvPr id="31" name="a2ud350_pill30"/>
          <p:cNvSpPr/>
          <p:nvPr/>
        </p:nvSpPr>
        <p:spPr>
          <a:xfrm>
            <a:off x="5852160" y="2834640"/>
            <a:ext cx="1280160" cy="292608"/>
          </a:xfrm>
          <a:prstGeom prst="roundRect">
            <a:avLst>
              <a:gd name="adj" fmla="val 50000"/>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4F46E5"/>
                </a:solidFill>
                <a:latin typeface="Consolas"/>
              </a:rPr>
              <a:t>r.timestamp()</a:t>
            </a:r>
          </a:p>
        </p:txBody>
      </p:sp>
      <p:sp>
        <p:nvSpPr>
          <p:cNvPr id="32" name="a2ud350_rw31"/>
          <p:cNvSpPr txBox="1"/>
          <p:nvPr/>
        </p:nvSpPr>
        <p:spPr>
          <a:xfrm>
            <a:off x="7269480" y="2834640"/>
            <a:ext cx="1417320" cy="292608"/>
          </a:xfrm>
          <a:prstGeom prst="rect">
            <a:avLst/>
          </a:prstGeom>
          <a:noFill/>
        </p:spPr>
        <p:txBody>
          <a:bodyPr wrap="square" lIns="0" tIns="0" rIns="0" bIns="0" anchor="ctr">
            <a:spAutoFit/>
          </a:bodyPr>
          <a:lstStyle/>
          <a:p>
            <a:pPr algn="l"/>
            <a:r>
              <a:rPr sz="900" b="0">
                <a:solidFill>
                  <a:srgbClr val="44403C"/>
                </a:solidFill>
                <a:latin typeface="Segoe UI"/>
              </a:rPr>
              <a:t>when it happened</a:t>
            </a:r>
          </a:p>
        </p:txBody>
      </p:sp>
      <p:sp>
        <p:nvSpPr>
          <p:cNvPr id="33" name="a2ud440_pill32"/>
          <p:cNvSpPr/>
          <p:nvPr/>
        </p:nvSpPr>
        <p:spPr>
          <a:xfrm>
            <a:off x="5852160" y="3236976"/>
            <a:ext cx="1280160" cy="292608"/>
          </a:xfrm>
          <a:prstGeom prst="roundRect">
            <a:avLst>
              <a:gd name="adj" fmla="val 50000"/>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4F46E5"/>
                </a:solidFill>
                <a:latin typeface="Consolas"/>
              </a:rPr>
              <a:t>r.headers()</a:t>
            </a:r>
          </a:p>
        </p:txBody>
      </p:sp>
      <p:sp>
        <p:nvSpPr>
          <p:cNvPr id="34" name="a2ud440_rw33"/>
          <p:cNvSpPr txBox="1"/>
          <p:nvPr/>
        </p:nvSpPr>
        <p:spPr>
          <a:xfrm>
            <a:off x="7269480" y="3236976"/>
            <a:ext cx="1417320" cy="292608"/>
          </a:xfrm>
          <a:prstGeom prst="rect">
            <a:avLst/>
          </a:prstGeom>
          <a:noFill/>
        </p:spPr>
        <p:txBody>
          <a:bodyPr wrap="square" lIns="0" tIns="0" rIns="0" bIns="0" anchor="ctr">
            <a:spAutoFit/>
          </a:bodyPr>
          <a:lstStyle/>
          <a:p>
            <a:pPr algn="l"/>
            <a:r>
              <a:rPr sz="900" b="0">
                <a:solidFill>
                  <a:srgbClr val="44403C"/>
                </a:solidFill>
                <a:latin typeface="Segoe UI"/>
              </a:rPr>
              <a:t>any extra metadata</a:t>
            </a:r>
          </a:p>
        </p:txBody>
      </p:sp>
      <p:sp>
        <p:nvSpPr>
          <p:cNvPr id="35" name="a3u_nb34"/>
          <p:cNvSpPr/>
          <p:nvPr/>
        </p:nvSpPr>
        <p:spPr>
          <a:xfrm>
            <a:off x="457200" y="3886200"/>
            <a:ext cx="8229600" cy="566928"/>
          </a:xfrm>
          <a:prstGeom prst="roundRect">
            <a:avLst>
              <a:gd name="adj" fmla="val 12903"/>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3u_nacc35"/>
          <p:cNvSpPr/>
          <p:nvPr/>
        </p:nvSpPr>
        <p:spPr>
          <a:xfrm>
            <a:off x="457200" y="3886200"/>
            <a:ext cx="54864" cy="5669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3u_nt36"/>
          <p:cNvSpPr txBox="1"/>
          <p:nvPr/>
        </p:nvSpPr>
        <p:spPr>
          <a:xfrm>
            <a:off x="658368" y="3886200"/>
            <a:ext cx="7827264" cy="566928"/>
          </a:xfrm>
          <a:prstGeom prst="rect">
            <a:avLst/>
          </a:prstGeom>
          <a:noFill/>
        </p:spPr>
        <p:txBody>
          <a:bodyPr wrap="square" lIns="0" tIns="0" rIns="0" bIns="0" anchor="ctr">
            <a:spAutoFit/>
          </a:bodyPr>
          <a:lstStyle/>
          <a:p>
            <a:pPr algn="l"/>
            <a:r>
              <a:rPr sz="950" b="1">
                <a:solidFill>
                  <a:srgbClr val="4F46E5"/>
                </a:solidFill>
                <a:latin typeface="Segoe UI"/>
              </a:rPr>
              <a:t>KEY  </a:t>
            </a:r>
            <a:r>
              <a:rPr sz="950" b="0">
                <a:solidFill>
                  <a:srgbClr val="44403C"/>
                </a:solidFill>
                <a:latin typeface="Segoe UI"/>
              </a:rPr>
              <a:t>Key and value come first - partition, offset, timestamp and headers are there when you need them.</a:t>
            </a:r>
          </a:p>
        </p:txBody>
      </p:sp>
      <p:sp>
        <p:nvSpPr>
          <p:cNvPr id="38" name="ft37"/>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08</a:t>
            </a:r>
          </a:p>
        </p:txBody>
      </p:sp>
      <p:sp>
        <p:nvSpPr>
          <p:cNvPr id="39" name="ft38"/>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ft39"/>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Consumers</a:t>
            </a:r>
          </a:p>
        </p:txBody>
      </p:sp>
      <p:sp>
        <p:nvSpPr>
          <p:cNvPr id="41" name="ft40"/>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7</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22" presetClass="entr" presetSubtype="8"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par>
                                <p:cTn id="19" presetID="22" presetClass="entr" presetSubtype="8" fill="hold" grpId="0" nodeType="withEffect">
                                  <p:stCondLst>
                                    <p:cond delay="11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par>
                                <p:cTn id="22" presetID="22" presetClass="entr" presetSubtype="8" fill="hold" grpId="0" nodeType="withEffect">
                                  <p:stCondLst>
                                    <p:cond delay="22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500"/>
                                        <p:tgtEl>
                                          <p:spTgt spid="16"/>
                                        </p:tgtEl>
                                      </p:cBhvr>
                                    </p:animEffect>
                                  </p:childTnLst>
                                </p:cTn>
                              </p:par>
                              <p:par>
                                <p:cTn id="25" presetID="22" presetClass="entr" presetSubtype="8" fill="hold" grpId="0" nodeType="withEffect">
                                  <p:stCondLst>
                                    <p:cond delay="33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500"/>
                                        <p:tgtEl>
                                          <p:spTgt spid="17"/>
                                        </p:tgtEl>
                                      </p:cBhvr>
                                    </p:animEffect>
                                  </p:childTnLst>
                                </p:cTn>
                              </p:par>
                              <p:par>
                                <p:cTn id="28" presetID="22" presetClass="entr" presetSubtype="8" fill="hold" grpId="0" nodeType="withEffect">
                                  <p:stCondLst>
                                    <p:cond delay="44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par>
                                <p:cTn id="31" presetID="22" presetClass="entr" presetSubtype="8" fill="hold" grpId="0" nodeType="withEffect">
                                  <p:stCondLst>
                                    <p:cond delay="550"/>
                                  </p:stCondLst>
                                  <p:childTnLst>
                                    <p:set>
                                      <p:cBhvr>
                                        <p:cTn id="29" dur="1" fill="hold">
                                          <p:stCondLst>
                                            <p:cond delay="0"/>
                                          </p:stCondLst>
                                        </p:cTn>
                                        <p:tgtEl>
                                          <p:spTgt spid="19"/>
                                        </p:tgtEl>
                                        <p:attrNameLst>
                                          <p:attrName>style.visibility</p:attrName>
                                        </p:attrNameLst>
                                      </p:cBhvr>
                                      <p:to>
                                        <p:strVal val="visible"/>
                                      </p:to>
                                    </p:set>
                                    <p:animEffect transition="in" filter="wipe(left)">
                                      <p:cBhvr>
                                        <p:cTn id="30" dur="500"/>
                                        <p:tgtEl>
                                          <p:spTgt spid="19"/>
                                        </p:tgtEl>
                                      </p:cBhvr>
                                    </p:animEffect>
                                  </p:childTnLst>
                                </p:cTn>
                              </p:par>
                              <p:par>
                                <p:cTn id="34" presetID="22" presetClass="entr" presetSubtype="8" fill="hold" grpId="0" nodeType="withEffect">
                                  <p:stCondLst>
                                    <p:cond delay="660"/>
                                  </p:stCondLst>
                                  <p:childTnLst>
                                    <p:set>
                                      <p:cBhvr>
                                        <p:cTn id="32" dur="1" fill="hold">
                                          <p:stCondLst>
                                            <p:cond delay="0"/>
                                          </p:stCondLst>
                                        </p:cTn>
                                        <p:tgtEl>
                                          <p:spTgt spid="20"/>
                                        </p:tgtEl>
                                        <p:attrNameLst>
                                          <p:attrName>style.visibility</p:attrName>
                                        </p:attrNameLst>
                                      </p:cBhvr>
                                      <p:to>
                                        <p:strVal val="visible"/>
                                      </p:to>
                                    </p:set>
                                    <p:animEffect transition="in" filter="wipe(left)">
                                      <p:cBhvr>
                                        <p:cTn id="33" dur="500"/>
                                        <p:tgtEl>
                                          <p:spTgt spid="20"/>
                                        </p:tgtEl>
                                      </p:cBhvr>
                                    </p:animEffect>
                                  </p:childTnLst>
                                </p:cTn>
                              </p:par>
                              <p:par>
                                <p:cTn id="37" presetID="22" presetClass="entr" presetSubtype="8" fill="hold" grpId="0" nodeType="withEffect">
                                  <p:stCondLst>
                                    <p:cond delay="770"/>
                                  </p:stCondLst>
                                  <p:childTnLst>
                                    <p:set>
                                      <p:cBhvr>
                                        <p:cTn id="35" dur="1" fill="hold">
                                          <p:stCondLst>
                                            <p:cond delay="0"/>
                                          </p:stCondLst>
                                        </p:cTn>
                                        <p:tgtEl>
                                          <p:spTgt spid="21"/>
                                        </p:tgtEl>
                                        <p:attrNameLst>
                                          <p:attrName>style.visibility</p:attrName>
                                        </p:attrNameLst>
                                      </p:cBhvr>
                                      <p:to>
                                        <p:strVal val="visible"/>
                                      </p:to>
                                    </p:set>
                                    <p:animEffect transition="in" filter="wipe(left)">
                                      <p:cBhvr>
                                        <p:cTn id="36" dur="500"/>
                                        <p:tgtEl>
                                          <p:spTgt spid="21"/>
                                        </p:tgtEl>
                                      </p:cBhvr>
                                    </p:animEffect>
                                  </p:childTnLst>
                                </p:cTn>
                              </p:par>
                              <p:par>
                                <p:cTn id="40" presetID="22" presetClass="entr" presetSubtype="8" fill="hold" grpId="0" nodeType="withEffect">
                                  <p:stCondLst>
                                    <p:cond delay="880"/>
                                  </p:stCondLst>
                                  <p:childTnLst>
                                    <p:set>
                                      <p:cBhvr>
                                        <p:cTn id="38" dur="1" fill="hold">
                                          <p:stCondLst>
                                            <p:cond delay="0"/>
                                          </p:stCondLst>
                                        </p:cTn>
                                        <p:tgtEl>
                                          <p:spTgt spid="22"/>
                                        </p:tgtEl>
                                        <p:attrNameLst>
                                          <p:attrName>style.visibility</p:attrName>
                                        </p:attrNameLst>
                                      </p:cBhvr>
                                      <p:to>
                                        <p:strVal val="visible"/>
                                      </p:to>
                                    </p:set>
                                    <p:animEffect transition="in" filter="wipe(left)">
                                      <p:cBhvr>
                                        <p:cTn id="39" dur="500"/>
                                        <p:tgtEl>
                                          <p:spTgt spid="22"/>
                                        </p:tgtEl>
                                      </p:cBhvr>
                                    </p:animEffect>
                                  </p:childTnLst>
                                </p:cTn>
                              </p:par>
                              <p:par>
                                <p:cTn id="43" presetID="22" presetClass="entr" presetSubtype="8" fill="hold" grpId="0" nodeType="withEffect">
                                  <p:stCondLst>
                                    <p:cond delay="990"/>
                                  </p:stCondLst>
                                  <p:childTnLst>
                                    <p:set>
                                      <p:cBhvr>
                                        <p:cTn id="41" dur="1" fill="hold">
                                          <p:stCondLst>
                                            <p:cond delay="0"/>
                                          </p:stCondLst>
                                        </p:cTn>
                                        <p:tgtEl>
                                          <p:spTgt spid="23"/>
                                        </p:tgtEl>
                                        <p:attrNameLst>
                                          <p:attrName>style.visibility</p:attrName>
                                        </p:attrNameLst>
                                      </p:cBhvr>
                                      <p:to>
                                        <p:strVal val="visible"/>
                                      </p:to>
                                    </p:set>
                                    <p:animEffect transition="in" filter="wipe(left)">
                                      <p:cBhvr>
                                        <p:cTn id="42" dur="500"/>
                                        <p:tgtEl>
                                          <p:spTgt spid="23"/>
                                        </p:tgtEl>
                                      </p:cBhvr>
                                    </p:animEffect>
                                  </p:childTnLst>
                                </p:cTn>
                              </p:par>
                            </p:childTnLst>
                          </p:cTn>
                        </p:par>
                      </p:childTnLst>
                    </p:cTn>
                  </p:par>
                  <p:par>
                    <p:cTn id="44" fill="hold">
                      <p:stCondLst>
                        <p:cond delay="indefinite"/>
                      </p:stCondLst>
                      <p:childTnLst>
                        <p:par>
                          <p:cTn id="45" fill="hold">
                            <p:stCondLst>
                              <p:cond delay="0"/>
                            </p:stCondLst>
                            <p:childTnLst>
                              <p:par>
                                <p:cTn id="50" presetID="2" presetClass="entr" presetSubtype="4"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 calcmode="lin" valueType="num">
                                      <p:cBhvr additive="base">
                                        <p:cTn id="47" dur="500" fill="hold"/>
                                        <p:tgtEl>
                                          <p:spTgt spid="24"/>
                                        </p:tgtEl>
                                        <p:attrNameLst>
                                          <p:attrName>ppt_x</p:attrName>
                                        </p:attrNameLst>
                                      </p:cBhvr>
                                      <p:tavLst>
                                        <p:tav tm="0">
                                          <p:val>
                                            <p:strVal val="#ppt_x"/>
                                          </p:val>
                                        </p:tav>
                                        <p:tav tm="100000">
                                          <p:val>
                                            <p:strVal val="#ppt_x"/>
                                          </p:val>
                                        </p:tav>
                                      </p:tavLst>
                                    </p:anim>
                                    <p:anim calcmode="lin" valueType="num">
                                      <p:cBhvr additive="base">
                                        <p:cTn id="48" dur="500" fill="hold"/>
                                        <p:tgtEl>
                                          <p:spTgt spid="24"/>
                                        </p:tgtEl>
                                        <p:attrNameLst>
                                          <p:attrName>ppt_y</p:attrName>
                                        </p:attrNameLst>
                                      </p:cBhvr>
                                      <p:tavLst>
                                        <p:tav tm="0">
                                          <p:val>
                                            <p:strVal val="#ppt_y+0.1"/>
                                          </p:val>
                                        </p:tav>
                                        <p:tav tm="100000">
                                          <p:val>
                                            <p:strVal val="#ppt_y"/>
                                          </p:val>
                                        </p:tav>
                                      </p:tavLst>
                                    </p:anim>
                                    <p:animEffect transition="in" filter="fade">
                                      <p:cBhvr>
                                        <p:cTn id="49" dur="500"/>
                                        <p:tgtEl>
                                          <p:spTgt spid="24"/>
                                        </p:tgtEl>
                                      </p:cBhvr>
                                    </p:animEffect>
                                  </p:childTnLst>
                                </p:cTn>
                              </p:par>
                              <p:par>
                                <p:cTn id="55" presetID="2" presetClass="entr" presetSubtype="4" fill="hold" grpId="0" nodeType="withEffect">
                                  <p:stCondLst>
                                    <p:cond delay="80"/>
                                  </p:stCondLst>
                                  <p:childTnLst>
                                    <p:set>
                                      <p:cBhvr>
                                        <p:cTn id="51" dur="1" fill="hold">
                                          <p:stCondLst>
                                            <p:cond delay="0"/>
                                          </p:stCondLst>
                                        </p:cTn>
                                        <p:tgtEl>
                                          <p:spTgt spid="25"/>
                                        </p:tgtEl>
                                        <p:attrNameLst>
                                          <p:attrName>style.visibility</p:attrName>
                                        </p:attrNameLst>
                                      </p:cBhvr>
                                      <p:to>
                                        <p:strVal val="visible"/>
                                      </p:to>
                                    </p:set>
                                    <p:anim calcmode="lin" valueType="num">
                                      <p:cBhvr additive="base">
                                        <p:cTn id="52" dur="500" fill="hold"/>
                                        <p:tgtEl>
                                          <p:spTgt spid="25"/>
                                        </p:tgtEl>
                                        <p:attrNameLst>
                                          <p:attrName>ppt_x</p:attrName>
                                        </p:attrNameLst>
                                      </p:cBhvr>
                                      <p:tavLst>
                                        <p:tav tm="0">
                                          <p:val>
                                            <p:strVal val="#ppt_x"/>
                                          </p:val>
                                        </p:tav>
                                        <p:tav tm="100000">
                                          <p:val>
                                            <p:strVal val="#ppt_x"/>
                                          </p:val>
                                        </p:tav>
                                      </p:tavLst>
                                    </p:anim>
                                    <p:anim calcmode="lin" valueType="num">
                                      <p:cBhvr additive="base">
                                        <p:cTn id="53" dur="500" fill="hold"/>
                                        <p:tgtEl>
                                          <p:spTgt spid="25"/>
                                        </p:tgtEl>
                                        <p:attrNameLst>
                                          <p:attrName>ppt_y</p:attrName>
                                        </p:attrNameLst>
                                      </p:cBhvr>
                                      <p:tavLst>
                                        <p:tav tm="0">
                                          <p:val>
                                            <p:strVal val="#ppt_y+0.1"/>
                                          </p:val>
                                        </p:tav>
                                        <p:tav tm="100000">
                                          <p:val>
                                            <p:strVal val="#ppt_y"/>
                                          </p:val>
                                        </p:tav>
                                      </p:tavLst>
                                    </p:anim>
                                    <p:animEffect transition="in" filter="fade">
                                      <p:cBhvr>
                                        <p:cTn id="54" dur="500"/>
                                        <p:tgtEl>
                                          <p:spTgt spid="25"/>
                                        </p:tgtEl>
                                      </p:cBhvr>
                                    </p:animEffect>
                                  </p:childTnLst>
                                </p:cTn>
                              </p:par>
                              <p:par>
                                <p:cTn id="60" presetID="2" presetClass="entr" presetSubtype="4" fill="hold" grpId="0" nodeType="withEffect">
                                  <p:stCondLst>
                                    <p:cond delay="80"/>
                                  </p:stCondLst>
                                  <p:childTnLst>
                                    <p:set>
                                      <p:cBhvr>
                                        <p:cTn id="56" dur="1" fill="hold">
                                          <p:stCondLst>
                                            <p:cond delay="0"/>
                                          </p:stCondLst>
                                        </p:cTn>
                                        <p:tgtEl>
                                          <p:spTgt spid="26"/>
                                        </p:tgtEl>
                                        <p:attrNameLst>
                                          <p:attrName>style.visibility</p:attrName>
                                        </p:attrNameLst>
                                      </p:cBhvr>
                                      <p:to>
                                        <p:strVal val="visible"/>
                                      </p:to>
                                    </p:set>
                                    <p:anim calcmode="lin" valueType="num">
                                      <p:cBhvr additive="base">
                                        <p:cTn id="57" dur="500" fill="hold"/>
                                        <p:tgtEl>
                                          <p:spTgt spid="26"/>
                                        </p:tgtEl>
                                        <p:attrNameLst>
                                          <p:attrName>ppt_x</p:attrName>
                                        </p:attrNameLst>
                                      </p:cBhvr>
                                      <p:tavLst>
                                        <p:tav tm="0">
                                          <p:val>
                                            <p:strVal val="#ppt_x"/>
                                          </p:val>
                                        </p:tav>
                                        <p:tav tm="100000">
                                          <p:val>
                                            <p:strVal val="#ppt_x"/>
                                          </p:val>
                                        </p:tav>
                                      </p:tavLst>
                                    </p:anim>
                                    <p:anim calcmode="lin" valueType="num">
                                      <p:cBhvr additive="base">
                                        <p:cTn id="58" dur="500" fill="hold"/>
                                        <p:tgtEl>
                                          <p:spTgt spid="26"/>
                                        </p:tgtEl>
                                        <p:attrNameLst>
                                          <p:attrName>ppt_y</p:attrName>
                                        </p:attrNameLst>
                                      </p:cBhvr>
                                      <p:tavLst>
                                        <p:tav tm="0">
                                          <p:val>
                                            <p:strVal val="#ppt_y+0.1"/>
                                          </p:val>
                                        </p:tav>
                                        <p:tav tm="100000">
                                          <p:val>
                                            <p:strVal val="#ppt_y"/>
                                          </p:val>
                                        </p:tav>
                                      </p:tavLst>
                                    </p:anim>
                                    <p:animEffect transition="in" filter="fade">
                                      <p:cBhvr>
                                        <p:cTn id="59" dur="500"/>
                                        <p:tgtEl>
                                          <p:spTgt spid="26"/>
                                        </p:tgtEl>
                                      </p:cBhvr>
                                    </p:animEffect>
                                  </p:childTnLst>
                                </p:cTn>
                              </p:par>
                              <p:par>
                                <p:cTn id="65" presetID="2" presetClass="entr" presetSubtype="4" fill="hold" grpId="0" nodeType="withEffect">
                                  <p:stCondLst>
                                    <p:cond delay="170"/>
                                  </p:stCondLst>
                                  <p:childTnLst>
                                    <p:set>
                                      <p:cBhvr>
                                        <p:cTn id="61" dur="1" fill="hold">
                                          <p:stCondLst>
                                            <p:cond delay="0"/>
                                          </p:stCondLst>
                                        </p:cTn>
                                        <p:tgtEl>
                                          <p:spTgt spid="27"/>
                                        </p:tgtEl>
                                        <p:attrNameLst>
                                          <p:attrName>style.visibility</p:attrName>
                                        </p:attrNameLst>
                                      </p:cBhvr>
                                      <p:to>
                                        <p:strVal val="visible"/>
                                      </p:to>
                                    </p:set>
                                    <p:anim calcmode="lin" valueType="num">
                                      <p:cBhvr additive="base">
                                        <p:cTn id="62" dur="500" fill="hold"/>
                                        <p:tgtEl>
                                          <p:spTgt spid="27"/>
                                        </p:tgtEl>
                                        <p:attrNameLst>
                                          <p:attrName>ppt_x</p:attrName>
                                        </p:attrNameLst>
                                      </p:cBhvr>
                                      <p:tavLst>
                                        <p:tav tm="0">
                                          <p:val>
                                            <p:strVal val="#ppt_x"/>
                                          </p:val>
                                        </p:tav>
                                        <p:tav tm="100000">
                                          <p:val>
                                            <p:strVal val="#ppt_x"/>
                                          </p:val>
                                        </p:tav>
                                      </p:tavLst>
                                    </p:anim>
                                    <p:anim calcmode="lin" valueType="num">
                                      <p:cBhvr additive="base">
                                        <p:cTn id="63" dur="500" fill="hold"/>
                                        <p:tgtEl>
                                          <p:spTgt spid="27"/>
                                        </p:tgtEl>
                                        <p:attrNameLst>
                                          <p:attrName>ppt_y</p:attrName>
                                        </p:attrNameLst>
                                      </p:cBhvr>
                                      <p:tavLst>
                                        <p:tav tm="0">
                                          <p:val>
                                            <p:strVal val="#ppt_y+0.1"/>
                                          </p:val>
                                        </p:tav>
                                        <p:tav tm="100000">
                                          <p:val>
                                            <p:strVal val="#ppt_y"/>
                                          </p:val>
                                        </p:tav>
                                      </p:tavLst>
                                    </p:anim>
                                    <p:animEffect transition="in" filter="fade">
                                      <p:cBhvr>
                                        <p:cTn id="64" dur="500"/>
                                        <p:tgtEl>
                                          <p:spTgt spid="27"/>
                                        </p:tgtEl>
                                      </p:cBhvr>
                                    </p:animEffect>
                                  </p:childTnLst>
                                </p:cTn>
                              </p:par>
                              <p:par>
                                <p:cTn id="70" presetID="2" presetClass="entr" presetSubtype="4" fill="hold" grpId="0" nodeType="withEffect">
                                  <p:stCondLst>
                                    <p:cond delay="170"/>
                                  </p:stCondLst>
                                  <p:childTnLst>
                                    <p:set>
                                      <p:cBhvr>
                                        <p:cTn id="66" dur="1" fill="hold">
                                          <p:stCondLst>
                                            <p:cond delay="0"/>
                                          </p:stCondLst>
                                        </p:cTn>
                                        <p:tgtEl>
                                          <p:spTgt spid="28"/>
                                        </p:tgtEl>
                                        <p:attrNameLst>
                                          <p:attrName>style.visibility</p:attrName>
                                        </p:attrNameLst>
                                      </p:cBhvr>
                                      <p:to>
                                        <p:strVal val="visible"/>
                                      </p:to>
                                    </p:set>
                                    <p:anim calcmode="lin" valueType="num">
                                      <p:cBhvr additive="base">
                                        <p:cTn id="67" dur="500" fill="hold"/>
                                        <p:tgtEl>
                                          <p:spTgt spid="28"/>
                                        </p:tgtEl>
                                        <p:attrNameLst>
                                          <p:attrName>ppt_x</p:attrName>
                                        </p:attrNameLst>
                                      </p:cBhvr>
                                      <p:tavLst>
                                        <p:tav tm="0">
                                          <p:val>
                                            <p:strVal val="#ppt_x"/>
                                          </p:val>
                                        </p:tav>
                                        <p:tav tm="100000">
                                          <p:val>
                                            <p:strVal val="#ppt_x"/>
                                          </p:val>
                                        </p:tav>
                                      </p:tavLst>
                                    </p:anim>
                                    <p:anim calcmode="lin" valueType="num">
                                      <p:cBhvr additive="base">
                                        <p:cTn id="68" dur="500" fill="hold"/>
                                        <p:tgtEl>
                                          <p:spTgt spid="28"/>
                                        </p:tgtEl>
                                        <p:attrNameLst>
                                          <p:attrName>ppt_y</p:attrName>
                                        </p:attrNameLst>
                                      </p:cBhvr>
                                      <p:tavLst>
                                        <p:tav tm="0">
                                          <p:val>
                                            <p:strVal val="#ppt_y+0.1"/>
                                          </p:val>
                                        </p:tav>
                                        <p:tav tm="100000">
                                          <p:val>
                                            <p:strVal val="#ppt_y"/>
                                          </p:val>
                                        </p:tav>
                                      </p:tavLst>
                                    </p:anim>
                                    <p:animEffect transition="in" filter="fade">
                                      <p:cBhvr>
                                        <p:cTn id="69" dur="500"/>
                                        <p:tgtEl>
                                          <p:spTgt spid="28"/>
                                        </p:tgtEl>
                                      </p:cBhvr>
                                    </p:animEffect>
                                  </p:childTnLst>
                                </p:cTn>
                              </p:par>
                              <p:par>
                                <p:cTn id="75" presetID="2" presetClass="entr" presetSubtype="4" fill="hold" grpId="0" nodeType="withEffect">
                                  <p:stCondLst>
                                    <p:cond delay="260"/>
                                  </p:stCondLst>
                                  <p:childTnLst>
                                    <p:set>
                                      <p:cBhvr>
                                        <p:cTn id="71" dur="1" fill="hold">
                                          <p:stCondLst>
                                            <p:cond delay="0"/>
                                          </p:stCondLst>
                                        </p:cTn>
                                        <p:tgtEl>
                                          <p:spTgt spid="29"/>
                                        </p:tgtEl>
                                        <p:attrNameLst>
                                          <p:attrName>style.visibility</p:attrName>
                                        </p:attrNameLst>
                                      </p:cBhvr>
                                      <p:to>
                                        <p:strVal val="visible"/>
                                      </p:to>
                                    </p:set>
                                    <p:anim calcmode="lin" valueType="num">
                                      <p:cBhvr additive="base">
                                        <p:cTn id="72" dur="500" fill="hold"/>
                                        <p:tgtEl>
                                          <p:spTgt spid="29"/>
                                        </p:tgtEl>
                                        <p:attrNameLst>
                                          <p:attrName>ppt_x</p:attrName>
                                        </p:attrNameLst>
                                      </p:cBhvr>
                                      <p:tavLst>
                                        <p:tav tm="0">
                                          <p:val>
                                            <p:strVal val="#ppt_x"/>
                                          </p:val>
                                        </p:tav>
                                        <p:tav tm="100000">
                                          <p:val>
                                            <p:strVal val="#ppt_x"/>
                                          </p:val>
                                        </p:tav>
                                      </p:tavLst>
                                    </p:anim>
                                    <p:anim calcmode="lin" valueType="num">
                                      <p:cBhvr additive="base">
                                        <p:cTn id="73" dur="500" fill="hold"/>
                                        <p:tgtEl>
                                          <p:spTgt spid="29"/>
                                        </p:tgtEl>
                                        <p:attrNameLst>
                                          <p:attrName>ppt_y</p:attrName>
                                        </p:attrNameLst>
                                      </p:cBhvr>
                                      <p:tavLst>
                                        <p:tav tm="0">
                                          <p:val>
                                            <p:strVal val="#ppt_y+0.1"/>
                                          </p:val>
                                        </p:tav>
                                        <p:tav tm="100000">
                                          <p:val>
                                            <p:strVal val="#ppt_y"/>
                                          </p:val>
                                        </p:tav>
                                      </p:tavLst>
                                    </p:anim>
                                    <p:animEffect transition="in" filter="fade">
                                      <p:cBhvr>
                                        <p:cTn id="74" dur="500"/>
                                        <p:tgtEl>
                                          <p:spTgt spid="29"/>
                                        </p:tgtEl>
                                      </p:cBhvr>
                                    </p:animEffect>
                                  </p:childTnLst>
                                </p:cTn>
                              </p:par>
                              <p:par>
                                <p:cTn id="80" presetID="2" presetClass="entr" presetSubtype="4" fill="hold" grpId="0" nodeType="withEffect">
                                  <p:stCondLst>
                                    <p:cond delay="260"/>
                                  </p:stCondLst>
                                  <p:childTnLst>
                                    <p:set>
                                      <p:cBhvr>
                                        <p:cTn id="76" dur="1" fill="hold">
                                          <p:stCondLst>
                                            <p:cond delay="0"/>
                                          </p:stCondLst>
                                        </p:cTn>
                                        <p:tgtEl>
                                          <p:spTgt spid="30"/>
                                        </p:tgtEl>
                                        <p:attrNameLst>
                                          <p:attrName>style.visibility</p:attrName>
                                        </p:attrNameLst>
                                      </p:cBhvr>
                                      <p:to>
                                        <p:strVal val="visible"/>
                                      </p:to>
                                    </p:set>
                                    <p:anim calcmode="lin" valueType="num">
                                      <p:cBhvr additive="base">
                                        <p:cTn id="77" dur="500" fill="hold"/>
                                        <p:tgtEl>
                                          <p:spTgt spid="30"/>
                                        </p:tgtEl>
                                        <p:attrNameLst>
                                          <p:attrName>ppt_x</p:attrName>
                                        </p:attrNameLst>
                                      </p:cBhvr>
                                      <p:tavLst>
                                        <p:tav tm="0">
                                          <p:val>
                                            <p:strVal val="#ppt_x"/>
                                          </p:val>
                                        </p:tav>
                                        <p:tav tm="100000">
                                          <p:val>
                                            <p:strVal val="#ppt_x"/>
                                          </p:val>
                                        </p:tav>
                                      </p:tavLst>
                                    </p:anim>
                                    <p:anim calcmode="lin" valueType="num">
                                      <p:cBhvr additive="base">
                                        <p:cTn id="78" dur="500" fill="hold"/>
                                        <p:tgtEl>
                                          <p:spTgt spid="30"/>
                                        </p:tgtEl>
                                        <p:attrNameLst>
                                          <p:attrName>ppt_y</p:attrName>
                                        </p:attrNameLst>
                                      </p:cBhvr>
                                      <p:tavLst>
                                        <p:tav tm="0">
                                          <p:val>
                                            <p:strVal val="#ppt_y+0.1"/>
                                          </p:val>
                                        </p:tav>
                                        <p:tav tm="100000">
                                          <p:val>
                                            <p:strVal val="#ppt_y"/>
                                          </p:val>
                                        </p:tav>
                                      </p:tavLst>
                                    </p:anim>
                                    <p:animEffect transition="in" filter="fade">
                                      <p:cBhvr>
                                        <p:cTn id="79" dur="500"/>
                                        <p:tgtEl>
                                          <p:spTgt spid="30"/>
                                        </p:tgtEl>
                                      </p:cBhvr>
                                    </p:animEffect>
                                  </p:childTnLst>
                                </p:cTn>
                              </p:par>
                              <p:par>
                                <p:cTn id="85" presetID="2" presetClass="entr" presetSubtype="4" fill="hold" grpId="0" nodeType="withEffect">
                                  <p:stCondLst>
                                    <p:cond delay="350"/>
                                  </p:stCondLst>
                                  <p:childTnLst>
                                    <p:set>
                                      <p:cBhvr>
                                        <p:cTn id="81" dur="1" fill="hold">
                                          <p:stCondLst>
                                            <p:cond delay="0"/>
                                          </p:stCondLst>
                                        </p:cTn>
                                        <p:tgtEl>
                                          <p:spTgt spid="31"/>
                                        </p:tgtEl>
                                        <p:attrNameLst>
                                          <p:attrName>style.visibility</p:attrName>
                                        </p:attrNameLst>
                                      </p:cBhvr>
                                      <p:to>
                                        <p:strVal val="visible"/>
                                      </p:to>
                                    </p:set>
                                    <p:anim calcmode="lin" valueType="num">
                                      <p:cBhvr additive="base">
                                        <p:cTn id="82" dur="500" fill="hold"/>
                                        <p:tgtEl>
                                          <p:spTgt spid="31"/>
                                        </p:tgtEl>
                                        <p:attrNameLst>
                                          <p:attrName>ppt_x</p:attrName>
                                        </p:attrNameLst>
                                      </p:cBhvr>
                                      <p:tavLst>
                                        <p:tav tm="0">
                                          <p:val>
                                            <p:strVal val="#ppt_x"/>
                                          </p:val>
                                        </p:tav>
                                        <p:tav tm="100000">
                                          <p:val>
                                            <p:strVal val="#ppt_x"/>
                                          </p:val>
                                        </p:tav>
                                      </p:tavLst>
                                    </p:anim>
                                    <p:anim calcmode="lin" valueType="num">
                                      <p:cBhvr additive="base">
                                        <p:cTn id="83" dur="500" fill="hold"/>
                                        <p:tgtEl>
                                          <p:spTgt spid="31"/>
                                        </p:tgtEl>
                                        <p:attrNameLst>
                                          <p:attrName>ppt_y</p:attrName>
                                        </p:attrNameLst>
                                      </p:cBhvr>
                                      <p:tavLst>
                                        <p:tav tm="0">
                                          <p:val>
                                            <p:strVal val="#ppt_y+0.1"/>
                                          </p:val>
                                        </p:tav>
                                        <p:tav tm="100000">
                                          <p:val>
                                            <p:strVal val="#ppt_y"/>
                                          </p:val>
                                        </p:tav>
                                      </p:tavLst>
                                    </p:anim>
                                    <p:animEffect transition="in" filter="fade">
                                      <p:cBhvr>
                                        <p:cTn id="84" dur="500"/>
                                        <p:tgtEl>
                                          <p:spTgt spid="31"/>
                                        </p:tgtEl>
                                      </p:cBhvr>
                                    </p:animEffect>
                                  </p:childTnLst>
                                </p:cTn>
                              </p:par>
                              <p:par>
                                <p:cTn id="90" presetID="2" presetClass="entr" presetSubtype="4" fill="hold" grpId="0" nodeType="withEffect">
                                  <p:stCondLst>
                                    <p:cond delay="350"/>
                                  </p:stCondLst>
                                  <p:childTnLst>
                                    <p:set>
                                      <p:cBhvr>
                                        <p:cTn id="86" dur="1" fill="hold">
                                          <p:stCondLst>
                                            <p:cond delay="0"/>
                                          </p:stCondLst>
                                        </p:cTn>
                                        <p:tgtEl>
                                          <p:spTgt spid="32"/>
                                        </p:tgtEl>
                                        <p:attrNameLst>
                                          <p:attrName>style.visibility</p:attrName>
                                        </p:attrNameLst>
                                      </p:cBhvr>
                                      <p:to>
                                        <p:strVal val="visible"/>
                                      </p:to>
                                    </p:set>
                                    <p:anim calcmode="lin" valueType="num">
                                      <p:cBhvr additive="base">
                                        <p:cTn id="87" dur="500" fill="hold"/>
                                        <p:tgtEl>
                                          <p:spTgt spid="32"/>
                                        </p:tgtEl>
                                        <p:attrNameLst>
                                          <p:attrName>ppt_x</p:attrName>
                                        </p:attrNameLst>
                                      </p:cBhvr>
                                      <p:tavLst>
                                        <p:tav tm="0">
                                          <p:val>
                                            <p:strVal val="#ppt_x"/>
                                          </p:val>
                                        </p:tav>
                                        <p:tav tm="100000">
                                          <p:val>
                                            <p:strVal val="#ppt_x"/>
                                          </p:val>
                                        </p:tav>
                                      </p:tavLst>
                                    </p:anim>
                                    <p:anim calcmode="lin" valueType="num">
                                      <p:cBhvr additive="base">
                                        <p:cTn id="88" dur="500" fill="hold"/>
                                        <p:tgtEl>
                                          <p:spTgt spid="32"/>
                                        </p:tgtEl>
                                        <p:attrNameLst>
                                          <p:attrName>ppt_y</p:attrName>
                                        </p:attrNameLst>
                                      </p:cBhvr>
                                      <p:tavLst>
                                        <p:tav tm="0">
                                          <p:val>
                                            <p:strVal val="#ppt_y+0.1"/>
                                          </p:val>
                                        </p:tav>
                                        <p:tav tm="100000">
                                          <p:val>
                                            <p:strVal val="#ppt_y"/>
                                          </p:val>
                                        </p:tav>
                                      </p:tavLst>
                                    </p:anim>
                                    <p:animEffect transition="in" filter="fade">
                                      <p:cBhvr>
                                        <p:cTn id="89" dur="500"/>
                                        <p:tgtEl>
                                          <p:spTgt spid="32"/>
                                        </p:tgtEl>
                                      </p:cBhvr>
                                    </p:animEffect>
                                  </p:childTnLst>
                                </p:cTn>
                              </p:par>
                              <p:par>
                                <p:cTn id="95" presetID="2" presetClass="entr" presetSubtype="4" fill="hold" grpId="0" nodeType="withEffect">
                                  <p:stCondLst>
                                    <p:cond delay="440"/>
                                  </p:stCondLst>
                                  <p:childTnLst>
                                    <p:set>
                                      <p:cBhvr>
                                        <p:cTn id="91" dur="1" fill="hold">
                                          <p:stCondLst>
                                            <p:cond delay="0"/>
                                          </p:stCondLst>
                                        </p:cTn>
                                        <p:tgtEl>
                                          <p:spTgt spid="33"/>
                                        </p:tgtEl>
                                        <p:attrNameLst>
                                          <p:attrName>style.visibility</p:attrName>
                                        </p:attrNameLst>
                                      </p:cBhvr>
                                      <p:to>
                                        <p:strVal val="visible"/>
                                      </p:to>
                                    </p:set>
                                    <p:anim calcmode="lin" valueType="num">
                                      <p:cBhvr additive="base">
                                        <p:cTn id="92" dur="500" fill="hold"/>
                                        <p:tgtEl>
                                          <p:spTgt spid="33"/>
                                        </p:tgtEl>
                                        <p:attrNameLst>
                                          <p:attrName>ppt_x</p:attrName>
                                        </p:attrNameLst>
                                      </p:cBhvr>
                                      <p:tavLst>
                                        <p:tav tm="0">
                                          <p:val>
                                            <p:strVal val="#ppt_x"/>
                                          </p:val>
                                        </p:tav>
                                        <p:tav tm="100000">
                                          <p:val>
                                            <p:strVal val="#ppt_x"/>
                                          </p:val>
                                        </p:tav>
                                      </p:tavLst>
                                    </p:anim>
                                    <p:anim calcmode="lin" valueType="num">
                                      <p:cBhvr additive="base">
                                        <p:cTn id="93" dur="500" fill="hold"/>
                                        <p:tgtEl>
                                          <p:spTgt spid="33"/>
                                        </p:tgtEl>
                                        <p:attrNameLst>
                                          <p:attrName>ppt_y</p:attrName>
                                        </p:attrNameLst>
                                      </p:cBhvr>
                                      <p:tavLst>
                                        <p:tav tm="0">
                                          <p:val>
                                            <p:strVal val="#ppt_y+0.1"/>
                                          </p:val>
                                        </p:tav>
                                        <p:tav tm="100000">
                                          <p:val>
                                            <p:strVal val="#ppt_y"/>
                                          </p:val>
                                        </p:tav>
                                      </p:tavLst>
                                    </p:anim>
                                    <p:animEffect transition="in" filter="fade">
                                      <p:cBhvr>
                                        <p:cTn id="94" dur="500"/>
                                        <p:tgtEl>
                                          <p:spTgt spid="33"/>
                                        </p:tgtEl>
                                      </p:cBhvr>
                                    </p:animEffect>
                                  </p:childTnLst>
                                </p:cTn>
                              </p:par>
                              <p:par>
                                <p:cTn id="100" presetID="2" presetClass="entr" presetSubtype="4" fill="hold" grpId="0" nodeType="withEffect">
                                  <p:stCondLst>
                                    <p:cond delay="440"/>
                                  </p:stCondLst>
                                  <p:childTnLst>
                                    <p:set>
                                      <p:cBhvr>
                                        <p:cTn id="96" dur="1" fill="hold">
                                          <p:stCondLst>
                                            <p:cond delay="0"/>
                                          </p:stCondLst>
                                        </p:cTn>
                                        <p:tgtEl>
                                          <p:spTgt spid="34"/>
                                        </p:tgtEl>
                                        <p:attrNameLst>
                                          <p:attrName>style.visibility</p:attrName>
                                        </p:attrNameLst>
                                      </p:cBhvr>
                                      <p:to>
                                        <p:strVal val="visible"/>
                                      </p:to>
                                    </p:set>
                                    <p:anim calcmode="lin" valueType="num">
                                      <p:cBhvr additive="base">
                                        <p:cTn id="97" dur="500" fill="hold"/>
                                        <p:tgtEl>
                                          <p:spTgt spid="34"/>
                                        </p:tgtEl>
                                        <p:attrNameLst>
                                          <p:attrName>ppt_x</p:attrName>
                                        </p:attrNameLst>
                                      </p:cBhvr>
                                      <p:tavLst>
                                        <p:tav tm="0">
                                          <p:val>
                                            <p:strVal val="#ppt_x"/>
                                          </p:val>
                                        </p:tav>
                                        <p:tav tm="100000">
                                          <p:val>
                                            <p:strVal val="#ppt_x"/>
                                          </p:val>
                                        </p:tav>
                                      </p:tavLst>
                                    </p:anim>
                                    <p:anim calcmode="lin" valueType="num">
                                      <p:cBhvr additive="base">
                                        <p:cTn id="98" dur="500" fill="hold"/>
                                        <p:tgtEl>
                                          <p:spTgt spid="34"/>
                                        </p:tgtEl>
                                        <p:attrNameLst>
                                          <p:attrName>ppt_y</p:attrName>
                                        </p:attrNameLst>
                                      </p:cBhvr>
                                      <p:tavLst>
                                        <p:tav tm="0">
                                          <p:val>
                                            <p:strVal val="#ppt_y+0.1"/>
                                          </p:val>
                                        </p:tav>
                                        <p:tav tm="100000">
                                          <p:val>
                                            <p:strVal val="#ppt_y"/>
                                          </p:val>
                                        </p:tav>
                                      </p:tavLst>
                                    </p:anim>
                                    <p:animEffect transition="in" filter="fade">
                                      <p:cBhvr>
                                        <p:cTn id="99" dur="500"/>
                                        <p:tgtEl>
                                          <p:spTgt spid="34"/>
                                        </p:tgtEl>
                                      </p:cBhvr>
                                    </p:animEffect>
                                  </p:childTnLst>
                                </p:cTn>
                              </p:par>
                            </p:childTnLst>
                          </p:cTn>
                        </p:par>
                      </p:childTnLst>
                    </p:cTn>
                  </p:par>
                  <p:par>
                    <p:cTn id="101" fill="hold">
                      <p:stCondLst>
                        <p:cond delay="indefinite"/>
                      </p:stCondLst>
                      <p:childTnLst>
                        <p:par>
                          <p:cTn id="102" fill="hold">
                            <p:stCondLst>
                              <p:cond delay="0"/>
                            </p:stCondLst>
                            <p:childTnLst>
                              <p:par>
                                <p:cTn id="107" presetID="2" presetClass="entr" presetSubtype="4" fill="hold" grpId="0" nodeType="clickEffect">
                                  <p:stCondLst>
                                    <p:cond delay="0"/>
                                  </p:stCondLst>
                                  <p:childTnLst>
                                    <p:set>
                                      <p:cBhvr>
                                        <p:cTn id="103" dur="1" fill="hold">
                                          <p:stCondLst>
                                            <p:cond delay="0"/>
                                          </p:stCondLst>
                                        </p:cTn>
                                        <p:tgtEl>
                                          <p:spTgt spid="35"/>
                                        </p:tgtEl>
                                        <p:attrNameLst>
                                          <p:attrName>style.visibility</p:attrName>
                                        </p:attrNameLst>
                                      </p:cBhvr>
                                      <p:to>
                                        <p:strVal val="visible"/>
                                      </p:to>
                                    </p:set>
                                    <p:anim calcmode="lin" valueType="num">
                                      <p:cBhvr additive="base">
                                        <p:cTn id="104" dur="500" fill="hold"/>
                                        <p:tgtEl>
                                          <p:spTgt spid="35"/>
                                        </p:tgtEl>
                                        <p:attrNameLst>
                                          <p:attrName>ppt_x</p:attrName>
                                        </p:attrNameLst>
                                      </p:cBhvr>
                                      <p:tavLst>
                                        <p:tav tm="0">
                                          <p:val>
                                            <p:strVal val="#ppt_x"/>
                                          </p:val>
                                        </p:tav>
                                        <p:tav tm="100000">
                                          <p:val>
                                            <p:strVal val="#ppt_x"/>
                                          </p:val>
                                        </p:tav>
                                      </p:tavLst>
                                    </p:anim>
                                    <p:anim calcmode="lin" valueType="num">
                                      <p:cBhvr additive="base">
                                        <p:cTn id="105" dur="500" fill="hold"/>
                                        <p:tgtEl>
                                          <p:spTgt spid="35"/>
                                        </p:tgtEl>
                                        <p:attrNameLst>
                                          <p:attrName>ppt_y</p:attrName>
                                        </p:attrNameLst>
                                      </p:cBhvr>
                                      <p:tavLst>
                                        <p:tav tm="0">
                                          <p:val>
                                            <p:strVal val="#ppt_y+0.1"/>
                                          </p:val>
                                        </p:tav>
                                        <p:tav tm="100000">
                                          <p:val>
                                            <p:strVal val="#ppt_y"/>
                                          </p:val>
                                        </p:tav>
                                      </p:tavLst>
                                    </p:anim>
                                    <p:animEffect transition="in" filter="fade">
                                      <p:cBhvr>
                                        <p:cTn id="106" dur="500"/>
                                        <p:tgtEl>
                                          <p:spTgt spid="35"/>
                                        </p:tgtEl>
                                      </p:cBhvr>
                                    </p:animEffect>
                                  </p:childTnLst>
                                </p:cTn>
                              </p:par>
                              <p:par>
                                <p:cTn id="112" presetID="2" presetClass="entr" presetSubtype="4" fill="hold" grpId="0" nodeType="withEffect">
                                  <p:stCondLst>
                                    <p:cond delay="0"/>
                                  </p:stCondLst>
                                  <p:childTnLst>
                                    <p:set>
                                      <p:cBhvr>
                                        <p:cTn id="108" dur="1" fill="hold">
                                          <p:stCondLst>
                                            <p:cond delay="0"/>
                                          </p:stCondLst>
                                        </p:cTn>
                                        <p:tgtEl>
                                          <p:spTgt spid="36"/>
                                        </p:tgtEl>
                                        <p:attrNameLst>
                                          <p:attrName>style.visibility</p:attrName>
                                        </p:attrNameLst>
                                      </p:cBhvr>
                                      <p:to>
                                        <p:strVal val="visible"/>
                                      </p:to>
                                    </p:set>
                                    <p:anim calcmode="lin" valueType="num">
                                      <p:cBhvr additive="base">
                                        <p:cTn id="109" dur="500" fill="hold"/>
                                        <p:tgtEl>
                                          <p:spTgt spid="36"/>
                                        </p:tgtEl>
                                        <p:attrNameLst>
                                          <p:attrName>ppt_x</p:attrName>
                                        </p:attrNameLst>
                                      </p:cBhvr>
                                      <p:tavLst>
                                        <p:tav tm="0">
                                          <p:val>
                                            <p:strVal val="#ppt_x"/>
                                          </p:val>
                                        </p:tav>
                                        <p:tav tm="100000">
                                          <p:val>
                                            <p:strVal val="#ppt_x"/>
                                          </p:val>
                                        </p:tav>
                                      </p:tavLst>
                                    </p:anim>
                                    <p:anim calcmode="lin" valueType="num">
                                      <p:cBhvr additive="base">
                                        <p:cTn id="110" dur="500" fill="hold"/>
                                        <p:tgtEl>
                                          <p:spTgt spid="36"/>
                                        </p:tgtEl>
                                        <p:attrNameLst>
                                          <p:attrName>ppt_y</p:attrName>
                                        </p:attrNameLst>
                                      </p:cBhvr>
                                      <p:tavLst>
                                        <p:tav tm="0">
                                          <p:val>
                                            <p:strVal val="#ppt_y+0.1"/>
                                          </p:val>
                                        </p:tav>
                                        <p:tav tm="100000">
                                          <p:val>
                                            <p:strVal val="#ppt_y"/>
                                          </p:val>
                                        </p:tav>
                                      </p:tavLst>
                                    </p:anim>
                                    <p:animEffect transition="in" filter="fade">
                                      <p:cBhvr>
                                        <p:cTn id="111" dur="500"/>
                                        <p:tgtEl>
                                          <p:spTgt spid="36"/>
                                        </p:tgtEl>
                                      </p:cBhvr>
                                    </p:animEffect>
                                  </p:childTnLst>
                                </p:cTn>
                              </p:par>
                              <p:par>
                                <p:cTn id="117" presetID="2" presetClass="entr" presetSubtype="4" fill="hold" grpId="0" nodeType="withEffect">
                                  <p:stCondLst>
                                    <p:cond delay="0"/>
                                  </p:stCondLst>
                                  <p:childTnLst>
                                    <p:set>
                                      <p:cBhvr>
                                        <p:cTn id="113" dur="1" fill="hold">
                                          <p:stCondLst>
                                            <p:cond delay="0"/>
                                          </p:stCondLst>
                                        </p:cTn>
                                        <p:tgtEl>
                                          <p:spTgt spid="37"/>
                                        </p:tgtEl>
                                        <p:attrNameLst>
                                          <p:attrName>style.visibility</p:attrName>
                                        </p:attrNameLst>
                                      </p:cBhvr>
                                      <p:to>
                                        <p:strVal val="visible"/>
                                      </p:to>
                                    </p:set>
                                    <p:anim calcmode="lin" valueType="num">
                                      <p:cBhvr additive="base">
                                        <p:cTn id="114" dur="500" fill="hold"/>
                                        <p:tgtEl>
                                          <p:spTgt spid="37"/>
                                        </p:tgtEl>
                                        <p:attrNameLst>
                                          <p:attrName>ppt_x</p:attrName>
                                        </p:attrNameLst>
                                      </p:cBhvr>
                                      <p:tavLst>
                                        <p:tav tm="0">
                                          <p:val>
                                            <p:strVal val="#ppt_x"/>
                                          </p:val>
                                        </p:tav>
                                        <p:tav tm="100000">
                                          <p:val>
                                            <p:strVal val="#ppt_x"/>
                                          </p:val>
                                        </p:tav>
                                      </p:tavLst>
                                    </p:anim>
                                    <p:anim calcmode="lin" valueType="num">
                                      <p:cBhvr additive="base">
                                        <p:cTn id="115" dur="500" fill="hold"/>
                                        <p:tgtEl>
                                          <p:spTgt spid="37"/>
                                        </p:tgtEl>
                                        <p:attrNameLst>
                                          <p:attrName>ppt_y</p:attrName>
                                        </p:attrNameLst>
                                      </p:cBhvr>
                                      <p:tavLst>
                                        <p:tav tm="0">
                                          <p:val>
                                            <p:strVal val="#ppt_y+0.1"/>
                                          </p:val>
                                        </p:tav>
                                        <p:tav tm="100000">
                                          <p:val>
                                            <p:strVal val="#ppt_y"/>
                                          </p:val>
                                        </p:tav>
                                      </p:tavLst>
                                    </p:anim>
                                    <p:animEffect transition="in" filter="fade">
                                      <p:cBhvr>
                                        <p:cTn id="116"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Consuming Doesn't Delete Anything</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 topic is a log, not a queue - every consumer reads it independently</a:t>
            </a:r>
          </a:p>
        </p:txBody>
      </p:sp>
      <p:sp>
        <p:nvSpPr>
          <p:cNvPr id="11" name="a0f_lb10"/>
          <p:cNvSpPr txBox="1"/>
          <p:nvPr/>
        </p:nvSpPr>
        <p:spPr>
          <a:xfrm>
            <a:off x="457200" y="1847088"/>
            <a:ext cx="4754880" cy="201168"/>
          </a:xfrm>
          <a:prstGeom prst="rect">
            <a:avLst/>
          </a:prstGeom>
          <a:noFill/>
        </p:spPr>
        <p:txBody>
          <a:bodyPr wrap="square" lIns="0" tIns="0" rIns="0" bIns="0" anchor="ctr">
            <a:spAutoFit/>
          </a:bodyPr>
          <a:lstStyle/>
          <a:p>
            <a:pPr algn="l"/>
            <a:r>
              <a:rPr sz="850" b="0">
                <a:solidFill>
                  <a:srgbClr val="78716C"/>
                </a:solidFill>
                <a:latin typeface="Consolas"/>
              </a:rPr>
              <a:t>thermostat_readings  ·  P0</a:t>
            </a:r>
          </a:p>
        </p:txBody>
      </p:sp>
      <p:sp>
        <p:nvSpPr>
          <p:cNvPr id="12" name="a0f_cell11"/>
          <p:cNvSpPr/>
          <p:nvPr/>
        </p:nvSpPr>
        <p:spPr>
          <a:xfrm>
            <a:off x="457200" y="2103120"/>
            <a:ext cx="475488" cy="45720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0f_cellt12"/>
          <p:cNvSpPr txBox="1"/>
          <p:nvPr/>
        </p:nvSpPr>
        <p:spPr>
          <a:xfrm>
            <a:off x="457200" y="2103120"/>
            <a:ext cx="475488" cy="457200"/>
          </a:xfrm>
          <a:prstGeom prst="rect">
            <a:avLst/>
          </a:prstGeom>
          <a:noFill/>
        </p:spPr>
        <p:txBody>
          <a:bodyPr wrap="square" lIns="0" tIns="0" rIns="0" bIns="0" anchor="ctr">
            <a:spAutoFit/>
          </a:bodyPr>
          <a:lstStyle/>
          <a:p>
            <a:pPr algn="ctr"/>
            <a:r>
              <a:rPr sz="950" b="1">
                <a:solidFill>
                  <a:srgbClr val="0E7490"/>
                </a:solidFill>
                <a:latin typeface="Consolas"/>
              </a:rPr>
              <a:t>0</a:t>
            </a:r>
          </a:p>
        </p:txBody>
      </p:sp>
      <p:sp>
        <p:nvSpPr>
          <p:cNvPr id="14" name="a0f_cell13"/>
          <p:cNvSpPr/>
          <p:nvPr/>
        </p:nvSpPr>
        <p:spPr>
          <a:xfrm>
            <a:off x="932688" y="2103120"/>
            <a:ext cx="475488" cy="45720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0f_cellt14"/>
          <p:cNvSpPr txBox="1"/>
          <p:nvPr/>
        </p:nvSpPr>
        <p:spPr>
          <a:xfrm>
            <a:off x="932688" y="2103120"/>
            <a:ext cx="475488" cy="457200"/>
          </a:xfrm>
          <a:prstGeom prst="rect">
            <a:avLst/>
          </a:prstGeom>
          <a:noFill/>
        </p:spPr>
        <p:txBody>
          <a:bodyPr wrap="square" lIns="0" tIns="0" rIns="0" bIns="0" anchor="ctr">
            <a:spAutoFit/>
          </a:bodyPr>
          <a:lstStyle/>
          <a:p>
            <a:pPr algn="ctr"/>
            <a:r>
              <a:rPr sz="950" b="1">
                <a:solidFill>
                  <a:srgbClr val="0E7490"/>
                </a:solidFill>
                <a:latin typeface="Consolas"/>
              </a:rPr>
              <a:t>1</a:t>
            </a:r>
          </a:p>
        </p:txBody>
      </p:sp>
      <p:sp>
        <p:nvSpPr>
          <p:cNvPr id="16" name="a0f_cell15"/>
          <p:cNvSpPr/>
          <p:nvPr/>
        </p:nvSpPr>
        <p:spPr>
          <a:xfrm>
            <a:off x="1408176" y="2103120"/>
            <a:ext cx="475488" cy="45720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0f_cellt16"/>
          <p:cNvSpPr txBox="1"/>
          <p:nvPr/>
        </p:nvSpPr>
        <p:spPr>
          <a:xfrm>
            <a:off x="1408176" y="2103120"/>
            <a:ext cx="475488" cy="457200"/>
          </a:xfrm>
          <a:prstGeom prst="rect">
            <a:avLst/>
          </a:prstGeom>
          <a:noFill/>
        </p:spPr>
        <p:txBody>
          <a:bodyPr wrap="square" lIns="0" tIns="0" rIns="0" bIns="0" anchor="ctr">
            <a:spAutoFit/>
          </a:bodyPr>
          <a:lstStyle/>
          <a:p>
            <a:pPr algn="ctr"/>
            <a:r>
              <a:rPr sz="950" b="1">
                <a:solidFill>
                  <a:srgbClr val="0E7490"/>
                </a:solidFill>
                <a:latin typeface="Consolas"/>
              </a:rPr>
              <a:t>2</a:t>
            </a:r>
          </a:p>
        </p:txBody>
      </p:sp>
      <p:sp>
        <p:nvSpPr>
          <p:cNvPr id="18" name="a0f_cell17"/>
          <p:cNvSpPr/>
          <p:nvPr/>
        </p:nvSpPr>
        <p:spPr>
          <a:xfrm>
            <a:off x="1883664" y="2103120"/>
            <a:ext cx="475488" cy="45720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0f_cellt18"/>
          <p:cNvSpPr txBox="1"/>
          <p:nvPr/>
        </p:nvSpPr>
        <p:spPr>
          <a:xfrm>
            <a:off x="1883664" y="2103120"/>
            <a:ext cx="475488" cy="457200"/>
          </a:xfrm>
          <a:prstGeom prst="rect">
            <a:avLst/>
          </a:prstGeom>
          <a:noFill/>
        </p:spPr>
        <p:txBody>
          <a:bodyPr wrap="square" lIns="0" tIns="0" rIns="0" bIns="0" anchor="ctr">
            <a:spAutoFit/>
          </a:bodyPr>
          <a:lstStyle/>
          <a:p>
            <a:pPr algn="ctr"/>
            <a:r>
              <a:rPr sz="950" b="1">
                <a:solidFill>
                  <a:srgbClr val="0E7490"/>
                </a:solidFill>
                <a:latin typeface="Consolas"/>
              </a:rPr>
              <a:t>3</a:t>
            </a:r>
          </a:p>
        </p:txBody>
      </p:sp>
      <p:sp>
        <p:nvSpPr>
          <p:cNvPr id="20" name="a0f_cell19"/>
          <p:cNvSpPr/>
          <p:nvPr/>
        </p:nvSpPr>
        <p:spPr>
          <a:xfrm>
            <a:off x="2359152" y="2103120"/>
            <a:ext cx="475488" cy="45720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0f_cellt20"/>
          <p:cNvSpPr txBox="1"/>
          <p:nvPr/>
        </p:nvSpPr>
        <p:spPr>
          <a:xfrm>
            <a:off x="2359152" y="2103120"/>
            <a:ext cx="475488" cy="457200"/>
          </a:xfrm>
          <a:prstGeom prst="rect">
            <a:avLst/>
          </a:prstGeom>
          <a:noFill/>
        </p:spPr>
        <p:txBody>
          <a:bodyPr wrap="square" lIns="0" tIns="0" rIns="0" bIns="0" anchor="ctr">
            <a:spAutoFit/>
          </a:bodyPr>
          <a:lstStyle/>
          <a:p>
            <a:pPr algn="ctr"/>
            <a:r>
              <a:rPr sz="950" b="1">
                <a:solidFill>
                  <a:srgbClr val="0E7490"/>
                </a:solidFill>
                <a:latin typeface="Consolas"/>
              </a:rPr>
              <a:t>4</a:t>
            </a:r>
          </a:p>
        </p:txBody>
      </p:sp>
      <p:sp>
        <p:nvSpPr>
          <p:cNvPr id="22" name="a0f_cell21"/>
          <p:cNvSpPr/>
          <p:nvPr/>
        </p:nvSpPr>
        <p:spPr>
          <a:xfrm>
            <a:off x="2834640" y="2103120"/>
            <a:ext cx="475488" cy="45720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0f_cellt22"/>
          <p:cNvSpPr txBox="1"/>
          <p:nvPr/>
        </p:nvSpPr>
        <p:spPr>
          <a:xfrm>
            <a:off x="2834640" y="2103120"/>
            <a:ext cx="475488" cy="457200"/>
          </a:xfrm>
          <a:prstGeom prst="rect">
            <a:avLst/>
          </a:prstGeom>
          <a:noFill/>
        </p:spPr>
        <p:txBody>
          <a:bodyPr wrap="square" lIns="0" tIns="0" rIns="0" bIns="0" anchor="ctr">
            <a:spAutoFit/>
          </a:bodyPr>
          <a:lstStyle/>
          <a:p>
            <a:pPr algn="ctr"/>
            <a:r>
              <a:rPr sz="950" b="1">
                <a:solidFill>
                  <a:srgbClr val="0E7490"/>
                </a:solidFill>
                <a:latin typeface="Consolas"/>
              </a:rPr>
              <a:t>5</a:t>
            </a:r>
          </a:p>
        </p:txBody>
      </p:sp>
      <p:sp>
        <p:nvSpPr>
          <p:cNvPr id="24" name="a0f_cell23"/>
          <p:cNvSpPr/>
          <p:nvPr/>
        </p:nvSpPr>
        <p:spPr>
          <a:xfrm>
            <a:off x="3310128" y="2103120"/>
            <a:ext cx="475488" cy="45720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0f_cellt24"/>
          <p:cNvSpPr txBox="1"/>
          <p:nvPr/>
        </p:nvSpPr>
        <p:spPr>
          <a:xfrm>
            <a:off x="3310128" y="2103120"/>
            <a:ext cx="475488" cy="457200"/>
          </a:xfrm>
          <a:prstGeom prst="rect">
            <a:avLst/>
          </a:prstGeom>
          <a:noFill/>
        </p:spPr>
        <p:txBody>
          <a:bodyPr wrap="square" lIns="0" tIns="0" rIns="0" bIns="0" anchor="ctr">
            <a:spAutoFit/>
          </a:bodyPr>
          <a:lstStyle/>
          <a:p>
            <a:pPr algn="ctr"/>
            <a:r>
              <a:rPr sz="950" b="1">
                <a:solidFill>
                  <a:srgbClr val="0E7490"/>
                </a:solidFill>
                <a:latin typeface="Consolas"/>
              </a:rPr>
              <a:t>6</a:t>
            </a:r>
          </a:p>
        </p:txBody>
      </p:sp>
      <p:sp>
        <p:nvSpPr>
          <p:cNvPr id="26" name="a0f_cell25"/>
          <p:cNvSpPr/>
          <p:nvPr/>
        </p:nvSpPr>
        <p:spPr>
          <a:xfrm>
            <a:off x="3785616" y="2103120"/>
            <a:ext cx="475488" cy="45720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0f_cellt26"/>
          <p:cNvSpPr txBox="1"/>
          <p:nvPr/>
        </p:nvSpPr>
        <p:spPr>
          <a:xfrm>
            <a:off x="3785616" y="2103120"/>
            <a:ext cx="475488" cy="457200"/>
          </a:xfrm>
          <a:prstGeom prst="rect">
            <a:avLst/>
          </a:prstGeom>
          <a:noFill/>
        </p:spPr>
        <p:txBody>
          <a:bodyPr wrap="square" lIns="0" tIns="0" rIns="0" bIns="0" anchor="ctr">
            <a:spAutoFit/>
          </a:bodyPr>
          <a:lstStyle/>
          <a:p>
            <a:pPr algn="ctr"/>
            <a:r>
              <a:rPr sz="950" b="1">
                <a:solidFill>
                  <a:srgbClr val="0E7490"/>
                </a:solidFill>
                <a:latin typeface="Consolas"/>
              </a:rPr>
              <a:t>7</a:t>
            </a:r>
          </a:p>
        </p:txBody>
      </p:sp>
      <p:sp>
        <p:nvSpPr>
          <p:cNvPr id="28" name="a0f_cell27"/>
          <p:cNvSpPr/>
          <p:nvPr/>
        </p:nvSpPr>
        <p:spPr>
          <a:xfrm>
            <a:off x="4261104" y="2103120"/>
            <a:ext cx="475488" cy="45720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0f_cellt28"/>
          <p:cNvSpPr txBox="1"/>
          <p:nvPr/>
        </p:nvSpPr>
        <p:spPr>
          <a:xfrm>
            <a:off x="4261104" y="2103120"/>
            <a:ext cx="475488" cy="457200"/>
          </a:xfrm>
          <a:prstGeom prst="rect">
            <a:avLst/>
          </a:prstGeom>
          <a:noFill/>
        </p:spPr>
        <p:txBody>
          <a:bodyPr wrap="square" lIns="0" tIns="0" rIns="0" bIns="0" anchor="ctr">
            <a:spAutoFit/>
          </a:bodyPr>
          <a:lstStyle/>
          <a:p>
            <a:pPr algn="ctr"/>
            <a:r>
              <a:rPr sz="950" b="1">
                <a:solidFill>
                  <a:srgbClr val="0E7490"/>
                </a:solidFill>
                <a:latin typeface="Consolas"/>
              </a:rPr>
              <a:t>8</a:t>
            </a:r>
          </a:p>
        </p:txBody>
      </p:sp>
      <p:sp>
        <p:nvSpPr>
          <p:cNvPr id="30" name="a0f_cell29"/>
          <p:cNvSpPr/>
          <p:nvPr/>
        </p:nvSpPr>
        <p:spPr>
          <a:xfrm>
            <a:off x="4736592" y="2103120"/>
            <a:ext cx="475488" cy="45720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0f_cellt30"/>
          <p:cNvSpPr txBox="1"/>
          <p:nvPr/>
        </p:nvSpPr>
        <p:spPr>
          <a:xfrm>
            <a:off x="4736592" y="2103120"/>
            <a:ext cx="475488" cy="457200"/>
          </a:xfrm>
          <a:prstGeom prst="rect">
            <a:avLst/>
          </a:prstGeom>
          <a:noFill/>
        </p:spPr>
        <p:txBody>
          <a:bodyPr wrap="square" lIns="0" tIns="0" rIns="0" bIns="0" anchor="ctr">
            <a:spAutoFit/>
          </a:bodyPr>
          <a:lstStyle/>
          <a:p>
            <a:pPr algn="ctr"/>
            <a:r>
              <a:rPr sz="950" b="1">
                <a:solidFill>
                  <a:srgbClr val="0E7490"/>
                </a:solidFill>
                <a:latin typeface="Consolas"/>
              </a:rPr>
              <a:t>9</a:t>
            </a:r>
          </a:p>
        </p:txBody>
      </p:sp>
      <p:sp>
        <p:nvSpPr>
          <p:cNvPr id="32" name="a1u_pill31"/>
          <p:cNvSpPr/>
          <p:nvPr/>
        </p:nvSpPr>
        <p:spPr>
          <a:xfrm>
            <a:off x="4471416" y="1298448"/>
            <a:ext cx="1005840" cy="310896"/>
          </a:xfrm>
          <a:prstGeom prst="roundRect">
            <a:avLst>
              <a:gd name="adj" fmla="val 50000"/>
            </a:avLst>
          </a:prstGeom>
          <a:solidFill>
            <a:srgbClr val="E0E7FF"/>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4F46E5"/>
                </a:solidFill>
                <a:latin typeface="Consolas"/>
              </a:rPr>
              <a:t>Dashboard</a:t>
            </a:r>
          </a:p>
        </p:txBody>
      </p:sp>
      <p:cxnSp>
        <p:nvCxnSpPr>
          <p:cNvPr id="33" name="a1u_ar32"/>
          <p:cNvCxnSpPr/>
          <p:nvPr/>
        </p:nvCxnSpPr>
        <p:spPr>
          <a:xfrm>
            <a:off x="4974336" y="1627631"/>
            <a:ext cx="0" cy="457200"/>
          </a:xfrm>
          <a:prstGeom prst="line">
            <a:avLst/>
          </a:prstGeom>
          <a:ln w="1905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a2u_pill33"/>
          <p:cNvSpPr/>
          <p:nvPr/>
        </p:nvSpPr>
        <p:spPr>
          <a:xfrm>
            <a:off x="3044952" y="1298448"/>
            <a:ext cx="1005840" cy="310896"/>
          </a:xfrm>
          <a:prstGeom prst="roundRect">
            <a:avLst>
              <a:gd name="adj" fmla="val 50000"/>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C2410C"/>
                </a:solidFill>
                <a:latin typeface="Consolas"/>
              </a:rPr>
              <a:t>Alerting</a:t>
            </a:r>
          </a:p>
        </p:txBody>
      </p:sp>
      <p:cxnSp>
        <p:nvCxnSpPr>
          <p:cNvPr id="35" name="a2u_ar34"/>
          <p:cNvCxnSpPr/>
          <p:nvPr/>
        </p:nvCxnSpPr>
        <p:spPr>
          <a:xfrm>
            <a:off x="3547872" y="1627631"/>
            <a:ext cx="0" cy="457200"/>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a3u_pill35"/>
          <p:cNvSpPr/>
          <p:nvPr/>
        </p:nvSpPr>
        <p:spPr>
          <a:xfrm>
            <a:off x="457200" y="2999232"/>
            <a:ext cx="1325880" cy="310896"/>
          </a:xfrm>
          <a:prstGeom prst="roundRect">
            <a:avLst>
              <a:gd name="adj" fmla="val 50000"/>
            </a:avLst>
          </a:prstGeom>
          <a:solidFill>
            <a:srgbClr val="FEF9C3"/>
          </a:solidFill>
          <a:ln w="12700">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A16207"/>
                </a:solidFill>
                <a:latin typeface="Consolas"/>
              </a:rPr>
              <a:t>Reporting (new)</a:t>
            </a:r>
          </a:p>
        </p:txBody>
      </p:sp>
      <p:cxnSp>
        <p:nvCxnSpPr>
          <p:cNvPr id="37" name="a3u_ar36"/>
          <p:cNvCxnSpPr/>
          <p:nvPr/>
        </p:nvCxnSpPr>
        <p:spPr>
          <a:xfrm flipV="1">
            <a:off x="694944" y="2578608"/>
            <a:ext cx="0" cy="402336"/>
          </a:xfrm>
          <a:prstGeom prst="line">
            <a:avLst/>
          </a:prstGeom>
          <a:ln w="19050">
            <a:solidFill>
              <a:srgbClr val="A1620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a3ud150_pill37"/>
          <p:cNvSpPr/>
          <p:nvPr/>
        </p:nvSpPr>
        <p:spPr>
          <a:xfrm>
            <a:off x="2093976" y="2999232"/>
            <a:ext cx="1005840" cy="310896"/>
          </a:xfrm>
          <a:prstGeom prst="roundRect">
            <a:avLst>
              <a:gd name="adj" fmla="val 50000"/>
            </a:avLst>
          </a:prstGeom>
          <a:solidFill>
            <a:srgbClr val="DCFCE7"/>
          </a:solidFill>
          <a:ln w="127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15803D"/>
                </a:solidFill>
                <a:latin typeface="Consolas"/>
              </a:rPr>
              <a:t>Audit</a:t>
            </a:r>
          </a:p>
        </p:txBody>
      </p:sp>
      <p:cxnSp>
        <p:nvCxnSpPr>
          <p:cNvPr id="39" name="a3ud150_ar38"/>
          <p:cNvCxnSpPr/>
          <p:nvPr/>
        </p:nvCxnSpPr>
        <p:spPr>
          <a:xfrm flipV="1">
            <a:off x="2596896" y="2578608"/>
            <a:ext cx="0" cy="402336"/>
          </a:xfrm>
          <a:prstGeom prst="line">
            <a:avLst/>
          </a:prstGeom>
          <a:ln w="19050">
            <a:solidFill>
              <a:srgbClr val="1580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a4u_dot39"/>
          <p:cNvSpPr/>
          <p:nvPr/>
        </p:nvSpPr>
        <p:spPr>
          <a:xfrm>
            <a:off x="5577840" y="1449324"/>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4u_b40"/>
          <p:cNvSpPr txBox="1"/>
          <p:nvPr/>
        </p:nvSpPr>
        <p:spPr>
          <a:xfrm>
            <a:off x="5797296" y="1353312"/>
            <a:ext cx="2889504" cy="621792"/>
          </a:xfrm>
          <a:prstGeom prst="rect">
            <a:avLst/>
          </a:prstGeom>
          <a:noFill/>
        </p:spPr>
        <p:txBody>
          <a:bodyPr wrap="square" lIns="0" tIns="0" rIns="0" bIns="0" anchor="t">
            <a:spAutoFit/>
          </a:bodyPr>
          <a:lstStyle/>
          <a:p>
            <a:pPr algn="l"/>
            <a:r>
              <a:rPr sz="950" b="1">
                <a:solidFill>
                  <a:srgbClr val="1C1917"/>
                </a:solidFill>
                <a:latin typeface="Segoe UI"/>
              </a:rPr>
              <a:t>Reading is not removing  </a:t>
            </a:r>
            <a:r>
              <a:rPr sz="950" b="0">
                <a:solidFill>
                  <a:srgbClr val="44403C"/>
                </a:solidFill>
                <a:latin typeface="Segoe UI"/>
              </a:rPr>
              <a:t>messages stay until retention removes them</a:t>
            </a:r>
          </a:p>
        </p:txBody>
      </p:sp>
      <p:sp>
        <p:nvSpPr>
          <p:cNvPr id="42" name="a4ud120_dot41"/>
          <p:cNvSpPr/>
          <p:nvPr/>
        </p:nvSpPr>
        <p:spPr>
          <a:xfrm>
            <a:off x="5577840" y="2107691"/>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4ud120_b42"/>
          <p:cNvSpPr txBox="1"/>
          <p:nvPr/>
        </p:nvSpPr>
        <p:spPr>
          <a:xfrm>
            <a:off x="5797296" y="2011679"/>
            <a:ext cx="2889504" cy="621792"/>
          </a:xfrm>
          <a:prstGeom prst="rect">
            <a:avLst/>
          </a:prstGeom>
          <a:noFill/>
        </p:spPr>
        <p:txBody>
          <a:bodyPr wrap="square" lIns="0" tIns="0" rIns="0" bIns="0" anchor="t">
            <a:spAutoFit/>
          </a:bodyPr>
          <a:lstStyle/>
          <a:p>
            <a:pPr algn="l"/>
            <a:r>
              <a:rPr sz="950" b="1">
                <a:solidFill>
                  <a:srgbClr val="1C1917"/>
                </a:solidFill>
                <a:latin typeface="Segoe UI"/>
              </a:rPr>
              <a:t>Independent  </a:t>
            </a:r>
            <a:r>
              <a:rPr sz="950" b="0">
                <a:solidFill>
                  <a:srgbClr val="44403C"/>
                </a:solidFill>
                <a:latin typeface="Segoe UI"/>
              </a:rPr>
              <a:t>each consumer keeps its own position</a:t>
            </a:r>
          </a:p>
        </p:txBody>
      </p:sp>
      <p:sp>
        <p:nvSpPr>
          <p:cNvPr id="44" name="a4ud240_dot43"/>
          <p:cNvSpPr/>
          <p:nvPr/>
        </p:nvSpPr>
        <p:spPr>
          <a:xfrm>
            <a:off x="5577840" y="2766059"/>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a4ud240_b44"/>
          <p:cNvSpPr txBox="1"/>
          <p:nvPr/>
        </p:nvSpPr>
        <p:spPr>
          <a:xfrm>
            <a:off x="5797296" y="2670047"/>
            <a:ext cx="2889504" cy="621792"/>
          </a:xfrm>
          <a:prstGeom prst="rect">
            <a:avLst/>
          </a:prstGeom>
          <a:noFill/>
        </p:spPr>
        <p:txBody>
          <a:bodyPr wrap="square" lIns="0" tIns="0" rIns="0" bIns="0" anchor="t">
            <a:spAutoFit/>
          </a:bodyPr>
          <a:lstStyle/>
          <a:p>
            <a:pPr algn="l"/>
            <a:r>
              <a:rPr sz="950" b="1">
                <a:solidFill>
                  <a:srgbClr val="1C1917"/>
                </a:solidFill>
                <a:latin typeface="Segoe UI"/>
              </a:rPr>
              <a:t>As many as you like  </a:t>
            </a:r>
            <a:r>
              <a:rPr sz="950" b="0">
                <a:solidFill>
                  <a:srgbClr val="44403C"/>
                </a:solidFill>
                <a:latin typeface="Segoe UI"/>
              </a:rPr>
              <a:t>A, B, C ... all see every message</a:t>
            </a:r>
          </a:p>
        </p:txBody>
      </p:sp>
      <p:sp>
        <p:nvSpPr>
          <p:cNvPr id="46" name="a5u_nb45"/>
          <p:cNvSpPr/>
          <p:nvPr/>
        </p:nvSpPr>
        <p:spPr>
          <a:xfrm>
            <a:off x="457200" y="3886200"/>
            <a:ext cx="8229600" cy="566928"/>
          </a:xfrm>
          <a:prstGeom prst="roundRect">
            <a:avLst>
              <a:gd name="adj" fmla="val 12903"/>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5u_nacc46"/>
          <p:cNvSpPr/>
          <p:nvPr/>
        </p:nvSpPr>
        <p:spPr>
          <a:xfrm>
            <a:off x="457200" y="3886200"/>
            <a:ext cx="54864" cy="56692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a5u_nt47"/>
          <p:cNvSpPr txBox="1"/>
          <p:nvPr/>
        </p:nvSpPr>
        <p:spPr>
          <a:xfrm>
            <a:off x="658368" y="3886200"/>
            <a:ext cx="7827264" cy="566928"/>
          </a:xfrm>
          <a:prstGeom prst="rect">
            <a:avLst/>
          </a:prstGeom>
          <a:noFill/>
        </p:spPr>
        <p:txBody>
          <a:bodyPr wrap="square" lIns="0" tIns="0" rIns="0" bIns="0" anchor="ctr">
            <a:spAutoFit/>
          </a:bodyPr>
          <a:lstStyle/>
          <a:p>
            <a:pPr algn="l"/>
            <a:r>
              <a:rPr sz="950" b="1">
                <a:solidFill>
                  <a:srgbClr val="0E7490"/>
                </a:solidFill>
                <a:latin typeface="Segoe UI"/>
              </a:rPr>
              <a:t>KEY  </a:t>
            </a:r>
            <a:r>
              <a:rPr sz="950" b="0">
                <a:solidFill>
                  <a:srgbClr val="44403C"/>
                </a:solidFill>
                <a:latin typeface="Segoe UI"/>
              </a:rPr>
              <a:t>Kafka is a log, not a queue: when one consumer reads a message, the next can still read it.</a:t>
            </a:r>
          </a:p>
        </p:txBody>
      </p:sp>
      <p:sp>
        <p:nvSpPr>
          <p:cNvPr id="49" name="ft48"/>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09</a:t>
            </a:r>
          </a:p>
        </p:txBody>
      </p:sp>
      <p:sp>
        <p:nvSpPr>
          <p:cNvPr id="50" name="ft49"/>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ft50"/>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Consumers</a:t>
            </a:r>
          </a:p>
        </p:txBody>
      </p:sp>
      <p:sp>
        <p:nvSpPr>
          <p:cNvPr id="52" name="ft51"/>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7</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5"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8" presetID="10"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par>
                                <p:cTn id="40" presetID="10"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par>
                                <p:cTn id="43" presetID="10"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par>
                                <p:cTn id="46" presetID="10"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00"/>
                                        <p:tgtEl>
                                          <p:spTgt spid="24"/>
                                        </p:tgtEl>
                                      </p:cBhvr>
                                    </p:animEffect>
                                  </p:childTnLst>
                                </p:cTn>
                              </p:par>
                              <p:par>
                                <p:cTn id="49" presetID="10"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500"/>
                                        <p:tgtEl>
                                          <p:spTgt spid="25"/>
                                        </p:tgtEl>
                                      </p:cBhvr>
                                    </p:animEffect>
                                  </p:childTnLst>
                                </p:cTn>
                              </p:par>
                              <p:par>
                                <p:cTn id="52" presetID="10"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500"/>
                                        <p:tgtEl>
                                          <p:spTgt spid="26"/>
                                        </p:tgtEl>
                                      </p:cBhvr>
                                    </p:animEffect>
                                  </p:childTnLst>
                                </p:cTn>
                              </p:par>
                              <p:par>
                                <p:cTn id="55" presetID="10"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500"/>
                                        <p:tgtEl>
                                          <p:spTgt spid="27"/>
                                        </p:tgtEl>
                                      </p:cBhvr>
                                    </p:animEffect>
                                  </p:childTnLst>
                                </p:cTn>
                              </p:par>
                              <p:par>
                                <p:cTn id="58" presetID="10"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500"/>
                                        <p:tgtEl>
                                          <p:spTgt spid="28"/>
                                        </p:tgtEl>
                                      </p:cBhvr>
                                    </p:animEffect>
                                  </p:childTnLst>
                                </p:cTn>
                              </p:par>
                              <p:par>
                                <p:cTn id="61" presetID="10" presetClass="entr" presetSubtype="0" fill="hold" grpId="0" nodeType="with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500"/>
                                        <p:tgtEl>
                                          <p:spTgt spid="29"/>
                                        </p:tgtEl>
                                      </p:cBhvr>
                                    </p:animEffect>
                                  </p:childTnLst>
                                </p:cTn>
                              </p:par>
                              <p:par>
                                <p:cTn id="64" presetID="10" presetClass="entr" presetSubtype="0" fill="hold" grpId="0" nodeType="with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fade">
                                      <p:cBhvr>
                                        <p:cTn id="63" dur="500"/>
                                        <p:tgtEl>
                                          <p:spTgt spid="30"/>
                                        </p:tgtEl>
                                      </p:cBhvr>
                                    </p:animEffect>
                                  </p:childTnLst>
                                </p:cTn>
                              </p:par>
                              <p:par>
                                <p:cTn id="67" presetID="10" presetClass="entr" presetSubtype="0" fill="hold" grpId="0" nodeType="with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fade">
                                      <p:cBhvr>
                                        <p:cTn id="66" dur="500"/>
                                        <p:tgtEl>
                                          <p:spTgt spid="31"/>
                                        </p:tgtEl>
                                      </p:cBhvr>
                                    </p:animEffect>
                                  </p:childTnLst>
                                </p:cTn>
                              </p:par>
                            </p:childTnLst>
                          </p:cTn>
                        </p:par>
                      </p:childTnLst>
                    </p:cTn>
                  </p:par>
                  <p:par>
                    <p:cTn id="68" fill="hold">
                      <p:stCondLst>
                        <p:cond delay="indefinite"/>
                      </p:stCondLst>
                      <p:childTnLst>
                        <p:par>
                          <p:cTn id="69" fill="hold">
                            <p:stCondLst>
                              <p:cond delay="0"/>
                            </p:stCondLst>
                            <p:childTnLst>
                              <p:par>
                                <p:cTn id="74" presetID="2" presetClass="entr" presetSubtype="4" fill="hold" grpId="0" nodeType="clickEffect">
                                  <p:stCondLst>
                                    <p:cond delay="0"/>
                                  </p:stCondLst>
                                  <p:childTnLst>
                                    <p:set>
                                      <p:cBhvr>
                                        <p:cTn id="70" dur="1" fill="hold">
                                          <p:stCondLst>
                                            <p:cond delay="0"/>
                                          </p:stCondLst>
                                        </p:cTn>
                                        <p:tgtEl>
                                          <p:spTgt spid="32"/>
                                        </p:tgtEl>
                                        <p:attrNameLst>
                                          <p:attrName>style.visibility</p:attrName>
                                        </p:attrNameLst>
                                      </p:cBhvr>
                                      <p:to>
                                        <p:strVal val="visible"/>
                                      </p:to>
                                    </p:set>
                                    <p:anim calcmode="lin" valueType="num">
                                      <p:cBhvr additive="base">
                                        <p:cTn id="71" dur="500" fill="hold"/>
                                        <p:tgtEl>
                                          <p:spTgt spid="32"/>
                                        </p:tgtEl>
                                        <p:attrNameLst>
                                          <p:attrName>ppt_x</p:attrName>
                                        </p:attrNameLst>
                                      </p:cBhvr>
                                      <p:tavLst>
                                        <p:tav tm="0">
                                          <p:val>
                                            <p:strVal val="#ppt_x"/>
                                          </p:val>
                                        </p:tav>
                                        <p:tav tm="100000">
                                          <p:val>
                                            <p:strVal val="#ppt_x"/>
                                          </p:val>
                                        </p:tav>
                                      </p:tavLst>
                                    </p:anim>
                                    <p:anim calcmode="lin" valueType="num">
                                      <p:cBhvr additive="base">
                                        <p:cTn id="72" dur="500" fill="hold"/>
                                        <p:tgtEl>
                                          <p:spTgt spid="32"/>
                                        </p:tgtEl>
                                        <p:attrNameLst>
                                          <p:attrName>ppt_y</p:attrName>
                                        </p:attrNameLst>
                                      </p:cBhvr>
                                      <p:tavLst>
                                        <p:tav tm="0">
                                          <p:val>
                                            <p:strVal val="#ppt_y+0.1"/>
                                          </p:val>
                                        </p:tav>
                                        <p:tav tm="100000">
                                          <p:val>
                                            <p:strVal val="#ppt_y"/>
                                          </p:val>
                                        </p:tav>
                                      </p:tavLst>
                                    </p:anim>
                                    <p:animEffect transition="in" filter="fade">
                                      <p:cBhvr>
                                        <p:cTn id="73" dur="500"/>
                                        <p:tgtEl>
                                          <p:spTgt spid="32"/>
                                        </p:tgtEl>
                                      </p:cBhvr>
                                    </p:animEffect>
                                  </p:childTnLst>
                                </p:cTn>
                              </p:par>
                              <p:par>
                                <p:cTn id="79" presetID="2" presetClass="entr" presetSubtype="4" fill="hold" grpId="0" nodeType="withEffect">
                                  <p:stCondLst>
                                    <p:cond delay="0"/>
                                  </p:stCondLst>
                                  <p:childTnLst>
                                    <p:set>
                                      <p:cBhvr>
                                        <p:cTn id="75" dur="1" fill="hold">
                                          <p:stCondLst>
                                            <p:cond delay="0"/>
                                          </p:stCondLst>
                                        </p:cTn>
                                        <p:tgtEl>
                                          <p:spTgt spid="33"/>
                                        </p:tgtEl>
                                        <p:attrNameLst>
                                          <p:attrName>style.visibility</p:attrName>
                                        </p:attrNameLst>
                                      </p:cBhvr>
                                      <p:to>
                                        <p:strVal val="visible"/>
                                      </p:to>
                                    </p:set>
                                    <p:anim calcmode="lin" valueType="num">
                                      <p:cBhvr additive="base">
                                        <p:cTn id="76" dur="500" fill="hold"/>
                                        <p:tgtEl>
                                          <p:spTgt spid="33"/>
                                        </p:tgtEl>
                                        <p:attrNameLst>
                                          <p:attrName>ppt_x</p:attrName>
                                        </p:attrNameLst>
                                      </p:cBhvr>
                                      <p:tavLst>
                                        <p:tav tm="0">
                                          <p:val>
                                            <p:strVal val="#ppt_x"/>
                                          </p:val>
                                        </p:tav>
                                        <p:tav tm="100000">
                                          <p:val>
                                            <p:strVal val="#ppt_x"/>
                                          </p:val>
                                        </p:tav>
                                      </p:tavLst>
                                    </p:anim>
                                    <p:anim calcmode="lin" valueType="num">
                                      <p:cBhvr additive="base">
                                        <p:cTn id="77" dur="500" fill="hold"/>
                                        <p:tgtEl>
                                          <p:spTgt spid="33"/>
                                        </p:tgtEl>
                                        <p:attrNameLst>
                                          <p:attrName>ppt_y</p:attrName>
                                        </p:attrNameLst>
                                      </p:cBhvr>
                                      <p:tavLst>
                                        <p:tav tm="0">
                                          <p:val>
                                            <p:strVal val="#ppt_y+0.1"/>
                                          </p:val>
                                        </p:tav>
                                        <p:tav tm="100000">
                                          <p:val>
                                            <p:strVal val="#ppt_y"/>
                                          </p:val>
                                        </p:tav>
                                      </p:tavLst>
                                    </p:anim>
                                    <p:animEffect transition="in" filter="fade">
                                      <p:cBhvr>
                                        <p:cTn id="78" dur="500"/>
                                        <p:tgtEl>
                                          <p:spTgt spid="33"/>
                                        </p:tgtEl>
                                      </p:cBhvr>
                                    </p:animEffect>
                                  </p:childTnLst>
                                </p:cTn>
                              </p:par>
                            </p:childTnLst>
                          </p:cTn>
                        </p:par>
                      </p:childTnLst>
                    </p:cTn>
                  </p:par>
                  <p:par>
                    <p:cTn id="80" fill="hold">
                      <p:stCondLst>
                        <p:cond delay="indefinite"/>
                      </p:stCondLst>
                      <p:childTnLst>
                        <p:par>
                          <p:cTn id="81" fill="hold">
                            <p:stCondLst>
                              <p:cond delay="0"/>
                            </p:stCondLst>
                            <p:childTnLst>
                              <p:par>
                                <p:cTn id="86" presetID="2" presetClass="entr" presetSubtype="4" fill="hold" grpId="0" nodeType="clickEffect">
                                  <p:stCondLst>
                                    <p:cond delay="0"/>
                                  </p:stCondLst>
                                  <p:childTnLst>
                                    <p:set>
                                      <p:cBhvr>
                                        <p:cTn id="82" dur="1" fill="hold">
                                          <p:stCondLst>
                                            <p:cond delay="0"/>
                                          </p:stCondLst>
                                        </p:cTn>
                                        <p:tgtEl>
                                          <p:spTgt spid="34"/>
                                        </p:tgtEl>
                                        <p:attrNameLst>
                                          <p:attrName>style.visibility</p:attrName>
                                        </p:attrNameLst>
                                      </p:cBhvr>
                                      <p:to>
                                        <p:strVal val="visible"/>
                                      </p:to>
                                    </p:set>
                                    <p:anim calcmode="lin" valueType="num">
                                      <p:cBhvr additive="base">
                                        <p:cTn id="83" dur="500" fill="hold"/>
                                        <p:tgtEl>
                                          <p:spTgt spid="34"/>
                                        </p:tgtEl>
                                        <p:attrNameLst>
                                          <p:attrName>ppt_x</p:attrName>
                                        </p:attrNameLst>
                                      </p:cBhvr>
                                      <p:tavLst>
                                        <p:tav tm="0">
                                          <p:val>
                                            <p:strVal val="#ppt_x"/>
                                          </p:val>
                                        </p:tav>
                                        <p:tav tm="100000">
                                          <p:val>
                                            <p:strVal val="#ppt_x"/>
                                          </p:val>
                                        </p:tav>
                                      </p:tavLst>
                                    </p:anim>
                                    <p:anim calcmode="lin" valueType="num">
                                      <p:cBhvr additive="base">
                                        <p:cTn id="84" dur="500" fill="hold"/>
                                        <p:tgtEl>
                                          <p:spTgt spid="34"/>
                                        </p:tgtEl>
                                        <p:attrNameLst>
                                          <p:attrName>ppt_y</p:attrName>
                                        </p:attrNameLst>
                                      </p:cBhvr>
                                      <p:tavLst>
                                        <p:tav tm="0">
                                          <p:val>
                                            <p:strVal val="#ppt_y+0.1"/>
                                          </p:val>
                                        </p:tav>
                                        <p:tav tm="100000">
                                          <p:val>
                                            <p:strVal val="#ppt_y"/>
                                          </p:val>
                                        </p:tav>
                                      </p:tavLst>
                                    </p:anim>
                                    <p:animEffect transition="in" filter="fade">
                                      <p:cBhvr>
                                        <p:cTn id="85" dur="500"/>
                                        <p:tgtEl>
                                          <p:spTgt spid="34"/>
                                        </p:tgtEl>
                                      </p:cBhvr>
                                    </p:animEffect>
                                  </p:childTnLst>
                                </p:cTn>
                              </p:par>
                              <p:par>
                                <p:cTn id="91" presetID="2" presetClass="entr" presetSubtype="4" fill="hold" grpId="0" nodeType="withEffect">
                                  <p:stCondLst>
                                    <p:cond delay="0"/>
                                  </p:stCondLst>
                                  <p:childTnLst>
                                    <p:set>
                                      <p:cBhvr>
                                        <p:cTn id="87" dur="1" fill="hold">
                                          <p:stCondLst>
                                            <p:cond delay="0"/>
                                          </p:stCondLst>
                                        </p:cTn>
                                        <p:tgtEl>
                                          <p:spTgt spid="35"/>
                                        </p:tgtEl>
                                        <p:attrNameLst>
                                          <p:attrName>style.visibility</p:attrName>
                                        </p:attrNameLst>
                                      </p:cBhvr>
                                      <p:to>
                                        <p:strVal val="visible"/>
                                      </p:to>
                                    </p:set>
                                    <p:anim calcmode="lin" valueType="num">
                                      <p:cBhvr additive="base">
                                        <p:cTn id="88" dur="500" fill="hold"/>
                                        <p:tgtEl>
                                          <p:spTgt spid="35"/>
                                        </p:tgtEl>
                                        <p:attrNameLst>
                                          <p:attrName>ppt_x</p:attrName>
                                        </p:attrNameLst>
                                      </p:cBhvr>
                                      <p:tavLst>
                                        <p:tav tm="0">
                                          <p:val>
                                            <p:strVal val="#ppt_x"/>
                                          </p:val>
                                        </p:tav>
                                        <p:tav tm="100000">
                                          <p:val>
                                            <p:strVal val="#ppt_x"/>
                                          </p:val>
                                        </p:tav>
                                      </p:tavLst>
                                    </p:anim>
                                    <p:anim calcmode="lin" valueType="num">
                                      <p:cBhvr additive="base">
                                        <p:cTn id="89" dur="500" fill="hold"/>
                                        <p:tgtEl>
                                          <p:spTgt spid="35"/>
                                        </p:tgtEl>
                                        <p:attrNameLst>
                                          <p:attrName>ppt_y</p:attrName>
                                        </p:attrNameLst>
                                      </p:cBhvr>
                                      <p:tavLst>
                                        <p:tav tm="0">
                                          <p:val>
                                            <p:strVal val="#ppt_y+0.1"/>
                                          </p:val>
                                        </p:tav>
                                        <p:tav tm="100000">
                                          <p:val>
                                            <p:strVal val="#ppt_y"/>
                                          </p:val>
                                        </p:tav>
                                      </p:tavLst>
                                    </p:anim>
                                    <p:animEffect transition="in" filter="fade">
                                      <p:cBhvr>
                                        <p:cTn id="90" dur="500"/>
                                        <p:tgtEl>
                                          <p:spTgt spid="35"/>
                                        </p:tgtEl>
                                      </p:cBhvr>
                                    </p:animEffect>
                                  </p:childTnLst>
                                </p:cTn>
                              </p:par>
                            </p:childTnLst>
                          </p:cTn>
                        </p:par>
                      </p:childTnLst>
                    </p:cTn>
                  </p:par>
                  <p:par>
                    <p:cTn id="92" fill="hold">
                      <p:stCondLst>
                        <p:cond delay="indefinite"/>
                      </p:stCondLst>
                      <p:childTnLst>
                        <p:par>
                          <p:cTn id="93" fill="hold">
                            <p:stCondLst>
                              <p:cond delay="0"/>
                            </p:stCondLst>
                            <p:childTnLst>
                              <p:par>
                                <p:cTn id="98" presetID="2" presetClass="entr" presetSubtype="4" fill="hold" grpId="0" nodeType="clickEffect">
                                  <p:stCondLst>
                                    <p:cond delay="0"/>
                                  </p:stCondLst>
                                  <p:childTnLst>
                                    <p:set>
                                      <p:cBhvr>
                                        <p:cTn id="94" dur="1" fill="hold">
                                          <p:stCondLst>
                                            <p:cond delay="0"/>
                                          </p:stCondLst>
                                        </p:cTn>
                                        <p:tgtEl>
                                          <p:spTgt spid="36"/>
                                        </p:tgtEl>
                                        <p:attrNameLst>
                                          <p:attrName>style.visibility</p:attrName>
                                        </p:attrNameLst>
                                      </p:cBhvr>
                                      <p:to>
                                        <p:strVal val="visible"/>
                                      </p:to>
                                    </p:set>
                                    <p:anim calcmode="lin" valueType="num">
                                      <p:cBhvr additive="base">
                                        <p:cTn id="95" dur="500" fill="hold"/>
                                        <p:tgtEl>
                                          <p:spTgt spid="36"/>
                                        </p:tgtEl>
                                        <p:attrNameLst>
                                          <p:attrName>ppt_x</p:attrName>
                                        </p:attrNameLst>
                                      </p:cBhvr>
                                      <p:tavLst>
                                        <p:tav tm="0">
                                          <p:val>
                                            <p:strVal val="#ppt_x"/>
                                          </p:val>
                                        </p:tav>
                                        <p:tav tm="100000">
                                          <p:val>
                                            <p:strVal val="#ppt_x"/>
                                          </p:val>
                                        </p:tav>
                                      </p:tavLst>
                                    </p:anim>
                                    <p:anim calcmode="lin" valueType="num">
                                      <p:cBhvr additive="base">
                                        <p:cTn id="96" dur="500" fill="hold"/>
                                        <p:tgtEl>
                                          <p:spTgt spid="36"/>
                                        </p:tgtEl>
                                        <p:attrNameLst>
                                          <p:attrName>ppt_y</p:attrName>
                                        </p:attrNameLst>
                                      </p:cBhvr>
                                      <p:tavLst>
                                        <p:tav tm="0">
                                          <p:val>
                                            <p:strVal val="#ppt_y+0.1"/>
                                          </p:val>
                                        </p:tav>
                                        <p:tav tm="100000">
                                          <p:val>
                                            <p:strVal val="#ppt_y"/>
                                          </p:val>
                                        </p:tav>
                                      </p:tavLst>
                                    </p:anim>
                                    <p:animEffect transition="in" filter="fade">
                                      <p:cBhvr>
                                        <p:cTn id="97" dur="500"/>
                                        <p:tgtEl>
                                          <p:spTgt spid="36"/>
                                        </p:tgtEl>
                                      </p:cBhvr>
                                    </p:animEffect>
                                  </p:childTnLst>
                                </p:cTn>
                              </p:par>
                              <p:par>
                                <p:cTn id="103" presetID="2" presetClass="entr" presetSubtype="4" fill="hold" grpId="0" nodeType="withEffect">
                                  <p:stCondLst>
                                    <p:cond delay="0"/>
                                  </p:stCondLst>
                                  <p:childTnLst>
                                    <p:set>
                                      <p:cBhvr>
                                        <p:cTn id="99" dur="1" fill="hold">
                                          <p:stCondLst>
                                            <p:cond delay="0"/>
                                          </p:stCondLst>
                                        </p:cTn>
                                        <p:tgtEl>
                                          <p:spTgt spid="37"/>
                                        </p:tgtEl>
                                        <p:attrNameLst>
                                          <p:attrName>style.visibility</p:attrName>
                                        </p:attrNameLst>
                                      </p:cBhvr>
                                      <p:to>
                                        <p:strVal val="visible"/>
                                      </p:to>
                                    </p:set>
                                    <p:anim calcmode="lin" valueType="num">
                                      <p:cBhvr additive="base">
                                        <p:cTn id="100" dur="500" fill="hold"/>
                                        <p:tgtEl>
                                          <p:spTgt spid="37"/>
                                        </p:tgtEl>
                                        <p:attrNameLst>
                                          <p:attrName>ppt_x</p:attrName>
                                        </p:attrNameLst>
                                      </p:cBhvr>
                                      <p:tavLst>
                                        <p:tav tm="0">
                                          <p:val>
                                            <p:strVal val="#ppt_x"/>
                                          </p:val>
                                        </p:tav>
                                        <p:tav tm="100000">
                                          <p:val>
                                            <p:strVal val="#ppt_x"/>
                                          </p:val>
                                        </p:tav>
                                      </p:tavLst>
                                    </p:anim>
                                    <p:anim calcmode="lin" valueType="num">
                                      <p:cBhvr additive="base">
                                        <p:cTn id="101" dur="500" fill="hold"/>
                                        <p:tgtEl>
                                          <p:spTgt spid="37"/>
                                        </p:tgtEl>
                                        <p:attrNameLst>
                                          <p:attrName>ppt_y</p:attrName>
                                        </p:attrNameLst>
                                      </p:cBhvr>
                                      <p:tavLst>
                                        <p:tav tm="0">
                                          <p:val>
                                            <p:strVal val="#ppt_y+0.1"/>
                                          </p:val>
                                        </p:tav>
                                        <p:tav tm="100000">
                                          <p:val>
                                            <p:strVal val="#ppt_y"/>
                                          </p:val>
                                        </p:tav>
                                      </p:tavLst>
                                    </p:anim>
                                    <p:animEffect transition="in" filter="fade">
                                      <p:cBhvr>
                                        <p:cTn id="102" dur="500"/>
                                        <p:tgtEl>
                                          <p:spTgt spid="37"/>
                                        </p:tgtEl>
                                      </p:cBhvr>
                                    </p:animEffect>
                                  </p:childTnLst>
                                </p:cTn>
                              </p:par>
                              <p:par>
                                <p:cTn id="108" presetID="2" presetClass="entr" presetSubtype="4" fill="hold" grpId="0" nodeType="withEffect">
                                  <p:stCondLst>
                                    <p:cond delay="150"/>
                                  </p:stCondLst>
                                  <p:childTnLst>
                                    <p:set>
                                      <p:cBhvr>
                                        <p:cTn id="104" dur="1" fill="hold">
                                          <p:stCondLst>
                                            <p:cond delay="0"/>
                                          </p:stCondLst>
                                        </p:cTn>
                                        <p:tgtEl>
                                          <p:spTgt spid="38"/>
                                        </p:tgtEl>
                                        <p:attrNameLst>
                                          <p:attrName>style.visibility</p:attrName>
                                        </p:attrNameLst>
                                      </p:cBhvr>
                                      <p:to>
                                        <p:strVal val="visible"/>
                                      </p:to>
                                    </p:set>
                                    <p:anim calcmode="lin" valueType="num">
                                      <p:cBhvr additive="base">
                                        <p:cTn id="105" dur="500" fill="hold"/>
                                        <p:tgtEl>
                                          <p:spTgt spid="38"/>
                                        </p:tgtEl>
                                        <p:attrNameLst>
                                          <p:attrName>ppt_x</p:attrName>
                                        </p:attrNameLst>
                                      </p:cBhvr>
                                      <p:tavLst>
                                        <p:tav tm="0">
                                          <p:val>
                                            <p:strVal val="#ppt_x"/>
                                          </p:val>
                                        </p:tav>
                                        <p:tav tm="100000">
                                          <p:val>
                                            <p:strVal val="#ppt_x"/>
                                          </p:val>
                                        </p:tav>
                                      </p:tavLst>
                                    </p:anim>
                                    <p:anim calcmode="lin" valueType="num">
                                      <p:cBhvr additive="base">
                                        <p:cTn id="106" dur="500" fill="hold"/>
                                        <p:tgtEl>
                                          <p:spTgt spid="38"/>
                                        </p:tgtEl>
                                        <p:attrNameLst>
                                          <p:attrName>ppt_y</p:attrName>
                                        </p:attrNameLst>
                                      </p:cBhvr>
                                      <p:tavLst>
                                        <p:tav tm="0">
                                          <p:val>
                                            <p:strVal val="#ppt_y+0.1"/>
                                          </p:val>
                                        </p:tav>
                                        <p:tav tm="100000">
                                          <p:val>
                                            <p:strVal val="#ppt_y"/>
                                          </p:val>
                                        </p:tav>
                                      </p:tavLst>
                                    </p:anim>
                                    <p:animEffect transition="in" filter="fade">
                                      <p:cBhvr>
                                        <p:cTn id="107" dur="500"/>
                                        <p:tgtEl>
                                          <p:spTgt spid="38"/>
                                        </p:tgtEl>
                                      </p:cBhvr>
                                    </p:animEffect>
                                  </p:childTnLst>
                                </p:cTn>
                              </p:par>
                              <p:par>
                                <p:cTn id="113" presetID="2" presetClass="entr" presetSubtype="4" fill="hold" grpId="0" nodeType="withEffect">
                                  <p:stCondLst>
                                    <p:cond delay="150"/>
                                  </p:stCondLst>
                                  <p:childTnLst>
                                    <p:set>
                                      <p:cBhvr>
                                        <p:cTn id="109" dur="1" fill="hold">
                                          <p:stCondLst>
                                            <p:cond delay="0"/>
                                          </p:stCondLst>
                                        </p:cTn>
                                        <p:tgtEl>
                                          <p:spTgt spid="39"/>
                                        </p:tgtEl>
                                        <p:attrNameLst>
                                          <p:attrName>style.visibility</p:attrName>
                                        </p:attrNameLst>
                                      </p:cBhvr>
                                      <p:to>
                                        <p:strVal val="visible"/>
                                      </p:to>
                                    </p:set>
                                    <p:anim calcmode="lin" valueType="num">
                                      <p:cBhvr additive="base">
                                        <p:cTn id="110" dur="500" fill="hold"/>
                                        <p:tgtEl>
                                          <p:spTgt spid="39"/>
                                        </p:tgtEl>
                                        <p:attrNameLst>
                                          <p:attrName>ppt_x</p:attrName>
                                        </p:attrNameLst>
                                      </p:cBhvr>
                                      <p:tavLst>
                                        <p:tav tm="0">
                                          <p:val>
                                            <p:strVal val="#ppt_x"/>
                                          </p:val>
                                        </p:tav>
                                        <p:tav tm="100000">
                                          <p:val>
                                            <p:strVal val="#ppt_x"/>
                                          </p:val>
                                        </p:tav>
                                      </p:tavLst>
                                    </p:anim>
                                    <p:anim calcmode="lin" valueType="num">
                                      <p:cBhvr additive="base">
                                        <p:cTn id="111" dur="500" fill="hold"/>
                                        <p:tgtEl>
                                          <p:spTgt spid="39"/>
                                        </p:tgtEl>
                                        <p:attrNameLst>
                                          <p:attrName>ppt_y</p:attrName>
                                        </p:attrNameLst>
                                      </p:cBhvr>
                                      <p:tavLst>
                                        <p:tav tm="0">
                                          <p:val>
                                            <p:strVal val="#ppt_y+0.1"/>
                                          </p:val>
                                        </p:tav>
                                        <p:tav tm="100000">
                                          <p:val>
                                            <p:strVal val="#ppt_y"/>
                                          </p:val>
                                        </p:tav>
                                      </p:tavLst>
                                    </p:anim>
                                    <p:animEffect transition="in" filter="fade">
                                      <p:cBhvr>
                                        <p:cTn id="112" dur="500"/>
                                        <p:tgtEl>
                                          <p:spTgt spid="39"/>
                                        </p:tgtEl>
                                      </p:cBhvr>
                                    </p:animEffect>
                                  </p:childTnLst>
                                </p:cTn>
                              </p:par>
                            </p:childTnLst>
                          </p:cTn>
                        </p:par>
                      </p:childTnLst>
                    </p:cTn>
                  </p:par>
                  <p:par>
                    <p:cTn id="114" fill="hold">
                      <p:stCondLst>
                        <p:cond delay="indefinite"/>
                      </p:stCondLst>
                      <p:childTnLst>
                        <p:par>
                          <p:cTn id="115" fill="hold">
                            <p:stCondLst>
                              <p:cond delay="0"/>
                            </p:stCondLst>
                            <p:childTnLst>
                              <p:par>
                                <p:cTn id="120" presetID="2" presetClass="entr" presetSubtype="4" fill="hold" grpId="0" nodeType="clickEffect">
                                  <p:stCondLst>
                                    <p:cond delay="0"/>
                                  </p:stCondLst>
                                  <p:childTnLst>
                                    <p:set>
                                      <p:cBhvr>
                                        <p:cTn id="116" dur="1" fill="hold">
                                          <p:stCondLst>
                                            <p:cond delay="0"/>
                                          </p:stCondLst>
                                        </p:cTn>
                                        <p:tgtEl>
                                          <p:spTgt spid="40"/>
                                        </p:tgtEl>
                                        <p:attrNameLst>
                                          <p:attrName>style.visibility</p:attrName>
                                        </p:attrNameLst>
                                      </p:cBhvr>
                                      <p:to>
                                        <p:strVal val="visible"/>
                                      </p:to>
                                    </p:set>
                                    <p:anim calcmode="lin" valueType="num">
                                      <p:cBhvr additive="base">
                                        <p:cTn id="117" dur="500" fill="hold"/>
                                        <p:tgtEl>
                                          <p:spTgt spid="40"/>
                                        </p:tgtEl>
                                        <p:attrNameLst>
                                          <p:attrName>ppt_x</p:attrName>
                                        </p:attrNameLst>
                                      </p:cBhvr>
                                      <p:tavLst>
                                        <p:tav tm="0">
                                          <p:val>
                                            <p:strVal val="#ppt_x"/>
                                          </p:val>
                                        </p:tav>
                                        <p:tav tm="100000">
                                          <p:val>
                                            <p:strVal val="#ppt_x"/>
                                          </p:val>
                                        </p:tav>
                                      </p:tavLst>
                                    </p:anim>
                                    <p:anim calcmode="lin" valueType="num">
                                      <p:cBhvr additive="base">
                                        <p:cTn id="118" dur="500" fill="hold"/>
                                        <p:tgtEl>
                                          <p:spTgt spid="40"/>
                                        </p:tgtEl>
                                        <p:attrNameLst>
                                          <p:attrName>ppt_y</p:attrName>
                                        </p:attrNameLst>
                                      </p:cBhvr>
                                      <p:tavLst>
                                        <p:tav tm="0">
                                          <p:val>
                                            <p:strVal val="#ppt_y+0.1"/>
                                          </p:val>
                                        </p:tav>
                                        <p:tav tm="100000">
                                          <p:val>
                                            <p:strVal val="#ppt_y"/>
                                          </p:val>
                                        </p:tav>
                                      </p:tavLst>
                                    </p:anim>
                                    <p:animEffect transition="in" filter="fade">
                                      <p:cBhvr>
                                        <p:cTn id="119" dur="500"/>
                                        <p:tgtEl>
                                          <p:spTgt spid="40"/>
                                        </p:tgtEl>
                                      </p:cBhvr>
                                    </p:animEffect>
                                  </p:childTnLst>
                                </p:cTn>
                              </p:par>
                              <p:par>
                                <p:cTn id="125" presetID="2" presetClass="entr" presetSubtype="4" fill="hold" grpId="0" nodeType="withEffect">
                                  <p:stCondLst>
                                    <p:cond delay="0"/>
                                  </p:stCondLst>
                                  <p:childTnLst>
                                    <p:set>
                                      <p:cBhvr>
                                        <p:cTn id="121" dur="1" fill="hold">
                                          <p:stCondLst>
                                            <p:cond delay="0"/>
                                          </p:stCondLst>
                                        </p:cTn>
                                        <p:tgtEl>
                                          <p:spTgt spid="41"/>
                                        </p:tgtEl>
                                        <p:attrNameLst>
                                          <p:attrName>style.visibility</p:attrName>
                                        </p:attrNameLst>
                                      </p:cBhvr>
                                      <p:to>
                                        <p:strVal val="visible"/>
                                      </p:to>
                                    </p:set>
                                    <p:anim calcmode="lin" valueType="num">
                                      <p:cBhvr additive="base">
                                        <p:cTn id="122" dur="500" fill="hold"/>
                                        <p:tgtEl>
                                          <p:spTgt spid="41"/>
                                        </p:tgtEl>
                                        <p:attrNameLst>
                                          <p:attrName>ppt_x</p:attrName>
                                        </p:attrNameLst>
                                      </p:cBhvr>
                                      <p:tavLst>
                                        <p:tav tm="0">
                                          <p:val>
                                            <p:strVal val="#ppt_x"/>
                                          </p:val>
                                        </p:tav>
                                        <p:tav tm="100000">
                                          <p:val>
                                            <p:strVal val="#ppt_x"/>
                                          </p:val>
                                        </p:tav>
                                      </p:tavLst>
                                    </p:anim>
                                    <p:anim calcmode="lin" valueType="num">
                                      <p:cBhvr additive="base">
                                        <p:cTn id="123" dur="500" fill="hold"/>
                                        <p:tgtEl>
                                          <p:spTgt spid="41"/>
                                        </p:tgtEl>
                                        <p:attrNameLst>
                                          <p:attrName>ppt_y</p:attrName>
                                        </p:attrNameLst>
                                      </p:cBhvr>
                                      <p:tavLst>
                                        <p:tav tm="0">
                                          <p:val>
                                            <p:strVal val="#ppt_y+0.1"/>
                                          </p:val>
                                        </p:tav>
                                        <p:tav tm="100000">
                                          <p:val>
                                            <p:strVal val="#ppt_y"/>
                                          </p:val>
                                        </p:tav>
                                      </p:tavLst>
                                    </p:anim>
                                    <p:animEffect transition="in" filter="fade">
                                      <p:cBhvr>
                                        <p:cTn id="124" dur="500"/>
                                        <p:tgtEl>
                                          <p:spTgt spid="41"/>
                                        </p:tgtEl>
                                      </p:cBhvr>
                                    </p:animEffect>
                                  </p:childTnLst>
                                </p:cTn>
                              </p:par>
                              <p:par>
                                <p:cTn id="130" presetID="2" presetClass="entr" presetSubtype="4" fill="hold" grpId="0" nodeType="withEffect">
                                  <p:stCondLst>
                                    <p:cond delay="120"/>
                                  </p:stCondLst>
                                  <p:childTnLst>
                                    <p:set>
                                      <p:cBhvr>
                                        <p:cTn id="126" dur="1" fill="hold">
                                          <p:stCondLst>
                                            <p:cond delay="0"/>
                                          </p:stCondLst>
                                        </p:cTn>
                                        <p:tgtEl>
                                          <p:spTgt spid="42"/>
                                        </p:tgtEl>
                                        <p:attrNameLst>
                                          <p:attrName>style.visibility</p:attrName>
                                        </p:attrNameLst>
                                      </p:cBhvr>
                                      <p:to>
                                        <p:strVal val="visible"/>
                                      </p:to>
                                    </p:set>
                                    <p:anim calcmode="lin" valueType="num">
                                      <p:cBhvr additive="base">
                                        <p:cTn id="127" dur="500" fill="hold"/>
                                        <p:tgtEl>
                                          <p:spTgt spid="42"/>
                                        </p:tgtEl>
                                        <p:attrNameLst>
                                          <p:attrName>ppt_x</p:attrName>
                                        </p:attrNameLst>
                                      </p:cBhvr>
                                      <p:tavLst>
                                        <p:tav tm="0">
                                          <p:val>
                                            <p:strVal val="#ppt_x"/>
                                          </p:val>
                                        </p:tav>
                                        <p:tav tm="100000">
                                          <p:val>
                                            <p:strVal val="#ppt_x"/>
                                          </p:val>
                                        </p:tav>
                                      </p:tavLst>
                                    </p:anim>
                                    <p:anim calcmode="lin" valueType="num">
                                      <p:cBhvr additive="base">
                                        <p:cTn id="128" dur="500" fill="hold"/>
                                        <p:tgtEl>
                                          <p:spTgt spid="42"/>
                                        </p:tgtEl>
                                        <p:attrNameLst>
                                          <p:attrName>ppt_y</p:attrName>
                                        </p:attrNameLst>
                                      </p:cBhvr>
                                      <p:tavLst>
                                        <p:tav tm="0">
                                          <p:val>
                                            <p:strVal val="#ppt_y+0.1"/>
                                          </p:val>
                                        </p:tav>
                                        <p:tav tm="100000">
                                          <p:val>
                                            <p:strVal val="#ppt_y"/>
                                          </p:val>
                                        </p:tav>
                                      </p:tavLst>
                                    </p:anim>
                                    <p:animEffect transition="in" filter="fade">
                                      <p:cBhvr>
                                        <p:cTn id="129" dur="500"/>
                                        <p:tgtEl>
                                          <p:spTgt spid="42"/>
                                        </p:tgtEl>
                                      </p:cBhvr>
                                    </p:animEffect>
                                  </p:childTnLst>
                                </p:cTn>
                              </p:par>
                              <p:par>
                                <p:cTn id="135" presetID="2" presetClass="entr" presetSubtype="4" fill="hold" grpId="0" nodeType="withEffect">
                                  <p:stCondLst>
                                    <p:cond delay="120"/>
                                  </p:stCondLst>
                                  <p:childTnLst>
                                    <p:set>
                                      <p:cBhvr>
                                        <p:cTn id="131" dur="1" fill="hold">
                                          <p:stCondLst>
                                            <p:cond delay="0"/>
                                          </p:stCondLst>
                                        </p:cTn>
                                        <p:tgtEl>
                                          <p:spTgt spid="43"/>
                                        </p:tgtEl>
                                        <p:attrNameLst>
                                          <p:attrName>style.visibility</p:attrName>
                                        </p:attrNameLst>
                                      </p:cBhvr>
                                      <p:to>
                                        <p:strVal val="visible"/>
                                      </p:to>
                                    </p:set>
                                    <p:anim calcmode="lin" valueType="num">
                                      <p:cBhvr additive="base">
                                        <p:cTn id="132" dur="500" fill="hold"/>
                                        <p:tgtEl>
                                          <p:spTgt spid="43"/>
                                        </p:tgtEl>
                                        <p:attrNameLst>
                                          <p:attrName>ppt_x</p:attrName>
                                        </p:attrNameLst>
                                      </p:cBhvr>
                                      <p:tavLst>
                                        <p:tav tm="0">
                                          <p:val>
                                            <p:strVal val="#ppt_x"/>
                                          </p:val>
                                        </p:tav>
                                        <p:tav tm="100000">
                                          <p:val>
                                            <p:strVal val="#ppt_x"/>
                                          </p:val>
                                        </p:tav>
                                      </p:tavLst>
                                    </p:anim>
                                    <p:anim calcmode="lin" valueType="num">
                                      <p:cBhvr additive="base">
                                        <p:cTn id="133" dur="500" fill="hold"/>
                                        <p:tgtEl>
                                          <p:spTgt spid="43"/>
                                        </p:tgtEl>
                                        <p:attrNameLst>
                                          <p:attrName>ppt_y</p:attrName>
                                        </p:attrNameLst>
                                      </p:cBhvr>
                                      <p:tavLst>
                                        <p:tav tm="0">
                                          <p:val>
                                            <p:strVal val="#ppt_y+0.1"/>
                                          </p:val>
                                        </p:tav>
                                        <p:tav tm="100000">
                                          <p:val>
                                            <p:strVal val="#ppt_y"/>
                                          </p:val>
                                        </p:tav>
                                      </p:tavLst>
                                    </p:anim>
                                    <p:animEffect transition="in" filter="fade">
                                      <p:cBhvr>
                                        <p:cTn id="134" dur="500"/>
                                        <p:tgtEl>
                                          <p:spTgt spid="43"/>
                                        </p:tgtEl>
                                      </p:cBhvr>
                                    </p:animEffect>
                                  </p:childTnLst>
                                </p:cTn>
                              </p:par>
                              <p:par>
                                <p:cTn id="140" presetID="2" presetClass="entr" presetSubtype="4" fill="hold" grpId="0" nodeType="withEffect">
                                  <p:stCondLst>
                                    <p:cond delay="240"/>
                                  </p:stCondLst>
                                  <p:childTnLst>
                                    <p:set>
                                      <p:cBhvr>
                                        <p:cTn id="136" dur="1" fill="hold">
                                          <p:stCondLst>
                                            <p:cond delay="0"/>
                                          </p:stCondLst>
                                        </p:cTn>
                                        <p:tgtEl>
                                          <p:spTgt spid="44"/>
                                        </p:tgtEl>
                                        <p:attrNameLst>
                                          <p:attrName>style.visibility</p:attrName>
                                        </p:attrNameLst>
                                      </p:cBhvr>
                                      <p:to>
                                        <p:strVal val="visible"/>
                                      </p:to>
                                    </p:set>
                                    <p:anim calcmode="lin" valueType="num">
                                      <p:cBhvr additive="base">
                                        <p:cTn id="137" dur="500" fill="hold"/>
                                        <p:tgtEl>
                                          <p:spTgt spid="44"/>
                                        </p:tgtEl>
                                        <p:attrNameLst>
                                          <p:attrName>ppt_x</p:attrName>
                                        </p:attrNameLst>
                                      </p:cBhvr>
                                      <p:tavLst>
                                        <p:tav tm="0">
                                          <p:val>
                                            <p:strVal val="#ppt_x"/>
                                          </p:val>
                                        </p:tav>
                                        <p:tav tm="100000">
                                          <p:val>
                                            <p:strVal val="#ppt_x"/>
                                          </p:val>
                                        </p:tav>
                                      </p:tavLst>
                                    </p:anim>
                                    <p:anim calcmode="lin" valueType="num">
                                      <p:cBhvr additive="base">
                                        <p:cTn id="138" dur="500" fill="hold"/>
                                        <p:tgtEl>
                                          <p:spTgt spid="44"/>
                                        </p:tgtEl>
                                        <p:attrNameLst>
                                          <p:attrName>ppt_y</p:attrName>
                                        </p:attrNameLst>
                                      </p:cBhvr>
                                      <p:tavLst>
                                        <p:tav tm="0">
                                          <p:val>
                                            <p:strVal val="#ppt_y+0.1"/>
                                          </p:val>
                                        </p:tav>
                                        <p:tav tm="100000">
                                          <p:val>
                                            <p:strVal val="#ppt_y"/>
                                          </p:val>
                                        </p:tav>
                                      </p:tavLst>
                                    </p:anim>
                                    <p:animEffect transition="in" filter="fade">
                                      <p:cBhvr>
                                        <p:cTn id="139" dur="500"/>
                                        <p:tgtEl>
                                          <p:spTgt spid="44"/>
                                        </p:tgtEl>
                                      </p:cBhvr>
                                    </p:animEffect>
                                  </p:childTnLst>
                                </p:cTn>
                              </p:par>
                              <p:par>
                                <p:cTn id="145" presetID="2" presetClass="entr" presetSubtype="4" fill="hold" grpId="0" nodeType="withEffect">
                                  <p:stCondLst>
                                    <p:cond delay="240"/>
                                  </p:stCondLst>
                                  <p:childTnLst>
                                    <p:set>
                                      <p:cBhvr>
                                        <p:cTn id="141" dur="1" fill="hold">
                                          <p:stCondLst>
                                            <p:cond delay="0"/>
                                          </p:stCondLst>
                                        </p:cTn>
                                        <p:tgtEl>
                                          <p:spTgt spid="45"/>
                                        </p:tgtEl>
                                        <p:attrNameLst>
                                          <p:attrName>style.visibility</p:attrName>
                                        </p:attrNameLst>
                                      </p:cBhvr>
                                      <p:to>
                                        <p:strVal val="visible"/>
                                      </p:to>
                                    </p:set>
                                    <p:anim calcmode="lin" valueType="num">
                                      <p:cBhvr additive="base">
                                        <p:cTn id="142" dur="500" fill="hold"/>
                                        <p:tgtEl>
                                          <p:spTgt spid="45"/>
                                        </p:tgtEl>
                                        <p:attrNameLst>
                                          <p:attrName>ppt_x</p:attrName>
                                        </p:attrNameLst>
                                      </p:cBhvr>
                                      <p:tavLst>
                                        <p:tav tm="0">
                                          <p:val>
                                            <p:strVal val="#ppt_x"/>
                                          </p:val>
                                        </p:tav>
                                        <p:tav tm="100000">
                                          <p:val>
                                            <p:strVal val="#ppt_x"/>
                                          </p:val>
                                        </p:tav>
                                      </p:tavLst>
                                    </p:anim>
                                    <p:anim calcmode="lin" valueType="num">
                                      <p:cBhvr additive="base">
                                        <p:cTn id="143" dur="500" fill="hold"/>
                                        <p:tgtEl>
                                          <p:spTgt spid="45"/>
                                        </p:tgtEl>
                                        <p:attrNameLst>
                                          <p:attrName>ppt_y</p:attrName>
                                        </p:attrNameLst>
                                      </p:cBhvr>
                                      <p:tavLst>
                                        <p:tav tm="0">
                                          <p:val>
                                            <p:strVal val="#ppt_y+0.1"/>
                                          </p:val>
                                        </p:tav>
                                        <p:tav tm="100000">
                                          <p:val>
                                            <p:strVal val="#ppt_y"/>
                                          </p:val>
                                        </p:tav>
                                      </p:tavLst>
                                    </p:anim>
                                    <p:animEffect transition="in" filter="fade">
                                      <p:cBhvr>
                                        <p:cTn id="144" dur="500"/>
                                        <p:tgtEl>
                                          <p:spTgt spid="45"/>
                                        </p:tgtEl>
                                      </p:cBhvr>
                                    </p:animEffect>
                                  </p:childTnLst>
                                </p:cTn>
                              </p:par>
                            </p:childTnLst>
                          </p:cTn>
                        </p:par>
                      </p:childTnLst>
                    </p:cTn>
                  </p:par>
                  <p:par>
                    <p:cTn id="146" fill="hold">
                      <p:stCondLst>
                        <p:cond delay="indefinite"/>
                      </p:stCondLst>
                      <p:childTnLst>
                        <p:par>
                          <p:cTn id="147" fill="hold">
                            <p:stCondLst>
                              <p:cond delay="0"/>
                            </p:stCondLst>
                            <p:childTnLst>
                              <p:par>
                                <p:cTn id="152" presetID="2" presetClass="entr" presetSubtype="4" fill="hold" grpId="0" nodeType="clickEffect">
                                  <p:stCondLst>
                                    <p:cond delay="0"/>
                                  </p:stCondLst>
                                  <p:childTnLst>
                                    <p:set>
                                      <p:cBhvr>
                                        <p:cTn id="148" dur="1" fill="hold">
                                          <p:stCondLst>
                                            <p:cond delay="0"/>
                                          </p:stCondLst>
                                        </p:cTn>
                                        <p:tgtEl>
                                          <p:spTgt spid="46"/>
                                        </p:tgtEl>
                                        <p:attrNameLst>
                                          <p:attrName>style.visibility</p:attrName>
                                        </p:attrNameLst>
                                      </p:cBhvr>
                                      <p:to>
                                        <p:strVal val="visible"/>
                                      </p:to>
                                    </p:set>
                                    <p:anim calcmode="lin" valueType="num">
                                      <p:cBhvr additive="base">
                                        <p:cTn id="149" dur="500" fill="hold"/>
                                        <p:tgtEl>
                                          <p:spTgt spid="46"/>
                                        </p:tgtEl>
                                        <p:attrNameLst>
                                          <p:attrName>ppt_x</p:attrName>
                                        </p:attrNameLst>
                                      </p:cBhvr>
                                      <p:tavLst>
                                        <p:tav tm="0">
                                          <p:val>
                                            <p:strVal val="#ppt_x"/>
                                          </p:val>
                                        </p:tav>
                                        <p:tav tm="100000">
                                          <p:val>
                                            <p:strVal val="#ppt_x"/>
                                          </p:val>
                                        </p:tav>
                                      </p:tavLst>
                                    </p:anim>
                                    <p:anim calcmode="lin" valueType="num">
                                      <p:cBhvr additive="base">
                                        <p:cTn id="150" dur="500" fill="hold"/>
                                        <p:tgtEl>
                                          <p:spTgt spid="46"/>
                                        </p:tgtEl>
                                        <p:attrNameLst>
                                          <p:attrName>ppt_y</p:attrName>
                                        </p:attrNameLst>
                                      </p:cBhvr>
                                      <p:tavLst>
                                        <p:tav tm="0">
                                          <p:val>
                                            <p:strVal val="#ppt_y+0.1"/>
                                          </p:val>
                                        </p:tav>
                                        <p:tav tm="100000">
                                          <p:val>
                                            <p:strVal val="#ppt_y"/>
                                          </p:val>
                                        </p:tav>
                                      </p:tavLst>
                                    </p:anim>
                                    <p:animEffect transition="in" filter="fade">
                                      <p:cBhvr>
                                        <p:cTn id="151" dur="500"/>
                                        <p:tgtEl>
                                          <p:spTgt spid="46"/>
                                        </p:tgtEl>
                                      </p:cBhvr>
                                    </p:animEffect>
                                  </p:childTnLst>
                                </p:cTn>
                              </p:par>
                              <p:par>
                                <p:cTn id="157" presetID="2" presetClass="entr" presetSubtype="4" fill="hold" grpId="0" nodeType="withEffect">
                                  <p:stCondLst>
                                    <p:cond delay="0"/>
                                  </p:stCondLst>
                                  <p:childTnLst>
                                    <p:set>
                                      <p:cBhvr>
                                        <p:cTn id="153" dur="1" fill="hold">
                                          <p:stCondLst>
                                            <p:cond delay="0"/>
                                          </p:stCondLst>
                                        </p:cTn>
                                        <p:tgtEl>
                                          <p:spTgt spid="47"/>
                                        </p:tgtEl>
                                        <p:attrNameLst>
                                          <p:attrName>style.visibility</p:attrName>
                                        </p:attrNameLst>
                                      </p:cBhvr>
                                      <p:to>
                                        <p:strVal val="visible"/>
                                      </p:to>
                                    </p:set>
                                    <p:anim calcmode="lin" valueType="num">
                                      <p:cBhvr additive="base">
                                        <p:cTn id="154" dur="500" fill="hold"/>
                                        <p:tgtEl>
                                          <p:spTgt spid="47"/>
                                        </p:tgtEl>
                                        <p:attrNameLst>
                                          <p:attrName>ppt_x</p:attrName>
                                        </p:attrNameLst>
                                      </p:cBhvr>
                                      <p:tavLst>
                                        <p:tav tm="0">
                                          <p:val>
                                            <p:strVal val="#ppt_x"/>
                                          </p:val>
                                        </p:tav>
                                        <p:tav tm="100000">
                                          <p:val>
                                            <p:strVal val="#ppt_x"/>
                                          </p:val>
                                        </p:tav>
                                      </p:tavLst>
                                    </p:anim>
                                    <p:anim calcmode="lin" valueType="num">
                                      <p:cBhvr additive="base">
                                        <p:cTn id="155" dur="500" fill="hold"/>
                                        <p:tgtEl>
                                          <p:spTgt spid="47"/>
                                        </p:tgtEl>
                                        <p:attrNameLst>
                                          <p:attrName>ppt_y</p:attrName>
                                        </p:attrNameLst>
                                      </p:cBhvr>
                                      <p:tavLst>
                                        <p:tav tm="0">
                                          <p:val>
                                            <p:strVal val="#ppt_y+0.1"/>
                                          </p:val>
                                        </p:tav>
                                        <p:tav tm="100000">
                                          <p:val>
                                            <p:strVal val="#ppt_y"/>
                                          </p:val>
                                        </p:tav>
                                      </p:tavLst>
                                    </p:anim>
                                    <p:animEffect transition="in" filter="fade">
                                      <p:cBhvr>
                                        <p:cTn id="156" dur="500"/>
                                        <p:tgtEl>
                                          <p:spTgt spid="47"/>
                                        </p:tgtEl>
                                      </p:cBhvr>
                                    </p:animEffect>
                                  </p:childTnLst>
                                </p:cTn>
                              </p:par>
                              <p:par>
                                <p:cTn id="162" presetID="2" presetClass="entr" presetSubtype="4" fill="hold" grpId="0" nodeType="withEffect">
                                  <p:stCondLst>
                                    <p:cond delay="0"/>
                                  </p:stCondLst>
                                  <p:childTnLst>
                                    <p:set>
                                      <p:cBhvr>
                                        <p:cTn id="158" dur="1" fill="hold">
                                          <p:stCondLst>
                                            <p:cond delay="0"/>
                                          </p:stCondLst>
                                        </p:cTn>
                                        <p:tgtEl>
                                          <p:spTgt spid="48"/>
                                        </p:tgtEl>
                                        <p:attrNameLst>
                                          <p:attrName>style.visibility</p:attrName>
                                        </p:attrNameLst>
                                      </p:cBhvr>
                                      <p:to>
                                        <p:strVal val="visible"/>
                                      </p:to>
                                    </p:set>
                                    <p:anim calcmode="lin" valueType="num">
                                      <p:cBhvr additive="base">
                                        <p:cTn id="159" dur="500" fill="hold"/>
                                        <p:tgtEl>
                                          <p:spTgt spid="48"/>
                                        </p:tgtEl>
                                        <p:attrNameLst>
                                          <p:attrName>ppt_x</p:attrName>
                                        </p:attrNameLst>
                                      </p:cBhvr>
                                      <p:tavLst>
                                        <p:tav tm="0">
                                          <p:val>
                                            <p:strVal val="#ppt_x"/>
                                          </p:val>
                                        </p:tav>
                                        <p:tav tm="100000">
                                          <p:val>
                                            <p:strVal val="#ppt_x"/>
                                          </p:val>
                                        </p:tav>
                                      </p:tavLst>
                                    </p:anim>
                                    <p:anim calcmode="lin" valueType="num">
                                      <p:cBhvr additive="base">
                                        <p:cTn id="160" dur="500" fill="hold"/>
                                        <p:tgtEl>
                                          <p:spTgt spid="48"/>
                                        </p:tgtEl>
                                        <p:attrNameLst>
                                          <p:attrName>ppt_y</p:attrName>
                                        </p:attrNameLst>
                                      </p:cBhvr>
                                      <p:tavLst>
                                        <p:tav tm="0">
                                          <p:val>
                                            <p:strVal val="#ppt_y+0.1"/>
                                          </p:val>
                                        </p:tav>
                                        <p:tav tm="100000">
                                          <p:val>
                                            <p:strVal val="#ppt_y"/>
                                          </p:val>
                                        </p:tav>
                                      </p:tavLst>
                                    </p:anim>
                                    <p:animEffect transition="in" filter="fade">
                                      <p:cBhvr>
                                        <p:cTn id="161"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Committing Offsets: Remembering Where You Were</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Now and then a consumer tells the cluster how far it has got - a commit</a:t>
            </a:r>
          </a:p>
        </p:txBody>
      </p:sp>
      <p:sp>
        <p:nvSpPr>
          <p:cNvPr id="11" name="a0f_lb10"/>
          <p:cNvSpPr txBox="1"/>
          <p:nvPr/>
        </p:nvSpPr>
        <p:spPr>
          <a:xfrm>
            <a:off x="457200" y="1280160"/>
            <a:ext cx="3657600" cy="201168"/>
          </a:xfrm>
          <a:prstGeom prst="rect">
            <a:avLst/>
          </a:prstGeom>
          <a:noFill/>
        </p:spPr>
        <p:txBody>
          <a:bodyPr wrap="square" lIns="0" tIns="0" rIns="0" bIns="0" anchor="ctr">
            <a:spAutoFit/>
          </a:bodyPr>
          <a:lstStyle/>
          <a:p>
            <a:pPr algn="l"/>
            <a:r>
              <a:rPr sz="850" b="0">
                <a:solidFill>
                  <a:srgbClr val="78716C"/>
                </a:solidFill>
                <a:latin typeface="Consolas"/>
              </a:rPr>
              <a:t>thermostat_readings  ·  P0</a:t>
            </a:r>
          </a:p>
        </p:txBody>
      </p:sp>
      <p:sp>
        <p:nvSpPr>
          <p:cNvPr id="12" name="a0f_cell11"/>
          <p:cNvSpPr/>
          <p:nvPr/>
        </p:nvSpPr>
        <p:spPr>
          <a:xfrm>
            <a:off x="457200" y="1536192"/>
            <a:ext cx="566928" cy="45720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0f_cellt12"/>
          <p:cNvSpPr txBox="1"/>
          <p:nvPr/>
        </p:nvSpPr>
        <p:spPr>
          <a:xfrm>
            <a:off x="457200" y="1536192"/>
            <a:ext cx="566928" cy="457200"/>
          </a:xfrm>
          <a:prstGeom prst="rect">
            <a:avLst/>
          </a:prstGeom>
          <a:noFill/>
        </p:spPr>
        <p:txBody>
          <a:bodyPr wrap="square" lIns="0" tIns="0" rIns="0" bIns="0" anchor="ctr">
            <a:spAutoFit/>
          </a:bodyPr>
          <a:lstStyle/>
          <a:p>
            <a:pPr algn="ctr"/>
            <a:r>
              <a:rPr sz="1000" b="1">
                <a:solidFill>
                  <a:srgbClr val="0E7490"/>
                </a:solidFill>
                <a:latin typeface="Consolas"/>
              </a:rPr>
              <a:t>0</a:t>
            </a:r>
          </a:p>
        </p:txBody>
      </p:sp>
      <p:sp>
        <p:nvSpPr>
          <p:cNvPr id="14" name="a0f_cell13"/>
          <p:cNvSpPr/>
          <p:nvPr/>
        </p:nvSpPr>
        <p:spPr>
          <a:xfrm>
            <a:off x="1024128" y="1536192"/>
            <a:ext cx="566928" cy="45720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0f_cellt14"/>
          <p:cNvSpPr txBox="1"/>
          <p:nvPr/>
        </p:nvSpPr>
        <p:spPr>
          <a:xfrm>
            <a:off x="1024128" y="1536192"/>
            <a:ext cx="566928" cy="457200"/>
          </a:xfrm>
          <a:prstGeom prst="rect">
            <a:avLst/>
          </a:prstGeom>
          <a:noFill/>
        </p:spPr>
        <p:txBody>
          <a:bodyPr wrap="square" lIns="0" tIns="0" rIns="0" bIns="0" anchor="ctr">
            <a:spAutoFit/>
          </a:bodyPr>
          <a:lstStyle/>
          <a:p>
            <a:pPr algn="ctr"/>
            <a:r>
              <a:rPr sz="1000" b="1">
                <a:solidFill>
                  <a:srgbClr val="0E7490"/>
                </a:solidFill>
                <a:latin typeface="Consolas"/>
              </a:rPr>
              <a:t>1</a:t>
            </a:r>
          </a:p>
        </p:txBody>
      </p:sp>
      <p:sp>
        <p:nvSpPr>
          <p:cNvPr id="16" name="a0f_cell15"/>
          <p:cNvSpPr/>
          <p:nvPr/>
        </p:nvSpPr>
        <p:spPr>
          <a:xfrm>
            <a:off x="1591056" y="1536192"/>
            <a:ext cx="566928" cy="45720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0f_cellt16"/>
          <p:cNvSpPr txBox="1"/>
          <p:nvPr/>
        </p:nvSpPr>
        <p:spPr>
          <a:xfrm>
            <a:off x="1591056" y="1536192"/>
            <a:ext cx="566928" cy="457200"/>
          </a:xfrm>
          <a:prstGeom prst="rect">
            <a:avLst/>
          </a:prstGeom>
          <a:noFill/>
        </p:spPr>
        <p:txBody>
          <a:bodyPr wrap="square" lIns="0" tIns="0" rIns="0" bIns="0" anchor="ctr">
            <a:spAutoFit/>
          </a:bodyPr>
          <a:lstStyle/>
          <a:p>
            <a:pPr algn="ctr"/>
            <a:r>
              <a:rPr sz="1000" b="1">
                <a:solidFill>
                  <a:srgbClr val="0E7490"/>
                </a:solidFill>
                <a:latin typeface="Consolas"/>
              </a:rPr>
              <a:t>2</a:t>
            </a:r>
          </a:p>
        </p:txBody>
      </p:sp>
      <p:sp>
        <p:nvSpPr>
          <p:cNvPr id="18" name="a0f_cell17"/>
          <p:cNvSpPr/>
          <p:nvPr/>
        </p:nvSpPr>
        <p:spPr>
          <a:xfrm>
            <a:off x="2157984" y="1536192"/>
            <a:ext cx="566928" cy="45720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0f_cellt18"/>
          <p:cNvSpPr txBox="1"/>
          <p:nvPr/>
        </p:nvSpPr>
        <p:spPr>
          <a:xfrm>
            <a:off x="2157984" y="1536192"/>
            <a:ext cx="566928" cy="457200"/>
          </a:xfrm>
          <a:prstGeom prst="rect">
            <a:avLst/>
          </a:prstGeom>
          <a:noFill/>
        </p:spPr>
        <p:txBody>
          <a:bodyPr wrap="square" lIns="0" tIns="0" rIns="0" bIns="0" anchor="ctr">
            <a:spAutoFit/>
          </a:bodyPr>
          <a:lstStyle/>
          <a:p>
            <a:pPr algn="ctr"/>
            <a:r>
              <a:rPr sz="1000" b="1">
                <a:solidFill>
                  <a:srgbClr val="0E7490"/>
                </a:solidFill>
                <a:latin typeface="Consolas"/>
              </a:rPr>
              <a:t>3</a:t>
            </a:r>
          </a:p>
        </p:txBody>
      </p:sp>
      <p:sp>
        <p:nvSpPr>
          <p:cNvPr id="20" name="a0f_cell19"/>
          <p:cNvSpPr/>
          <p:nvPr/>
        </p:nvSpPr>
        <p:spPr>
          <a:xfrm>
            <a:off x="2724912" y="1536192"/>
            <a:ext cx="566928" cy="45720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0f_cellt20"/>
          <p:cNvSpPr txBox="1"/>
          <p:nvPr/>
        </p:nvSpPr>
        <p:spPr>
          <a:xfrm>
            <a:off x="2724912" y="1536192"/>
            <a:ext cx="566928" cy="457200"/>
          </a:xfrm>
          <a:prstGeom prst="rect">
            <a:avLst/>
          </a:prstGeom>
          <a:noFill/>
        </p:spPr>
        <p:txBody>
          <a:bodyPr wrap="square" lIns="0" tIns="0" rIns="0" bIns="0" anchor="ctr">
            <a:spAutoFit/>
          </a:bodyPr>
          <a:lstStyle/>
          <a:p>
            <a:pPr algn="ctr"/>
            <a:r>
              <a:rPr sz="1000" b="1">
                <a:solidFill>
                  <a:srgbClr val="0E7490"/>
                </a:solidFill>
                <a:latin typeface="Consolas"/>
              </a:rPr>
              <a:t>4</a:t>
            </a:r>
          </a:p>
        </p:txBody>
      </p:sp>
      <p:sp>
        <p:nvSpPr>
          <p:cNvPr id="22" name="a0f_cell21"/>
          <p:cNvSpPr/>
          <p:nvPr/>
        </p:nvSpPr>
        <p:spPr>
          <a:xfrm>
            <a:off x="3291840" y="1536192"/>
            <a:ext cx="566928" cy="45720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0f_cellt22"/>
          <p:cNvSpPr txBox="1"/>
          <p:nvPr/>
        </p:nvSpPr>
        <p:spPr>
          <a:xfrm>
            <a:off x="3291840" y="1536192"/>
            <a:ext cx="566928" cy="457200"/>
          </a:xfrm>
          <a:prstGeom prst="rect">
            <a:avLst/>
          </a:prstGeom>
          <a:noFill/>
        </p:spPr>
        <p:txBody>
          <a:bodyPr wrap="square" lIns="0" tIns="0" rIns="0" bIns="0" anchor="ctr">
            <a:spAutoFit/>
          </a:bodyPr>
          <a:lstStyle/>
          <a:p>
            <a:pPr algn="ctr"/>
            <a:r>
              <a:rPr sz="1000" b="1">
                <a:solidFill>
                  <a:srgbClr val="0E7490"/>
                </a:solidFill>
                <a:latin typeface="Consolas"/>
              </a:rPr>
              <a:t>5</a:t>
            </a:r>
          </a:p>
        </p:txBody>
      </p:sp>
      <p:sp>
        <p:nvSpPr>
          <p:cNvPr id="24" name="a1u_pill23"/>
          <p:cNvSpPr/>
          <p:nvPr/>
        </p:nvSpPr>
        <p:spPr>
          <a:xfrm>
            <a:off x="484632" y="2066543"/>
            <a:ext cx="512064" cy="219456"/>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00" b="1">
                <a:solidFill>
                  <a:srgbClr val="15803D"/>
                </a:solidFill>
                <a:latin typeface="Consolas"/>
              </a:rPr>
              <a:t>done</a:t>
            </a:r>
          </a:p>
        </p:txBody>
      </p:sp>
      <p:sp>
        <p:nvSpPr>
          <p:cNvPr id="25" name="a1ud100_pill24"/>
          <p:cNvSpPr/>
          <p:nvPr/>
        </p:nvSpPr>
        <p:spPr>
          <a:xfrm>
            <a:off x="1051560" y="2066543"/>
            <a:ext cx="512064" cy="219456"/>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00" b="1">
                <a:solidFill>
                  <a:srgbClr val="15803D"/>
                </a:solidFill>
                <a:latin typeface="Consolas"/>
              </a:rPr>
              <a:t>done</a:t>
            </a:r>
          </a:p>
        </p:txBody>
      </p:sp>
      <p:sp>
        <p:nvSpPr>
          <p:cNvPr id="26" name="a1ud200_pill25"/>
          <p:cNvSpPr/>
          <p:nvPr/>
        </p:nvSpPr>
        <p:spPr>
          <a:xfrm>
            <a:off x="1618488" y="2066543"/>
            <a:ext cx="512064" cy="219456"/>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00" b="1">
                <a:solidFill>
                  <a:srgbClr val="15803D"/>
                </a:solidFill>
                <a:latin typeface="Consolas"/>
              </a:rPr>
              <a:t>done</a:t>
            </a:r>
          </a:p>
        </p:txBody>
      </p:sp>
      <p:sp>
        <p:nvSpPr>
          <p:cNvPr id="27" name="a1ud350_cm26"/>
          <p:cNvSpPr/>
          <p:nvPr/>
        </p:nvSpPr>
        <p:spPr>
          <a:xfrm>
            <a:off x="2139696" y="1463040"/>
            <a:ext cx="45720" cy="60350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1ud350_pill27"/>
          <p:cNvSpPr/>
          <p:nvPr/>
        </p:nvSpPr>
        <p:spPr>
          <a:xfrm>
            <a:off x="1572768" y="2377440"/>
            <a:ext cx="1188720" cy="237744"/>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00" b="1">
                <a:solidFill>
                  <a:srgbClr val="C2410C"/>
                </a:solidFill>
                <a:latin typeface="Consolas"/>
              </a:rPr>
              <a:t>commit: 0-2 done</a:t>
            </a:r>
          </a:p>
        </p:txBody>
      </p:sp>
      <p:sp>
        <p:nvSpPr>
          <p:cNvPr id="29" name="a2u_pill28"/>
          <p:cNvSpPr/>
          <p:nvPr/>
        </p:nvSpPr>
        <p:spPr>
          <a:xfrm>
            <a:off x="2185416" y="2066543"/>
            <a:ext cx="512064" cy="219456"/>
          </a:xfrm>
          <a:prstGeom prst="roundRect">
            <a:avLst>
              <a:gd name="adj" fmla="val 50000"/>
            </a:avLst>
          </a:prstGeom>
          <a:solidFill>
            <a:srgbClr val="FFE4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00" b="1">
                <a:solidFill>
                  <a:srgbClr val="9F1239"/>
                </a:solidFill>
                <a:latin typeface="Consolas"/>
              </a:rPr>
              <a:t>fail</a:t>
            </a:r>
          </a:p>
        </p:txBody>
      </p:sp>
      <p:sp>
        <p:nvSpPr>
          <p:cNvPr id="30" name="a3ud200_pill29"/>
          <p:cNvSpPr/>
          <p:nvPr/>
        </p:nvSpPr>
        <p:spPr>
          <a:xfrm>
            <a:off x="2185416" y="2066543"/>
            <a:ext cx="512064" cy="219456"/>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00" b="1">
                <a:solidFill>
                  <a:srgbClr val="15803D"/>
                </a:solidFill>
                <a:latin typeface="Consolas"/>
              </a:rPr>
              <a:t>done</a:t>
            </a:r>
          </a:p>
        </p:txBody>
      </p:sp>
      <p:sp>
        <p:nvSpPr>
          <p:cNvPr id="31" name="a3ud400_cm30"/>
          <p:cNvSpPr/>
          <p:nvPr/>
        </p:nvSpPr>
        <p:spPr>
          <a:xfrm>
            <a:off x="2706624" y="1463040"/>
            <a:ext cx="45720" cy="60350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3ud400_pill31"/>
          <p:cNvSpPr/>
          <p:nvPr/>
        </p:nvSpPr>
        <p:spPr>
          <a:xfrm>
            <a:off x="2706624" y="2688336"/>
            <a:ext cx="1188720" cy="237744"/>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00" b="1">
                <a:solidFill>
                  <a:srgbClr val="C2410C"/>
                </a:solidFill>
                <a:latin typeface="Consolas"/>
              </a:rPr>
              <a:t>commit: 3 done</a:t>
            </a:r>
          </a:p>
        </p:txBody>
      </p:sp>
      <p:sp>
        <p:nvSpPr>
          <p:cNvPr id="33" name="a0f_nd32"/>
          <p:cNvSpPr/>
          <p:nvPr/>
        </p:nvSpPr>
        <p:spPr>
          <a:xfrm>
            <a:off x="4023360" y="1481328"/>
            <a:ext cx="1234440" cy="566928"/>
          </a:xfrm>
          <a:prstGeom prst="roundRect">
            <a:avLst>
              <a:gd name="adj" fmla="val 12903"/>
            </a:avLst>
          </a:prstGeom>
          <a:solidFill>
            <a:srgbClr val="F7F6F3"/>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0f_ndt33"/>
          <p:cNvSpPr txBox="1"/>
          <p:nvPr/>
        </p:nvSpPr>
        <p:spPr>
          <a:xfrm>
            <a:off x="4069080" y="1517904"/>
            <a:ext cx="1143000" cy="265176"/>
          </a:xfrm>
          <a:prstGeom prst="rect">
            <a:avLst/>
          </a:prstGeom>
          <a:noFill/>
        </p:spPr>
        <p:txBody>
          <a:bodyPr wrap="square" lIns="0" tIns="0" rIns="0" bIns="0" anchor="b">
            <a:spAutoFit/>
          </a:bodyPr>
          <a:lstStyle/>
          <a:p>
            <a:pPr algn="ctr"/>
            <a:r>
              <a:rPr sz="950" b="1">
                <a:solidFill>
                  <a:srgbClr val="1C1917"/>
                </a:solidFill>
                <a:latin typeface="Segoe UI"/>
              </a:rPr>
              <a:t>Dashboard</a:t>
            </a:r>
          </a:p>
        </p:txBody>
      </p:sp>
      <p:sp>
        <p:nvSpPr>
          <p:cNvPr id="35" name="a0f_nds34"/>
          <p:cNvSpPr txBox="1"/>
          <p:nvPr/>
        </p:nvSpPr>
        <p:spPr>
          <a:xfrm>
            <a:off x="4069080" y="1792224"/>
            <a:ext cx="1143000" cy="219456"/>
          </a:xfrm>
          <a:prstGeom prst="rect">
            <a:avLst/>
          </a:prstGeom>
          <a:noFill/>
        </p:spPr>
        <p:txBody>
          <a:bodyPr wrap="square" lIns="0" tIns="0" rIns="0" bIns="0" anchor="t">
            <a:spAutoFit/>
          </a:bodyPr>
          <a:lstStyle/>
          <a:p>
            <a:pPr algn="ctr"/>
            <a:r>
              <a:rPr sz="800" b="0">
                <a:solidFill>
                  <a:srgbClr val="4F46E5"/>
                </a:solidFill>
                <a:latin typeface="Segoe UI"/>
              </a:rPr>
              <a:t>consumer</a:t>
            </a:r>
          </a:p>
        </p:txBody>
      </p:sp>
      <p:sp>
        <p:nvSpPr>
          <p:cNvPr id="36" name="a1ud200_card35"/>
          <p:cNvSpPr/>
          <p:nvPr/>
        </p:nvSpPr>
        <p:spPr>
          <a:xfrm>
            <a:off x="5532120" y="1280160"/>
            <a:ext cx="3154680" cy="1691640"/>
          </a:xfrm>
          <a:prstGeom prst="roundRect">
            <a:avLst>
              <a:gd name="adj" fmla="val 6486"/>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1ud200_ot36"/>
          <p:cNvSpPr txBox="1"/>
          <p:nvPr/>
        </p:nvSpPr>
        <p:spPr>
          <a:xfrm>
            <a:off x="5687568" y="1353312"/>
            <a:ext cx="2834640" cy="237744"/>
          </a:xfrm>
          <a:prstGeom prst="rect">
            <a:avLst/>
          </a:prstGeom>
          <a:noFill/>
        </p:spPr>
        <p:txBody>
          <a:bodyPr wrap="square" lIns="0" tIns="0" rIns="0" bIns="0" anchor="ctr">
            <a:spAutoFit/>
          </a:bodyPr>
          <a:lstStyle/>
          <a:p>
            <a:pPr algn="l"/>
            <a:r>
              <a:rPr sz="1000" b="1">
                <a:solidFill>
                  <a:srgbClr val="1C1917"/>
                </a:solidFill>
                <a:latin typeface="Consolas"/>
              </a:rPr>
              <a:t>__consumer_offsets</a:t>
            </a:r>
          </a:p>
        </p:txBody>
      </p:sp>
      <p:sp>
        <p:nvSpPr>
          <p:cNvPr id="38" name="a1ud200_lb37"/>
          <p:cNvSpPr txBox="1"/>
          <p:nvPr/>
        </p:nvSpPr>
        <p:spPr>
          <a:xfrm>
            <a:off x="5687568" y="1591056"/>
            <a:ext cx="2834640" cy="201168"/>
          </a:xfrm>
          <a:prstGeom prst="rect">
            <a:avLst/>
          </a:prstGeom>
          <a:noFill/>
        </p:spPr>
        <p:txBody>
          <a:bodyPr wrap="square" lIns="0" tIns="0" rIns="0" bIns="0" anchor="ctr">
            <a:spAutoFit/>
          </a:bodyPr>
          <a:lstStyle/>
          <a:p>
            <a:pPr algn="l"/>
            <a:r>
              <a:rPr sz="800" b="0">
                <a:solidFill>
                  <a:srgbClr val="78716C"/>
                </a:solidFill>
                <a:latin typeface="Segoe UI"/>
              </a:rPr>
              <a:t>an internal topic - Kafka using Kafka</a:t>
            </a:r>
          </a:p>
        </p:txBody>
      </p:sp>
      <p:sp>
        <p:nvSpPr>
          <p:cNvPr id="39" name="a1ud450_or38"/>
          <p:cNvSpPr/>
          <p:nvPr/>
        </p:nvSpPr>
        <p:spPr>
          <a:xfrm>
            <a:off x="5687568" y="1920240"/>
            <a:ext cx="2834640" cy="365760"/>
          </a:xfrm>
          <a:prstGeom prst="roundRect">
            <a:avLst>
              <a:gd name="adj" fmla="val 10000"/>
            </a:avLst>
          </a:prstGeom>
          <a:solidFill>
            <a:srgbClr val="FFEDD5"/>
          </a:solidFill>
          <a:ln w="1270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1ud450_ort39"/>
          <p:cNvSpPr txBox="1"/>
          <p:nvPr/>
        </p:nvSpPr>
        <p:spPr>
          <a:xfrm>
            <a:off x="5779008" y="1920240"/>
            <a:ext cx="2697480" cy="365760"/>
          </a:xfrm>
          <a:prstGeom prst="rect">
            <a:avLst/>
          </a:prstGeom>
          <a:noFill/>
        </p:spPr>
        <p:txBody>
          <a:bodyPr wrap="square" lIns="0" tIns="0" rIns="0" bIns="0" anchor="ctr">
            <a:spAutoFit/>
          </a:bodyPr>
          <a:lstStyle/>
          <a:p>
            <a:pPr algn="l"/>
            <a:r>
              <a:rPr sz="900" b="0">
                <a:solidFill>
                  <a:srgbClr val="44403C"/>
                </a:solidFill>
                <a:latin typeface="Consolas"/>
              </a:rPr>
              <a:t>thermostat-dashboard · P0 -&gt; </a:t>
            </a:r>
            <a:r>
              <a:rPr sz="900" b="1">
                <a:solidFill>
                  <a:srgbClr val="C2410C"/>
                </a:solidFill>
                <a:latin typeface="Consolas"/>
              </a:rPr>
              <a:t>3</a:t>
            </a:r>
          </a:p>
        </p:txBody>
      </p:sp>
      <p:sp>
        <p:nvSpPr>
          <p:cNvPr id="41" name="a3ud450_or40"/>
          <p:cNvSpPr/>
          <p:nvPr/>
        </p:nvSpPr>
        <p:spPr>
          <a:xfrm>
            <a:off x="5687568" y="2377440"/>
            <a:ext cx="2834640" cy="365760"/>
          </a:xfrm>
          <a:prstGeom prst="roundRect">
            <a:avLst>
              <a:gd name="adj" fmla="val 10000"/>
            </a:avLst>
          </a:prstGeom>
          <a:solidFill>
            <a:srgbClr val="FFEDD5"/>
          </a:solidFill>
          <a:ln w="1270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3ud450_ort41"/>
          <p:cNvSpPr txBox="1"/>
          <p:nvPr/>
        </p:nvSpPr>
        <p:spPr>
          <a:xfrm>
            <a:off x="5779008" y="2377440"/>
            <a:ext cx="2697480" cy="365760"/>
          </a:xfrm>
          <a:prstGeom prst="rect">
            <a:avLst/>
          </a:prstGeom>
          <a:noFill/>
        </p:spPr>
        <p:txBody>
          <a:bodyPr wrap="square" lIns="0" tIns="0" rIns="0" bIns="0" anchor="ctr">
            <a:spAutoFit/>
          </a:bodyPr>
          <a:lstStyle/>
          <a:p>
            <a:pPr algn="l"/>
            <a:r>
              <a:rPr sz="900" b="0">
                <a:solidFill>
                  <a:srgbClr val="44403C"/>
                </a:solidFill>
                <a:latin typeface="Consolas"/>
              </a:rPr>
              <a:t>thermostat-dashboard · P0 -&gt; </a:t>
            </a:r>
            <a:r>
              <a:rPr sz="900" b="1">
                <a:solidFill>
                  <a:srgbClr val="C2410C"/>
                </a:solidFill>
                <a:latin typeface="Consolas"/>
              </a:rPr>
              <a:t>4</a:t>
            </a:r>
          </a:p>
        </p:txBody>
      </p:sp>
      <p:sp>
        <p:nvSpPr>
          <p:cNvPr id="43" name="a1ud600_st42"/>
          <p:cNvSpPr txBox="1"/>
          <p:nvPr/>
        </p:nvSpPr>
        <p:spPr>
          <a:xfrm>
            <a:off x="457200" y="3063240"/>
            <a:ext cx="4937760" cy="237744"/>
          </a:xfrm>
          <a:prstGeom prst="rect">
            <a:avLst/>
          </a:prstGeom>
          <a:noFill/>
        </p:spPr>
        <p:txBody>
          <a:bodyPr wrap="square" lIns="0" tIns="0" rIns="0" bIns="0" anchor="ctr">
            <a:spAutoFit/>
          </a:bodyPr>
          <a:lstStyle/>
          <a:p>
            <a:pPr algn="l"/>
            <a:r>
              <a:rPr sz="900" b="0">
                <a:solidFill>
                  <a:srgbClr val="15803D"/>
                </a:solidFill>
                <a:latin typeface="Segoe UI"/>
              </a:rPr>
              <a:t>1  handles 0, 1 and 2 - commits</a:t>
            </a:r>
          </a:p>
        </p:txBody>
      </p:sp>
      <p:sp>
        <p:nvSpPr>
          <p:cNvPr id="44" name="a2ud600_st43"/>
          <p:cNvSpPr txBox="1"/>
          <p:nvPr/>
        </p:nvSpPr>
        <p:spPr>
          <a:xfrm>
            <a:off x="457200" y="3319272"/>
            <a:ext cx="4937760" cy="237744"/>
          </a:xfrm>
          <a:prstGeom prst="rect">
            <a:avLst/>
          </a:prstGeom>
          <a:noFill/>
        </p:spPr>
        <p:txBody>
          <a:bodyPr wrap="square" lIns="0" tIns="0" rIns="0" bIns="0" anchor="ctr">
            <a:spAutoFit/>
          </a:bodyPr>
          <a:lstStyle/>
          <a:p>
            <a:pPr algn="l"/>
            <a:r>
              <a:rPr sz="900" b="0">
                <a:solidFill>
                  <a:srgbClr val="9F1239"/>
                </a:solidFill>
                <a:latin typeface="Segoe UI"/>
              </a:rPr>
              <a:t>2  offset 3 fails - nothing is committed for it</a:t>
            </a:r>
          </a:p>
        </p:txBody>
      </p:sp>
      <p:sp>
        <p:nvSpPr>
          <p:cNvPr id="45" name="a3ud600_st44"/>
          <p:cNvSpPr txBox="1"/>
          <p:nvPr/>
        </p:nvSpPr>
        <p:spPr>
          <a:xfrm>
            <a:off x="457200" y="3575304"/>
            <a:ext cx="4937760" cy="237744"/>
          </a:xfrm>
          <a:prstGeom prst="rect">
            <a:avLst/>
          </a:prstGeom>
          <a:noFill/>
        </p:spPr>
        <p:txBody>
          <a:bodyPr wrap="square" lIns="0" tIns="0" rIns="0" bIns="0" anchor="ctr">
            <a:spAutoFit/>
          </a:bodyPr>
          <a:lstStyle/>
          <a:p>
            <a:pPr algn="l"/>
            <a:r>
              <a:rPr sz="900" b="0">
                <a:solidFill>
                  <a:srgbClr val="C2410C"/>
                </a:solidFill>
                <a:latin typeface="Segoe UI"/>
              </a:rPr>
              <a:t>3  after recovery it resumes at 3, handles it, commits</a:t>
            </a:r>
          </a:p>
        </p:txBody>
      </p:sp>
      <p:sp>
        <p:nvSpPr>
          <p:cNvPr id="46" name="a4u_nb45"/>
          <p:cNvSpPr/>
          <p:nvPr/>
        </p:nvSpPr>
        <p:spPr>
          <a:xfrm>
            <a:off x="457200" y="3931920"/>
            <a:ext cx="8229600" cy="548640"/>
          </a:xfrm>
          <a:prstGeom prst="roundRect">
            <a:avLst>
              <a:gd name="adj" fmla="val 13333"/>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4u_nacc46"/>
          <p:cNvSpPr/>
          <p:nvPr/>
        </p:nvSpPr>
        <p:spPr>
          <a:xfrm>
            <a:off x="457200" y="3931920"/>
            <a:ext cx="54864" cy="5486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a4u_nt47"/>
          <p:cNvSpPr txBox="1"/>
          <p:nvPr/>
        </p:nvSpPr>
        <p:spPr>
          <a:xfrm>
            <a:off x="658368" y="3931920"/>
            <a:ext cx="7827264" cy="548640"/>
          </a:xfrm>
          <a:prstGeom prst="rect">
            <a:avLst/>
          </a:prstGeom>
          <a:noFill/>
        </p:spPr>
        <p:txBody>
          <a:bodyPr wrap="square" lIns="0" tIns="0" rIns="0" bIns="0" anchor="ctr">
            <a:spAutoFit/>
          </a:bodyPr>
          <a:lstStyle/>
          <a:p>
            <a:pPr algn="l"/>
            <a:r>
              <a:rPr sz="950" b="1">
                <a:solidFill>
                  <a:srgbClr val="C2410C"/>
                </a:solidFill>
                <a:latin typeface="Segoe UI"/>
              </a:rPr>
              <a:t>KEY  </a:t>
            </a:r>
            <a:r>
              <a:rPr sz="950" b="0">
                <a:solidFill>
                  <a:srgbClr val="44403C"/>
                </a:solidFill>
                <a:latin typeface="Segoe UI"/>
              </a:rPr>
              <a:t>A restarted consumer reads its last committed offset and carries on from there.</a:t>
            </a:r>
          </a:p>
        </p:txBody>
      </p:sp>
      <p:sp>
        <p:nvSpPr>
          <p:cNvPr id="49" name="ft48"/>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10</a:t>
            </a:r>
          </a:p>
        </p:txBody>
      </p:sp>
      <p:sp>
        <p:nvSpPr>
          <p:cNvPr id="50" name="ft49"/>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ft50"/>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Consumers</a:t>
            </a:r>
          </a:p>
        </p:txBody>
      </p:sp>
      <p:sp>
        <p:nvSpPr>
          <p:cNvPr id="52" name="ft51"/>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7</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5"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8" presetID="10"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par>
                                <p:cTn id="40" presetID="10"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par>
                                <p:cTn id="43" presetID="10"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par>
                                <p:cTn id="46" presetID="10" presetClass="entr" presetSubtype="0" fill="hold" grpId="0" nodeType="withEffect">
                                  <p:stCondLst>
                                    <p:cond delay="0"/>
                                  </p:stCondLst>
                                  <p:childTnLst>
                                    <p:set>
                                      <p:cBhvr>
                                        <p:cTn id="44" dur="1" fill="hold">
                                          <p:stCondLst>
                                            <p:cond delay="0"/>
                                          </p:stCondLst>
                                        </p:cTn>
                                        <p:tgtEl>
                                          <p:spTgt spid="33"/>
                                        </p:tgtEl>
                                        <p:attrNameLst>
                                          <p:attrName>style.visibility</p:attrName>
                                        </p:attrNameLst>
                                      </p:cBhvr>
                                      <p:to>
                                        <p:strVal val="visible"/>
                                      </p:to>
                                    </p:set>
                                    <p:animEffect transition="in" filter="fade">
                                      <p:cBhvr>
                                        <p:cTn id="45" dur="500"/>
                                        <p:tgtEl>
                                          <p:spTgt spid="33"/>
                                        </p:tgtEl>
                                      </p:cBhvr>
                                    </p:animEffect>
                                  </p:childTnLst>
                                </p:cTn>
                              </p:par>
                              <p:par>
                                <p:cTn id="49" presetID="10" presetClass="entr" presetSubtype="0" fill="hold" grpId="0" nodeType="with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fade">
                                      <p:cBhvr>
                                        <p:cTn id="48" dur="500"/>
                                        <p:tgtEl>
                                          <p:spTgt spid="34"/>
                                        </p:tgtEl>
                                      </p:cBhvr>
                                    </p:animEffect>
                                  </p:childTnLst>
                                </p:cTn>
                              </p:par>
                              <p:par>
                                <p:cTn id="52" presetID="10"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animEffect transition="in" filter="fade">
                                      <p:cBhvr>
                                        <p:cTn id="51" dur="500"/>
                                        <p:tgtEl>
                                          <p:spTgt spid="35"/>
                                        </p:tgtEl>
                                      </p:cBhvr>
                                    </p:animEffect>
                                  </p:childTnLst>
                                </p:cTn>
                              </p:par>
                            </p:childTnLst>
                          </p:cTn>
                        </p:par>
                      </p:childTnLst>
                    </p:cTn>
                  </p:par>
                  <p:par>
                    <p:cTn id="53" fill="hold">
                      <p:stCondLst>
                        <p:cond delay="indefinite"/>
                      </p:stCondLst>
                      <p:childTnLst>
                        <p:par>
                          <p:cTn id="54" fill="hold">
                            <p:stCondLst>
                              <p:cond delay="0"/>
                            </p:stCondLst>
                            <p:childTnLst>
                              <p:par>
                                <p:cTn id="59" presetID="2" presetClass="entr" presetSubtype="4" fill="hold" grpId="0" nodeType="clickEffect">
                                  <p:stCondLst>
                                    <p:cond delay="0"/>
                                  </p:stCondLst>
                                  <p:childTnLst>
                                    <p:set>
                                      <p:cBhvr>
                                        <p:cTn id="55" dur="1" fill="hold">
                                          <p:stCondLst>
                                            <p:cond delay="0"/>
                                          </p:stCondLst>
                                        </p:cTn>
                                        <p:tgtEl>
                                          <p:spTgt spid="24"/>
                                        </p:tgtEl>
                                        <p:attrNameLst>
                                          <p:attrName>style.visibility</p:attrName>
                                        </p:attrNameLst>
                                      </p:cBhvr>
                                      <p:to>
                                        <p:strVal val="visible"/>
                                      </p:to>
                                    </p:set>
                                    <p:anim calcmode="lin" valueType="num">
                                      <p:cBhvr additive="base">
                                        <p:cTn id="56" dur="500" fill="hold"/>
                                        <p:tgtEl>
                                          <p:spTgt spid="24"/>
                                        </p:tgtEl>
                                        <p:attrNameLst>
                                          <p:attrName>ppt_x</p:attrName>
                                        </p:attrNameLst>
                                      </p:cBhvr>
                                      <p:tavLst>
                                        <p:tav tm="0">
                                          <p:val>
                                            <p:strVal val="#ppt_x"/>
                                          </p:val>
                                        </p:tav>
                                        <p:tav tm="100000">
                                          <p:val>
                                            <p:strVal val="#ppt_x"/>
                                          </p:val>
                                        </p:tav>
                                      </p:tavLst>
                                    </p:anim>
                                    <p:anim calcmode="lin" valueType="num">
                                      <p:cBhvr additive="base">
                                        <p:cTn id="57" dur="500" fill="hold"/>
                                        <p:tgtEl>
                                          <p:spTgt spid="24"/>
                                        </p:tgtEl>
                                        <p:attrNameLst>
                                          <p:attrName>ppt_y</p:attrName>
                                        </p:attrNameLst>
                                      </p:cBhvr>
                                      <p:tavLst>
                                        <p:tav tm="0">
                                          <p:val>
                                            <p:strVal val="#ppt_y+0.1"/>
                                          </p:val>
                                        </p:tav>
                                        <p:tav tm="100000">
                                          <p:val>
                                            <p:strVal val="#ppt_y"/>
                                          </p:val>
                                        </p:tav>
                                      </p:tavLst>
                                    </p:anim>
                                    <p:animEffect transition="in" filter="fade">
                                      <p:cBhvr>
                                        <p:cTn id="58" dur="500"/>
                                        <p:tgtEl>
                                          <p:spTgt spid="24"/>
                                        </p:tgtEl>
                                      </p:cBhvr>
                                    </p:animEffect>
                                  </p:childTnLst>
                                </p:cTn>
                              </p:par>
                              <p:par>
                                <p:cTn id="64" presetID="2" presetClass="entr" presetSubtype="4" fill="hold" grpId="0" nodeType="withEffect">
                                  <p:stCondLst>
                                    <p:cond delay="100"/>
                                  </p:stCondLst>
                                  <p:childTnLst>
                                    <p:set>
                                      <p:cBhvr>
                                        <p:cTn id="60" dur="1" fill="hold">
                                          <p:stCondLst>
                                            <p:cond delay="0"/>
                                          </p:stCondLst>
                                        </p:cTn>
                                        <p:tgtEl>
                                          <p:spTgt spid="25"/>
                                        </p:tgtEl>
                                        <p:attrNameLst>
                                          <p:attrName>style.visibility</p:attrName>
                                        </p:attrNameLst>
                                      </p:cBhvr>
                                      <p:to>
                                        <p:strVal val="visible"/>
                                      </p:to>
                                    </p:set>
                                    <p:anim calcmode="lin" valueType="num">
                                      <p:cBhvr additive="base">
                                        <p:cTn id="61" dur="500" fill="hold"/>
                                        <p:tgtEl>
                                          <p:spTgt spid="25"/>
                                        </p:tgtEl>
                                        <p:attrNameLst>
                                          <p:attrName>ppt_x</p:attrName>
                                        </p:attrNameLst>
                                      </p:cBhvr>
                                      <p:tavLst>
                                        <p:tav tm="0">
                                          <p:val>
                                            <p:strVal val="#ppt_x"/>
                                          </p:val>
                                        </p:tav>
                                        <p:tav tm="100000">
                                          <p:val>
                                            <p:strVal val="#ppt_x"/>
                                          </p:val>
                                        </p:tav>
                                      </p:tavLst>
                                    </p:anim>
                                    <p:anim calcmode="lin" valueType="num">
                                      <p:cBhvr additive="base">
                                        <p:cTn id="62" dur="500" fill="hold"/>
                                        <p:tgtEl>
                                          <p:spTgt spid="25"/>
                                        </p:tgtEl>
                                        <p:attrNameLst>
                                          <p:attrName>ppt_y</p:attrName>
                                        </p:attrNameLst>
                                      </p:cBhvr>
                                      <p:tavLst>
                                        <p:tav tm="0">
                                          <p:val>
                                            <p:strVal val="#ppt_y+0.1"/>
                                          </p:val>
                                        </p:tav>
                                        <p:tav tm="100000">
                                          <p:val>
                                            <p:strVal val="#ppt_y"/>
                                          </p:val>
                                        </p:tav>
                                      </p:tavLst>
                                    </p:anim>
                                    <p:animEffect transition="in" filter="fade">
                                      <p:cBhvr>
                                        <p:cTn id="63" dur="500"/>
                                        <p:tgtEl>
                                          <p:spTgt spid="25"/>
                                        </p:tgtEl>
                                      </p:cBhvr>
                                    </p:animEffect>
                                  </p:childTnLst>
                                </p:cTn>
                              </p:par>
                              <p:par>
                                <p:cTn id="69" presetID="2" presetClass="entr" presetSubtype="4" fill="hold" grpId="0" nodeType="withEffect">
                                  <p:stCondLst>
                                    <p:cond delay="200"/>
                                  </p:stCondLst>
                                  <p:childTnLst>
                                    <p:set>
                                      <p:cBhvr>
                                        <p:cTn id="65" dur="1" fill="hold">
                                          <p:stCondLst>
                                            <p:cond delay="0"/>
                                          </p:stCondLst>
                                        </p:cTn>
                                        <p:tgtEl>
                                          <p:spTgt spid="26"/>
                                        </p:tgtEl>
                                        <p:attrNameLst>
                                          <p:attrName>style.visibility</p:attrName>
                                        </p:attrNameLst>
                                      </p:cBhvr>
                                      <p:to>
                                        <p:strVal val="visible"/>
                                      </p:to>
                                    </p:set>
                                    <p:anim calcmode="lin" valueType="num">
                                      <p:cBhvr additive="base">
                                        <p:cTn id="66" dur="500" fill="hold"/>
                                        <p:tgtEl>
                                          <p:spTgt spid="26"/>
                                        </p:tgtEl>
                                        <p:attrNameLst>
                                          <p:attrName>ppt_x</p:attrName>
                                        </p:attrNameLst>
                                      </p:cBhvr>
                                      <p:tavLst>
                                        <p:tav tm="0">
                                          <p:val>
                                            <p:strVal val="#ppt_x"/>
                                          </p:val>
                                        </p:tav>
                                        <p:tav tm="100000">
                                          <p:val>
                                            <p:strVal val="#ppt_x"/>
                                          </p:val>
                                        </p:tav>
                                      </p:tavLst>
                                    </p:anim>
                                    <p:anim calcmode="lin" valueType="num">
                                      <p:cBhvr additive="base">
                                        <p:cTn id="67" dur="500" fill="hold"/>
                                        <p:tgtEl>
                                          <p:spTgt spid="26"/>
                                        </p:tgtEl>
                                        <p:attrNameLst>
                                          <p:attrName>ppt_y</p:attrName>
                                        </p:attrNameLst>
                                      </p:cBhvr>
                                      <p:tavLst>
                                        <p:tav tm="0">
                                          <p:val>
                                            <p:strVal val="#ppt_y+0.1"/>
                                          </p:val>
                                        </p:tav>
                                        <p:tav tm="100000">
                                          <p:val>
                                            <p:strVal val="#ppt_y"/>
                                          </p:val>
                                        </p:tav>
                                      </p:tavLst>
                                    </p:anim>
                                    <p:animEffect transition="in" filter="fade">
                                      <p:cBhvr>
                                        <p:cTn id="68" dur="500"/>
                                        <p:tgtEl>
                                          <p:spTgt spid="26"/>
                                        </p:tgtEl>
                                      </p:cBhvr>
                                    </p:animEffect>
                                  </p:childTnLst>
                                </p:cTn>
                              </p:par>
                              <p:par>
                                <p:cTn id="74" presetID="2" presetClass="entr" presetSubtype="4" fill="hold" grpId="0" nodeType="withEffect">
                                  <p:stCondLst>
                                    <p:cond delay="200"/>
                                  </p:stCondLst>
                                  <p:childTnLst>
                                    <p:set>
                                      <p:cBhvr>
                                        <p:cTn id="70" dur="1" fill="hold">
                                          <p:stCondLst>
                                            <p:cond delay="0"/>
                                          </p:stCondLst>
                                        </p:cTn>
                                        <p:tgtEl>
                                          <p:spTgt spid="36"/>
                                        </p:tgtEl>
                                        <p:attrNameLst>
                                          <p:attrName>style.visibility</p:attrName>
                                        </p:attrNameLst>
                                      </p:cBhvr>
                                      <p:to>
                                        <p:strVal val="visible"/>
                                      </p:to>
                                    </p:set>
                                    <p:anim calcmode="lin" valueType="num">
                                      <p:cBhvr additive="base">
                                        <p:cTn id="71" dur="500" fill="hold"/>
                                        <p:tgtEl>
                                          <p:spTgt spid="36"/>
                                        </p:tgtEl>
                                        <p:attrNameLst>
                                          <p:attrName>ppt_x</p:attrName>
                                        </p:attrNameLst>
                                      </p:cBhvr>
                                      <p:tavLst>
                                        <p:tav tm="0">
                                          <p:val>
                                            <p:strVal val="#ppt_x"/>
                                          </p:val>
                                        </p:tav>
                                        <p:tav tm="100000">
                                          <p:val>
                                            <p:strVal val="#ppt_x"/>
                                          </p:val>
                                        </p:tav>
                                      </p:tavLst>
                                    </p:anim>
                                    <p:anim calcmode="lin" valueType="num">
                                      <p:cBhvr additive="base">
                                        <p:cTn id="72" dur="500" fill="hold"/>
                                        <p:tgtEl>
                                          <p:spTgt spid="36"/>
                                        </p:tgtEl>
                                        <p:attrNameLst>
                                          <p:attrName>ppt_y</p:attrName>
                                        </p:attrNameLst>
                                      </p:cBhvr>
                                      <p:tavLst>
                                        <p:tav tm="0">
                                          <p:val>
                                            <p:strVal val="#ppt_y+0.1"/>
                                          </p:val>
                                        </p:tav>
                                        <p:tav tm="100000">
                                          <p:val>
                                            <p:strVal val="#ppt_y"/>
                                          </p:val>
                                        </p:tav>
                                      </p:tavLst>
                                    </p:anim>
                                    <p:animEffect transition="in" filter="fade">
                                      <p:cBhvr>
                                        <p:cTn id="73" dur="500"/>
                                        <p:tgtEl>
                                          <p:spTgt spid="36"/>
                                        </p:tgtEl>
                                      </p:cBhvr>
                                    </p:animEffect>
                                  </p:childTnLst>
                                </p:cTn>
                              </p:par>
                              <p:par>
                                <p:cTn id="79" presetID="2" presetClass="entr" presetSubtype="4" fill="hold" grpId="0" nodeType="withEffect">
                                  <p:stCondLst>
                                    <p:cond delay="200"/>
                                  </p:stCondLst>
                                  <p:childTnLst>
                                    <p:set>
                                      <p:cBhvr>
                                        <p:cTn id="75" dur="1" fill="hold">
                                          <p:stCondLst>
                                            <p:cond delay="0"/>
                                          </p:stCondLst>
                                        </p:cTn>
                                        <p:tgtEl>
                                          <p:spTgt spid="37"/>
                                        </p:tgtEl>
                                        <p:attrNameLst>
                                          <p:attrName>style.visibility</p:attrName>
                                        </p:attrNameLst>
                                      </p:cBhvr>
                                      <p:to>
                                        <p:strVal val="visible"/>
                                      </p:to>
                                    </p:set>
                                    <p:anim calcmode="lin" valueType="num">
                                      <p:cBhvr additive="base">
                                        <p:cTn id="76" dur="500" fill="hold"/>
                                        <p:tgtEl>
                                          <p:spTgt spid="37"/>
                                        </p:tgtEl>
                                        <p:attrNameLst>
                                          <p:attrName>ppt_x</p:attrName>
                                        </p:attrNameLst>
                                      </p:cBhvr>
                                      <p:tavLst>
                                        <p:tav tm="0">
                                          <p:val>
                                            <p:strVal val="#ppt_x"/>
                                          </p:val>
                                        </p:tav>
                                        <p:tav tm="100000">
                                          <p:val>
                                            <p:strVal val="#ppt_x"/>
                                          </p:val>
                                        </p:tav>
                                      </p:tavLst>
                                    </p:anim>
                                    <p:anim calcmode="lin" valueType="num">
                                      <p:cBhvr additive="base">
                                        <p:cTn id="77" dur="500" fill="hold"/>
                                        <p:tgtEl>
                                          <p:spTgt spid="37"/>
                                        </p:tgtEl>
                                        <p:attrNameLst>
                                          <p:attrName>ppt_y</p:attrName>
                                        </p:attrNameLst>
                                      </p:cBhvr>
                                      <p:tavLst>
                                        <p:tav tm="0">
                                          <p:val>
                                            <p:strVal val="#ppt_y+0.1"/>
                                          </p:val>
                                        </p:tav>
                                        <p:tav tm="100000">
                                          <p:val>
                                            <p:strVal val="#ppt_y"/>
                                          </p:val>
                                        </p:tav>
                                      </p:tavLst>
                                    </p:anim>
                                    <p:animEffect transition="in" filter="fade">
                                      <p:cBhvr>
                                        <p:cTn id="78" dur="500"/>
                                        <p:tgtEl>
                                          <p:spTgt spid="37"/>
                                        </p:tgtEl>
                                      </p:cBhvr>
                                    </p:animEffect>
                                  </p:childTnLst>
                                </p:cTn>
                              </p:par>
                              <p:par>
                                <p:cTn id="84" presetID="2" presetClass="entr" presetSubtype="4" fill="hold" grpId="0" nodeType="withEffect">
                                  <p:stCondLst>
                                    <p:cond delay="200"/>
                                  </p:stCondLst>
                                  <p:childTnLst>
                                    <p:set>
                                      <p:cBhvr>
                                        <p:cTn id="80" dur="1" fill="hold">
                                          <p:stCondLst>
                                            <p:cond delay="0"/>
                                          </p:stCondLst>
                                        </p:cTn>
                                        <p:tgtEl>
                                          <p:spTgt spid="38"/>
                                        </p:tgtEl>
                                        <p:attrNameLst>
                                          <p:attrName>style.visibility</p:attrName>
                                        </p:attrNameLst>
                                      </p:cBhvr>
                                      <p:to>
                                        <p:strVal val="visible"/>
                                      </p:to>
                                    </p:set>
                                    <p:anim calcmode="lin" valueType="num">
                                      <p:cBhvr additive="base">
                                        <p:cTn id="81" dur="500" fill="hold"/>
                                        <p:tgtEl>
                                          <p:spTgt spid="38"/>
                                        </p:tgtEl>
                                        <p:attrNameLst>
                                          <p:attrName>ppt_x</p:attrName>
                                        </p:attrNameLst>
                                      </p:cBhvr>
                                      <p:tavLst>
                                        <p:tav tm="0">
                                          <p:val>
                                            <p:strVal val="#ppt_x"/>
                                          </p:val>
                                        </p:tav>
                                        <p:tav tm="100000">
                                          <p:val>
                                            <p:strVal val="#ppt_x"/>
                                          </p:val>
                                        </p:tav>
                                      </p:tavLst>
                                    </p:anim>
                                    <p:anim calcmode="lin" valueType="num">
                                      <p:cBhvr additive="base">
                                        <p:cTn id="82" dur="500" fill="hold"/>
                                        <p:tgtEl>
                                          <p:spTgt spid="38"/>
                                        </p:tgtEl>
                                        <p:attrNameLst>
                                          <p:attrName>ppt_y</p:attrName>
                                        </p:attrNameLst>
                                      </p:cBhvr>
                                      <p:tavLst>
                                        <p:tav tm="0">
                                          <p:val>
                                            <p:strVal val="#ppt_y+0.1"/>
                                          </p:val>
                                        </p:tav>
                                        <p:tav tm="100000">
                                          <p:val>
                                            <p:strVal val="#ppt_y"/>
                                          </p:val>
                                        </p:tav>
                                      </p:tavLst>
                                    </p:anim>
                                    <p:animEffect transition="in" filter="fade">
                                      <p:cBhvr>
                                        <p:cTn id="83" dur="500"/>
                                        <p:tgtEl>
                                          <p:spTgt spid="38"/>
                                        </p:tgtEl>
                                      </p:cBhvr>
                                    </p:animEffect>
                                  </p:childTnLst>
                                </p:cTn>
                              </p:par>
                              <p:par>
                                <p:cTn id="89" presetID="2" presetClass="entr" presetSubtype="4" fill="hold" grpId="0" nodeType="withEffect">
                                  <p:stCondLst>
                                    <p:cond delay="350"/>
                                  </p:stCondLst>
                                  <p:childTnLst>
                                    <p:set>
                                      <p:cBhvr>
                                        <p:cTn id="85" dur="1" fill="hold">
                                          <p:stCondLst>
                                            <p:cond delay="0"/>
                                          </p:stCondLst>
                                        </p:cTn>
                                        <p:tgtEl>
                                          <p:spTgt spid="27"/>
                                        </p:tgtEl>
                                        <p:attrNameLst>
                                          <p:attrName>style.visibility</p:attrName>
                                        </p:attrNameLst>
                                      </p:cBhvr>
                                      <p:to>
                                        <p:strVal val="visible"/>
                                      </p:to>
                                    </p:set>
                                    <p:anim calcmode="lin" valueType="num">
                                      <p:cBhvr additive="base">
                                        <p:cTn id="86" dur="500" fill="hold"/>
                                        <p:tgtEl>
                                          <p:spTgt spid="27"/>
                                        </p:tgtEl>
                                        <p:attrNameLst>
                                          <p:attrName>ppt_x</p:attrName>
                                        </p:attrNameLst>
                                      </p:cBhvr>
                                      <p:tavLst>
                                        <p:tav tm="0">
                                          <p:val>
                                            <p:strVal val="#ppt_x"/>
                                          </p:val>
                                        </p:tav>
                                        <p:tav tm="100000">
                                          <p:val>
                                            <p:strVal val="#ppt_x"/>
                                          </p:val>
                                        </p:tav>
                                      </p:tavLst>
                                    </p:anim>
                                    <p:anim calcmode="lin" valueType="num">
                                      <p:cBhvr additive="base">
                                        <p:cTn id="87" dur="500" fill="hold"/>
                                        <p:tgtEl>
                                          <p:spTgt spid="27"/>
                                        </p:tgtEl>
                                        <p:attrNameLst>
                                          <p:attrName>ppt_y</p:attrName>
                                        </p:attrNameLst>
                                      </p:cBhvr>
                                      <p:tavLst>
                                        <p:tav tm="0">
                                          <p:val>
                                            <p:strVal val="#ppt_y+0.1"/>
                                          </p:val>
                                        </p:tav>
                                        <p:tav tm="100000">
                                          <p:val>
                                            <p:strVal val="#ppt_y"/>
                                          </p:val>
                                        </p:tav>
                                      </p:tavLst>
                                    </p:anim>
                                    <p:animEffect transition="in" filter="fade">
                                      <p:cBhvr>
                                        <p:cTn id="88" dur="500"/>
                                        <p:tgtEl>
                                          <p:spTgt spid="27"/>
                                        </p:tgtEl>
                                      </p:cBhvr>
                                    </p:animEffect>
                                  </p:childTnLst>
                                </p:cTn>
                              </p:par>
                              <p:par>
                                <p:cTn id="94" presetID="2" presetClass="entr" presetSubtype="4" fill="hold" grpId="0" nodeType="withEffect">
                                  <p:stCondLst>
                                    <p:cond delay="35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ppt_x</p:attrName>
                                        </p:attrNameLst>
                                      </p:cBhvr>
                                      <p:tavLst>
                                        <p:tav tm="0">
                                          <p:val>
                                            <p:strVal val="#ppt_x"/>
                                          </p:val>
                                        </p:tav>
                                        <p:tav tm="100000">
                                          <p:val>
                                            <p:strVal val="#ppt_x"/>
                                          </p:val>
                                        </p:tav>
                                      </p:tavLst>
                                    </p:anim>
                                    <p:anim calcmode="lin" valueType="num">
                                      <p:cBhvr additive="base">
                                        <p:cTn id="92" dur="500" fill="hold"/>
                                        <p:tgtEl>
                                          <p:spTgt spid="28"/>
                                        </p:tgtEl>
                                        <p:attrNameLst>
                                          <p:attrName>ppt_y</p:attrName>
                                        </p:attrNameLst>
                                      </p:cBhvr>
                                      <p:tavLst>
                                        <p:tav tm="0">
                                          <p:val>
                                            <p:strVal val="#ppt_y+0.1"/>
                                          </p:val>
                                        </p:tav>
                                        <p:tav tm="100000">
                                          <p:val>
                                            <p:strVal val="#ppt_y"/>
                                          </p:val>
                                        </p:tav>
                                      </p:tavLst>
                                    </p:anim>
                                    <p:animEffect transition="in" filter="fade">
                                      <p:cBhvr>
                                        <p:cTn id="93" dur="500"/>
                                        <p:tgtEl>
                                          <p:spTgt spid="28"/>
                                        </p:tgtEl>
                                      </p:cBhvr>
                                    </p:animEffect>
                                  </p:childTnLst>
                                </p:cTn>
                              </p:par>
                              <p:par>
                                <p:cTn id="99" presetID="2" presetClass="entr" presetSubtype="4" fill="hold" grpId="0" nodeType="withEffect">
                                  <p:stCondLst>
                                    <p:cond delay="450"/>
                                  </p:stCondLst>
                                  <p:childTnLst>
                                    <p:set>
                                      <p:cBhvr>
                                        <p:cTn id="95" dur="1" fill="hold">
                                          <p:stCondLst>
                                            <p:cond delay="0"/>
                                          </p:stCondLst>
                                        </p:cTn>
                                        <p:tgtEl>
                                          <p:spTgt spid="39"/>
                                        </p:tgtEl>
                                        <p:attrNameLst>
                                          <p:attrName>style.visibility</p:attrName>
                                        </p:attrNameLst>
                                      </p:cBhvr>
                                      <p:to>
                                        <p:strVal val="visible"/>
                                      </p:to>
                                    </p:set>
                                    <p:anim calcmode="lin" valueType="num">
                                      <p:cBhvr additive="base">
                                        <p:cTn id="96" dur="500" fill="hold"/>
                                        <p:tgtEl>
                                          <p:spTgt spid="39"/>
                                        </p:tgtEl>
                                        <p:attrNameLst>
                                          <p:attrName>ppt_x</p:attrName>
                                        </p:attrNameLst>
                                      </p:cBhvr>
                                      <p:tavLst>
                                        <p:tav tm="0">
                                          <p:val>
                                            <p:strVal val="#ppt_x"/>
                                          </p:val>
                                        </p:tav>
                                        <p:tav tm="100000">
                                          <p:val>
                                            <p:strVal val="#ppt_x"/>
                                          </p:val>
                                        </p:tav>
                                      </p:tavLst>
                                    </p:anim>
                                    <p:anim calcmode="lin" valueType="num">
                                      <p:cBhvr additive="base">
                                        <p:cTn id="97" dur="500" fill="hold"/>
                                        <p:tgtEl>
                                          <p:spTgt spid="39"/>
                                        </p:tgtEl>
                                        <p:attrNameLst>
                                          <p:attrName>ppt_y</p:attrName>
                                        </p:attrNameLst>
                                      </p:cBhvr>
                                      <p:tavLst>
                                        <p:tav tm="0">
                                          <p:val>
                                            <p:strVal val="#ppt_y+0.1"/>
                                          </p:val>
                                        </p:tav>
                                        <p:tav tm="100000">
                                          <p:val>
                                            <p:strVal val="#ppt_y"/>
                                          </p:val>
                                        </p:tav>
                                      </p:tavLst>
                                    </p:anim>
                                    <p:animEffect transition="in" filter="fade">
                                      <p:cBhvr>
                                        <p:cTn id="98" dur="500"/>
                                        <p:tgtEl>
                                          <p:spTgt spid="39"/>
                                        </p:tgtEl>
                                      </p:cBhvr>
                                    </p:animEffect>
                                  </p:childTnLst>
                                </p:cTn>
                              </p:par>
                              <p:par>
                                <p:cTn id="104" presetID="2" presetClass="entr" presetSubtype="4" fill="hold" grpId="0" nodeType="withEffect">
                                  <p:stCondLst>
                                    <p:cond delay="450"/>
                                  </p:stCondLst>
                                  <p:childTnLst>
                                    <p:set>
                                      <p:cBhvr>
                                        <p:cTn id="100" dur="1" fill="hold">
                                          <p:stCondLst>
                                            <p:cond delay="0"/>
                                          </p:stCondLst>
                                        </p:cTn>
                                        <p:tgtEl>
                                          <p:spTgt spid="40"/>
                                        </p:tgtEl>
                                        <p:attrNameLst>
                                          <p:attrName>style.visibility</p:attrName>
                                        </p:attrNameLst>
                                      </p:cBhvr>
                                      <p:to>
                                        <p:strVal val="visible"/>
                                      </p:to>
                                    </p:set>
                                    <p:anim calcmode="lin" valueType="num">
                                      <p:cBhvr additive="base">
                                        <p:cTn id="101" dur="500" fill="hold"/>
                                        <p:tgtEl>
                                          <p:spTgt spid="40"/>
                                        </p:tgtEl>
                                        <p:attrNameLst>
                                          <p:attrName>ppt_x</p:attrName>
                                        </p:attrNameLst>
                                      </p:cBhvr>
                                      <p:tavLst>
                                        <p:tav tm="0">
                                          <p:val>
                                            <p:strVal val="#ppt_x"/>
                                          </p:val>
                                        </p:tav>
                                        <p:tav tm="100000">
                                          <p:val>
                                            <p:strVal val="#ppt_x"/>
                                          </p:val>
                                        </p:tav>
                                      </p:tavLst>
                                    </p:anim>
                                    <p:anim calcmode="lin" valueType="num">
                                      <p:cBhvr additive="base">
                                        <p:cTn id="102" dur="500" fill="hold"/>
                                        <p:tgtEl>
                                          <p:spTgt spid="40"/>
                                        </p:tgtEl>
                                        <p:attrNameLst>
                                          <p:attrName>ppt_y</p:attrName>
                                        </p:attrNameLst>
                                      </p:cBhvr>
                                      <p:tavLst>
                                        <p:tav tm="0">
                                          <p:val>
                                            <p:strVal val="#ppt_y+0.1"/>
                                          </p:val>
                                        </p:tav>
                                        <p:tav tm="100000">
                                          <p:val>
                                            <p:strVal val="#ppt_y"/>
                                          </p:val>
                                        </p:tav>
                                      </p:tavLst>
                                    </p:anim>
                                    <p:animEffect transition="in" filter="fade">
                                      <p:cBhvr>
                                        <p:cTn id="103" dur="500"/>
                                        <p:tgtEl>
                                          <p:spTgt spid="40"/>
                                        </p:tgtEl>
                                      </p:cBhvr>
                                    </p:animEffect>
                                  </p:childTnLst>
                                </p:cTn>
                              </p:par>
                              <p:par>
                                <p:cTn id="109" presetID="2" presetClass="entr" presetSubtype="4" fill="hold" grpId="0" nodeType="withEffect">
                                  <p:stCondLst>
                                    <p:cond delay="600"/>
                                  </p:stCondLst>
                                  <p:childTnLst>
                                    <p:set>
                                      <p:cBhvr>
                                        <p:cTn id="105" dur="1" fill="hold">
                                          <p:stCondLst>
                                            <p:cond delay="0"/>
                                          </p:stCondLst>
                                        </p:cTn>
                                        <p:tgtEl>
                                          <p:spTgt spid="43"/>
                                        </p:tgtEl>
                                        <p:attrNameLst>
                                          <p:attrName>style.visibility</p:attrName>
                                        </p:attrNameLst>
                                      </p:cBhvr>
                                      <p:to>
                                        <p:strVal val="visible"/>
                                      </p:to>
                                    </p:set>
                                    <p:anim calcmode="lin" valueType="num">
                                      <p:cBhvr additive="base">
                                        <p:cTn id="106" dur="500" fill="hold"/>
                                        <p:tgtEl>
                                          <p:spTgt spid="43"/>
                                        </p:tgtEl>
                                        <p:attrNameLst>
                                          <p:attrName>ppt_x</p:attrName>
                                        </p:attrNameLst>
                                      </p:cBhvr>
                                      <p:tavLst>
                                        <p:tav tm="0">
                                          <p:val>
                                            <p:strVal val="#ppt_x"/>
                                          </p:val>
                                        </p:tav>
                                        <p:tav tm="100000">
                                          <p:val>
                                            <p:strVal val="#ppt_x"/>
                                          </p:val>
                                        </p:tav>
                                      </p:tavLst>
                                    </p:anim>
                                    <p:anim calcmode="lin" valueType="num">
                                      <p:cBhvr additive="base">
                                        <p:cTn id="107" dur="500" fill="hold"/>
                                        <p:tgtEl>
                                          <p:spTgt spid="43"/>
                                        </p:tgtEl>
                                        <p:attrNameLst>
                                          <p:attrName>ppt_y</p:attrName>
                                        </p:attrNameLst>
                                      </p:cBhvr>
                                      <p:tavLst>
                                        <p:tav tm="0">
                                          <p:val>
                                            <p:strVal val="#ppt_y+0.1"/>
                                          </p:val>
                                        </p:tav>
                                        <p:tav tm="100000">
                                          <p:val>
                                            <p:strVal val="#ppt_y"/>
                                          </p:val>
                                        </p:tav>
                                      </p:tavLst>
                                    </p:anim>
                                    <p:animEffect transition="in" filter="fade">
                                      <p:cBhvr>
                                        <p:cTn id="108" dur="500"/>
                                        <p:tgtEl>
                                          <p:spTgt spid="43"/>
                                        </p:tgtEl>
                                      </p:cBhvr>
                                    </p:animEffect>
                                  </p:childTnLst>
                                </p:cTn>
                              </p:par>
                            </p:childTnLst>
                          </p:cTn>
                        </p:par>
                      </p:childTnLst>
                    </p:cTn>
                  </p:par>
                  <p:par>
                    <p:cTn id="110" fill="hold">
                      <p:stCondLst>
                        <p:cond delay="indefinite"/>
                      </p:stCondLst>
                      <p:childTnLst>
                        <p:par>
                          <p:cTn id="111" fill="hold">
                            <p:stCondLst>
                              <p:cond delay="0"/>
                            </p:stCondLst>
                            <p:childTnLst>
                              <p:par>
                                <p:cTn id="116" presetID="2" presetClass="entr" presetSubtype="4" fill="hold" grpId="0" nodeType="clickEffect">
                                  <p:stCondLst>
                                    <p:cond delay="0"/>
                                  </p:stCondLst>
                                  <p:childTnLst>
                                    <p:set>
                                      <p:cBhvr>
                                        <p:cTn id="112" dur="1" fill="hold">
                                          <p:stCondLst>
                                            <p:cond delay="0"/>
                                          </p:stCondLst>
                                        </p:cTn>
                                        <p:tgtEl>
                                          <p:spTgt spid="29"/>
                                        </p:tgtEl>
                                        <p:attrNameLst>
                                          <p:attrName>style.visibility</p:attrName>
                                        </p:attrNameLst>
                                      </p:cBhvr>
                                      <p:to>
                                        <p:strVal val="visible"/>
                                      </p:to>
                                    </p:set>
                                    <p:anim calcmode="lin" valueType="num">
                                      <p:cBhvr additive="base">
                                        <p:cTn id="113" dur="500" fill="hold"/>
                                        <p:tgtEl>
                                          <p:spTgt spid="29"/>
                                        </p:tgtEl>
                                        <p:attrNameLst>
                                          <p:attrName>ppt_x</p:attrName>
                                        </p:attrNameLst>
                                      </p:cBhvr>
                                      <p:tavLst>
                                        <p:tav tm="0">
                                          <p:val>
                                            <p:strVal val="#ppt_x"/>
                                          </p:val>
                                        </p:tav>
                                        <p:tav tm="100000">
                                          <p:val>
                                            <p:strVal val="#ppt_x"/>
                                          </p:val>
                                        </p:tav>
                                      </p:tavLst>
                                    </p:anim>
                                    <p:anim calcmode="lin" valueType="num">
                                      <p:cBhvr additive="base">
                                        <p:cTn id="114" dur="500" fill="hold"/>
                                        <p:tgtEl>
                                          <p:spTgt spid="29"/>
                                        </p:tgtEl>
                                        <p:attrNameLst>
                                          <p:attrName>ppt_y</p:attrName>
                                        </p:attrNameLst>
                                      </p:cBhvr>
                                      <p:tavLst>
                                        <p:tav tm="0">
                                          <p:val>
                                            <p:strVal val="#ppt_y+0.1"/>
                                          </p:val>
                                        </p:tav>
                                        <p:tav tm="100000">
                                          <p:val>
                                            <p:strVal val="#ppt_y"/>
                                          </p:val>
                                        </p:tav>
                                      </p:tavLst>
                                    </p:anim>
                                    <p:animEffect transition="in" filter="fade">
                                      <p:cBhvr>
                                        <p:cTn id="115" dur="500"/>
                                        <p:tgtEl>
                                          <p:spTgt spid="29"/>
                                        </p:tgtEl>
                                      </p:cBhvr>
                                    </p:animEffect>
                                  </p:childTnLst>
                                </p:cTn>
                              </p:par>
                              <p:par>
                                <p:cTn id="121" presetID="2" presetClass="entr" presetSubtype="4" fill="hold" grpId="0" nodeType="withEffect">
                                  <p:stCondLst>
                                    <p:cond delay="600"/>
                                  </p:stCondLst>
                                  <p:childTnLst>
                                    <p:set>
                                      <p:cBhvr>
                                        <p:cTn id="117" dur="1" fill="hold">
                                          <p:stCondLst>
                                            <p:cond delay="0"/>
                                          </p:stCondLst>
                                        </p:cTn>
                                        <p:tgtEl>
                                          <p:spTgt spid="44"/>
                                        </p:tgtEl>
                                        <p:attrNameLst>
                                          <p:attrName>style.visibility</p:attrName>
                                        </p:attrNameLst>
                                      </p:cBhvr>
                                      <p:to>
                                        <p:strVal val="visible"/>
                                      </p:to>
                                    </p:set>
                                    <p:anim calcmode="lin" valueType="num">
                                      <p:cBhvr additive="base">
                                        <p:cTn id="118" dur="500" fill="hold"/>
                                        <p:tgtEl>
                                          <p:spTgt spid="44"/>
                                        </p:tgtEl>
                                        <p:attrNameLst>
                                          <p:attrName>ppt_x</p:attrName>
                                        </p:attrNameLst>
                                      </p:cBhvr>
                                      <p:tavLst>
                                        <p:tav tm="0">
                                          <p:val>
                                            <p:strVal val="#ppt_x"/>
                                          </p:val>
                                        </p:tav>
                                        <p:tav tm="100000">
                                          <p:val>
                                            <p:strVal val="#ppt_x"/>
                                          </p:val>
                                        </p:tav>
                                      </p:tavLst>
                                    </p:anim>
                                    <p:anim calcmode="lin" valueType="num">
                                      <p:cBhvr additive="base">
                                        <p:cTn id="119" dur="500" fill="hold"/>
                                        <p:tgtEl>
                                          <p:spTgt spid="44"/>
                                        </p:tgtEl>
                                        <p:attrNameLst>
                                          <p:attrName>ppt_y</p:attrName>
                                        </p:attrNameLst>
                                      </p:cBhvr>
                                      <p:tavLst>
                                        <p:tav tm="0">
                                          <p:val>
                                            <p:strVal val="#ppt_y+0.1"/>
                                          </p:val>
                                        </p:tav>
                                        <p:tav tm="100000">
                                          <p:val>
                                            <p:strVal val="#ppt_y"/>
                                          </p:val>
                                        </p:tav>
                                      </p:tavLst>
                                    </p:anim>
                                    <p:animEffect transition="in" filter="fade">
                                      <p:cBhvr>
                                        <p:cTn id="120" dur="500"/>
                                        <p:tgtEl>
                                          <p:spTgt spid="44"/>
                                        </p:tgtEl>
                                      </p:cBhvr>
                                    </p:animEffect>
                                  </p:childTnLst>
                                </p:cTn>
                              </p:par>
                            </p:childTnLst>
                          </p:cTn>
                        </p:par>
                      </p:childTnLst>
                    </p:cTn>
                  </p:par>
                  <p:par>
                    <p:cTn id="122" fill="hold">
                      <p:stCondLst>
                        <p:cond delay="indefinite"/>
                      </p:stCondLst>
                      <p:childTnLst>
                        <p:par>
                          <p:cTn id="123" fill="hold">
                            <p:stCondLst>
                              <p:cond delay="0"/>
                            </p:stCondLst>
                            <p:childTnLst>
                              <p:par>
                                <p:cTn id="128" presetID="2" presetClass="entr" presetSubtype="4" fill="hold" grpId="0" nodeType="clickEffect">
                                  <p:stCondLst>
                                    <p:cond delay="200"/>
                                  </p:stCondLst>
                                  <p:childTnLst>
                                    <p:set>
                                      <p:cBhvr>
                                        <p:cTn id="124" dur="1" fill="hold">
                                          <p:stCondLst>
                                            <p:cond delay="0"/>
                                          </p:stCondLst>
                                        </p:cTn>
                                        <p:tgtEl>
                                          <p:spTgt spid="30"/>
                                        </p:tgtEl>
                                        <p:attrNameLst>
                                          <p:attrName>style.visibility</p:attrName>
                                        </p:attrNameLst>
                                      </p:cBhvr>
                                      <p:to>
                                        <p:strVal val="visible"/>
                                      </p:to>
                                    </p:set>
                                    <p:anim calcmode="lin" valueType="num">
                                      <p:cBhvr additive="base">
                                        <p:cTn id="125" dur="500" fill="hold"/>
                                        <p:tgtEl>
                                          <p:spTgt spid="30"/>
                                        </p:tgtEl>
                                        <p:attrNameLst>
                                          <p:attrName>ppt_x</p:attrName>
                                        </p:attrNameLst>
                                      </p:cBhvr>
                                      <p:tavLst>
                                        <p:tav tm="0">
                                          <p:val>
                                            <p:strVal val="#ppt_x"/>
                                          </p:val>
                                        </p:tav>
                                        <p:tav tm="100000">
                                          <p:val>
                                            <p:strVal val="#ppt_x"/>
                                          </p:val>
                                        </p:tav>
                                      </p:tavLst>
                                    </p:anim>
                                    <p:anim calcmode="lin" valueType="num">
                                      <p:cBhvr additive="base">
                                        <p:cTn id="126" dur="500" fill="hold"/>
                                        <p:tgtEl>
                                          <p:spTgt spid="30"/>
                                        </p:tgtEl>
                                        <p:attrNameLst>
                                          <p:attrName>ppt_y</p:attrName>
                                        </p:attrNameLst>
                                      </p:cBhvr>
                                      <p:tavLst>
                                        <p:tav tm="0">
                                          <p:val>
                                            <p:strVal val="#ppt_y+0.1"/>
                                          </p:val>
                                        </p:tav>
                                        <p:tav tm="100000">
                                          <p:val>
                                            <p:strVal val="#ppt_y"/>
                                          </p:val>
                                        </p:tav>
                                      </p:tavLst>
                                    </p:anim>
                                    <p:animEffect transition="in" filter="fade">
                                      <p:cBhvr>
                                        <p:cTn id="127" dur="500"/>
                                        <p:tgtEl>
                                          <p:spTgt spid="30"/>
                                        </p:tgtEl>
                                      </p:cBhvr>
                                    </p:animEffect>
                                  </p:childTnLst>
                                </p:cTn>
                              </p:par>
                              <p:par>
                                <p:cTn id="133" presetID="2" presetClass="entr" presetSubtype="4" fill="hold" grpId="0" nodeType="withEffect">
                                  <p:stCondLst>
                                    <p:cond delay="400"/>
                                  </p:stCondLst>
                                  <p:childTnLst>
                                    <p:set>
                                      <p:cBhvr>
                                        <p:cTn id="129" dur="1" fill="hold">
                                          <p:stCondLst>
                                            <p:cond delay="0"/>
                                          </p:stCondLst>
                                        </p:cTn>
                                        <p:tgtEl>
                                          <p:spTgt spid="31"/>
                                        </p:tgtEl>
                                        <p:attrNameLst>
                                          <p:attrName>style.visibility</p:attrName>
                                        </p:attrNameLst>
                                      </p:cBhvr>
                                      <p:to>
                                        <p:strVal val="visible"/>
                                      </p:to>
                                    </p:set>
                                    <p:anim calcmode="lin" valueType="num">
                                      <p:cBhvr additive="base">
                                        <p:cTn id="130" dur="500" fill="hold"/>
                                        <p:tgtEl>
                                          <p:spTgt spid="31"/>
                                        </p:tgtEl>
                                        <p:attrNameLst>
                                          <p:attrName>ppt_x</p:attrName>
                                        </p:attrNameLst>
                                      </p:cBhvr>
                                      <p:tavLst>
                                        <p:tav tm="0">
                                          <p:val>
                                            <p:strVal val="#ppt_x"/>
                                          </p:val>
                                        </p:tav>
                                        <p:tav tm="100000">
                                          <p:val>
                                            <p:strVal val="#ppt_x"/>
                                          </p:val>
                                        </p:tav>
                                      </p:tavLst>
                                    </p:anim>
                                    <p:anim calcmode="lin" valueType="num">
                                      <p:cBhvr additive="base">
                                        <p:cTn id="131" dur="500" fill="hold"/>
                                        <p:tgtEl>
                                          <p:spTgt spid="31"/>
                                        </p:tgtEl>
                                        <p:attrNameLst>
                                          <p:attrName>ppt_y</p:attrName>
                                        </p:attrNameLst>
                                      </p:cBhvr>
                                      <p:tavLst>
                                        <p:tav tm="0">
                                          <p:val>
                                            <p:strVal val="#ppt_y+0.1"/>
                                          </p:val>
                                        </p:tav>
                                        <p:tav tm="100000">
                                          <p:val>
                                            <p:strVal val="#ppt_y"/>
                                          </p:val>
                                        </p:tav>
                                      </p:tavLst>
                                    </p:anim>
                                    <p:animEffect transition="in" filter="fade">
                                      <p:cBhvr>
                                        <p:cTn id="132" dur="500"/>
                                        <p:tgtEl>
                                          <p:spTgt spid="31"/>
                                        </p:tgtEl>
                                      </p:cBhvr>
                                    </p:animEffect>
                                  </p:childTnLst>
                                </p:cTn>
                              </p:par>
                              <p:par>
                                <p:cTn id="138" presetID="2" presetClass="entr" presetSubtype="4" fill="hold" grpId="0" nodeType="withEffect">
                                  <p:stCondLst>
                                    <p:cond delay="400"/>
                                  </p:stCondLst>
                                  <p:childTnLst>
                                    <p:set>
                                      <p:cBhvr>
                                        <p:cTn id="134" dur="1" fill="hold">
                                          <p:stCondLst>
                                            <p:cond delay="0"/>
                                          </p:stCondLst>
                                        </p:cTn>
                                        <p:tgtEl>
                                          <p:spTgt spid="32"/>
                                        </p:tgtEl>
                                        <p:attrNameLst>
                                          <p:attrName>style.visibility</p:attrName>
                                        </p:attrNameLst>
                                      </p:cBhvr>
                                      <p:to>
                                        <p:strVal val="visible"/>
                                      </p:to>
                                    </p:set>
                                    <p:anim calcmode="lin" valueType="num">
                                      <p:cBhvr additive="base">
                                        <p:cTn id="135" dur="500" fill="hold"/>
                                        <p:tgtEl>
                                          <p:spTgt spid="32"/>
                                        </p:tgtEl>
                                        <p:attrNameLst>
                                          <p:attrName>ppt_x</p:attrName>
                                        </p:attrNameLst>
                                      </p:cBhvr>
                                      <p:tavLst>
                                        <p:tav tm="0">
                                          <p:val>
                                            <p:strVal val="#ppt_x"/>
                                          </p:val>
                                        </p:tav>
                                        <p:tav tm="100000">
                                          <p:val>
                                            <p:strVal val="#ppt_x"/>
                                          </p:val>
                                        </p:tav>
                                      </p:tavLst>
                                    </p:anim>
                                    <p:anim calcmode="lin" valueType="num">
                                      <p:cBhvr additive="base">
                                        <p:cTn id="136" dur="500" fill="hold"/>
                                        <p:tgtEl>
                                          <p:spTgt spid="32"/>
                                        </p:tgtEl>
                                        <p:attrNameLst>
                                          <p:attrName>ppt_y</p:attrName>
                                        </p:attrNameLst>
                                      </p:cBhvr>
                                      <p:tavLst>
                                        <p:tav tm="0">
                                          <p:val>
                                            <p:strVal val="#ppt_y+0.1"/>
                                          </p:val>
                                        </p:tav>
                                        <p:tav tm="100000">
                                          <p:val>
                                            <p:strVal val="#ppt_y"/>
                                          </p:val>
                                        </p:tav>
                                      </p:tavLst>
                                    </p:anim>
                                    <p:animEffect transition="in" filter="fade">
                                      <p:cBhvr>
                                        <p:cTn id="137" dur="500"/>
                                        <p:tgtEl>
                                          <p:spTgt spid="32"/>
                                        </p:tgtEl>
                                      </p:cBhvr>
                                    </p:animEffect>
                                  </p:childTnLst>
                                </p:cTn>
                              </p:par>
                              <p:par>
                                <p:cTn id="143" presetID="2" presetClass="entr" presetSubtype="4" fill="hold" grpId="0" nodeType="withEffect">
                                  <p:stCondLst>
                                    <p:cond delay="450"/>
                                  </p:stCondLst>
                                  <p:childTnLst>
                                    <p:set>
                                      <p:cBhvr>
                                        <p:cTn id="139" dur="1" fill="hold">
                                          <p:stCondLst>
                                            <p:cond delay="0"/>
                                          </p:stCondLst>
                                        </p:cTn>
                                        <p:tgtEl>
                                          <p:spTgt spid="41"/>
                                        </p:tgtEl>
                                        <p:attrNameLst>
                                          <p:attrName>style.visibility</p:attrName>
                                        </p:attrNameLst>
                                      </p:cBhvr>
                                      <p:to>
                                        <p:strVal val="visible"/>
                                      </p:to>
                                    </p:set>
                                    <p:anim calcmode="lin" valueType="num">
                                      <p:cBhvr additive="base">
                                        <p:cTn id="140" dur="500" fill="hold"/>
                                        <p:tgtEl>
                                          <p:spTgt spid="41"/>
                                        </p:tgtEl>
                                        <p:attrNameLst>
                                          <p:attrName>ppt_x</p:attrName>
                                        </p:attrNameLst>
                                      </p:cBhvr>
                                      <p:tavLst>
                                        <p:tav tm="0">
                                          <p:val>
                                            <p:strVal val="#ppt_x"/>
                                          </p:val>
                                        </p:tav>
                                        <p:tav tm="100000">
                                          <p:val>
                                            <p:strVal val="#ppt_x"/>
                                          </p:val>
                                        </p:tav>
                                      </p:tavLst>
                                    </p:anim>
                                    <p:anim calcmode="lin" valueType="num">
                                      <p:cBhvr additive="base">
                                        <p:cTn id="141" dur="500" fill="hold"/>
                                        <p:tgtEl>
                                          <p:spTgt spid="41"/>
                                        </p:tgtEl>
                                        <p:attrNameLst>
                                          <p:attrName>ppt_y</p:attrName>
                                        </p:attrNameLst>
                                      </p:cBhvr>
                                      <p:tavLst>
                                        <p:tav tm="0">
                                          <p:val>
                                            <p:strVal val="#ppt_y+0.1"/>
                                          </p:val>
                                        </p:tav>
                                        <p:tav tm="100000">
                                          <p:val>
                                            <p:strVal val="#ppt_y"/>
                                          </p:val>
                                        </p:tav>
                                      </p:tavLst>
                                    </p:anim>
                                    <p:animEffect transition="in" filter="fade">
                                      <p:cBhvr>
                                        <p:cTn id="142" dur="500"/>
                                        <p:tgtEl>
                                          <p:spTgt spid="41"/>
                                        </p:tgtEl>
                                      </p:cBhvr>
                                    </p:animEffect>
                                  </p:childTnLst>
                                </p:cTn>
                              </p:par>
                              <p:par>
                                <p:cTn id="148" presetID="2" presetClass="entr" presetSubtype="4" fill="hold" grpId="0" nodeType="withEffect">
                                  <p:stCondLst>
                                    <p:cond delay="450"/>
                                  </p:stCondLst>
                                  <p:childTnLst>
                                    <p:set>
                                      <p:cBhvr>
                                        <p:cTn id="144" dur="1" fill="hold">
                                          <p:stCondLst>
                                            <p:cond delay="0"/>
                                          </p:stCondLst>
                                        </p:cTn>
                                        <p:tgtEl>
                                          <p:spTgt spid="42"/>
                                        </p:tgtEl>
                                        <p:attrNameLst>
                                          <p:attrName>style.visibility</p:attrName>
                                        </p:attrNameLst>
                                      </p:cBhvr>
                                      <p:to>
                                        <p:strVal val="visible"/>
                                      </p:to>
                                    </p:set>
                                    <p:anim calcmode="lin" valueType="num">
                                      <p:cBhvr additive="base">
                                        <p:cTn id="145" dur="500" fill="hold"/>
                                        <p:tgtEl>
                                          <p:spTgt spid="42"/>
                                        </p:tgtEl>
                                        <p:attrNameLst>
                                          <p:attrName>ppt_x</p:attrName>
                                        </p:attrNameLst>
                                      </p:cBhvr>
                                      <p:tavLst>
                                        <p:tav tm="0">
                                          <p:val>
                                            <p:strVal val="#ppt_x"/>
                                          </p:val>
                                        </p:tav>
                                        <p:tav tm="100000">
                                          <p:val>
                                            <p:strVal val="#ppt_x"/>
                                          </p:val>
                                        </p:tav>
                                      </p:tavLst>
                                    </p:anim>
                                    <p:anim calcmode="lin" valueType="num">
                                      <p:cBhvr additive="base">
                                        <p:cTn id="146" dur="500" fill="hold"/>
                                        <p:tgtEl>
                                          <p:spTgt spid="42"/>
                                        </p:tgtEl>
                                        <p:attrNameLst>
                                          <p:attrName>ppt_y</p:attrName>
                                        </p:attrNameLst>
                                      </p:cBhvr>
                                      <p:tavLst>
                                        <p:tav tm="0">
                                          <p:val>
                                            <p:strVal val="#ppt_y+0.1"/>
                                          </p:val>
                                        </p:tav>
                                        <p:tav tm="100000">
                                          <p:val>
                                            <p:strVal val="#ppt_y"/>
                                          </p:val>
                                        </p:tav>
                                      </p:tavLst>
                                    </p:anim>
                                    <p:animEffect transition="in" filter="fade">
                                      <p:cBhvr>
                                        <p:cTn id="147" dur="500"/>
                                        <p:tgtEl>
                                          <p:spTgt spid="42"/>
                                        </p:tgtEl>
                                      </p:cBhvr>
                                    </p:animEffect>
                                  </p:childTnLst>
                                </p:cTn>
                              </p:par>
                              <p:par>
                                <p:cTn id="153" presetID="2" presetClass="entr" presetSubtype="4" fill="hold" grpId="0" nodeType="withEffect">
                                  <p:stCondLst>
                                    <p:cond delay="600"/>
                                  </p:stCondLst>
                                  <p:childTnLst>
                                    <p:set>
                                      <p:cBhvr>
                                        <p:cTn id="149" dur="1" fill="hold">
                                          <p:stCondLst>
                                            <p:cond delay="0"/>
                                          </p:stCondLst>
                                        </p:cTn>
                                        <p:tgtEl>
                                          <p:spTgt spid="45"/>
                                        </p:tgtEl>
                                        <p:attrNameLst>
                                          <p:attrName>style.visibility</p:attrName>
                                        </p:attrNameLst>
                                      </p:cBhvr>
                                      <p:to>
                                        <p:strVal val="visible"/>
                                      </p:to>
                                    </p:set>
                                    <p:anim calcmode="lin" valueType="num">
                                      <p:cBhvr additive="base">
                                        <p:cTn id="150" dur="500" fill="hold"/>
                                        <p:tgtEl>
                                          <p:spTgt spid="45"/>
                                        </p:tgtEl>
                                        <p:attrNameLst>
                                          <p:attrName>ppt_x</p:attrName>
                                        </p:attrNameLst>
                                      </p:cBhvr>
                                      <p:tavLst>
                                        <p:tav tm="0">
                                          <p:val>
                                            <p:strVal val="#ppt_x"/>
                                          </p:val>
                                        </p:tav>
                                        <p:tav tm="100000">
                                          <p:val>
                                            <p:strVal val="#ppt_x"/>
                                          </p:val>
                                        </p:tav>
                                      </p:tavLst>
                                    </p:anim>
                                    <p:anim calcmode="lin" valueType="num">
                                      <p:cBhvr additive="base">
                                        <p:cTn id="151" dur="500" fill="hold"/>
                                        <p:tgtEl>
                                          <p:spTgt spid="45"/>
                                        </p:tgtEl>
                                        <p:attrNameLst>
                                          <p:attrName>ppt_y</p:attrName>
                                        </p:attrNameLst>
                                      </p:cBhvr>
                                      <p:tavLst>
                                        <p:tav tm="0">
                                          <p:val>
                                            <p:strVal val="#ppt_y+0.1"/>
                                          </p:val>
                                        </p:tav>
                                        <p:tav tm="100000">
                                          <p:val>
                                            <p:strVal val="#ppt_y"/>
                                          </p:val>
                                        </p:tav>
                                      </p:tavLst>
                                    </p:anim>
                                    <p:animEffect transition="in" filter="fade">
                                      <p:cBhvr>
                                        <p:cTn id="152" dur="500"/>
                                        <p:tgtEl>
                                          <p:spTgt spid="45"/>
                                        </p:tgtEl>
                                      </p:cBhvr>
                                    </p:animEffect>
                                  </p:childTnLst>
                                </p:cTn>
                              </p:par>
                            </p:childTnLst>
                          </p:cTn>
                        </p:par>
                      </p:childTnLst>
                    </p:cTn>
                  </p:par>
                  <p:par>
                    <p:cTn id="154" fill="hold">
                      <p:stCondLst>
                        <p:cond delay="indefinite"/>
                      </p:stCondLst>
                      <p:childTnLst>
                        <p:par>
                          <p:cTn id="155" fill="hold">
                            <p:stCondLst>
                              <p:cond delay="0"/>
                            </p:stCondLst>
                            <p:childTnLst>
                              <p:par>
                                <p:cTn id="160" presetID="2" presetClass="entr" presetSubtype="4" fill="hold" grpId="0" nodeType="clickEffect">
                                  <p:stCondLst>
                                    <p:cond delay="0"/>
                                  </p:stCondLst>
                                  <p:childTnLst>
                                    <p:set>
                                      <p:cBhvr>
                                        <p:cTn id="156" dur="1" fill="hold">
                                          <p:stCondLst>
                                            <p:cond delay="0"/>
                                          </p:stCondLst>
                                        </p:cTn>
                                        <p:tgtEl>
                                          <p:spTgt spid="46"/>
                                        </p:tgtEl>
                                        <p:attrNameLst>
                                          <p:attrName>style.visibility</p:attrName>
                                        </p:attrNameLst>
                                      </p:cBhvr>
                                      <p:to>
                                        <p:strVal val="visible"/>
                                      </p:to>
                                    </p:set>
                                    <p:anim calcmode="lin" valueType="num">
                                      <p:cBhvr additive="base">
                                        <p:cTn id="157" dur="500" fill="hold"/>
                                        <p:tgtEl>
                                          <p:spTgt spid="46"/>
                                        </p:tgtEl>
                                        <p:attrNameLst>
                                          <p:attrName>ppt_x</p:attrName>
                                        </p:attrNameLst>
                                      </p:cBhvr>
                                      <p:tavLst>
                                        <p:tav tm="0">
                                          <p:val>
                                            <p:strVal val="#ppt_x"/>
                                          </p:val>
                                        </p:tav>
                                        <p:tav tm="100000">
                                          <p:val>
                                            <p:strVal val="#ppt_x"/>
                                          </p:val>
                                        </p:tav>
                                      </p:tavLst>
                                    </p:anim>
                                    <p:anim calcmode="lin" valueType="num">
                                      <p:cBhvr additive="base">
                                        <p:cTn id="158" dur="500" fill="hold"/>
                                        <p:tgtEl>
                                          <p:spTgt spid="46"/>
                                        </p:tgtEl>
                                        <p:attrNameLst>
                                          <p:attrName>ppt_y</p:attrName>
                                        </p:attrNameLst>
                                      </p:cBhvr>
                                      <p:tavLst>
                                        <p:tav tm="0">
                                          <p:val>
                                            <p:strVal val="#ppt_y+0.1"/>
                                          </p:val>
                                        </p:tav>
                                        <p:tav tm="100000">
                                          <p:val>
                                            <p:strVal val="#ppt_y"/>
                                          </p:val>
                                        </p:tav>
                                      </p:tavLst>
                                    </p:anim>
                                    <p:animEffect transition="in" filter="fade">
                                      <p:cBhvr>
                                        <p:cTn id="159" dur="500"/>
                                        <p:tgtEl>
                                          <p:spTgt spid="46"/>
                                        </p:tgtEl>
                                      </p:cBhvr>
                                    </p:animEffect>
                                  </p:childTnLst>
                                </p:cTn>
                              </p:par>
                              <p:par>
                                <p:cTn id="165" presetID="2" presetClass="entr" presetSubtype="4" fill="hold" grpId="0" nodeType="withEffect">
                                  <p:stCondLst>
                                    <p:cond delay="0"/>
                                  </p:stCondLst>
                                  <p:childTnLst>
                                    <p:set>
                                      <p:cBhvr>
                                        <p:cTn id="161" dur="1" fill="hold">
                                          <p:stCondLst>
                                            <p:cond delay="0"/>
                                          </p:stCondLst>
                                        </p:cTn>
                                        <p:tgtEl>
                                          <p:spTgt spid="47"/>
                                        </p:tgtEl>
                                        <p:attrNameLst>
                                          <p:attrName>style.visibility</p:attrName>
                                        </p:attrNameLst>
                                      </p:cBhvr>
                                      <p:to>
                                        <p:strVal val="visible"/>
                                      </p:to>
                                    </p:set>
                                    <p:anim calcmode="lin" valueType="num">
                                      <p:cBhvr additive="base">
                                        <p:cTn id="162" dur="500" fill="hold"/>
                                        <p:tgtEl>
                                          <p:spTgt spid="47"/>
                                        </p:tgtEl>
                                        <p:attrNameLst>
                                          <p:attrName>ppt_x</p:attrName>
                                        </p:attrNameLst>
                                      </p:cBhvr>
                                      <p:tavLst>
                                        <p:tav tm="0">
                                          <p:val>
                                            <p:strVal val="#ppt_x"/>
                                          </p:val>
                                        </p:tav>
                                        <p:tav tm="100000">
                                          <p:val>
                                            <p:strVal val="#ppt_x"/>
                                          </p:val>
                                        </p:tav>
                                      </p:tavLst>
                                    </p:anim>
                                    <p:anim calcmode="lin" valueType="num">
                                      <p:cBhvr additive="base">
                                        <p:cTn id="163" dur="500" fill="hold"/>
                                        <p:tgtEl>
                                          <p:spTgt spid="47"/>
                                        </p:tgtEl>
                                        <p:attrNameLst>
                                          <p:attrName>ppt_y</p:attrName>
                                        </p:attrNameLst>
                                      </p:cBhvr>
                                      <p:tavLst>
                                        <p:tav tm="0">
                                          <p:val>
                                            <p:strVal val="#ppt_y+0.1"/>
                                          </p:val>
                                        </p:tav>
                                        <p:tav tm="100000">
                                          <p:val>
                                            <p:strVal val="#ppt_y"/>
                                          </p:val>
                                        </p:tav>
                                      </p:tavLst>
                                    </p:anim>
                                    <p:animEffect transition="in" filter="fade">
                                      <p:cBhvr>
                                        <p:cTn id="164" dur="500"/>
                                        <p:tgtEl>
                                          <p:spTgt spid="47"/>
                                        </p:tgtEl>
                                      </p:cBhvr>
                                    </p:animEffect>
                                  </p:childTnLst>
                                </p:cTn>
                              </p:par>
                              <p:par>
                                <p:cTn id="170" presetID="2" presetClass="entr" presetSubtype="4" fill="hold" grpId="0" nodeType="withEffect">
                                  <p:stCondLst>
                                    <p:cond delay="0"/>
                                  </p:stCondLst>
                                  <p:childTnLst>
                                    <p:set>
                                      <p:cBhvr>
                                        <p:cTn id="166" dur="1" fill="hold">
                                          <p:stCondLst>
                                            <p:cond delay="0"/>
                                          </p:stCondLst>
                                        </p:cTn>
                                        <p:tgtEl>
                                          <p:spTgt spid="48"/>
                                        </p:tgtEl>
                                        <p:attrNameLst>
                                          <p:attrName>style.visibility</p:attrName>
                                        </p:attrNameLst>
                                      </p:cBhvr>
                                      <p:to>
                                        <p:strVal val="visible"/>
                                      </p:to>
                                    </p:set>
                                    <p:anim calcmode="lin" valueType="num">
                                      <p:cBhvr additive="base">
                                        <p:cTn id="167" dur="500" fill="hold"/>
                                        <p:tgtEl>
                                          <p:spTgt spid="48"/>
                                        </p:tgtEl>
                                        <p:attrNameLst>
                                          <p:attrName>ppt_x</p:attrName>
                                        </p:attrNameLst>
                                      </p:cBhvr>
                                      <p:tavLst>
                                        <p:tav tm="0">
                                          <p:val>
                                            <p:strVal val="#ppt_x"/>
                                          </p:val>
                                        </p:tav>
                                        <p:tav tm="100000">
                                          <p:val>
                                            <p:strVal val="#ppt_x"/>
                                          </p:val>
                                        </p:tav>
                                      </p:tavLst>
                                    </p:anim>
                                    <p:anim calcmode="lin" valueType="num">
                                      <p:cBhvr additive="base">
                                        <p:cTn id="168" dur="500" fill="hold"/>
                                        <p:tgtEl>
                                          <p:spTgt spid="48"/>
                                        </p:tgtEl>
                                        <p:attrNameLst>
                                          <p:attrName>ppt_y</p:attrName>
                                        </p:attrNameLst>
                                      </p:cBhvr>
                                      <p:tavLst>
                                        <p:tav tm="0">
                                          <p:val>
                                            <p:strVal val="#ppt_y+0.1"/>
                                          </p:val>
                                        </p:tav>
                                        <p:tav tm="100000">
                                          <p:val>
                                            <p:strVal val="#ppt_y"/>
                                          </p:val>
                                        </p:tav>
                                      </p:tavLst>
                                    </p:anim>
                                    <p:animEffect transition="in" filter="fade">
                                      <p:cBhvr>
                                        <p:cTn id="169"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Commits Are Batched</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Committing every offset would be expensive - so consumers commit now and then</a:t>
            </a:r>
          </a:p>
        </p:txBody>
      </p:sp>
      <p:sp>
        <p:nvSpPr>
          <p:cNvPr id="11" name="a1w_tc10"/>
          <p:cNvSpPr/>
          <p:nvPr/>
        </p:nvSpPr>
        <p:spPr>
          <a:xfrm>
            <a:off x="457200" y="1691640"/>
            <a:ext cx="438912" cy="420624"/>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w_tct11"/>
          <p:cNvSpPr txBox="1"/>
          <p:nvPr/>
        </p:nvSpPr>
        <p:spPr>
          <a:xfrm>
            <a:off x="457200" y="1691640"/>
            <a:ext cx="438912" cy="420624"/>
          </a:xfrm>
          <a:prstGeom prst="rect">
            <a:avLst/>
          </a:prstGeom>
          <a:noFill/>
        </p:spPr>
        <p:txBody>
          <a:bodyPr wrap="square" lIns="0" tIns="0" rIns="0" bIns="0" anchor="ctr">
            <a:spAutoFit/>
          </a:bodyPr>
          <a:lstStyle/>
          <a:p>
            <a:pPr algn="ctr"/>
            <a:r>
              <a:rPr sz="950" b="1">
                <a:solidFill>
                  <a:srgbClr val="0E7490"/>
                </a:solidFill>
                <a:latin typeface="Consolas"/>
              </a:rPr>
              <a:t>0</a:t>
            </a:r>
          </a:p>
        </p:txBody>
      </p:sp>
      <p:sp>
        <p:nvSpPr>
          <p:cNvPr id="13" name="a1wd50_tc12"/>
          <p:cNvSpPr/>
          <p:nvPr/>
        </p:nvSpPr>
        <p:spPr>
          <a:xfrm>
            <a:off x="932688" y="1691640"/>
            <a:ext cx="438912" cy="420624"/>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wd50_tct13"/>
          <p:cNvSpPr txBox="1"/>
          <p:nvPr/>
        </p:nvSpPr>
        <p:spPr>
          <a:xfrm>
            <a:off x="932688" y="1691640"/>
            <a:ext cx="438912" cy="420624"/>
          </a:xfrm>
          <a:prstGeom prst="rect">
            <a:avLst/>
          </a:prstGeom>
          <a:noFill/>
        </p:spPr>
        <p:txBody>
          <a:bodyPr wrap="square" lIns="0" tIns="0" rIns="0" bIns="0" anchor="ctr">
            <a:spAutoFit/>
          </a:bodyPr>
          <a:lstStyle/>
          <a:p>
            <a:pPr algn="ctr"/>
            <a:r>
              <a:rPr sz="950" b="1">
                <a:solidFill>
                  <a:srgbClr val="0E7490"/>
                </a:solidFill>
                <a:latin typeface="Consolas"/>
              </a:rPr>
              <a:t>1</a:t>
            </a:r>
          </a:p>
        </p:txBody>
      </p:sp>
      <p:sp>
        <p:nvSpPr>
          <p:cNvPr id="15" name="a1wd100_tc14"/>
          <p:cNvSpPr/>
          <p:nvPr/>
        </p:nvSpPr>
        <p:spPr>
          <a:xfrm>
            <a:off x="1408176" y="1691640"/>
            <a:ext cx="438912" cy="420624"/>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1wd100_tct15"/>
          <p:cNvSpPr txBox="1"/>
          <p:nvPr/>
        </p:nvSpPr>
        <p:spPr>
          <a:xfrm>
            <a:off x="1408176" y="1691640"/>
            <a:ext cx="438912" cy="420624"/>
          </a:xfrm>
          <a:prstGeom prst="rect">
            <a:avLst/>
          </a:prstGeom>
          <a:noFill/>
        </p:spPr>
        <p:txBody>
          <a:bodyPr wrap="square" lIns="0" tIns="0" rIns="0" bIns="0" anchor="ctr">
            <a:spAutoFit/>
          </a:bodyPr>
          <a:lstStyle/>
          <a:p>
            <a:pPr algn="ctr"/>
            <a:r>
              <a:rPr sz="950" b="1">
                <a:solidFill>
                  <a:srgbClr val="0E7490"/>
                </a:solidFill>
                <a:latin typeface="Consolas"/>
              </a:rPr>
              <a:t>2</a:t>
            </a:r>
          </a:p>
        </p:txBody>
      </p:sp>
      <p:sp>
        <p:nvSpPr>
          <p:cNvPr id="17" name="a1wd150_tc16"/>
          <p:cNvSpPr/>
          <p:nvPr/>
        </p:nvSpPr>
        <p:spPr>
          <a:xfrm>
            <a:off x="1883664" y="1691640"/>
            <a:ext cx="438912" cy="420624"/>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1wd150_tct17"/>
          <p:cNvSpPr txBox="1"/>
          <p:nvPr/>
        </p:nvSpPr>
        <p:spPr>
          <a:xfrm>
            <a:off x="1883664" y="1691640"/>
            <a:ext cx="438912" cy="420624"/>
          </a:xfrm>
          <a:prstGeom prst="rect">
            <a:avLst/>
          </a:prstGeom>
          <a:noFill/>
        </p:spPr>
        <p:txBody>
          <a:bodyPr wrap="square" lIns="0" tIns="0" rIns="0" bIns="0" anchor="ctr">
            <a:spAutoFit/>
          </a:bodyPr>
          <a:lstStyle/>
          <a:p>
            <a:pPr algn="ctr"/>
            <a:r>
              <a:rPr sz="950" b="1">
                <a:solidFill>
                  <a:srgbClr val="0E7490"/>
                </a:solidFill>
                <a:latin typeface="Consolas"/>
              </a:rPr>
              <a:t>3</a:t>
            </a:r>
          </a:p>
        </p:txBody>
      </p:sp>
      <p:sp>
        <p:nvSpPr>
          <p:cNvPr id="19" name="a1wd200_tc18"/>
          <p:cNvSpPr/>
          <p:nvPr/>
        </p:nvSpPr>
        <p:spPr>
          <a:xfrm>
            <a:off x="2359152" y="1691640"/>
            <a:ext cx="438912" cy="420624"/>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wd200_tct19"/>
          <p:cNvSpPr txBox="1"/>
          <p:nvPr/>
        </p:nvSpPr>
        <p:spPr>
          <a:xfrm>
            <a:off x="2359152" y="1691640"/>
            <a:ext cx="438912" cy="420624"/>
          </a:xfrm>
          <a:prstGeom prst="rect">
            <a:avLst/>
          </a:prstGeom>
          <a:noFill/>
        </p:spPr>
        <p:txBody>
          <a:bodyPr wrap="square" lIns="0" tIns="0" rIns="0" bIns="0" anchor="ctr">
            <a:spAutoFit/>
          </a:bodyPr>
          <a:lstStyle/>
          <a:p>
            <a:pPr algn="ctr"/>
            <a:r>
              <a:rPr sz="950" b="1">
                <a:solidFill>
                  <a:srgbClr val="0E7490"/>
                </a:solidFill>
                <a:latin typeface="Consolas"/>
              </a:rPr>
              <a:t>4</a:t>
            </a:r>
          </a:p>
        </p:txBody>
      </p:sp>
      <p:sp>
        <p:nvSpPr>
          <p:cNvPr id="21" name="a1wd250_tc20"/>
          <p:cNvSpPr/>
          <p:nvPr/>
        </p:nvSpPr>
        <p:spPr>
          <a:xfrm>
            <a:off x="2834640" y="1691640"/>
            <a:ext cx="438912" cy="420624"/>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1wd250_tct21"/>
          <p:cNvSpPr txBox="1"/>
          <p:nvPr/>
        </p:nvSpPr>
        <p:spPr>
          <a:xfrm>
            <a:off x="2834640" y="1691640"/>
            <a:ext cx="438912" cy="420624"/>
          </a:xfrm>
          <a:prstGeom prst="rect">
            <a:avLst/>
          </a:prstGeom>
          <a:noFill/>
        </p:spPr>
        <p:txBody>
          <a:bodyPr wrap="square" lIns="0" tIns="0" rIns="0" bIns="0" anchor="ctr">
            <a:spAutoFit/>
          </a:bodyPr>
          <a:lstStyle/>
          <a:p>
            <a:pPr algn="ctr"/>
            <a:r>
              <a:rPr sz="950" b="1">
                <a:solidFill>
                  <a:srgbClr val="0E7490"/>
                </a:solidFill>
                <a:latin typeface="Consolas"/>
              </a:rPr>
              <a:t>5</a:t>
            </a:r>
          </a:p>
        </p:txBody>
      </p:sp>
      <p:sp>
        <p:nvSpPr>
          <p:cNvPr id="23" name="a1wd300_tc22"/>
          <p:cNvSpPr/>
          <p:nvPr/>
        </p:nvSpPr>
        <p:spPr>
          <a:xfrm>
            <a:off x="3310128" y="1691640"/>
            <a:ext cx="438912" cy="420624"/>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1wd300_tct23"/>
          <p:cNvSpPr txBox="1"/>
          <p:nvPr/>
        </p:nvSpPr>
        <p:spPr>
          <a:xfrm>
            <a:off x="3310128" y="1691640"/>
            <a:ext cx="438912" cy="420624"/>
          </a:xfrm>
          <a:prstGeom prst="rect">
            <a:avLst/>
          </a:prstGeom>
          <a:noFill/>
        </p:spPr>
        <p:txBody>
          <a:bodyPr wrap="square" lIns="0" tIns="0" rIns="0" bIns="0" anchor="ctr">
            <a:spAutoFit/>
          </a:bodyPr>
          <a:lstStyle/>
          <a:p>
            <a:pPr algn="ctr"/>
            <a:r>
              <a:rPr sz="950" b="1">
                <a:solidFill>
                  <a:srgbClr val="0E7490"/>
                </a:solidFill>
                <a:latin typeface="Consolas"/>
              </a:rPr>
              <a:t>6</a:t>
            </a:r>
          </a:p>
        </p:txBody>
      </p:sp>
      <p:sp>
        <p:nvSpPr>
          <p:cNvPr id="25" name="a1wd350_tc24"/>
          <p:cNvSpPr/>
          <p:nvPr/>
        </p:nvSpPr>
        <p:spPr>
          <a:xfrm>
            <a:off x="3785616" y="1691640"/>
            <a:ext cx="438912" cy="420624"/>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1wd350_tct25"/>
          <p:cNvSpPr txBox="1"/>
          <p:nvPr/>
        </p:nvSpPr>
        <p:spPr>
          <a:xfrm>
            <a:off x="3785616" y="1691640"/>
            <a:ext cx="438912" cy="420624"/>
          </a:xfrm>
          <a:prstGeom prst="rect">
            <a:avLst/>
          </a:prstGeom>
          <a:noFill/>
        </p:spPr>
        <p:txBody>
          <a:bodyPr wrap="square" lIns="0" tIns="0" rIns="0" bIns="0" anchor="ctr">
            <a:spAutoFit/>
          </a:bodyPr>
          <a:lstStyle/>
          <a:p>
            <a:pPr algn="ctr"/>
            <a:r>
              <a:rPr sz="950" b="1">
                <a:solidFill>
                  <a:srgbClr val="0E7490"/>
                </a:solidFill>
                <a:latin typeface="Consolas"/>
              </a:rPr>
              <a:t>7</a:t>
            </a:r>
          </a:p>
        </p:txBody>
      </p:sp>
      <p:sp>
        <p:nvSpPr>
          <p:cNvPr id="27" name="a1wd400_tc26"/>
          <p:cNvSpPr/>
          <p:nvPr/>
        </p:nvSpPr>
        <p:spPr>
          <a:xfrm>
            <a:off x="4261104" y="1691640"/>
            <a:ext cx="438912" cy="420624"/>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1wd400_tct27"/>
          <p:cNvSpPr txBox="1"/>
          <p:nvPr/>
        </p:nvSpPr>
        <p:spPr>
          <a:xfrm>
            <a:off x="4261104" y="1691640"/>
            <a:ext cx="438912" cy="420624"/>
          </a:xfrm>
          <a:prstGeom prst="rect">
            <a:avLst/>
          </a:prstGeom>
          <a:noFill/>
        </p:spPr>
        <p:txBody>
          <a:bodyPr wrap="square" lIns="0" tIns="0" rIns="0" bIns="0" anchor="ctr">
            <a:spAutoFit/>
          </a:bodyPr>
          <a:lstStyle/>
          <a:p>
            <a:pPr algn="ctr"/>
            <a:r>
              <a:rPr sz="950" b="1">
                <a:solidFill>
                  <a:srgbClr val="0E7490"/>
                </a:solidFill>
                <a:latin typeface="Consolas"/>
              </a:rPr>
              <a:t>8</a:t>
            </a:r>
          </a:p>
        </p:txBody>
      </p:sp>
      <p:sp>
        <p:nvSpPr>
          <p:cNvPr id="29" name="a3ud200_tw28"/>
          <p:cNvSpPr/>
          <p:nvPr/>
        </p:nvSpPr>
        <p:spPr>
          <a:xfrm>
            <a:off x="4261104" y="1691640"/>
            <a:ext cx="438912" cy="420624"/>
          </a:xfrm>
          <a:prstGeom prst="rect">
            <a:avLst/>
          </a:prstGeom>
          <a:solidFill>
            <a:srgbClr val="FEF9C3"/>
          </a:solidFill>
          <a:ln w="12700">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3ud200_twt29"/>
          <p:cNvSpPr txBox="1"/>
          <p:nvPr/>
        </p:nvSpPr>
        <p:spPr>
          <a:xfrm>
            <a:off x="4261104" y="1691640"/>
            <a:ext cx="438912" cy="420624"/>
          </a:xfrm>
          <a:prstGeom prst="rect">
            <a:avLst/>
          </a:prstGeom>
          <a:noFill/>
        </p:spPr>
        <p:txBody>
          <a:bodyPr wrap="square" lIns="0" tIns="0" rIns="0" bIns="0" anchor="ctr">
            <a:spAutoFit/>
          </a:bodyPr>
          <a:lstStyle/>
          <a:p>
            <a:pPr algn="ctr"/>
            <a:r>
              <a:rPr sz="950" b="1">
                <a:solidFill>
                  <a:srgbClr val="A16207"/>
                </a:solidFill>
                <a:latin typeface="Consolas"/>
              </a:rPr>
              <a:t>8</a:t>
            </a:r>
          </a:p>
        </p:txBody>
      </p:sp>
      <p:sp>
        <p:nvSpPr>
          <p:cNvPr id="31" name="a1wd450_tc30"/>
          <p:cNvSpPr/>
          <p:nvPr/>
        </p:nvSpPr>
        <p:spPr>
          <a:xfrm>
            <a:off x="4736592" y="1691640"/>
            <a:ext cx="438912" cy="420624"/>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1wd450_tct31"/>
          <p:cNvSpPr txBox="1"/>
          <p:nvPr/>
        </p:nvSpPr>
        <p:spPr>
          <a:xfrm>
            <a:off x="4736592" y="1691640"/>
            <a:ext cx="438912" cy="420624"/>
          </a:xfrm>
          <a:prstGeom prst="rect">
            <a:avLst/>
          </a:prstGeom>
          <a:noFill/>
        </p:spPr>
        <p:txBody>
          <a:bodyPr wrap="square" lIns="0" tIns="0" rIns="0" bIns="0" anchor="ctr">
            <a:spAutoFit/>
          </a:bodyPr>
          <a:lstStyle/>
          <a:p>
            <a:pPr algn="ctr"/>
            <a:r>
              <a:rPr sz="950" b="1">
                <a:solidFill>
                  <a:srgbClr val="0E7490"/>
                </a:solidFill>
                <a:latin typeface="Consolas"/>
              </a:rPr>
              <a:t>9</a:t>
            </a:r>
          </a:p>
        </p:txBody>
      </p:sp>
      <p:sp>
        <p:nvSpPr>
          <p:cNvPr id="33" name="a3ud200_tw32"/>
          <p:cNvSpPr/>
          <p:nvPr/>
        </p:nvSpPr>
        <p:spPr>
          <a:xfrm>
            <a:off x="4736592" y="1691640"/>
            <a:ext cx="438912" cy="420624"/>
          </a:xfrm>
          <a:prstGeom prst="rect">
            <a:avLst/>
          </a:prstGeom>
          <a:solidFill>
            <a:srgbClr val="FEF9C3"/>
          </a:solidFill>
          <a:ln w="12700">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3ud200_twt33"/>
          <p:cNvSpPr txBox="1"/>
          <p:nvPr/>
        </p:nvSpPr>
        <p:spPr>
          <a:xfrm>
            <a:off x="4736592" y="1691640"/>
            <a:ext cx="438912" cy="420624"/>
          </a:xfrm>
          <a:prstGeom prst="rect">
            <a:avLst/>
          </a:prstGeom>
          <a:noFill/>
        </p:spPr>
        <p:txBody>
          <a:bodyPr wrap="square" lIns="0" tIns="0" rIns="0" bIns="0" anchor="ctr">
            <a:spAutoFit/>
          </a:bodyPr>
          <a:lstStyle/>
          <a:p>
            <a:pPr algn="ctr"/>
            <a:r>
              <a:rPr sz="950" b="1">
                <a:solidFill>
                  <a:srgbClr val="A16207"/>
                </a:solidFill>
                <a:latin typeface="Consolas"/>
              </a:rPr>
              <a:t>9</a:t>
            </a:r>
          </a:p>
        </p:txBody>
      </p:sp>
      <p:sp>
        <p:nvSpPr>
          <p:cNvPr id="35" name="a0f_tc34"/>
          <p:cNvSpPr/>
          <p:nvPr/>
        </p:nvSpPr>
        <p:spPr>
          <a:xfrm>
            <a:off x="5212080" y="1691640"/>
            <a:ext cx="438912" cy="420624"/>
          </a:xfrm>
          <a:prstGeom prst="rect">
            <a:avLst/>
          </a:prstGeom>
          <a:solidFill>
            <a:srgbClr val="F7F6F3"/>
          </a:solidFill>
          <a:ln w="9525">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0f_tct35"/>
          <p:cNvSpPr txBox="1"/>
          <p:nvPr/>
        </p:nvSpPr>
        <p:spPr>
          <a:xfrm>
            <a:off x="5212080" y="1691640"/>
            <a:ext cx="438912" cy="420624"/>
          </a:xfrm>
          <a:prstGeom prst="rect">
            <a:avLst/>
          </a:prstGeom>
          <a:noFill/>
        </p:spPr>
        <p:txBody>
          <a:bodyPr wrap="square" lIns="0" tIns="0" rIns="0" bIns="0" anchor="ctr">
            <a:spAutoFit/>
          </a:bodyPr>
          <a:lstStyle/>
          <a:p>
            <a:pPr algn="ctr"/>
            <a:r>
              <a:rPr sz="950" b="1">
                <a:solidFill>
                  <a:srgbClr val="A8A29E"/>
                </a:solidFill>
                <a:latin typeface="Consolas"/>
              </a:rPr>
              <a:t>10</a:t>
            </a:r>
          </a:p>
        </p:txBody>
      </p:sp>
      <p:sp>
        <p:nvSpPr>
          <p:cNvPr id="37" name="a0f_tc36"/>
          <p:cNvSpPr/>
          <p:nvPr/>
        </p:nvSpPr>
        <p:spPr>
          <a:xfrm>
            <a:off x="5687568" y="1691640"/>
            <a:ext cx="438912" cy="420624"/>
          </a:xfrm>
          <a:prstGeom prst="rect">
            <a:avLst/>
          </a:prstGeom>
          <a:solidFill>
            <a:srgbClr val="F7F6F3"/>
          </a:solidFill>
          <a:ln w="9525">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0f_tct37"/>
          <p:cNvSpPr txBox="1"/>
          <p:nvPr/>
        </p:nvSpPr>
        <p:spPr>
          <a:xfrm>
            <a:off x="5687568" y="1691640"/>
            <a:ext cx="438912" cy="420624"/>
          </a:xfrm>
          <a:prstGeom prst="rect">
            <a:avLst/>
          </a:prstGeom>
          <a:noFill/>
        </p:spPr>
        <p:txBody>
          <a:bodyPr wrap="square" lIns="0" tIns="0" rIns="0" bIns="0" anchor="ctr">
            <a:spAutoFit/>
          </a:bodyPr>
          <a:lstStyle/>
          <a:p>
            <a:pPr algn="ctr"/>
            <a:r>
              <a:rPr sz="950" b="1">
                <a:solidFill>
                  <a:srgbClr val="A8A29E"/>
                </a:solidFill>
                <a:latin typeface="Consolas"/>
              </a:rPr>
              <a:t>11</a:t>
            </a:r>
          </a:p>
        </p:txBody>
      </p:sp>
      <p:sp>
        <p:nvSpPr>
          <p:cNvPr id="39" name="a1ud300_cm38"/>
          <p:cNvSpPr/>
          <p:nvPr/>
        </p:nvSpPr>
        <p:spPr>
          <a:xfrm>
            <a:off x="2308860" y="1572768"/>
            <a:ext cx="45720" cy="65836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1ud300_pill39"/>
          <p:cNvSpPr/>
          <p:nvPr/>
        </p:nvSpPr>
        <p:spPr>
          <a:xfrm>
            <a:off x="1911095" y="1280160"/>
            <a:ext cx="822960" cy="237744"/>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00" b="1">
                <a:solidFill>
                  <a:srgbClr val="C2410C"/>
                </a:solidFill>
                <a:latin typeface="Consolas"/>
              </a:rPr>
              <a:t>commit</a:t>
            </a:r>
          </a:p>
        </p:txBody>
      </p:sp>
      <p:sp>
        <p:nvSpPr>
          <p:cNvPr id="41" name="a1ud500_cm40"/>
          <p:cNvSpPr/>
          <p:nvPr/>
        </p:nvSpPr>
        <p:spPr>
          <a:xfrm>
            <a:off x="4210812" y="1572768"/>
            <a:ext cx="45720" cy="65836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1ud500_pill41"/>
          <p:cNvSpPr/>
          <p:nvPr/>
        </p:nvSpPr>
        <p:spPr>
          <a:xfrm>
            <a:off x="3813048" y="1280160"/>
            <a:ext cx="822960" cy="237744"/>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00" b="1">
                <a:solidFill>
                  <a:srgbClr val="C2410C"/>
                </a:solidFill>
                <a:latin typeface="Consolas"/>
              </a:rPr>
              <a:t>commit</a:t>
            </a:r>
          </a:p>
        </p:txBody>
      </p:sp>
      <p:sp>
        <p:nvSpPr>
          <p:cNvPr id="43" name="a2u_crash42"/>
          <p:cNvSpPr/>
          <p:nvPr/>
        </p:nvSpPr>
        <p:spPr>
          <a:xfrm>
            <a:off x="5161788" y="1572768"/>
            <a:ext cx="45720" cy="65836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2u_pill43"/>
          <p:cNvSpPr/>
          <p:nvPr/>
        </p:nvSpPr>
        <p:spPr>
          <a:xfrm>
            <a:off x="4809744" y="1280160"/>
            <a:ext cx="731520" cy="237744"/>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00" b="1">
                <a:solidFill>
                  <a:srgbClr val="FFFFFF"/>
                </a:solidFill>
                <a:latin typeface="Consolas"/>
              </a:rPr>
              <a:t>crash</a:t>
            </a:r>
          </a:p>
        </p:txBody>
      </p:sp>
      <p:sp>
        <p:nvSpPr>
          <p:cNvPr id="45" name="a3ud200_lb44"/>
          <p:cNvSpPr txBox="1"/>
          <p:nvPr/>
        </p:nvSpPr>
        <p:spPr>
          <a:xfrm>
            <a:off x="3986784" y="2176272"/>
            <a:ext cx="1508760" cy="201168"/>
          </a:xfrm>
          <a:prstGeom prst="rect">
            <a:avLst/>
          </a:prstGeom>
          <a:noFill/>
        </p:spPr>
        <p:txBody>
          <a:bodyPr wrap="square" lIns="0" tIns="0" rIns="0" bIns="0" anchor="ctr">
            <a:spAutoFit/>
          </a:bodyPr>
          <a:lstStyle/>
          <a:p>
            <a:pPr algn="ctr"/>
            <a:r>
              <a:rPr sz="800" b="1">
                <a:solidFill>
                  <a:srgbClr val="A16207"/>
                </a:solidFill>
                <a:latin typeface="Segoe UI"/>
              </a:rPr>
              <a:t>restart at 8: seen twice</a:t>
            </a:r>
          </a:p>
        </p:txBody>
      </p:sp>
      <p:sp>
        <p:nvSpPr>
          <p:cNvPr id="46" name="a4u_card45"/>
          <p:cNvSpPr/>
          <p:nvPr/>
        </p:nvSpPr>
        <p:spPr>
          <a:xfrm>
            <a:off x="457200" y="2606040"/>
            <a:ext cx="2615184" cy="960120"/>
          </a:xfrm>
          <a:prstGeom prst="roundRect">
            <a:avLst>
              <a:gd name="adj" fmla="val 11428"/>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4u_acc46"/>
          <p:cNvSpPr/>
          <p:nvPr/>
        </p:nvSpPr>
        <p:spPr>
          <a:xfrm>
            <a:off x="457200" y="2606040"/>
            <a:ext cx="2615184" cy="457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a4u_tt47"/>
          <p:cNvSpPr txBox="1"/>
          <p:nvPr/>
        </p:nvSpPr>
        <p:spPr>
          <a:xfrm>
            <a:off x="603504" y="2715768"/>
            <a:ext cx="2340864" cy="256032"/>
          </a:xfrm>
          <a:prstGeom prst="rect">
            <a:avLst/>
          </a:prstGeom>
          <a:noFill/>
        </p:spPr>
        <p:txBody>
          <a:bodyPr wrap="square" lIns="0" tIns="0" rIns="0" bIns="0" anchor="ctr">
            <a:spAutoFit/>
          </a:bodyPr>
          <a:lstStyle/>
          <a:p>
            <a:pPr algn="l"/>
            <a:r>
              <a:rPr sz="1100" b="1">
                <a:solidFill>
                  <a:srgbClr val="1C1917"/>
                </a:solidFill>
                <a:latin typeface="Segoe UI"/>
              </a:rPr>
              <a:t>Auto-commit</a:t>
            </a:r>
          </a:p>
        </p:txBody>
      </p:sp>
      <p:sp>
        <p:nvSpPr>
          <p:cNvPr id="49" name="a4ud60_tb48"/>
          <p:cNvSpPr txBox="1"/>
          <p:nvPr/>
        </p:nvSpPr>
        <p:spPr>
          <a:xfrm>
            <a:off x="603504" y="3008376"/>
            <a:ext cx="2340864" cy="502920"/>
          </a:xfrm>
          <a:prstGeom prst="rect">
            <a:avLst/>
          </a:prstGeom>
          <a:noFill/>
        </p:spPr>
        <p:txBody>
          <a:bodyPr wrap="square" lIns="0" tIns="0" rIns="0" bIns="0" anchor="t">
            <a:spAutoFit/>
          </a:bodyPr>
          <a:lstStyle/>
          <a:p>
            <a:pPr algn="l"/>
            <a:r>
              <a:rPr sz="900" b="0">
                <a:solidFill>
                  <a:srgbClr val="44403C"/>
                </a:solidFill>
                <a:latin typeface="Segoe UI"/>
              </a:rPr>
              <a:t>the Java default: every 5 seconds (auto.commit.interval.ms)</a:t>
            </a:r>
          </a:p>
        </p:txBody>
      </p:sp>
      <p:sp>
        <p:nvSpPr>
          <p:cNvPr id="50" name="a4u_card49"/>
          <p:cNvSpPr/>
          <p:nvPr/>
        </p:nvSpPr>
        <p:spPr>
          <a:xfrm>
            <a:off x="3264408" y="2606040"/>
            <a:ext cx="2615184" cy="960120"/>
          </a:xfrm>
          <a:prstGeom prst="roundRect">
            <a:avLst>
              <a:gd name="adj" fmla="val 11428"/>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a4u_acc50"/>
          <p:cNvSpPr/>
          <p:nvPr/>
        </p:nvSpPr>
        <p:spPr>
          <a:xfrm>
            <a:off x="3264408" y="2606040"/>
            <a:ext cx="2615184"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a4u_tt51"/>
          <p:cNvSpPr txBox="1"/>
          <p:nvPr/>
        </p:nvSpPr>
        <p:spPr>
          <a:xfrm>
            <a:off x="3410712" y="2715768"/>
            <a:ext cx="2340864" cy="256032"/>
          </a:xfrm>
          <a:prstGeom prst="rect">
            <a:avLst/>
          </a:prstGeom>
          <a:noFill/>
        </p:spPr>
        <p:txBody>
          <a:bodyPr wrap="square" lIns="0" tIns="0" rIns="0" bIns="0" anchor="ctr">
            <a:spAutoFit/>
          </a:bodyPr>
          <a:lstStyle/>
          <a:p>
            <a:pPr algn="l"/>
            <a:r>
              <a:rPr sz="1100" b="1">
                <a:solidFill>
                  <a:srgbClr val="1C1917"/>
                </a:solidFill>
                <a:latin typeface="Segoe UI"/>
              </a:rPr>
              <a:t>Or commit yourself</a:t>
            </a:r>
          </a:p>
        </p:txBody>
      </p:sp>
      <p:sp>
        <p:nvSpPr>
          <p:cNvPr id="53" name="a4ud60_tb52"/>
          <p:cNvSpPr txBox="1"/>
          <p:nvPr/>
        </p:nvSpPr>
        <p:spPr>
          <a:xfrm>
            <a:off x="3410712" y="3008376"/>
            <a:ext cx="2340864" cy="502920"/>
          </a:xfrm>
          <a:prstGeom prst="rect">
            <a:avLst/>
          </a:prstGeom>
          <a:noFill/>
        </p:spPr>
        <p:txBody>
          <a:bodyPr wrap="square" lIns="0" tIns="0" rIns="0" bIns="0" anchor="t">
            <a:spAutoFit/>
          </a:bodyPr>
          <a:lstStyle/>
          <a:p>
            <a:pPr algn="l"/>
            <a:r>
              <a:rPr sz="900" b="0">
                <a:solidFill>
                  <a:srgbClr val="44403C"/>
                </a:solidFill>
                <a:latin typeface="Segoe UI"/>
              </a:rPr>
              <a:t>commitSync() or commitAsync() after you have processed</a:t>
            </a:r>
          </a:p>
        </p:txBody>
      </p:sp>
      <p:sp>
        <p:nvSpPr>
          <p:cNvPr id="54" name="a4u_card53"/>
          <p:cNvSpPr/>
          <p:nvPr/>
        </p:nvSpPr>
        <p:spPr>
          <a:xfrm>
            <a:off x="6071616" y="2606040"/>
            <a:ext cx="2615184" cy="960120"/>
          </a:xfrm>
          <a:prstGeom prst="roundRect">
            <a:avLst>
              <a:gd name="adj" fmla="val 11428"/>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a4u_acc54"/>
          <p:cNvSpPr/>
          <p:nvPr/>
        </p:nvSpPr>
        <p:spPr>
          <a:xfrm>
            <a:off x="6071616" y="2606040"/>
            <a:ext cx="2615184" cy="4572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a4u_tt55"/>
          <p:cNvSpPr txBox="1"/>
          <p:nvPr/>
        </p:nvSpPr>
        <p:spPr>
          <a:xfrm>
            <a:off x="6217920" y="2715768"/>
            <a:ext cx="2340864" cy="256032"/>
          </a:xfrm>
          <a:prstGeom prst="rect">
            <a:avLst/>
          </a:prstGeom>
          <a:noFill/>
        </p:spPr>
        <p:txBody>
          <a:bodyPr wrap="square" lIns="0" tIns="0" rIns="0" bIns="0" anchor="ctr">
            <a:spAutoFit/>
          </a:bodyPr>
          <a:lstStyle/>
          <a:p>
            <a:pPr algn="l"/>
            <a:r>
              <a:rPr sz="1100" b="1">
                <a:solidFill>
                  <a:srgbClr val="1C1917"/>
                </a:solidFill>
                <a:latin typeface="Segoe UI"/>
              </a:rPr>
              <a:t>The trade-off</a:t>
            </a:r>
          </a:p>
        </p:txBody>
      </p:sp>
      <p:sp>
        <p:nvSpPr>
          <p:cNvPr id="57" name="a4ud60_tb56"/>
          <p:cNvSpPr txBox="1"/>
          <p:nvPr/>
        </p:nvSpPr>
        <p:spPr>
          <a:xfrm>
            <a:off x="6217920" y="3008376"/>
            <a:ext cx="2340864" cy="502920"/>
          </a:xfrm>
          <a:prstGeom prst="rect">
            <a:avLst/>
          </a:prstGeom>
          <a:noFill/>
        </p:spPr>
        <p:txBody>
          <a:bodyPr wrap="square" lIns="0" tIns="0" rIns="0" bIns="0" anchor="t">
            <a:spAutoFit/>
          </a:bodyPr>
          <a:lstStyle/>
          <a:p>
            <a:pPr algn="l"/>
            <a:r>
              <a:rPr sz="900" b="0">
                <a:solidFill>
                  <a:srgbClr val="44403C"/>
                </a:solidFill>
                <a:latin typeface="Segoe UI"/>
              </a:rPr>
              <a:t>fewer commits cost less - but more is redone after a crash</a:t>
            </a:r>
          </a:p>
        </p:txBody>
      </p:sp>
      <p:sp>
        <p:nvSpPr>
          <p:cNvPr id="58" name="a5u_nb57"/>
          <p:cNvSpPr/>
          <p:nvPr/>
        </p:nvSpPr>
        <p:spPr>
          <a:xfrm>
            <a:off x="457200" y="3886200"/>
            <a:ext cx="8229600" cy="566928"/>
          </a:xfrm>
          <a:prstGeom prst="roundRect">
            <a:avLst>
              <a:gd name="adj" fmla="val 12903"/>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a5u_nacc58"/>
          <p:cNvSpPr/>
          <p:nvPr/>
        </p:nvSpPr>
        <p:spPr>
          <a:xfrm>
            <a:off x="457200" y="3886200"/>
            <a:ext cx="54864" cy="566928"/>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a5u_nt59"/>
          <p:cNvSpPr txBox="1"/>
          <p:nvPr/>
        </p:nvSpPr>
        <p:spPr>
          <a:xfrm>
            <a:off x="658368" y="3886200"/>
            <a:ext cx="7827264" cy="566928"/>
          </a:xfrm>
          <a:prstGeom prst="rect">
            <a:avLst/>
          </a:prstGeom>
          <a:noFill/>
        </p:spPr>
        <p:txBody>
          <a:bodyPr wrap="square" lIns="0" tIns="0" rIns="0" bIns="0" anchor="ctr">
            <a:spAutoFit/>
          </a:bodyPr>
          <a:lstStyle/>
          <a:p>
            <a:pPr algn="l"/>
            <a:r>
              <a:rPr sz="950" b="1">
                <a:solidFill>
                  <a:srgbClr val="A16207"/>
                </a:solidFill>
                <a:latin typeface="Segoe UI"/>
              </a:rPr>
              <a:t>!  </a:t>
            </a:r>
            <a:r>
              <a:rPr sz="950" b="0">
                <a:solidFill>
                  <a:srgbClr val="44403C"/>
                </a:solidFill>
                <a:latin typeface="Segoe UI"/>
              </a:rPr>
              <a:t>After a crash, some messages are processed again - so make processing safe to repeat.</a:t>
            </a:r>
          </a:p>
        </p:txBody>
      </p:sp>
      <p:sp>
        <p:nvSpPr>
          <p:cNvPr id="61" name="ft60"/>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11</a:t>
            </a:r>
          </a:p>
        </p:txBody>
      </p:sp>
      <p:sp>
        <p:nvSpPr>
          <p:cNvPr id="62" name="ft61"/>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ft62"/>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Consumers</a:t>
            </a:r>
          </a:p>
        </p:txBody>
      </p:sp>
      <p:sp>
        <p:nvSpPr>
          <p:cNvPr id="64" name="ft63"/>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7</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35"/>
                                        </p:tgtEl>
                                        <p:attrNameLst>
                                          <p:attrName>style.visibility</p:attrName>
                                        </p:attrNameLst>
                                      </p:cBhvr>
                                      <p:to>
                                        <p:strVal val="visible"/>
                                      </p:to>
                                    </p:set>
                                    <p:animEffect transition="in" filter="fade">
                                      <p:cBhvr>
                                        <p:cTn id="6" dur="500"/>
                                        <p:tgtEl>
                                          <p:spTgt spid="35"/>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animEffect transition="in" filter="fade">
                                      <p:cBhvr>
                                        <p:cTn id="9" dur="500"/>
                                        <p:tgtEl>
                                          <p:spTgt spid="36"/>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500"/>
                                        <p:tgtEl>
                                          <p:spTgt spid="37"/>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fade">
                                      <p:cBhvr>
                                        <p:cTn id="15" dur="500"/>
                                        <p:tgtEl>
                                          <p:spTgt spid="38"/>
                                        </p:tgtEl>
                                      </p:cBhvr>
                                    </p:animEffect>
                                  </p:childTnLst>
                                </p:cTn>
                              </p:par>
                            </p:childTnLst>
                          </p:cTn>
                        </p:par>
                      </p:childTnLst>
                    </p:cTn>
                  </p:par>
                  <p:par>
                    <p:cTn id="17" fill="hold">
                      <p:stCondLst>
                        <p:cond delay="indefinite"/>
                      </p:stCondLst>
                      <p:childTnLst>
                        <p:par>
                          <p:cTn id="18" fill="hold">
                            <p:stCondLst>
                              <p:cond delay="0"/>
                            </p:stCondLst>
                            <p:childTnLst>
                              <p:par>
                                <p:cTn id="21" presetID="22" presetClass="entr" presetSubtype="8"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left)">
                                      <p:cBhvr>
                                        <p:cTn id="20" dur="500"/>
                                        <p:tgtEl>
                                          <p:spTgt spid="11"/>
                                        </p:tgtEl>
                                      </p:cBhvr>
                                    </p:animEffect>
                                  </p:childTnLst>
                                </p:cTn>
                              </p:par>
                              <p:par>
                                <p:cTn id="24" presetID="22" presetClass="entr" presetSubtype="8"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par>
                                <p:cTn id="27" presetID="22" presetClass="entr" presetSubtype="8" fill="hold" grpId="0" nodeType="withEffect">
                                  <p:stCondLst>
                                    <p:cond delay="50"/>
                                  </p:stCondLst>
                                  <p:childTnLst>
                                    <p:set>
                                      <p:cBhvr>
                                        <p:cTn id="25" dur="1" fill="hold">
                                          <p:stCondLst>
                                            <p:cond delay="0"/>
                                          </p:stCondLst>
                                        </p:cTn>
                                        <p:tgtEl>
                                          <p:spTgt spid="13"/>
                                        </p:tgtEl>
                                        <p:attrNameLst>
                                          <p:attrName>style.visibility</p:attrName>
                                        </p:attrNameLst>
                                      </p:cBhvr>
                                      <p:to>
                                        <p:strVal val="visible"/>
                                      </p:to>
                                    </p:set>
                                    <p:animEffect transition="in" filter="wipe(left)">
                                      <p:cBhvr>
                                        <p:cTn id="26" dur="500"/>
                                        <p:tgtEl>
                                          <p:spTgt spid="13"/>
                                        </p:tgtEl>
                                      </p:cBhvr>
                                    </p:animEffect>
                                  </p:childTnLst>
                                </p:cTn>
                              </p:par>
                              <p:par>
                                <p:cTn id="30" presetID="22" presetClass="entr" presetSubtype="8" fill="hold" grpId="0" nodeType="withEffect">
                                  <p:stCondLst>
                                    <p:cond delay="50"/>
                                  </p:stCondLst>
                                  <p:childTnLst>
                                    <p:set>
                                      <p:cBhvr>
                                        <p:cTn id="28" dur="1" fill="hold">
                                          <p:stCondLst>
                                            <p:cond delay="0"/>
                                          </p:stCondLst>
                                        </p:cTn>
                                        <p:tgtEl>
                                          <p:spTgt spid="14"/>
                                        </p:tgtEl>
                                        <p:attrNameLst>
                                          <p:attrName>style.visibility</p:attrName>
                                        </p:attrNameLst>
                                      </p:cBhvr>
                                      <p:to>
                                        <p:strVal val="visible"/>
                                      </p:to>
                                    </p:set>
                                    <p:animEffect transition="in" filter="wipe(left)">
                                      <p:cBhvr>
                                        <p:cTn id="29" dur="500"/>
                                        <p:tgtEl>
                                          <p:spTgt spid="14"/>
                                        </p:tgtEl>
                                      </p:cBhvr>
                                    </p:animEffect>
                                  </p:childTnLst>
                                </p:cTn>
                              </p:par>
                              <p:par>
                                <p:cTn id="33" presetID="22" presetClass="entr" presetSubtype="8" fill="hold" grpId="0" nodeType="withEffect">
                                  <p:stCondLst>
                                    <p:cond delay="100"/>
                                  </p:stCondLst>
                                  <p:childTnLst>
                                    <p:set>
                                      <p:cBhvr>
                                        <p:cTn id="31" dur="1" fill="hold">
                                          <p:stCondLst>
                                            <p:cond delay="0"/>
                                          </p:stCondLst>
                                        </p:cTn>
                                        <p:tgtEl>
                                          <p:spTgt spid="15"/>
                                        </p:tgtEl>
                                        <p:attrNameLst>
                                          <p:attrName>style.visibility</p:attrName>
                                        </p:attrNameLst>
                                      </p:cBhvr>
                                      <p:to>
                                        <p:strVal val="visible"/>
                                      </p:to>
                                    </p:set>
                                    <p:animEffect transition="in" filter="wipe(left)">
                                      <p:cBhvr>
                                        <p:cTn id="32" dur="500"/>
                                        <p:tgtEl>
                                          <p:spTgt spid="15"/>
                                        </p:tgtEl>
                                      </p:cBhvr>
                                    </p:animEffect>
                                  </p:childTnLst>
                                </p:cTn>
                              </p:par>
                              <p:par>
                                <p:cTn id="36" presetID="22" presetClass="entr" presetSubtype="8" fill="hold" grpId="0" nodeType="withEffect">
                                  <p:stCondLst>
                                    <p:cond delay="100"/>
                                  </p:stCondLst>
                                  <p:childTnLst>
                                    <p:set>
                                      <p:cBhvr>
                                        <p:cTn id="34" dur="1" fill="hold">
                                          <p:stCondLst>
                                            <p:cond delay="0"/>
                                          </p:stCondLst>
                                        </p:cTn>
                                        <p:tgtEl>
                                          <p:spTgt spid="16"/>
                                        </p:tgtEl>
                                        <p:attrNameLst>
                                          <p:attrName>style.visibility</p:attrName>
                                        </p:attrNameLst>
                                      </p:cBhvr>
                                      <p:to>
                                        <p:strVal val="visible"/>
                                      </p:to>
                                    </p:set>
                                    <p:animEffect transition="in" filter="wipe(left)">
                                      <p:cBhvr>
                                        <p:cTn id="35" dur="500"/>
                                        <p:tgtEl>
                                          <p:spTgt spid="16"/>
                                        </p:tgtEl>
                                      </p:cBhvr>
                                    </p:animEffect>
                                  </p:childTnLst>
                                </p:cTn>
                              </p:par>
                              <p:par>
                                <p:cTn id="39" presetID="22" presetClass="entr" presetSubtype="8" fill="hold" grpId="0" nodeType="withEffect">
                                  <p:stCondLst>
                                    <p:cond delay="150"/>
                                  </p:stCondLst>
                                  <p:childTnLst>
                                    <p:set>
                                      <p:cBhvr>
                                        <p:cTn id="37" dur="1" fill="hold">
                                          <p:stCondLst>
                                            <p:cond delay="0"/>
                                          </p:stCondLst>
                                        </p:cTn>
                                        <p:tgtEl>
                                          <p:spTgt spid="17"/>
                                        </p:tgtEl>
                                        <p:attrNameLst>
                                          <p:attrName>style.visibility</p:attrName>
                                        </p:attrNameLst>
                                      </p:cBhvr>
                                      <p:to>
                                        <p:strVal val="visible"/>
                                      </p:to>
                                    </p:set>
                                    <p:animEffect transition="in" filter="wipe(left)">
                                      <p:cBhvr>
                                        <p:cTn id="38" dur="500"/>
                                        <p:tgtEl>
                                          <p:spTgt spid="17"/>
                                        </p:tgtEl>
                                      </p:cBhvr>
                                    </p:animEffect>
                                  </p:childTnLst>
                                </p:cTn>
                              </p:par>
                              <p:par>
                                <p:cTn id="42" presetID="22" presetClass="entr" presetSubtype="8" fill="hold" grpId="0" nodeType="withEffect">
                                  <p:stCondLst>
                                    <p:cond delay="150"/>
                                  </p:stCondLst>
                                  <p:childTnLst>
                                    <p:set>
                                      <p:cBhvr>
                                        <p:cTn id="40" dur="1" fill="hold">
                                          <p:stCondLst>
                                            <p:cond delay="0"/>
                                          </p:stCondLst>
                                        </p:cTn>
                                        <p:tgtEl>
                                          <p:spTgt spid="18"/>
                                        </p:tgtEl>
                                        <p:attrNameLst>
                                          <p:attrName>style.visibility</p:attrName>
                                        </p:attrNameLst>
                                      </p:cBhvr>
                                      <p:to>
                                        <p:strVal val="visible"/>
                                      </p:to>
                                    </p:set>
                                    <p:animEffect transition="in" filter="wipe(left)">
                                      <p:cBhvr>
                                        <p:cTn id="41" dur="500"/>
                                        <p:tgtEl>
                                          <p:spTgt spid="18"/>
                                        </p:tgtEl>
                                      </p:cBhvr>
                                    </p:animEffect>
                                  </p:childTnLst>
                                </p:cTn>
                              </p:par>
                              <p:par>
                                <p:cTn id="45" presetID="22" presetClass="entr" presetSubtype="8" fill="hold" grpId="0" nodeType="withEffect">
                                  <p:stCondLst>
                                    <p:cond delay="200"/>
                                  </p:stCondLst>
                                  <p:childTnLst>
                                    <p:set>
                                      <p:cBhvr>
                                        <p:cTn id="43" dur="1" fill="hold">
                                          <p:stCondLst>
                                            <p:cond delay="0"/>
                                          </p:stCondLst>
                                        </p:cTn>
                                        <p:tgtEl>
                                          <p:spTgt spid="19"/>
                                        </p:tgtEl>
                                        <p:attrNameLst>
                                          <p:attrName>style.visibility</p:attrName>
                                        </p:attrNameLst>
                                      </p:cBhvr>
                                      <p:to>
                                        <p:strVal val="visible"/>
                                      </p:to>
                                    </p:set>
                                    <p:animEffect transition="in" filter="wipe(left)">
                                      <p:cBhvr>
                                        <p:cTn id="44" dur="500"/>
                                        <p:tgtEl>
                                          <p:spTgt spid="19"/>
                                        </p:tgtEl>
                                      </p:cBhvr>
                                    </p:animEffect>
                                  </p:childTnLst>
                                </p:cTn>
                              </p:par>
                              <p:par>
                                <p:cTn id="48" presetID="22" presetClass="entr" presetSubtype="8" fill="hold" grpId="0" nodeType="withEffect">
                                  <p:stCondLst>
                                    <p:cond delay="200"/>
                                  </p:stCondLst>
                                  <p:childTnLst>
                                    <p:set>
                                      <p:cBhvr>
                                        <p:cTn id="46" dur="1" fill="hold">
                                          <p:stCondLst>
                                            <p:cond delay="0"/>
                                          </p:stCondLst>
                                        </p:cTn>
                                        <p:tgtEl>
                                          <p:spTgt spid="20"/>
                                        </p:tgtEl>
                                        <p:attrNameLst>
                                          <p:attrName>style.visibility</p:attrName>
                                        </p:attrNameLst>
                                      </p:cBhvr>
                                      <p:to>
                                        <p:strVal val="visible"/>
                                      </p:to>
                                    </p:set>
                                    <p:animEffect transition="in" filter="wipe(left)">
                                      <p:cBhvr>
                                        <p:cTn id="47" dur="500"/>
                                        <p:tgtEl>
                                          <p:spTgt spid="20"/>
                                        </p:tgtEl>
                                      </p:cBhvr>
                                    </p:animEffect>
                                  </p:childTnLst>
                                </p:cTn>
                              </p:par>
                              <p:par>
                                <p:cTn id="51" presetID="22" presetClass="entr" presetSubtype="8" fill="hold" grpId="0" nodeType="withEffect">
                                  <p:stCondLst>
                                    <p:cond delay="250"/>
                                  </p:stCondLst>
                                  <p:childTnLst>
                                    <p:set>
                                      <p:cBhvr>
                                        <p:cTn id="49" dur="1" fill="hold">
                                          <p:stCondLst>
                                            <p:cond delay="0"/>
                                          </p:stCondLst>
                                        </p:cTn>
                                        <p:tgtEl>
                                          <p:spTgt spid="21"/>
                                        </p:tgtEl>
                                        <p:attrNameLst>
                                          <p:attrName>style.visibility</p:attrName>
                                        </p:attrNameLst>
                                      </p:cBhvr>
                                      <p:to>
                                        <p:strVal val="visible"/>
                                      </p:to>
                                    </p:set>
                                    <p:animEffect transition="in" filter="wipe(left)">
                                      <p:cBhvr>
                                        <p:cTn id="50" dur="500"/>
                                        <p:tgtEl>
                                          <p:spTgt spid="21"/>
                                        </p:tgtEl>
                                      </p:cBhvr>
                                    </p:animEffect>
                                  </p:childTnLst>
                                </p:cTn>
                              </p:par>
                              <p:par>
                                <p:cTn id="54" presetID="22" presetClass="entr" presetSubtype="8" fill="hold" grpId="0" nodeType="withEffect">
                                  <p:stCondLst>
                                    <p:cond delay="250"/>
                                  </p:stCondLst>
                                  <p:childTnLst>
                                    <p:set>
                                      <p:cBhvr>
                                        <p:cTn id="52" dur="1" fill="hold">
                                          <p:stCondLst>
                                            <p:cond delay="0"/>
                                          </p:stCondLst>
                                        </p:cTn>
                                        <p:tgtEl>
                                          <p:spTgt spid="22"/>
                                        </p:tgtEl>
                                        <p:attrNameLst>
                                          <p:attrName>style.visibility</p:attrName>
                                        </p:attrNameLst>
                                      </p:cBhvr>
                                      <p:to>
                                        <p:strVal val="visible"/>
                                      </p:to>
                                    </p:set>
                                    <p:animEffect transition="in" filter="wipe(left)">
                                      <p:cBhvr>
                                        <p:cTn id="53" dur="500"/>
                                        <p:tgtEl>
                                          <p:spTgt spid="22"/>
                                        </p:tgtEl>
                                      </p:cBhvr>
                                    </p:animEffect>
                                  </p:childTnLst>
                                </p:cTn>
                              </p:par>
                              <p:par>
                                <p:cTn id="57" presetID="22" presetClass="entr" presetSubtype="8" fill="hold" grpId="0" nodeType="withEffect">
                                  <p:stCondLst>
                                    <p:cond delay="30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6" dur="500"/>
                                        <p:tgtEl>
                                          <p:spTgt spid="23"/>
                                        </p:tgtEl>
                                      </p:cBhvr>
                                    </p:animEffect>
                                  </p:childTnLst>
                                </p:cTn>
                              </p:par>
                              <p:par>
                                <p:cTn id="60" presetID="22" presetClass="entr" presetSubtype="8" fill="hold" grpId="0" nodeType="withEffect">
                                  <p:stCondLst>
                                    <p:cond delay="300"/>
                                  </p:stCondLst>
                                  <p:childTnLst>
                                    <p:set>
                                      <p:cBhvr>
                                        <p:cTn id="58" dur="1" fill="hold">
                                          <p:stCondLst>
                                            <p:cond delay="0"/>
                                          </p:stCondLst>
                                        </p:cTn>
                                        <p:tgtEl>
                                          <p:spTgt spid="24"/>
                                        </p:tgtEl>
                                        <p:attrNameLst>
                                          <p:attrName>style.visibility</p:attrName>
                                        </p:attrNameLst>
                                      </p:cBhvr>
                                      <p:to>
                                        <p:strVal val="visible"/>
                                      </p:to>
                                    </p:set>
                                    <p:animEffect transition="in" filter="wipe(left)">
                                      <p:cBhvr>
                                        <p:cTn id="59" dur="500"/>
                                        <p:tgtEl>
                                          <p:spTgt spid="24"/>
                                        </p:tgtEl>
                                      </p:cBhvr>
                                    </p:animEffect>
                                  </p:childTnLst>
                                </p:cTn>
                              </p:par>
                              <p:par>
                                <p:cTn id="65" presetID="2" presetClass="entr" presetSubtype="4" fill="hold" grpId="0" nodeType="withEffect">
                                  <p:stCondLst>
                                    <p:cond delay="300"/>
                                  </p:stCondLst>
                                  <p:childTnLst>
                                    <p:set>
                                      <p:cBhvr>
                                        <p:cTn id="61" dur="1" fill="hold">
                                          <p:stCondLst>
                                            <p:cond delay="0"/>
                                          </p:stCondLst>
                                        </p:cTn>
                                        <p:tgtEl>
                                          <p:spTgt spid="39"/>
                                        </p:tgtEl>
                                        <p:attrNameLst>
                                          <p:attrName>style.visibility</p:attrName>
                                        </p:attrNameLst>
                                      </p:cBhvr>
                                      <p:to>
                                        <p:strVal val="visible"/>
                                      </p:to>
                                    </p:set>
                                    <p:anim calcmode="lin" valueType="num">
                                      <p:cBhvr additive="base">
                                        <p:cTn id="62" dur="500" fill="hold"/>
                                        <p:tgtEl>
                                          <p:spTgt spid="39"/>
                                        </p:tgtEl>
                                        <p:attrNameLst>
                                          <p:attrName>ppt_x</p:attrName>
                                        </p:attrNameLst>
                                      </p:cBhvr>
                                      <p:tavLst>
                                        <p:tav tm="0">
                                          <p:val>
                                            <p:strVal val="#ppt_x"/>
                                          </p:val>
                                        </p:tav>
                                        <p:tav tm="100000">
                                          <p:val>
                                            <p:strVal val="#ppt_x"/>
                                          </p:val>
                                        </p:tav>
                                      </p:tavLst>
                                    </p:anim>
                                    <p:anim calcmode="lin" valueType="num">
                                      <p:cBhvr additive="base">
                                        <p:cTn id="63" dur="500" fill="hold"/>
                                        <p:tgtEl>
                                          <p:spTgt spid="39"/>
                                        </p:tgtEl>
                                        <p:attrNameLst>
                                          <p:attrName>ppt_y</p:attrName>
                                        </p:attrNameLst>
                                      </p:cBhvr>
                                      <p:tavLst>
                                        <p:tav tm="0">
                                          <p:val>
                                            <p:strVal val="#ppt_y+0.1"/>
                                          </p:val>
                                        </p:tav>
                                        <p:tav tm="100000">
                                          <p:val>
                                            <p:strVal val="#ppt_y"/>
                                          </p:val>
                                        </p:tav>
                                      </p:tavLst>
                                    </p:anim>
                                    <p:animEffect transition="in" filter="fade">
                                      <p:cBhvr>
                                        <p:cTn id="64" dur="500"/>
                                        <p:tgtEl>
                                          <p:spTgt spid="39"/>
                                        </p:tgtEl>
                                      </p:cBhvr>
                                    </p:animEffect>
                                  </p:childTnLst>
                                </p:cTn>
                              </p:par>
                              <p:par>
                                <p:cTn id="70" presetID="2" presetClass="entr" presetSubtype="4" fill="hold" grpId="0" nodeType="withEffect">
                                  <p:stCondLst>
                                    <p:cond delay="300"/>
                                  </p:stCondLst>
                                  <p:childTnLst>
                                    <p:set>
                                      <p:cBhvr>
                                        <p:cTn id="66" dur="1" fill="hold">
                                          <p:stCondLst>
                                            <p:cond delay="0"/>
                                          </p:stCondLst>
                                        </p:cTn>
                                        <p:tgtEl>
                                          <p:spTgt spid="40"/>
                                        </p:tgtEl>
                                        <p:attrNameLst>
                                          <p:attrName>style.visibility</p:attrName>
                                        </p:attrNameLst>
                                      </p:cBhvr>
                                      <p:to>
                                        <p:strVal val="visible"/>
                                      </p:to>
                                    </p:set>
                                    <p:anim calcmode="lin" valueType="num">
                                      <p:cBhvr additive="base">
                                        <p:cTn id="67" dur="500" fill="hold"/>
                                        <p:tgtEl>
                                          <p:spTgt spid="40"/>
                                        </p:tgtEl>
                                        <p:attrNameLst>
                                          <p:attrName>ppt_x</p:attrName>
                                        </p:attrNameLst>
                                      </p:cBhvr>
                                      <p:tavLst>
                                        <p:tav tm="0">
                                          <p:val>
                                            <p:strVal val="#ppt_x"/>
                                          </p:val>
                                        </p:tav>
                                        <p:tav tm="100000">
                                          <p:val>
                                            <p:strVal val="#ppt_x"/>
                                          </p:val>
                                        </p:tav>
                                      </p:tavLst>
                                    </p:anim>
                                    <p:anim calcmode="lin" valueType="num">
                                      <p:cBhvr additive="base">
                                        <p:cTn id="68" dur="500" fill="hold"/>
                                        <p:tgtEl>
                                          <p:spTgt spid="40"/>
                                        </p:tgtEl>
                                        <p:attrNameLst>
                                          <p:attrName>ppt_y</p:attrName>
                                        </p:attrNameLst>
                                      </p:cBhvr>
                                      <p:tavLst>
                                        <p:tav tm="0">
                                          <p:val>
                                            <p:strVal val="#ppt_y+0.1"/>
                                          </p:val>
                                        </p:tav>
                                        <p:tav tm="100000">
                                          <p:val>
                                            <p:strVal val="#ppt_y"/>
                                          </p:val>
                                        </p:tav>
                                      </p:tavLst>
                                    </p:anim>
                                    <p:animEffect transition="in" filter="fade">
                                      <p:cBhvr>
                                        <p:cTn id="69" dur="500"/>
                                        <p:tgtEl>
                                          <p:spTgt spid="40"/>
                                        </p:tgtEl>
                                      </p:cBhvr>
                                    </p:animEffect>
                                  </p:childTnLst>
                                </p:cTn>
                              </p:par>
                              <p:par>
                                <p:cTn id="73" presetID="22" presetClass="entr" presetSubtype="8" fill="hold" grpId="0" nodeType="withEffect">
                                  <p:stCondLst>
                                    <p:cond delay="350"/>
                                  </p:stCondLst>
                                  <p:childTnLst>
                                    <p:set>
                                      <p:cBhvr>
                                        <p:cTn id="71" dur="1" fill="hold">
                                          <p:stCondLst>
                                            <p:cond delay="0"/>
                                          </p:stCondLst>
                                        </p:cTn>
                                        <p:tgtEl>
                                          <p:spTgt spid="25"/>
                                        </p:tgtEl>
                                        <p:attrNameLst>
                                          <p:attrName>style.visibility</p:attrName>
                                        </p:attrNameLst>
                                      </p:cBhvr>
                                      <p:to>
                                        <p:strVal val="visible"/>
                                      </p:to>
                                    </p:set>
                                    <p:animEffect transition="in" filter="wipe(left)">
                                      <p:cBhvr>
                                        <p:cTn id="72" dur="500"/>
                                        <p:tgtEl>
                                          <p:spTgt spid="25"/>
                                        </p:tgtEl>
                                      </p:cBhvr>
                                    </p:animEffect>
                                  </p:childTnLst>
                                </p:cTn>
                              </p:par>
                              <p:par>
                                <p:cTn id="76" presetID="22" presetClass="entr" presetSubtype="8" fill="hold" grpId="0" nodeType="withEffect">
                                  <p:stCondLst>
                                    <p:cond delay="350"/>
                                  </p:stCondLst>
                                  <p:childTnLst>
                                    <p:set>
                                      <p:cBhvr>
                                        <p:cTn id="74" dur="1" fill="hold">
                                          <p:stCondLst>
                                            <p:cond delay="0"/>
                                          </p:stCondLst>
                                        </p:cTn>
                                        <p:tgtEl>
                                          <p:spTgt spid="26"/>
                                        </p:tgtEl>
                                        <p:attrNameLst>
                                          <p:attrName>style.visibility</p:attrName>
                                        </p:attrNameLst>
                                      </p:cBhvr>
                                      <p:to>
                                        <p:strVal val="visible"/>
                                      </p:to>
                                    </p:set>
                                    <p:animEffect transition="in" filter="wipe(left)">
                                      <p:cBhvr>
                                        <p:cTn id="75" dur="500"/>
                                        <p:tgtEl>
                                          <p:spTgt spid="26"/>
                                        </p:tgtEl>
                                      </p:cBhvr>
                                    </p:animEffect>
                                  </p:childTnLst>
                                </p:cTn>
                              </p:par>
                              <p:par>
                                <p:cTn id="79" presetID="22" presetClass="entr" presetSubtype="8" fill="hold" grpId="0" nodeType="withEffect">
                                  <p:stCondLst>
                                    <p:cond delay="400"/>
                                  </p:stCondLst>
                                  <p:childTnLst>
                                    <p:set>
                                      <p:cBhvr>
                                        <p:cTn id="77" dur="1" fill="hold">
                                          <p:stCondLst>
                                            <p:cond delay="0"/>
                                          </p:stCondLst>
                                        </p:cTn>
                                        <p:tgtEl>
                                          <p:spTgt spid="27"/>
                                        </p:tgtEl>
                                        <p:attrNameLst>
                                          <p:attrName>style.visibility</p:attrName>
                                        </p:attrNameLst>
                                      </p:cBhvr>
                                      <p:to>
                                        <p:strVal val="visible"/>
                                      </p:to>
                                    </p:set>
                                    <p:animEffect transition="in" filter="wipe(left)">
                                      <p:cBhvr>
                                        <p:cTn id="78" dur="500"/>
                                        <p:tgtEl>
                                          <p:spTgt spid="27"/>
                                        </p:tgtEl>
                                      </p:cBhvr>
                                    </p:animEffect>
                                  </p:childTnLst>
                                </p:cTn>
                              </p:par>
                              <p:par>
                                <p:cTn id="82" presetID="22" presetClass="entr" presetSubtype="8" fill="hold" grpId="0" nodeType="withEffect">
                                  <p:stCondLst>
                                    <p:cond delay="400"/>
                                  </p:stCondLst>
                                  <p:childTnLst>
                                    <p:set>
                                      <p:cBhvr>
                                        <p:cTn id="80" dur="1" fill="hold">
                                          <p:stCondLst>
                                            <p:cond delay="0"/>
                                          </p:stCondLst>
                                        </p:cTn>
                                        <p:tgtEl>
                                          <p:spTgt spid="28"/>
                                        </p:tgtEl>
                                        <p:attrNameLst>
                                          <p:attrName>style.visibility</p:attrName>
                                        </p:attrNameLst>
                                      </p:cBhvr>
                                      <p:to>
                                        <p:strVal val="visible"/>
                                      </p:to>
                                    </p:set>
                                    <p:animEffect transition="in" filter="wipe(left)">
                                      <p:cBhvr>
                                        <p:cTn id="81" dur="500"/>
                                        <p:tgtEl>
                                          <p:spTgt spid="28"/>
                                        </p:tgtEl>
                                      </p:cBhvr>
                                    </p:animEffect>
                                  </p:childTnLst>
                                </p:cTn>
                              </p:par>
                              <p:par>
                                <p:cTn id="85" presetID="22" presetClass="entr" presetSubtype="8" fill="hold" grpId="0" nodeType="withEffect">
                                  <p:stCondLst>
                                    <p:cond delay="450"/>
                                  </p:stCondLst>
                                  <p:childTnLst>
                                    <p:set>
                                      <p:cBhvr>
                                        <p:cTn id="83" dur="1" fill="hold">
                                          <p:stCondLst>
                                            <p:cond delay="0"/>
                                          </p:stCondLst>
                                        </p:cTn>
                                        <p:tgtEl>
                                          <p:spTgt spid="31"/>
                                        </p:tgtEl>
                                        <p:attrNameLst>
                                          <p:attrName>style.visibility</p:attrName>
                                        </p:attrNameLst>
                                      </p:cBhvr>
                                      <p:to>
                                        <p:strVal val="visible"/>
                                      </p:to>
                                    </p:set>
                                    <p:animEffect transition="in" filter="wipe(left)">
                                      <p:cBhvr>
                                        <p:cTn id="84" dur="500"/>
                                        <p:tgtEl>
                                          <p:spTgt spid="31"/>
                                        </p:tgtEl>
                                      </p:cBhvr>
                                    </p:animEffect>
                                  </p:childTnLst>
                                </p:cTn>
                              </p:par>
                              <p:par>
                                <p:cTn id="88" presetID="22" presetClass="entr" presetSubtype="8" fill="hold" grpId="0" nodeType="withEffect">
                                  <p:stCondLst>
                                    <p:cond delay="450"/>
                                  </p:stCondLst>
                                  <p:childTnLst>
                                    <p:set>
                                      <p:cBhvr>
                                        <p:cTn id="86" dur="1" fill="hold">
                                          <p:stCondLst>
                                            <p:cond delay="0"/>
                                          </p:stCondLst>
                                        </p:cTn>
                                        <p:tgtEl>
                                          <p:spTgt spid="32"/>
                                        </p:tgtEl>
                                        <p:attrNameLst>
                                          <p:attrName>style.visibility</p:attrName>
                                        </p:attrNameLst>
                                      </p:cBhvr>
                                      <p:to>
                                        <p:strVal val="visible"/>
                                      </p:to>
                                    </p:set>
                                    <p:animEffect transition="in" filter="wipe(left)">
                                      <p:cBhvr>
                                        <p:cTn id="87" dur="500"/>
                                        <p:tgtEl>
                                          <p:spTgt spid="32"/>
                                        </p:tgtEl>
                                      </p:cBhvr>
                                    </p:animEffect>
                                  </p:childTnLst>
                                </p:cTn>
                              </p:par>
                              <p:par>
                                <p:cTn id="93" presetID="2" presetClass="entr" presetSubtype="4" fill="hold" grpId="0" nodeType="withEffect">
                                  <p:stCondLst>
                                    <p:cond delay="500"/>
                                  </p:stCondLst>
                                  <p:childTnLst>
                                    <p:set>
                                      <p:cBhvr>
                                        <p:cTn id="89" dur="1" fill="hold">
                                          <p:stCondLst>
                                            <p:cond delay="0"/>
                                          </p:stCondLst>
                                        </p:cTn>
                                        <p:tgtEl>
                                          <p:spTgt spid="41"/>
                                        </p:tgtEl>
                                        <p:attrNameLst>
                                          <p:attrName>style.visibility</p:attrName>
                                        </p:attrNameLst>
                                      </p:cBhvr>
                                      <p:to>
                                        <p:strVal val="visible"/>
                                      </p:to>
                                    </p:set>
                                    <p:anim calcmode="lin" valueType="num">
                                      <p:cBhvr additive="base">
                                        <p:cTn id="90" dur="500" fill="hold"/>
                                        <p:tgtEl>
                                          <p:spTgt spid="41"/>
                                        </p:tgtEl>
                                        <p:attrNameLst>
                                          <p:attrName>ppt_x</p:attrName>
                                        </p:attrNameLst>
                                      </p:cBhvr>
                                      <p:tavLst>
                                        <p:tav tm="0">
                                          <p:val>
                                            <p:strVal val="#ppt_x"/>
                                          </p:val>
                                        </p:tav>
                                        <p:tav tm="100000">
                                          <p:val>
                                            <p:strVal val="#ppt_x"/>
                                          </p:val>
                                        </p:tav>
                                      </p:tavLst>
                                    </p:anim>
                                    <p:anim calcmode="lin" valueType="num">
                                      <p:cBhvr additive="base">
                                        <p:cTn id="91" dur="500" fill="hold"/>
                                        <p:tgtEl>
                                          <p:spTgt spid="41"/>
                                        </p:tgtEl>
                                        <p:attrNameLst>
                                          <p:attrName>ppt_y</p:attrName>
                                        </p:attrNameLst>
                                      </p:cBhvr>
                                      <p:tavLst>
                                        <p:tav tm="0">
                                          <p:val>
                                            <p:strVal val="#ppt_y+0.1"/>
                                          </p:val>
                                        </p:tav>
                                        <p:tav tm="100000">
                                          <p:val>
                                            <p:strVal val="#ppt_y"/>
                                          </p:val>
                                        </p:tav>
                                      </p:tavLst>
                                    </p:anim>
                                    <p:animEffect transition="in" filter="fade">
                                      <p:cBhvr>
                                        <p:cTn id="92" dur="500"/>
                                        <p:tgtEl>
                                          <p:spTgt spid="41"/>
                                        </p:tgtEl>
                                      </p:cBhvr>
                                    </p:animEffect>
                                  </p:childTnLst>
                                </p:cTn>
                              </p:par>
                              <p:par>
                                <p:cTn id="98" presetID="2" presetClass="entr" presetSubtype="4" fill="hold" grpId="0" nodeType="withEffect">
                                  <p:stCondLst>
                                    <p:cond delay="500"/>
                                  </p:stCondLst>
                                  <p:childTnLst>
                                    <p:set>
                                      <p:cBhvr>
                                        <p:cTn id="94" dur="1" fill="hold">
                                          <p:stCondLst>
                                            <p:cond delay="0"/>
                                          </p:stCondLst>
                                        </p:cTn>
                                        <p:tgtEl>
                                          <p:spTgt spid="42"/>
                                        </p:tgtEl>
                                        <p:attrNameLst>
                                          <p:attrName>style.visibility</p:attrName>
                                        </p:attrNameLst>
                                      </p:cBhvr>
                                      <p:to>
                                        <p:strVal val="visible"/>
                                      </p:to>
                                    </p:set>
                                    <p:anim calcmode="lin" valueType="num">
                                      <p:cBhvr additive="base">
                                        <p:cTn id="95" dur="500" fill="hold"/>
                                        <p:tgtEl>
                                          <p:spTgt spid="42"/>
                                        </p:tgtEl>
                                        <p:attrNameLst>
                                          <p:attrName>ppt_x</p:attrName>
                                        </p:attrNameLst>
                                      </p:cBhvr>
                                      <p:tavLst>
                                        <p:tav tm="0">
                                          <p:val>
                                            <p:strVal val="#ppt_x"/>
                                          </p:val>
                                        </p:tav>
                                        <p:tav tm="100000">
                                          <p:val>
                                            <p:strVal val="#ppt_x"/>
                                          </p:val>
                                        </p:tav>
                                      </p:tavLst>
                                    </p:anim>
                                    <p:anim calcmode="lin" valueType="num">
                                      <p:cBhvr additive="base">
                                        <p:cTn id="96" dur="500" fill="hold"/>
                                        <p:tgtEl>
                                          <p:spTgt spid="42"/>
                                        </p:tgtEl>
                                        <p:attrNameLst>
                                          <p:attrName>ppt_y</p:attrName>
                                        </p:attrNameLst>
                                      </p:cBhvr>
                                      <p:tavLst>
                                        <p:tav tm="0">
                                          <p:val>
                                            <p:strVal val="#ppt_y+0.1"/>
                                          </p:val>
                                        </p:tav>
                                        <p:tav tm="100000">
                                          <p:val>
                                            <p:strVal val="#ppt_y"/>
                                          </p:val>
                                        </p:tav>
                                      </p:tavLst>
                                    </p:anim>
                                    <p:animEffect transition="in" filter="fade">
                                      <p:cBhvr>
                                        <p:cTn id="97" dur="500"/>
                                        <p:tgtEl>
                                          <p:spTgt spid="42"/>
                                        </p:tgtEl>
                                      </p:cBhvr>
                                    </p:animEffect>
                                  </p:childTnLst>
                                </p:cTn>
                              </p:par>
                            </p:childTnLst>
                          </p:cTn>
                        </p:par>
                      </p:childTnLst>
                    </p:cTn>
                  </p:par>
                  <p:par>
                    <p:cTn id="99" fill="hold">
                      <p:stCondLst>
                        <p:cond delay="indefinite"/>
                      </p:stCondLst>
                      <p:childTnLst>
                        <p:par>
                          <p:cTn id="100" fill="hold">
                            <p:stCondLst>
                              <p:cond delay="0"/>
                            </p:stCondLst>
                            <p:childTnLst>
                              <p:par>
                                <p:cTn id="105" presetID="2" presetClass="entr" presetSubtype="4" fill="hold" grpId="0" nodeType="clickEffect">
                                  <p:stCondLst>
                                    <p:cond delay="0"/>
                                  </p:stCondLst>
                                  <p:childTnLst>
                                    <p:set>
                                      <p:cBhvr>
                                        <p:cTn id="101" dur="1" fill="hold">
                                          <p:stCondLst>
                                            <p:cond delay="0"/>
                                          </p:stCondLst>
                                        </p:cTn>
                                        <p:tgtEl>
                                          <p:spTgt spid="43"/>
                                        </p:tgtEl>
                                        <p:attrNameLst>
                                          <p:attrName>style.visibility</p:attrName>
                                        </p:attrNameLst>
                                      </p:cBhvr>
                                      <p:to>
                                        <p:strVal val="visible"/>
                                      </p:to>
                                    </p:set>
                                    <p:anim calcmode="lin" valueType="num">
                                      <p:cBhvr additive="base">
                                        <p:cTn id="102" dur="500" fill="hold"/>
                                        <p:tgtEl>
                                          <p:spTgt spid="43"/>
                                        </p:tgtEl>
                                        <p:attrNameLst>
                                          <p:attrName>ppt_x</p:attrName>
                                        </p:attrNameLst>
                                      </p:cBhvr>
                                      <p:tavLst>
                                        <p:tav tm="0">
                                          <p:val>
                                            <p:strVal val="#ppt_x"/>
                                          </p:val>
                                        </p:tav>
                                        <p:tav tm="100000">
                                          <p:val>
                                            <p:strVal val="#ppt_x"/>
                                          </p:val>
                                        </p:tav>
                                      </p:tavLst>
                                    </p:anim>
                                    <p:anim calcmode="lin" valueType="num">
                                      <p:cBhvr additive="base">
                                        <p:cTn id="103" dur="500" fill="hold"/>
                                        <p:tgtEl>
                                          <p:spTgt spid="43"/>
                                        </p:tgtEl>
                                        <p:attrNameLst>
                                          <p:attrName>ppt_y</p:attrName>
                                        </p:attrNameLst>
                                      </p:cBhvr>
                                      <p:tavLst>
                                        <p:tav tm="0">
                                          <p:val>
                                            <p:strVal val="#ppt_y+0.1"/>
                                          </p:val>
                                        </p:tav>
                                        <p:tav tm="100000">
                                          <p:val>
                                            <p:strVal val="#ppt_y"/>
                                          </p:val>
                                        </p:tav>
                                      </p:tavLst>
                                    </p:anim>
                                    <p:animEffect transition="in" filter="fade">
                                      <p:cBhvr>
                                        <p:cTn id="104" dur="500"/>
                                        <p:tgtEl>
                                          <p:spTgt spid="43"/>
                                        </p:tgtEl>
                                      </p:cBhvr>
                                    </p:animEffect>
                                  </p:childTnLst>
                                </p:cTn>
                              </p:par>
                              <p:par>
                                <p:cTn id="110" presetID="2" presetClass="entr" presetSubtype="4" fill="hold" grpId="0" nodeType="withEffect">
                                  <p:stCondLst>
                                    <p:cond delay="0"/>
                                  </p:stCondLst>
                                  <p:childTnLst>
                                    <p:set>
                                      <p:cBhvr>
                                        <p:cTn id="106" dur="1" fill="hold">
                                          <p:stCondLst>
                                            <p:cond delay="0"/>
                                          </p:stCondLst>
                                        </p:cTn>
                                        <p:tgtEl>
                                          <p:spTgt spid="44"/>
                                        </p:tgtEl>
                                        <p:attrNameLst>
                                          <p:attrName>style.visibility</p:attrName>
                                        </p:attrNameLst>
                                      </p:cBhvr>
                                      <p:to>
                                        <p:strVal val="visible"/>
                                      </p:to>
                                    </p:set>
                                    <p:anim calcmode="lin" valueType="num">
                                      <p:cBhvr additive="base">
                                        <p:cTn id="107" dur="500" fill="hold"/>
                                        <p:tgtEl>
                                          <p:spTgt spid="44"/>
                                        </p:tgtEl>
                                        <p:attrNameLst>
                                          <p:attrName>ppt_x</p:attrName>
                                        </p:attrNameLst>
                                      </p:cBhvr>
                                      <p:tavLst>
                                        <p:tav tm="0">
                                          <p:val>
                                            <p:strVal val="#ppt_x"/>
                                          </p:val>
                                        </p:tav>
                                        <p:tav tm="100000">
                                          <p:val>
                                            <p:strVal val="#ppt_x"/>
                                          </p:val>
                                        </p:tav>
                                      </p:tavLst>
                                    </p:anim>
                                    <p:anim calcmode="lin" valueType="num">
                                      <p:cBhvr additive="base">
                                        <p:cTn id="108" dur="500" fill="hold"/>
                                        <p:tgtEl>
                                          <p:spTgt spid="44"/>
                                        </p:tgtEl>
                                        <p:attrNameLst>
                                          <p:attrName>ppt_y</p:attrName>
                                        </p:attrNameLst>
                                      </p:cBhvr>
                                      <p:tavLst>
                                        <p:tav tm="0">
                                          <p:val>
                                            <p:strVal val="#ppt_y+0.1"/>
                                          </p:val>
                                        </p:tav>
                                        <p:tav tm="100000">
                                          <p:val>
                                            <p:strVal val="#ppt_y"/>
                                          </p:val>
                                        </p:tav>
                                      </p:tavLst>
                                    </p:anim>
                                    <p:animEffect transition="in" filter="fade">
                                      <p:cBhvr>
                                        <p:cTn id="109" dur="500"/>
                                        <p:tgtEl>
                                          <p:spTgt spid="44"/>
                                        </p:tgtEl>
                                      </p:cBhvr>
                                    </p:animEffect>
                                  </p:childTnLst>
                                </p:cTn>
                              </p:par>
                            </p:childTnLst>
                          </p:cTn>
                        </p:par>
                      </p:childTnLst>
                    </p:cTn>
                  </p:par>
                  <p:par>
                    <p:cTn id="111" fill="hold">
                      <p:stCondLst>
                        <p:cond delay="indefinite"/>
                      </p:stCondLst>
                      <p:childTnLst>
                        <p:par>
                          <p:cTn id="112" fill="hold">
                            <p:stCondLst>
                              <p:cond delay="0"/>
                            </p:stCondLst>
                            <p:childTnLst>
                              <p:par>
                                <p:cTn id="117" presetID="2" presetClass="entr" presetSubtype="4" fill="hold" grpId="0" nodeType="clickEffect">
                                  <p:stCondLst>
                                    <p:cond delay="200"/>
                                  </p:stCondLst>
                                  <p:childTnLst>
                                    <p:set>
                                      <p:cBhvr>
                                        <p:cTn id="113" dur="1" fill="hold">
                                          <p:stCondLst>
                                            <p:cond delay="0"/>
                                          </p:stCondLst>
                                        </p:cTn>
                                        <p:tgtEl>
                                          <p:spTgt spid="29"/>
                                        </p:tgtEl>
                                        <p:attrNameLst>
                                          <p:attrName>style.visibility</p:attrName>
                                        </p:attrNameLst>
                                      </p:cBhvr>
                                      <p:to>
                                        <p:strVal val="visible"/>
                                      </p:to>
                                    </p:set>
                                    <p:anim calcmode="lin" valueType="num">
                                      <p:cBhvr additive="base">
                                        <p:cTn id="114" dur="500" fill="hold"/>
                                        <p:tgtEl>
                                          <p:spTgt spid="29"/>
                                        </p:tgtEl>
                                        <p:attrNameLst>
                                          <p:attrName>ppt_x</p:attrName>
                                        </p:attrNameLst>
                                      </p:cBhvr>
                                      <p:tavLst>
                                        <p:tav tm="0">
                                          <p:val>
                                            <p:strVal val="#ppt_x"/>
                                          </p:val>
                                        </p:tav>
                                        <p:tav tm="100000">
                                          <p:val>
                                            <p:strVal val="#ppt_x"/>
                                          </p:val>
                                        </p:tav>
                                      </p:tavLst>
                                    </p:anim>
                                    <p:anim calcmode="lin" valueType="num">
                                      <p:cBhvr additive="base">
                                        <p:cTn id="115" dur="500" fill="hold"/>
                                        <p:tgtEl>
                                          <p:spTgt spid="29"/>
                                        </p:tgtEl>
                                        <p:attrNameLst>
                                          <p:attrName>ppt_y</p:attrName>
                                        </p:attrNameLst>
                                      </p:cBhvr>
                                      <p:tavLst>
                                        <p:tav tm="0">
                                          <p:val>
                                            <p:strVal val="#ppt_y+0.1"/>
                                          </p:val>
                                        </p:tav>
                                        <p:tav tm="100000">
                                          <p:val>
                                            <p:strVal val="#ppt_y"/>
                                          </p:val>
                                        </p:tav>
                                      </p:tavLst>
                                    </p:anim>
                                    <p:animEffect transition="in" filter="fade">
                                      <p:cBhvr>
                                        <p:cTn id="116" dur="500"/>
                                        <p:tgtEl>
                                          <p:spTgt spid="29"/>
                                        </p:tgtEl>
                                      </p:cBhvr>
                                    </p:animEffect>
                                  </p:childTnLst>
                                </p:cTn>
                              </p:par>
                              <p:par>
                                <p:cTn id="122" presetID="2" presetClass="entr" presetSubtype="4" fill="hold" grpId="0" nodeType="withEffect">
                                  <p:stCondLst>
                                    <p:cond delay="200"/>
                                  </p:stCondLst>
                                  <p:childTnLst>
                                    <p:set>
                                      <p:cBhvr>
                                        <p:cTn id="118" dur="1" fill="hold">
                                          <p:stCondLst>
                                            <p:cond delay="0"/>
                                          </p:stCondLst>
                                        </p:cTn>
                                        <p:tgtEl>
                                          <p:spTgt spid="30"/>
                                        </p:tgtEl>
                                        <p:attrNameLst>
                                          <p:attrName>style.visibility</p:attrName>
                                        </p:attrNameLst>
                                      </p:cBhvr>
                                      <p:to>
                                        <p:strVal val="visible"/>
                                      </p:to>
                                    </p:set>
                                    <p:anim calcmode="lin" valueType="num">
                                      <p:cBhvr additive="base">
                                        <p:cTn id="119" dur="500" fill="hold"/>
                                        <p:tgtEl>
                                          <p:spTgt spid="30"/>
                                        </p:tgtEl>
                                        <p:attrNameLst>
                                          <p:attrName>ppt_x</p:attrName>
                                        </p:attrNameLst>
                                      </p:cBhvr>
                                      <p:tavLst>
                                        <p:tav tm="0">
                                          <p:val>
                                            <p:strVal val="#ppt_x"/>
                                          </p:val>
                                        </p:tav>
                                        <p:tav tm="100000">
                                          <p:val>
                                            <p:strVal val="#ppt_x"/>
                                          </p:val>
                                        </p:tav>
                                      </p:tavLst>
                                    </p:anim>
                                    <p:anim calcmode="lin" valueType="num">
                                      <p:cBhvr additive="base">
                                        <p:cTn id="120" dur="500" fill="hold"/>
                                        <p:tgtEl>
                                          <p:spTgt spid="30"/>
                                        </p:tgtEl>
                                        <p:attrNameLst>
                                          <p:attrName>ppt_y</p:attrName>
                                        </p:attrNameLst>
                                      </p:cBhvr>
                                      <p:tavLst>
                                        <p:tav tm="0">
                                          <p:val>
                                            <p:strVal val="#ppt_y+0.1"/>
                                          </p:val>
                                        </p:tav>
                                        <p:tav tm="100000">
                                          <p:val>
                                            <p:strVal val="#ppt_y"/>
                                          </p:val>
                                        </p:tav>
                                      </p:tavLst>
                                    </p:anim>
                                    <p:animEffect transition="in" filter="fade">
                                      <p:cBhvr>
                                        <p:cTn id="121" dur="500"/>
                                        <p:tgtEl>
                                          <p:spTgt spid="30"/>
                                        </p:tgtEl>
                                      </p:cBhvr>
                                    </p:animEffect>
                                  </p:childTnLst>
                                </p:cTn>
                              </p:par>
                              <p:par>
                                <p:cTn id="127" presetID="2" presetClass="entr" presetSubtype="4" fill="hold" grpId="0" nodeType="withEffect">
                                  <p:stCondLst>
                                    <p:cond delay="200"/>
                                  </p:stCondLst>
                                  <p:childTnLst>
                                    <p:set>
                                      <p:cBhvr>
                                        <p:cTn id="123" dur="1" fill="hold">
                                          <p:stCondLst>
                                            <p:cond delay="0"/>
                                          </p:stCondLst>
                                        </p:cTn>
                                        <p:tgtEl>
                                          <p:spTgt spid="33"/>
                                        </p:tgtEl>
                                        <p:attrNameLst>
                                          <p:attrName>style.visibility</p:attrName>
                                        </p:attrNameLst>
                                      </p:cBhvr>
                                      <p:to>
                                        <p:strVal val="visible"/>
                                      </p:to>
                                    </p:set>
                                    <p:anim calcmode="lin" valueType="num">
                                      <p:cBhvr additive="base">
                                        <p:cTn id="124" dur="500" fill="hold"/>
                                        <p:tgtEl>
                                          <p:spTgt spid="33"/>
                                        </p:tgtEl>
                                        <p:attrNameLst>
                                          <p:attrName>ppt_x</p:attrName>
                                        </p:attrNameLst>
                                      </p:cBhvr>
                                      <p:tavLst>
                                        <p:tav tm="0">
                                          <p:val>
                                            <p:strVal val="#ppt_x"/>
                                          </p:val>
                                        </p:tav>
                                        <p:tav tm="100000">
                                          <p:val>
                                            <p:strVal val="#ppt_x"/>
                                          </p:val>
                                        </p:tav>
                                      </p:tavLst>
                                    </p:anim>
                                    <p:anim calcmode="lin" valueType="num">
                                      <p:cBhvr additive="base">
                                        <p:cTn id="125" dur="500" fill="hold"/>
                                        <p:tgtEl>
                                          <p:spTgt spid="33"/>
                                        </p:tgtEl>
                                        <p:attrNameLst>
                                          <p:attrName>ppt_y</p:attrName>
                                        </p:attrNameLst>
                                      </p:cBhvr>
                                      <p:tavLst>
                                        <p:tav tm="0">
                                          <p:val>
                                            <p:strVal val="#ppt_y+0.1"/>
                                          </p:val>
                                        </p:tav>
                                        <p:tav tm="100000">
                                          <p:val>
                                            <p:strVal val="#ppt_y"/>
                                          </p:val>
                                        </p:tav>
                                      </p:tavLst>
                                    </p:anim>
                                    <p:animEffect transition="in" filter="fade">
                                      <p:cBhvr>
                                        <p:cTn id="126" dur="500"/>
                                        <p:tgtEl>
                                          <p:spTgt spid="33"/>
                                        </p:tgtEl>
                                      </p:cBhvr>
                                    </p:animEffect>
                                  </p:childTnLst>
                                </p:cTn>
                              </p:par>
                              <p:par>
                                <p:cTn id="132" presetID="2" presetClass="entr" presetSubtype="4" fill="hold" grpId="0" nodeType="withEffect">
                                  <p:stCondLst>
                                    <p:cond delay="200"/>
                                  </p:stCondLst>
                                  <p:childTnLst>
                                    <p:set>
                                      <p:cBhvr>
                                        <p:cTn id="128" dur="1" fill="hold">
                                          <p:stCondLst>
                                            <p:cond delay="0"/>
                                          </p:stCondLst>
                                        </p:cTn>
                                        <p:tgtEl>
                                          <p:spTgt spid="34"/>
                                        </p:tgtEl>
                                        <p:attrNameLst>
                                          <p:attrName>style.visibility</p:attrName>
                                        </p:attrNameLst>
                                      </p:cBhvr>
                                      <p:to>
                                        <p:strVal val="visible"/>
                                      </p:to>
                                    </p:set>
                                    <p:anim calcmode="lin" valueType="num">
                                      <p:cBhvr additive="base">
                                        <p:cTn id="129" dur="500" fill="hold"/>
                                        <p:tgtEl>
                                          <p:spTgt spid="34"/>
                                        </p:tgtEl>
                                        <p:attrNameLst>
                                          <p:attrName>ppt_x</p:attrName>
                                        </p:attrNameLst>
                                      </p:cBhvr>
                                      <p:tavLst>
                                        <p:tav tm="0">
                                          <p:val>
                                            <p:strVal val="#ppt_x"/>
                                          </p:val>
                                        </p:tav>
                                        <p:tav tm="100000">
                                          <p:val>
                                            <p:strVal val="#ppt_x"/>
                                          </p:val>
                                        </p:tav>
                                      </p:tavLst>
                                    </p:anim>
                                    <p:anim calcmode="lin" valueType="num">
                                      <p:cBhvr additive="base">
                                        <p:cTn id="130" dur="500" fill="hold"/>
                                        <p:tgtEl>
                                          <p:spTgt spid="34"/>
                                        </p:tgtEl>
                                        <p:attrNameLst>
                                          <p:attrName>ppt_y</p:attrName>
                                        </p:attrNameLst>
                                      </p:cBhvr>
                                      <p:tavLst>
                                        <p:tav tm="0">
                                          <p:val>
                                            <p:strVal val="#ppt_y+0.1"/>
                                          </p:val>
                                        </p:tav>
                                        <p:tav tm="100000">
                                          <p:val>
                                            <p:strVal val="#ppt_y"/>
                                          </p:val>
                                        </p:tav>
                                      </p:tavLst>
                                    </p:anim>
                                    <p:animEffect transition="in" filter="fade">
                                      <p:cBhvr>
                                        <p:cTn id="131" dur="500"/>
                                        <p:tgtEl>
                                          <p:spTgt spid="34"/>
                                        </p:tgtEl>
                                      </p:cBhvr>
                                    </p:animEffect>
                                  </p:childTnLst>
                                </p:cTn>
                              </p:par>
                              <p:par>
                                <p:cTn id="137" presetID="2" presetClass="entr" presetSubtype="4" fill="hold" grpId="0" nodeType="withEffect">
                                  <p:stCondLst>
                                    <p:cond delay="200"/>
                                  </p:stCondLst>
                                  <p:childTnLst>
                                    <p:set>
                                      <p:cBhvr>
                                        <p:cTn id="133" dur="1" fill="hold">
                                          <p:stCondLst>
                                            <p:cond delay="0"/>
                                          </p:stCondLst>
                                        </p:cTn>
                                        <p:tgtEl>
                                          <p:spTgt spid="45"/>
                                        </p:tgtEl>
                                        <p:attrNameLst>
                                          <p:attrName>style.visibility</p:attrName>
                                        </p:attrNameLst>
                                      </p:cBhvr>
                                      <p:to>
                                        <p:strVal val="visible"/>
                                      </p:to>
                                    </p:set>
                                    <p:anim calcmode="lin" valueType="num">
                                      <p:cBhvr additive="base">
                                        <p:cTn id="134" dur="500" fill="hold"/>
                                        <p:tgtEl>
                                          <p:spTgt spid="45"/>
                                        </p:tgtEl>
                                        <p:attrNameLst>
                                          <p:attrName>ppt_x</p:attrName>
                                        </p:attrNameLst>
                                      </p:cBhvr>
                                      <p:tavLst>
                                        <p:tav tm="0">
                                          <p:val>
                                            <p:strVal val="#ppt_x"/>
                                          </p:val>
                                        </p:tav>
                                        <p:tav tm="100000">
                                          <p:val>
                                            <p:strVal val="#ppt_x"/>
                                          </p:val>
                                        </p:tav>
                                      </p:tavLst>
                                    </p:anim>
                                    <p:anim calcmode="lin" valueType="num">
                                      <p:cBhvr additive="base">
                                        <p:cTn id="135" dur="500" fill="hold"/>
                                        <p:tgtEl>
                                          <p:spTgt spid="45"/>
                                        </p:tgtEl>
                                        <p:attrNameLst>
                                          <p:attrName>ppt_y</p:attrName>
                                        </p:attrNameLst>
                                      </p:cBhvr>
                                      <p:tavLst>
                                        <p:tav tm="0">
                                          <p:val>
                                            <p:strVal val="#ppt_y+0.1"/>
                                          </p:val>
                                        </p:tav>
                                        <p:tav tm="100000">
                                          <p:val>
                                            <p:strVal val="#ppt_y"/>
                                          </p:val>
                                        </p:tav>
                                      </p:tavLst>
                                    </p:anim>
                                    <p:animEffect transition="in" filter="fade">
                                      <p:cBhvr>
                                        <p:cTn id="136" dur="500"/>
                                        <p:tgtEl>
                                          <p:spTgt spid="45"/>
                                        </p:tgtEl>
                                      </p:cBhvr>
                                    </p:animEffect>
                                  </p:childTnLst>
                                </p:cTn>
                              </p:par>
                            </p:childTnLst>
                          </p:cTn>
                        </p:par>
                      </p:childTnLst>
                    </p:cTn>
                  </p:par>
                  <p:par>
                    <p:cTn id="138" fill="hold">
                      <p:stCondLst>
                        <p:cond delay="indefinite"/>
                      </p:stCondLst>
                      <p:childTnLst>
                        <p:par>
                          <p:cTn id="139" fill="hold">
                            <p:stCondLst>
                              <p:cond delay="0"/>
                            </p:stCondLst>
                            <p:childTnLst>
                              <p:par>
                                <p:cTn id="144" presetID="2" presetClass="entr" presetSubtype="4" fill="hold" grpId="0" nodeType="clickEffect">
                                  <p:stCondLst>
                                    <p:cond delay="0"/>
                                  </p:stCondLst>
                                  <p:childTnLst>
                                    <p:set>
                                      <p:cBhvr>
                                        <p:cTn id="140" dur="1" fill="hold">
                                          <p:stCondLst>
                                            <p:cond delay="0"/>
                                          </p:stCondLst>
                                        </p:cTn>
                                        <p:tgtEl>
                                          <p:spTgt spid="46"/>
                                        </p:tgtEl>
                                        <p:attrNameLst>
                                          <p:attrName>style.visibility</p:attrName>
                                        </p:attrNameLst>
                                      </p:cBhvr>
                                      <p:to>
                                        <p:strVal val="visible"/>
                                      </p:to>
                                    </p:set>
                                    <p:anim calcmode="lin" valueType="num">
                                      <p:cBhvr additive="base">
                                        <p:cTn id="141" dur="500" fill="hold"/>
                                        <p:tgtEl>
                                          <p:spTgt spid="46"/>
                                        </p:tgtEl>
                                        <p:attrNameLst>
                                          <p:attrName>ppt_x</p:attrName>
                                        </p:attrNameLst>
                                      </p:cBhvr>
                                      <p:tavLst>
                                        <p:tav tm="0">
                                          <p:val>
                                            <p:strVal val="#ppt_x"/>
                                          </p:val>
                                        </p:tav>
                                        <p:tav tm="100000">
                                          <p:val>
                                            <p:strVal val="#ppt_x"/>
                                          </p:val>
                                        </p:tav>
                                      </p:tavLst>
                                    </p:anim>
                                    <p:anim calcmode="lin" valueType="num">
                                      <p:cBhvr additive="base">
                                        <p:cTn id="142" dur="500" fill="hold"/>
                                        <p:tgtEl>
                                          <p:spTgt spid="46"/>
                                        </p:tgtEl>
                                        <p:attrNameLst>
                                          <p:attrName>ppt_y</p:attrName>
                                        </p:attrNameLst>
                                      </p:cBhvr>
                                      <p:tavLst>
                                        <p:tav tm="0">
                                          <p:val>
                                            <p:strVal val="#ppt_y+0.1"/>
                                          </p:val>
                                        </p:tav>
                                        <p:tav tm="100000">
                                          <p:val>
                                            <p:strVal val="#ppt_y"/>
                                          </p:val>
                                        </p:tav>
                                      </p:tavLst>
                                    </p:anim>
                                    <p:animEffect transition="in" filter="fade">
                                      <p:cBhvr>
                                        <p:cTn id="143" dur="500"/>
                                        <p:tgtEl>
                                          <p:spTgt spid="46"/>
                                        </p:tgtEl>
                                      </p:cBhvr>
                                    </p:animEffect>
                                  </p:childTnLst>
                                </p:cTn>
                              </p:par>
                              <p:par>
                                <p:cTn id="149" presetID="2" presetClass="entr" presetSubtype="4" fill="hold" grpId="0" nodeType="withEffect">
                                  <p:stCondLst>
                                    <p:cond delay="0"/>
                                  </p:stCondLst>
                                  <p:childTnLst>
                                    <p:set>
                                      <p:cBhvr>
                                        <p:cTn id="145" dur="1" fill="hold">
                                          <p:stCondLst>
                                            <p:cond delay="0"/>
                                          </p:stCondLst>
                                        </p:cTn>
                                        <p:tgtEl>
                                          <p:spTgt spid="47"/>
                                        </p:tgtEl>
                                        <p:attrNameLst>
                                          <p:attrName>style.visibility</p:attrName>
                                        </p:attrNameLst>
                                      </p:cBhvr>
                                      <p:to>
                                        <p:strVal val="visible"/>
                                      </p:to>
                                    </p:set>
                                    <p:anim calcmode="lin" valueType="num">
                                      <p:cBhvr additive="base">
                                        <p:cTn id="146" dur="500" fill="hold"/>
                                        <p:tgtEl>
                                          <p:spTgt spid="47"/>
                                        </p:tgtEl>
                                        <p:attrNameLst>
                                          <p:attrName>ppt_x</p:attrName>
                                        </p:attrNameLst>
                                      </p:cBhvr>
                                      <p:tavLst>
                                        <p:tav tm="0">
                                          <p:val>
                                            <p:strVal val="#ppt_x"/>
                                          </p:val>
                                        </p:tav>
                                        <p:tav tm="100000">
                                          <p:val>
                                            <p:strVal val="#ppt_x"/>
                                          </p:val>
                                        </p:tav>
                                      </p:tavLst>
                                    </p:anim>
                                    <p:anim calcmode="lin" valueType="num">
                                      <p:cBhvr additive="base">
                                        <p:cTn id="147" dur="500" fill="hold"/>
                                        <p:tgtEl>
                                          <p:spTgt spid="47"/>
                                        </p:tgtEl>
                                        <p:attrNameLst>
                                          <p:attrName>ppt_y</p:attrName>
                                        </p:attrNameLst>
                                      </p:cBhvr>
                                      <p:tavLst>
                                        <p:tav tm="0">
                                          <p:val>
                                            <p:strVal val="#ppt_y+0.1"/>
                                          </p:val>
                                        </p:tav>
                                        <p:tav tm="100000">
                                          <p:val>
                                            <p:strVal val="#ppt_y"/>
                                          </p:val>
                                        </p:tav>
                                      </p:tavLst>
                                    </p:anim>
                                    <p:animEffect transition="in" filter="fade">
                                      <p:cBhvr>
                                        <p:cTn id="148" dur="500"/>
                                        <p:tgtEl>
                                          <p:spTgt spid="47"/>
                                        </p:tgtEl>
                                      </p:cBhvr>
                                    </p:animEffect>
                                  </p:childTnLst>
                                </p:cTn>
                              </p:par>
                              <p:par>
                                <p:cTn id="154" presetID="2" presetClass="entr" presetSubtype="4" fill="hold" grpId="0" nodeType="withEffect">
                                  <p:stCondLst>
                                    <p:cond delay="0"/>
                                  </p:stCondLst>
                                  <p:childTnLst>
                                    <p:set>
                                      <p:cBhvr>
                                        <p:cTn id="150" dur="1" fill="hold">
                                          <p:stCondLst>
                                            <p:cond delay="0"/>
                                          </p:stCondLst>
                                        </p:cTn>
                                        <p:tgtEl>
                                          <p:spTgt spid="48"/>
                                        </p:tgtEl>
                                        <p:attrNameLst>
                                          <p:attrName>style.visibility</p:attrName>
                                        </p:attrNameLst>
                                      </p:cBhvr>
                                      <p:to>
                                        <p:strVal val="visible"/>
                                      </p:to>
                                    </p:set>
                                    <p:anim calcmode="lin" valueType="num">
                                      <p:cBhvr additive="base">
                                        <p:cTn id="151" dur="500" fill="hold"/>
                                        <p:tgtEl>
                                          <p:spTgt spid="48"/>
                                        </p:tgtEl>
                                        <p:attrNameLst>
                                          <p:attrName>ppt_x</p:attrName>
                                        </p:attrNameLst>
                                      </p:cBhvr>
                                      <p:tavLst>
                                        <p:tav tm="0">
                                          <p:val>
                                            <p:strVal val="#ppt_x"/>
                                          </p:val>
                                        </p:tav>
                                        <p:tav tm="100000">
                                          <p:val>
                                            <p:strVal val="#ppt_x"/>
                                          </p:val>
                                        </p:tav>
                                      </p:tavLst>
                                    </p:anim>
                                    <p:anim calcmode="lin" valueType="num">
                                      <p:cBhvr additive="base">
                                        <p:cTn id="152" dur="500" fill="hold"/>
                                        <p:tgtEl>
                                          <p:spTgt spid="48"/>
                                        </p:tgtEl>
                                        <p:attrNameLst>
                                          <p:attrName>ppt_y</p:attrName>
                                        </p:attrNameLst>
                                      </p:cBhvr>
                                      <p:tavLst>
                                        <p:tav tm="0">
                                          <p:val>
                                            <p:strVal val="#ppt_y+0.1"/>
                                          </p:val>
                                        </p:tav>
                                        <p:tav tm="100000">
                                          <p:val>
                                            <p:strVal val="#ppt_y"/>
                                          </p:val>
                                        </p:tav>
                                      </p:tavLst>
                                    </p:anim>
                                    <p:animEffect transition="in" filter="fade">
                                      <p:cBhvr>
                                        <p:cTn id="153" dur="500"/>
                                        <p:tgtEl>
                                          <p:spTgt spid="48"/>
                                        </p:tgtEl>
                                      </p:cBhvr>
                                    </p:animEffect>
                                  </p:childTnLst>
                                </p:cTn>
                              </p:par>
                              <p:par>
                                <p:cTn id="159" presetID="2" presetClass="entr" presetSubtype="4" fill="hold" grpId="0" nodeType="withEffect">
                                  <p:stCondLst>
                                    <p:cond delay="0"/>
                                  </p:stCondLst>
                                  <p:childTnLst>
                                    <p:set>
                                      <p:cBhvr>
                                        <p:cTn id="155" dur="1" fill="hold">
                                          <p:stCondLst>
                                            <p:cond delay="0"/>
                                          </p:stCondLst>
                                        </p:cTn>
                                        <p:tgtEl>
                                          <p:spTgt spid="50"/>
                                        </p:tgtEl>
                                        <p:attrNameLst>
                                          <p:attrName>style.visibility</p:attrName>
                                        </p:attrNameLst>
                                      </p:cBhvr>
                                      <p:to>
                                        <p:strVal val="visible"/>
                                      </p:to>
                                    </p:set>
                                    <p:anim calcmode="lin" valueType="num">
                                      <p:cBhvr additive="base">
                                        <p:cTn id="156" dur="500" fill="hold"/>
                                        <p:tgtEl>
                                          <p:spTgt spid="50"/>
                                        </p:tgtEl>
                                        <p:attrNameLst>
                                          <p:attrName>ppt_x</p:attrName>
                                        </p:attrNameLst>
                                      </p:cBhvr>
                                      <p:tavLst>
                                        <p:tav tm="0">
                                          <p:val>
                                            <p:strVal val="#ppt_x"/>
                                          </p:val>
                                        </p:tav>
                                        <p:tav tm="100000">
                                          <p:val>
                                            <p:strVal val="#ppt_x"/>
                                          </p:val>
                                        </p:tav>
                                      </p:tavLst>
                                    </p:anim>
                                    <p:anim calcmode="lin" valueType="num">
                                      <p:cBhvr additive="base">
                                        <p:cTn id="157" dur="500" fill="hold"/>
                                        <p:tgtEl>
                                          <p:spTgt spid="50"/>
                                        </p:tgtEl>
                                        <p:attrNameLst>
                                          <p:attrName>ppt_y</p:attrName>
                                        </p:attrNameLst>
                                      </p:cBhvr>
                                      <p:tavLst>
                                        <p:tav tm="0">
                                          <p:val>
                                            <p:strVal val="#ppt_y+0.1"/>
                                          </p:val>
                                        </p:tav>
                                        <p:tav tm="100000">
                                          <p:val>
                                            <p:strVal val="#ppt_y"/>
                                          </p:val>
                                        </p:tav>
                                      </p:tavLst>
                                    </p:anim>
                                    <p:animEffect transition="in" filter="fade">
                                      <p:cBhvr>
                                        <p:cTn id="158" dur="500"/>
                                        <p:tgtEl>
                                          <p:spTgt spid="50"/>
                                        </p:tgtEl>
                                      </p:cBhvr>
                                    </p:animEffect>
                                  </p:childTnLst>
                                </p:cTn>
                              </p:par>
                              <p:par>
                                <p:cTn id="164" presetID="2" presetClass="entr" presetSubtype="4" fill="hold" grpId="0" nodeType="withEffect">
                                  <p:stCondLst>
                                    <p:cond delay="0"/>
                                  </p:stCondLst>
                                  <p:childTnLst>
                                    <p:set>
                                      <p:cBhvr>
                                        <p:cTn id="160" dur="1" fill="hold">
                                          <p:stCondLst>
                                            <p:cond delay="0"/>
                                          </p:stCondLst>
                                        </p:cTn>
                                        <p:tgtEl>
                                          <p:spTgt spid="51"/>
                                        </p:tgtEl>
                                        <p:attrNameLst>
                                          <p:attrName>style.visibility</p:attrName>
                                        </p:attrNameLst>
                                      </p:cBhvr>
                                      <p:to>
                                        <p:strVal val="visible"/>
                                      </p:to>
                                    </p:set>
                                    <p:anim calcmode="lin" valueType="num">
                                      <p:cBhvr additive="base">
                                        <p:cTn id="161" dur="500" fill="hold"/>
                                        <p:tgtEl>
                                          <p:spTgt spid="51"/>
                                        </p:tgtEl>
                                        <p:attrNameLst>
                                          <p:attrName>ppt_x</p:attrName>
                                        </p:attrNameLst>
                                      </p:cBhvr>
                                      <p:tavLst>
                                        <p:tav tm="0">
                                          <p:val>
                                            <p:strVal val="#ppt_x"/>
                                          </p:val>
                                        </p:tav>
                                        <p:tav tm="100000">
                                          <p:val>
                                            <p:strVal val="#ppt_x"/>
                                          </p:val>
                                        </p:tav>
                                      </p:tavLst>
                                    </p:anim>
                                    <p:anim calcmode="lin" valueType="num">
                                      <p:cBhvr additive="base">
                                        <p:cTn id="162" dur="500" fill="hold"/>
                                        <p:tgtEl>
                                          <p:spTgt spid="51"/>
                                        </p:tgtEl>
                                        <p:attrNameLst>
                                          <p:attrName>ppt_y</p:attrName>
                                        </p:attrNameLst>
                                      </p:cBhvr>
                                      <p:tavLst>
                                        <p:tav tm="0">
                                          <p:val>
                                            <p:strVal val="#ppt_y+0.1"/>
                                          </p:val>
                                        </p:tav>
                                        <p:tav tm="100000">
                                          <p:val>
                                            <p:strVal val="#ppt_y"/>
                                          </p:val>
                                        </p:tav>
                                      </p:tavLst>
                                    </p:anim>
                                    <p:animEffect transition="in" filter="fade">
                                      <p:cBhvr>
                                        <p:cTn id="163" dur="500"/>
                                        <p:tgtEl>
                                          <p:spTgt spid="51"/>
                                        </p:tgtEl>
                                      </p:cBhvr>
                                    </p:animEffect>
                                  </p:childTnLst>
                                </p:cTn>
                              </p:par>
                              <p:par>
                                <p:cTn id="169" presetID="2" presetClass="entr" presetSubtype="4" fill="hold" grpId="0" nodeType="withEffect">
                                  <p:stCondLst>
                                    <p:cond delay="0"/>
                                  </p:stCondLst>
                                  <p:childTnLst>
                                    <p:set>
                                      <p:cBhvr>
                                        <p:cTn id="165" dur="1" fill="hold">
                                          <p:stCondLst>
                                            <p:cond delay="0"/>
                                          </p:stCondLst>
                                        </p:cTn>
                                        <p:tgtEl>
                                          <p:spTgt spid="52"/>
                                        </p:tgtEl>
                                        <p:attrNameLst>
                                          <p:attrName>style.visibility</p:attrName>
                                        </p:attrNameLst>
                                      </p:cBhvr>
                                      <p:to>
                                        <p:strVal val="visible"/>
                                      </p:to>
                                    </p:set>
                                    <p:anim calcmode="lin" valueType="num">
                                      <p:cBhvr additive="base">
                                        <p:cTn id="166" dur="500" fill="hold"/>
                                        <p:tgtEl>
                                          <p:spTgt spid="52"/>
                                        </p:tgtEl>
                                        <p:attrNameLst>
                                          <p:attrName>ppt_x</p:attrName>
                                        </p:attrNameLst>
                                      </p:cBhvr>
                                      <p:tavLst>
                                        <p:tav tm="0">
                                          <p:val>
                                            <p:strVal val="#ppt_x"/>
                                          </p:val>
                                        </p:tav>
                                        <p:tav tm="100000">
                                          <p:val>
                                            <p:strVal val="#ppt_x"/>
                                          </p:val>
                                        </p:tav>
                                      </p:tavLst>
                                    </p:anim>
                                    <p:anim calcmode="lin" valueType="num">
                                      <p:cBhvr additive="base">
                                        <p:cTn id="167" dur="500" fill="hold"/>
                                        <p:tgtEl>
                                          <p:spTgt spid="52"/>
                                        </p:tgtEl>
                                        <p:attrNameLst>
                                          <p:attrName>ppt_y</p:attrName>
                                        </p:attrNameLst>
                                      </p:cBhvr>
                                      <p:tavLst>
                                        <p:tav tm="0">
                                          <p:val>
                                            <p:strVal val="#ppt_y+0.1"/>
                                          </p:val>
                                        </p:tav>
                                        <p:tav tm="100000">
                                          <p:val>
                                            <p:strVal val="#ppt_y"/>
                                          </p:val>
                                        </p:tav>
                                      </p:tavLst>
                                    </p:anim>
                                    <p:animEffect transition="in" filter="fade">
                                      <p:cBhvr>
                                        <p:cTn id="168" dur="500"/>
                                        <p:tgtEl>
                                          <p:spTgt spid="52"/>
                                        </p:tgtEl>
                                      </p:cBhvr>
                                    </p:animEffect>
                                  </p:childTnLst>
                                </p:cTn>
                              </p:par>
                              <p:par>
                                <p:cTn id="174" presetID="2" presetClass="entr" presetSubtype="4" fill="hold" grpId="0" nodeType="withEffect">
                                  <p:stCondLst>
                                    <p:cond delay="0"/>
                                  </p:stCondLst>
                                  <p:childTnLst>
                                    <p:set>
                                      <p:cBhvr>
                                        <p:cTn id="170" dur="1" fill="hold">
                                          <p:stCondLst>
                                            <p:cond delay="0"/>
                                          </p:stCondLst>
                                        </p:cTn>
                                        <p:tgtEl>
                                          <p:spTgt spid="54"/>
                                        </p:tgtEl>
                                        <p:attrNameLst>
                                          <p:attrName>style.visibility</p:attrName>
                                        </p:attrNameLst>
                                      </p:cBhvr>
                                      <p:to>
                                        <p:strVal val="visible"/>
                                      </p:to>
                                    </p:set>
                                    <p:anim calcmode="lin" valueType="num">
                                      <p:cBhvr additive="base">
                                        <p:cTn id="171" dur="500" fill="hold"/>
                                        <p:tgtEl>
                                          <p:spTgt spid="54"/>
                                        </p:tgtEl>
                                        <p:attrNameLst>
                                          <p:attrName>ppt_x</p:attrName>
                                        </p:attrNameLst>
                                      </p:cBhvr>
                                      <p:tavLst>
                                        <p:tav tm="0">
                                          <p:val>
                                            <p:strVal val="#ppt_x"/>
                                          </p:val>
                                        </p:tav>
                                        <p:tav tm="100000">
                                          <p:val>
                                            <p:strVal val="#ppt_x"/>
                                          </p:val>
                                        </p:tav>
                                      </p:tavLst>
                                    </p:anim>
                                    <p:anim calcmode="lin" valueType="num">
                                      <p:cBhvr additive="base">
                                        <p:cTn id="172" dur="500" fill="hold"/>
                                        <p:tgtEl>
                                          <p:spTgt spid="54"/>
                                        </p:tgtEl>
                                        <p:attrNameLst>
                                          <p:attrName>ppt_y</p:attrName>
                                        </p:attrNameLst>
                                      </p:cBhvr>
                                      <p:tavLst>
                                        <p:tav tm="0">
                                          <p:val>
                                            <p:strVal val="#ppt_y+0.1"/>
                                          </p:val>
                                        </p:tav>
                                        <p:tav tm="100000">
                                          <p:val>
                                            <p:strVal val="#ppt_y"/>
                                          </p:val>
                                        </p:tav>
                                      </p:tavLst>
                                    </p:anim>
                                    <p:animEffect transition="in" filter="fade">
                                      <p:cBhvr>
                                        <p:cTn id="173" dur="500"/>
                                        <p:tgtEl>
                                          <p:spTgt spid="54"/>
                                        </p:tgtEl>
                                      </p:cBhvr>
                                    </p:animEffect>
                                  </p:childTnLst>
                                </p:cTn>
                              </p:par>
                              <p:par>
                                <p:cTn id="179" presetID="2" presetClass="entr" presetSubtype="4" fill="hold" grpId="0" nodeType="withEffect">
                                  <p:stCondLst>
                                    <p:cond delay="0"/>
                                  </p:stCondLst>
                                  <p:childTnLst>
                                    <p:set>
                                      <p:cBhvr>
                                        <p:cTn id="175" dur="1" fill="hold">
                                          <p:stCondLst>
                                            <p:cond delay="0"/>
                                          </p:stCondLst>
                                        </p:cTn>
                                        <p:tgtEl>
                                          <p:spTgt spid="55"/>
                                        </p:tgtEl>
                                        <p:attrNameLst>
                                          <p:attrName>style.visibility</p:attrName>
                                        </p:attrNameLst>
                                      </p:cBhvr>
                                      <p:to>
                                        <p:strVal val="visible"/>
                                      </p:to>
                                    </p:set>
                                    <p:anim calcmode="lin" valueType="num">
                                      <p:cBhvr additive="base">
                                        <p:cTn id="176" dur="500" fill="hold"/>
                                        <p:tgtEl>
                                          <p:spTgt spid="55"/>
                                        </p:tgtEl>
                                        <p:attrNameLst>
                                          <p:attrName>ppt_x</p:attrName>
                                        </p:attrNameLst>
                                      </p:cBhvr>
                                      <p:tavLst>
                                        <p:tav tm="0">
                                          <p:val>
                                            <p:strVal val="#ppt_x"/>
                                          </p:val>
                                        </p:tav>
                                        <p:tav tm="100000">
                                          <p:val>
                                            <p:strVal val="#ppt_x"/>
                                          </p:val>
                                        </p:tav>
                                      </p:tavLst>
                                    </p:anim>
                                    <p:anim calcmode="lin" valueType="num">
                                      <p:cBhvr additive="base">
                                        <p:cTn id="177" dur="500" fill="hold"/>
                                        <p:tgtEl>
                                          <p:spTgt spid="55"/>
                                        </p:tgtEl>
                                        <p:attrNameLst>
                                          <p:attrName>ppt_y</p:attrName>
                                        </p:attrNameLst>
                                      </p:cBhvr>
                                      <p:tavLst>
                                        <p:tav tm="0">
                                          <p:val>
                                            <p:strVal val="#ppt_y+0.1"/>
                                          </p:val>
                                        </p:tav>
                                        <p:tav tm="100000">
                                          <p:val>
                                            <p:strVal val="#ppt_y"/>
                                          </p:val>
                                        </p:tav>
                                      </p:tavLst>
                                    </p:anim>
                                    <p:animEffect transition="in" filter="fade">
                                      <p:cBhvr>
                                        <p:cTn id="178" dur="500"/>
                                        <p:tgtEl>
                                          <p:spTgt spid="55"/>
                                        </p:tgtEl>
                                      </p:cBhvr>
                                    </p:animEffect>
                                  </p:childTnLst>
                                </p:cTn>
                              </p:par>
                              <p:par>
                                <p:cTn id="184" presetID="2" presetClass="entr" presetSubtype="4" fill="hold" grpId="0" nodeType="withEffect">
                                  <p:stCondLst>
                                    <p:cond delay="0"/>
                                  </p:stCondLst>
                                  <p:childTnLst>
                                    <p:set>
                                      <p:cBhvr>
                                        <p:cTn id="180" dur="1" fill="hold">
                                          <p:stCondLst>
                                            <p:cond delay="0"/>
                                          </p:stCondLst>
                                        </p:cTn>
                                        <p:tgtEl>
                                          <p:spTgt spid="56"/>
                                        </p:tgtEl>
                                        <p:attrNameLst>
                                          <p:attrName>style.visibility</p:attrName>
                                        </p:attrNameLst>
                                      </p:cBhvr>
                                      <p:to>
                                        <p:strVal val="visible"/>
                                      </p:to>
                                    </p:set>
                                    <p:anim calcmode="lin" valueType="num">
                                      <p:cBhvr additive="base">
                                        <p:cTn id="181" dur="500" fill="hold"/>
                                        <p:tgtEl>
                                          <p:spTgt spid="56"/>
                                        </p:tgtEl>
                                        <p:attrNameLst>
                                          <p:attrName>ppt_x</p:attrName>
                                        </p:attrNameLst>
                                      </p:cBhvr>
                                      <p:tavLst>
                                        <p:tav tm="0">
                                          <p:val>
                                            <p:strVal val="#ppt_x"/>
                                          </p:val>
                                        </p:tav>
                                        <p:tav tm="100000">
                                          <p:val>
                                            <p:strVal val="#ppt_x"/>
                                          </p:val>
                                        </p:tav>
                                      </p:tavLst>
                                    </p:anim>
                                    <p:anim calcmode="lin" valueType="num">
                                      <p:cBhvr additive="base">
                                        <p:cTn id="182" dur="500" fill="hold"/>
                                        <p:tgtEl>
                                          <p:spTgt spid="56"/>
                                        </p:tgtEl>
                                        <p:attrNameLst>
                                          <p:attrName>ppt_y</p:attrName>
                                        </p:attrNameLst>
                                      </p:cBhvr>
                                      <p:tavLst>
                                        <p:tav tm="0">
                                          <p:val>
                                            <p:strVal val="#ppt_y+0.1"/>
                                          </p:val>
                                        </p:tav>
                                        <p:tav tm="100000">
                                          <p:val>
                                            <p:strVal val="#ppt_y"/>
                                          </p:val>
                                        </p:tav>
                                      </p:tavLst>
                                    </p:anim>
                                    <p:animEffect transition="in" filter="fade">
                                      <p:cBhvr>
                                        <p:cTn id="183" dur="500"/>
                                        <p:tgtEl>
                                          <p:spTgt spid="56"/>
                                        </p:tgtEl>
                                      </p:cBhvr>
                                    </p:animEffect>
                                  </p:childTnLst>
                                </p:cTn>
                              </p:par>
                              <p:par>
                                <p:cTn id="189" presetID="2" presetClass="entr" presetSubtype="4" fill="hold" grpId="0" nodeType="withEffect">
                                  <p:stCondLst>
                                    <p:cond delay="60"/>
                                  </p:stCondLst>
                                  <p:childTnLst>
                                    <p:set>
                                      <p:cBhvr>
                                        <p:cTn id="185" dur="1" fill="hold">
                                          <p:stCondLst>
                                            <p:cond delay="0"/>
                                          </p:stCondLst>
                                        </p:cTn>
                                        <p:tgtEl>
                                          <p:spTgt spid="49"/>
                                        </p:tgtEl>
                                        <p:attrNameLst>
                                          <p:attrName>style.visibility</p:attrName>
                                        </p:attrNameLst>
                                      </p:cBhvr>
                                      <p:to>
                                        <p:strVal val="visible"/>
                                      </p:to>
                                    </p:set>
                                    <p:anim calcmode="lin" valueType="num">
                                      <p:cBhvr additive="base">
                                        <p:cTn id="186" dur="500" fill="hold"/>
                                        <p:tgtEl>
                                          <p:spTgt spid="49"/>
                                        </p:tgtEl>
                                        <p:attrNameLst>
                                          <p:attrName>ppt_x</p:attrName>
                                        </p:attrNameLst>
                                      </p:cBhvr>
                                      <p:tavLst>
                                        <p:tav tm="0">
                                          <p:val>
                                            <p:strVal val="#ppt_x"/>
                                          </p:val>
                                        </p:tav>
                                        <p:tav tm="100000">
                                          <p:val>
                                            <p:strVal val="#ppt_x"/>
                                          </p:val>
                                        </p:tav>
                                      </p:tavLst>
                                    </p:anim>
                                    <p:anim calcmode="lin" valueType="num">
                                      <p:cBhvr additive="base">
                                        <p:cTn id="187" dur="500" fill="hold"/>
                                        <p:tgtEl>
                                          <p:spTgt spid="49"/>
                                        </p:tgtEl>
                                        <p:attrNameLst>
                                          <p:attrName>ppt_y</p:attrName>
                                        </p:attrNameLst>
                                      </p:cBhvr>
                                      <p:tavLst>
                                        <p:tav tm="0">
                                          <p:val>
                                            <p:strVal val="#ppt_y+0.1"/>
                                          </p:val>
                                        </p:tav>
                                        <p:tav tm="100000">
                                          <p:val>
                                            <p:strVal val="#ppt_y"/>
                                          </p:val>
                                        </p:tav>
                                      </p:tavLst>
                                    </p:anim>
                                    <p:animEffect transition="in" filter="fade">
                                      <p:cBhvr>
                                        <p:cTn id="188" dur="500"/>
                                        <p:tgtEl>
                                          <p:spTgt spid="49"/>
                                        </p:tgtEl>
                                      </p:cBhvr>
                                    </p:animEffect>
                                  </p:childTnLst>
                                </p:cTn>
                              </p:par>
                              <p:par>
                                <p:cTn id="194" presetID="2" presetClass="entr" presetSubtype="4" fill="hold" grpId="0" nodeType="withEffect">
                                  <p:stCondLst>
                                    <p:cond delay="60"/>
                                  </p:stCondLst>
                                  <p:childTnLst>
                                    <p:set>
                                      <p:cBhvr>
                                        <p:cTn id="190" dur="1" fill="hold">
                                          <p:stCondLst>
                                            <p:cond delay="0"/>
                                          </p:stCondLst>
                                        </p:cTn>
                                        <p:tgtEl>
                                          <p:spTgt spid="53"/>
                                        </p:tgtEl>
                                        <p:attrNameLst>
                                          <p:attrName>style.visibility</p:attrName>
                                        </p:attrNameLst>
                                      </p:cBhvr>
                                      <p:to>
                                        <p:strVal val="visible"/>
                                      </p:to>
                                    </p:set>
                                    <p:anim calcmode="lin" valueType="num">
                                      <p:cBhvr additive="base">
                                        <p:cTn id="191" dur="500" fill="hold"/>
                                        <p:tgtEl>
                                          <p:spTgt spid="53"/>
                                        </p:tgtEl>
                                        <p:attrNameLst>
                                          <p:attrName>ppt_x</p:attrName>
                                        </p:attrNameLst>
                                      </p:cBhvr>
                                      <p:tavLst>
                                        <p:tav tm="0">
                                          <p:val>
                                            <p:strVal val="#ppt_x"/>
                                          </p:val>
                                        </p:tav>
                                        <p:tav tm="100000">
                                          <p:val>
                                            <p:strVal val="#ppt_x"/>
                                          </p:val>
                                        </p:tav>
                                      </p:tavLst>
                                    </p:anim>
                                    <p:anim calcmode="lin" valueType="num">
                                      <p:cBhvr additive="base">
                                        <p:cTn id="192" dur="500" fill="hold"/>
                                        <p:tgtEl>
                                          <p:spTgt spid="53"/>
                                        </p:tgtEl>
                                        <p:attrNameLst>
                                          <p:attrName>ppt_y</p:attrName>
                                        </p:attrNameLst>
                                      </p:cBhvr>
                                      <p:tavLst>
                                        <p:tav tm="0">
                                          <p:val>
                                            <p:strVal val="#ppt_y+0.1"/>
                                          </p:val>
                                        </p:tav>
                                        <p:tav tm="100000">
                                          <p:val>
                                            <p:strVal val="#ppt_y"/>
                                          </p:val>
                                        </p:tav>
                                      </p:tavLst>
                                    </p:anim>
                                    <p:animEffect transition="in" filter="fade">
                                      <p:cBhvr>
                                        <p:cTn id="193" dur="500"/>
                                        <p:tgtEl>
                                          <p:spTgt spid="53"/>
                                        </p:tgtEl>
                                      </p:cBhvr>
                                    </p:animEffect>
                                  </p:childTnLst>
                                </p:cTn>
                              </p:par>
                              <p:par>
                                <p:cTn id="199" presetID="2" presetClass="entr" presetSubtype="4" fill="hold" grpId="0" nodeType="withEffect">
                                  <p:stCondLst>
                                    <p:cond delay="60"/>
                                  </p:stCondLst>
                                  <p:childTnLst>
                                    <p:set>
                                      <p:cBhvr>
                                        <p:cTn id="195" dur="1" fill="hold">
                                          <p:stCondLst>
                                            <p:cond delay="0"/>
                                          </p:stCondLst>
                                        </p:cTn>
                                        <p:tgtEl>
                                          <p:spTgt spid="57"/>
                                        </p:tgtEl>
                                        <p:attrNameLst>
                                          <p:attrName>style.visibility</p:attrName>
                                        </p:attrNameLst>
                                      </p:cBhvr>
                                      <p:to>
                                        <p:strVal val="visible"/>
                                      </p:to>
                                    </p:set>
                                    <p:anim calcmode="lin" valueType="num">
                                      <p:cBhvr additive="base">
                                        <p:cTn id="196" dur="500" fill="hold"/>
                                        <p:tgtEl>
                                          <p:spTgt spid="57"/>
                                        </p:tgtEl>
                                        <p:attrNameLst>
                                          <p:attrName>ppt_x</p:attrName>
                                        </p:attrNameLst>
                                      </p:cBhvr>
                                      <p:tavLst>
                                        <p:tav tm="0">
                                          <p:val>
                                            <p:strVal val="#ppt_x"/>
                                          </p:val>
                                        </p:tav>
                                        <p:tav tm="100000">
                                          <p:val>
                                            <p:strVal val="#ppt_x"/>
                                          </p:val>
                                        </p:tav>
                                      </p:tavLst>
                                    </p:anim>
                                    <p:anim calcmode="lin" valueType="num">
                                      <p:cBhvr additive="base">
                                        <p:cTn id="197" dur="500" fill="hold"/>
                                        <p:tgtEl>
                                          <p:spTgt spid="57"/>
                                        </p:tgtEl>
                                        <p:attrNameLst>
                                          <p:attrName>ppt_y</p:attrName>
                                        </p:attrNameLst>
                                      </p:cBhvr>
                                      <p:tavLst>
                                        <p:tav tm="0">
                                          <p:val>
                                            <p:strVal val="#ppt_y+0.1"/>
                                          </p:val>
                                        </p:tav>
                                        <p:tav tm="100000">
                                          <p:val>
                                            <p:strVal val="#ppt_y"/>
                                          </p:val>
                                        </p:tav>
                                      </p:tavLst>
                                    </p:anim>
                                    <p:animEffect transition="in" filter="fade">
                                      <p:cBhvr>
                                        <p:cTn id="198" dur="500"/>
                                        <p:tgtEl>
                                          <p:spTgt spid="57"/>
                                        </p:tgtEl>
                                      </p:cBhvr>
                                    </p:animEffect>
                                  </p:childTnLst>
                                </p:cTn>
                              </p:par>
                            </p:childTnLst>
                          </p:cTn>
                        </p:par>
                      </p:childTnLst>
                    </p:cTn>
                  </p:par>
                  <p:par>
                    <p:cTn id="200" fill="hold">
                      <p:stCondLst>
                        <p:cond delay="indefinite"/>
                      </p:stCondLst>
                      <p:childTnLst>
                        <p:par>
                          <p:cTn id="201" fill="hold">
                            <p:stCondLst>
                              <p:cond delay="0"/>
                            </p:stCondLst>
                            <p:childTnLst>
                              <p:par>
                                <p:cTn id="206" presetID="2" presetClass="entr" presetSubtype="4" fill="hold" grpId="0" nodeType="clickEffect">
                                  <p:stCondLst>
                                    <p:cond delay="0"/>
                                  </p:stCondLst>
                                  <p:childTnLst>
                                    <p:set>
                                      <p:cBhvr>
                                        <p:cTn id="202" dur="1" fill="hold">
                                          <p:stCondLst>
                                            <p:cond delay="0"/>
                                          </p:stCondLst>
                                        </p:cTn>
                                        <p:tgtEl>
                                          <p:spTgt spid="58"/>
                                        </p:tgtEl>
                                        <p:attrNameLst>
                                          <p:attrName>style.visibility</p:attrName>
                                        </p:attrNameLst>
                                      </p:cBhvr>
                                      <p:to>
                                        <p:strVal val="visible"/>
                                      </p:to>
                                    </p:set>
                                    <p:anim calcmode="lin" valueType="num">
                                      <p:cBhvr additive="base">
                                        <p:cTn id="203" dur="500" fill="hold"/>
                                        <p:tgtEl>
                                          <p:spTgt spid="58"/>
                                        </p:tgtEl>
                                        <p:attrNameLst>
                                          <p:attrName>ppt_x</p:attrName>
                                        </p:attrNameLst>
                                      </p:cBhvr>
                                      <p:tavLst>
                                        <p:tav tm="0">
                                          <p:val>
                                            <p:strVal val="#ppt_x"/>
                                          </p:val>
                                        </p:tav>
                                        <p:tav tm="100000">
                                          <p:val>
                                            <p:strVal val="#ppt_x"/>
                                          </p:val>
                                        </p:tav>
                                      </p:tavLst>
                                    </p:anim>
                                    <p:anim calcmode="lin" valueType="num">
                                      <p:cBhvr additive="base">
                                        <p:cTn id="204" dur="500" fill="hold"/>
                                        <p:tgtEl>
                                          <p:spTgt spid="58"/>
                                        </p:tgtEl>
                                        <p:attrNameLst>
                                          <p:attrName>ppt_y</p:attrName>
                                        </p:attrNameLst>
                                      </p:cBhvr>
                                      <p:tavLst>
                                        <p:tav tm="0">
                                          <p:val>
                                            <p:strVal val="#ppt_y+0.1"/>
                                          </p:val>
                                        </p:tav>
                                        <p:tav tm="100000">
                                          <p:val>
                                            <p:strVal val="#ppt_y"/>
                                          </p:val>
                                        </p:tav>
                                      </p:tavLst>
                                    </p:anim>
                                    <p:animEffect transition="in" filter="fade">
                                      <p:cBhvr>
                                        <p:cTn id="205" dur="500"/>
                                        <p:tgtEl>
                                          <p:spTgt spid="58"/>
                                        </p:tgtEl>
                                      </p:cBhvr>
                                    </p:animEffect>
                                  </p:childTnLst>
                                </p:cTn>
                              </p:par>
                              <p:par>
                                <p:cTn id="211" presetID="2" presetClass="entr" presetSubtype="4" fill="hold" grpId="0" nodeType="withEffect">
                                  <p:stCondLst>
                                    <p:cond delay="0"/>
                                  </p:stCondLst>
                                  <p:childTnLst>
                                    <p:set>
                                      <p:cBhvr>
                                        <p:cTn id="207" dur="1" fill="hold">
                                          <p:stCondLst>
                                            <p:cond delay="0"/>
                                          </p:stCondLst>
                                        </p:cTn>
                                        <p:tgtEl>
                                          <p:spTgt spid="59"/>
                                        </p:tgtEl>
                                        <p:attrNameLst>
                                          <p:attrName>style.visibility</p:attrName>
                                        </p:attrNameLst>
                                      </p:cBhvr>
                                      <p:to>
                                        <p:strVal val="visible"/>
                                      </p:to>
                                    </p:set>
                                    <p:anim calcmode="lin" valueType="num">
                                      <p:cBhvr additive="base">
                                        <p:cTn id="208" dur="500" fill="hold"/>
                                        <p:tgtEl>
                                          <p:spTgt spid="59"/>
                                        </p:tgtEl>
                                        <p:attrNameLst>
                                          <p:attrName>ppt_x</p:attrName>
                                        </p:attrNameLst>
                                      </p:cBhvr>
                                      <p:tavLst>
                                        <p:tav tm="0">
                                          <p:val>
                                            <p:strVal val="#ppt_x"/>
                                          </p:val>
                                        </p:tav>
                                        <p:tav tm="100000">
                                          <p:val>
                                            <p:strVal val="#ppt_x"/>
                                          </p:val>
                                        </p:tav>
                                      </p:tavLst>
                                    </p:anim>
                                    <p:anim calcmode="lin" valueType="num">
                                      <p:cBhvr additive="base">
                                        <p:cTn id="209" dur="500" fill="hold"/>
                                        <p:tgtEl>
                                          <p:spTgt spid="59"/>
                                        </p:tgtEl>
                                        <p:attrNameLst>
                                          <p:attrName>ppt_y</p:attrName>
                                        </p:attrNameLst>
                                      </p:cBhvr>
                                      <p:tavLst>
                                        <p:tav tm="0">
                                          <p:val>
                                            <p:strVal val="#ppt_y+0.1"/>
                                          </p:val>
                                        </p:tav>
                                        <p:tav tm="100000">
                                          <p:val>
                                            <p:strVal val="#ppt_y"/>
                                          </p:val>
                                        </p:tav>
                                      </p:tavLst>
                                    </p:anim>
                                    <p:animEffect transition="in" filter="fade">
                                      <p:cBhvr>
                                        <p:cTn id="210" dur="500"/>
                                        <p:tgtEl>
                                          <p:spTgt spid="59"/>
                                        </p:tgtEl>
                                      </p:cBhvr>
                                    </p:animEffect>
                                  </p:childTnLst>
                                </p:cTn>
                              </p:par>
                              <p:par>
                                <p:cTn id="216" presetID="2" presetClass="entr" presetSubtype="4" fill="hold" grpId="0" nodeType="withEffect">
                                  <p:stCondLst>
                                    <p:cond delay="0"/>
                                  </p:stCondLst>
                                  <p:childTnLst>
                                    <p:set>
                                      <p:cBhvr>
                                        <p:cTn id="212" dur="1" fill="hold">
                                          <p:stCondLst>
                                            <p:cond delay="0"/>
                                          </p:stCondLst>
                                        </p:cTn>
                                        <p:tgtEl>
                                          <p:spTgt spid="60"/>
                                        </p:tgtEl>
                                        <p:attrNameLst>
                                          <p:attrName>style.visibility</p:attrName>
                                        </p:attrNameLst>
                                      </p:cBhvr>
                                      <p:to>
                                        <p:strVal val="visible"/>
                                      </p:to>
                                    </p:set>
                                    <p:anim calcmode="lin" valueType="num">
                                      <p:cBhvr additive="base">
                                        <p:cTn id="213" dur="500" fill="hold"/>
                                        <p:tgtEl>
                                          <p:spTgt spid="60"/>
                                        </p:tgtEl>
                                        <p:attrNameLst>
                                          <p:attrName>ppt_x</p:attrName>
                                        </p:attrNameLst>
                                      </p:cBhvr>
                                      <p:tavLst>
                                        <p:tav tm="0">
                                          <p:val>
                                            <p:strVal val="#ppt_x"/>
                                          </p:val>
                                        </p:tav>
                                        <p:tav tm="100000">
                                          <p:val>
                                            <p:strVal val="#ppt_x"/>
                                          </p:val>
                                        </p:tav>
                                      </p:tavLst>
                                    </p:anim>
                                    <p:anim calcmode="lin" valueType="num">
                                      <p:cBhvr additive="base">
                                        <p:cTn id="214" dur="500" fill="hold"/>
                                        <p:tgtEl>
                                          <p:spTgt spid="60"/>
                                        </p:tgtEl>
                                        <p:attrNameLst>
                                          <p:attrName>ppt_y</p:attrName>
                                        </p:attrNameLst>
                                      </p:cBhvr>
                                      <p:tavLst>
                                        <p:tav tm="0">
                                          <p:val>
                                            <p:strVal val="#ppt_y+0.1"/>
                                          </p:val>
                                        </p:tav>
                                        <p:tav tm="100000">
                                          <p:val>
                                            <p:strVal val="#ppt_y"/>
                                          </p:val>
                                        </p:tav>
                                      </p:tavLst>
                                    </p:anim>
                                    <p:animEffect transition="in" filter="fade">
                                      <p:cBhvr>
                                        <p:cTn id="215"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A Consumer Handles One Message at a Time</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Consumer A reads a three-partition topic - single-threaded, one message after another</a:t>
            </a:r>
          </a:p>
        </p:txBody>
      </p:sp>
      <p:sp>
        <p:nvSpPr>
          <p:cNvPr id="11" name="a0f_pn10"/>
          <p:cNvSpPr txBox="1"/>
          <p:nvPr/>
        </p:nvSpPr>
        <p:spPr>
          <a:xfrm>
            <a:off x="457200" y="1417320"/>
            <a:ext cx="411480" cy="365760"/>
          </a:xfrm>
          <a:prstGeom prst="rect">
            <a:avLst/>
          </a:prstGeom>
          <a:noFill/>
        </p:spPr>
        <p:txBody>
          <a:bodyPr wrap="square" lIns="0" tIns="0" rIns="0" bIns="0" anchor="ctr">
            <a:spAutoFit/>
          </a:bodyPr>
          <a:lstStyle/>
          <a:p>
            <a:pPr algn="l"/>
            <a:r>
              <a:rPr sz="1000" b="1">
                <a:solidFill>
                  <a:srgbClr val="0E7490"/>
                </a:solidFill>
                <a:latin typeface="Consolas"/>
              </a:rPr>
              <a:t>P0</a:t>
            </a:r>
          </a:p>
        </p:txBody>
      </p:sp>
      <p:sp>
        <p:nvSpPr>
          <p:cNvPr id="12" name="a0f_cell11"/>
          <p:cNvSpPr/>
          <p:nvPr/>
        </p:nvSpPr>
        <p:spPr>
          <a:xfrm>
            <a:off x="868680" y="1417320"/>
            <a:ext cx="402336" cy="365760"/>
          </a:xfrm>
          <a:prstGeom prst="rect">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0f_cellt12"/>
          <p:cNvSpPr txBox="1"/>
          <p:nvPr/>
        </p:nvSpPr>
        <p:spPr>
          <a:xfrm>
            <a:off x="868680" y="1417320"/>
            <a:ext cx="402336" cy="365760"/>
          </a:xfrm>
          <a:prstGeom prst="rect">
            <a:avLst/>
          </a:prstGeom>
          <a:noFill/>
        </p:spPr>
        <p:txBody>
          <a:bodyPr wrap="square" lIns="0" tIns="0" rIns="0" bIns="0" anchor="ctr">
            <a:spAutoFit/>
          </a:bodyPr>
          <a:lstStyle/>
          <a:p>
            <a:pPr algn="ctr"/>
            <a:r>
              <a:rPr sz="900" b="1">
                <a:solidFill>
                  <a:srgbClr val="0E7490"/>
                </a:solidFill>
                <a:latin typeface="Consolas"/>
              </a:rPr>
              <a:t>0</a:t>
            </a:r>
          </a:p>
        </p:txBody>
      </p:sp>
      <p:sp>
        <p:nvSpPr>
          <p:cNvPr id="14" name="a0f_cell13"/>
          <p:cNvSpPr/>
          <p:nvPr/>
        </p:nvSpPr>
        <p:spPr>
          <a:xfrm>
            <a:off x="1271016" y="1417320"/>
            <a:ext cx="402336" cy="365760"/>
          </a:xfrm>
          <a:prstGeom prst="rect">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0f_cellt14"/>
          <p:cNvSpPr txBox="1"/>
          <p:nvPr/>
        </p:nvSpPr>
        <p:spPr>
          <a:xfrm>
            <a:off x="1271016" y="1417320"/>
            <a:ext cx="402336" cy="365760"/>
          </a:xfrm>
          <a:prstGeom prst="rect">
            <a:avLst/>
          </a:prstGeom>
          <a:noFill/>
        </p:spPr>
        <p:txBody>
          <a:bodyPr wrap="square" lIns="0" tIns="0" rIns="0" bIns="0" anchor="ctr">
            <a:spAutoFit/>
          </a:bodyPr>
          <a:lstStyle/>
          <a:p>
            <a:pPr algn="ctr"/>
            <a:r>
              <a:rPr sz="900" b="1">
                <a:solidFill>
                  <a:srgbClr val="0E7490"/>
                </a:solidFill>
                <a:latin typeface="Consolas"/>
              </a:rPr>
              <a:t>1</a:t>
            </a:r>
          </a:p>
        </p:txBody>
      </p:sp>
      <p:sp>
        <p:nvSpPr>
          <p:cNvPr id="16" name="a0f_cell15"/>
          <p:cNvSpPr/>
          <p:nvPr/>
        </p:nvSpPr>
        <p:spPr>
          <a:xfrm>
            <a:off x="1673352" y="1417320"/>
            <a:ext cx="402336" cy="365760"/>
          </a:xfrm>
          <a:prstGeom prst="rect">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0f_cellt16"/>
          <p:cNvSpPr txBox="1"/>
          <p:nvPr/>
        </p:nvSpPr>
        <p:spPr>
          <a:xfrm>
            <a:off x="1673352" y="1417320"/>
            <a:ext cx="402336" cy="365760"/>
          </a:xfrm>
          <a:prstGeom prst="rect">
            <a:avLst/>
          </a:prstGeom>
          <a:noFill/>
        </p:spPr>
        <p:txBody>
          <a:bodyPr wrap="square" lIns="0" tIns="0" rIns="0" bIns="0" anchor="ctr">
            <a:spAutoFit/>
          </a:bodyPr>
          <a:lstStyle/>
          <a:p>
            <a:pPr algn="ctr"/>
            <a:r>
              <a:rPr sz="900" b="1">
                <a:solidFill>
                  <a:srgbClr val="0E7490"/>
                </a:solidFill>
                <a:latin typeface="Consolas"/>
              </a:rPr>
              <a:t>2</a:t>
            </a:r>
          </a:p>
        </p:txBody>
      </p:sp>
      <p:sp>
        <p:nvSpPr>
          <p:cNvPr id="18" name="a0f_cell17"/>
          <p:cNvSpPr/>
          <p:nvPr/>
        </p:nvSpPr>
        <p:spPr>
          <a:xfrm>
            <a:off x="2075688" y="1417320"/>
            <a:ext cx="402336" cy="365760"/>
          </a:xfrm>
          <a:prstGeom prst="rect">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0f_cellt18"/>
          <p:cNvSpPr txBox="1"/>
          <p:nvPr/>
        </p:nvSpPr>
        <p:spPr>
          <a:xfrm>
            <a:off x="2075688" y="1417320"/>
            <a:ext cx="402336" cy="365760"/>
          </a:xfrm>
          <a:prstGeom prst="rect">
            <a:avLst/>
          </a:prstGeom>
          <a:noFill/>
        </p:spPr>
        <p:txBody>
          <a:bodyPr wrap="square" lIns="0" tIns="0" rIns="0" bIns="0" anchor="ctr">
            <a:spAutoFit/>
          </a:bodyPr>
          <a:lstStyle/>
          <a:p>
            <a:pPr algn="ctr"/>
            <a:r>
              <a:rPr sz="900" b="1">
                <a:solidFill>
                  <a:srgbClr val="0E7490"/>
                </a:solidFill>
                <a:latin typeface="Consolas"/>
              </a:rPr>
              <a:t>3</a:t>
            </a:r>
          </a:p>
        </p:txBody>
      </p:sp>
      <p:sp>
        <p:nvSpPr>
          <p:cNvPr id="20" name="a0f_cell19"/>
          <p:cNvSpPr/>
          <p:nvPr/>
        </p:nvSpPr>
        <p:spPr>
          <a:xfrm>
            <a:off x="2478024" y="1417320"/>
            <a:ext cx="402336" cy="365760"/>
          </a:xfrm>
          <a:prstGeom prst="rect">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0f_cellt20"/>
          <p:cNvSpPr txBox="1"/>
          <p:nvPr/>
        </p:nvSpPr>
        <p:spPr>
          <a:xfrm>
            <a:off x="2478024" y="1417320"/>
            <a:ext cx="402336" cy="365760"/>
          </a:xfrm>
          <a:prstGeom prst="rect">
            <a:avLst/>
          </a:prstGeom>
          <a:noFill/>
        </p:spPr>
        <p:txBody>
          <a:bodyPr wrap="square" lIns="0" tIns="0" rIns="0" bIns="0" anchor="ctr">
            <a:spAutoFit/>
          </a:bodyPr>
          <a:lstStyle/>
          <a:p>
            <a:pPr algn="ctr"/>
            <a:r>
              <a:rPr sz="900" b="1">
                <a:solidFill>
                  <a:srgbClr val="0E7490"/>
                </a:solidFill>
                <a:latin typeface="Consolas"/>
              </a:rPr>
              <a:t>4</a:t>
            </a:r>
          </a:p>
        </p:txBody>
      </p:sp>
      <p:cxnSp>
        <p:nvCxnSpPr>
          <p:cNvPr id="22" name="a1u_wr21"/>
          <p:cNvCxnSpPr/>
          <p:nvPr/>
        </p:nvCxnSpPr>
        <p:spPr>
          <a:xfrm>
            <a:off x="2898648" y="1600200"/>
            <a:ext cx="347472" cy="0"/>
          </a:xfrm>
          <a:prstGeom prst="line">
            <a:avLst/>
          </a:prstGeom>
          <a:ln w="15875">
            <a:solidFill>
              <a:srgbClr val="78716C"/>
            </a:solidFill>
          </a:ln>
        </p:spPr>
        <p:style>
          <a:lnRef idx="2">
            <a:schemeClr val="accent1"/>
          </a:lnRef>
          <a:fillRef idx="0">
            <a:schemeClr val="accent1"/>
          </a:fillRef>
          <a:effectRef idx="1">
            <a:schemeClr val="accent1"/>
          </a:effectRef>
          <a:fontRef idx="minor">
            <a:schemeClr val="tx1"/>
          </a:fontRef>
        </p:style>
      </p:cxnSp>
      <p:sp>
        <p:nvSpPr>
          <p:cNvPr id="23" name="a0f_pn22"/>
          <p:cNvSpPr txBox="1"/>
          <p:nvPr/>
        </p:nvSpPr>
        <p:spPr>
          <a:xfrm>
            <a:off x="457200" y="1920240"/>
            <a:ext cx="411480" cy="365760"/>
          </a:xfrm>
          <a:prstGeom prst="rect">
            <a:avLst/>
          </a:prstGeom>
          <a:noFill/>
        </p:spPr>
        <p:txBody>
          <a:bodyPr wrap="square" lIns="0" tIns="0" rIns="0" bIns="0" anchor="ctr">
            <a:spAutoFit/>
          </a:bodyPr>
          <a:lstStyle/>
          <a:p>
            <a:pPr algn="l"/>
            <a:r>
              <a:rPr sz="1000" b="1">
                <a:solidFill>
                  <a:srgbClr val="4F46E5"/>
                </a:solidFill>
                <a:latin typeface="Consolas"/>
              </a:rPr>
              <a:t>P1</a:t>
            </a:r>
          </a:p>
        </p:txBody>
      </p:sp>
      <p:sp>
        <p:nvSpPr>
          <p:cNvPr id="24" name="a0f_cell23"/>
          <p:cNvSpPr/>
          <p:nvPr/>
        </p:nvSpPr>
        <p:spPr>
          <a:xfrm>
            <a:off x="868680" y="1920240"/>
            <a:ext cx="402336" cy="365760"/>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0f_cellt24"/>
          <p:cNvSpPr txBox="1"/>
          <p:nvPr/>
        </p:nvSpPr>
        <p:spPr>
          <a:xfrm>
            <a:off x="868680" y="1920240"/>
            <a:ext cx="402336" cy="365760"/>
          </a:xfrm>
          <a:prstGeom prst="rect">
            <a:avLst/>
          </a:prstGeom>
          <a:noFill/>
        </p:spPr>
        <p:txBody>
          <a:bodyPr wrap="square" lIns="0" tIns="0" rIns="0" bIns="0" anchor="ctr">
            <a:spAutoFit/>
          </a:bodyPr>
          <a:lstStyle/>
          <a:p>
            <a:pPr algn="ctr"/>
            <a:r>
              <a:rPr sz="900" b="1">
                <a:solidFill>
                  <a:srgbClr val="4F46E5"/>
                </a:solidFill>
                <a:latin typeface="Consolas"/>
              </a:rPr>
              <a:t>0</a:t>
            </a:r>
          </a:p>
        </p:txBody>
      </p:sp>
      <p:sp>
        <p:nvSpPr>
          <p:cNvPr id="26" name="a0f_cell25"/>
          <p:cNvSpPr/>
          <p:nvPr/>
        </p:nvSpPr>
        <p:spPr>
          <a:xfrm>
            <a:off x="1271016" y="1920240"/>
            <a:ext cx="402336" cy="365760"/>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0f_cellt26"/>
          <p:cNvSpPr txBox="1"/>
          <p:nvPr/>
        </p:nvSpPr>
        <p:spPr>
          <a:xfrm>
            <a:off x="1271016" y="1920240"/>
            <a:ext cx="402336" cy="365760"/>
          </a:xfrm>
          <a:prstGeom prst="rect">
            <a:avLst/>
          </a:prstGeom>
          <a:noFill/>
        </p:spPr>
        <p:txBody>
          <a:bodyPr wrap="square" lIns="0" tIns="0" rIns="0" bIns="0" anchor="ctr">
            <a:spAutoFit/>
          </a:bodyPr>
          <a:lstStyle/>
          <a:p>
            <a:pPr algn="ctr"/>
            <a:r>
              <a:rPr sz="900" b="1">
                <a:solidFill>
                  <a:srgbClr val="4F46E5"/>
                </a:solidFill>
                <a:latin typeface="Consolas"/>
              </a:rPr>
              <a:t>1</a:t>
            </a:r>
          </a:p>
        </p:txBody>
      </p:sp>
      <p:sp>
        <p:nvSpPr>
          <p:cNvPr id="28" name="a0f_cell27"/>
          <p:cNvSpPr/>
          <p:nvPr/>
        </p:nvSpPr>
        <p:spPr>
          <a:xfrm>
            <a:off x="1673352" y="1920240"/>
            <a:ext cx="402336" cy="365760"/>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0f_cellt28"/>
          <p:cNvSpPr txBox="1"/>
          <p:nvPr/>
        </p:nvSpPr>
        <p:spPr>
          <a:xfrm>
            <a:off x="1673352" y="1920240"/>
            <a:ext cx="402336" cy="365760"/>
          </a:xfrm>
          <a:prstGeom prst="rect">
            <a:avLst/>
          </a:prstGeom>
          <a:noFill/>
        </p:spPr>
        <p:txBody>
          <a:bodyPr wrap="square" lIns="0" tIns="0" rIns="0" bIns="0" anchor="ctr">
            <a:spAutoFit/>
          </a:bodyPr>
          <a:lstStyle/>
          <a:p>
            <a:pPr algn="ctr"/>
            <a:r>
              <a:rPr sz="900" b="1">
                <a:solidFill>
                  <a:srgbClr val="4F46E5"/>
                </a:solidFill>
                <a:latin typeface="Consolas"/>
              </a:rPr>
              <a:t>2</a:t>
            </a:r>
          </a:p>
        </p:txBody>
      </p:sp>
      <p:sp>
        <p:nvSpPr>
          <p:cNvPr id="30" name="a0f_cell29"/>
          <p:cNvSpPr/>
          <p:nvPr/>
        </p:nvSpPr>
        <p:spPr>
          <a:xfrm>
            <a:off x="2075688" y="1920240"/>
            <a:ext cx="402336" cy="365760"/>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0f_cellt30"/>
          <p:cNvSpPr txBox="1"/>
          <p:nvPr/>
        </p:nvSpPr>
        <p:spPr>
          <a:xfrm>
            <a:off x="2075688" y="1920240"/>
            <a:ext cx="402336" cy="365760"/>
          </a:xfrm>
          <a:prstGeom prst="rect">
            <a:avLst/>
          </a:prstGeom>
          <a:noFill/>
        </p:spPr>
        <p:txBody>
          <a:bodyPr wrap="square" lIns="0" tIns="0" rIns="0" bIns="0" anchor="ctr">
            <a:spAutoFit/>
          </a:bodyPr>
          <a:lstStyle/>
          <a:p>
            <a:pPr algn="ctr"/>
            <a:r>
              <a:rPr sz="900" b="1">
                <a:solidFill>
                  <a:srgbClr val="4F46E5"/>
                </a:solidFill>
                <a:latin typeface="Consolas"/>
              </a:rPr>
              <a:t>3</a:t>
            </a:r>
          </a:p>
        </p:txBody>
      </p:sp>
      <p:sp>
        <p:nvSpPr>
          <p:cNvPr id="32" name="a0f_cell31"/>
          <p:cNvSpPr/>
          <p:nvPr/>
        </p:nvSpPr>
        <p:spPr>
          <a:xfrm>
            <a:off x="2478024" y="1920240"/>
            <a:ext cx="402336" cy="365760"/>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0f_cellt32"/>
          <p:cNvSpPr txBox="1"/>
          <p:nvPr/>
        </p:nvSpPr>
        <p:spPr>
          <a:xfrm>
            <a:off x="2478024" y="1920240"/>
            <a:ext cx="402336" cy="365760"/>
          </a:xfrm>
          <a:prstGeom prst="rect">
            <a:avLst/>
          </a:prstGeom>
          <a:noFill/>
        </p:spPr>
        <p:txBody>
          <a:bodyPr wrap="square" lIns="0" tIns="0" rIns="0" bIns="0" anchor="ctr">
            <a:spAutoFit/>
          </a:bodyPr>
          <a:lstStyle/>
          <a:p>
            <a:pPr algn="ctr"/>
            <a:r>
              <a:rPr sz="900" b="1">
                <a:solidFill>
                  <a:srgbClr val="4F46E5"/>
                </a:solidFill>
                <a:latin typeface="Consolas"/>
              </a:rPr>
              <a:t>4</a:t>
            </a:r>
          </a:p>
        </p:txBody>
      </p:sp>
      <p:cxnSp>
        <p:nvCxnSpPr>
          <p:cNvPr id="34" name="a1u_wr33"/>
          <p:cNvCxnSpPr/>
          <p:nvPr/>
        </p:nvCxnSpPr>
        <p:spPr>
          <a:xfrm>
            <a:off x="2898648" y="2103120"/>
            <a:ext cx="347472" cy="0"/>
          </a:xfrm>
          <a:prstGeom prst="line">
            <a:avLst/>
          </a:prstGeom>
          <a:ln w="15875">
            <a:solidFill>
              <a:srgbClr val="78716C"/>
            </a:solidFill>
          </a:ln>
        </p:spPr>
        <p:style>
          <a:lnRef idx="2">
            <a:schemeClr val="accent1"/>
          </a:lnRef>
          <a:fillRef idx="0">
            <a:schemeClr val="accent1"/>
          </a:fillRef>
          <a:effectRef idx="1">
            <a:schemeClr val="accent1"/>
          </a:effectRef>
          <a:fontRef idx="minor">
            <a:schemeClr val="tx1"/>
          </a:fontRef>
        </p:style>
      </p:cxnSp>
      <p:sp>
        <p:nvSpPr>
          <p:cNvPr id="35" name="a0f_pn34"/>
          <p:cNvSpPr txBox="1"/>
          <p:nvPr/>
        </p:nvSpPr>
        <p:spPr>
          <a:xfrm>
            <a:off x="457200" y="2423160"/>
            <a:ext cx="411480" cy="365760"/>
          </a:xfrm>
          <a:prstGeom prst="rect">
            <a:avLst/>
          </a:prstGeom>
          <a:noFill/>
        </p:spPr>
        <p:txBody>
          <a:bodyPr wrap="square" lIns="0" tIns="0" rIns="0" bIns="0" anchor="ctr">
            <a:spAutoFit/>
          </a:bodyPr>
          <a:lstStyle/>
          <a:p>
            <a:pPr algn="l"/>
            <a:r>
              <a:rPr sz="1000" b="1">
                <a:solidFill>
                  <a:srgbClr val="EA580C"/>
                </a:solidFill>
                <a:latin typeface="Consolas"/>
              </a:rPr>
              <a:t>P2</a:t>
            </a:r>
          </a:p>
        </p:txBody>
      </p:sp>
      <p:sp>
        <p:nvSpPr>
          <p:cNvPr id="36" name="a0f_cell35"/>
          <p:cNvSpPr/>
          <p:nvPr/>
        </p:nvSpPr>
        <p:spPr>
          <a:xfrm>
            <a:off x="868680" y="2423160"/>
            <a:ext cx="402336" cy="365760"/>
          </a:xfrm>
          <a:prstGeom prst="rect">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0f_cellt36"/>
          <p:cNvSpPr txBox="1"/>
          <p:nvPr/>
        </p:nvSpPr>
        <p:spPr>
          <a:xfrm>
            <a:off x="868680" y="2423160"/>
            <a:ext cx="402336" cy="365760"/>
          </a:xfrm>
          <a:prstGeom prst="rect">
            <a:avLst/>
          </a:prstGeom>
          <a:noFill/>
        </p:spPr>
        <p:txBody>
          <a:bodyPr wrap="square" lIns="0" tIns="0" rIns="0" bIns="0" anchor="ctr">
            <a:spAutoFit/>
          </a:bodyPr>
          <a:lstStyle/>
          <a:p>
            <a:pPr algn="ctr"/>
            <a:r>
              <a:rPr sz="900" b="1">
                <a:solidFill>
                  <a:srgbClr val="C2410C"/>
                </a:solidFill>
                <a:latin typeface="Consolas"/>
              </a:rPr>
              <a:t>0</a:t>
            </a:r>
          </a:p>
        </p:txBody>
      </p:sp>
      <p:sp>
        <p:nvSpPr>
          <p:cNvPr id="38" name="a0f_cell37"/>
          <p:cNvSpPr/>
          <p:nvPr/>
        </p:nvSpPr>
        <p:spPr>
          <a:xfrm>
            <a:off x="1271016" y="2423160"/>
            <a:ext cx="402336" cy="365760"/>
          </a:xfrm>
          <a:prstGeom prst="rect">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0f_cellt38"/>
          <p:cNvSpPr txBox="1"/>
          <p:nvPr/>
        </p:nvSpPr>
        <p:spPr>
          <a:xfrm>
            <a:off x="1271016" y="2423160"/>
            <a:ext cx="402336" cy="365760"/>
          </a:xfrm>
          <a:prstGeom prst="rect">
            <a:avLst/>
          </a:prstGeom>
          <a:noFill/>
        </p:spPr>
        <p:txBody>
          <a:bodyPr wrap="square" lIns="0" tIns="0" rIns="0" bIns="0" anchor="ctr">
            <a:spAutoFit/>
          </a:bodyPr>
          <a:lstStyle/>
          <a:p>
            <a:pPr algn="ctr"/>
            <a:r>
              <a:rPr sz="900" b="1">
                <a:solidFill>
                  <a:srgbClr val="C2410C"/>
                </a:solidFill>
                <a:latin typeface="Consolas"/>
              </a:rPr>
              <a:t>1</a:t>
            </a:r>
          </a:p>
        </p:txBody>
      </p:sp>
      <p:sp>
        <p:nvSpPr>
          <p:cNvPr id="40" name="a0f_cell39"/>
          <p:cNvSpPr/>
          <p:nvPr/>
        </p:nvSpPr>
        <p:spPr>
          <a:xfrm>
            <a:off x="1673352" y="2423160"/>
            <a:ext cx="402336" cy="365760"/>
          </a:xfrm>
          <a:prstGeom prst="rect">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0f_cellt40"/>
          <p:cNvSpPr txBox="1"/>
          <p:nvPr/>
        </p:nvSpPr>
        <p:spPr>
          <a:xfrm>
            <a:off x="1673352" y="2423160"/>
            <a:ext cx="402336" cy="365760"/>
          </a:xfrm>
          <a:prstGeom prst="rect">
            <a:avLst/>
          </a:prstGeom>
          <a:noFill/>
        </p:spPr>
        <p:txBody>
          <a:bodyPr wrap="square" lIns="0" tIns="0" rIns="0" bIns="0" anchor="ctr">
            <a:spAutoFit/>
          </a:bodyPr>
          <a:lstStyle/>
          <a:p>
            <a:pPr algn="ctr"/>
            <a:r>
              <a:rPr sz="900" b="1">
                <a:solidFill>
                  <a:srgbClr val="C2410C"/>
                </a:solidFill>
                <a:latin typeface="Consolas"/>
              </a:rPr>
              <a:t>2</a:t>
            </a:r>
          </a:p>
        </p:txBody>
      </p:sp>
      <p:sp>
        <p:nvSpPr>
          <p:cNvPr id="42" name="a0f_cell41"/>
          <p:cNvSpPr/>
          <p:nvPr/>
        </p:nvSpPr>
        <p:spPr>
          <a:xfrm>
            <a:off x="2075688" y="2423160"/>
            <a:ext cx="402336" cy="365760"/>
          </a:xfrm>
          <a:prstGeom prst="rect">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0f_cellt42"/>
          <p:cNvSpPr txBox="1"/>
          <p:nvPr/>
        </p:nvSpPr>
        <p:spPr>
          <a:xfrm>
            <a:off x="2075688" y="2423160"/>
            <a:ext cx="402336" cy="365760"/>
          </a:xfrm>
          <a:prstGeom prst="rect">
            <a:avLst/>
          </a:prstGeom>
          <a:noFill/>
        </p:spPr>
        <p:txBody>
          <a:bodyPr wrap="square" lIns="0" tIns="0" rIns="0" bIns="0" anchor="ctr">
            <a:spAutoFit/>
          </a:bodyPr>
          <a:lstStyle/>
          <a:p>
            <a:pPr algn="ctr"/>
            <a:r>
              <a:rPr sz="900" b="1">
                <a:solidFill>
                  <a:srgbClr val="C2410C"/>
                </a:solidFill>
                <a:latin typeface="Consolas"/>
              </a:rPr>
              <a:t>3</a:t>
            </a:r>
          </a:p>
        </p:txBody>
      </p:sp>
      <p:sp>
        <p:nvSpPr>
          <p:cNvPr id="44" name="a0f_cell43"/>
          <p:cNvSpPr/>
          <p:nvPr/>
        </p:nvSpPr>
        <p:spPr>
          <a:xfrm>
            <a:off x="2478024" y="2423160"/>
            <a:ext cx="402336" cy="365760"/>
          </a:xfrm>
          <a:prstGeom prst="rect">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a0f_cellt44"/>
          <p:cNvSpPr txBox="1"/>
          <p:nvPr/>
        </p:nvSpPr>
        <p:spPr>
          <a:xfrm>
            <a:off x="2478024" y="2423160"/>
            <a:ext cx="402336" cy="365760"/>
          </a:xfrm>
          <a:prstGeom prst="rect">
            <a:avLst/>
          </a:prstGeom>
          <a:noFill/>
        </p:spPr>
        <p:txBody>
          <a:bodyPr wrap="square" lIns="0" tIns="0" rIns="0" bIns="0" anchor="ctr">
            <a:spAutoFit/>
          </a:bodyPr>
          <a:lstStyle/>
          <a:p>
            <a:pPr algn="ctr"/>
            <a:r>
              <a:rPr sz="900" b="1">
                <a:solidFill>
                  <a:srgbClr val="C2410C"/>
                </a:solidFill>
                <a:latin typeface="Consolas"/>
              </a:rPr>
              <a:t>4</a:t>
            </a:r>
          </a:p>
        </p:txBody>
      </p:sp>
      <p:cxnSp>
        <p:nvCxnSpPr>
          <p:cNvPr id="46" name="a1u_wr45"/>
          <p:cNvCxnSpPr/>
          <p:nvPr/>
        </p:nvCxnSpPr>
        <p:spPr>
          <a:xfrm>
            <a:off x="2898648" y="2606040"/>
            <a:ext cx="347472" cy="0"/>
          </a:xfrm>
          <a:prstGeom prst="line">
            <a:avLst/>
          </a:prstGeom>
          <a:ln w="15875">
            <a:solidFill>
              <a:srgbClr val="78716C"/>
            </a:solidFill>
          </a:ln>
        </p:spPr>
        <p:style>
          <a:lnRef idx="2">
            <a:schemeClr val="accent1"/>
          </a:lnRef>
          <a:fillRef idx="0">
            <a:schemeClr val="accent1"/>
          </a:fillRef>
          <a:effectRef idx="1">
            <a:schemeClr val="accent1"/>
          </a:effectRef>
          <a:fontRef idx="minor">
            <a:schemeClr val="tx1"/>
          </a:fontRef>
        </p:style>
      </p:cxnSp>
      <p:cxnSp>
        <p:nvCxnSpPr>
          <p:cNvPr id="47" name="a1u_wr46"/>
          <p:cNvCxnSpPr/>
          <p:nvPr/>
        </p:nvCxnSpPr>
        <p:spPr>
          <a:xfrm>
            <a:off x="3246120" y="1600200"/>
            <a:ext cx="0" cy="1234440"/>
          </a:xfrm>
          <a:prstGeom prst="line">
            <a:avLst/>
          </a:prstGeom>
          <a:ln w="15875">
            <a:solidFill>
              <a:srgbClr val="78716C"/>
            </a:solidFill>
          </a:ln>
        </p:spPr>
        <p:style>
          <a:lnRef idx="2">
            <a:schemeClr val="accent1"/>
          </a:lnRef>
          <a:fillRef idx="0">
            <a:schemeClr val="accent1"/>
          </a:fillRef>
          <a:effectRef idx="1">
            <a:schemeClr val="accent1"/>
          </a:effectRef>
          <a:fontRef idx="minor">
            <a:schemeClr val="tx1"/>
          </a:fontRef>
        </p:style>
      </p:cxnSp>
      <p:cxnSp>
        <p:nvCxnSpPr>
          <p:cNvPr id="48" name="a1u_ar47"/>
          <p:cNvCxnSpPr/>
          <p:nvPr/>
        </p:nvCxnSpPr>
        <p:spPr>
          <a:xfrm>
            <a:off x="3246120" y="1783080"/>
            <a:ext cx="530352" cy="0"/>
          </a:xfrm>
          <a:prstGeom prst="line">
            <a:avLst/>
          </a:prstGeom>
          <a:ln w="15875">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a3u_ar48"/>
          <p:cNvCxnSpPr/>
          <p:nvPr/>
        </p:nvCxnSpPr>
        <p:spPr>
          <a:xfrm>
            <a:off x="3246120" y="2834640"/>
            <a:ext cx="530352" cy="0"/>
          </a:xfrm>
          <a:prstGeom prst="line">
            <a:avLst/>
          </a:prstGeom>
          <a:ln w="15875">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a1u_nd49"/>
          <p:cNvSpPr/>
          <p:nvPr/>
        </p:nvSpPr>
        <p:spPr>
          <a:xfrm>
            <a:off x="3794760" y="1463040"/>
            <a:ext cx="1325880" cy="640080"/>
          </a:xfrm>
          <a:prstGeom prst="roundRect">
            <a:avLst>
              <a:gd name="adj" fmla="val 11428"/>
            </a:avLst>
          </a:prstGeom>
          <a:solidFill>
            <a:srgbClr val="F7F6F3"/>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a1u_ndt50"/>
          <p:cNvSpPr txBox="1"/>
          <p:nvPr/>
        </p:nvSpPr>
        <p:spPr>
          <a:xfrm>
            <a:off x="3840480" y="1499616"/>
            <a:ext cx="1234439" cy="301751"/>
          </a:xfrm>
          <a:prstGeom prst="rect">
            <a:avLst/>
          </a:prstGeom>
          <a:noFill/>
        </p:spPr>
        <p:txBody>
          <a:bodyPr wrap="square" lIns="0" tIns="0" rIns="0" bIns="0" anchor="b">
            <a:spAutoFit/>
          </a:bodyPr>
          <a:lstStyle/>
          <a:p>
            <a:pPr algn="ctr"/>
            <a:r>
              <a:rPr sz="950" b="1">
                <a:solidFill>
                  <a:srgbClr val="1C1917"/>
                </a:solidFill>
                <a:latin typeface="Segoe UI"/>
              </a:rPr>
              <a:t>Consumer A</a:t>
            </a:r>
          </a:p>
        </p:txBody>
      </p:sp>
      <p:sp>
        <p:nvSpPr>
          <p:cNvPr id="52" name="a1u_nds51"/>
          <p:cNvSpPr txBox="1"/>
          <p:nvPr/>
        </p:nvSpPr>
        <p:spPr>
          <a:xfrm>
            <a:off x="3840480" y="1810512"/>
            <a:ext cx="1234439" cy="256031"/>
          </a:xfrm>
          <a:prstGeom prst="rect">
            <a:avLst/>
          </a:prstGeom>
          <a:noFill/>
        </p:spPr>
        <p:txBody>
          <a:bodyPr wrap="square" lIns="0" tIns="0" rIns="0" bIns="0" anchor="t">
            <a:spAutoFit/>
          </a:bodyPr>
          <a:lstStyle/>
          <a:p>
            <a:pPr algn="ctr"/>
            <a:r>
              <a:rPr sz="800" b="0">
                <a:solidFill>
                  <a:srgbClr val="4F46E5"/>
                </a:solidFill>
                <a:latin typeface="Segoe UI"/>
              </a:rPr>
              <a:t>one thread</a:t>
            </a:r>
          </a:p>
        </p:txBody>
      </p:sp>
      <p:cxnSp>
        <p:nvCxnSpPr>
          <p:cNvPr id="53" name="a2u_ar52"/>
          <p:cNvCxnSpPr/>
          <p:nvPr/>
        </p:nvCxnSpPr>
        <p:spPr>
          <a:xfrm>
            <a:off x="5138928" y="1783080"/>
            <a:ext cx="237744" cy="0"/>
          </a:xfrm>
          <a:prstGeom prst="line">
            <a:avLst/>
          </a:prstGeom>
          <a:ln w="1905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a2ud150_pc53"/>
          <p:cNvSpPr/>
          <p:nvPr/>
        </p:nvSpPr>
        <p:spPr>
          <a:xfrm>
            <a:off x="5394960" y="1627632"/>
            <a:ext cx="585216" cy="310896"/>
          </a:xfrm>
          <a:prstGeom prst="roundRect">
            <a:avLst>
              <a:gd name="adj" fmla="val 11764"/>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a2ud150_pct54"/>
          <p:cNvSpPr txBox="1"/>
          <p:nvPr/>
        </p:nvSpPr>
        <p:spPr>
          <a:xfrm>
            <a:off x="5394960" y="1627632"/>
            <a:ext cx="585216" cy="310896"/>
          </a:xfrm>
          <a:prstGeom prst="rect">
            <a:avLst/>
          </a:prstGeom>
          <a:noFill/>
        </p:spPr>
        <p:txBody>
          <a:bodyPr wrap="square" lIns="0" tIns="0" rIns="0" bIns="0" anchor="ctr">
            <a:spAutoFit/>
          </a:bodyPr>
          <a:lstStyle/>
          <a:p>
            <a:pPr algn="ctr"/>
            <a:r>
              <a:rPr sz="850" b="1">
                <a:solidFill>
                  <a:srgbClr val="4F46E5"/>
                </a:solidFill>
                <a:latin typeface="Consolas"/>
              </a:rPr>
              <a:t>P1·3</a:t>
            </a:r>
          </a:p>
        </p:txBody>
      </p:sp>
      <p:sp>
        <p:nvSpPr>
          <p:cNvPr id="56" name="a2ud300_pc55"/>
          <p:cNvSpPr/>
          <p:nvPr/>
        </p:nvSpPr>
        <p:spPr>
          <a:xfrm>
            <a:off x="6053328" y="1627632"/>
            <a:ext cx="585216" cy="310896"/>
          </a:xfrm>
          <a:prstGeom prst="roundRect">
            <a:avLst>
              <a:gd name="adj" fmla="val 11764"/>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a2ud300_pct56"/>
          <p:cNvSpPr txBox="1"/>
          <p:nvPr/>
        </p:nvSpPr>
        <p:spPr>
          <a:xfrm>
            <a:off x="6053328" y="1627632"/>
            <a:ext cx="585216" cy="310896"/>
          </a:xfrm>
          <a:prstGeom prst="rect">
            <a:avLst/>
          </a:prstGeom>
          <a:noFill/>
        </p:spPr>
        <p:txBody>
          <a:bodyPr wrap="square" lIns="0" tIns="0" rIns="0" bIns="0" anchor="ctr">
            <a:spAutoFit/>
          </a:bodyPr>
          <a:lstStyle/>
          <a:p>
            <a:pPr algn="ctr"/>
            <a:r>
              <a:rPr sz="850" b="1">
                <a:solidFill>
                  <a:srgbClr val="0E7490"/>
                </a:solidFill>
                <a:latin typeface="Consolas"/>
              </a:rPr>
              <a:t>P0·4</a:t>
            </a:r>
          </a:p>
        </p:txBody>
      </p:sp>
      <p:sp>
        <p:nvSpPr>
          <p:cNvPr id="58" name="a2ud450_pc57"/>
          <p:cNvSpPr/>
          <p:nvPr/>
        </p:nvSpPr>
        <p:spPr>
          <a:xfrm>
            <a:off x="6711696" y="1627632"/>
            <a:ext cx="585216" cy="310896"/>
          </a:xfrm>
          <a:prstGeom prst="roundRect">
            <a:avLst>
              <a:gd name="adj" fmla="val 11764"/>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a2ud450_pct58"/>
          <p:cNvSpPr txBox="1"/>
          <p:nvPr/>
        </p:nvSpPr>
        <p:spPr>
          <a:xfrm>
            <a:off x="6711696" y="1627632"/>
            <a:ext cx="585216" cy="310896"/>
          </a:xfrm>
          <a:prstGeom prst="rect">
            <a:avLst/>
          </a:prstGeom>
          <a:noFill/>
        </p:spPr>
        <p:txBody>
          <a:bodyPr wrap="square" lIns="0" tIns="0" rIns="0" bIns="0" anchor="ctr">
            <a:spAutoFit/>
          </a:bodyPr>
          <a:lstStyle/>
          <a:p>
            <a:pPr algn="ctr"/>
            <a:r>
              <a:rPr sz="850" b="1">
                <a:solidFill>
                  <a:srgbClr val="C2410C"/>
                </a:solidFill>
                <a:latin typeface="Consolas"/>
              </a:rPr>
              <a:t>P2·2</a:t>
            </a:r>
          </a:p>
        </p:txBody>
      </p:sp>
      <p:sp>
        <p:nvSpPr>
          <p:cNvPr id="60" name="a2ud600_pc59"/>
          <p:cNvSpPr/>
          <p:nvPr/>
        </p:nvSpPr>
        <p:spPr>
          <a:xfrm>
            <a:off x="7370064" y="1627632"/>
            <a:ext cx="585216" cy="310896"/>
          </a:xfrm>
          <a:prstGeom prst="roundRect">
            <a:avLst>
              <a:gd name="adj" fmla="val 11764"/>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a2ud600_pct60"/>
          <p:cNvSpPr txBox="1"/>
          <p:nvPr/>
        </p:nvSpPr>
        <p:spPr>
          <a:xfrm>
            <a:off x="7370064" y="1627632"/>
            <a:ext cx="585216" cy="310896"/>
          </a:xfrm>
          <a:prstGeom prst="rect">
            <a:avLst/>
          </a:prstGeom>
          <a:noFill/>
        </p:spPr>
        <p:txBody>
          <a:bodyPr wrap="square" lIns="0" tIns="0" rIns="0" bIns="0" anchor="ctr">
            <a:spAutoFit/>
          </a:bodyPr>
          <a:lstStyle/>
          <a:p>
            <a:pPr algn="ctr"/>
            <a:r>
              <a:rPr sz="850" b="1">
                <a:solidFill>
                  <a:srgbClr val="0E7490"/>
                </a:solidFill>
                <a:latin typeface="Consolas"/>
              </a:rPr>
              <a:t>P0·5</a:t>
            </a:r>
          </a:p>
        </p:txBody>
      </p:sp>
      <p:sp>
        <p:nvSpPr>
          <p:cNvPr id="62" name="a2ud750_pc61"/>
          <p:cNvSpPr/>
          <p:nvPr/>
        </p:nvSpPr>
        <p:spPr>
          <a:xfrm>
            <a:off x="8028432" y="1627632"/>
            <a:ext cx="585216" cy="310896"/>
          </a:xfrm>
          <a:prstGeom prst="roundRect">
            <a:avLst>
              <a:gd name="adj" fmla="val 11764"/>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a2ud750_pct62"/>
          <p:cNvSpPr txBox="1"/>
          <p:nvPr/>
        </p:nvSpPr>
        <p:spPr>
          <a:xfrm>
            <a:off x="8028432" y="1627632"/>
            <a:ext cx="585216" cy="310896"/>
          </a:xfrm>
          <a:prstGeom prst="rect">
            <a:avLst/>
          </a:prstGeom>
          <a:noFill/>
        </p:spPr>
        <p:txBody>
          <a:bodyPr wrap="square" lIns="0" tIns="0" rIns="0" bIns="0" anchor="ctr">
            <a:spAutoFit/>
          </a:bodyPr>
          <a:lstStyle/>
          <a:p>
            <a:pPr algn="ctr"/>
            <a:r>
              <a:rPr sz="850" b="1">
                <a:solidFill>
                  <a:srgbClr val="4F46E5"/>
                </a:solidFill>
                <a:latin typeface="Consolas"/>
              </a:rPr>
              <a:t>P1·4</a:t>
            </a:r>
          </a:p>
        </p:txBody>
      </p:sp>
      <p:sp>
        <p:nvSpPr>
          <p:cNvPr id="64" name="a3u_nd63"/>
          <p:cNvSpPr/>
          <p:nvPr/>
        </p:nvSpPr>
        <p:spPr>
          <a:xfrm>
            <a:off x="3794760" y="2514600"/>
            <a:ext cx="1325880" cy="640080"/>
          </a:xfrm>
          <a:prstGeom prst="roundRect">
            <a:avLst>
              <a:gd name="adj" fmla="val 11428"/>
            </a:avLst>
          </a:prstGeom>
          <a:solidFill>
            <a:srgbClr val="F7F6F3"/>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a3u_ndt64"/>
          <p:cNvSpPr txBox="1"/>
          <p:nvPr/>
        </p:nvSpPr>
        <p:spPr>
          <a:xfrm>
            <a:off x="3840480" y="2551176"/>
            <a:ext cx="1234439" cy="301751"/>
          </a:xfrm>
          <a:prstGeom prst="rect">
            <a:avLst/>
          </a:prstGeom>
          <a:noFill/>
        </p:spPr>
        <p:txBody>
          <a:bodyPr wrap="square" lIns="0" tIns="0" rIns="0" bIns="0" anchor="b">
            <a:spAutoFit/>
          </a:bodyPr>
          <a:lstStyle/>
          <a:p>
            <a:pPr algn="ctr"/>
            <a:r>
              <a:rPr sz="950" b="1">
                <a:solidFill>
                  <a:srgbClr val="1C1917"/>
                </a:solidFill>
                <a:latin typeface="Segoe UI"/>
              </a:rPr>
              <a:t>Consumer B</a:t>
            </a:r>
          </a:p>
        </p:txBody>
      </p:sp>
      <p:sp>
        <p:nvSpPr>
          <p:cNvPr id="66" name="a3u_nds65"/>
          <p:cNvSpPr txBox="1"/>
          <p:nvPr/>
        </p:nvSpPr>
        <p:spPr>
          <a:xfrm>
            <a:off x="3840480" y="2862072"/>
            <a:ext cx="1234439" cy="256031"/>
          </a:xfrm>
          <a:prstGeom prst="rect">
            <a:avLst/>
          </a:prstGeom>
          <a:noFill/>
        </p:spPr>
        <p:txBody>
          <a:bodyPr wrap="square" lIns="0" tIns="0" rIns="0" bIns="0" anchor="t">
            <a:spAutoFit/>
          </a:bodyPr>
          <a:lstStyle/>
          <a:p>
            <a:pPr algn="ctr"/>
            <a:r>
              <a:rPr sz="800" b="0">
                <a:solidFill>
                  <a:srgbClr val="4F46E5"/>
                </a:solidFill>
                <a:latin typeface="Segoe UI"/>
              </a:rPr>
              <a:t>one thread</a:t>
            </a:r>
          </a:p>
        </p:txBody>
      </p:sp>
      <p:cxnSp>
        <p:nvCxnSpPr>
          <p:cNvPr id="67" name="a3u_ar66"/>
          <p:cNvCxnSpPr/>
          <p:nvPr/>
        </p:nvCxnSpPr>
        <p:spPr>
          <a:xfrm>
            <a:off x="5138928" y="2834640"/>
            <a:ext cx="237744" cy="0"/>
          </a:xfrm>
          <a:prstGeom prst="line">
            <a:avLst/>
          </a:prstGeom>
          <a:ln w="1905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68" name="a3ud150_pc67"/>
          <p:cNvSpPr/>
          <p:nvPr/>
        </p:nvSpPr>
        <p:spPr>
          <a:xfrm>
            <a:off x="5394960" y="2679192"/>
            <a:ext cx="585216" cy="310896"/>
          </a:xfrm>
          <a:prstGeom prst="roundRect">
            <a:avLst>
              <a:gd name="adj" fmla="val 11764"/>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a3ud150_pct68"/>
          <p:cNvSpPr txBox="1"/>
          <p:nvPr/>
        </p:nvSpPr>
        <p:spPr>
          <a:xfrm>
            <a:off x="5394960" y="2679192"/>
            <a:ext cx="585216" cy="310896"/>
          </a:xfrm>
          <a:prstGeom prst="rect">
            <a:avLst/>
          </a:prstGeom>
          <a:noFill/>
        </p:spPr>
        <p:txBody>
          <a:bodyPr wrap="square" lIns="0" tIns="0" rIns="0" bIns="0" anchor="ctr">
            <a:spAutoFit/>
          </a:bodyPr>
          <a:lstStyle/>
          <a:p>
            <a:pPr algn="ctr"/>
            <a:r>
              <a:rPr sz="850" b="1">
                <a:solidFill>
                  <a:srgbClr val="0E7490"/>
                </a:solidFill>
                <a:latin typeface="Consolas"/>
              </a:rPr>
              <a:t>P0·4</a:t>
            </a:r>
          </a:p>
        </p:txBody>
      </p:sp>
      <p:sp>
        <p:nvSpPr>
          <p:cNvPr id="70" name="a3ud300_pc69"/>
          <p:cNvSpPr/>
          <p:nvPr/>
        </p:nvSpPr>
        <p:spPr>
          <a:xfrm>
            <a:off x="6053328" y="2679192"/>
            <a:ext cx="585216" cy="310896"/>
          </a:xfrm>
          <a:prstGeom prst="roundRect">
            <a:avLst>
              <a:gd name="adj" fmla="val 11764"/>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a3ud300_pct70"/>
          <p:cNvSpPr txBox="1"/>
          <p:nvPr/>
        </p:nvSpPr>
        <p:spPr>
          <a:xfrm>
            <a:off x="6053328" y="2679192"/>
            <a:ext cx="585216" cy="310896"/>
          </a:xfrm>
          <a:prstGeom prst="rect">
            <a:avLst/>
          </a:prstGeom>
          <a:noFill/>
        </p:spPr>
        <p:txBody>
          <a:bodyPr wrap="square" lIns="0" tIns="0" rIns="0" bIns="0" anchor="ctr">
            <a:spAutoFit/>
          </a:bodyPr>
          <a:lstStyle/>
          <a:p>
            <a:pPr algn="ctr"/>
            <a:r>
              <a:rPr sz="850" b="1">
                <a:solidFill>
                  <a:srgbClr val="C2410C"/>
                </a:solidFill>
                <a:latin typeface="Consolas"/>
              </a:rPr>
              <a:t>P2·2</a:t>
            </a:r>
          </a:p>
        </p:txBody>
      </p:sp>
      <p:sp>
        <p:nvSpPr>
          <p:cNvPr id="72" name="a3ud450_pc71"/>
          <p:cNvSpPr/>
          <p:nvPr/>
        </p:nvSpPr>
        <p:spPr>
          <a:xfrm>
            <a:off x="6711696" y="2679192"/>
            <a:ext cx="585216" cy="310896"/>
          </a:xfrm>
          <a:prstGeom prst="roundRect">
            <a:avLst>
              <a:gd name="adj" fmla="val 11764"/>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a3ud450_pct72"/>
          <p:cNvSpPr txBox="1"/>
          <p:nvPr/>
        </p:nvSpPr>
        <p:spPr>
          <a:xfrm>
            <a:off x="6711696" y="2679192"/>
            <a:ext cx="585216" cy="310896"/>
          </a:xfrm>
          <a:prstGeom prst="rect">
            <a:avLst/>
          </a:prstGeom>
          <a:noFill/>
        </p:spPr>
        <p:txBody>
          <a:bodyPr wrap="square" lIns="0" tIns="0" rIns="0" bIns="0" anchor="ctr">
            <a:spAutoFit/>
          </a:bodyPr>
          <a:lstStyle/>
          <a:p>
            <a:pPr algn="ctr"/>
            <a:r>
              <a:rPr sz="850" b="1">
                <a:solidFill>
                  <a:srgbClr val="4F46E5"/>
                </a:solidFill>
                <a:latin typeface="Consolas"/>
              </a:rPr>
              <a:t>P1·3</a:t>
            </a:r>
          </a:p>
        </p:txBody>
      </p:sp>
      <p:sp>
        <p:nvSpPr>
          <p:cNvPr id="74" name="a3ud600_pc73"/>
          <p:cNvSpPr/>
          <p:nvPr/>
        </p:nvSpPr>
        <p:spPr>
          <a:xfrm>
            <a:off x="7370064" y="2679192"/>
            <a:ext cx="585216" cy="310896"/>
          </a:xfrm>
          <a:prstGeom prst="roundRect">
            <a:avLst>
              <a:gd name="adj" fmla="val 11764"/>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a3ud600_pct74"/>
          <p:cNvSpPr txBox="1"/>
          <p:nvPr/>
        </p:nvSpPr>
        <p:spPr>
          <a:xfrm>
            <a:off x="7370064" y="2679192"/>
            <a:ext cx="585216" cy="310896"/>
          </a:xfrm>
          <a:prstGeom prst="rect">
            <a:avLst/>
          </a:prstGeom>
          <a:noFill/>
        </p:spPr>
        <p:txBody>
          <a:bodyPr wrap="square" lIns="0" tIns="0" rIns="0" bIns="0" anchor="ctr">
            <a:spAutoFit/>
          </a:bodyPr>
          <a:lstStyle/>
          <a:p>
            <a:pPr algn="ctr"/>
            <a:r>
              <a:rPr sz="850" b="1">
                <a:solidFill>
                  <a:srgbClr val="4F46E5"/>
                </a:solidFill>
                <a:latin typeface="Consolas"/>
              </a:rPr>
              <a:t>P1·4</a:t>
            </a:r>
          </a:p>
        </p:txBody>
      </p:sp>
      <p:sp>
        <p:nvSpPr>
          <p:cNvPr id="76" name="a3ud750_pc75"/>
          <p:cNvSpPr/>
          <p:nvPr/>
        </p:nvSpPr>
        <p:spPr>
          <a:xfrm>
            <a:off x="8028432" y="2679192"/>
            <a:ext cx="585216" cy="310896"/>
          </a:xfrm>
          <a:prstGeom prst="roundRect">
            <a:avLst>
              <a:gd name="adj" fmla="val 11764"/>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a3ud750_pct76"/>
          <p:cNvSpPr txBox="1"/>
          <p:nvPr/>
        </p:nvSpPr>
        <p:spPr>
          <a:xfrm>
            <a:off x="8028432" y="2679192"/>
            <a:ext cx="585216" cy="310896"/>
          </a:xfrm>
          <a:prstGeom prst="rect">
            <a:avLst/>
          </a:prstGeom>
          <a:noFill/>
        </p:spPr>
        <p:txBody>
          <a:bodyPr wrap="square" lIns="0" tIns="0" rIns="0" bIns="0" anchor="ctr">
            <a:spAutoFit/>
          </a:bodyPr>
          <a:lstStyle/>
          <a:p>
            <a:pPr algn="ctr"/>
            <a:r>
              <a:rPr sz="850" b="1">
                <a:solidFill>
                  <a:srgbClr val="0E7490"/>
                </a:solidFill>
                <a:latin typeface="Consolas"/>
              </a:rPr>
              <a:t>P0·5</a:t>
            </a:r>
          </a:p>
        </p:txBody>
      </p:sp>
      <p:sp>
        <p:nvSpPr>
          <p:cNvPr id="78" name="a2u_lb77"/>
          <p:cNvSpPr txBox="1"/>
          <p:nvPr/>
        </p:nvSpPr>
        <p:spPr>
          <a:xfrm>
            <a:off x="5394960" y="1298448"/>
            <a:ext cx="3291840" cy="201168"/>
          </a:xfrm>
          <a:prstGeom prst="rect">
            <a:avLst/>
          </a:prstGeom>
          <a:noFill/>
        </p:spPr>
        <p:txBody>
          <a:bodyPr wrap="square" lIns="0" tIns="0" rIns="0" bIns="0" anchor="ctr">
            <a:spAutoFit/>
          </a:bodyPr>
          <a:lstStyle/>
          <a:p>
            <a:pPr algn="l"/>
            <a:r>
              <a:rPr sz="850" b="1">
                <a:solidFill>
                  <a:srgbClr val="4F46E5"/>
                </a:solidFill>
                <a:latin typeface="Segoe UI"/>
              </a:rPr>
              <a:t>handled one at a time, in turn</a:t>
            </a:r>
          </a:p>
        </p:txBody>
      </p:sp>
      <p:sp>
        <p:nvSpPr>
          <p:cNvPr id="79" name="a3ud300_lb78"/>
          <p:cNvSpPr txBox="1"/>
          <p:nvPr/>
        </p:nvSpPr>
        <p:spPr>
          <a:xfrm>
            <a:off x="3794760" y="3246120"/>
            <a:ext cx="4892040" cy="201168"/>
          </a:xfrm>
          <a:prstGeom prst="rect">
            <a:avLst/>
          </a:prstGeom>
          <a:noFill/>
        </p:spPr>
        <p:txBody>
          <a:bodyPr wrap="square" lIns="0" tIns="0" rIns="0" bIns="0" anchor="ctr">
            <a:spAutoFit/>
          </a:bodyPr>
          <a:lstStyle/>
          <a:p>
            <a:pPr algn="l"/>
            <a:r>
              <a:rPr sz="850" b="0">
                <a:solidFill>
                  <a:srgbClr val="78716C"/>
                </a:solidFill>
                <a:latin typeface="Segoe UI"/>
              </a:rPr>
              <a:t>B is another app: independent of A, and it also reads every message</a:t>
            </a:r>
          </a:p>
        </p:txBody>
      </p:sp>
      <p:sp>
        <p:nvSpPr>
          <p:cNvPr id="80" name="a4u_nb79"/>
          <p:cNvSpPr/>
          <p:nvPr/>
        </p:nvSpPr>
        <p:spPr>
          <a:xfrm>
            <a:off x="457200" y="3886200"/>
            <a:ext cx="8229600" cy="566928"/>
          </a:xfrm>
          <a:prstGeom prst="roundRect">
            <a:avLst>
              <a:gd name="adj" fmla="val 12903"/>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a4u_nacc80"/>
          <p:cNvSpPr/>
          <p:nvPr/>
        </p:nvSpPr>
        <p:spPr>
          <a:xfrm>
            <a:off x="457200" y="3886200"/>
            <a:ext cx="54864" cy="5669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2" name="a4u_nt81"/>
          <p:cNvSpPr txBox="1"/>
          <p:nvPr/>
        </p:nvSpPr>
        <p:spPr>
          <a:xfrm>
            <a:off x="658368" y="3886200"/>
            <a:ext cx="7827264" cy="566928"/>
          </a:xfrm>
          <a:prstGeom prst="rect">
            <a:avLst/>
          </a:prstGeom>
          <a:noFill/>
        </p:spPr>
        <p:txBody>
          <a:bodyPr wrap="square" lIns="0" tIns="0" rIns="0" bIns="0" anchor="ctr">
            <a:spAutoFit/>
          </a:bodyPr>
          <a:lstStyle/>
          <a:p>
            <a:pPr algn="l"/>
            <a:r>
              <a:rPr sz="950" b="1">
                <a:solidFill>
                  <a:srgbClr val="4F46E5"/>
                </a:solidFill>
                <a:latin typeface="Segoe UI"/>
              </a:rPr>
              <a:t>KEY  </a:t>
            </a:r>
            <a:r>
              <a:rPr sz="950" b="0">
                <a:solidFill>
                  <a:srgbClr val="44403C"/>
                </a:solidFill>
                <a:latin typeface="Segoe UI"/>
              </a:rPr>
              <a:t>A KafkaConsumer is not thread-safe: one consumer per thread. To go faster, add consumers - in a group.</a:t>
            </a:r>
          </a:p>
        </p:txBody>
      </p:sp>
      <p:sp>
        <p:nvSpPr>
          <p:cNvPr id="83" name="ft82"/>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12</a:t>
            </a:r>
          </a:p>
        </p:txBody>
      </p:sp>
      <p:sp>
        <p:nvSpPr>
          <p:cNvPr id="84" name="ft83"/>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ft84"/>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Consumers</a:t>
            </a:r>
          </a:p>
        </p:txBody>
      </p:sp>
      <p:sp>
        <p:nvSpPr>
          <p:cNvPr id="86" name="ft85"/>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7</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5"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8" presetID="10"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par>
                                <p:cTn id="40" presetID="10"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500"/>
                                        <p:tgtEl>
                                          <p:spTgt spid="23"/>
                                        </p:tgtEl>
                                      </p:cBhvr>
                                    </p:animEffect>
                                  </p:childTnLst>
                                </p:cTn>
                              </p:par>
                              <p:par>
                                <p:cTn id="43" presetID="10" presetClass="entr" presetSubtype="0"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500"/>
                                        <p:tgtEl>
                                          <p:spTgt spid="24"/>
                                        </p:tgtEl>
                                      </p:cBhvr>
                                    </p:animEffect>
                                  </p:childTnLst>
                                </p:cTn>
                              </p:par>
                              <p:par>
                                <p:cTn id="46" presetID="10"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par>
                                <p:cTn id="49" presetID="10"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500"/>
                                        <p:tgtEl>
                                          <p:spTgt spid="26"/>
                                        </p:tgtEl>
                                      </p:cBhvr>
                                    </p:animEffect>
                                  </p:childTnLst>
                                </p:cTn>
                              </p:par>
                              <p:par>
                                <p:cTn id="52" presetID="10"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500"/>
                                        <p:tgtEl>
                                          <p:spTgt spid="27"/>
                                        </p:tgtEl>
                                      </p:cBhvr>
                                    </p:animEffect>
                                  </p:childTnLst>
                                </p:cTn>
                              </p:par>
                              <p:par>
                                <p:cTn id="55" presetID="10" presetClass="entr" presetSubtype="0" fill="hold" grpId="0"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500"/>
                                        <p:tgtEl>
                                          <p:spTgt spid="28"/>
                                        </p:tgtEl>
                                      </p:cBhvr>
                                    </p:animEffect>
                                  </p:childTnLst>
                                </p:cTn>
                              </p:par>
                              <p:par>
                                <p:cTn id="58" presetID="10" presetClass="entr" presetSubtype="0" fill="hold" grpId="0" nodeType="with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500"/>
                                        <p:tgtEl>
                                          <p:spTgt spid="29"/>
                                        </p:tgtEl>
                                      </p:cBhvr>
                                    </p:animEffect>
                                  </p:childTnLst>
                                </p:cTn>
                              </p:par>
                              <p:par>
                                <p:cTn id="61" presetID="10" presetClass="entr" presetSubtype="0" fill="hold" grpId="0" nodeType="with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fade">
                                      <p:cBhvr>
                                        <p:cTn id="60" dur="500"/>
                                        <p:tgtEl>
                                          <p:spTgt spid="30"/>
                                        </p:tgtEl>
                                      </p:cBhvr>
                                    </p:animEffect>
                                  </p:childTnLst>
                                </p:cTn>
                              </p:par>
                              <p:par>
                                <p:cTn id="64" presetID="10" presetClass="entr" presetSubtype="0" fill="hold" grpId="0" nodeType="with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fade">
                                      <p:cBhvr>
                                        <p:cTn id="63" dur="500"/>
                                        <p:tgtEl>
                                          <p:spTgt spid="31"/>
                                        </p:tgtEl>
                                      </p:cBhvr>
                                    </p:animEffect>
                                  </p:childTnLst>
                                </p:cTn>
                              </p:par>
                              <p:par>
                                <p:cTn id="67" presetID="10" presetClass="entr" presetSubtype="0" fill="hold" grpId="0" nodeType="withEffect">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6" dur="500"/>
                                        <p:tgtEl>
                                          <p:spTgt spid="32"/>
                                        </p:tgtEl>
                                      </p:cBhvr>
                                    </p:animEffect>
                                  </p:childTnLst>
                                </p:cTn>
                              </p:par>
                              <p:par>
                                <p:cTn id="70" presetID="10" presetClass="entr" presetSubtype="0" fill="hold" grpId="0" nodeType="with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fade">
                                      <p:cBhvr>
                                        <p:cTn id="69" dur="500"/>
                                        <p:tgtEl>
                                          <p:spTgt spid="33"/>
                                        </p:tgtEl>
                                      </p:cBhvr>
                                    </p:animEffect>
                                  </p:childTnLst>
                                </p:cTn>
                              </p:par>
                              <p:par>
                                <p:cTn id="73" presetID="10" presetClass="entr" presetSubtype="0" fill="hold" grpId="0" nodeType="with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fade">
                                      <p:cBhvr>
                                        <p:cTn id="72" dur="500"/>
                                        <p:tgtEl>
                                          <p:spTgt spid="35"/>
                                        </p:tgtEl>
                                      </p:cBhvr>
                                    </p:animEffect>
                                  </p:childTnLst>
                                </p:cTn>
                              </p:par>
                              <p:par>
                                <p:cTn id="76" presetID="10" presetClass="entr" presetSubtype="0" fill="hold" grpId="0" nodeType="withEffect">
                                  <p:stCondLst>
                                    <p:cond delay="0"/>
                                  </p:stCondLst>
                                  <p:childTnLst>
                                    <p:set>
                                      <p:cBhvr>
                                        <p:cTn id="74" dur="1" fill="hold">
                                          <p:stCondLst>
                                            <p:cond delay="0"/>
                                          </p:stCondLst>
                                        </p:cTn>
                                        <p:tgtEl>
                                          <p:spTgt spid="36"/>
                                        </p:tgtEl>
                                        <p:attrNameLst>
                                          <p:attrName>style.visibility</p:attrName>
                                        </p:attrNameLst>
                                      </p:cBhvr>
                                      <p:to>
                                        <p:strVal val="visible"/>
                                      </p:to>
                                    </p:set>
                                    <p:animEffect transition="in" filter="fade">
                                      <p:cBhvr>
                                        <p:cTn id="75" dur="500"/>
                                        <p:tgtEl>
                                          <p:spTgt spid="36"/>
                                        </p:tgtEl>
                                      </p:cBhvr>
                                    </p:animEffect>
                                  </p:childTnLst>
                                </p:cTn>
                              </p:par>
                              <p:par>
                                <p:cTn id="79" presetID="10" presetClass="entr" presetSubtype="0" fill="hold" grpId="0" nodeType="withEffect">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fade">
                                      <p:cBhvr>
                                        <p:cTn id="78" dur="500"/>
                                        <p:tgtEl>
                                          <p:spTgt spid="37"/>
                                        </p:tgtEl>
                                      </p:cBhvr>
                                    </p:animEffect>
                                  </p:childTnLst>
                                </p:cTn>
                              </p:par>
                              <p:par>
                                <p:cTn id="82" presetID="10" presetClass="entr" presetSubtype="0" fill="hold" grpId="0" nodeType="withEffect">
                                  <p:stCondLst>
                                    <p:cond delay="0"/>
                                  </p:stCondLst>
                                  <p:childTnLst>
                                    <p:set>
                                      <p:cBhvr>
                                        <p:cTn id="80" dur="1" fill="hold">
                                          <p:stCondLst>
                                            <p:cond delay="0"/>
                                          </p:stCondLst>
                                        </p:cTn>
                                        <p:tgtEl>
                                          <p:spTgt spid="38"/>
                                        </p:tgtEl>
                                        <p:attrNameLst>
                                          <p:attrName>style.visibility</p:attrName>
                                        </p:attrNameLst>
                                      </p:cBhvr>
                                      <p:to>
                                        <p:strVal val="visible"/>
                                      </p:to>
                                    </p:set>
                                    <p:animEffect transition="in" filter="fade">
                                      <p:cBhvr>
                                        <p:cTn id="81" dur="500"/>
                                        <p:tgtEl>
                                          <p:spTgt spid="38"/>
                                        </p:tgtEl>
                                      </p:cBhvr>
                                    </p:animEffect>
                                  </p:childTnLst>
                                </p:cTn>
                              </p:par>
                              <p:par>
                                <p:cTn id="85" presetID="10" presetClass="entr" presetSubtype="0" fill="hold" grpId="0" nodeType="withEffect">
                                  <p:stCondLst>
                                    <p:cond delay="0"/>
                                  </p:stCondLst>
                                  <p:childTnLst>
                                    <p:set>
                                      <p:cBhvr>
                                        <p:cTn id="83" dur="1" fill="hold">
                                          <p:stCondLst>
                                            <p:cond delay="0"/>
                                          </p:stCondLst>
                                        </p:cTn>
                                        <p:tgtEl>
                                          <p:spTgt spid="39"/>
                                        </p:tgtEl>
                                        <p:attrNameLst>
                                          <p:attrName>style.visibility</p:attrName>
                                        </p:attrNameLst>
                                      </p:cBhvr>
                                      <p:to>
                                        <p:strVal val="visible"/>
                                      </p:to>
                                    </p:set>
                                    <p:animEffect transition="in" filter="fade">
                                      <p:cBhvr>
                                        <p:cTn id="84" dur="500"/>
                                        <p:tgtEl>
                                          <p:spTgt spid="39"/>
                                        </p:tgtEl>
                                      </p:cBhvr>
                                    </p:animEffect>
                                  </p:childTnLst>
                                </p:cTn>
                              </p:par>
                              <p:par>
                                <p:cTn id="88" presetID="10" presetClass="entr" presetSubtype="0" fill="hold" grpId="0" nodeType="withEffect">
                                  <p:stCondLst>
                                    <p:cond delay="0"/>
                                  </p:stCondLst>
                                  <p:childTnLst>
                                    <p:set>
                                      <p:cBhvr>
                                        <p:cTn id="86" dur="1" fill="hold">
                                          <p:stCondLst>
                                            <p:cond delay="0"/>
                                          </p:stCondLst>
                                        </p:cTn>
                                        <p:tgtEl>
                                          <p:spTgt spid="40"/>
                                        </p:tgtEl>
                                        <p:attrNameLst>
                                          <p:attrName>style.visibility</p:attrName>
                                        </p:attrNameLst>
                                      </p:cBhvr>
                                      <p:to>
                                        <p:strVal val="visible"/>
                                      </p:to>
                                    </p:set>
                                    <p:animEffect transition="in" filter="fade">
                                      <p:cBhvr>
                                        <p:cTn id="87" dur="500"/>
                                        <p:tgtEl>
                                          <p:spTgt spid="40"/>
                                        </p:tgtEl>
                                      </p:cBhvr>
                                    </p:animEffect>
                                  </p:childTnLst>
                                </p:cTn>
                              </p:par>
                              <p:par>
                                <p:cTn id="91" presetID="10" presetClass="entr" presetSubtype="0" fill="hold" grpId="0" nodeType="withEffect">
                                  <p:stCondLst>
                                    <p:cond delay="0"/>
                                  </p:stCondLst>
                                  <p:childTnLst>
                                    <p:set>
                                      <p:cBhvr>
                                        <p:cTn id="89" dur="1" fill="hold">
                                          <p:stCondLst>
                                            <p:cond delay="0"/>
                                          </p:stCondLst>
                                        </p:cTn>
                                        <p:tgtEl>
                                          <p:spTgt spid="41"/>
                                        </p:tgtEl>
                                        <p:attrNameLst>
                                          <p:attrName>style.visibility</p:attrName>
                                        </p:attrNameLst>
                                      </p:cBhvr>
                                      <p:to>
                                        <p:strVal val="visible"/>
                                      </p:to>
                                    </p:set>
                                    <p:animEffect transition="in" filter="fade">
                                      <p:cBhvr>
                                        <p:cTn id="90" dur="500"/>
                                        <p:tgtEl>
                                          <p:spTgt spid="41"/>
                                        </p:tgtEl>
                                      </p:cBhvr>
                                    </p:animEffect>
                                  </p:childTnLst>
                                </p:cTn>
                              </p:par>
                              <p:par>
                                <p:cTn id="94" presetID="10" presetClass="entr" presetSubtype="0" fill="hold" grpId="0" nodeType="withEffect">
                                  <p:stCondLst>
                                    <p:cond delay="0"/>
                                  </p:stCondLst>
                                  <p:childTnLst>
                                    <p:set>
                                      <p:cBhvr>
                                        <p:cTn id="92" dur="1" fill="hold">
                                          <p:stCondLst>
                                            <p:cond delay="0"/>
                                          </p:stCondLst>
                                        </p:cTn>
                                        <p:tgtEl>
                                          <p:spTgt spid="42"/>
                                        </p:tgtEl>
                                        <p:attrNameLst>
                                          <p:attrName>style.visibility</p:attrName>
                                        </p:attrNameLst>
                                      </p:cBhvr>
                                      <p:to>
                                        <p:strVal val="visible"/>
                                      </p:to>
                                    </p:set>
                                    <p:animEffect transition="in" filter="fade">
                                      <p:cBhvr>
                                        <p:cTn id="93" dur="500"/>
                                        <p:tgtEl>
                                          <p:spTgt spid="42"/>
                                        </p:tgtEl>
                                      </p:cBhvr>
                                    </p:animEffect>
                                  </p:childTnLst>
                                </p:cTn>
                              </p:par>
                              <p:par>
                                <p:cTn id="97" presetID="10" presetClass="entr" presetSubtype="0" fill="hold" grpId="0" nodeType="withEffect">
                                  <p:stCondLst>
                                    <p:cond delay="0"/>
                                  </p:stCondLst>
                                  <p:childTnLst>
                                    <p:set>
                                      <p:cBhvr>
                                        <p:cTn id="95" dur="1" fill="hold">
                                          <p:stCondLst>
                                            <p:cond delay="0"/>
                                          </p:stCondLst>
                                        </p:cTn>
                                        <p:tgtEl>
                                          <p:spTgt spid="43"/>
                                        </p:tgtEl>
                                        <p:attrNameLst>
                                          <p:attrName>style.visibility</p:attrName>
                                        </p:attrNameLst>
                                      </p:cBhvr>
                                      <p:to>
                                        <p:strVal val="visible"/>
                                      </p:to>
                                    </p:set>
                                    <p:animEffect transition="in" filter="fade">
                                      <p:cBhvr>
                                        <p:cTn id="96" dur="500"/>
                                        <p:tgtEl>
                                          <p:spTgt spid="43"/>
                                        </p:tgtEl>
                                      </p:cBhvr>
                                    </p:animEffect>
                                  </p:childTnLst>
                                </p:cTn>
                              </p:par>
                              <p:par>
                                <p:cTn id="100" presetID="10" presetClass="entr" presetSubtype="0" fill="hold" grpId="0" nodeType="withEffect">
                                  <p:stCondLst>
                                    <p:cond delay="0"/>
                                  </p:stCondLst>
                                  <p:childTnLst>
                                    <p:set>
                                      <p:cBhvr>
                                        <p:cTn id="98" dur="1" fill="hold">
                                          <p:stCondLst>
                                            <p:cond delay="0"/>
                                          </p:stCondLst>
                                        </p:cTn>
                                        <p:tgtEl>
                                          <p:spTgt spid="44"/>
                                        </p:tgtEl>
                                        <p:attrNameLst>
                                          <p:attrName>style.visibility</p:attrName>
                                        </p:attrNameLst>
                                      </p:cBhvr>
                                      <p:to>
                                        <p:strVal val="visible"/>
                                      </p:to>
                                    </p:set>
                                    <p:animEffect transition="in" filter="fade">
                                      <p:cBhvr>
                                        <p:cTn id="99" dur="500"/>
                                        <p:tgtEl>
                                          <p:spTgt spid="44"/>
                                        </p:tgtEl>
                                      </p:cBhvr>
                                    </p:animEffect>
                                  </p:childTnLst>
                                </p:cTn>
                              </p:par>
                              <p:par>
                                <p:cTn id="103" presetID="10" presetClass="entr" presetSubtype="0" fill="hold" grpId="0" nodeType="withEffect">
                                  <p:stCondLst>
                                    <p:cond delay="0"/>
                                  </p:stCondLst>
                                  <p:childTnLst>
                                    <p:set>
                                      <p:cBhvr>
                                        <p:cTn id="101" dur="1" fill="hold">
                                          <p:stCondLst>
                                            <p:cond delay="0"/>
                                          </p:stCondLst>
                                        </p:cTn>
                                        <p:tgtEl>
                                          <p:spTgt spid="45"/>
                                        </p:tgtEl>
                                        <p:attrNameLst>
                                          <p:attrName>style.visibility</p:attrName>
                                        </p:attrNameLst>
                                      </p:cBhvr>
                                      <p:to>
                                        <p:strVal val="visible"/>
                                      </p:to>
                                    </p:set>
                                    <p:animEffect transition="in" filter="fade">
                                      <p:cBhvr>
                                        <p:cTn id="102" dur="500"/>
                                        <p:tgtEl>
                                          <p:spTgt spid="45"/>
                                        </p:tgtEl>
                                      </p:cBhvr>
                                    </p:animEffect>
                                  </p:childTnLst>
                                </p:cTn>
                              </p:par>
                            </p:childTnLst>
                          </p:cTn>
                        </p:par>
                      </p:childTnLst>
                    </p:cTn>
                  </p:par>
                  <p:par>
                    <p:cTn id="104" fill="hold">
                      <p:stCondLst>
                        <p:cond delay="indefinite"/>
                      </p:stCondLst>
                      <p:childTnLst>
                        <p:par>
                          <p:cTn id="105" fill="hold">
                            <p:stCondLst>
                              <p:cond delay="0"/>
                            </p:stCondLst>
                            <p:childTnLst>
                              <p:par>
                                <p:cTn id="110" presetID="2" presetClass="entr" presetSubtype="4" fill="hold" grpId="0" nodeType="clickEffect">
                                  <p:stCondLst>
                                    <p:cond delay="0"/>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500" fill="hold"/>
                                        <p:tgtEl>
                                          <p:spTgt spid="22"/>
                                        </p:tgtEl>
                                        <p:attrNameLst>
                                          <p:attrName>ppt_x</p:attrName>
                                        </p:attrNameLst>
                                      </p:cBhvr>
                                      <p:tavLst>
                                        <p:tav tm="0">
                                          <p:val>
                                            <p:strVal val="#ppt_x"/>
                                          </p:val>
                                        </p:tav>
                                        <p:tav tm="100000">
                                          <p:val>
                                            <p:strVal val="#ppt_x"/>
                                          </p:val>
                                        </p:tav>
                                      </p:tavLst>
                                    </p:anim>
                                    <p:anim calcmode="lin" valueType="num">
                                      <p:cBhvr additive="base">
                                        <p:cTn id="108" dur="500" fill="hold"/>
                                        <p:tgtEl>
                                          <p:spTgt spid="22"/>
                                        </p:tgtEl>
                                        <p:attrNameLst>
                                          <p:attrName>ppt_y</p:attrName>
                                        </p:attrNameLst>
                                      </p:cBhvr>
                                      <p:tavLst>
                                        <p:tav tm="0">
                                          <p:val>
                                            <p:strVal val="#ppt_y+0.1"/>
                                          </p:val>
                                        </p:tav>
                                        <p:tav tm="100000">
                                          <p:val>
                                            <p:strVal val="#ppt_y"/>
                                          </p:val>
                                        </p:tav>
                                      </p:tavLst>
                                    </p:anim>
                                    <p:animEffect transition="in" filter="fade">
                                      <p:cBhvr>
                                        <p:cTn id="109" dur="500"/>
                                        <p:tgtEl>
                                          <p:spTgt spid="22"/>
                                        </p:tgtEl>
                                      </p:cBhvr>
                                    </p:animEffect>
                                  </p:childTnLst>
                                </p:cTn>
                              </p:par>
                              <p:par>
                                <p:cTn id="115" presetID="2" presetClass="entr" presetSubtype="4" fill="hold" grpId="0" nodeType="withEffect">
                                  <p:stCondLst>
                                    <p:cond delay="0"/>
                                  </p:stCondLst>
                                  <p:childTnLst>
                                    <p:set>
                                      <p:cBhvr>
                                        <p:cTn id="111" dur="1" fill="hold">
                                          <p:stCondLst>
                                            <p:cond delay="0"/>
                                          </p:stCondLst>
                                        </p:cTn>
                                        <p:tgtEl>
                                          <p:spTgt spid="34"/>
                                        </p:tgtEl>
                                        <p:attrNameLst>
                                          <p:attrName>style.visibility</p:attrName>
                                        </p:attrNameLst>
                                      </p:cBhvr>
                                      <p:to>
                                        <p:strVal val="visible"/>
                                      </p:to>
                                    </p:set>
                                    <p:anim calcmode="lin" valueType="num">
                                      <p:cBhvr additive="base">
                                        <p:cTn id="112" dur="500" fill="hold"/>
                                        <p:tgtEl>
                                          <p:spTgt spid="34"/>
                                        </p:tgtEl>
                                        <p:attrNameLst>
                                          <p:attrName>ppt_x</p:attrName>
                                        </p:attrNameLst>
                                      </p:cBhvr>
                                      <p:tavLst>
                                        <p:tav tm="0">
                                          <p:val>
                                            <p:strVal val="#ppt_x"/>
                                          </p:val>
                                        </p:tav>
                                        <p:tav tm="100000">
                                          <p:val>
                                            <p:strVal val="#ppt_x"/>
                                          </p:val>
                                        </p:tav>
                                      </p:tavLst>
                                    </p:anim>
                                    <p:anim calcmode="lin" valueType="num">
                                      <p:cBhvr additive="base">
                                        <p:cTn id="113" dur="500" fill="hold"/>
                                        <p:tgtEl>
                                          <p:spTgt spid="34"/>
                                        </p:tgtEl>
                                        <p:attrNameLst>
                                          <p:attrName>ppt_y</p:attrName>
                                        </p:attrNameLst>
                                      </p:cBhvr>
                                      <p:tavLst>
                                        <p:tav tm="0">
                                          <p:val>
                                            <p:strVal val="#ppt_y+0.1"/>
                                          </p:val>
                                        </p:tav>
                                        <p:tav tm="100000">
                                          <p:val>
                                            <p:strVal val="#ppt_y"/>
                                          </p:val>
                                        </p:tav>
                                      </p:tavLst>
                                    </p:anim>
                                    <p:animEffect transition="in" filter="fade">
                                      <p:cBhvr>
                                        <p:cTn id="114" dur="500"/>
                                        <p:tgtEl>
                                          <p:spTgt spid="34"/>
                                        </p:tgtEl>
                                      </p:cBhvr>
                                    </p:animEffect>
                                  </p:childTnLst>
                                </p:cTn>
                              </p:par>
                              <p:par>
                                <p:cTn id="120" presetID="2" presetClass="entr" presetSubtype="4" fill="hold" grpId="0" nodeType="withEffect">
                                  <p:stCondLst>
                                    <p:cond delay="0"/>
                                  </p:stCondLst>
                                  <p:childTnLst>
                                    <p:set>
                                      <p:cBhvr>
                                        <p:cTn id="116" dur="1" fill="hold">
                                          <p:stCondLst>
                                            <p:cond delay="0"/>
                                          </p:stCondLst>
                                        </p:cTn>
                                        <p:tgtEl>
                                          <p:spTgt spid="46"/>
                                        </p:tgtEl>
                                        <p:attrNameLst>
                                          <p:attrName>style.visibility</p:attrName>
                                        </p:attrNameLst>
                                      </p:cBhvr>
                                      <p:to>
                                        <p:strVal val="visible"/>
                                      </p:to>
                                    </p:set>
                                    <p:anim calcmode="lin" valueType="num">
                                      <p:cBhvr additive="base">
                                        <p:cTn id="117" dur="500" fill="hold"/>
                                        <p:tgtEl>
                                          <p:spTgt spid="46"/>
                                        </p:tgtEl>
                                        <p:attrNameLst>
                                          <p:attrName>ppt_x</p:attrName>
                                        </p:attrNameLst>
                                      </p:cBhvr>
                                      <p:tavLst>
                                        <p:tav tm="0">
                                          <p:val>
                                            <p:strVal val="#ppt_x"/>
                                          </p:val>
                                        </p:tav>
                                        <p:tav tm="100000">
                                          <p:val>
                                            <p:strVal val="#ppt_x"/>
                                          </p:val>
                                        </p:tav>
                                      </p:tavLst>
                                    </p:anim>
                                    <p:anim calcmode="lin" valueType="num">
                                      <p:cBhvr additive="base">
                                        <p:cTn id="118" dur="500" fill="hold"/>
                                        <p:tgtEl>
                                          <p:spTgt spid="46"/>
                                        </p:tgtEl>
                                        <p:attrNameLst>
                                          <p:attrName>ppt_y</p:attrName>
                                        </p:attrNameLst>
                                      </p:cBhvr>
                                      <p:tavLst>
                                        <p:tav tm="0">
                                          <p:val>
                                            <p:strVal val="#ppt_y+0.1"/>
                                          </p:val>
                                        </p:tav>
                                        <p:tav tm="100000">
                                          <p:val>
                                            <p:strVal val="#ppt_y"/>
                                          </p:val>
                                        </p:tav>
                                      </p:tavLst>
                                    </p:anim>
                                    <p:animEffect transition="in" filter="fade">
                                      <p:cBhvr>
                                        <p:cTn id="119" dur="500"/>
                                        <p:tgtEl>
                                          <p:spTgt spid="46"/>
                                        </p:tgtEl>
                                      </p:cBhvr>
                                    </p:animEffect>
                                  </p:childTnLst>
                                </p:cTn>
                              </p:par>
                              <p:par>
                                <p:cTn id="125" presetID="2" presetClass="entr" presetSubtype="4" fill="hold" grpId="0" nodeType="withEffect">
                                  <p:stCondLst>
                                    <p:cond delay="0"/>
                                  </p:stCondLst>
                                  <p:childTnLst>
                                    <p:set>
                                      <p:cBhvr>
                                        <p:cTn id="121" dur="1" fill="hold">
                                          <p:stCondLst>
                                            <p:cond delay="0"/>
                                          </p:stCondLst>
                                        </p:cTn>
                                        <p:tgtEl>
                                          <p:spTgt spid="47"/>
                                        </p:tgtEl>
                                        <p:attrNameLst>
                                          <p:attrName>style.visibility</p:attrName>
                                        </p:attrNameLst>
                                      </p:cBhvr>
                                      <p:to>
                                        <p:strVal val="visible"/>
                                      </p:to>
                                    </p:set>
                                    <p:anim calcmode="lin" valueType="num">
                                      <p:cBhvr additive="base">
                                        <p:cTn id="122" dur="500" fill="hold"/>
                                        <p:tgtEl>
                                          <p:spTgt spid="47"/>
                                        </p:tgtEl>
                                        <p:attrNameLst>
                                          <p:attrName>ppt_x</p:attrName>
                                        </p:attrNameLst>
                                      </p:cBhvr>
                                      <p:tavLst>
                                        <p:tav tm="0">
                                          <p:val>
                                            <p:strVal val="#ppt_x"/>
                                          </p:val>
                                        </p:tav>
                                        <p:tav tm="100000">
                                          <p:val>
                                            <p:strVal val="#ppt_x"/>
                                          </p:val>
                                        </p:tav>
                                      </p:tavLst>
                                    </p:anim>
                                    <p:anim calcmode="lin" valueType="num">
                                      <p:cBhvr additive="base">
                                        <p:cTn id="123" dur="500" fill="hold"/>
                                        <p:tgtEl>
                                          <p:spTgt spid="47"/>
                                        </p:tgtEl>
                                        <p:attrNameLst>
                                          <p:attrName>ppt_y</p:attrName>
                                        </p:attrNameLst>
                                      </p:cBhvr>
                                      <p:tavLst>
                                        <p:tav tm="0">
                                          <p:val>
                                            <p:strVal val="#ppt_y+0.1"/>
                                          </p:val>
                                        </p:tav>
                                        <p:tav tm="100000">
                                          <p:val>
                                            <p:strVal val="#ppt_y"/>
                                          </p:val>
                                        </p:tav>
                                      </p:tavLst>
                                    </p:anim>
                                    <p:animEffect transition="in" filter="fade">
                                      <p:cBhvr>
                                        <p:cTn id="124" dur="500"/>
                                        <p:tgtEl>
                                          <p:spTgt spid="47"/>
                                        </p:tgtEl>
                                      </p:cBhvr>
                                    </p:animEffect>
                                  </p:childTnLst>
                                </p:cTn>
                              </p:par>
                              <p:par>
                                <p:cTn id="130" presetID="2" presetClass="entr" presetSubtype="4" fill="hold" grpId="0" nodeType="withEffect">
                                  <p:stCondLst>
                                    <p:cond delay="0"/>
                                  </p:stCondLst>
                                  <p:childTnLst>
                                    <p:set>
                                      <p:cBhvr>
                                        <p:cTn id="126" dur="1" fill="hold">
                                          <p:stCondLst>
                                            <p:cond delay="0"/>
                                          </p:stCondLst>
                                        </p:cTn>
                                        <p:tgtEl>
                                          <p:spTgt spid="48"/>
                                        </p:tgtEl>
                                        <p:attrNameLst>
                                          <p:attrName>style.visibility</p:attrName>
                                        </p:attrNameLst>
                                      </p:cBhvr>
                                      <p:to>
                                        <p:strVal val="visible"/>
                                      </p:to>
                                    </p:set>
                                    <p:anim calcmode="lin" valueType="num">
                                      <p:cBhvr additive="base">
                                        <p:cTn id="127" dur="500" fill="hold"/>
                                        <p:tgtEl>
                                          <p:spTgt spid="48"/>
                                        </p:tgtEl>
                                        <p:attrNameLst>
                                          <p:attrName>ppt_x</p:attrName>
                                        </p:attrNameLst>
                                      </p:cBhvr>
                                      <p:tavLst>
                                        <p:tav tm="0">
                                          <p:val>
                                            <p:strVal val="#ppt_x"/>
                                          </p:val>
                                        </p:tav>
                                        <p:tav tm="100000">
                                          <p:val>
                                            <p:strVal val="#ppt_x"/>
                                          </p:val>
                                        </p:tav>
                                      </p:tavLst>
                                    </p:anim>
                                    <p:anim calcmode="lin" valueType="num">
                                      <p:cBhvr additive="base">
                                        <p:cTn id="128" dur="500" fill="hold"/>
                                        <p:tgtEl>
                                          <p:spTgt spid="48"/>
                                        </p:tgtEl>
                                        <p:attrNameLst>
                                          <p:attrName>ppt_y</p:attrName>
                                        </p:attrNameLst>
                                      </p:cBhvr>
                                      <p:tavLst>
                                        <p:tav tm="0">
                                          <p:val>
                                            <p:strVal val="#ppt_y+0.1"/>
                                          </p:val>
                                        </p:tav>
                                        <p:tav tm="100000">
                                          <p:val>
                                            <p:strVal val="#ppt_y"/>
                                          </p:val>
                                        </p:tav>
                                      </p:tavLst>
                                    </p:anim>
                                    <p:animEffect transition="in" filter="fade">
                                      <p:cBhvr>
                                        <p:cTn id="129" dur="500"/>
                                        <p:tgtEl>
                                          <p:spTgt spid="48"/>
                                        </p:tgtEl>
                                      </p:cBhvr>
                                    </p:animEffect>
                                  </p:childTnLst>
                                </p:cTn>
                              </p:par>
                              <p:par>
                                <p:cTn id="135" presetID="2" presetClass="entr" presetSubtype="4" fill="hold" grpId="0" nodeType="withEffect">
                                  <p:stCondLst>
                                    <p:cond delay="0"/>
                                  </p:stCondLst>
                                  <p:childTnLst>
                                    <p:set>
                                      <p:cBhvr>
                                        <p:cTn id="131" dur="1" fill="hold">
                                          <p:stCondLst>
                                            <p:cond delay="0"/>
                                          </p:stCondLst>
                                        </p:cTn>
                                        <p:tgtEl>
                                          <p:spTgt spid="50"/>
                                        </p:tgtEl>
                                        <p:attrNameLst>
                                          <p:attrName>style.visibility</p:attrName>
                                        </p:attrNameLst>
                                      </p:cBhvr>
                                      <p:to>
                                        <p:strVal val="visible"/>
                                      </p:to>
                                    </p:set>
                                    <p:anim calcmode="lin" valueType="num">
                                      <p:cBhvr additive="base">
                                        <p:cTn id="132" dur="500" fill="hold"/>
                                        <p:tgtEl>
                                          <p:spTgt spid="50"/>
                                        </p:tgtEl>
                                        <p:attrNameLst>
                                          <p:attrName>ppt_x</p:attrName>
                                        </p:attrNameLst>
                                      </p:cBhvr>
                                      <p:tavLst>
                                        <p:tav tm="0">
                                          <p:val>
                                            <p:strVal val="#ppt_x"/>
                                          </p:val>
                                        </p:tav>
                                        <p:tav tm="100000">
                                          <p:val>
                                            <p:strVal val="#ppt_x"/>
                                          </p:val>
                                        </p:tav>
                                      </p:tavLst>
                                    </p:anim>
                                    <p:anim calcmode="lin" valueType="num">
                                      <p:cBhvr additive="base">
                                        <p:cTn id="133" dur="500" fill="hold"/>
                                        <p:tgtEl>
                                          <p:spTgt spid="50"/>
                                        </p:tgtEl>
                                        <p:attrNameLst>
                                          <p:attrName>ppt_y</p:attrName>
                                        </p:attrNameLst>
                                      </p:cBhvr>
                                      <p:tavLst>
                                        <p:tav tm="0">
                                          <p:val>
                                            <p:strVal val="#ppt_y+0.1"/>
                                          </p:val>
                                        </p:tav>
                                        <p:tav tm="100000">
                                          <p:val>
                                            <p:strVal val="#ppt_y"/>
                                          </p:val>
                                        </p:tav>
                                      </p:tavLst>
                                    </p:anim>
                                    <p:animEffect transition="in" filter="fade">
                                      <p:cBhvr>
                                        <p:cTn id="134" dur="500"/>
                                        <p:tgtEl>
                                          <p:spTgt spid="50"/>
                                        </p:tgtEl>
                                      </p:cBhvr>
                                    </p:animEffect>
                                  </p:childTnLst>
                                </p:cTn>
                              </p:par>
                              <p:par>
                                <p:cTn id="140" presetID="2" presetClass="entr" presetSubtype="4" fill="hold" grpId="0" nodeType="withEffect">
                                  <p:stCondLst>
                                    <p:cond delay="0"/>
                                  </p:stCondLst>
                                  <p:childTnLst>
                                    <p:set>
                                      <p:cBhvr>
                                        <p:cTn id="136" dur="1" fill="hold">
                                          <p:stCondLst>
                                            <p:cond delay="0"/>
                                          </p:stCondLst>
                                        </p:cTn>
                                        <p:tgtEl>
                                          <p:spTgt spid="51"/>
                                        </p:tgtEl>
                                        <p:attrNameLst>
                                          <p:attrName>style.visibility</p:attrName>
                                        </p:attrNameLst>
                                      </p:cBhvr>
                                      <p:to>
                                        <p:strVal val="visible"/>
                                      </p:to>
                                    </p:set>
                                    <p:anim calcmode="lin" valueType="num">
                                      <p:cBhvr additive="base">
                                        <p:cTn id="137" dur="500" fill="hold"/>
                                        <p:tgtEl>
                                          <p:spTgt spid="51"/>
                                        </p:tgtEl>
                                        <p:attrNameLst>
                                          <p:attrName>ppt_x</p:attrName>
                                        </p:attrNameLst>
                                      </p:cBhvr>
                                      <p:tavLst>
                                        <p:tav tm="0">
                                          <p:val>
                                            <p:strVal val="#ppt_x"/>
                                          </p:val>
                                        </p:tav>
                                        <p:tav tm="100000">
                                          <p:val>
                                            <p:strVal val="#ppt_x"/>
                                          </p:val>
                                        </p:tav>
                                      </p:tavLst>
                                    </p:anim>
                                    <p:anim calcmode="lin" valueType="num">
                                      <p:cBhvr additive="base">
                                        <p:cTn id="138" dur="500" fill="hold"/>
                                        <p:tgtEl>
                                          <p:spTgt spid="51"/>
                                        </p:tgtEl>
                                        <p:attrNameLst>
                                          <p:attrName>ppt_y</p:attrName>
                                        </p:attrNameLst>
                                      </p:cBhvr>
                                      <p:tavLst>
                                        <p:tav tm="0">
                                          <p:val>
                                            <p:strVal val="#ppt_y+0.1"/>
                                          </p:val>
                                        </p:tav>
                                        <p:tav tm="100000">
                                          <p:val>
                                            <p:strVal val="#ppt_y"/>
                                          </p:val>
                                        </p:tav>
                                      </p:tavLst>
                                    </p:anim>
                                    <p:animEffect transition="in" filter="fade">
                                      <p:cBhvr>
                                        <p:cTn id="139" dur="500"/>
                                        <p:tgtEl>
                                          <p:spTgt spid="51"/>
                                        </p:tgtEl>
                                      </p:cBhvr>
                                    </p:animEffect>
                                  </p:childTnLst>
                                </p:cTn>
                              </p:par>
                              <p:par>
                                <p:cTn id="145" presetID="2" presetClass="entr" presetSubtype="4" fill="hold" grpId="0" nodeType="withEffect">
                                  <p:stCondLst>
                                    <p:cond delay="0"/>
                                  </p:stCondLst>
                                  <p:childTnLst>
                                    <p:set>
                                      <p:cBhvr>
                                        <p:cTn id="141" dur="1" fill="hold">
                                          <p:stCondLst>
                                            <p:cond delay="0"/>
                                          </p:stCondLst>
                                        </p:cTn>
                                        <p:tgtEl>
                                          <p:spTgt spid="52"/>
                                        </p:tgtEl>
                                        <p:attrNameLst>
                                          <p:attrName>style.visibility</p:attrName>
                                        </p:attrNameLst>
                                      </p:cBhvr>
                                      <p:to>
                                        <p:strVal val="visible"/>
                                      </p:to>
                                    </p:set>
                                    <p:anim calcmode="lin" valueType="num">
                                      <p:cBhvr additive="base">
                                        <p:cTn id="142" dur="500" fill="hold"/>
                                        <p:tgtEl>
                                          <p:spTgt spid="52"/>
                                        </p:tgtEl>
                                        <p:attrNameLst>
                                          <p:attrName>ppt_x</p:attrName>
                                        </p:attrNameLst>
                                      </p:cBhvr>
                                      <p:tavLst>
                                        <p:tav tm="0">
                                          <p:val>
                                            <p:strVal val="#ppt_x"/>
                                          </p:val>
                                        </p:tav>
                                        <p:tav tm="100000">
                                          <p:val>
                                            <p:strVal val="#ppt_x"/>
                                          </p:val>
                                        </p:tav>
                                      </p:tavLst>
                                    </p:anim>
                                    <p:anim calcmode="lin" valueType="num">
                                      <p:cBhvr additive="base">
                                        <p:cTn id="143" dur="500" fill="hold"/>
                                        <p:tgtEl>
                                          <p:spTgt spid="52"/>
                                        </p:tgtEl>
                                        <p:attrNameLst>
                                          <p:attrName>ppt_y</p:attrName>
                                        </p:attrNameLst>
                                      </p:cBhvr>
                                      <p:tavLst>
                                        <p:tav tm="0">
                                          <p:val>
                                            <p:strVal val="#ppt_y+0.1"/>
                                          </p:val>
                                        </p:tav>
                                        <p:tav tm="100000">
                                          <p:val>
                                            <p:strVal val="#ppt_y"/>
                                          </p:val>
                                        </p:tav>
                                      </p:tavLst>
                                    </p:anim>
                                    <p:animEffect transition="in" filter="fade">
                                      <p:cBhvr>
                                        <p:cTn id="144" dur="500"/>
                                        <p:tgtEl>
                                          <p:spTgt spid="52"/>
                                        </p:tgtEl>
                                      </p:cBhvr>
                                    </p:animEffect>
                                  </p:childTnLst>
                                </p:cTn>
                              </p:par>
                            </p:childTnLst>
                          </p:cTn>
                        </p:par>
                      </p:childTnLst>
                    </p:cTn>
                  </p:par>
                  <p:par>
                    <p:cTn id="146" fill="hold">
                      <p:stCondLst>
                        <p:cond delay="indefinite"/>
                      </p:stCondLst>
                      <p:childTnLst>
                        <p:par>
                          <p:cTn id="147" fill="hold">
                            <p:stCondLst>
                              <p:cond delay="0"/>
                            </p:stCondLst>
                            <p:childTnLst>
                              <p:par>
                                <p:cTn id="152" presetID="2" presetClass="entr" presetSubtype="4" fill="hold" grpId="0" nodeType="clickEffect">
                                  <p:stCondLst>
                                    <p:cond delay="0"/>
                                  </p:stCondLst>
                                  <p:childTnLst>
                                    <p:set>
                                      <p:cBhvr>
                                        <p:cTn id="148" dur="1" fill="hold">
                                          <p:stCondLst>
                                            <p:cond delay="0"/>
                                          </p:stCondLst>
                                        </p:cTn>
                                        <p:tgtEl>
                                          <p:spTgt spid="53"/>
                                        </p:tgtEl>
                                        <p:attrNameLst>
                                          <p:attrName>style.visibility</p:attrName>
                                        </p:attrNameLst>
                                      </p:cBhvr>
                                      <p:to>
                                        <p:strVal val="visible"/>
                                      </p:to>
                                    </p:set>
                                    <p:anim calcmode="lin" valueType="num">
                                      <p:cBhvr additive="base">
                                        <p:cTn id="149" dur="500" fill="hold"/>
                                        <p:tgtEl>
                                          <p:spTgt spid="53"/>
                                        </p:tgtEl>
                                        <p:attrNameLst>
                                          <p:attrName>ppt_x</p:attrName>
                                        </p:attrNameLst>
                                      </p:cBhvr>
                                      <p:tavLst>
                                        <p:tav tm="0">
                                          <p:val>
                                            <p:strVal val="#ppt_x"/>
                                          </p:val>
                                        </p:tav>
                                        <p:tav tm="100000">
                                          <p:val>
                                            <p:strVal val="#ppt_x"/>
                                          </p:val>
                                        </p:tav>
                                      </p:tavLst>
                                    </p:anim>
                                    <p:anim calcmode="lin" valueType="num">
                                      <p:cBhvr additive="base">
                                        <p:cTn id="150" dur="500" fill="hold"/>
                                        <p:tgtEl>
                                          <p:spTgt spid="53"/>
                                        </p:tgtEl>
                                        <p:attrNameLst>
                                          <p:attrName>ppt_y</p:attrName>
                                        </p:attrNameLst>
                                      </p:cBhvr>
                                      <p:tavLst>
                                        <p:tav tm="0">
                                          <p:val>
                                            <p:strVal val="#ppt_y+0.1"/>
                                          </p:val>
                                        </p:tav>
                                        <p:tav tm="100000">
                                          <p:val>
                                            <p:strVal val="#ppt_y"/>
                                          </p:val>
                                        </p:tav>
                                      </p:tavLst>
                                    </p:anim>
                                    <p:animEffect transition="in" filter="fade">
                                      <p:cBhvr>
                                        <p:cTn id="151" dur="500"/>
                                        <p:tgtEl>
                                          <p:spTgt spid="53"/>
                                        </p:tgtEl>
                                      </p:cBhvr>
                                    </p:animEffect>
                                  </p:childTnLst>
                                </p:cTn>
                              </p:par>
                              <p:par>
                                <p:cTn id="157" presetID="2" presetClass="entr" presetSubtype="4" fill="hold" grpId="0" nodeType="withEffect">
                                  <p:stCondLst>
                                    <p:cond delay="0"/>
                                  </p:stCondLst>
                                  <p:childTnLst>
                                    <p:set>
                                      <p:cBhvr>
                                        <p:cTn id="153" dur="1" fill="hold">
                                          <p:stCondLst>
                                            <p:cond delay="0"/>
                                          </p:stCondLst>
                                        </p:cTn>
                                        <p:tgtEl>
                                          <p:spTgt spid="78"/>
                                        </p:tgtEl>
                                        <p:attrNameLst>
                                          <p:attrName>style.visibility</p:attrName>
                                        </p:attrNameLst>
                                      </p:cBhvr>
                                      <p:to>
                                        <p:strVal val="visible"/>
                                      </p:to>
                                    </p:set>
                                    <p:anim calcmode="lin" valueType="num">
                                      <p:cBhvr additive="base">
                                        <p:cTn id="154" dur="500" fill="hold"/>
                                        <p:tgtEl>
                                          <p:spTgt spid="78"/>
                                        </p:tgtEl>
                                        <p:attrNameLst>
                                          <p:attrName>ppt_x</p:attrName>
                                        </p:attrNameLst>
                                      </p:cBhvr>
                                      <p:tavLst>
                                        <p:tav tm="0">
                                          <p:val>
                                            <p:strVal val="#ppt_x"/>
                                          </p:val>
                                        </p:tav>
                                        <p:tav tm="100000">
                                          <p:val>
                                            <p:strVal val="#ppt_x"/>
                                          </p:val>
                                        </p:tav>
                                      </p:tavLst>
                                    </p:anim>
                                    <p:anim calcmode="lin" valueType="num">
                                      <p:cBhvr additive="base">
                                        <p:cTn id="155" dur="500" fill="hold"/>
                                        <p:tgtEl>
                                          <p:spTgt spid="78"/>
                                        </p:tgtEl>
                                        <p:attrNameLst>
                                          <p:attrName>ppt_y</p:attrName>
                                        </p:attrNameLst>
                                      </p:cBhvr>
                                      <p:tavLst>
                                        <p:tav tm="0">
                                          <p:val>
                                            <p:strVal val="#ppt_y+0.1"/>
                                          </p:val>
                                        </p:tav>
                                        <p:tav tm="100000">
                                          <p:val>
                                            <p:strVal val="#ppt_y"/>
                                          </p:val>
                                        </p:tav>
                                      </p:tavLst>
                                    </p:anim>
                                    <p:animEffect transition="in" filter="fade">
                                      <p:cBhvr>
                                        <p:cTn id="156" dur="500"/>
                                        <p:tgtEl>
                                          <p:spTgt spid="78"/>
                                        </p:tgtEl>
                                      </p:cBhvr>
                                    </p:animEffect>
                                  </p:childTnLst>
                                </p:cTn>
                              </p:par>
                              <p:par>
                                <p:cTn id="162" presetID="2" presetClass="entr" presetSubtype="4" fill="hold" grpId="0" nodeType="withEffect">
                                  <p:stCondLst>
                                    <p:cond delay="150"/>
                                  </p:stCondLst>
                                  <p:childTnLst>
                                    <p:set>
                                      <p:cBhvr>
                                        <p:cTn id="158" dur="1" fill="hold">
                                          <p:stCondLst>
                                            <p:cond delay="0"/>
                                          </p:stCondLst>
                                        </p:cTn>
                                        <p:tgtEl>
                                          <p:spTgt spid="54"/>
                                        </p:tgtEl>
                                        <p:attrNameLst>
                                          <p:attrName>style.visibility</p:attrName>
                                        </p:attrNameLst>
                                      </p:cBhvr>
                                      <p:to>
                                        <p:strVal val="visible"/>
                                      </p:to>
                                    </p:set>
                                    <p:anim calcmode="lin" valueType="num">
                                      <p:cBhvr additive="base">
                                        <p:cTn id="159" dur="500" fill="hold"/>
                                        <p:tgtEl>
                                          <p:spTgt spid="54"/>
                                        </p:tgtEl>
                                        <p:attrNameLst>
                                          <p:attrName>ppt_x</p:attrName>
                                        </p:attrNameLst>
                                      </p:cBhvr>
                                      <p:tavLst>
                                        <p:tav tm="0">
                                          <p:val>
                                            <p:strVal val="#ppt_x"/>
                                          </p:val>
                                        </p:tav>
                                        <p:tav tm="100000">
                                          <p:val>
                                            <p:strVal val="#ppt_x"/>
                                          </p:val>
                                        </p:tav>
                                      </p:tavLst>
                                    </p:anim>
                                    <p:anim calcmode="lin" valueType="num">
                                      <p:cBhvr additive="base">
                                        <p:cTn id="160" dur="500" fill="hold"/>
                                        <p:tgtEl>
                                          <p:spTgt spid="54"/>
                                        </p:tgtEl>
                                        <p:attrNameLst>
                                          <p:attrName>ppt_y</p:attrName>
                                        </p:attrNameLst>
                                      </p:cBhvr>
                                      <p:tavLst>
                                        <p:tav tm="0">
                                          <p:val>
                                            <p:strVal val="#ppt_y+0.1"/>
                                          </p:val>
                                        </p:tav>
                                        <p:tav tm="100000">
                                          <p:val>
                                            <p:strVal val="#ppt_y"/>
                                          </p:val>
                                        </p:tav>
                                      </p:tavLst>
                                    </p:anim>
                                    <p:animEffect transition="in" filter="fade">
                                      <p:cBhvr>
                                        <p:cTn id="161" dur="500"/>
                                        <p:tgtEl>
                                          <p:spTgt spid="54"/>
                                        </p:tgtEl>
                                      </p:cBhvr>
                                    </p:animEffect>
                                  </p:childTnLst>
                                </p:cTn>
                              </p:par>
                              <p:par>
                                <p:cTn id="167" presetID="2" presetClass="entr" presetSubtype="4" fill="hold" grpId="0" nodeType="withEffect">
                                  <p:stCondLst>
                                    <p:cond delay="150"/>
                                  </p:stCondLst>
                                  <p:childTnLst>
                                    <p:set>
                                      <p:cBhvr>
                                        <p:cTn id="163" dur="1" fill="hold">
                                          <p:stCondLst>
                                            <p:cond delay="0"/>
                                          </p:stCondLst>
                                        </p:cTn>
                                        <p:tgtEl>
                                          <p:spTgt spid="55"/>
                                        </p:tgtEl>
                                        <p:attrNameLst>
                                          <p:attrName>style.visibility</p:attrName>
                                        </p:attrNameLst>
                                      </p:cBhvr>
                                      <p:to>
                                        <p:strVal val="visible"/>
                                      </p:to>
                                    </p:set>
                                    <p:anim calcmode="lin" valueType="num">
                                      <p:cBhvr additive="base">
                                        <p:cTn id="164" dur="500" fill="hold"/>
                                        <p:tgtEl>
                                          <p:spTgt spid="55"/>
                                        </p:tgtEl>
                                        <p:attrNameLst>
                                          <p:attrName>ppt_x</p:attrName>
                                        </p:attrNameLst>
                                      </p:cBhvr>
                                      <p:tavLst>
                                        <p:tav tm="0">
                                          <p:val>
                                            <p:strVal val="#ppt_x"/>
                                          </p:val>
                                        </p:tav>
                                        <p:tav tm="100000">
                                          <p:val>
                                            <p:strVal val="#ppt_x"/>
                                          </p:val>
                                        </p:tav>
                                      </p:tavLst>
                                    </p:anim>
                                    <p:anim calcmode="lin" valueType="num">
                                      <p:cBhvr additive="base">
                                        <p:cTn id="165" dur="500" fill="hold"/>
                                        <p:tgtEl>
                                          <p:spTgt spid="55"/>
                                        </p:tgtEl>
                                        <p:attrNameLst>
                                          <p:attrName>ppt_y</p:attrName>
                                        </p:attrNameLst>
                                      </p:cBhvr>
                                      <p:tavLst>
                                        <p:tav tm="0">
                                          <p:val>
                                            <p:strVal val="#ppt_y+0.1"/>
                                          </p:val>
                                        </p:tav>
                                        <p:tav tm="100000">
                                          <p:val>
                                            <p:strVal val="#ppt_y"/>
                                          </p:val>
                                        </p:tav>
                                      </p:tavLst>
                                    </p:anim>
                                    <p:animEffect transition="in" filter="fade">
                                      <p:cBhvr>
                                        <p:cTn id="166" dur="500"/>
                                        <p:tgtEl>
                                          <p:spTgt spid="55"/>
                                        </p:tgtEl>
                                      </p:cBhvr>
                                    </p:animEffect>
                                  </p:childTnLst>
                                </p:cTn>
                              </p:par>
                              <p:par>
                                <p:cTn id="172" presetID="2" presetClass="entr" presetSubtype="4" fill="hold" grpId="0" nodeType="withEffect">
                                  <p:stCondLst>
                                    <p:cond delay="300"/>
                                  </p:stCondLst>
                                  <p:childTnLst>
                                    <p:set>
                                      <p:cBhvr>
                                        <p:cTn id="168" dur="1" fill="hold">
                                          <p:stCondLst>
                                            <p:cond delay="0"/>
                                          </p:stCondLst>
                                        </p:cTn>
                                        <p:tgtEl>
                                          <p:spTgt spid="56"/>
                                        </p:tgtEl>
                                        <p:attrNameLst>
                                          <p:attrName>style.visibility</p:attrName>
                                        </p:attrNameLst>
                                      </p:cBhvr>
                                      <p:to>
                                        <p:strVal val="visible"/>
                                      </p:to>
                                    </p:set>
                                    <p:anim calcmode="lin" valueType="num">
                                      <p:cBhvr additive="base">
                                        <p:cTn id="169" dur="500" fill="hold"/>
                                        <p:tgtEl>
                                          <p:spTgt spid="56"/>
                                        </p:tgtEl>
                                        <p:attrNameLst>
                                          <p:attrName>ppt_x</p:attrName>
                                        </p:attrNameLst>
                                      </p:cBhvr>
                                      <p:tavLst>
                                        <p:tav tm="0">
                                          <p:val>
                                            <p:strVal val="#ppt_x"/>
                                          </p:val>
                                        </p:tav>
                                        <p:tav tm="100000">
                                          <p:val>
                                            <p:strVal val="#ppt_x"/>
                                          </p:val>
                                        </p:tav>
                                      </p:tavLst>
                                    </p:anim>
                                    <p:anim calcmode="lin" valueType="num">
                                      <p:cBhvr additive="base">
                                        <p:cTn id="170" dur="500" fill="hold"/>
                                        <p:tgtEl>
                                          <p:spTgt spid="56"/>
                                        </p:tgtEl>
                                        <p:attrNameLst>
                                          <p:attrName>ppt_y</p:attrName>
                                        </p:attrNameLst>
                                      </p:cBhvr>
                                      <p:tavLst>
                                        <p:tav tm="0">
                                          <p:val>
                                            <p:strVal val="#ppt_y+0.1"/>
                                          </p:val>
                                        </p:tav>
                                        <p:tav tm="100000">
                                          <p:val>
                                            <p:strVal val="#ppt_y"/>
                                          </p:val>
                                        </p:tav>
                                      </p:tavLst>
                                    </p:anim>
                                    <p:animEffect transition="in" filter="fade">
                                      <p:cBhvr>
                                        <p:cTn id="171" dur="500"/>
                                        <p:tgtEl>
                                          <p:spTgt spid="56"/>
                                        </p:tgtEl>
                                      </p:cBhvr>
                                    </p:animEffect>
                                  </p:childTnLst>
                                </p:cTn>
                              </p:par>
                              <p:par>
                                <p:cTn id="177" presetID="2" presetClass="entr" presetSubtype="4" fill="hold" grpId="0" nodeType="withEffect">
                                  <p:stCondLst>
                                    <p:cond delay="300"/>
                                  </p:stCondLst>
                                  <p:childTnLst>
                                    <p:set>
                                      <p:cBhvr>
                                        <p:cTn id="173" dur="1" fill="hold">
                                          <p:stCondLst>
                                            <p:cond delay="0"/>
                                          </p:stCondLst>
                                        </p:cTn>
                                        <p:tgtEl>
                                          <p:spTgt spid="57"/>
                                        </p:tgtEl>
                                        <p:attrNameLst>
                                          <p:attrName>style.visibility</p:attrName>
                                        </p:attrNameLst>
                                      </p:cBhvr>
                                      <p:to>
                                        <p:strVal val="visible"/>
                                      </p:to>
                                    </p:set>
                                    <p:anim calcmode="lin" valueType="num">
                                      <p:cBhvr additive="base">
                                        <p:cTn id="174" dur="500" fill="hold"/>
                                        <p:tgtEl>
                                          <p:spTgt spid="57"/>
                                        </p:tgtEl>
                                        <p:attrNameLst>
                                          <p:attrName>ppt_x</p:attrName>
                                        </p:attrNameLst>
                                      </p:cBhvr>
                                      <p:tavLst>
                                        <p:tav tm="0">
                                          <p:val>
                                            <p:strVal val="#ppt_x"/>
                                          </p:val>
                                        </p:tav>
                                        <p:tav tm="100000">
                                          <p:val>
                                            <p:strVal val="#ppt_x"/>
                                          </p:val>
                                        </p:tav>
                                      </p:tavLst>
                                    </p:anim>
                                    <p:anim calcmode="lin" valueType="num">
                                      <p:cBhvr additive="base">
                                        <p:cTn id="175" dur="500" fill="hold"/>
                                        <p:tgtEl>
                                          <p:spTgt spid="57"/>
                                        </p:tgtEl>
                                        <p:attrNameLst>
                                          <p:attrName>ppt_y</p:attrName>
                                        </p:attrNameLst>
                                      </p:cBhvr>
                                      <p:tavLst>
                                        <p:tav tm="0">
                                          <p:val>
                                            <p:strVal val="#ppt_y+0.1"/>
                                          </p:val>
                                        </p:tav>
                                        <p:tav tm="100000">
                                          <p:val>
                                            <p:strVal val="#ppt_y"/>
                                          </p:val>
                                        </p:tav>
                                      </p:tavLst>
                                    </p:anim>
                                    <p:animEffect transition="in" filter="fade">
                                      <p:cBhvr>
                                        <p:cTn id="176" dur="500"/>
                                        <p:tgtEl>
                                          <p:spTgt spid="57"/>
                                        </p:tgtEl>
                                      </p:cBhvr>
                                    </p:animEffect>
                                  </p:childTnLst>
                                </p:cTn>
                              </p:par>
                              <p:par>
                                <p:cTn id="182" presetID="2" presetClass="entr" presetSubtype="4" fill="hold" grpId="0" nodeType="withEffect">
                                  <p:stCondLst>
                                    <p:cond delay="450"/>
                                  </p:stCondLst>
                                  <p:childTnLst>
                                    <p:set>
                                      <p:cBhvr>
                                        <p:cTn id="178" dur="1" fill="hold">
                                          <p:stCondLst>
                                            <p:cond delay="0"/>
                                          </p:stCondLst>
                                        </p:cTn>
                                        <p:tgtEl>
                                          <p:spTgt spid="58"/>
                                        </p:tgtEl>
                                        <p:attrNameLst>
                                          <p:attrName>style.visibility</p:attrName>
                                        </p:attrNameLst>
                                      </p:cBhvr>
                                      <p:to>
                                        <p:strVal val="visible"/>
                                      </p:to>
                                    </p:set>
                                    <p:anim calcmode="lin" valueType="num">
                                      <p:cBhvr additive="base">
                                        <p:cTn id="179" dur="500" fill="hold"/>
                                        <p:tgtEl>
                                          <p:spTgt spid="58"/>
                                        </p:tgtEl>
                                        <p:attrNameLst>
                                          <p:attrName>ppt_x</p:attrName>
                                        </p:attrNameLst>
                                      </p:cBhvr>
                                      <p:tavLst>
                                        <p:tav tm="0">
                                          <p:val>
                                            <p:strVal val="#ppt_x"/>
                                          </p:val>
                                        </p:tav>
                                        <p:tav tm="100000">
                                          <p:val>
                                            <p:strVal val="#ppt_x"/>
                                          </p:val>
                                        </p:tav>
                                      </p:tavLst>
                                    </p:anim>
                                    <p:anim calcmode="lin" valueType="num">
                                      <p:cBhvr additive="base">
                                        <p:cTn id="180" dur="500" fill="hold"/>
                                        <p:tgtEl>
                                          <p:spTgt spid="58"/>
                                        </p:tgtEl>
                                        <p:attrNameLst>
                                          <p:attrName>ppt_y</p:attrName>
                                        </p:attrNameLst>
                                      </p:cBhvr>
                                      <p:tavLst>
                                        <p:tav tm="0">
                                          <p:val>
                                            <p:strVal val="#ppt_y+0.1"/>
                                          </p:val>
                                        </p:tav>
                                        <p:tav tm="100000">
                                          <p:val>
                                            <p:strVal val="#ppt_y"/>
                                          </p:val>
                                        </p:tav>
                                      </p:tavLst>
                                    </p:anim>
                                    <p:animEffect transition="in" filter="fade">
                                      <p:cBhvr>
                                        <p:cTn id="181" dur="500"/>
                                        <p:tgtEl>
                                          <p:spTgt spid="58"/>
                                        </p:tgtEl>
                                      </p:cBhvr>
                                    </p:animEffect>
                                  </p:childTnLst>
                                </p:cTn>
                              </p:par>
                              <p:par>
                                <p:cTn id="187" presetID="2" presetClass="entr" presetSubtype="4" fill="hold" grpId="0" nodeType="withEffect">
                                  <p:stCondLst>
                                    <p:cond delay="450"/>
                                  </p:stCondLst>
                                  <p:childTnLst>
                                    <p:set>
                                      <p:cBhvr>
                                        <p:cTn id="183" dur="1" fill="hold">
                                          <p:stCondLst>
                                            <p:cond delay="0"/>
                                          </p:stCondLst>
                                        </p:cTn>
                                        <p:tgtEl>
                                          <p:spTgt spid="59"/>
                                        </p:tgtEl>
                                        <p:attrNameLst>
                                          <p:attrName>style.visibility</p:attrName>
                                        </p:attrNameLst>
                                      </p:cBhvr>
                                      <p:to>
                                        <p:strVal val="visible"/>
                                      </p:to>
                                    </p:set>
                                    <p:anim calcmode="lin" valueType="num">
                                      <p:cBhvr additive="base">
                                        <p:cTn id="184" dur="500" fill="hold"/>
                                        <p:tgtEl>
                                          <p:spTgt spid="59"/>
                                        </p:tgtEl>
                                        <p:attrNameLst>
                                          <p:attrName>ppt_x</p:attrName>
                                        </p:attrNameLst>
                                      </p:cBhvr>
                                      <p:tavLst>
                                        <p:tav tm="0">
                                          <p:val>
                                            <p:strVal val="#ppt_x"/>
                                          </p:val>
                                        </p:tav>
                                        <p:tav tm="100000">
                                          <p:val>
                                            <p:strVal val="#ppt_x"/>
                                          </p:val>
                                        </p:tav>
                                      </p:tavLst>
                                    </p:anim>
                                    <p:anim calcmode="lin" valueType="num">
                                      <p:cBhvr additive="base">
                                        <p:cTn id="185" dur="500" fill="hold"/>
                                        <p:tgtEl>
                                          <p:spTgt spid="59"/>
                                        </p:tgtEl>
                                        <p:attrNameLst>
                                          <p:attrName>ppt_y</p:attrName>
                                        </p:attrNameLst>
                                      </p:cBhvr>
                                      <p:tavLst>
                                        <p:tav tm="0">
                                          <p:val>
                                            <p:strVal val="#ppt_y+0.1"/>
                                          </p:val>
                                        </p:tav>
                                        <p:tav tm="100000">
                                          <p:val>
                                            <p:strVal val="#ppt_y"/>
                                          </p:val>
                                        </p:tav>
                                      </p:tavLst>
                                    </p:anim>
                                    <p:animEffect transition="in" filter="fade">
                                      <p:cBhvr>
                                        <p:cTn id="186" dur="500"/>
                                        <p:tgtEl>
                                          <p:spTgt spid="59"/>
                                        </p:tgtEl>
                                      </p:cBhvr>
                                    </p:animEffect>
                                  </p:childTnLst>
                                </p:cTn>
                              </p:par>
                              <p:par>
                                <p:cTn id="192" presetID="2" presetClass="entr" presetSubtype="4" fill="hold" grpId="0" nodeType="withEffect">
                                  <p:stCondLst>
                                    <p:cond delay="600"/>
                                  </p:stCondLst>
                                  <p:childTnLst>
                                    <p:set>
                                      <p:cBhvr>
                                        <p:cTn id="188" dur="1" fill="hold">
                                          <p:stCondLst>
                                            <p:cond delay="0"/>
                                          </p:stCondLst>
                                        </p:cTn>
                                        <p:tgtEl>
                                          <p:spTgt spid="60"/>
                                        </p:tgtEl>
                                        <p:attrNameLst>
                                          <p:attrName>style.visibility</p:attrName>
                                        </p:attrNameLst>
                                      </p:cBhvr>
                                      <p:to>
                                        <p:strVal val="visible"/>
                                      </p:to>
                                    </p:set>
                                    <p:anim calcmode="lin" valueType="num">
                                      <p:cBhvr additive="base">
                                        <p:cTn id="189" dur="500" fill="hold"/>
                                        <p:tgtEl>
                                          <p:spTgt spid="60"/>
                                        </p:tgtEl>
                                        <p:attrNameLst>
                                          <p:attrName>ppt_x</p:attrName>
                                        </p:attrNameLst>
                                      </p:cBhvr>
                                      <p:tavLst>
                                        <p:tav tm="0">
                                          <p:val>
                                            <p:strVal val="#ppt_x"/>
                                          </p:val>
                                        </p:tav>
                                        <p:tav tm="100000">
                                          <p:val>
                                            <p:strVal val="#ppt_x"/>
                                          </p:val>
                                        </p:tav>
                                      </p:tavLst>
                                    </p:anim>
                                    <p:anim calcmode="lin" valueType="num">
                                      <p:cBhvr additive="base">
                                        <p:cTn id="190" dur="500" fill="hold"/>
                                        <p:tgtEl>
                                          <p:spTgt spid="60"/>
                                        </p:tgtEl>
                                        <p:attrNameLst>
                                          <p:attrName>ppt_y</p:attrName>
                                        </p:attrNameLst>
                                      </p:cBhvr>
                                      <p:tavLst>
                                        <p:tav tm="0">
                                          <p:val>
                                            <p:strVal val="#ppt_y+0.1"/>
                                          </p:val>
                                        </p:tav>
                                        <p:tav tm="100000">
                                          <p:val>
                                            <p:strVal val="#ppt_y"/>
                                          </p:val>
                                        </p:tav>
                                      </p:tavLst>
                                    </p:anim>
                                    <p:animEffect transition="in" filter="fade">
                                      <p:cBhvr>
                                        <p:cTn id="191" dur="500"/>
                                        <p:tgtEl>
                                          <p:spTgt spid="60"/>
                                        </p:tgtEl>
                                      </p:cBhvr>
                                    </p:animEffect>
                                  </p:childTnLst>
                                </p:cTn>
                              </p:par>
                              <p:par>
                                <p:cTn id="197" presetID="2" presetClass="entr" presetSubtype="4" fill="hold" grpId="0" nodeType="withEffect">
                                  <p:stCondLst>
                                    <p:cond delay="600"/>
                                  </p:stCondLst>
                                  <p:childTnLst>
                                    <p:set>
                                      <p:cBhvr>
                                        <p:cTn id="193" dur="1" fill="hold">
                                          <p:stCondLst>
                                            <p:cond delay="0"/>
                                          </p:stCondLst>
                                        </p:cTn>
                                        <p:tgtEl>
                                          <p:spTgt spid="61"/>
                                        </p:tgtEl>
                                        <p:attrNameLst>
                                          <p:attrName>style.visibility</p:attrName>
                                        </p:attrNameLst>
                                      </p:cBhvr>
                                      <p:to>
                                        <p:strVal val="visible"/>
                                      </p:to>
                                    </p:set>
                                    <p:anim calcmode="lin" valueType="num">
                                      <p:cBhvr additive="base">
                                        <p:cTn id="194" dur="500" fill="hold"/>
                                        <p:tgtEl>
                                          <p:spTgt spid="61"/>
                                        </p:tgtEl>
                                        <p:attrNameLst>
                                          <p:attrName>ppt_x</p:attrName>
                                        </p:attrNameLst>
                                      </p:cBhvr>
                                      <p:tavLst>
                                        <p:tav tm="0">
                                          <p:val>
                                            <p:strVal val="#ppt_x"/>
                                          </p:val>
                                        </p:tav>
                                        <p:tav tm="100000">
                                          <p:val>
                                            <p:strVal val="#ppt_x"/>
                                          </p:val>
                                        </p:tav>
                                      </p:tavLst>
                                    </p:anim>
                                    <p:anim calcmode="lin" valueType="num">
                                      <p:cBhvr additive="base">
                                        <p:cTn id="195" dur="500" fill="hold"/>
                                        <p:tgtEl>
                                          <p:spTgt spid="61"/>
                                        </p:tgtEl>
                                        <p:attrNameLst>
                                          <p:attrName>ppt_y</p:attrName>
                                        </p:attrNameLst>
                                      </p:cBhvr>
                                      <p:tavLst>
                                        <p:tav tm="0">
                                          <p:val>
                                            <p:strVal val="#ppt_y+0.1"/>
                                          </p:val>
                                        </p:tav>
                                        <p:tav tm="100000">
                                          <p:val>
                                            <p:strVal val="#ppt_y"/>
                                          </p:val>
                                        </p:tav>
                                      </p:tavLst>
                                    </p:anim>
                                    <p:animEffect transition="in" filter="fade">
                                      <p:cBhvr>
                                        <p:cTn id="196" dur="500"/>
                                        <p:tgtEl>
                                          <p:spTgt spid="61"/>
                                        </p:tgtEl>
                                      </p:cBhvr>
                                    </p:animEffect>
                                  </p:childTnLst>
                                </p:cTn>
                              </p:par>
                              <p:par>
                                <p:cTn id="202" presetID="2" presetClass="entr" presetSubtype="4" fill="hold" grpId="0" nodeType="withEffect">
                                  <p:stCondLst>
                                    <p:cond delay="750"/>
                                  </p:stCondLst>
                                  <p:childTnLst>
                                    <p:set>
                                      <p:cBhvr>
                                        <p:cTn id="198" dur="1" fill="hold">
                                          <p:stCondLst>
                                            <p:cond delay="0"/>
                                          </p:stCondLst>
                                        </p:cTn>
                                        <p:tgtEl>
                                          <p:spTgt spid="62"/>
                                        </p:tgtEl>
                                        <p:attrNameLst>
                                          <p:attrName>style.visibility</p:attrName>
                                        </p:attrNameLst>
                                      </p:cBhvr>
                                      <p:to>
                                        <p:strVal val="visible"/>
                                      </p:to>
                                    </p:set>
                                    <p:anim calcmode="lin" valueType="num">
                                      <p:cBhvr additive="base">
                                        <p:cTn id="199" dur="500" fill="hold"/>
                                        <p:tgtEl>
                                          <p:spTgt spid="62"/>
                                        </p:tgtEl>
                                        <p:attrNameLst>
                                          <p:attrName>ppt_x</p:attrName>
                                        </p:attrNameLst>
                                      </p:cBhvr>
                                      <p:tavLst>
                                        <p:tav tm="0">
                                          <p:val>
                                            <p:strVal val="#ppt_x"/>
                                          </p:val>
                                        </p:tav>
                                        <p:tav tm="100000">
                                          <p:val>
                                            <p:strVal val="#ppt_x"/>
                                          </p:val>
                                        </p:tav>
                                      </p:tavLst>
                                    </p:anim>
                                    <p:anim calcmode="lin" valueType="num">
                                      <p:cBhvr additive="base">
                                        <p:cTn id="200" dur="500" fill="hold"/>
                                        <p:tgtEl>
                                          <p:spTgt spid="62"/>
                                        </p:tgtEl>
                                        <p:attrNameLst>
                                          <p:attrName>ppt_y</p:attrName>
                                        </p:attrNameLst>
                                      </p:cBhvr>
                                      <p:tavLst>
                                        <p:tav tm="0">
                                          <p:val>
                                            <p:strVal val="#ppt_y+0.1"/>
                                          </p:val>
                                        </p:tav>
                                        <p:tav tm="100000">
                                          <p:val>
                                            <p:strVal val="#ppt_y"/>
                                          </p:val>
                                        </p:tav>
                                      </p:tavLst>
                                    </p:anim>
                                    <p:animEffect transition="in" filter="fade">
                                      <p:cBhvr>
                                        <p:cTn id="201" dur="500"/>
                                        <p:tgtEl>
                                          <p:spTgt spid="62"/>
                                        </p:tgtEl>
                                      </p:cBhvr>
                                    </p:animEffect>
                                  </p:childTnLst>
                                </p:cTn>
                              </p:par>
                              <p:par>
                                <p:cTn id="207" presetID="2" presetClass="entr" presetSubtype="4" fill="hold" grpId="0" nodeType="withEffect">
                                  <p:stCondLst>
                                    <p:cond delay="750"/>
                                  </p:stCondLst>
                                  <p:childTnLst>
                                    <p:set>
                                      <p:cBhvr>
                                        <p:cTn id="203" dur="1" fill="hold">
                                          <p:stCondLst>
                                            <p:cond delay="0"/>
                                          </p:stCondLst>
                                        </p:cTn>
                                        <p:tgtEl>
                                          <p:spTgt spid="63"/>
                                        </p:tgtEl>
                                        <p:attrNameLst>
                                          <p:attrName>style.visibility</p:attrName>
                                        </p:attrNameLst>
                                      </p:cBhvr>
                                      <p:to>
                                        <p:strVal val="visible"/>
                                      </p:to>
                                    </p:set>
                                    <p:anim calcmode="lin" valueType="num">
                                      <p:cBhvr additive="base">
                                        <p:cTn id="204" dur="500" fill="hold"/>
                                        <p:tgtEl>
                                          <p:spTgt spid="63"/>
                                        </p:tgtEl>
                                        <p:attrNameLst>
                                          <p:attrName>ppt_x</p:attrName>
                                        </p:attrNameLst>
                                      </p:cBhvr>
                                      <p:tavLst>
                                        <p:tav tm="0">
                                          <p:val>
                                            <p:strVal val="#ppt_x"/>
                                          </p:val>
                                        </p:tav>
                                        <p:tav tm="100000">
                                          <p:val>
                                            <p:strVal val="#ppt_x"/>
                                          </p:val>
                                        </p:tav>
                                      </p:tavLst>
                                    </p:anim>
                                    <p:anim calcmode="lin" valueType="num">
                                      <p:cBhvr additive="base">
                                        <p:cTn id="205" dur="500" fill="hold"/>
                                        <p:tgtEl>
                                          <p:spTgt spid="63"/>
                                        </p:tgtEl>
                                        <p:attrNameLst>
                                          <p:attrName>ppt_y</p:attrName>
                                        </p:attrNameLst>
                                      </p:cBhvr>
                                      <p:tavLst>
                                        <p:tav tm="0">
                                          <p:val>
                                            <p:strVal val="#ppt_y+0.1"/>
                                          </p:val>
                                        </p:tav>
                                        <p:tav tm="100000">
                                          <p:val>
                                            <p:strVal val="#ppt_y"/>
                                          </p:val>
                                        </p:tav>
                                      </p:tavLst>
                                    </p:anim>
                                    <p:animEffect transition="in" filter="fade">
                                      <p:cBhvr>
                                        <p:cTn id="206" dur="500"/>
                                        <p:tgtEl>
                                          <p:spTgt spid="63"/>
                                        </p:tgtEl>
                                      </p:cBhvr>
                                    </p:animEffect>
                                  </p:childTnLst>
                                </p:cTn>
                              </p:par>
                            </p:childTnLst>
                          </p:cTn>
                        </p:par>
                      </p:childTnLst>
                    </p:cTn>
                  </p:par>
                  <p:par>
                    <p:cTn id="208" fill="hold">
                      <p:stCondLst>
                        <p:cond delay="indefinite"/>
                      </p:stCondLst>
                      <p:childTnLst>
                        <p:par>
                          <p:cTn id="209" fill="hold">
                            <p:stCondLst>
                              <p:cond delay="0"/>
                            </p:stCondLst>
                            <p:childTnLst>
                              <p:par>
                                <p:cTn id="214" presetID="2" presetClass="entr" presetSubtype="4" fill="hold" grpId="0" nodeType="clickEffect">
                                  <p:stCondLst>
                                    <p:cond delay="0"/>
                                  </p:stCondLst>
                                  <p:childTnLst>
                                    <p:set>
                                      <p:cBhvr>
                                        <p:cTn id="210" dur="1" fill="hold">
                                          <p:stCondLst>
                                            <p:cond delay="0"/>
                                          </p:stCondLst>
                                        </p:cTn>
                                        <p:tgtEl>
                                          <p:spTgt spid="49"/>
                                        </p:tgtEl>
                                        <p:attrNameLst>
                                          <p:attrName>style.visibility</p:attrName>
                                        </p:attrNameLst>
                                      </p:cBhvr>
                                      <p:to>
                                        <p:strVal val="visible"/>
                                      </p:to>
                                    </p:set>
                                    <p:anim calcmode="lin" valueType="num">
                                      <p:cBhvr additive="base">
                                        <p:cTn id="211" dur="500" fill="hold"/>
                                        <p:tgtEl>
                                          <p:spTgt spid="49"/>
                                        </p:tgtEl>
                                        <p:attrNameLst>
                                          <p:attrName>ppt_x</p:attrName>
                                        </p:attrNameLst>
                                      </p:cBhvr>
                                      <p:tavLst>
                                        <p:tav tm="0">
                                          <p:val>
                                            <p:strVal val="#ppt_x"/>
                                          </p:val>
                                        </p:tav>
                                        <p:tav tm="100000">
                                          <p:val>
                                            <p:strVal val="#ppt_x"/>
                                          </p:val>
                                        </p:tav>
                                      </p:tavLst>
                                    </p:anim>
                                    <p:anim calcmode="lin" valueType="num">
                                      <p:cBhvr additive="base">
                                        <p:cTn id="212" dur="500" fill="hold"/>
                                        <p:tgtEl>
                                          <p:spTgt spid="49"/>
                                        </p:tgtEl>
                                        <p:attrNameLst>
                                          <p:attrName>ppt_y</p:attrName>
                                        </p:attrNameLst>
                                      </p:cBhvr>
                                      <p:tavLst>
                                        <p:tav tm="0">
                                          <p:val>
                                            <p:strVal val="#ppt_y+0.1"/>
                                          </p:val>
                                        </p:tav>
                                        <p:tav tm="100000">
                                          <p:val>
                                            <p:strVal val="#ppt_y"/>
                                          </p:val>
                                        </p:tav>
                                      </p:tavLst>
                                    </p:anim>
                                    <p:animEffect transition="in" filter="fade">
                                      <p:cBhvr>
                                        <p:cTn id="213" dur="500"/>
                                        <p:tgtEl>
                                          <p:spTgt spid="49"/>
                                        </p:tgtEl>
                                      </p:cBhvr>
                                    </p:animEffect>
                                  </p:childTnLst>
                                </p:cTn>
                              </p:par>
                              <p:par>
                                <p:cTn id="219" presetID="2" presetClass="entr" presetSubtype="4" fill="hold" grpId="0" nodeType="withEffect">
                                  <p:stCondLst>
                                    <p:cond delay="0"/>
                                  </p:stCondLst>
                                  <p:childTnLst>
                                    <p:set>
                                      <p:cBhvr>
                                        <p:cTn id="215" dur="1" fill="hold">
                                          <p:stCondLst>
                                            <p:cond delay="0"/>
                                          </p:stCondLst>
                                        </p:cTn>
                                        <p:tgtEl>
                                          <p:spTgt spid="64"/>
                                        </p:tgtEl>
                                        <p:attrNameLst>
                                          <p:attrName>style.visibility</p:attrName>
                                        </p:attrNameLst>
                                      </p:cBhvr>
                                      <p:to>
                                        <p:strVal val="visible"/>
                                      </p:to>
                                    </p:set>
                                    <p:anim calcmode="lin" valueType="num">
                                      <p:cBhvr additive="base">
                                        <p:cTn id="216" dur="500" fill="hold"/>
                                        <p:tgtEl>
                                          <p:spTgt spid="64"/>
                                        </p:tgtEl>
                                        <p:attrNameLst>
                                          <p:attrName>ppt_x</p:attrName>
                                        </p:attrNameLst>
                                      </p:cBhvr>
                                      <p:tavLst>
                                        <p:tav tm="0">
                                          <p:val>
                                            <p:strVal val="#ppt_x"/>
                                          </p:val>
                                        </p:tav>
                                        <p:tav tm="100000">
                                          <p:val>
                                            <p:strVal val="#ppt_x"/>
                                          </p:val>
                                        </p:tav>
                                      </p:tavLst>
                                    </p:anim>
                                    <p:anim calcmode="lin" valueType="num">
                                      <p:cBhvr additive="base">
                                        <p:cTn id="217" dur="500" fill="hold"/>
                                        <p:tgtEl>
                                          <p:spTgt spid="64"/>
                                        </p:tgtEl>
                                        <p:attrNameLst>
                                          <p:attrName>ppt_y</p:attrName>
                                        </p:attrNameLst>
                                      </p:cBhvr>
                                      <p:tavLst>
                                        <p:tav tm="0">
                                          <p:val>
                                            <p:strVal val="#ppt_y+0.1"/>
                                          </p:val>
                                        </p:tav>
                                        <p:tav tm="100000">
                                          <p:val>
                                            <p:strVal val="#ppt_y"/>
                                          </p:val>
                                        </p:tav>
                                      </p:tavLst>
                                    </p:anim>
                                    <p:animEffect transition="in" filter="fade">
                                      <p:cBhvr>
                                        <p:cTn id="218" dur="500"/>
                                        <p:tgtEl>
                                          <p:spTgt spid="64"/>
                                        </p:tgtEl>
                                      </p:cBhvr>
                                    </p:animEffect>
                                  </p:childTnLst>
                                </p:cTn>
                              </p:par>
                              <p:par>
                                <p:cTn id="224" presetID="2" presetClass="entr" presetSubtype="4" fill="hold" grpId="0" nodeType="withEffect">
                                  <p:stCondLst>
                                    <p:cond delay="0"/>
                                  </p:stCondLst>
                                  <p:childTnLst>
                                    <p:set>
                                      <p:cBhvr>
                                        <p:cTn id="220" dur="1" fill="hold">
                                          <p:stCondLst>
                                            <p:cond delay="0"/>
                                          </p:stCondLst>
                                        </p:cTn>
                                        <p:tgtEl>
                                          <p:spTgt spid="65"/>
                                        </p:tgtEl>
                                        <p:attrNameLst>
                                          <p:attrName>style.visibility</p:attrName>
                                        </p:attrNameLst>
                                      </p:cBhvr>
                                      <p:to>
                                        <p:strVal val="visible"/>
                                      </p:to>
                                    </p:set>
                                    <p:anim calcmode="lin" valueType="num">
                                      <p:cBhvr additive="base">
                                        <p:cTn id="221" dur="500" fill="hold"/>
                                        <p:tgtEl>
                                          <p:spTgt spid="65"/>
                                        </p:tgtEl>
                                        <p:attrNameLst>
                                          <p:attrName>ppt_x</p:attrName>
                                        </p:attrNameLst>
                                      </p:cBhvr>
                                      <p:tavLst>
                                        <p:tav tm="0">
                                          <p:val>
                                            <p:strVal val="#ppt_x"/>
                                          </p:val>
                                        </p:tav>
                                        <p:tav tm="100000">
                                          <p:val>
                                            <p:strVal val="#ppt_x"/>
                                          </p:val>
                                        </p:tav>
                                      </p:tavLst>
                                    </p:anim>
                                    <p:anim calcmode="lin" valueType="num">
                                      <p:cBhvr additive="base">
                                        <p:cTn id="222" dur="500" fill="hold"/>
                                        <p:tgtEl>
                                          <p:spTgt spid="65"/>
                                        </p:tgtEl>
                                        <p:attrNameLst>
                                          <p:attrName>ppt_y</p:attrName>
                                        </p:attrNameLst>
                                      </p:cBhvr>
                                      <p:tavLst>
                                        <p:tav tm="0">
                                          <p:val>
                                            <p:strVal val="#ppt_y+0.1"/>
                                          </p:val>
                                        </p:tav>
                                        <p:tav tm="100000">
                                          <p:val>
                                            <p:strVal val="#ppt_y"/>
                                          </p:val>
                                        </p:tav>
                                      </p:tavLst>
                                    </p:anim>
                                    <p:animEffect transition="in" filter="fade">
                                      <p:cBhvr>
                                        <p:cTn id="223" dur="500"/>
                                        <p:tgtEl>
                                          <p:spTgt spid="65"/>
                                        </p:tgtEl>
                                      </p:cBhvr>
                                    </p:animEffect>
                                  </p:childTnLst>
                                </p:cTn>
                              </p:par>
                              <p:par>
                                <p:cTn id="229" presetID="2" presetClass="entr" presetSubtype="4" fill="hold" grpId="0" nodeType="withEffect">
                                  <p:stCondLst>
                                    <p:cond delay="0"/>
                                  </p:stCondLst>
                                  <p:childTnLst>
                                    <p:set>
                                      <p:cBhvr>
                                        <p:cTn id="225" dur="1" fill="hold">
                                          <p:stCondLst>
                                            <p:cond delay="0"/>
                                          </p:stCondLst>
                                        </p:cTn>
                                        <p:tgtEl>
                                          <p:spTgt spid="66"/>
                                        </p:tgtEl>
                                        <p:attrNameLst>
                                          <p:attrName>style.visibility</p:attrName>
                                        </p:attrNameLst>
                                      </p:cBhvr>
                                      <p:to>
                                        <p:strVal val="visible"/>
                                      </p:to>
                                    </p:set>
                                    <p:anim calcmode="lin" valueType="num">
                                      <p:cBhvr additive="base">
                                        <p:cTn id="226" dur="500" fill="hold"/>
                                        <p:tgtEl>
                                          <p:spTgt spid="66"/>
                                        </p:tgtEl>
                                        <p:attrNameLst>
                                          <p:attrName>ppt_x</p:attrName>
                                        </p:attrNameLst>
                                      </p:cBhvr>
                                      <p:tavLst>
                                        <p:tav tm="0">
                                          <p:val>
                                            <p:strVal val="#ppt_x"/>
                                          </p:val>
                                        </p:tav>
                                        <p:tav tm="100000">
                                          <p:val>
                                            <p:strVal val="#ppt_x"/>
                                          </p:val>
                                        </p:tav>
                                      </p:tavLst>
                                    </p:anim>
                                    <p:anim calcmode="lin" valueType="num">
                                      <p:cBhvr additive="base">
                                        <p:cTn id="227" dur="500" fill="hold"/>
                                        <p:tgtEl>
                                          <p:spTgt spid="66"/>
                                        </p:tgtEl>
                                        <p:attrNameLst>
                                          <p:attrName>ppt_y</p:attrName>
                                        </p:attrNameLst>
                                      </p:cBhvr>
                                      <p:tavLst>
                                        <p:tav tm="0">
                                          <p:val>
                                            <p:strVal val="#ppt_y+0.1"/>
                                          </p:val>
                                        </p:tav>
                                        <p:tav tm="100000">
                                          <p:val>
                                            <p:strVal val="#ppt_y"/>
                                          </p:val>
                                        </p:tav>
                                      </p:tavLst>
                                    </p:anim>
                                    <p:animEffect transition="in" filter="fade">
                                      <p:cBhvr>
                                        <p:cTn id="228" dur="500"/>
                                        <p:tgtEl>
                                          <p:spTgt spid="66"/>
                                        </p:tgtEl>
                                      </p:cBhvr>
                                    </p:animEffect>
                                  </p:childTnLst>
                                </p:cTn>
                              </p:par>
                              <p:par>
                                <p:cTn id="234" presetID="2" presetClass="entr" presetSubtype="4" fill="hold" grpId="0" nodeType="withEffect">
                                  <p:stCondLst>
                                    <p:cond delay="0"/>
                                  </p:stCondLst>
                                  <p:childTnLst>
                                    <p:set>
                                      <p:cBhvr>
                                        <p:cTn id="230" dur="1" fill="hold">
                                          <p:stCondLst>
                                            <p:cond delay="0"/>
                                          </p:stCondLst>
                                        </p:cTn>
                                        <p:tgtEl>
                                          <p:spTgt spid="67"/>
                                        </p:tgtEl>
                                        <p:attrNameLst>
                                          <p:attrName>style.visibility</p:attrName>
                                        </p:attrNameLst>
                                      </p:cBhvr>
                                      <p:to>
                                        <p:strVal val="visible"/>
                                      </p:to>
                                    </p:set>
                                    <p:anim calcmode="lin" valueType="num">
                                      <p:cBhvr additive="base">
                                        <p:cTn id="231" dur="500" fill="hold"/>
                                        <p:tgtEl>
                                          <p:spTgt spid="67"/>
                                        </p:tgtEl>
                                        <p:attrNameLst>
                                          <p:attrName>ppt_x</p:attrName>
                                        </p:attrNameLst>
                                      </p:cBhvr>
                                      <p:tavLst>
                                        <p:tav tm="0">
                                          <p:val>
                                            <p:strVal val="#ppt_x"/>
                                          </p:val>
                                        </p:tav>
                                        <p:tav tm="100000">
                                          <p:val>
                                            <p:strVal val="#ppt_x"/>
                                          </p:val>
                                        </p:tav>
                                      </p:tavLst>
                                    </p:anim>
                                    <p:anim calcmode="lin" valueType="num">
                                      <p:cBhvr additive="base">
                                        <p:cTn id="232" dur="500" fill="hold"/>
                                        <p:tgtEl>
                                          <p:spTgt spid="67"/>
                                        </p:tgtEl>
                                        <p:attrNameLst>
                                          <p:attrName>ppt_y</p:attrName>
                                        </p:attrNameLst>
                                      </p:cBhvr>
                                      <p:tavLst>
                                        <p:tav tm="0">
                                          <p:val>
                                            <p:strVal val="#ppt_y+0.1"/>
                                          </p:val>
                                        </p:tav>
                                        <p:tav tm="100000">
                                          <p:val>
                                            <p:strVal val="#ppt_y"/>
                                          </p:val>
                                        </p:tav>
                                      </p:tavLst>
                                    </p:anim>
                                    <p:animEffect transition="in" filter="fade">
                                      <p:cBhvr>
                                        <p:cTn id="233" dur="500"/>
                                        <p:tgtEl>
                                          <p:spTgt spid="67"/>
                                        </p:tgtEl>
                                      </p:cBhvr>
                                    </p:animEffect>
                                  </p:childTnLst>
                                </p:cTn>
                              </p:par>
                              <p:par>
                                <p:cTn id="239" presetID="2" presetClass="entr" presetSubtype="4" fill="hold" grpId="0" nodeType="withEffect">
                                  <p:stCondLst>
                                    <p:cond delay="150"/>
                                  </p:stCondLst>
                                  <p:childTnLst>
                                    <p:set>
                                      <p:cBhvr>
                                        <p:cTn id="235" dur="1" fill="hold">
                                          <p:stCondLst>
                                            <p:cond delay="0"/>
                                          </p:stCondLst>
                                        </p:cTn>
                                        <p:tgtEl>
                                          <p:spTgt spid="68"/>
                                        </p:tgtEl>
                                        <p:attrNameLst>
                                          <p:attrName>style.visibility</p:attrName>
                                        </p:attrNameLst>
                                      </p:cBhvr>
                                      <p:to>
                                        <p:strVal val="visible"/>
                                      </p:to>
                                    </p:set>
                                    <p:anim calcmode="lin" valueType="num">
                                      <p:cBhvr additive="base">
                                        <p:cTn id="236" dur="500" fill="hold"/>
                                        <p:tgtEl>
                                          <p:spTgt spid="68"/>
                                        </p:tgtEl>
                                        <p:attrNameLst>
                                          <p:attrName>ppt_x</p:attrName>
                                        </p:attrNameLst>
                                      </p:cBhvr>
                                      <p:tavLst>
                                        <p:tav tm="0">
                                          <p:val>
                                            <p:strVal val="#ppt_x"/>
                                          </p:val>
                                        </p:tav>
                                        <p:tav tm="100000">
                                          <p:val>
                                            <p:strVal val="#ppt_x"/>
                                          </p:val>
                                        </p:tav>
                                      </p:tavLst>
                                    </p:anim>
                                    <p:anim calcmode="lin" valueType="num">
                                      <p:cBhvr additive="base">
                                        <p:cTn id="237" dur="500" fill="hold"/>
                                        <p:tgtEl>
                                          <p:spTgt spid="68"/>
                                        </p:tgtEl>
                                        <p:attrNameLst>
                                          <p:attrName>ppt_y</p:attrName>
                                        </p:attrNameLst>
                                      </p:cBhvr>
                                      <p:tavLst>
                                        <p:tav tm="0">
                                          <p:val>
                                            <p:strVal val="#ppt_y+0.1"/>
                                          </p:val>
                                        </p:tav>
                                        <p:tav tm="100000">
                                          <p:val>
                                            <p:strVal val="#ppt_y"/>
                                          </p:val>
                                        </p:tav>
                                      </p:tavLst>
                                    </p:anim>
                                    <p:animEffect transition="in" filter="fade">
                                      <p:cBhvr>
                                        <p:cTn id="238" dur="500"/>
                                        <p:tgtEl>
                                          <p:spTgt spid="68"/>
                                        </p:tgtEl>
                                      </p:cBhvr>
                                    </p:animEffect>
                                  </p:childTnLst>
                                </p:cTn>
                              </p:par>
                              <p:par>
                                <p:cTn id="244" presetID="2" presetClass="entr" presetSubtype="4" fill="hold" grpId="0" nodeType="withEffect">
                                  <p:stCondLst>
                                    <p:cond delay="150"/>
                                  </p:stCondLst>
                                  <p:childTnLst>
                                    <p:set>
                                      <p:cBhvr>
                                        <p:cTn id="240" dur="1" fill="hold">
                                          <p:stCondLst>
                                            <p:cond delay="0"/>
                                          </p:stCondLst>
                                        </p:cTn>
                                        <p:tgtEl>
                                          <p:spTgt spid="69"/>
                                        </p:tgtEl>
                                        <p:attrNameLst>
                                          <p:attrName>style.visibility</p:attrName>
                                        </p:attrNameLst>
                                      </p:cBhvr>
                                      <p:to>
                                        <p:strVal val="visible"/>
                                      </p:to>
                                    </p:set>
                                    <p:anim calcmode="lin" valueType="num">
                                      <p:cBhvr additive="base">
                                        <p:cTn id="241" dur="500" fill="hold"/>
                                        <p:tgtEl>
                                          <p:spTgt spid="69"/>
                                        </p:tgtEl>
                                        <p:attrNameLst>
                                          <p:attrName>ppt_x</p:attrName>
                                        </p:attrNameLst>
                                      </p:cBhvr>
                                      <p:tavLst>
                                        <p:tav tm="0">
                                          <p:val>
                                            <p:strVal val="#ppt_x"/>
                                          </p:val>
                                        </p:tav>
                                        <p:tav tm="100000">
                                          <p:val>
                                            <p:strVal val="#ppt_x"/>
                                          </p:val>
                                        </p:tav>
                                      </p:tavLst>
                                    </p:anim>
                                    <p:anim calcmode="lin" valueType="num">
                                      <p:cBhvr additive="base">
                                        <p:cTn id="242" dur="500" fill="hold"/>
                                        <p:tgtEl>
                                          <p:spTgt spid="69"/>
                                        </p:tgtEl>
                                        <p:attrNameLst>
                                          <p:attrName>ppt_y</p:attrName>
                                        </p:attrNameLst>
                                      </p:cBhvr>
                                      <p:tavLst>
                                        <p:tav tm="0">
                                          <p:val>
                                            <p:strVal val="#ppt_y+0.1"/>
                                          </p:val>
                                        </p:tav>
                                        <p:tav tm="100000">
                                          <p:val>
                                            <p:strVal val="#ppt_y"/>
                                          </p:val>
                                        </p:tav>
                                      </p:tavLst>
                                    </p:anim>
                                    <p:animEffect transition="in" filter="fade">
                                      <p:cBhvr>
                                        <p:cTn id="243" dur="500"/>
                                        <p:tgtEl>
                                          <p:spTgt spid="69"/>
                                        </p:tgtEl>
                                      </p:cBhvr>
                                    </p:animEffect>
                                  </p:childTnLst>
                                </p:cTn>
                              </p:par>
                              <p:par>
                                <p:cTn id="249" presetID="2" presetClass="entr" presetSubtype="4" fill="hold" grpId="0" nodeType="withEffect">
                                  <p:stCondLst>
                                    <p:cond delay="300"/>
                                  </p:stCondLst>
                                  <p:childTnLst>
                                    <p:set>
                                      <p:cBhvr>
                                        <p:cTn id="245" dur="1" fill="hold">
                                          <p:stCondLst>
                                            <p:cond delay="0"/>
                                          </p:stCondLst>
                                        </p:cTn>
                                        <p:tgtEl>
                                          <p:spTgt spid="70"/>
                                        </p:tgtEl>
                                        <p:attrNameLst>
                                          <p:attrName>style.visibility</p:attrName>
                                        </p:attrNameLst>
                                      </p:cBhvr>
                                      <p:to>
                                        <p:strVal val="visible"/>
                                      </p:to>
                                    </p:set>
                                    <p:anim calcmode="lin" valueType="num">
                                      <p:cBhvr additive="base">
                                        <p:cTn id="246" dur="500" fill="hold"/>
                                        <p:tgtEl>
                                          <p:spTgt spid="70"/>
                                        </p:tgtEl>
                                        <p:attrNameLst>
                                          <p:attrName>ppt_x</p:attrName>
                                        </p:attrNameLst>
                                      </p:cBhvr>
                                      <p:tavLst>
                                        <p:tav tm="0">
                                          <p:val>
                                            <p:strVal val="#ppt_x"/>
                                          </p:val>
                                        </p:tav>
                                        <p:tav tm="100000">
                                          <p:val>
                                            <p:strVal val="#ppt_x"/>
                                          </p:val>
                                        </p:tav>
                                      </p:tavLst>
                                    </p:anim>
                                    <p:anim calcmode="lin" valueType="num">
                                      <p:cBhvr additive="base">
                                        <p:cTn id="247" dur="500" fill="hold"/>
                                        <p:tgtEl>
                                          <p:spTgt spid="70"/>
                                        </p:tgtEl>
                                        <p:attrNameLst>
                                          <p:attrName>ppt_y</p:attrName>
                                        </p:attrNameLst>
                                      </p:cBhvr>
                                      <p:tavLst>
                                        <p:tav tm="0">
                                          <p:val>
                                            <p:strVal val="#ppt_y+0.1"/>
                                          </p:val>
                                        </p:tav>
                                        <p:tav tm="100000">
                                          <p:val>
                                            <p:strVal val="#ppt_y"/>
                                          </p:val>
                                        </p:tav>
                                      </p:tavLst>
                                    </p:anim>
                                    <p:animEffect transition="in" filter="fade">
                                      <p:cBhvr>
                                        <p:cTn id="248" dur="500"/>
                                        <p:tgtEl>
                                          <p:spTgt spid="70"/>
                                        </p:tgtEl>
                                      </p:cBhvr>
                                    </p:animEffect>
                                  </p:childTnLst>
                                </p:cTn>
                              </p:par>
                              <p:par>
                                <p:cTn id="254" presetID="2" presetClass="entr" presetSubtype="4" fill="hold" grpId="0" nodeType="withEffect">
                                  <p:stCondLst>
                                    <p:cond delay="300"/>
                                  </p:stCondLst>
                                  <p:childTnLst>
                                    <p:set>
                                      <p:cBhvr>
                                        <p:cTn id="250" dur="1" fill="hold">
                                          <p:stCondLst>
                                            <p:cond delay="0"/>
                                          </p:stCondLst>
                                        </p:cTn>
                                        <p:tgtEl>
                                          <p:spTgt spid="71"/>
                                        </p:tgtEl>
                                        <p:attrNameLst>
                                          <p:attrName>style.visibility</p:attrName>
                                        </p:attrNameLst>
                                      </p:cBhvr>
                                      <p:to>
                                        <p:strVal val="visible"/>
                                      </p:to>
                                    </p:set>
                                    <p:anim calcmode="lin" valueType="num">
                                      <p:cBhvr additive="base">
                                        <p:cTn id="251" dur="500" fill="hold"/>
                                        <p:tgtEl>
                                          <p:spTgt spid="71"/>
                                        </p:tgtEl>
                                        <p:attrNameLst>
                                          <p:attrName>ppt_x</p:attrName>
                                        </p:attrNameLst>
                                      </p:cBhvr>
                                      <p:tavLst>
                                        <p:tav tm="0">
                                          <p:val>
                                            <p:strVal val="#ppt_x"/>
                                          </p:val>
                                        </p:tav>
                                        <p:tav tm="100000">
                                          <p:val>
                                            <p:strVal val="#ppt_x"/>
                                          </p:val>
                                        </p:tav>
                                      </p:tavLst>
                                    </p:anim>
                                    <p:anim calcmode="lin" valueType="num">
                                      <p:cBhvr additive="base">
                                        <p:cTn id="252" dur="500" fill="hold"/>
                                        <p:tgtEl>
                                          <p:spTgt spid="71"/>
                                        </p:tgtEl>
                                        <p:attrNameLst>
                                          <p:attrName>ppt_y</p:attrName>
                                        </p:attrNameLst>
                                      </p:cBhvr>
                                      <p:tavLst>
                                        <p:tav tm="0">
                                          <p:val>
                                            <p:strVal val="#ppt_y+0.1"/>
                                          </p:val>
                                        </p:tav>
                                        <p:tav tm="100000">
                                          <p:val>
                                            <p:strVal val="#ppt_y"/>
                                          </p:val>
                                        </p:tav>
                                      </p:tavLst>
                                    </p:anim>
                                    <p:animEffect transition="in" filter="fade">
                                      <p:cBhvr>
                                        <p:cTn id="253" dur="500"/>
                                        <p:tgtEl>
                                          <p:spTgt spid="71"/>
                                        </p:tgtEl>
                                      </p:cBhvr>
                                    </p:animEffect>
                                  </p:childTnLst>
                                </p:cTn>
                              </p:par>
                              <p:par>
                                <p:cTn id="259" presetID="2" presetClass="entr" presetSubtype="4" fill="hold" grpId="0" nodeType="withEffect">
                                  <p:stCondLst>
                                    <p:cond delay="300"/>
                                  </p:stCondLst>
                                  <p:childTnLst>
                                    <p:set>
                                      <p:cBhvr>
                                        <p:cTn id="255" dur="1" fill="hold">
                                          <p:stCondLst>
                                            <p:cond delay="0"/>
                                          </p:stCondLst>
                                        </p:cTn>
                                        <p:tgtEl>
                                          <p:spTgt spid="79"/>
                                        </p:tgtEl>
                                        <p:attrNameLst>
                                          <p:attrName>style.visibility</p:attrName>
                                        </p:attrNameLst>
                                      </p:cBhvr>
                                      <p:to>
                                        <p:strVal val="visible"/>
                                      </p:to>
                                    </p:set>
                                    <p:anim calcmode="lin" valueType="num">
                                      <p:cBhvr additive="base">
                                        <p:cTn id="256" dur="500" fill="hold"/>
                                        <p:tgtEl>
                                          <p:spTgt spid="79"/>
                                        </p:tgtEl>
                                        <p:attrNameLst>
                                          <p:attrName>ppt_x</p:attrName>
                                        </p:attrNameLst>
                                      </p:cBhvr>
                                      <p:tavLst>
                                        <p:tav tm="0">
                                          <p:val>
                                            <p:strVal val="#ppt_x"/>
                                          </p:val>
                                        </p:tav>
                                        <p:tav tm="100000">
                                          <p:val>
                                            <p:strVal val="#ppt_x"/>
                                          </p:val>
                                        </p:tav>
                                      </p:tavLst>
                                    </p:anim>
                                    <p:anim calcmode="lin" valueType="num">
                                      <p:cBhvr additive="base">
                                        <p:cTn id="257" dur="500" fill="hold"/>
                                        <p:tgtEl>
                                          <p:spTgt spid="79"/>
                                        </p:tgtEl>
                                        <p:attrNameLst>
                                          <p:attrName>ppt_y</p:attrName>
                                        </p:attrNameLst>
                                      </p:cBhvr>
                                      <p:tavLst>
                                        <p:tav tm="0">
                                          <p:val>
                                            <p:strVal val="#ppt_y+0.1"/>
                                          </p:val>
                                        </p:tav>
                                        <p:tav tm="100000">
                                          <p:val>
                                            <p:strVal val="#ppt_y"/>
                                          </p:val>
                                        </p:tav>
                                      </p:tavLst>
                                    </p:anim>
                                    <p:animEffect transition="in" filter="fade">
                                      <p:cBhvr>
                                        <p:cTn id="258" dur="500"/>
                                        <p:tgtEl>
                                          <p:spTgt spid="79"/>
                                        </p:tgtEl>
                                      </p:cBhvr>
                                    </p:animEffect>
                                  </p:childTnLst>
                                </p:cTn>
                              </p:par>
                              <p:par>
                                <p:cTn id="264" presetID="2" presetClass="entr" presetSubtype="4" fill="hold" grpId="0" nodeType="withEffect">
                                  <p:stCondLst>
                                    <p:cond delay="450"/>
                                  </p:stCondLst>
                                  <p:childTnLst>
                                    <p:set>
                                      <p:cBhvr>
                                        <p:cTn id="260" dur="1" fill="hold">
                                          <p:stCondLst>
                                            <p:cond delay="0"/>
                                          </p:stCondLst>
                                        </p:cTn>
                                        <p:tgtEl>
                                          <p:spTgt spid="72"/>
                                        </p:tgtEl>
                                        <p:attrNameLst>
                                          <p:attrName>style.visibility</p:attrName>
                                        </p:attrNameLst>
                                      </p:cBhvr>
                                      <p:to>
                                        <p:strVal val="visible"/>
                                      </p:to>
                                    </p:set>
                                    <p:anim calcmode="lin" valueType="num">
                                      <p:cBhvr additive="base">
                                        <p:cTn id="261" dur="500" fill="hold"/>
                                        <p:tgtEl>
                                          <p:spTgt spid="72"/>
                                        </p:tgtEl>
                                        <p:attrNameLst>
                                          <p:attrName>ppt_x</p:attrName>
                                        </p:attrNameLst>
                                      </p:cBhvr>
                                      <p:tavLst>
                                        <p:tav tm="0">
                                          <p:val>
                                            <p:strVal val="#ppt_x"/>
                                          </p:val>
                                        </p:tav>
                                        <p:tav tm="100000">
                                          <p:val>
                                            <p:strVal val="#ppt_x"/>
                                          </p:val>
                                        </p:tav>
                                      </p:tavLst>
                                    </p:anim>
                                    <p:anim calcmode="lin" valueType="num">
                                      <p:cBhvr additive="base">
                                        <p:cTn id="262" dur="500" fill="hold"/>
                                        <p:tgtEl>
                                          <p:spTgt spid="72"/>
                                        </p:tgtEl>
                                        <p:attrNameLst>
                                          <p:attrName>ppt_y</p:attrName>
                                        </p:attrNameLst>
                                      </p:cBhvr>
                                      <p:tavLst>
                                        <p:tav tm="0">
                                          <p:val>
                                            <p:strVal val="#ppt_y+0.1"/>
                                          </p:val>
                                        </p:tav>
                                        <p:tav tm="100000">
                                          <p:val>
                                            <p:strVal val="#ppt_y"/>
                                          </p:val>
                                        </p:tav>
                                      </p:tavLst>
                                    </p:anim>
                                    <p:animEffect transition="in" filter="fade">
                                      <p:cBhvr>
                                        <p:cTn id="263" dur="500"/>
                                        <p:tgtEl>
                                          <p:spTgt spid="72"/>
                                        </p:tgtEl>
                                      </p:cBhvr>
                                    </p:animEffect>
                                  </p:childTnLst>
                                </p:cTn>
                              </p:par>
                              <p:par>
                                <p:cTn id="269" presetID="2" presetClass="entr" presetSubtype="4" fill="hold" grpId="0" nodeType="withEffect">
                                  <p:stCondLst>
                                    <p:cond delay="450"/>
                                  </p:stCondLst>
                                  <p:childTnLst>
                                    <p:set>
                                      <p:cBhvr>
                                        <p:cTn id="265" dur="1" fill="hold">
                                          <p:stCondLst>
                                            <p:cond delay="0"/>
                                          </p:stCondLst>
                                        </p:cTn>
                                        <p:tgtEl>
                                          <p:spTgt spid="73"/>
                                        </p:tgtEl>
                                        <p:attrNameLst>
                                          <p:attrName>style.visibility</p:attrName>
                                        </p:attrNameLst>
                                      </p:cBhvr>
                                      <p:to>
                                        <p:strVal val="visible"/>
                                      </p:to>
                                    </p:set>
                                    <p:anim calcmode="lin" valueType="num">
                                      <p:cBhvr additive="base">
                                        <p:cTn id="266" dur="500" fill="hold"/>
                                        <p:tgtEl>
                                          <p:spTgt spid="73"/>
                                        </p:tgtEl>
                                        <p:attrNameLst>
                                          <p:attrName>ppt_x</p:attrName>
                                        </p:attrNameLst>
                                      </p:cBhvr>
                                      <p:tavLst>
                                        <p:tav tm="0">
                                          <p:val>
                                            <p:strVal val="#ppt_x"/>
                                          </p:val>
                                        </p:tav>
                                        <p:tav tm="100000">
                                          <p:val>
                                            <p:strVal val="#ppt_x"/>
                                          </p:val>
                                        </p:tav>
                                      </p:tavLst>
                                    </p:anim>
                                    <p:anim calcmode="lin" valueType="num">
                                      <p:cBhvr additive="base">
                                        <p:cTn id="267" dur="500" fill="hold"/>
                                        <p:tgtEl>
                                          <p:spTgt spid="73"/>
                                        </p:tgtEl>
                                        <p:attrNameLst>
                                          <p:attrName>ppt_y</p:attrName>
                                        </p:attrNameLst>
                                      </p:cBhvr>
                                      <p:tavLst>
                                        <p:tav tm="0">
                                          <p:val>
                                            <p:strVal val="#ppt_y+0.1"/>
                                          </p:val>
                                        </p:tav>
                                        <p:tav tm="100000">
                                          <p:val>
                                            <p:strVal val="#ppt_y"/>
                                          </p:val>
                                        </p:tav>
                                      </p:tavLst>
                                    </p:anim>
                                    <p:animEffect transition="in" filter="fade">
                                      <p:cBhvr>
                                        <p:cTn id="268" dur="500"/>
                                        <p:tgtEl>
                                          <p:spTgt spid="73"/>
                                        </p:tgtEl>
                                      </p:cBhvr>
                                    </p:animEffect>
                                  </p:childTnLst>
                                </p:cTn>
                              </p:par>
                              <p:par>
                                <p:cTn id="274" presetID="2" presetClass="entr" presetSubtype="4" fill="hold" grpId="0" nodeType="withEffect">
                                  <p:stCondLst>
                                    <p:cond delay="600"/>
                                  </p:stCondLst>
                                  <p:childTnLst>
                                    <p:set>
                                      <p:cBhvr>
                                        <p:cTn id="270" dur="1" fill="hold">
                                          <p:stCondLst>
                                            <p:cond delay="0"/>
                                          </p:stCondLst>
                                        </p:cTn>
                                        <p:tgtEl>
                                          <p:spTgt spid="74"/>
                                        </p:tgtEl>
                                        <p:attrNameLst>
                                          <p:attrName>style.visibility</p:attrName>
                                        </p:attrNameLst>
                                      </p:cBhvr>
                                      <p:to>
                                        <p:strVal val="visible"/>
                                      </p:to>
                                    </p:set>
                                    <p:anim calcmode="lin" valueType="num">
                                      <p:cBhvr additive="base">
                                        <p:cTn id="271" dur="500" fill="hold"/>
                                        <p:tgtEl>
                                          <p:spTgt spid="74"/>
                                        </p:tgtEl>
                                        <p:attrNameLst>
                                          <p:attrName>ppt_x</p:attrName>
                                        </p:attrNameLst>
                                      </p:cBhvr>
                                      <p:tavLst>
                                        <p:tav tm="0">
                                          <p:val>
                                            <p:strVal val="#ppt_x"/>
                                          </p:val>
                                        </p:tav>
                                        <p:tav tm="100000">
                                          <p:val>
                                            <p:strVal val="#ppt_x"/>
                                          </p:val>
                                        </p:tav>
                                      </p:tavLst>
                                    </p:anim>
                                    <p:anim calcmode="lin" valueType="num">
                                      <p:cBhvr additive="base">
                                        <p:cTn id="272" dur="500" fill="hold"/>
                                        <p:tgtEl>
                                          <p:spTgt spid="74"/>
                                        </p:tgtEl>
                                        <p:attrNameLst>
                                          <p:attrName>ppt_y</p:attrName>
                                        </p:attrNameLst>
                                      </p:cBhvr>
                                      <p:tavLst>
                                        <p:tav tm="0">
                                          <p:val>
                                            <p:strVal val="#ppt_y+0.1"/>
                                          </p:val>
                                        </p:tav>
                                        <p:tav tm="100000">
                                          <p:val>
                                            <p:strVal val="#ppt_y"/>
                                          </p:val>
                                        </p:tav>
                                      </p:tavLst>
                                    </p:anim>
                                    <p:animEffect transition="in" filter="fade">
                                      <p:cBhvr>
                                        <p:cTn id="273" dur="500"/>
                                        <p:tgtEl>
                                          <p:spTgt spid="74"/>
                                        </p:tgtEl>
                                      </p:cBhvr>
                                    </p:animEffect>
                                  </p:childTnLst>
                                </p:cTn>
                              </p:par>
                              <p:par>
                                <p:cTn id="279" presetID="2" presetClass="entr" presetSubtype="4" fill="hold" grpId="0" nodeType="withEffect">
                                  <p:stCondLst>
                                    <p:cond delay="600"/>
                                  </p:stCondLst>
                                  <p:childTnLst>
                                    <p:set>
                                      <p:cBhvr>
                                        <p:cTn id="275" dur="1" fill="hold">
                                          <p:stCondLst>
                                            <p:cond delay="0"/>
                                          </p:stCondLst>
                                        </p:cTn>
                                        <p:tgtEl>
                                          <p:spTgt spid="75"/>
                                        </p:tgtEl>
                                        <p:attrNameLst>
                                          <p:attrName>style.visibility</p:attrName>
                                        </p:attrNameLst>
                                      </p:cBhvr>
                                      <p:to>
                                        <p:strVal val="visible"/>
                                      </p:to>
                                    </p:set>
                                    <p:anim calcmode="lin" valueType="num">
                                      <p:cBhvr additive="base">
                                        <p:cTn id="276" dur="500" fill="hold"/>
                                        <p:tgtEl>
                                          <p:spTgt spid="75"/>
                                        </p:tgtEl>
                                        <p:attrNameLst>
                                          <p:attrName>ppt_x</p:attrName>
                                        </p:attrNameLst>
                                      </p:cBhvr>
                                      <p:tavLst>
                                        <p:tav tm="0">
                                          <p:val>
                                            <p:strVal val="#ppt_x"/>
                                          </p:val>
                                        </p:tav>
                                        <p:tav tm="100000">
                                          <p:val>
                                            <p:strVal val="#ppt_x"/>
                                          </p:val>
                                        </p:tav>
                                      </p:tavLst>
                                    </p:anim>
                                    <p:anim calcmode="lin" valueType="num">
                                      <p:cBhvr additive="base">
                                        <p:cTn id="277" dur="500" fill="hold"/>
                                        <p:tgtEl>
                                          <p:spTgt spid="75"/>
                                        </p:tgtEl>
                                        <p:attrNameLst>
                                          <p:attrName>ppt_y</p:attrName>
                                        </p:attrNameLst>
                                      </p:cBhvr>
                                      <p:tavLst>
                                        <p:tav tm="0">
                                          <p:val>
                                            <p:strVal val="#ppt_y+0.1"/>
                                          </p:val>
                                        </p:tav>
                                        <p:tav tm="100000">
                                          <p:val>
                                            <p:strVal val="#ppt_y"/>
                                          </p:val>
                                        </p:tav>
                                      </p:tavLst>
                                    </p:anim>
                                    <p:animEffect transition="in" filter="fade">
                                      <p:cBhvr>
                                        <p:cTn id="278" dur="500"/>
                                        <p:tgtEl>
                                          <p:spTgt spid="75"/>
                                        </p:tgtEl>
                                      </p:cBhvr>
                                    </p:animEffect>
                                  </p:childTnLst>
                                </p:cTn>
                              </p:par>
                              <p:par>
                                <p:cTn id="284" presetID="2" presetClass="entr" presetSubtype="4" fill="hold" grpId="0" nodeType="withEffect">
                                  <p:stCondLst>
                                    <p:cond delay="750"/>
                                  </p:stCondLst>
                                  <p:childTnLst>
                                    <p:set>
                                      <p:cBhvr>
                                        <p:cTn id="280" dur="1" fill="hold">
                                          <p:stCondLst>
                                            <p:cond delay="0"/>
                                          </p:stCondLst>
                                        </p:cTn>
                                        <p:tgtEl>
                                          <p:spTgt spid="76"/>
                                        </p:tgtEl>
                                        <p:attrNameLst>
                                          <p:attrName>style.visibility</p:attrName>
                                        </p:attrNameLst>
                                      </p:cBhvr>
                                      <p:to>
                                        <p:strVal val="visible"/>
                                      </p:to>
                                    </p:set>
                                    <p:anim calcmode="lin" valueType="num">
                                      <p:cBhvr additive="base">
                                        <p:cTn id="281" dur="500" fill="hold"/>
                                        <p:tgtEl>
                                          <p:spTgt spid="76"/>
                                        </p:tgtEl>
                                        <p:attrNameLst>
                                          <p:attrName>ppt_x</p:attrName>
                                        </p:attrNameLst>
                                      </p:cBhvr>
                                      <p:tavLst>
                                        <p:tav tm="0">
                                          <p:val>
                                            <p:strVal val="#ppt_x"/>
                                          </p:val>
                                        </p:tav>
                                        <p:tav tm="100000">
                                          <p:val>
                                            <p:strVal val="#ppt_x"/>
                                          </p:val>
                                        </p:tav>
                                      </p:tavLst>
                                    </p:anim>
                                    <p:anim calcmode="lin" valueType="num">
                                      <p:cBhvr additive="base">
                                        <p:cTn id="282" dur="500" fill="hold"/>
                                        <p:tgtEl>
                                          <p:spTgt spid="76"/>
                                        </p:tgtEl>
                                        <p:attrNameLst>
                                          <p:attrName>ppt_y</p:attrName>
                                        </p:attrNameLst>
                                      </p:cBhvr>
                                      <p:tavLst>
                                        <p:tav tm="0">
                                          <p:val>
                                            <p:strVal val="#ppt_y+0.1"/>
                                          </p:val>
                                        </p:tav>
                                        <p:tav tm="100000">
                                          <p:val>
                                            <p:strVal val="#ppt_y"/>
                                          </p:val>
                                        </p:tav>
                                      </p:tavLst>
                                    </p:anim>
                                    <p:animEffect transition="in" filter="fade">
                                      <p:cBhvr>
                                        <p:cTn id="283" dur="500"/>
                                        <p:tgtEl>
                                          <p:spTgt spid="76"/>
                                        </p:tgtEl>
                                      </p:cBhvr>
                                    </p:animEffect>
                                  </p:childTnLst>
                                </p:cTn>
                              </p:par>
                              <p:par>
                                <p:cTn id="289" presetID="2" presetClass="entr" presetSubtype="4" fill="hold" grpId="0" nodeType="withEffect">
                                  <p:stCondLst>
                                    <p:cond delay="750"/>
                                  </p:stCondLst>
                                  <p:childTnLst>
                                    <p:set>
                                      <p:cBhvr>
                                        <p:cTn id="285" dur="1" fill="hold">
                                          <p:stCondLst>
                                            <p:cond delay="0"/>
                                          </p:stCondLst>
                                        </p:cTn>
                                        <p:tgtEl>
                                          <p:spTgt spid="77"/>
                                        </p:tgtEl>
                                        <p:attrNameLst>
                                          <p:attrName>style.visibility</p:attrName>
                                        </p:attrNameLst>
                                      </p:cBhvr>
                                      <p:to>
                                        <p:strVal val="visible"/>
                                      </p:to>
                                    </p:set>
                                    <p:anim calcmode="lin" valueType="num">
                                      <p:cBhvr additive="base">
                                        <p:cTn id="286" dur="500" fill="hold"/>
                                        <p:tgtEl>
                                          <p:spTgt spid="77"/>
                                        </p:tgtEl>
                                        <p:attrNameLst>
                                          <p:attrName>ppt_x</p:attrName>
                                        </p:attrNameLst>
                                      </p:cBhvr>
                                      <p:tavLst>
                                        <p:tav tm="0">
                                          <p:val>
                                            <p:strVal val="#ppt_x"/>
                                          </p:val>
                                        </p:tav>
                                        <p:tav tm="100000">
                                          <p:val>
                                            <p:strVal val="#ppt_x"/>
                                          </p:val>
                                        </p:tav>
                                      </p:tavLst>
                                    </p:anim>
                                    <p:anim calcmode="lin" valueType="num">
                                      <p:cBhvr additive="base">
                                        <p:cTn id="287" dur="500" fill="hold"/>
                                        <p:tgtEl>
                                          <p:spTgt spid="77"/>
                                        </p:tgtEl>
                                        <p:attrNameLst>
                                          <p:attrName>ppt_y</p:attrName>
                                        </p:attrNameLst>
                                      </p:cBhvr>
                                      <p:tavLst>
                                        <p:tav tm="0">
                                          <p:val>
                                            <p:strVal val="#ppt_y+0.1"/>
                                          </p:val>
                                        </p:tav>
                                        <p:tav tm="100000">
                                          <p:val>
                                            <p:strVal val="#ppt_y"/>
                                          </p:val>
                                        </p:tav>
                                      </p:tavLst>
                                    </p:anim>
                                    <p:animEffect transition="in" filter="fade">
                                      <p:cBhvr>
                                        <p:cTn id="288" dur="500"/>
                                        <p:tgtEl>
                                          <p:spTgt spid="77"/>
                                        </p:tgtEl>
                                      </p:cBhvr>
                                    </p:animEffect>
                                  </p:childTnLst>
                                </p:cTn>
                              </p:par>
                            </p:childTnLst>
                          </p:cTn>
                        </p:par>
                      </p:childTnLst>
                    </p:cTn>
                  </p:par>
                  <p:par>
                    <p:cTn id="290" fill="hold">
                      <p:stCondLst>
                        <p:cond delay="indefinite"/>
                      </p:stCondLst>
                      <p:childTnLst>
                        <p:par>
                          <p:cTn id="291" fill="hold">
                            <p:stCondLst>
                              <p:cond delay="0"/>
                            </p:stCondLst>
                            <p:childTnLst>
                              <p:par>
                                <p:cTn id="296" presetID="2" presetClass="entr" presetSubtype="4" fill="hold" grpId="0" nodeType="clickEffect">
                                  <p:stCondLst>
                                    <p:cond delay="0"/>
                                  </p:stCondLst>
                                  <p:childTnLst>
                                    <p:set>
                                      <p:cBhvr>
                                        <p:cTn id="292" dur="1" fill="hold">
                                          <p:stCondLst>
                                            <p:cond delay="0"/>
                                          </p:stCondLst>
                                        </p:cTn>
                                        <p:tgtEl>
                                          <p:spTgt spid="80"/>
                                        </p:tgtEl>
                                        <p:attrNameLst>
                                          <p:attrName>style.visibility</p:attrName>
                                        </p:attrNameLst>
                                      </p:cBhvr>
                                      <p:to>
                                        <p:strVal val="visible"/>
                                      </p:to>
                                    </p:set>
                                    <p:anim calcmode="lin" valueType="num">
                                      <p:cBhvr additive="base">
                                        <p:cTn id="293" dur="500" fill="hold"/>
                                        <p:tgtEl>
                                          <p:spTgt spid="80"/>
                                        </p:tgtEl>
                                        <p:attrNameLst>
                                          <p:attrName>ppt_x</p:attrName>
                                        </p:attrNameLst>
                                      </p:cBhvr>
                                      <p:tavLst>
                                        <p:tav tm="0">
                                          <p:val>
                                            <p:strVal val="#ppt_x"/>
                                          </p:val>
                                        </p:tav>
                                        <p:tav tm="100000">
                                          <p:val>
                                            <p:strVal val="#ppt_x"/>
                                          </p:val>
                                        </p:tav>
                                      </p:tavLst>
                                    </p:anim>
                                    <p:anim calcmode="lin" valueType="num">
                                      <p:cBhvr additive="base">
                                        <p:cTn id="294" dur="500" fill="hold"/>
                                        <p:tgtEl>
                                          <p:spTgt spid="80"/>
                                        </p:tgtEl>
                                        <p:attrNameLst>
                                          <p:attrName>ppt_y</p:attrName>
                                        </p:attrNameLst>
                                      </p:cBhvr>
                                      <p:tavLst>
                                        <p:tav tm="0">
                                          <p:val>
                                            <p:strVal val="#ppt_y+0.1"/>
                                          </p:val>
                                        </p:tav>
                                        <p:tav tm="100000">
                                          <p:val>
                                            <p:strVal val="#ppt_y"/>
                                          </p:val>
                                        </p:tav>
                                      </p:tavLst>
                                    </p:anim>
                                    <p:animEffect transition="in" filter="fade">
                                      <p:cBhvr>
                                        <p:cTn id="295" dur="500"/>
                                        <p:tgtEl>
                                          <p:spTgt spid="80"/>
                                        </p:tgtEl>
                                      </p:cBhvr>
                                    </p:animEffect>
                                  </p:childTnLst>
                                </p:cTn>
                              </p:par>
                              <p:par>
                                <p:cTn id="301" presetID="2" presetClass="entr" presetSubtype="4" fill="hold" grpId="0" nodeType="withEffect">
                                  <p:stCondLst>
                                    <p:cond delay="0"/>
                                  </p:stCondLst>
                                  <p:childTnLst>
                                    <p:set>
                                      <p:cBhvr>
                                        <p:cTn id="297" dur="1" fill="hold">
                                          <p:stCondLst>
                                            <p:cond delay="0"/>
                                          </p:stCondLst>
                                        </p:cTn>
                                        <p:tgtEl>
                                          <p:spTgt spid="81"/>
                                        </p:tgtEl>
                                        <p:attrNameLst>
                                          <p:attrName>style.visibility</p:attrName>
                                        </p:attrNameLst>
                                      </p:cBhvr>
                                      <p:to>
                                        <p:strVal val="visible"/>
                                      </p:to>
                                    </p:set>
                                    <p:anim calcmode="lin" valueType="num">
                                      <p:cBhvr additive="base">
                                        <p:cTn id="298" dur="500" fill="hold"/>
                                        <p:tgtEl>
                                          <p:spTgt spid="81"/>
                                        </p:tgtEl>
                                        <p:attrNameLst>
                                          <p:attrName>ppt_x</p:attrName>
                                        </p:attrNameLst>
                                      </p:cBhvr>
                                      <p:tavLst>
                                        <p:tav tm="0">
                                          <p:val>
                                            <p:strVal val="#ppt_x"/>
                                          </p:val>
                                        </p:tav>
                                        <p:tav tm="100000">
                                          <p:val>
                                            <p:strVal val="#ppt_x"/>
                                          </p:val>
                                        </p:tav>
                                      </p:tavLst>
                                    </p:anim>
                                    <p:anim calcmode="lin" valueType="num">
                                      <p:cBhvr additive="base">
                                        <p:cTn id="299" dur="500" fill="hold"/>
                                        <p:tgtEl>
                                          <p:spTgt spid="81"/>
                                        </p:tgtEl>
                                        <p:attrNameLst>
                                          <p:attrName>ppt_y</p:attrName>
                                        </p:attrNameLst>
                                      </p:cBhvr>
                                      <p:tavLst>
                                        <p:tav tm="0">
                                          <p:val>
                                            <p:strVal val="#ppt_y+0.1"/>
                                          </p:val>
                                        </p:tav>
                                        <p:tav tm="100000">
                                          <p:val>
                                            <p:strVal val="#ppt_y"/>
                                          </p:val>
                                        </p:tav>
                                      </p:tavLst>
                                    </p:anim>
                                    <p:animEffect transition="in" filter="fade">
                                      <p:cBhvr>
                                        <p:cTn id="300" dur="500"/>
                                        <p:tgtEl>
                                          <p:spTgt spid="81"/>
                                        </p:tgtEl>
                                      </p:cBhvr>
                                    </p:animEffect>
                                  </p:childTnLst>
                                </p:cTn>
                              </p:par>
                              <p:par>
                                <p:cTn id="306" presetID="2" presetClass="entr" presetSubtype="4" fill="hold" grpId="0" nodeType="withEffect">
                                  <p:stCondLst>
                                    <p:cond delay="0"/>
                                  </p:stCondLst>
                                  <p:childTnLst>
                                    <p:set>
                                      <p:cBhvr>
                                        <p:cTn id="302" dur="1" fill="hold">
                                          <p:stCondLst>
                                            <p:cond delay="0"/>
                                          </p:stCondLst>
                                        </p:cTn>
                                        <p:tgtEl>
                                          <p:spTgt spid="82"/>
                                        </p:tgtEl>
                                        <p:attrNameLst>
                                          <p:attrName>style.visibility</p:attrName>
                                        </p:attrNameLst>
                                      </p:cBhvr>
                                      <p:to>
                                        <p:strVal val="visible"/>
                                      </p:to>
                                    </p:set>
                                    <p:anim calcmode="lin" valueType="num">
                                      <p:cBhvr additive="base">
                                        <p:cTn id="303" dur="500" fill="hold"/>
                                        <p:tgtEl>
                                          <p:spTgt spid="82"/>
                                        </p:tgtEl>
                                        <p:attrNameLst>
                                          <p:attrName>ppt_x</p:attrName>
                                        </p:attrNameLst>
                                      </p:cBhvr>
                                      <p:tavLst>
                                        <p:tav tm="0">
                                          <p:val>
                                            <p:strVal val="#ppt_x"/>
                                          </p:val>
                                        </p:tav>
                                        <p:tav tm="100000">
                                          <p:val>
                                            <p:strVal val="#ppt_x"/>
                                          </p:val>
                                        </p:tav>
                                      </p:tavLst>
                                    </p:anim>
                                    <p:anim calcmode="lin" valueType="num">
                                      <p:cBhvr additive="base">
                                        <p:cTn id="304" dur="500" fill="hold"/>
                                        <p:tgtEl>
                                          <p:spTgt spid="82"/>
                                        </p:tgtEl>
                                        <p:attrNameLst>
                                          <p:attrName>ppt_y</p:attrName>
                                        </p:attrNameLst>
                                      </p:cBhvr>
                                      <p:tavLst>
                                        <p:tav tm="0">
                                          <p:val>
                                            <p:strVal val="#ppt_y+0.1"/>
                                          </p:val>
                                        </p:tav>
                                        <p:tav tm="100000">
                                          <p:val>
                                            <p:strVal val="#ppt_y"/>
                                          </p:val>
                                        </p:tav>
                                      </p:tavLst>
                                    </p:anim>
                                    <p:animEffect transition="in" filter="fade">
                                      <p:cBhvr>
                                        <p:cTn id="305"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Consumer Groups: Sharing the Work</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Consumers with the same group.id split a topic's partitions between them</a:t>
            </a:r>
          </a:p>
        </p:txBody>
      </p:sp>
      <p:sp>
        <p:nvSpPr>
          <p:cNvPr id="11" name="a0f_tp10"/>
          <p:cNvSpPr/>
          <p:nvPr/>
        </p:nvSpPr>
        <p:spPr>
          <a:xfrm>
            <a:off x="3246120" y="1280160"/>
            <a:ext cx="2651760" cy="2240280"/>
          </a:xfrm>
          <a:prstGeom prst="roundRect">
            <a:avLst>
              <a:gd name="adj" fmla="val 3265"/>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0f_lb11"/>
          <p:cNvSpPr txBox="1"/>
          <p:nvPr/>
        </p:nvSpPr>
        <p:spPr>
          <a:xfrm>
            <a:off x="3383280" y="1335024"/>
            <a:ext cx="2377440" cy="201168"/>
          </a:xfrm>
          <a:prstGeom prst="rect">
            <a:avLst/>
          </a:prstGeom>
          <a:noFill/>
        </p:spPr>
        <p:txBody>
          <a:bodyPr wrap="square" lIns="0" tIns="0" rIns="0" bIns="0" anchor="ctr">
            <a:spAutoFit/>
          </a:bodyPr>
          <a:lstStyle/>
          <a:p>
            <a:pPr algn="l"/>
            <a:r>
              <a:rPr sz="900" b="1">
                <a:solidFill>
                  <a:srgbClr val="1C1917"/>
                </a:solidFill>
                <a:latin typeface="Consolas"/>
              </a:rPr>
              <a:t>thermostat_readings</a:t>
            </a:r>
          </a:p>
        </p:txBody>
      </p:sp>
      <p:sp>
        <p:nvSpPr>
          <p:cNvPr id="13" name="a0f_pn12"/>
          <p:cNvSpPr txBox="1"/>
          <p:nvPr/>
        </p:nvSpPr>
        <p:spPr>
          <a:xfrm>
            <a:off x="3401568" y="1691640"/>
            <a:ext cx="365760" cy="384048"/>
          </a:xfrm>
          <a:prstGeom prst="rect">
            <a:avLst/>
          </a:prstGeom>
          <a:noFill/>
        </p:spPr>
        <p:txBody>
          <a:bodyPr wrap="square" lIns="0" tIns="0" rIns="0" bIns="0" anchor="ctr">
            <a:spAutoFit/>
          </a:bodyPr>
          <a:lstStyle/>
          <a:p>
            <a:pPr algn="l"/>
            <a:r>
              <a:rPr sz="1000" b="1">
                <a:solidFill>
                  <a:srgbClr val="0E7490"/>
                </a:solidFill>
                <a:latin typeface="Consolas"/>
              </a:rPr>
              <a:t>P0</a:t>
            </a:r>
          </a:p>
        </p:txBody>
      </p:sp>
      <p:sp>
        <p:nvSpPr>
          <p:cNvPr id="14" name="a0f_cell13"/>
          <p:cNvSpPr/>
          <p:nvPr/>
        </p:nvSpPr>
        <p:spPr>
          <a:xfrm>
            <a:off x="3767328" y="1691640"/>
            <a:ext cx="384048" cy="384048"/>
          </a:xfrm>
          <a:prstGeom prst="rect">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0f_cellt14"/>
          <p:cNvSpPr txBox="1"/>
          <p:nvPr/>
        </p:nvSpPr>
        <p:spPr>
          <a:xfrm>
            <a:off x="3767328" y="1691640"/>
            <a:ext cx="384048" cy="384048"/>
          </a:xfrm>
          <a:prstGeom prst="rect">
            <a:avLst/>
          </a:prstGeom>
          <a:noFill/>
        </p:spPr>
        <p:txBody>
          <a:bodyPr wrap="square" lIns="0" tIns="0" rIns="0" bIns="0" anchor="ctr">
            <a:spAutoFit/>
          </a:bodyPr>
          <a:lstStyle/>
          <a:p>
            <a:pPr algn="ctr"/>
            <a:r>
              <a:rPr sz="850" b="1">
                <a:solidFill>
                  <a:srgbClr val="0E7490"/>
                </a:solidFill>
                <a:latin typeface="Consolas"/>
              </a:rPr>
              <a:t>0</a:t>
            </a:r>
          </a:p>
        </p:txBody>
      </p:sp>
      <p:sp>
        <p:nvSpPr>
          <p:cNvPr id="16" name="a0f_cell15"/>
          <p:cNvSpPr/>
          <p:nvPr/>
        </p:nvSpPr>
        <p:spPr>
          <a:xfrm>
            <a:off x="4151376" y="1691640"/>
            <a:ext cx="384048" cy="384048"/>
          </a:xfrm>
          <a:prstGeom prst="rect">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0f_cellt16"/>
          <p:cNvSpPr txBox="1"/>
          <p:nvPr/>
        </p:nvSpPr>
        <p:spPr>
          <a:xfrm>
            <a:off x="4151376" y="1691640"/>
            <a:ext cx="384048" cy="384048"/>
          </a:xfrm>
          <a:prstGeom prst="rect">
            <a:avLst/>
          </a:prstGeom>
          <a:noFill/>
        </p:spPr>
        <p:txBody>
          <a:bodyPr wrap="square" lIns="0" tIns="0" rIns="0" bIns="0" anchor="ctr">
            <a:spAutoFit/>
          </a:bodyPr>
          <a:lstStyle/>
          <a:p>
            <a:pPr algn="ctr"/>
            <a:r>
              <a:rPr sz="850" b="1">
                <a:solidFill>
                  <a:srgbClr val="0E7490"/>
                </a:solidFill>
                <a:latin typeface="Consolas"/>
              </a:rPr>
              <a:t>1</a:t>
            </a:r>
          </a:p>
        </p:txBody>
      </p:sp>
      <p:sp>
        <p:nvSpPr>
          <p:cNvPr id="18" name="a0f_cell17"/>
          <p:cNvSpPr/>
          <p:nvPr/>
        </p:nvSpPr>
        <p:spPr>
          <a:xfrm>
            <a:off x="4535424" y="1691640"/>
            <a:ext cx="384048" cy="384048"/>
          </a:xfrm>
          <a:prstGeom prst="rect">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0f_cellt18"/>
          <p:cNvSpPr txBox="1"/>
          <p:nvPr/>
        </p:nvSpPr>
        <p:spPr>
          <a:xfrm>
            <a:off x="4535424" y="1691640"/>
            <a:ext cx="384048" cy="384048"/>
          </a:xfrm>
          <a:prstGeom prst="rect">
            <a:avLst/>
          </a:prstGeom>
          <a:noFill/>
        </p:spPr>
        <p:txBody>
          <a:bodyPr wrap="square" lIns="0" tIns="0" rIns="0" bIns="0" anchor="ctr">
            <a:spAutoFit/>
          </a:bodyPr>
          <a:lstStyle/>
          <a:p>
            <a:pPr algn="ctr"/>
            <a:r>
              <a:rPr sz="850" b="1">
                <a:solidFill>
                  <a:srgbClr val="0E7490"/>
                </a:solidFill>
                <a:latin typeface="Consolas"/>
              </a:rPr>
              <a:t>2</a:t>
            </a:r>
          </a:p>
        </p:txBody>
      </p:sp>
      <p:sp>
        <p:nvSpPr>
          <p:cNvPr id="20" name="a0f_cell19"/>
          <p:cNvSpPr/>
          <p:nvPr/>
        </p:nvSpPr>
        <p:spPr>
          <a:xfrm>
            <a:off x="4919472" y="1691640"/>
            <a:ext cx="384048" cy="384048"/>
          </a:xfrm>
          <a:prstGeom prst="rect">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0f_cellt20"/>
          <p:cNvSpPr txBox="1"/>
          <p:nvPr/>
        </p:nvSpPr>
        <p:spPr>
          <a:xfrm>
            <a:off x="4919472" y="1691640"/>
            <a:ext cx="384048" cy="384048"/>
          </a:xfrm>
          <a:prstGeom prst="rect">
            <a:avLst/>
          </a:prstGeom>
          <a:noFill/>
        </p:spPr>
        <p:txBody>
          <a:bodyPr wrap="square" lIns="0" tIns="0" rIns="0" bIns="0" anchor="ctr">
            <a:spAutoFit/>
          </a:bodyPr>
          <a:lstStyle/>
          <a:p>
            <a:pPr algn="ctr"/>
            <a:r>
              <a:rPr sz="850" b="1">
                <a:solidFill>
                  <a:srgbClr val="0E7490"/>
                </a:solidFill>
                <a:latin typeface="Consolas"/>
              </a:rPr>
              <a:t>3</a:t>
            </a:r>
          </a:p>
        </p:txBody>
      </p:sp>
      <p:sp>
        <p:nvSpPr>
          <p:cNvPr id="22" name="a0f_cell21"/>
          <p:cNvSpPr/>
          <p:nvPr/>
        </p:nvSpPr>
        <p:spPr>
          <a:xfrm>
            <a:off x="5303520" y="1691640"/>
            <a:ext cx="384048" cy="384048"/>
          </a:xfrm>
          <a:prstGeom prst="rect">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0f_cellt22"/>
          <p:cNvSpPr txBox="1"/>
          <p:nvPr/>
        </p:nvSpPr>
        <p:spPr>
          <a:xfrm>
            <a:off x="5303520" y="1691640"/>
            <a:ext cx="384048" cy="384048"/>
          </a:xfrm>
          <a:prstGeom prst="rect">
            <a:avLst/>
          </a:prstGeom>
          <a:noFill/>
        </p:spPr>
        <p:txBody>
          <a:bodyPr wrap="square" lIns="0" tIns="0" rIns="0" bIns="0" anchor="ctr">
            <a:spAutoFit/>
          </a:bodyPr>
          <a:lstStyle/>
          <a:p>
            <a:pPr algn="ctr"/>
            <a:r>
              <a:rPr sz="850" b="1">
                <a:solidFill>
                  <a:srgbClr val="0E7490"/>
                </a:solidFill>
                <a:latin typeface="Consolas"/>
              </a:rPr>
              <a:t>4</a:t>
            </a:r>
          </a:p>
        </p:txBody>
      </p:sp>
      <p:sp>
        <p:nvSpPr>
          <p:cNvPr id="24" name="a0f_pn23"/>
          <p:cNvSpPr txBox="1"/>
          <p:nvPr/>
        </p:nvSpPr>
        <p:spPr>
          <a:xfrm>
            <a:off x="3401568" y="2258568"/>
            <a:ext cx="365760" cy="384048"/>
          </a:xfrm>
          <a:prstGeom prst="rect">
            <a:avLst/>
          </a:prstGeom>
          <a:noFill/>
        </p:spPr>
        <p:txBody>
          <a:bodyPr wrap="square" lIns="0" tIns="0" rIns="0" bIns="0" anchor="ctr">
            <a:spAutoFit/>
          </a:bodyPr>
          <a:lstStyle/>
          <a:p>
            <a:pPr algn="l"/>
            <a:r>
              <a:rPr sz="1000" b="1">
                <a:solidFill>
                  <a:srgbClr val="4F46E5"/>
                </a:solidFill>
                <a:latin typeface="Consolas"/>
              </a:rPr>
              <a:t>P1</a:t>
            </a:r>
          </a:p>
        </p:txBody>
      </p:sp>
      <p:sp>
        <p:nvSpPr>
          <p:cNvPr id="25" name="a0f_cell24"/>
          <p:cNvSpPr/>
          <p:nvPr/>
        </p:nvSpPr>
        <p:spPr>
          <a:xfrm>
            <a:off x="3767328" y="2258568"/>
            <a:ext cx="384048" cy="384048"/>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0f_cellt25"/>
          <p:cNvSpPr txBox="1"/>
          <p:nvPr/>
        </p:nvSpPr>
        <p:spPr>
          <a:xfrm>
            <a:off x="3767328" y="2258568"/>
            <a:ext cx="384048" cy="384048"/>
          </a:xfrm>
          <a:prstGeom prst="rect">
            <a:avLst/>
          </a:prstGeom>
          <a:noFill/>
        </p:spPr>
        <p:txBody>
          <a:bodyPr wrap="square" lIns="0" tIns="0" rIns="0" bIns="0" anchor="ctr">
            <a:spAutoFit/>
          </a:bodyPr>
          <a:lstStyle/>
          <a:p>
            <a:pPr algn="ctr"/>
            <a:r>
              <a:rPr sz="850" b="1">
                <a:solidFill>
                  <a:srgbClr val="4F46E5"/>
                </a:solidFill>
                <a:latin typeface="Consolas"/>
              </a:rPr>
              <a:t>0</a:t>
            </a:r>
          </a:p>
        </p:txBody>
      </p:sp>
      <p:sp>
        <p:nvSpPr>
          <p:cNvPr id="27" name="a0f_cell26"/>
          <p:cNvSpPr/>
          <p:nvPr/>
        </p:nvSpPr>
        <p:spPr>
          <a:xfrm>
            <a:off x="4151376" y="2258568"/>
            <a:ext cx="384048" cy="384048"/>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0f_cellt27"/>
          <p:cNvSpPr txBox="1"/>
          <p:nvPr/>
        </p:nvSpPr>
        <p:spPr>
          <a:xfrm>
            <a:off x="4151376" y="2258568"/>
            <a:ext cx="384048" cy="384048"/>
          </a:xfrm>
          <a:prstGeom prst="rect">
            <a:avLst/>
          </a:prstGeom>
          <a:noFill/>
        </p:spPr>
        <p:txBody>
          <a:bodyPr wrap="square" lIns="0" tIns="0" rIns="0" bIns="0" anchor="ctr">
            <a:spAutoFit/>
          </a:bodyPr>
          <a:lstStyle/>
          <a:p>
            <a:pPr algn="ctr"/>
            <a:r>
              <a:rPr sz="850" b="1">
                <a:solidFill>
                  <a:srgbClr val="4F46E5"/>
                </a:solidFill>
                <a:latin typeface="Consolas"/>
              </a:rPr>
              <a:t>1</a:t>
            </a:r>
          </a:p>
        </p:txBody>
      </p:sp>
      <p:sp>
        <p:nvSpPr>
          <p:cNvPr id="29" name="a0f_cell28"/>
          <p:cNvSpPr/>
          <p:nvPr/>
        </p:nvSpPr>
        <p:spPr>
          <a:xfrm>
            <a:off x="4535424" y="2258568"/>
            <a:ext cx="384048" cy="384048"/>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0f_cellt29"/>
          <p:cNvSpPr txBox="1"/>
          <p:nvPr/>
        </p:nvSpPr>
        <p:spPr>
          <a:xfrm>
            <a:off x="4535424" y="2258568"/>
            <a:ext cx="384048" cy="384048"/>
          </a:xfrm>
          <a:prstGeom prst="rect">
            <a:avLst/>
          </a:prstGeom>
          <a:noFill/>
        </p:spPr>
        <p:txBody>
          <a:bodyPr wrap="square" lIns="0" tIns="0" rIns="0" bIns="0" anchor="ctr">
            <a:spAutoFit/>
          </a:bodyPr>
          <a:lstStyle/>
          <a:p>
            <a:pPr algn="ctr"/>
            <a:r>
              <a:rPr sz="850" b="1">
                <a:solidFill>
                  <a:srgbClr val="4F46E5"/>
                </a:solidFill>
                <a:latin typeface="Consolas"/>
              </a:rPr>
              <a:t>2</a:t>
            </a:r>
          </a:p>
        </p:txBody>
      </p:sp>
      <p:sp>
        <p:nvSpPr>
          <p:cNvPr id="31" name="a0f_cell30"/>
          <p:cNvSpPr/>
          <p:nvPr/>
        </p:nvSpPr>
        <p:spPr>
          <a:xfrm>
            <a:off x="4919472" y="2258568"/>
            <a:ext cx="384048" cy="384048"/>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0f_cellt31"/>
          <p:cNvSpPr txBox="1"/>
          <p:nvPr/>
        </p:nvSpPr>
        <p:spPr>
          <a:xfrm>
            <a:off x="4919472" y="2258568"/>
            <a:ext cx="384048" cy="384048"/>
          </a:xfrm>
          <a:prstGeom prst="rect">
            <a:avLst/>
          </a:prstGeom>
          <a:noFill/>
        </p:spPr>
        <p:txBody>
          <a:bodyPr wrap="square" lIns="0" tIns="0" rIns="0" bIns="0" anchor="ctr">
            <a:spAutoFit/>
          </a:bodyPr>
          <a:lstStyle/>
          <a:p>
            <a:pPr algn="ctr"/>
            <a:r>
              <a:rPr sz="850" b="1">
                <a:solidFill>
                  <a:srgbClr val="4F46E5"/>
                </a:solidFill>
                <a:latin typeface="Consolas"/>
              </a:rPr>
              <a:t>3</a:t>
            </a:r>
          </a:p>
        </p:txBody>
      </p:sp>
      <p:sp>
        <p:nvSpPr>
          <p:cNvPr id="33" name="a0f_cell32"/>
          <p:cNvSpPr/>
          <p:nvPr/>
        </p:nvSpPr>
        <p:spPr>
          <a:xfrm>
            <a:off x="5303520" y="2258568"/>
            <a:ext cx="384048" cy="384048"/>
          </a:xfrm>
          <a:prstGeom prst="rect">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0f_cellt33"/>
          <p:cNvSpPr txBox="1"/>
          <p:nvPr/>
        </p:nvSpPr>
        <p:spPr>
          <a:xfrm>
            <a:off x="5303520" y="2258568"/>
            <a:ext cx="384048" cy="384048"/>
          </a:xfrm>
          <a:prstGeom prst="rect">
            <a:avLst/>
          </a:prstGeom>
          <a:noFill/>
        </p:spPr>
        <p:txBody>
          <a:bodyPr wrap="square" lIns="0" tIns="0" rIns="0" bIns="0" anchor="ctr">
            <a:spAutoFit/>
          </a:bodyPr>
          <a:lstStyle/>
          <a:p>
            <a:pPr algn="ctr"/>
            <a:r>
              <a:rPr sz="850" b="1">
                <a:solidFill>
                  <a:srgbClr val="4F46E5"/>
                </a:solidFill>
                <a:latin typeface="Consolas"/>
              </a:rPr>
              <a:t>4</a:t>
            </a:r>
          </a:p>
        </p:txBody>
      </p:sp>
      <p:sp>
        <p:nvSpPr>
          <p:cNvPr id="35" name="a0f_pn34"/>
          <p:cNvSpPr txBox="1"/>
          <p:nvPr/>
        </p:nvSpPr>
        <p:spPr>
          <a:xfrm>
            <a:off x="3401568" y="2825496"/>
            <a:ext cx="365760" cy="384048"/>
          </a:xfrm>
          <a:prstGeom prst="rect">
            <a:avLst/>
          </a:prstGeom>
          <a:noFill/>
        </p:spPr>
        <p:txBody>
          <a:bodyPr wrap="square" lIns="0" tIns="0" rIns="0" bIns="0" anchor="ctr">
            <a:spAutoFit/>
          </a:bodyPr>
          <a:lstStyle/>
          <a:p>
            <a:pPr algn="l"/>
            <a:r>
              <a:rPr sz="1000" b="1">
                <a:solidFill>
                  <a:srgbClr val="EA580C"/>
                </a:solidFill>
                <a:latin typeface="Consolas"/>
              </a:rPr>
              <a:t>P2</a:t>
            </a:r>
          </a:p>
        </p:txBody>
      </p:sp>
      <p:sp>
        <p:nvSpPr>
          <p:cNvPr id="36" name="a0f_cell35"/>
          <p:cNvSpPr/>
          <p:nvPr/>
        </p:nvSpPr>
        <p:spPr>
          <a:xfrm>
            <a:off x="3767328" y="2825496"/>
            <a:ext cx="384048" cy="384048"/>
          </a:xfrm>
          <a:prstGeom prst="rect">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0f_cellt36"/>
          <p:cNvSpPr txBox="1"/>
          <p:nvPr/>
        </p:nvSpPr>
        <p:spPr>
          <a:xfrm>
            <a:off x="3767328" y="2825496"/>
            <a:ext cx="384048" cy="384048"/>
          </a:xfrm>
          <a:prstGeom prst="rect">
            <a:avLst/>
          </a:prstGeom>
          <a:noFill/>
        </p:spPr>
        <p:txBody>
          <a:bodyPr wrap="square" lIns="0" tIns="0" rIns="0" bIns="0" anchor="ctr">
            <a:spAutoFit/>
          </a:bodyPr>
          <a:lstStyle/>
          <a:p>
            <a:pPr algn="ctr"/>
            <a:r>
              <a:rPr sz="850" b="1">
                <a:solidFill>
                  <a:srgbClr val="C2410C"/>
                </a:solidFill>
                <a:latin typeface="Consolas"/>
              </a:rPr>
              <a:t>0</a:t>
            </a:r>
          </a:p>
        </p:txBody>
      </p:sp>
      <p:sp>
        <p:nvSpPr>
          <p:cNvPr id="38" name="a0f_cell37"/>
          <p:cNvSpPr/>
          <p:nvPr/>
        </p:nvSpPr>
        <p:spPr>
          <a:xfrm>
            <a:off x="4151376" y="2825496"/>
            <a:ext cx="384048" cy="384048"/>
          </a:xfrm>
          <a:prstGeom prst="rect">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0f_cellt38"/>
          <p:cNvSpPr txBox="1"/>
          <p:nvPr/>
        </p:nvSpPr>
        <p:spPr>
          <a:xfrm>
            <a:off x="4151376" y="2825496"/>
            <a:ext cx="384048" cy="384048"/>
          </a:xfrm>
          <a:prstGeom prst="rect">
            <a:avLst/>
          </a:prstGeom>
          <a:noFill/>
        </p:spPr>
        <p:txBody>
          <a:bodyPr wrap="square" lIns="0" tIns="0" rIns="0" bIns="0" anchor="ctr">
            <a:spAutoFit/>
          </a:bodyPr>
          <a:lstStyle/>
          <a:p>
            <a:pPr algn="ctr"/>
            <a:r>
              <a:rPr sz="850" b="1">
                <a:solidFill>
                  <a:srgbClr val="C2410C"/>
                </a:solidFill>
                <a:latin typeface="Consolas"/>
              </a:rPr>
              <a:t>1</a:t>
            </a:r>
          </a:p>
        </p:txBody>
      </p:sp>
      <p:sp>
        <p:nvSpPr>
          <p:cNvPr id="40" name="a0f_cell39"/>
          <p:cNvSpPr/>
          <p:nvPr/>
        </p:nvSpPr>
        <p:spPr>
          <a:xfrm>
            <a:off x="4535424" y="2825496"/>
            <a:ext cx="384048" cy="384048"/>
          </a:xfrm>
          <a:prstGeom prst="rect">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0f_cellt40"/>
          <p:cNvSpPr txBox="1"/>
          <p:nvPr/>
        </p:nvSpPr>
        <p:spPr>
          <a:xfrm>
            <a:off x="4535424" y="2825496"/>
            <a:ext cx="384048" cy="384048"/>
          </a:xfrm>
          <a:prstGeom prst="rect">
            <a:avLst/>
          </a:prstGeom>
          <a:noFill/>
        </p:spPr>
        <p:txBody>
          <a:bodyPr wrap="square" lIns="0" tIns="0" rIns="0" bIns="0" anchor="ctr">
            <a:spAutoFit/>
          </a:bodyPr>
          <a:lstStyle/>
          <a:p>
            <a:pPr algn="ctr"/>
            <a:r>
              <a:rPr sz="850" b="1">
                <a:solidFill>
                  <a:srgbClr val="C2410C"/>
                </a:solidFill>
                <a:latin typeface="Consolas"/>
              </a:rPr>
              <a:t>2</a:t>
            </a:r>
          </a:p>
        </p:txBody>
      </p:sp>
      <p:sp>
        <p:nvSpPr>
          <p:cNvPr id="42" name="a0f_cell41"/>
          <p:cNvSpPr/>
          <p:nvPr/>
        </p:nvSpPr>
        <p:spPr>
          <a:xfrm>
            <a:off x="4919472" y="2825496"/>
            <a:ext cx="384048" cy="384048"/>
          </a:xfrm>
          <a:prstGeom prst="rect">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0f_cellt42"/>
          <p:cNvSpPr txBox="1"/>
          <p:nvPr/>
        </p:nvSpPr>
        <p:spPr>
          <a:xfrm>
            <a:off x="4919472" y="2825496"/>
            <a:ext cx="384048" cy="384048"/>
          </a:xfrm>
          <a:prstGeom prst="rect">
            <a:avLst/>
          </a:prstGeom>
          <a:noFill/>
        </p:spPr>
        <p:txBody>
          <a:bodyPr wrap="square" lIns="0" tIns="0" rIns="0" bIns="0" anchor="ctr">
            <a:spAutoFit/>
          </a:bodyPr>
          <a:lstStyle/>
          <a:p>
            <a:pPr algn="ctr"/>
            <a:r>
              <a:rPr sz="850" b="1">
                <a:solidFill>
                  <a:srgbClr val="C2410C"/>
                </a:solidFill>
                <a:latin typeface="Consolas"/>
              </a:rPr>
              <a:t>3</a:t>
            </a:r>
          </a:p>
        </p:txBody>
      </p:sp>
      <p:sp>
        <p:nvSpPr>
          <p:cNvPr id="44" name="a0f_cell43"/>
          <p:cNvSpPr/>
          <p:nvPr/>
        </p:nvSpPr>
        <p:spPr>
          <a:xfrm>
            <a:off x="5303520" y="2825496"/>
            <a:ext cx="384048" cy="384048"/>
          </a:xfrm>
          <a:prstGeom prst="rect">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a0f_cellt44"/>
          <p:cNvSpPr txBox="1"/>
          <p:nvPr/>
        </p:nvSpPr>
        <p:spPr>
          <a:xfrm>
            <a:off x="5303520" y="2825496"/>
            <a:ext cx="384048" cy="384048"/>
          </a:xfrm>
          <a:prstGeom prst="rect">
            <a:avLst/>
          </a:prstGeom>
          <a:noFill/>
        </p:spPr>
        <p:txBody>
          <a:bodyPr wrap="square" lIns="0" tIns="0" rIns="0" bIns="0" anchor="ctr">
            <a:spAutoFit/>
          </a:bodyPr>
          <a:lstStyle/>
          <a:p>
            <a:pPr algn="ctr"/>
            <a:r>
              <a:rPr sz="850" b="1">
                <a:solidFill>
                  <a:srgbClr val="C2410C"/>
                </a:solidFill>
                <a:latin typeface="Consolas"/>
              </a:rPr>
              <a:t>4</a:t>
            </a:r>
          </a:p>
        </p:txBody>
      </p:sp>
      <p:sp>
        <p:nvSpPr>
          <p:cNvPr id="46" name="a1u_g145"/>
          <p:cNvSpPr/>
          <p:nvPr/>
        </p:nvSpPr>
        <p:spPr>
          <a:xfrm>
            <a:off x="457200" y="1280160"/>
            <a:ext cx="2377440" cy="2240280"/>
          </a:xfrm>
          <a:prstGeom prst="roundRect">
            <a:avLst>
              <a:gd name="adj" fmla="val 3265"/>
            </a:avLst>
          </a:prstGeom>
          <a:noFill/>
          <a:ln w="15875">
            <a:solidFill>
              <a:srgbClr val="4F46E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1u_lb46"/>
          <p:cNvSpPr txBox="1"/>
          <p:nvPr/>
        </p:nvSpPr>
        <p:spPr>
          <a:xfrm>
            <a:off x="566928" y="1325880"/>
            <a:ext cx="2194560" cy="201168"/>
          </a:xfrm>
          <a:prstGeom prst="rect">
            <a:avLst/>
          </a:prstGeom>
          <a:noFill/>
        </p:spPr>
        <p:txBody>
          <a:bodyPr wrap="square" lIns="0" tIns="0" rIns="0" bIns="0" anchor="ctr">
            <a:spAutoFit/>
          </a:bodyPr>
          <a:lstStyle/>
          <a:p>
            <a:pPr algn="l"/>
            <a:r>
              <a:rPr sz="850" b="1">
                <a:solidFill>
                  <a:srgbClr val="4F46E5"/>
                </a:solidFill>
                <a:latin typeface="Consolas"/>
              </a:rPr>
              <a:t>group: thermostat-dashboard</a:t>
            </a:r>
          </a:p>
        </p:txBody>
      </p:sp>
      <p:sp>
        <p:nvSpPr>
          <p:cNvPr id="48" name="a1ud120_nd47"/>
          <p:cNvSpPr/>
          <p:nvPr/>
        </p:nvSpPr>
        <p:spPr>
          <a:xfrm>
            <a:off x="640080" y="1664208"/>
            <a:ext cx="1554480" cy="438912"/>
          </a:xfrm>
          <a:prstGeom prst="roundRect">
            <a:avLst>
              <a:gd name="adj" fmla="val 16666"/>
            </a:avLst>
          </a:prstGeom>
          <a:solidFill>
            <a:srgbClr val="FFFFFF"/>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1ud120_ndt48"/>
          <p:cNvSpPr txBox="1"/>
          <p:nvPr/>
        </p:nvSpPr>
        <p:spPr>
          <a:xfrm>
            <a:off x="685800" y="1664208"/>
            <a:ext cx="1463039" cy="438912"/>
          </a:xfrm>
          <a:prstGeom prst="rect">
            <a:avLst/>
          </a:prstGeom>
          <a:noFill/>
        </p:spPr>
        <p:txBody>
          <a:bodyPr wrap="square" lIns="0" tIns="0" rIns="0" bIns="0" anchor="ctr">
            <a:spAutoFit/>
          </a:bodyPr>
          <a:lstStyle/>
          <a:p>
            <a:pPr algn="ctr"/>
            <a:r>
              <a:rPr sz="850" b="1">
                <a:solidFill>
                  <a:srgbClr val="1C1917"/>
                </a:solidFill>
                <a:latin typeface="Segoe UI"/>
              </a:rPr>
              <a:t>dashboard-1</a:t>
            </a:r>
          </a:p>
        </p:txBody>
      </p:sp>
      <p:sp>
        <p:nvSpPr>
          <p:cNvPr id="50" name="a1ud120_pc49"/>
          <p:cNvSpPr/>
          <p:nvPr/>
        </p:nvSpPr>
        <p:spPr>
          <a:xfrm>
            <a:off x="2286000" y="1746504"/>
            <a:ext cx="420624" cy="274320"/>
          </a:xfrm>
          <a:prstGeom prst="roundRect">
            <a:avLst>
              <a:gd name="adj" fmla="val 13333"/>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a1ud120_pct50"/>
          <p:cNvSpPr txBox="1"/>
          <p:nvPr/>
        </p:nvSpPr>
        <p:spPr>
          <a:xfrm>
            <a:off x="2286000" y="1746504"/>
            <a:ext cx="420624" cy="274320"/>
          </a:xfrm>
          <a:prstGeom prst="rect">
            <a:avLst/>
          </a:prstGeom>
          <a:noFill/>
        </p:spPr>
        <p:txBody>
          <a:bodyPr wrap="square" lIns="0" tIns="0" rIns="0" bIns="0" anchor="ctr">
            <a:spAutoFit/>
          </a:bodyPr>
          <a:lstStyle/>
          <a:p>
            <a:pPr algn="ctr"/>
            <a:r>
              <a:rPr sz="850" b="1">
                <a:solidFill>
                  <a:srgbClr val="0E7490"/>
                </a:solidFill>
                <a:latin typeface="Consolas"/>
              </a:rPr>
              <a:t>P0</a:t>
            </a:r>
          </a:p>
        </p:txBody>
      </p:sp>
      <p:cxnSp>
        <p:nvCxnSpPr>
          <p:cNvPr id="52" name="a1ud120_ar51"/>
          <p:cNvCxnSpPr/>
          <p:nvPr/>
        </p:nvCxnSpPr>
        <p:spPr>
          <a:xfrm flipH="1">
            <a:off x="2724912" y="1883664"/>
            <a:ext cx="640080" cy="0"/>
          </a:xfrm>
          <a:prstGeom prst="line">
            <a:avLst/>
          </a:prstGeom>
          <a:ln w="19050">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a1ud240_nd52"/>
          <p:cNvSpPr/>
          <p:nvPr/>
        </p:nvSpPr>
        <p:spPr>
          <a:xfrm>
            <a:off x="640080" y="2231136"/>
            <a:ext cx="1554480" cy="438912"/>
          </a:xfrm>
          <a:prstGeom prst="roundRect">
            <a:avLst>
              <a:gd name="adj" fmla="val 16666"/>
            </a:avLst>
          </a:prstGeom>
          <a:solidFill>
            <a:srgbClr val="FFFFFF"/>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a1ud240_ndt53"/>
          <p:cNvSpPr txBox="1"/>
          <p:nvPr/>
        </p:nvSpPr>
        <p:spPr>
          <a:xfrm>
            <a:off x="685800" y="2231136"/>
            <a:ext cx="1463039" cy="438912"/>
          </a:xfrm>
          <a:prstGeom prst="rect">
            <a:avLst/>
          </a:prstGeom>
          <a:noFill/>
        </p:spPr>
        <p:txBody>
          <a:bodyPr wrap="square" lIns="0" tIns="0" rIns="0" bIns="0" anchor="ctr">
            <a:spAutoFit/>
          </a:bodyPr>
          <a:lstStyle/>
          <a:p>
            <a:pPr algn="ctr"/>
            <a:r>
              <a:rPr sz="850" b="1">
                <a:solidFill>
                  <a:srgbClr val="1C1917"/>
                </a:solidFill>
                <a:latin typeface="Segoe UI"/>
              </a:rPr>
              <a:t>dashboard-2</a:t>
            </a:r>
          </a:p>
        </p:txBody>
      </p:sp>
      <p:sp>
        <p:nvSpPr>
          <p:cNvPr id="55" name="a1ud240_pc54"/>
          <p:cNvSpPr/>
          <p:nvPr/>
        </p:nvSpPr>
        <p:spPr>
          <a:xfrm>
            <a:off x="2286000" y="2313432"/>
            <a:ext cx="420624" cy="274320"/>
          </a:xfrm>
          <a:prstGeom prst="roundRect">
            <a:avLst>
              <a:gd name="adj" fmla="val 13333"/>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a1ud240_pct55"/>
          <p:cNvSpPr txBox="1"/>
          <p:nvPr/>
        </p:nvSpPr>
        <p:spPr>
          <a:xfrm>
            <a:off x="2286000" y="2313432"/>
            <a:ext cx="420624" cy="274320"/>
          </a:xfrm>
          <a:prstGeom prst="rect">
            <a:avLst/>
          </a:prstGeom>
          <a:noFill/>
        </p:spPr>
        <p:txBody>
          <a:bodyPr wrap="square" lIns="0" tIns="0" rIns="0" bIns="0" anchor="ctr">
            <a:spAutoFit/>
          </a:bodyPr>
          <a:lstStyle/>
          <a:p>
            <a:pPr algn="ctr"/>
            <a:r>
              <a:rPr sz="850" b="1">
                <a:solidFill>
                  <a:srgbClr val="4F46E5"/>
                </a:solidFill>
                <a:latin typeface="Consolas"/>
              </a:rPr>
              <a:t>P1</a:t>
            </a:r>
          </a:p>
        </p:txBody>
      </p:sp>
      <p:cxnSp>
        <p:nvCxnSpPr>
          <p:cNvPr id="57" name="a1ud240_ar56"/>
          <p:cNvCxnSpPr/>
          <p:nvPr/>
        </p:nvCxnSpPr>
        <p:spPr>
          <a:xfrm flipH="1">
            <a:off x="2724912" y="2450591"/>
            <a:ext cx="640080" cy="0"/>
          </a:xfrm>
          <a:prstGeom prst="line">
            <a:avLst/>
          </a:prstGeom>
          <a:ln w="1905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a1ud360_nd57"/>
          <p:cNvSpPr/>
          <p:nvPr/>
        </p:nvSpPr>
        <p:spPr>
          <a:xfrm>
            <a:off x="640080" y="2798064"/>
            <a:ext cx="1554480" cy="438912"/>
          </a:xfrm>
          <a:prstGeom prst="roundRect">
            <a:avLst>
              <a:gd name="adj" fmla="val 16666"/>
            </a:avLst>
          </a:prstGeom>
          <a:solidFill>
            <a:srgbClr val="FFFFFF"/>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a1ud360_ndt58"/>
          <p:cNvSpPr txBox="1"/>
          <p:nvPr/>
        </p:nvSpPr>
        <p:spPr>
          <a:xfrm>
            <a:off x="685800" y="2798064"/>
            <a:ext cx="1463039" cy="438912"/>
          </a:xfrm>
          <a:prstGeom prst="rect">
            <a:avLst/>
          </a:prstGeom>
          <a:noFill/>
        </p:spPr>
        <p:txBody>
          <a:bodyPr wrap="square" lIns="0" tIns="0" rIns="0" bIns="0" anchor="ctr">
            <a:spAutoFit/>
          </a:bodyPr>
          <a:lstStyle/>
          <a:p>
            <a:pPr algn="ctr"/>
            <a:r>
              <a:rPr sz="850" b="1">
                <a:solidFill>
                  <a:srgbClr val="1C1917"/>
                </a:solidFill>
                <a:latin typeface="Segoe UI"/>
              </a:rPr>
              <a:t>dashboard-3</a:t>
            </a:r>
          </a:p>
        </p:txBody>
      </p:sp>
      <p:sp>
        <p:nvSpPr>
          <p:cNvPr id="60" name="a1ud360_pc59"/>
          <p:cNvSpPr/>
          <p:nvPr/>
        </p:nvSpPr>
        <p:spPr>
          <a:xfrm>
            <a:off x="2286000" y="2880360"/>
            <a:ext cx="420624" cy="274320"/>
          </a:xfrm>
          <a:prstGeom prst="roundRect">
            <a:avLst>
              <a:gd name="adj" fmla="val 13333"/>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a1ud360_pct60"/>
          <p:cNvSpPr txBox="1"/>
          <p:nvPr/>
        </p:nvSpPr>
        <p:spPr>
          <a:xfrm>
            <a:off x="2286000" y="2880360"/>
            <a:ext cx="420624" cy="274320"/>
          </a:xfrm>
          <a:prstGeom prst="rect">
            <a:avLst/>
          </a:prstGeom>
          <a:noFill/>
        </p:spPr>
        <p:txBody>
          <a:bodyPr wrap="square" lIns="0" tIns="0" rIns="0" bIns="0" anchor="ctr">
            <a:spAutoFit/>
          </a:bodyPr>
          <a:lstStyle/>
          <a:p>
            <a:pPr algn="ctr"/>
            <a:r>
              <a:rPr sz="850" b="1">
                <a:solidFill>
                  <a:srgbClr val="C2410C"/>
                </a:solidFill>
                <a:latin typeface="Consolas"/>
              </a:rPr>
              <a:t>P2</a:t>
            </a:r>
          </a:p>
        </p:txBody>
      </p:sp>
      <p:cxnSp>
        <p:nvCxnSpPr>
          <p:cNvPr id="62" name="a1ud360_ar61"/>
          <p:cNvCxnSpPr/>
          <p:nvPr/>
        </p:nvCxnSpPr>
        <p:spPr>
          <a:xfrm flipH="1">
            <a:off x="2724912" y="3017520"/>
            <a:ext cx="640080" cy="0"/>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a2u_g262"/>
          <p:cNvSpPr/>
          <p:nvPr/>
        </p:nvSpPr>
        <p:spPr>
          <a:xfrm>
            <a:off x="6309360" y="1280160"/>
            <a:ext cx="2377440" cy="2240280"/>
          </a:xfrm>
          <a:prstGeom prst="roundRect">
            <a:avLst>
              <a:gd name="adj" fmla="val 3265"/>
            </a:avLst>
          </a:prstGeom>
          <a:noFill/>
          <a:ln w="15875">
            <a:solidFill>
              <a:srgbClr val="EA580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a2u_lb63"/>
          <p:cNvSpPr txBox="1"/>
          <p:nvPr/>
        </p:nvSpPr>
        <p:spPr>
          <a:xfrm>
            <a:off x="6419088" y="1325880"/>
            <a:ext cx="2194560" cy="201168"/>
          </a:xfrm>
          <a:prstGeom prst="rect">
            <a:avLst/>
          </a:prstGeom>
          <a:noFill/>
        </p:spPr>
        <p:txBody>
          <a:bodyPr wrap="square" lIns="0" tIns="0" rIns="0" bIns="0" anchor="ctr">
            <a:spAutoFit/>
          </a:bodyPr>
          <a:lstStyle/>
          <a:p>
            <a:pPr algn="l"/>
            <a:r>
              <a:rPr sz="850" b="1">
                <a:solidFill>
                  <a:srgbClr val="C2410C"/>
                </a:solidFill>
                <a:latin typeface="Consolas"/>
              </a:rPr>
              <a:t>group: alerts</a:t>
            </a:r>
          </a:p>
        </p:txBody>
      </p:sp>
      <p:sp>
        <p:nvSpPr>
          <p:cNvPr id="65" name="a2ud100_nd64"/>
          <p:cNvSpPr/>
          <p:nvPr/>
        </p:nvSpPr>
        <p:spPr>
          <a:xfrm>
            <a:off x="6766560" y="2057400"/>
            <a:ext cx="1554480" cy="640080"/>
          </a:xfrm>
          <a:prstGeom prst="roundRect">
            <a:avLst>
              <a:gd name="adj" fmla="val 11428"/>
            </a:avLst>
          </a:prstGeom>
          <a:solidFill>
            <a:srgbClr val="FFFFFF"/>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a2ud100_ndt65"/>
          <p:cNvSpPr txBox="1"/>
          <p:nvPr/>
        </p:nvSpPr>
        <p:spPr>
          <a:xfrm>
            <a:off x="6812280" y="2093976"/>
            <a:ext cx="1463039" cy="301751"/>
          </a:xfrm>
          <a:prstGeom prst="rect">
            <a:avLst/>
          </a:prstGeom>
          <a:noFill/>
        </p:spPr>
        <p:txBody>
          <a:bodyPr wrap="square" lIns="0" tIns="0" rIns="0" bIns="0" anchor="b">
            <a:spAutoFit/>
          </a:bodyPr>
          <a:lstStyle/>
          <a:p>
            <a:pPr algn="ctr"/>
            <a:r>
              <a:rPr sz="900" b="1">
                <a:solidFill>
                  <a:srgbClr val="1C1917"/>
                </a:solidFill>
                <a:latin typeface="Segoe UI"/>
              </a:rPr>
              <a:t>alerting-1</a:t>
            </a:r>
          </a:p>
        </p:txBody>
      </p:sp>
      <p:sp>
        <p:nvSpPr>
          <p:cNvPr id="67" name="a2ud100_nds66"/>
          <p:cNvSpPr txBox="1"/>
          <p:nvPr/>
        </p:nvSpPr>
        <p:spPr>
          <a:xfrm>
            <a:off x="6812280" y="2404872"/>
            <a:ext cx="1463039" cy="256031"/>
          </a:xfrm>
          <a:prstGeom prst="rect">
            <a:avLst/>
          </a:prstGeom>
          <a:noFill/>
        </p:spPr>
        <p:txBody>
          <a:bodyPr wrap="square" lIns="0" tIns="0" rIns="0" bIns="0" anchor="t">
            <a:spAutoFit/>
          </a:bodyPr>
          <a:lstStyle/>
          <a:p>
            <a:pPr algn="ctr"/>
            <a:r>
              <a:rPr sz="800" b="0">
                <a:solidFill>
                  <a:srgbClr val="EA580C"/>
                </a:solidFill>
                <a:latin typeface="Segoe UI"/>
              </a:rPr>
              <a:t>all three partitions</a:t>
            </a:r>
          </a:p>
        </p:txBody>
      </p:sp>
      <p:cxnSp>
        <p:nvCxnSpPr>
          <p:cNvPr id="68" name="a2ud150_ar67"/>
          <p:cNvCxnSpPr/>
          <p:nvPr/>
        </p:nvCxnSpPr>
        <p:spPr>
          <a:xfrm>
            <a:off x="5760720" y="1883664"/>
            <a:ext cx="987552" cy="384048"/>
          </a:xfrm>
          <a:prstGeom prst="line">
            <a:avLst/>
          </a:prstGeom>
          <a:ln w="15875">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9" name="a2ud150_ar68"/>
          <p:cNvCxnSpPr/>
          <p:nvPr/>
        </p:nvCxnSpPr>
        <p:spPr>
          <a:xfrm flipV="1">
            <a:off x="5760720" y="2377440"/>
            <a:ext cx="987552" cy="73152"/>
          </a:xfrm>
          <a:prstGeom prst="line">
            <a:avLst/>
          </a:prstGeom>
          <a:ln w="15875">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0" name="a2ud150_ar69"/>
          <p:cNvCxnSpPr/>
          <p:nvPr/>
        </p:nvCxnSpPr>
        <p:spPr>
          <a:xfrm flipV="1">
            <a:off x="5760720" y="2487168"/>
            <a:ext cx="987552" cy="530352"/>
          </a:xfrm>
          <a:prstGeom prst="line">
            <a:avLst/>
          </a:prstGeom>
          <a:ln w="15875">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71" name="a3u_nb70"/>
          <p:cNvSpPr/>
          <p:nvPr/>
        </p:nvSpPr>
        <p:spPr>
          <a:xfrm>
            <a:off x="457200" y="3749039"/>
            <a:ext cx="8229600" cy="731520"/>
          </a:xfrm>
          <a:prstGeom prst="roundRect">
            <a:avLst>
              <a:gd name="adj" fmla="val 10000"/>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a3u_nacc71"/>
          <p:cNvSpPr/>
          <p:nvPr/>
        </p:nvSpPr>
        <p:spPr>
          <a:xfrm>
            <a:off x="457200" y="3749039"/>
            <a:ext cx="54864" cy="7315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a3u_nt72"/>
          <p:cNvSpPr txBox="1"/>
          <p:nvPr/>
        </p:nvSpPr>
        <p:spPr>
          <a:xfrm>
            <a:off x="658368" y="3749039"/>
            <a:ext cx="7827264" cy="731520"/>
          </a:xfrm>
          <a:prstGeom prst="rect">
            <a:avLst/>
          </a:prstGeom>
          <a:noFill/>
        </p:spPr>
        <p:txBody>
          <a:bodyPr wrap="square" lIns="0" tIns="0" rIns="0" bIns="0" anchor="ctr">
            <a:spAutoFit/>
          </a:bodyPr>
          <a:lstStyle/>
          <a:p>
            <a:pPr algn="l"/>
            <a:r>
              <a:rPr sz="950" b="1">
                <a:solidFill>
                  <a:srgbClr val="4F46E5"/>
                </a:solidFill>
                <a:latin typeface="Segoe UI"/>
              </a:rPr>
              <a:t>KEY  </a:t>
            </a:r>
            <a:r>
              <a:rPr sz="950" b="0">
                <a:solidFill>
                  <a:srgbClr val="44403C"/>
                </a:solidFill>
                <a:latin typeface="Segoe UI"/>
              </a:rPr>
              <a:t>In a group, each partition goes to exactly one consumer. Different groups are independent - each gets every message.</a:t>
            </a:r>
          </a:p>
        </p:txBody>
      </p:sp>
      <p:sp>
        <p:nvSpPr>
          <p:cNvPr id="74" name="ft73"/>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13</a:t>
            </a:r>
          </a:p>
        </p:txBody>
      </p:sp>
      <p:sp>
        <p:nvSpPr>
          <p:cNvPr id="75" name="ft74"/>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ft75"/>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Consumers</a:t>
            </a:r>
          </a:p>
        </p:txBody>
      </p:sp>
      <p:sp>
        <p:nvSpPr>
          <p:cNvPr id="77" name="ft76"/>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7</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5"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8" presetID="10"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par>
                                <p:cTn id="40" presetID="10"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par>
                                <p:cTn id="43" presetID="10"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par>
                                <p:cTn id="46" presetID="10"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00"/>
                                        <p:tgtEl>
                                          <p:spTgt spid="24"/>
                                        </p:tgtEl>
                                      </p:cBhvr>
                                    </p:animEffect>
                                  </p:childTnLst>
                                </p:cTn>
                              </p:par>
                              <p:par>
                                <p:cTn id="49" presetID="10"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500"/>
                                        <p:tgtEl>
                                          <p:spTgt spid="25"/>
                                        </p:tgtEl>
                                      </p:cBhvr>
                                    </p:animEffect>
                                  </p:childTnLst>
                                </p:cTn>
                              </p:par>
                              <p:par>
                                <p:cTn id="52" presetID="10"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500"/>
                                        <p:tgtEl>
                                          <p:spTgt spid="26"/>
                                        </p:tgtEl>
                                      </p:cBhvr>
                                    </p:animEffect>
                                  </p:childTnLst>
                                </p:cTn>
                              </p:par>
                              <p:par>
                                <p:cTn id="55" presetID="10"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500"/>
                                        <p:tgtEl>
                                          <p:spTgt spid="27"/>
                                        </p:tgtEl>
                                      </p:cBhvr>
                                    </p:animEffect>
                                  </p:childTnLst>
                                </p:cTn>
                              </p:par>
                              <p:par>
                                <p:cTn id="58" presetID="10"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500"/>
                                        <p:tgtEl>
                                          <p:spTgt spid="28"/>
                                        </p:tgtEl>
                                      </p:cBhvr>
                                    </p:animEffect>
                                  </p:childTnLst>
                                </p:cTn>
                              </p:par>
                              <p:par>
                                <p:cTn id="61" presetID="10" presetClass="entr" presetSubtype="0" fill="hold" grpId="0" nodeType="with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500"/>
                                        <p:tgtEl>
                                          <p:spTgt spid="29"/>
                                        </p:tgtEl>
                                      </p:cBhvr>
                                    </p:animEffect>
                                  </p:childTnLst>
                                </p:cTn>
                              </p:par>
                              <p:par>
                                <p:cTn id="64" presetID="10" presetClass="entr" presetSubtype="0" fill="hold" grpId="0" nodeType="with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fade">
                                      <p:cBhvr>
                                        <p:cTn id="63" dur="500"/>
                                        <p:tgtEl>
                                          <p:spTgt spid="30"/>
                                        </p:tgtEl>
                                      </p:cBhvr>
                                    </p:animEffect>
                                  </p:childTnLst>
                                </p:cTn>
                              </p:par>
                              <p:par>
                                <p:cTn id="67" presetID="10" presetClass="entr" presetSubtype="0" fill="hold" grpId="0" nodeType="with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fade">
                                      <p:cBhvr>
                                        <p:cTn id="66" dur="500"/>
                                        <p:tgtEl>
                                          <p:spTgt spid="31"/>
                                        </p:tgtEl>
                                      </p:cBhvr>
                                    </p:animEffect>
                                  </p:childTnLst>
                                </p:cTn>
                              </p:par>
                              <p:par>
                                <p:cTn id="70" presetID="10" presetClass="entr" presetSubtype="0" fill="hold" grpId="0" nodeType="withEffect">
                                  <p:stCondLst>
                                    <p:cond delay="0"/>
                                  </p:stCondLst>
                                  <p:childTnLst>
                                    <p:set>
                                      <p:cBhvr>
                                        <p:cTn id="68" dur="1" fill="hold">
                                          <p:stCondLst>
                                            <p:cond delay="0"/>
                                          </p:stCondLst>
                                        </p:cTn>
                                        <p:tgtEl>
                                          <p:spTgt spid="32"/>
                                        </p:tgtEl>
                                        <p:attrNameLst>
                                          <p:attrName>style.visibility</p:attrName>
                                        </p:attrNameLst>
                                      </p:cBhvr>
                                      <p:to>
                                        <p:strVal val="visible"/>
                                      </p:to>
                                    </p:set>
                                    <p:animEffect transition="in" filter="fade">
                                      <p:cBhvr>
                                        <p:cTn id="69" dur="500"/>
                                        <p:tgtEl>
                                          <p:spTgt spid="32"/>
                                        </p:tgtEl>
                                      </p:cBhvr>
                                    </p:animEffect>
                                  </p:childTnLst>
                                </p:cTn>
                              </p:par>
                              <p:par>
                                <p:cTn id="73" presetID="10" presetClass="entr" presetSubtype="0" fill="hold" grpId="0" nodeType="withEffect">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2" dur="500"/>
                                        <p:tgtEl>
                                          <p:spTgt spid="33"/>
                                        </p:tgtEl>
                                      </p:cBhvr>
                                    </p:animEffect>
                                  </p:childTnLst>
                                </p:cTn>
                              </p:par>
                              <p:par>
                                <p:cTn id="76" presetID="10" presetClass="entr" presetSubtype="0" fill="hold" grpId="0" nodeType="withEffect">
                                  <p:stCondLst>
                                    <p:cond delay="0"/>
                                  </p:stCondLst>
                                  <p:childTnLst>
                                    <p:set>
                                      <p:cBhvr>
                                        <p:cTn id="74" dur="1" fill="hold">
                                          <p:stCondLst>
                                            <p:cond delay="0"/>
                                          </p:stCondLst>
                                        </p:cTn>
                                        <p:tgtEl>
                                          <p:spTgt spid="34"/>
                                        </p:tgtEl>
                                        <p:attrNameLst>
                                          <p:attrName>style.visibility</p:attrName>
                                        </p:attrNameLst>
                                      </p:cBhvr>
                                      <p:to>
                                        <p:strVal val="visible"/>
                                      </p:to>
                                    </p:set>
                                    <p:animEffect transition="in" filter="fade">
                                      <p:cBhvr>
                                        <p:cTn id="75" dur="500"/>
                                        <p:tgtEl>
                                          <p:spTgt spid="34"/>
                                        </p:tgtEl>
                                      </p:cBhvr>
                                    </p:animEffect>
                                  </p:childTnLst>
                                </p:cTn>
                              </p:par>
                              <p:par>
                                <p:cTn id="79" presetID="10" presetClass="entr" presetSubtype="0" fill="hold" grpId="0" nodeType="withEffect">
                                  <p:stCondLst>
                                    <p:cond delay="0"/>
                                  </p:stCondLst>
                                  <p:childTnLst>
                                    <p:set>
                                      <p:cBhvr>
                                        <p:cTn id="77" dur="1" fill="hold">
                                          <p:stCondLst>
                                            <p:cond delay="0"/>
                                          </p:stCondLst>
                                        </p:cTn>
                                        <p:tgtEl>
                                          <p:spTgt spid="35"/>
                                        </p:tgtEl>
                                        <p:attrNameLst>
                                          <p:attrName>style.visibility</p:attrName>
                                        </p:attrNameLst>
                                      </p:cBhvr>
                                      <p:to>
                                        <p:strVal val="visible"/>
                                      </p:to>
                                    </p:set>
                                    <p:animEffect transition="in" filter="fade">
                                      <p:cBhvr>
                                        <p:cTn id="78" dur="500"/>
                                        <p:tgtEl>
                                          <p:spTgt spid="35"/>
                                        </p:tgtEl>
                                      </p:cBhvr>
                                    </p:animEffect>
                                  </p:childTnLst>
                                </p:cTn>
                              </p:par>
                              <p:par>
                                <p:cTn id="82" presetID="10" presetClass="entr" presetSubtype="0" fill="hold" grpId="0" nodeType="withEffect">
                                  <p:stCondLst>
                                    <p:cond delay="0"/>
                                  </p:stCondLst>
                                  <p:childTnLst>
                                    <p:set>
                                      <p:cBhvr>
                                        <p:cTn id="80" dur="1" fill="hold">
                                          <p:stCondLst>
                                            <p:cond delay="0"/>
                                          </p:stCondLst>
                                        </p:cTn>
                                        <p:tgtEl>
                                          <p:spTgt spid="36"/>
                                        </p:tgtEl>
                                        <p:attrNameLst>
                                          <p:attrName>style.visibility</p:attrName>
                                        </p:attrNameLst>
                                      </p:cBhvr>
                                      <p:to>
                                        <p:strVal val="visible"/>
                                      </p:to>
                                    </p:set>
                                    <p:animEffect transition="in" filter="fade">
                                      <p:cBhvr>
                                        <p:cTn id="81" dur="500"/>
                                        <p:tgtEl>
                                          <p:spTgt spid="36"/>
                                        </p:tgtEl>
                                      </p:cBhvr>
                                    </p:animEffect>
                                  </p:childTnLst>
                                </p:cTn>
                              </p:par>
                              <p:par>
                                <p:cTn id="85" presetID="10" presetClass="entr" presetSubtype="0" fill="hold" grpId="0" nodeType="withEffect">
                                  <p:stCondLst>
                                    <p:cond delay="0"/>
                                  </p:stCondLst>
                                  <p:childTnLst>
                                    <p:set>
                                      <p:cBhvr>
                                        <p:cTn id="83" dur="1" fill="hold">
                                          <p:stCondLst>
                                            <p:cond delay="0"/>
                                          </p:stCondLst>
                                        </p:cTn>
                                        <p:tgtEl>
                                          <p:spTgt spid="37"/>
                                        </p:tgtEl>
                                        <p:attrNameLst>
                                          <p:attrName>style.visibility</p:attrName>
                                        </p:attrNameLst>
                                      </p:cBhvr>
                                      <p:to>
                                        <p:strVal val="visible"/>
                                      </p:to>
                                    </p:set>
                                    <p:animEffect transition="in" filter="fade">
                                      <p:cBhvr>
                                        <p:cTn id="84" dur="500"/>
                                        <p:tgtEl>
                                          <p:spTgt spid="37"/>
                                        </p:tgtEl>
                                      </p:cBhvr>
                                    </p:animEffect>
                                  </p:childTnLst>
                                </p:cTn>
                              </p:par>
                              <p:par>
                                <p:cTn id="88" presetID="10" presetClass="entr" presetSubtype="0" fill="hold" grpId="0" nodeType="withEffect">
                                  <p:stCondLst>
                                    <p:cond delay="0"/>
                                  </p:stCondLst>
                                  <p:childTnLst>
                                    <p:set>
                                      <p:cBhvr>
                                        <p:cTn id="86" dur="1" fill="hold">
                                          <p:stCondLst>
                                            <p:cond delay="0"/>
                                          </p:stCondLst>
                                        </p:cTn>
                                        <p:tgtEl>
                                          <p:spTgt spid="38"/>
                                        </p:tgtEl>
                                        <p:attrNameLst>
                                          <p:attrName>style.visibility</p:attrName>
                                        </p:attrNameLst>
                                      </p:cBhvr>
                                      <p:to>
                                        <p:strVal val="visible"/>
                                      </p:to>
                                    </p:set>
                                    <p:animEffect transition="in" filter="fade">
                                      <p:cBhvr>
                                        <p:cTn id="87" dur="500"/>
                                        <p:tgtEl>
                                          <p:spTgt spid="38"/>
                                        </p:tgtEl>
                                      </p:cBhvr>
                                    </p:animEffect>
                                  </p:childTnLst>
                                </p:cTn>
                              </p:par>
                              <p:par>
                                <p:cTn id="91" presetID="10" presetClass="entr" presetSubtype="0" fill="hold" grpId="0" nodeType="withEffect">
                                  <p:stCondLst>
                                    <p:cond delay="0"/>
                                  </p:stCondLst>
                                  <p:childTnLst>
                                    <p:set>
                                      <p:cBhvr>
                                        <p:cTn id="89" dur="1" fill="hold">
                                          <p:stCondLst>
                                            <p:cond delay="0"/>
                                          </p:stCondLst>
                                        </p:cTn>
                                        <p:tgtEl>
                                          <p:spTgt spid="39"/>
                                        </p:tgtEl>
                                        <p:attrNameLst>
                                          <p:attrName>style.visibility</p:attrName>
                                        </p:attrNameLst>
                                      </p:cBhvr>
                                      <p:to>
                                        <p:strVal val="visible"/>
                                      </p:to>
                                    </p:set>
                                    <p:animEffect transition="in" filter="fade">
                                      <p:cBhvr>
                                        <p:cTn id="90" dur="500"/>
                                        <p:tgtEl>
                                          <p:spTgt spid="39"/>
                                        </p:tgtEl>
                                      </p:cBhvr>
                                    </p:animEffect>
                                  </p:childTnLst>
                                </p:cTn>
                              </p:par>
                              <p:par>
                                <p:cTn id="94" presetID="10" presetClass="entr" presetSubtype="0" fill="hold" grpId="0" nodeType="withEffect">
                                  <p:stCondLst>
                                    <p:cond delay="0"/>
                                  </p:stCondLst>
                                  <p:childTnLst>
                                    <p:set>
                                      <p:cBhvr>
                                        <p:cTn id="92" dur="1" fill="hold">
                                          <p:stCondLst>
                                            <p:cond delay="0"/>
                                          </p:stCondLst>
                                        </p:cTn>
                                        <p:tgtEl>
                                          <p:spTgt spid="40"/>
                                        </p:tgtEl>
                                        <p:attrNameLst>
                                          <p:attrName>style.visibility</p:attrName>
                                        </p:attrNameLst>
                                      </p:cBhvr>
                                      <p:to>
                                        <p:strVal val="visible"/>
                                      </p:to>
                                    </p:set>
                                    <p:animEffect transition="in" filter="fade">
                                      <p:cBhvr>
                                        <p:cTn id="93" dur="500"/>
                                        <p:tgtEl>
                                          <p:spTgt spid="40"/>
                                        </p:tgtEl>
                                      </p:cBhvr>
                                    </p:animEffect>
                                  </p:childTnLst>
                                </p:cTn>
                              </p:par>
                              <p:par>
                                <p:cTn id="97" presetID="10" presetClass="entr" presetSubtype="0" fill="hold" grpId="0" nodeType="withEffect">
                                  <p:stCondLst>
                                    <p:cond delay="0"/>
                                  </p:stCondLst>
                                  <p:childTnLst>
                                    <p:set>
                                      <p:cBhvr>
                                        <p:cTn id="95" dur="1" fill="hold">
                                          <p:stCondLst>
                                            <p:cond delay="0"/>
                                          </p:stCondLst>
                                        </p:cTn>
                                        <p:tgtEl>
                                          <p:spTgt spid="41"/>
                                        </p:tgtEl>
                                        <p:attrNameLst>
                                          <p:attrName>style.visibility</p:attrName>
                                        </p:attrNameLst>
                                      </p:cBhvr>
                                      <p:to>
                                        <p:strVal val="visible"/>
                                      </p:to>
                                    </p:set>
                                    <p:animEffect transition="in" filter="fade">
                                      <p:cBhvr>
                                        <p:cTn id="96" dur="500"/>
                                        <p:tgtEl>
                                          <p:spTgt spid="41"/>
                                        </p:tgtEl>
                                      </p:cBhvr>
                                    </p:animEffect>
                                  </p:childTnLst>
                                </p:cTn>
                              </p:par>
                              <p:par>
                                <p:cTn id="100" presetID="10" presetClass="entr" presetSubtype="0" fill="hold" grpId="0" nodeType="withEffect">
                                  <p:stCondLst>
                                    <p:cond delay="0"/>
                                  </p:stCondLst>
                                  <p:childTnLst>
                                    <p:set>
                                      <p:cBhvr>
                                        <p:cTn id="98" dur="1" fill="hold">
                                          <p:stCondLst>
                                            <p:cond delay="0"/>
                                          </p:stCondLst>
                                        </p:cTn>
                                        <p:tgtEl>
                                          <p:spTgt spid="42"/>
                                        </p:tgtEl>
                                        <p:attrNameLst>
                                          <p:attrName>style.visibility</p:attrName>
                                        </p:attrNameLst>
                                      </p:cBhvr>
                                      <p:to>
                                        <p:strVal val="visible"/>
                                      </p:to>
                                    </p:set>
                                    <p:animEffect transition="in" filter="fade">
                                      <p:cBhvr>
                                        <p:cTn id="99" dur="500"/>
                                        <p:tgtEl>
                                          <p:spTgt spid="42"/>
                                        </p:tgtEl>
                                      </p:cBhvr>
                                    </p:animEffect>
                                  </p:childTnLst>
                                </p:cTn>
                              </p:par>
                              <p:par>
                                <p:cTn id="103" presetID="10" presetClass="entr" presetSubtype="0" fill="hold" grpId="0" nodeType="withEffect">
                                  <p:stCondLst>
                                    <p:cond delay="0"/>
                                  </p:stCondLst>
                                  <p:childTnLst>
                                    <p:set>
                                      <p:cBhvr>
                                        <p:cTn id="101" dur="1" fill="hold">
                                          <p:stCondLst>
                                            <p:cond delay="0"/>
                                          </p:stCondLst>
                                        </p:cTn>
                                        <p:tgtEl>
                                          <p:spTgt spid="43"/>
                                        </p:tgtEl>
                                        <p:attrNameLst>
                                          <p:attrName>style.visibility</p:attrName>
                                        </p:attrNameLst>
                                      </p:cBhvr>
                                      <p:to>
                                        <p:strVal val="visible"/>
                                      </p:to>
                                    </p:set>
                                    <p:animEffect transition="in" filter="fade">
                                      <p:cBhvr>
                                        <p:cTn id="102" dur="500"/>
                                        <p:tgtEl>
                                          <p:spTgt spid="43"/>
                                        </p:tgtEl>
                                      </p:cBhvr>
                                    </p:animEffect>
                                  </p:childTnLst>
                                </p:cTn>
                              </p:par>
                              <p:par>
                                <p:cTn id="106" presetID="10" presetClass="entr" presetSubtype="0" fill="hold" grpId="0" nodeType="withEffect">
                                  <p:stCondLst>
                                    <p:cond delay="0"/>
                                  </p:stCondLst>
                                  <p:childTnLst>
                                    <p:set>
                                      <p:cBhvr>
                                        <p:cTn id="104" dur="1" fill="hold">
                                          <p:stCondLst>
                                            <p:cond delay="0"/>
                                          </p:stCondLst>
                                        </p:cTn>
                                        <p:tgtEl>
                                          <p:spTgt spid="44"/>
                                        </p:tgtEl>
                                        <p:attrNameLst>
                                          <p:attrName>style.visibility</p:attrName>
                                        </p:attrNameLst>
                                      </p:cBhvr>
                                      <p:to>
                                        <p:strVal val="visible"/>
                                      </p:to>
                                    </p:set>
                                    <p:animEffect transition="in" filter="fade">
                                      <p:cBhvr>
                                        <p:cTn id="105" dur="500"/>
                                        <p:tgtEl>
                                          <p:spTgt spid="44"/>
                                        </p:tgtEl>
                                      </p:cBhvr>
                                    </p:animEffect>
                                  </p:childTnLst>
                                </p:cTn>
                              </p:par>
                              <p:par>
                                <p:cTn id="109" presetID="10" presetClass="entr" presetSubtype="0" fill="hold" grpId="0" nodeType="withEffect">
                                  <p:stCondLst>
                                    <p:cond delay="0"/>
                                  </p:stCondLst>
                                  <p:childTnLst>
                                    <p:set>
                                      <p:cBhvr>
                                        <p:cTn id="107" dur="1" fill="hold">
                                          <p:stCondLst>
                                            <p:cond delay="0"/>
                                          </p:stCondLst>
                                        </p:cTn>
                                        <p:tgtEl>
                                          <p:spTgt spid="45"/>
                                        </p:tgtEl>
                                        <p:attrNameLst>
                                          <p:attrName>style.visibility</p:attrName>
                                        </p:attrNameLst>
                                      </p:cBhvr>
                                      <p:to>
                                        <p:strVal val="visible"/>
                                      </p:to>
                                    </p:set>
                                    <p:animEffect transition="in" filter="fade">
                                      <p:cBhvr>
                                        <p:cTn id="108" dur="500"/>
                                        <p:tgtEl>
                                          <p:spTgt spid="45"/>
                                        </p:tgtEl>
                                      </p:cBhvr>
                                    </p:animEffect>
                                  </p:childTnLst>
                                </p:cTn>
                              </p:par>
                            </p:childTnLst>
                          </p:cTn>
                        </p:par>
                      </p:childTnLst>
                    </p:cTn>
                  </p:par>
                  <p:par>
                    <p:cTn id="110" fill="hold">
                      <p:stCondLst>
                        <p:cond delay="indefinite"/>
                      </p:stCondLst>
                      <p:childTnLst>
                        <p:par>
                          <p:cTn id="111" fill="hold">
                            <p:stCondLst>
                              <p:cond delay="0"/>
                            </p:stCondLst>
                            <p:childTnLst>
                              <p:par>
                                <p:cTn id="116" presetID="2" presetClass="entr" presetSubtype="4" fill="hold" grpId="0" nodeType="clickEffect">
                                  <p:stCondLst>
                                    <p:cond delay="0"/>
                                  </p:stCondLst>
                                  <p:childTnLst>
                                    <p:set>
                                      <p:cBhvr>
                                        <p:cTn id="112" dur="1" fill="hold">
                                          <p:stCondLst>
                                            <p:cond delay="0"/>
                                          </p:stCondLst>
                                        </p:cTn>
                                        <p:tgtEl>
                                          <p:spTgt spid="46"/>
                                        </p:tgtEl>
                                        <p:attrNameLst>
                                          <p:attrName>style.visibility</p:attrName>
                                        </p:attrNameLst>
                                      </p:cBhvr>
                                      <p:to>
                                        <p:strVal val="visible"/>
                                      </p:to>
                                    </p:set>
                                    <p:anim calcmode="lin" valueType="num">
                                      <p:cBhvr additive="base">
                                        <p:cTn id="113" dur="500" fill="hold"/>
                                        <p:tgtEl>
                                          <p:spTgt spid="46"/>
                                        </p:tgtEl>
                                        <p:attrNameLst>
                                          <p:attrName>ppt_x</p:attrName>
                                        </p:attrNameLst>
                                      </p:cBhvr>
                                      <p:tavLst>
                                        <p:tav tm="0">
                                          <p:val>
                                            <p:strVal val="#ppt_x"/>
                                          </p:val>
                                        </p:tav>
                                        <p:tav tm="100000">
                                          <p:val>
                                            <p:strVal val="#ppt_x"/>
                                          </p:val>
                                        </p:tav>
                                      </p:tavLst>
                                    </p:anim>
                                    <p:anim calcmode="lin" valueType="num">
                                      <p:cBhvr additive="base">
                                        <p:cTn id="114" dur="500" fill="hold"/>
                                        <p:tgtEl>
                                          <p:spTgt spid="46"/>
                                        </p:tgtEl>
                                        <p:attrNameLst>
                                          <p:attrName>ppt_y</p:attrName>
                                        </p:attrNameLst>
                                      </p:cBhvr>
                                      <p:tavLst>
                                        <p:tav tm="0">
                                          <p:val>
                                            <p:strVal val="#ppt_y+0.1"/>
                                          </p:val>
                                        </p:tav>
                                        <p:tav tm="100000">
                                          <p:val>
                                            <p:strVal val="#ppt_y"/>
                                          </p:val>
                                        </p:tav>
                                      </p:tavLst>
                                    </p:anim>
                                    <p:animEffect transition="in" filter="fade">
                                      <p:cBhvr>
                                        <p:cTn id="115" dur="500"/>
                                        <p:tgtEl>
                                          <p:spTgt spid="46"/>
                                        </p:tgtEl>
                                      </p:cBhvr>
                                    </p:animEffect>
                                  </p:childTnLst>
                                </p:cTn>
                              </p:par>
                              <p:par>
                                <p:cTn id="121" presetID="2" presetClass="entr" presetSubtype="4" fill="hold" grpId="0" nodeType="withEffect">
                                  <p:stCondLst>
                                    <p:cond delay="0"/>
                                  </p:stCondLst>
                                  <p:childTnLst>
                                    <p:set>
                                      <p:cBhvr>
                                        <p:cTn id="117" dur="1" fill="hold">
                                          <p:stCondLst>
                                            <p:cond delay="0"/>
                                          </p:stCondLst>
                                        </p:cTn>
                                        <p:tgtEl>
                                          <p:spTgt spid="47"/>
                                        </p:tgtEl>
                                        <p:attrNameLst>
                                          <p:attrName>style.visibility</p:attrName>
                                        </p:attrNameLst>
                                      </p:cBhvr>
                                      <p:to>
                                        <p:strVal val="visible"/>
                                      </p:to>
                                    </p:set>
                                    <p:anim calcmode="lin" valueType="num">
                                      <p:cBhvr additive="base">
                                        <p:cTn id="118" dur="500" fill="hold"/>
                                        <p:tgtEl>
                                          <p:spTgt spid="47"/>
                                        </p:tgtEl>
                                        <p:attrNameLst>
                                          <p:attrName>ppt_x</p:attrName>
                                        </p:attrNameLst>
                                      </p:cBhvr>
                                      <p:tavLst>
                                        <p:tav tm="0">
                                          <p:val>
                                            <p:strVal val="#ppt_x"/>
                                          </p:val>
                                        </p:tav>
                                        <p:tav tm="100000">
                                          <p:val>
                                            <p:strVal val="#ppt_x"/>
                                          </p:val>
                                        </p:tav>
                                      </p:tavLst>
                                    </p:anim>
                                    <p:anim calcmode="lin" valueType="num">
                                      <p:cBhvr additive="base">
                                        <p:cTn id="119" dur="500" fill="hold"/>
                                        <p:tgtEl>
                                          <p:spTgt spid="47"/>
                                        </p:tgtEl>
                                        <p:attrNameLst>
                                          <p:attrName>ppt_y</p:attrName>
                                        </p:attrNameLst>
                                      </p:cBhvr>
                                      <p:tavLst>
                                        <p:tav tm="0">
                                          <p:val>
                                            <p:strVal val="#ppt_y+0.1"/>
                                          </p:val>
                                        </p:tav>
                                        <p:tav tm="100000">
                                          <p:val>
                                            <p:strVal val="#ppt_y"/>
                                          </p:val>
                                        </p:tav>
                                      </p:tavLst>
                                    </p:anim>
                                    <p:animEffect transition="in" filter="fade">
                                      <p:cBhvr>
                                        <p:cTn id="120" dur="500"/>
                                        <p:tgtEl>
                                          <p:spTgt spid="47"/>
                                        </p:tgtEl>
                                      </p:cBhvr>
                                    </p:animEffect>
                                  </p:childTnLst>
                                </p:cTn>
                              </p:par>
                              <p:par>
                                <p:cTn id="126" presetID="2" presetClass="entr" presetSubtype="4" fill="hold" grpId="0" nodeType="withEffect">
                                  <p:stCondLst>
                                    <p:cond delay="120"/>
                                  </p:stCondLst>
                                  <p:childTnLst>
                                    <p:set>
                                      <p:cBhvr>
                                        <p:cTn id="122" dur="1" fill="hold">
                                          <p:stCondLst>
                                            <p:cond delay="0"/>
                                          </p:stCondLst>
                                        </p:cTn>
                                        <p:tgtEl>
                                          <p:spTgt spid="48"/>
                                        </p:tgtEl>
                                        <p:attrNameLst>
                                          <p:attrName>style.visibility</p:attrName>
                                        </p:attrNameLst>
                                      </p:cBhvr>
                                      <p:to>
                                        <p:strVal val="visible"/>
                                      </p:to>
                                    </p:set>
                                    <p:anim calcmode="lin" valueType="num">
                                      <p:cBhvr additive="base">
                                        <p:cTn id="123" dur="500" fill="hold"/>
                                        <p:tgtEl>
                                          <p:spTgt spid="48"/>
                                        </p:tgtEl>
                                        <p:attrNameLst>
                                          <p:attrName>ppt_x</p:attrName>
                                        </p:attrNameLst>
                                      </p:cBhvr>
                                      <p:tavLst>
                                        <p:tav tm="0">
                                          <p:val>
                                            <p:strVal val="#ppt_x"/>
                                          </p:val>
                                        </p:tav>
                                        <p:tav tm="100000">
                                          <p:val>
                                            <p:strVal val="#ppt_x"/>
                                          </p:val>
                                        </p:tav>
                                      </p:tavLst>
                                    </p:anim>
                                    <p:anim calcmode="lin" valueType="num">
                                      <p:cBhvr additive="base">
                                        <p:cTn id="124" dur="500" fill="hold"/>
                                        <p:tgtEl>
                                          <p:spTgt spid="48"/>
                                        </p:tgtEl>
                                        <p:attrNameLst>
                                          <p:attrName>ppt_y</p:attrName>
                                        </p:attrNameLst>
                                      </p:cBhvr>
                                      <p:tavLst>
                                        <p:tav tm="0">
                                          <p:val>
                                            <p:strVal val="#ppt_y+0.1"/>
                                          </p:val>
                                        </p:tav>
                                        <p:tav tm="100000">
                                          <p:val>
                                            <p:strVal val="#ppt_y"/>
                                          </p:val>
                                        </p:tav>
                                      </p:tavLst>
                                    </p:anim>
                                    <p:animEffect transition="in" filter="fade">
                                      <p:cBhvr>
                                        <p:cTn id="125" dur="500"/>
                                        <p:tgtEl>
                                          <p:spTgt spid="48"/>
                                        </p:tgtEl>
                                      </p:cBhvr>
                                    </p:animEffect>
                                  </p:childTnLst>
                                </p:cTn>
                              </p:par>
                              <p:par>
                                <p:cTn id="131" presetID="2" presetClass="entr" presetSubtype="4" fill="hold" grpId="0" nodeType="withEffect">
                                  <p:stCondLst>
                                    <p:cond delay="120"/>
                                  </p:stCondLst>
                                  <p:childTnLst>
                                    <p:set>
                                      <p:cBhvr>
                                        <p:cTn id="127" dur="1" fill="hold">
                                          <p:stCondLst>
                                            <p:cond delay="0"/>
                                          </p:stCondLst>
                                        </p:cTn>
                                        <p:tgtEl>
                                          <p:spTgt spid="49"/>
                                        </p:tgtEl>
                                        <p:attrNameLst>
                                          <p:attrName>style.visibility</p:attrName>
                                        </p:attrNameLst>
                                      </p:cBhvr>
                                      <p:to>
                                        <p:strVal val="visible"/>
                                      </p:to>
                                    </p:set>
                                    <p:anim calcmode="lin" valueType="num">
                                      <p:cBhvr additive="base">
                                        <p:cTn id="128" dur="500" fill="hold"/>
                                        <p:tgtEl>
                                          <p:spTgt spid="49"/>
                                        </p:tgtEl>
                                        <p:attrNameLst>
                                          <p:attrName>ppt_x</p:attrName>
                                        </p:attrNameLst>
                                      </p:cBhvr>
                                      <p:tavLst>
                                        <p:tav tm="0">
                                          <p:val>
                                            <p:strVal val="#ppt_x"/>
                                          </p:val>
                                        </p:tav>
                                        <p:tav tm="100000">
                                          <p:val>
                                            <p:strVal val="#ppt_x"/>
                                          </p:val>
                                        </p:tav>
                                      </p:tavLst>
                                    </p:anim>
                                    <p:anim calcmode="lin" valueType="num">
                                      <p:cBhvr additive="base">
                                        <p:cTn id="129" dur="500" fill="hold"/>
                                        <p:tgtEl>
                                          <p:spTgt spid="49"/>
                                        </p:tgtEl>
                                        <p:attrNameLst>
                                          <p:attrName>ppt_y</p:attrName>
                                        </p:attrNameLst>
                                      </p:cBhvr>
                                      <p:tavLst>
                                        <p:tav tm="0">
                                          <p:val>
                                            <p:strVal val="#ppt_y+0.1"/>
                                          </p:val>
                                        </p:tav>
                                        <p:tav tm="100000">
                                          <p:val>
                                            <p:strVal val="#ppt_y"/>
                                          </p:val>
                                        </p:tav>
                                      </p:tavLst>
                                    </p:anim>
                                    <p:animEffect transition="in" filter="fade">
                                      <p:cBhvr>
                                        <p:cTn id="130" dur="500"/>
                                        <p:tgtEl>
                                          <p:spTgt spid="49"/>
                                        </p:tgtEl>
                                      </p:cBhvr>
                                    </p:animEffect>
                                  </p:childTnLst>
                                </p:cTn>
                              </p:par>
                              <p:par>
                                <p:cTn id="136" presetID="2" presetClass="entr" presetSubtype="4" fill="hold" grpId="0" nodeType="withEffect">
                                  <p:stCondLst>
                                    <p:cond delay="120"/>
                                  </p:stCondLst>
                                  <p:childTnLst>
                                    <p:set>
                                      <p:cBhvr>
                                        <p:cTn id="132" dur="1" fill="hold">
                                          <p:stCondLst>
                                            <p:cond delay="0"/>
                                          </p:stCondLst>
                                        </p:cTn>
                                        <p:tgtEl>
                                          <p:spTgt spid="50"/>
                                        </p:tgtEl>
                                        <p:attrNameLst>
                                          <p:attrName>style.visibility</p:attrName>
                                        </p:attrNameLst>
                                      </p:cBhvr>
                                      <p:to>
                                        <p:strVal val="visible"/>
                                      </p:to>
                                    </p:set>
                                    <p:anim calcmode="lin" valueType="num">
                                      <p:cBhvr additive="base">
                                        <p:cTn id="133" dur="500" fill="hold"/>
                                        <p:tgtEl>
                                          <p:spTgt spid="50"/>
                                        </p:tgtEl>
                                        <p:attrNameLst>
                                          <p:attrName>ppt_x</p:attrName>
                                        </p:attrNameLst>
                                      </p:cBhvr>
                                      <p:tavLst>
                                        <p:tav tm="0">
                                          <p:val>
                                            <p:strVal val="#ppt_x"/>
                                          </p:val>
                                        </p:tav>
                                        <p:tav tm="100000">
                                          <p:val>
                                            <p:strVal val="#ppt_x"/>
                                          </p:val>
                                        </p:tav>
                                      </p:tavLst>
                                    </p:anim>
                                    <p:anim calcmode="lin" valueType="num">
                                      <p:cBhvr additive="base">
                                        <p:cTn id="134" dur="500" fill="hold"/>
                                        <p:tgtEl>
                                          <p:spTgt spid="50"/>
                                        </p:tgtEl>
                                        <p:attrNameLst>
                                          <p:attrName>ppt_y</p:attrName>
                                        </p:attrNameLst>
                                      </p:cBhvr>
                                      <p:tavLst>
                                        <p:tav tm="0">
                                          <p:val>
                                            <p:strVal val="#ppt_y+0.1"/>
                                          </p:val>
                                        </p:tav>
                                        <p:tav tm="100000">
                                          <p:val>
                                            <p:strVal val="#ppt_y"/>
                                          </p:val>
                                        </p:tav>
                                      </p:tavLst>
                                    </p:anim>
                                    <p:animEffect transition="in" filter="fade">
                                      <p:cBhvr>
                                        <p:cTn id="135" dur="500"/>
                                        <p:tgtEl>
                                          <p:spTgt spid="50"/>
                                        </p:tgtEl>
                                      </p:cBhvr>
                                    </p:animEffect>
                                  </p:childTnLst>
                                </p:cTn>
                              </p:par>
                              <p:par>
                                <p:cTn id="141" presetID="2" presetClass="entr" presetSubtype="4" fill="hold" grpId="0" nodeType="withEffect">
                                  <p:stCondLst>
                                    <p:cond delay="120"/>
                                  </p:stCondLst>
                                  <p:childTnLst>
                                    <p:set>
                                      <p:cBhvr>
                                        <p:cTn id="137" dur="1" fill="hold">
                                          <p:stCondLst>
                                            <p:cond delay="0"/>
                                          </p:stCondLst>
                                        </p:cTn>
                                        <p:tgtEl>
                                          <p:spTgt spid="51"/>
                                        </p:tgtEl>
                                        <p:attrNameLst>
                                          <p:attrName>style.visibility</p:attrName>
                                        </p:attrNameLst>
                                      </p:cBhvr>
                                      <p:to>
                                        <p:strVal val="visible"/>
                                      </p:to>
                                    </p:set>
                                    <p:anim calcmode="lin" valueType="num">
                                      <p:cBhvr additive="base">
                                        <p:cTn id="138" dur="500" fill="hold"/>
                                        <p:tgtEl>
                                          <p:spTgt spid="51"/>
                                        </p:tgtEl>
                                        <p:attrNameLst>
                                          <p:attrName>ppt_x</p:attrName>
                                        </p:attrNameLst>
                                      </p:cBhvr>
                                      <p:tavLst>
                                        <p:tav tm="0">
                                          <p:val>
                                            <p:strVal val="#ppt_x"/>
                                          </p:val>
                                        </p:tav>
                                        <p:tav tm="100000">
                                          <p:val>
                                            <p:strVal val="#ppt_x"/>
                                          </p:val>
                                        </p:tav>
                                      </p:tavLst>
                                    </p:anim>
                                    <p:anim calcmode="lin" valueType="num">
                                      <p:cBhvr additive="base">
                                        <p:cTn id="139" dur="500" fill="hold"/>
                                        <p:tgtEl>
                                          <p:spTgt spid="51"/>
                                        </p:tgtEl>
                                        <p:attrNameLst>
                                          <p:attrName>ppt_y</p:attrName>
                                        </p:attrNameLst>
                                      </p:cBhvr>
                                      <p:tavLst>
                                        <p:tav tm="0">
                                          <p:val>
                                            <p:strVal val="#ppt_y+0.1"/>
                                          </p:val>
                                        </p:tav>
                                        <p:tav tm="100000">
                                          <p:val>
                                            <p:strVal val="#ppt_y"/>
                                          </p:val>
                                        </p:tav>
                                      </p:tavLst>
                                    </p:anim>
                                    <p:animEffect transition="in" filter="fade">
                                      <p:cBhvr>
                                        <p:cTn id="140" dur="500"/>
                                        <p:tgtEl>
                                          <p:spTgt spid="51"/>
                                        </p:tgtEl>
                                      </p:cBhvr>
                                    </p:animEffect>
                                  </p:childTnLst>
                                </p:cTn>
                              </p:par>
                              <p:par>
                                <p:cTn id="146" presetID="2" presetClass="entr" presetSubtype="4" fill="hold" grpId="0" nodeType="withEffect">
                                  <p:stCondLst>
                                    <p:cond delay="120"/>
                                  </p:stCondLst>
                                  <p:childTnLst>
                                    <p:set>
                                      <p:cBhvr>
                                        <p:cTn id="142" dur="1" fill="hold">
                                          <p:stCondLst>
                                            <p:cond delay="0"/>
                                          </p:stCondLst>
                                        </p:cTn>
                                        <p:tgtEl>
                                          <p:spTgt spid="52"/>
                                        </p:tgtEl>
                                        <p:attrNameLst>
                                          <p:attrName>style.visibility</p:attrName>
                                        </p:attrNameLst>
                                      </p:cBhvr>
                                      <p:to>
                                        <p:strVal val="visible"/>
                                      </p:to>
                                    </p:set>
                                    <p:anim calcmode="lin" valueType="num">
                                      <p:cBhvr additive="base">
                                        <p:cTn id="143" dur="500" fill="hold"/>
                                        <p:tgtEl>
                                          <p:spTgt spid="52"/>
                                        </p:tgtEl>
                                        <p:attrNameLst>
                                          <p:attrName>ppt_x</p:attrName>
                                        </p:attrNameLst>
                                      </p:cBhvr>
                                      <p:tavLst>
                                        <p:tav tm="0">
                                          <p:val>
                                            <p:strVal val="#ppt_x"/>
                                          </p:val>
                                        </p:tav>
                                        <p:tav tm="100000">
                                          <p:val>
                                            <p:strVal val="#ppt_x"/>
                                          </p:val>
                                        </p:tav>
                                      </p:tavLst>
                                    </p:anim>
                                    <p:anim calcmode="lin" valueType="num">
                                      <p:cBhvr additive="base">
                                        <p:cTn id="144" dur="500" fill="hold"/>
                                        <p:tgtEl>
                                          <p:spTgt spid="52"/>
                                        </p:tgtEl>
                                        <p:attrNameLst>
                                          <p:attrName>ppt_y</p:attrName>
                                        </p:attrNameLst>
                                      </p:cBhvr>
                                      <p:tavLst>
                                        <p:tav tm="0">
                                          <p:val>
                                            <p:strVal val="#ppt_y+0.1"/>
                                          </p:val>
                                        </p:tav>
                                        <p:tav tm="100000">
                                          <p:val>
                                            <p:strVal val="#ppt_y"/>
                                          </p:val>
                                        </p:tav>
                                      </p:tavLst>
                                    </p:anim>
                                    <p:animEffect transition="in" filter="fade">
                                      <p:cBhvr>
                                        <p:cTn id="145" dur="500"/>
                                        <p:tgtEl>
                                          <p:spTgt spid="52"/>
                                        </p:tgtEl>
                                      </p:cBhvr>
                                    </p:animEffect>
                                  </p:childTnLst>
                                </p:cTn>
                              </p:par>
                              <p:par>
                                <p:cTn id="151" presetID="2" presetClass="entr" presetSubtype="4" fill="hold" grpId="0" nodeType="withEffect">
                                  <p:stCondLst>
                                    <p:cond delay="240"/>
                                  </p:stCondLst>
                                  <p:childTnLst>
                                    <p:set>
                                      <p:cBhvr>
                                        <p:cTn id="147" dur="1" fill="hold">
                                          <p:stCondLst>
                                            <p:cond delay="0"/>
                                          </p:stCondLst>
                                        </p:cTn>
                                        <p:tgtEl>
                                          <p:spTgt spid="53"/>
                                        </p:tgtEl>
                                        <p:attrNameLst>
                                          <p:attrName>style.visibility</p:attrName>
                                        </p:attrNameLst>
                                      </p:cBhvr>
                                      <p:to>
                                        <p:strVal val="visible"/>
                                      </p:to>
                                    </p:set>
                                    <p:anim calcmode="lin" valueType="num">
                                      <p:cBhvr additive="base">
                                        <p:cTn id="148" dur="500" fill="hold"/>
                                        <p:tgtEl>
                                          <p:spTgt spid="53"/>
                                        </p:tgtEl>
                                        <p:attrNameLst>
                                          <p:attrName>ppt_x</p:attrName>
                                        </p:attrNameLst>
                                      </p:cBhvr>
                                      <p:tavLst>
                                        <p:tav tm="0">
                                          <p:val>
                                            <p:strVal val="#ppt_x"/>
                                          </p:val>
                                        </p:tav>
                                        <p:tav tm="100000">
                                          <p:val>
                                            <p:strVal val="#ppt_x"/>
                                          </p:val>
                                        </p:tav>
                                      </p:tavLst>
                                    </p:anim>
                                    <p:anim calcmode="lin" valueType="num">
                                      <p:cBhvr additive="base">
                                        <p:cTn id="149" dur="500" fill="hold"/>
                                        <p:tgtEl>
                                          <p:spTgt spid="53"/>
                                        </p:tgtEl>
                                        <p:attrNameLst>
                                          <p:attrName>ppt_y</p:attrName>
                                        </p:attrNameLst>
                                      </p:cBhvr>
                                      <p:tavLst>
                                        <p:tav tm="0">
                                          <p:val>
                                            <p:strVal val="#ppt_y+0.1"/>
                                          </p:val>
                                        </p:tav>
                                        <p:tav tm="100000">
                                          <p:val>
                                            <p:strVal val="#ppt_y"/>
                                          </p:val>
                                        </p:tav>
                                      </p:tavLst>
                                    </p:anim>
                                    <p:animEffect transition="in" filter="fade">
                                      <p:cBhvr>
                                        <p:cTn id="150" dur="500"/>
                                        <p:tgtEl>
                                          <p:spTgt spid="53"/>
                                        </p:tgtEl>
                                      </p:cBhvr>
                                    </p:animEffect>
                                  </p:childTnLst>
                                </p:cTn>
                              </p:par>
                              <p:par>
                                <p:cTn id="156" presetID="2" presetClass="entr" presetSubtype="4" fill="hold" grpId="0" nodeType="withEffect">
                                  <p:stCondLst>
                                    <p:cond delay="240"/>
                                  </p:stCondLst>
                                  <p:childTnLst>
                                    <p:set>
                                      <p:cBhvr>
                                        <p:cTn id="152" dur="1" fill="hold">
                                          <p:stCondLst>
                                            <p:cond delay="0"/>
                                          </p:stCondLst>
                                        </p:cTn>
                                        <p:tgtEl>
                                          <p:spTgt spid="54"/>
                                        </p:tgtEl>
                                        <p:attrNameLst>
                                          <p:attrName>style.visibility</p:attrName>
                                        </p:attrNameLst>
                                      </p:cBhvr>
                                      <p:to>
                                        <p:strVal val="visible"/>
                                      </p:to>
                                    </p:set>
                                    <p:anim calcmode="lin" valueType="num">
                                      <p:cBhvr additive="base">
                                        <p:cTn id="153" dur="500" fill="hold"/>
                                        <p:tgtEl>
                                          <p:spTgt spid="54"/>
                                        </p:tgtEl>
                                        <p:attrNameLst>
                                          <p:attrName>ppt_x</p:attrName>
                                        </p:attrNameLst>
                                      </p:cBhvr>
                                      <p:tavLst>
                                        <p:tav tm="0">
                                          <p:val>
                                            <p:strVal val="#ppt_x"/>
                                          </p:val>
                                        </p:tav>
                                        <p:tav tm="100000">
                                          <p:val>
                                            <p:strVal val="#ppt_x"/>
                                          </p:val>
                                        </p:tav>
                                      </p:tavLst>
                                    </p:anim>
                                    <p:anim calcmode="lin" valueType="num">
                                      <p:cBhvr additive="base">
                                        <p:cTn id="154" dur="500" fill="hold"/>
                                        <p:tgtEl>
                                          <p:spTgt spid="54"/>
                                        </p:tgtEl>
                                        <p:attrNameLst>
                                          <p:attrName>ppt_y</p:attrName>
                                        </p:attrNameLst>
                                      </p:cBhvr>
                                      <p:tavLst>
                                        <p:tav tm="0">
                                          <p:val>
                                            <p:strVal val="#ppt_y+0.1"/>
                                          </p:val>
                                        </p:tav>
                                        <p:tav tm="100000">
                                          <p:val>
                                            <p:strVal val="#ppt_y"/>
                                          </p:val>
                                        </p:tav>
                                      </p:tavLst>
                                    </p:anim>
                                    <p:animEffect transition="in" filter="fade">
                                      <p:cBhvr>
                                        <p:cTn id="155" dur="500"/>
                                        <p:tgtEl>
                                          <p:spTgt spid="54"/>
                                        </p:tgtEl>
                                      </p:cBhvr>
                                    </p:animEffect>
                                  </p:childTnLst>
                                </p:cTn>
                              </p:par>
                              <p:par>
                                <p:cTn id="161" presetID="2" presetClass="entr" presetSubtype="4" fill="hold" grpId="0" nodeType="withEffect">
                                  <p:stCondLst>
                                    <p:cond delay="240"/>
                                  </p:stCondLst>
                                  <p:childTnLst>
                                    <p:set>
                                      <p:cBhvr>
                                        <p:cTn id="157" dur="1" fill="hold">
                                          <p:stCondLst>
                                            <p:cond delay="0"/>
                                          </p:stCondLst>
                                        </p:cTn>
                                        <p:tgtEl>
                                          <p:spTgt spid="55"/>
                                        </p:tgtEl>
                                        <p:attrNameLst>
                                          <p:attrName>style.visibility</p:attrName>
                                        </p:attrNameLst>
                                      </p:cBhvr>
                                      <p:to>
                                        <p:strVal val="visible"/>
                                      </p:to>
                                    </p:set>
                                    <p:anim calcmode="lin" valueType="num">
                                      <p:cBhvr additive="base">
                                        <p:cTn id="158" dur="500" fill="hold"/>
                                        <p:tgtEl>
                                          <p:spTgt spid="55"/>
                                        </p:tgtEl>
                                        <p:attrNameLst>
                                          <p:attrName>ppt_x</p:attrName>
                                        </p:attrNameLst>
                                      </p:cBhvr>
                                      <p:tavLst>
                                        <p:tav tm="0">
                                          <p:val>
                                            <p:strVal val="#ppt_x"/>
                                          </p:val>
                                        </p:tav>
                                        <p:tav tm="100000">
                                          <p:val>
                                            <p:strVal val="#ppt_x"/>
                                          </p:val>
                                        </p:tav>
                                      </p:tavLst>
                                    </p:anim>
                                    <p:anim calcmode="lin" valueType="num">
                                      <p:cBhvr additive="base">
                                        <p:cTn id="159" dur="500" fill="hold"/>
                                        <p:tgtEl>
                                          <p:spTgt spid="55"/>
                                        </p:tgtEl>
                                        <p:attrNameLst>
                                          <p:attrName>ppt_y</p:attrName>
                                        </p:attrNameLst>
                                      </p:cBhvr>
                                      <p:tavLst>
                                        <p:tav tm="0">
                                          <p:val>
                                            <p:strVal val="#ppt_y+0.1"/>
                                          </p:val>
                                        </p:tav>
                                        <p:tav tm="100000">
                                          <p:val>
                                            <p:strVal val="#ppt_y"/>
                                          </p:val>
                                        </p:tav>
                                      </p:tavLst>
                                    </p:anim>
                                    <p:animEffect transition="in" filter="fade">
                                      <p:cBhvr>
                                        <p:cTn id="160" dur="500"/>
                                        <p:tgtEl>
                                          <p:spTgt spid="55"/>
                                        </p:tgtEl>
                                      </p:cBhvr>
                                    </p:animEffect>
                                  </p:childTnLst>
                                </p:cTn>
                              </p:par>
                              <p:par>
                                <p:cTn id="166" presetID="2" presetClass="entr" presetSubtype="4" fill="hold" grpId="0" nodeType="withEffect">
                                  <p:stCondLst>
                                    <p:cond delay="240"/>
                                  </p:stCondLst>
                                  <p:childTnLst>
                                    <p:set>
                                      <p:cBhvr>
                                        <p:cTn id="162" dur="1" fill="hold">
                                          <p:stCondLst>
                                            <p:cond delay="0"/>
                                          </p:stCondLst>
                                        </p:cTn>
                                        <p:tgtEl>
                                          <p:spTgt spid="56"/>
                                        </p:tgtEl>
                                        <p:attrNameLst>
                                          <p:attrName>style.visibility</p:attrName>
                                        </p:attrNameLst>
                                      </p:cBhvr>
                                      <p:to>
                                        <p:strVal val="visible"/>
                                      </p:to>
                                    </p:set>
                                    <p:anim calcmode="lin" valueType="num">
                                      <p:cBhvr additive="base">
                                        <p:cTn id="163" dur="500" fill="hold"/>
                                        <p:tgtEl>
                                          <p:spTgt spid="56"/>
                                        </p:tgtEl>
                                        <p:attrNameLst>
                                          <p:attrName>ppt_x</p:attrName>
                                        </p:attrNameLst>
                                      </p:cBhvr>
                                      <p:tavLst>
                                        <p:tav tm="0">
                                          <p:val>
                                            <p:strVal val="#ppt_x"/>
                                          </p:val>
                                        </p:tav>
                                        <p:tav tm="100000">
                                          <p:val>
                                            <p:strVal val="#ppt_x"/>
                                          </p:val>
                                        </p:tav>
                                      </p:tavLst>
                                    </p:anim>
                                    <p:anim calcmode="lin" valueType="num">
                                      <p:cBhvr additive="base">
                                        <p:cTn id="164" dur="500" fill="hold"/>
                                        <p:tgtEl>
                                          <p:spTgt spid="56"/>
                                        </p:tgtEl>
                                        <p:attrNameLst>
                                          <p:attrName>ppt_y</p:attrName>
                                        </p:attrNameLst>
                                      </p:cBhvr>
                                      <p:tavLst>
                                        <p:tav tm="0">
                                          <p:val>
                                            <p:strVal val="#ppt_y+0.1"/>
                                          </p:val>
                                        </p:tav>
                                        <p:tav tm="100000">
                                          <p:val>
                                            <p:strVal val="#ppt_y"/>
                                          </p:val>
                                        </p:tav>
                                      </p:tavLst>
                                    </p:anim>
                                    <p:animEffect transition="in" filter="fade">
                                      <p:cBhvr>
                                        <p:cTn id="165" dur="500"/>
                                        <p:tgtEl>
                                          <p:spTgt spid="56"/>
                                        </p:tgtEl>
                                      </p:cBhvr>
                                    </p:animEffect>
                                  </p:childTnLst>
                                </p:cTn>
                              </p:par>
                              <p:par>
                                <p:cTn id="171" presetID="2" presetClass="entr" presetSubtype="4" fill="hold" grpId="0" nodeType="withEffect">
                                  <p:stCondLst>
                                    <p:cond delay="240"/>
                                  </p:stCondLst>
                                  <p:childTnLst>
                                    <p:set>
                                      <p:cBhvr>
                                        <p:cTn id="167" dur="1" fill="hold">
                                          <p:stCondLst>
                                            <p:cond delay="0"/>
                                          </p:stCondLst>
                                        </p:cTn>
                                        <p:tgtEl>
                                          <p:spTgt spid="57"/>
                                        </p:tgtEl>
                                        <p:attrNameLst>
                                          <p:attrName>style.visibility</p:attrName>
                                        </p:attrNameLst>
                                      </p:cBhvr>
                                      <p:to>
                                        <p:strVal val="visible"/>
                                      </p:to>
                                    </p:set>
                                    <p:anim calcmode="lin" valueType="num">
                                      <p:cBhvr additive="base">
                                        <p:cTn id="168" dur="500" fill="hold"/>
                                        <p:tgtEl>
                                          <p:spTgt spid="57"/>
                                        </p:tgtEl>
                                        <p:attrNameLst>
                                          <p:attrName>ppt_x</p:attrName>
                                        </p:attrNameLst>
                                      </p:cBhvr>
                                      <p:tavLst>
                                        <p:tav tm="0">
                                          <p:val>
                                            <p:strVal val="#ppt_x"/>
                                          </p:val>
                                        </p:tav>
                                        <p:tav tm="100000">
                                          <p:val>
                                            <p:strVal val="#ppt_x"/>
                                          </p:val>
                                        </p:tav>
                                      </p:tavLst>
                                    </p:anim>
                                    <p:anim calcmode="lin" valueType="num">
                                      <p:cBhvr additive="base">
                                        <p:cTn id="169" dur="500" fill="hold"/>
                                        <p:tgtEl>
                                          <p:spTgt spid="57"/>
                                        </p:tgtEl>
                                        <p:attrNameLst>
                                          <p:attrName>ppt_y</p:attrName>
                                        </p:attrNameLst>
                                      </p:cBhvr>
                                      <p:tavLst>
                                        <p:tav tm="0">
                                          <p:val>
                                            <p:strVal val="#ppt_y+0.1"/>
                                          </p:val>
                                        </p:tav>
                                        <p:tav tm="100000">
                                          <p:val>
                                            <p:strVal val="#ppt_y"/>
                                          </p:val>
                                        </p:tav>
                                      </p:tavLst>
                                    </p:anim>
                                    <p:animEffect transition="in" filter="fade">
                                      <p:cBhvr>
                                        <p:cTn id="170" dur="500"/>
                                        <p:tgtEl>
                                          <p:spTgt spid="57"/>
                                        </p:tgtEl>
                                      </p:cBhvr>
                                    </p:animEffect>
                                  </p:childTnLst>
                                </p:cTn>
                              </p:par>
                              <p:par>
                                <p:cTn id="176" presetID="2" presetClass="entr" presetSubtype="4" fill="hold" grpId="0" nodeType="withEffect">
                                  <p:stCondLst>
                                    <p:cond delay="360"/>
                                  </p:stCondLst>
                                  <p:childTnLst>
                                    <p:set>
                                      <p:cBhvr>
                                        <p:cTn id="172" dur="1" fill="hold">
                                          <p:stCondLst>
                                            <p:cond delay="0"/>
                                          </p:stCondLst>
                                        </p:cTn>
                                        <p:tgtEl>
                                          <p:spTgt spid="58"/>
                                        </p:tgtEl>
                                        <p:attrNameLst>
                                          <p:attrName>style.visibility</p:attrName>
                                        </p:attrNameLst>
                                      </p:cBhvr>
                                      <p:to>
                                        <p:strVal val="visible"/>
                                      </p:to>
                                    </p:set>
                                    <p:anim calcmode="lin" valueType="num">
                                      <p:cBhvr additive="base">
                                        <p:cTn id="173" dur="500" fill="hold"/>
                                        <p:tgtEl>
                                          <p:spTgt spid="58"/>
                                        </p:tgtEl>
                                        <p:attrNameLst>
                                          <p:attrName>ppt_x</p:attrName>
                                        </p:attrNameLst>
                                      </p:cBhvr>
                                      <p:tavLst>
                                        <p:tav tm="0">
                                          <p:val>
                                            <p:strVal val="#ppt_x"/>
                                          </p:val>
                                        </p:tav>
                                        <p:tav tm="100000">
                                          <p:val>
                                            <p:strVal val="#ppt_x"/>
                                          </p:val>
                                        </p:tav>
                                      </p:tavLst>
                                    </p:anim>
                                    <p:anim calcmode="lin" valueType="num">
                                      <p:cBhvr additive="base">
                                        <p:cTn id="174" dur="500" fill="hold"/>
                                        <p:tgtEl>
                                          <p:spTgt spid="58"/>
                                        </p:tgtEl>
                                        <p:attrNameLst>
                                          <p:attrName>ppt_y</p:attrName>
                                        </p:attrNameLst>
                                      </p:cBhvr>
                                      <p:tavLst>
                                        <p:tav tm="0">
                                          <p:val>
                                            <p:strVal val="#ppt_y+0.1"/>
                                          </p:val>
                                        </p:tav>
                                        <p:tav tm="100000">
                                          <p:val>
                                            <p:strVal val="#ppt_y"/>
                                          </p:val>
                                        </p:tav>
                                      </p:tavLst>
                                    </p:anim>
                                    <p:animEffect transition="in" filter="fade">
                                      <p:cBhvr>
                                        <p:cTn id="175" dur="500"/>
                                        <p:tgtEl>
                                          <p:spTgt spid="58"/>
                                        </p:tgtEl>
                                      </p:cBhvr>
                                    </p:animEffect>
                                  </p:childTnLst>
                                </p:cTn>
                              </p:par>
                              <p:par>
                                <p:cTn id="181" presetID="2" presetClass="entr" presetSubtype="4" fill="hold" grpId="0" nodeType="withEffect">
                                  <p:stCondLst>
                                    <p:cond delay="360"/>
                                  </p:stCondLst>
                                  <p:childTnLst>
                                    <p:set>
                                      <p:cBhvr>
                                        <p:cTn id="177" dur="1" fill="hold">
                                          <p:stCondLst>
                                            <p:cond delay="0"/>
                                          </p:stCondLst>
                                        </p:cTn>
                                        <p:tgtEl>
                                          <p:spTgt spid="59"/>
                                        </p:tgtEl>
                                        <p:attrNameLst>
                                          <p:attrName>style.visibility</p:attrName>
                                        </p:attrNameLst>
                                      </p:cBhvr>
                                      <p:to>
                                        <p:strVal val="visible"/>
                                      </p:to>
                                    </p:set>
                                    <p:anim calcmode="lin" valueType="num">
                                      <p:cBhvr additive="base">
                                        <p:cTn id="178" dur="500" fill="hold"/>
                                        <p:tgtEl>
                                          <p:spTgt spid="59"/>
                                        </p:tgtEl>
                                        <p:attrNameLst>
                                          <p:attrName>ppt_x</p:attrName>
                                        </p:attrNameLst>
                                      </p:cBhvr>
                                      <p:tavLst>
                                        <p:tav tm="0">
                                          <p:val>
                                            <p:strVal val="#ppt_x"/>
                                          </p:val>
                                        </p:tav>
                                        <p:tav tm="100000">
                                          <p:val>
                                            <p:strVal val="#ppt_x"/>
                                          </p:val>
                                        </p:tav>
                                      </p:tavLst>
                                    </p:anim>
                                    <p:anim calcmode="lin" valueType="num">
                                      <p:cBhvr additive="base">
                                        <p:cTn id="179" dur="500" fill="hold"/>
                                        <p:tgtEl>
                                          <p:spTgt spid="59"/>
                                        </p:tgtEl>
                                        <p:attrNameLst>
                                          <p:attrName>ppt_y</p:attrName>
                                        </p:attrNameLst>
                                      </p:cBhvr>
                                      <p:tavLst>
                                        <p:tav tm="0">
                                          <p:val>
                                            <p:strVal val="#ppt_y+0.1"/>
                                          </p:val>
                                        </p:tav>
                                        <p:tav tm="100000">
                                          <p:val>
                                            <p:strVal val="#ppt_y"/>
                                          </p:val>
                                        </p:tav>
                                      </p:tavLst>
                                    </p:anim>
                                    <p:animEffect transition="in" filter="fade">
                                      <p:cBhvr>
                                        <p:cTn id="180" dur="500"/>
                                        <p:tgtEl>
                                          <p:spTgt spid="59"/>
                                        </p:tgtEl>
                                      </p:cBhvr>
                                    </p:animEffect>
                                  </p:childTnLst>
                                </p:cTn>
                              </p:par>
                              <p:par>
                                <p:cTn id="186" presetID="2" presetClass="entr" presetSubtype="4" fill="hold" grpId="0" nodeType="withEffect">
                                  <p:stCondLst>
                                    <p:cond delay="360"/>
                                  </p:stCondLst>
                                  <p:childTnLst>
                                    <p:set>
                                      <p:cBhvr>
                                        <p:cTn id="182" dur="1" fill="hold">
                                          <p:stCondLst>
                                            <p:cond delay="0"/>
                                          </p:stCondLst>
                                        </p:cTn>
                                        <p:tgtEl>
                                          <p:spTgt spid="60"/>
                                        </p:tgtEl>
                                        <p:attrNameLst>
                                          <p:attrName>style.visibility</p:attrName>
                                        </p:attrNameLst>
                                      </p:cBhvr>
                                      <p:to>
                                        <p:strVal val="visible"/>
                                      </p:to>
                                    </p:set>
                                    <p:anim calcmode="lin" valueType="num">
                                      <p:cBhvr additive="base">
                                        <p:cTn id="183" dur="500" fill="hold"/>
                                        <p:tgtEl>
                                          <p:spTgt spid="60"/>
                                        </p:tgtEl>
                                        <p:attrNameLst>
                                          <p:attrName>ppt_x</p:attrName>
                                        </p:attrNameLst>
                                      </p:cBhvr>
                                      <p:tavLst>
                                        <p:tav tm="0">
                                          <p:val>
                                            <p:strVal val="#ppt_x"/>
                                          </p:val>
                                        </p:tav>
                                        <p:tav tm="100000">
                                          <p:val>
                                            <p:strVal val="#ppt_x"/>
                                          </p:val>
                                        </p:tav>
                                      </p:tavLst>
                                    </p:anim>
                                    <p:anim calcmode="lin" valueType="num">
                                      <p:cBhvr additive="base">
                                        <p:cTn id="184" dur="500" fill="hold"/>
                                        <p:tgtEl>
                                          <p:spTgt spid="60"/>
                                        </p:tgtEl>
                                        <p:attrNameLst>
                                          <p:attrName>ppt_y</p:attrName>
                                        </p:attrNameLst>
                                      </p:cBhvr>
                                      <p:tavLst>
                                        <p:tav tm="0">
                                          <p:val>
                                            <p:strVal val="#ppt_y+0.1"/>
                                          </p:val>
                                        </p:tav>
                                        <p:tav tm="100000">
                                          <p:val>
                                            <p:strVal val="#ppt_y"/>
                                          </p:val>
                                        </p:tav>
                                      </p:tavLst>
                                    </p:anim>
                                    <p:animEffect transition="in" filter="fade">
                                      <p:cBhvr>
                                        <p:cTn id="185" dur="500"/>
                                        <p:tgtEl>
                                          <p:spTgt spid="60"/>
                                        </p:tgtEl>
                                      </p:cBhvr>
                                    </p:animEffect>
                                  </p:childTnLst>
                                </p:cTn>
                              </p:par>
                              <p:par>
                                <p:cTn id="191" presetID="2" presetClass="entr" presetSubtype="4" fill="hold" grpId="0" nodeType="withEffect">
                                  <p:stCondLst>
                                    <p:cond delay="360"/>
                                  </p:stCondLst>
                                  <p:childTnLst>
                                    <p:set>
                                      <p:cBhvr>
                                        <p:cTn id="187" dur="1" fill="hold">
                                          <p:stCondLst>
                                            <p:cond delay="0"/>
                                          </p:stCondLst>
                                        </p:cTn>
                                        <p:tgtEl>
                                          <p:spTgt spid="61"/>
                                        </p:tgtEl>
                                        <p:attrNameLst>
                                          <p:attrName>style.visibility</p:attrName>
                                        </p:attrNameLst>
                                      </p:cBhvr>
                                      <p:to>
                                        <p:strVal val="visible"/>
                                      </p:to>
                                    </p:set>
                                    <p:anim calcmode="lin" valueType="num">
                                      <p:cBhvr additive="base">
                                        <p:cTn id="188" dur="500" fill="hold"/>
                                        <p:tgtEl>
                                          <p:spTgt spid="61"/>
                                        </p:tgtEl>
                                        <p:attrNameLst>
                                          <p:attrName>ppt_x</p:attrName>
                                        </p:attrNameLst>
                                      </p:cBhvr>
                                      <p:tavLst>
                                        <p:tav tm="0">
                                          <p:val>
                                            <p:strVal val="#ppt_x"/>
                                          </p:val>
                                        </p:tav>
                                        <p:tav tm="100000">
                                          <p:val>
                                            <p:strVal val="#ppt_x"/>
                                          </p:val>
                                        </p:tav>
                                      </p:tavLst>
                                    </p:anim>
                                    <p:anim calcmode="lin" valueType="num">
                                      <p:cBhvr additive="base">
                                        <p:cTn id="189" dur="500" fill="hold"/>
                                        <p:tgtEl>
                                          <p:spTgt spid="61"/>
                                        </p:tgtEl>
                                        <p:attrNameLst>
                                          <p:attrName>ppt_y</p:attrName>
                                        </p:attrNameLst>
                                      </p:cBhvr>
                                      <p:tavLst>
                                        <p:tav tm="0">
                                          <p:val>
                                            <p:strVal val="#ppt_y+0.1"/>
                                          </p:val>
                                        </p:tav>
                                        <p:tav tm="100000">
                                          <p:val>
                                            <p:strVal val="#ppt_y"/>
                                          </p:val>
                                        </p:tav>
                                      </p:tavLst>
                                    </p:anim>
                                    <p:animEffect transition="in" filter="fade">
                                      <p:cBhvr>
                                        <p:cTn id="190" dur="500"/>
                                        <p:tgtEl>
                                          <p:spTgt spid="61"/>
                                        </p:tgtEl>
                                      </p:cBhvr>
                                    </p:animEffect>
                                  </p:childTnLst>
                                </p:cTn>
                              </p:par>
                              <p:par>
                                <p:cTn id="196" presetID="2" presetClass="entr" presetSubtype="4" fill="hold" grpId="0" nodeType="withEffect">
                                  <p:stCondLst>
                                    <p:cond delay="360"/>
                                  </p:stCondLst>
                                  <p:childTnLst>
                                    <p:set>
                                      <p:cBhvr>
                                        <p:cTn id="192" dur="1" fill="hold">
                                          <p:stCondLst>
                                            <p:cond delay="0"/>
                                          </p:stCondLst>
                                        </p:cTn>
                                        <p:tgtEl>
                                          <p:spTgt spid="62"/>
                                        </p:tgtEl>
                                        <p:attrNameLst>
                                          <p:attrName>style.visibility</p:attrName>
                                        </p:attrNameLst>
                                      </p:cBhvr>
                                      <p:to>
                                        <p:strVal val="visible"/>
                                      </p:to>
                                    </p:set>
                                    <p:anim calcmode="lin" valueType="num">
                                      <p:cBhvr additive="base">
                                        <p:cTn id="193" dur="500" fill="hold"/>
                                        <p:tgtEl>
                                          <p:spTgt spid="62"/>
                                        </p:tgtEl>
                                        <p:attrNameLst>
                                          <p:attrName>ppt_x</p:attrName>
                                        </p:attrNameLst>
                                      </p:cBhvr>
                                      <p:tavLst>
                                        <p:tav tm="0">
                                          <p:val>
                                            <p:strVal val="#ppt_x"/>
                                          </p:val>
                                        </p:tav>
                                        <p:tav tm="100000">
                                          <p:val>
                                            <p:strVal val="#ppt_x"/>
                                          </p:val>
                                        </p:tav>
                                      </p:tavLst>
                                    </p:anim>
                                    <p:anim calcmode="lin" valueType="num">
                                      <p:cBhvr additive="base">
                                        <p:cTn id="194" dur="500" fill="hold"/>
                                        <p:tgtEl>
                                          <p:spTgt spid="62"/>
                                        </p:tgtEl>
                                        <p:attrNameLst>
                                          <p:attrName>ppt_y</p:attrName>
                                        </p:attrNameLst>
                                      </p:cBhvr>
                                      <p:tavLst>
                                        <p:tav tm="0">
                                          <p:val>
                                            <p:strVal val="#ppt_y+0.1"/>
                                          </p:val>
                                        </p:tav>
                                        <p:tav tm="100000">
                                          <p:val>
                                            <p:strVal val="#ppt_y"/>
                                          </p:val>
                                        </p:tav>
                                      </p:tavLst>
                                    </p:anim>
                                    <p:animEffect transition="in" filter="fade">
                                      <p:cBhvr>
                                        <p:cTn id="195" dur="500"/>
                                        <p:tgtEl>
                                          <p:spTgt spid="62"/>
                                        </p:tgtEl>
                                      </p:cBhvr>
                                    </p:animEffect>
                                  </p:childTnLst>
                                </p:cTn>
                              </p:par>
                            </p:childTnLst>
                          </p:cTn>
                        </p:par>
                      </p:childTnLst>
                    </p:cTn>
                  </p:par>
                  <p:par>
                    <p:cTn id="197" fill="hold">
                      <p:stCondLst>
                        <p:cond delay="indefinite"/>
                      </p:stCondLst>
                      <p:childTnLst>
                        <p:par>
                          <p:cTn id="198" fill="hold">
                            <p:stCondLst>
                              <p:cond delay="0"/>
                            </p:stCondLst>
                            <p:childTnLst>
                              <p:par>
                                <p:cTn id="203" presetID="2" presetClass="entr" presetSubtype="4" fill="hold" grpId="0" nodeType="clickEffect">
                                  <p:stCondLst>
                                    <p:cond delay="0"/>
                                  </p:stCondLst>
                                  <p:childTnLst>
                                    <p:set>
                                      <p:cBhvr>
                                        <p:cTn id="199" dur="1" fill="hold">
                                          <p:stCondLst>
                                            <p:cond delay="0"/>
                                          </p:stCondLst>
                                        </p:cTn>
                                        <p:tgtEl>
                                          <p:spTgt spid="63"/>
                                        </p:tgtEl>
                                        <p:attrNameLst>
                                          <p:attrName>style.visibility</p:attrName>
                                        </p:attrNameLst>
                                      </p:cBhvr>
                                      <p:to>
                                        <p:strVal val="visible"/>
                                      </p:to>
                                    </p:set>
                                    <p:anim calcmode="lin" valueType="num">
                                      <p:cBhvr additive="base">
                                        <p:cTn id="200" dur="500" fill="hold"/>
                                        <p:tgtEl>
                                          <p:spTgt spid="63"/>
                                        </p:tgtEl>
                                        <p:attrNameLst>
                                          <p:attrName>ppt_x</p:attrName>
                                        </p:attrNameLst>
                                      </p:cBhvr>
                                      <p:tavLst>
                                        <p:tav tm="0">
                                          <p:val>
                                            <p:strVal val="#ppt_x"/>
                                          </p:val>
                                        </p:tav>
                                        <p:tav tm="100000">
                                          <p:val>
                                            <p:strVal val="#ppt_x"/>
                                          </p:val>
                                        </p:tav>
                                      </p:tavLst>
                                    </p:anim>
                                    <p:anim calcmode="lin" valueType="num">
                                      <p:cBhvr additive="base">
                                        <p:cTn id="201" dur="500" fill="hold"/>
                                        <p:tgtEl>
                                          <p:spTgt spid="63"/>
                                        </p:tgtEl>
                                        <p:attrNameLst>
                                          <p:attrName>ppt_y</p:attrName>
                                        </p:attrNameLst>
                                      </p:cBhvr>
                                      <p:tavLst>
                                        <p:tav tm="0">
                                          <p:val>
                                            <p:strVal val="#ppt_y+0.1"/>
                                          </p:val>
                                        </p:tav>
                                        <p:tav tm="100000">
                                          <p:val>
                                            <p:strVal val="#ppt_y"/>
                                          </p:val>
                                        </p:tav>
                                      </p:tavLst>
                                    </p:anim>
                                    <p:animEffect transition="in" filter="fade">
                                      <p:cBhvr>
                                        <p:cTn id="202" dur="500"/>
                                        <p:tgtEl>
                                          <p:spTgt spid="63"/>
                                        </p:tgtEl>
                                      </p:cBhvr>
                                    </p:animEffect>
                                  </p:childTnLst>
                                </p:cTn>
                              </p:par>
                              <p:par>
                                <p:cTn id="208" presetID="2" presetClass="entr" presetSubtype="4" fill="hold" grpId="0" nodeType="withEffect">
                                  <p:stCondLst>
                                    <p:cond delay="0"/>
                                  </p:stCondLst>
                                  <p:childTnLst>
                                    <p:set>
                                      <p:cBhvr>
                                        <p:cTn id="204" dur="1" fill="hold">
                                          <p:stCondLst>
                                            <p:cond delay="0"/>
                                          </p:stCondLst>
                                        </p:cTn>
                                        <p:tgtEl>
                                          <p:spTgt spid="64"/>
                                        </p:tgtEl>
                                        <p:attrNameLst>
                                          <p:attrName>style.visibility</p:attrName>
                                        </p:attrNameLst>
                                      </p:cBhvr>
                                      <p:to>
                                        <p:strVal val="visible"/>
                                      </p:to>
                                    </p:set>
                                    <p:anim calcmode="lin" valueType="num">
                                      <p:cBhvr additive="base">
                                        <p:cTn id="205" dur="500" fill="hold"/>
                                        <p:tgtEl>
                                          <p:spTgt spid="64"/>
                                        </p:tgtEl>
                                        <p:attrNameLst>
                                          <p:attrName>ppt_x</p:attrName>
                                        </p:attrNameLst>
                                      </p:cBhvr>
                                      <p:tavLst>
                                        <p:tav tm="0">
                                          <p:val>
                                            <p:strVal val="#ppt_x"/>
                                          </p:val>
                                        </p:tav>
                                        <p:tav tm="100000">
                                          <p:val>
                                            <p:strVal val="#ppt_x"/>
                                          </p:val>
                                        </p:tav>
                                      </p:tavLst>
                                    </p:anim>
                                    <p:anim calcmode="lin" valueType="num">
                                      <p:cBhvr additive="base">
                                        <p:cTn id="206" dur="500" fill="hold"/>
                                        <p:tgtEl>
                                          <p:spTgt spid="64"/>
                                        </p:tgtEl>
                                        <p:attrNameLst>
                                          <p:attrName>ppt_y</p:attrName>
                                        </p:attrNameLst>
                                      </p:cBhvr>
                                      <p:tavLst>
                                        <p:tav tm="0">
                                          <p:val>
                                            <p:strVal val="#ppt_y+0.1"/>
                                          </p:val>
                                        </p:tav>
                                        <p:tav tm="100000">
                                          <p:val>
                                            <p:strVal val="#ppt_y"/>
                                          </p:val>
                                        </p:tav>
                                      </p:tavLst>
                                    </p:anim>
                                    <p:animEffect transition="in" filter="fade">
                                      <p:cBhvr>
                                        <p:cTn id="207" dur="500"/>
                                        <p:tgtEl>
                                          <p:spTgt spid="64"/>
                                        </p:tgtEl>
                                      </p:cBhvr>
                                    </p:animEffect>
                                  </p:childTnLst>
                                </p:cTn>
                              </p:par>
                              <p:par>
                                <p:cTn id="213" presetID="2" presetClass="entr" presetSubtype="4" fill="hold" grpId="0" nodeType="withEffect">
                                  <p:stCondLst>
                                    <p:cond delay="100"/>
                                  </p:stCondLst>
                                  <p:childTnLst>
                                    <p:set>
                                      <p:cBhvr>
                                        <p:cTn id="209" dur="1" fill="hold">
                                          <p:stCondLst>
                                            <p:cond delay="0"/>
                                          </p:stCondLst>
                                        </p:cTn>
                                        <p:tgtEl>
                                          <p:spTgt spid="65"/>
                                        </p:tgtEl>
                                        <p:attrNameLst>
                                          <p:attrName>style.visibility</p:attrName>
                                        </p:attrNameLst>
                                      </p:cBhvr>
                                      <p:to>
                                        <p:strVal val="visible"/>
                                      </p:to>
                                    </p:set>
                                    <p:anim calcmode="lin" valueType="num">
                                      <p:cBhvr additive="base">
                                        <p:cTn id="210" dur="500" fill="hold"/>
                                        <p:tgtEl>
                                          <p:spTgt spid="65"/>
                                        </p:tgtEl>
                                        <p:attrNameLst>
                                          <p:attrName>ppt_x</p:attrName>
                                        </p:attrNameLst>
                                      </p:cBhvr>
                                      <p:tavLst>
                                        <p:tav tm="0">
                                          <p:val>
                                            <p:strVal val="#ppt_x"/>
                                          </p:val>
                                        </p:tav>
                                        <p:tav tm="100000">
                                          <p:val>
                                            <p:strVal val="#ppt_x"/>
                                          </p:val>
                                        </p:tav>
                                      </p:tavLst>
                                    </p:anim>
                                    <p:anim calcmode="lin" valueType="num">
                                      <p:cBhvr additive="base">
                                        <p:cTn id="211" dur="500" fill="hold"/>
                                        <p:tgtEl>
                                          <p:spTgt spid="65"/>
                                        </p:tgtEl>
                                        <p:attrNameLst>
                                          <p:attrName>ppt_y</p:attrName>
                                        </p:attrNameLst>
                                      </p:cBhvr>
                                      <p:tavLst>
                                        <p:tav tm="0">
                                          <p:val>
                                            <p:strVal val="#ppt_y+0.1"/>
                                          </p:val>
                                        </p:tav>
                                        <p:tav tm="100000">
                                          <p:val>
                                            <p:strVal val="#ppt_y"/>
                                          </p:val>
                                        </p:tav>
                                      </p:tavLst>
                                    </p:anim>
                                    <p:animEffect transition="in" filter="fade">
                                      <p:cBhvr>
                                        <p:cTn id="212" dur="500"/>
                                        <p:tgtEl>
                                          <p:spTgt spid="65"/>
                                        </p:tgtEl>
                                      </p:cBhvr>
                                    </p:animEffect>
                                  </p:childTnLst>
                                </p:cTn>
                              </p:par>
                              <p:par>
                                <p:cTn id="218" presetID="2" presetClass="entr" presetSubtype="4" fill="hold" grpId="0" nodeType="withEffect">
                                  <p:stCondLst>
                                    <p:cond delay="100"/>
                                  </p:stCondLst>
                                  <p:childTnLst>
                                    <p:set>
                                      <p:cBhvr>
                                        <p:cTn id="214" dur="1" fill="hold">
                                          <p:stCondLst>
                                            <p:cond delay="0"/>
                                          </p:stCondLst>
                                        </p:cTn>
                                        <p:tgtEl>
                                          <p:spTgt spid="66"/>
                                        </p:tgtEl>
                                        <p:attrNameLst>
                                          <p:attrName>style.visibility</p:attrName>
                                        </p:attrNameLst>
                                      </p:cBhvr>
                                      <p:to>
                                        <p:strVal val="visible"/>
                                      </p:to>
                                    </p:set>
                                    <p:anim calcmode="lin" valueType="num">
                                      <p:cBhvr additive="base">
                                        <p:cTn id="215" dur="500" fill="hold"/>
                                        <p:tgtEl>
                                          <p:spTgt spid="66"/>
                                        </p:tgtEl>
                                        <p:attrNameLst>
                                          <p:attrName>ppt_x</p:attrName>
                                        </p:attrNameLst>
                                      </p:cBhvr>
                                      <p:tavLst>
                                        <p:tav tm="0">
                                          <p:val>
                                            <p:strVal val="#ppt_x"/>
                                          </p:val>
                                        </p:tav>
                                        <p:tav tm="100000">
                                          <p:val>
                                            <p:strVal val="#ppt_x"/>
                                          </p:val>
                                        </p:tav>
                                      </p:tavLst>
                                    </p:anim>
                                    <p:anim calcmode="lin" valueType="num">
                                      <p:cBhvr additive="base">
                                        <p:cTn id="216" dur="500" fill="hold"/>
                                        <p:tgtEl>
                                          <p:spTgt spid="66"/>
                                        </p:tgtEl>
                                        <p:attrNameLst>
                                          <p:attrName>ppt_y</p:attrName>
                                        </p:attrNameLst>
                                      </p:cBhvr>
                                      <p:tavLst>
                                        <p:tav tm="0">
                                          <p:val>
                                            <p:strVal val="#ppt_y+0.1"/>
                                          </p:val>
                                        </p:tav>
                                        <p:tav tm="100000">
                                          <p:val>
                                            <p:strVal val="#ppt_y"/>
                                          </p:val>
                                        </p:tav>
                                      </p:tavLst>
                                    </p:anim>
                                    <p:animEffect transition="in" filter="fade">
                                      <p:cBhvr>
                                        <p:cTn id="217" dur="500"/>
                                        <p:tgtEl>
                                          <p:spTgt spid="66"/>
                                        </p:tgtEl>
                                      </p:cBhvr>
                                    </p:animEffect>
                                  </p:childTnLst>
                                </p:cTn>
                              </p:par>
                              <p:par>
                                <p:cTn id="223" presetID="2" presetClass="entr" presetSubtype="4" fill="hold" grpId="0" nodeType="withEffect">
                                  <p:stCondLst>
                                    <p:cond delay="100"/>
                                  </p:stCondLst>
                                  <p:childTnLst>
                                    <p:set>
                                      <p:cBhvr>
                                        <p:cTn id="219" dur="1" fill="hold">
                                          <p:stCondLst>
                                            <p:cond delay="0"/>
                                          </p:stCondLst>
                                        </p:cTn>
                                        <p:tgtEl>
                                          <p:spTgt spid="67"/>
                                        </p:tgtEl>
                                        <p:attrNameLst>
                                          <p:attrName>style.visibility</p:attrName>
                                        </p:attrNameLst>
                                      </p:cBhvr>
                                      <p:to>
                                        <p:strVal val="visible"/>
                                      </p:to>
                                    </p:set>
                                    <p:anim calcmode="lin" valueType="num">
                                      <p:cBhvr additive="base">
                                        <p:cTn id="220" dur="500" fill="hold"/>
                                        <p:tgtEl>
                                          <p:spTgt spid="67"/>
                                        </p:tgtEl>
                                        <p:attrNameLst>
                                          <p:attrName>ppt_x</p:attrName>
                                        </p:attrNameLst>
                                      </p:cBhvr>
                                      <p:tavLst>
                                        <p:tav tm="0">
                                          <p:val>
                                            <p:strVal val="#ppt_x"/>
                                          </p:val>
                                        </p:tav>
                                        <p:tav tm="100000">
                                          <p:val>
                                            <p:strVal val="#ppt_x"/>
                                          </p:val>
                                        </p:tav>
                                      </p:tavLst>
                                    </p:anim>
                                    <p:anim calcmode="lin" valueType="num">
                                      <p:cBhvr additive="base">
                                        <p:cTn id="221" dur="500" fill="hold"/>
                                        <p:tgtEl>
                                          <p:spTgt spid="67"/>
                                        </p:tgtEl>
                                        <p:attrNameLst>
                                          <p:attrName>ppt_y</p:attrName>
                                        </p:attrNameLst>
                                      </p:cBhvr>
                                      <p:tavLst>
                                        <p:tav tm="0">
                                          <p:val>
                                            <p:strVal val="#ppt_y+0.1"/>
                                          </p:val>
                                        </p:tav>
                                        <p:tav tm="100000">
                                          <p:val>
                                            <p:strVal val="#ppt_y"/>
                                          </p:val>
                                        </p:tav>
                                      </p:tavLst>
                                    </p:anim>
                                    <p:animEffect transition="in" filter="fade">
                                      <p:cBhvr>
                                        <p:cTn id="222" dur="500"/>
                                        <p:tgtEl>
                                          <p:spTgt spid="67"/>
                                        </p:tgtEl>
                                      </p:cBhvr>
                                    </p:animEffect>
                                  </p:childTnLst>
                                </p:cTn>
                              </p:par>
                              <p:par>
                                <p:cTn id="228" presetID="2" presetClass="entr" presetSubtype="4" fill="hold" grpId="0" nodeType="withEffect">
                                  <p:stCondLst>
                                    <p:cond delay="150"/>
                                  </p:stCondLst>
                                  <p:childTnLst>
                                    <p:set>
                                      <p:cBhvr>
                                        <p:cTn id="224" dur="1" fill="hold">
                                          <p:stCondLst>
                                            <p:cond delay="0"/>
                                          </p:stCondLst>
                                        </p:cTn>
                                        <p:tgtEl>
                                          <p:spTgt spid="68"/>
                                        </p:tgtEl>
                                        <p:attrNameLst>
                                          <p:attrName>style.visibility</p:attrName>
                                        </p:attrNameLst>
                                      </p:cBhvr>
                                      <p:to>
                                        <p:strVal val="visible"/>
                                      </p:to>
                                    </p:set>
                                    <p:anim calcmode="lin" valueType="num">
                                      <p:cBhvr additive="base">
                                        <p:cTn id="225" dur="500" fill="hold"/>
                                        <p:tgtEl>
                                          <p:spTgt spid="68"/>
                                        </p:tgtEl>
                                        <p:attrNameLst>
                                          <p:attrName>ppt_x</p:attrName>
                                        </p:attrNameLst>
                                      </p:cBhvr>
                                      <p:tavLst>
                                        <p:tav tm="0">
                                          <p:val>
                                            <p:strVal val="#ppt_x"/>
                                          </p:val>
                                        </p:tav>
                                        <p:tav tm="100000">
                                          <p:val>
                                            <p:strVal val="#ppt_x"/>
                                          </p:val>
                                        </p:tav>
                                      </p:tavLst>
                                    </p:anim>
                                    <p:anim calcmode="lin" valueType="num">
                                      <p:cBhvr additive="base">
                                        <p:cTn id="226" dur="500" fill="hold"/>
                                        <p:tgtEl>
                                          <p:spTgt spid="68"/>
                                        </p:tgtEl>
                                        <p:attrNameLst>
                                          <p:attrName>ppt_y</p:attrName>
                                        </p:attrNameLst>
                                      </p:cBhvr>
                                      <p:tavLst>
                                        <p:tav tm="0">
                                          <p:val>
                                            <p:strVal val="#ppt_y+0.1"/>
                                          </p:val>
                                        </p:tav>
                                        <p:tav tm="100000">
                                          <p:val>
                                            <p:strVal val="#ppt_y"/>
                                          </p:val>
                                        </p:tav>
                                      </p:tavLst>
                                    </p:anim>
                                    <p:animEffect transition="in" filter="fade">
                                      <p:cBhvr>
                                        <p:cTn id="227" dur="500"/>
                                        <p:tgtEl>
                                          <p:spTgt spid="68"/>
                                        </p:tgtEl>
                                      </p:cBhvr>
                                    </p:animEffect>
                                  </p:childTnLst>
                                </p:cTn>
                              </p:par>
                              <p:par>
                                <p:cTn id="233" presetID="2" presetClass="entr" presetSubtype="4" fill="hold" grpId="0" nodeType="withEffect">
                                  <p:stCondLst>
                                    <p:cond delay="150"/>
                                  </p:stCondLst>
                                  <p:childTnLst>
                                    <p:set>
                                      <p:cBhvr>
                                        <p:cTn id="229" dur="1" fill="hold">
                                          <p:stCondLst>
                                            <p:cond delay="0"/>
                                          </p:stCondLst>
                                        </p:cTn>
                                        <p:tgtEl>
                                          <p:spTgt spid="69"/>
                                        </p:tgtEl>
                                        <p:attrNameLst>
                                          <p:attrName>style.visibility</p:attrName>
                                        </p:attrNameLst>
                                      </p:cBhvr>
                                      <p:to>
                                        <p:strVal val="visible"/>
                                      </p:to>
                                    </p:set>
                                    <p:anim calcmode="lin" valueType="num">
                                      <p:cBhvr additive="base">
                                        <p:cTn id="230" dur="500" fill="hold"/>
                                        <p:tgtEl>
                                          <p:spTgt spid="69"/>
                                        </p:tgtEl>
                                        <p:attrNameLst>
                                          <p:attrName>ppt_x</p:attrName>
                                        </p:attrNameLst>
                                      </p:cBhvr>
                                      <p:tavLst>
                                        <p:tav tm="0">
                                          <p:val>
                                            <p:strVal val="#ppt_x"/>
                                          </p:val>
                                        </p:tav>
                                        <p:tav tm="100000">
                                          <p:val>
                                            <p:strVal val="#ppt_x"/>
                                          </p:val>
                                        </p:tav>
                                      </p:tavLst>
                                    </p:anim>
                                    <p:anim calcmode="lin" valueType="num">
                                      <p:cBhvr additive="base">
                                        <p:cTn id="231" dur="500" fill="hold"/>
                                        <p:tgtEl>
                                          <p:spTgt spid="69"/>
                                        </p:tgtEl>
                                        <p:attrNameLst>
                                          <p:attrName>ppt_y</p:attrName>
                                        </p:attrNameLst>
                                      </p:cBhvr>
                                      <p:tavLst>
                                        <p:tav tm="0">
                                          <p:val>
                                            <p:strVal val="#ppt_y+0.1"/>
                                          </p:val>
                                        </p:tav>
                                        <p:tav tm="100000">
                                          <p:val>
                                            <p:strVal val="#ppt_y"/>
                                          </p:val>
                                        </p:tav>
                                      </p:tavLst>
                                    </p:anim>
                                    <p:animEffect transition="in" filter="fade">
                                      <p:cBhvr>
                                        <p:cTn id="232" dur="500"/>
                                        <p:tgtEl>
                                          <p:spTgt spid="69"/>
                                        </p:tgtEl>
                                      </p:cBhvr>
                                    </p:animEffect>
                                  </p:childTnLst>
                                </p:cTn>
                              </p:par>
                              <p:par>
                                <p:cTn id="238" presetID="2" presetClass="entr" presetSubtype="4" fill="hold" grpId="0" nodeType="withEffect">
                                  <p:stCondLst>
                                    <p:cond delay="150"/>
                                  </p:stCondLst>
                                  <p:childTnLst>
                                    <p:set>
                                      <p:cBhvr>
                                        <p:cTn id="234" dur="1" fill="hold">
                                          <p:stCondLst>
                                            <p:cond delay="0"/>
                                          </p:stCondLst>
                                        </p:cTn>
                                        <p:tgtEl>
                                          <p:spTgt spid="70"/>
                                        </p:tgtEl>
                                        <p:attrNameLst>
                                          <p:attrName>style.visibility</p:attrName>
                                        </p:attrNameLst>
                                      </p:cBhvr>
                                      <p:to>
                                        <p:strVal val="visible"/>
                                      </p:to>
                                    </p:set>
                                    <p:anim calcmode="lin" valueType="num">
                                      <p:cBhvr additive="base">
                                        <p:cTn id="235" dur="500" fill="hold"/>
                                        <p:tgtEl>
                                          <p:spTgt spid="70"/>
                                        </p:tgtEl>
                                        <p:attrNameLst>
                                          <p:attrName>ppt_x</p:attrName>
                                        </p:attrNameLst>
                                      </p:cBhvr>
                                      <p:tavLst>
                                        <p:tav tm="0">
                                          <p:val>
                                            <p:strVal val="#ppt_x"/>
                                          </p:val>
                                        </p:tav>
                                        <p:tav tm="100000">
                                          <p:val>
                                            <p:strVal val="#ppt_x"/>
                                          </p:val>
                                        </p:tav>
                                      </p:tavLst>
                                    </p:anim>
                                    <p:anim calcmode="lin" valueType="num">
                                      <p:cBhvr additive="base">
                                        <p:cTn id="236" dur="500" fill="hold"/>
                                        <p:tgtEl>
                                          <p:spTgt spid="70"/>
                                        </p:tgtEl>
                                        <p:attrNameLst>
                                          <p:attrName>ppt_y</p:attrName>
                                        </p:attrNameLst>
                                      </p:cBhvr>
                                      <p:tavLst>
                                        <p:tav tm="0">
                                          <p:val>
                                            <p:strVal val="#ppt_y+0.1"/>
                                          </p:val>
                                        </p:tav>
                                        <p:tav tm="100000">
                                          <p:val>
                                            <p:strVal val="#ppt_y"/>
                                          </p:val>
                                        </p:tav>
                                      </p:tavLst>
                                    </p:anim>
                                    <p:animEffect transition="in" filter="fade">
                                      <p:cBhvr>
                                        <p:cTn id="237" dur="500"/>
                                        <p:tgtEl>
                                          <p:spTgt spid="70"/>
                                        </p:tgtEl>
                                      </p:cBhvr>
                                    </p:animEffect>
                                  </p:childTnLst>
                                </p:cTn>
                              </p:par>
                            </p:childTnLst>
                          </p:cTn>
                        </p:par>
                      </p:childTnLst>
                    </p:cTn>
                  </p:par>
                  <p:par>
                    <p:cTn id="239" fill="hold">
                      <p:stCondLst>
                        <p:cond delay="indefinite"/>
                      </p:stCondLst>
                      <p:childTnLst>
                        <p:par>
                          <p:cTn id="240" fill="hold">
                            <p:stCondLst>
                              <p:cond delay="0"/>
                            </p:stCondLst>
                            <p:childTnLst>
                              <p:par>
                                <p:cTn id="245" presetID="2" presetClass="entr" presetSubtype="4" fill="hold" grpId="0" nodeType="clickEffect">
                                  <p:stCondLst>
                                    <p:cond delay="0"/>
                                  </p:stCondLst>
                                  <p:childTnLst>
                                    <p:set>
                                      <p:cBhvr>
                                        <p:cTn id="241" dur="1" fill="hold">
                                          <p:stCondLst>
                                            <p:cond delay="0"/>
                                          </p:stCondLst>
                                        </p:cTn>
                                        <p:tgtEl>
                                          <p:spTgt spid="71"/>
                                        </p:tgtEl>
                                        <p:attrNameLst>
                                          <p:attrName>style.visibility</p:attrName>
                                        </p:attrNameLst>
                                      </p:cBhvr>
                                      <p:to>
                                        <p:strVal val="visible"/>
                                      </p:to>
                                    </p:set>
                                    <p:anim calcmode="lin" valueType="num">
                                      <p:cBhvr additive="base">
                                        <p:cTn id="242" dur="500" fill="hold"/>
                                        <p:tgtEl>
                                          <p:spTgt spid="71"/>
                                        </p:tgtEl>
                                        <p:attrNameLst>
                                          <p:attrName>ppt_x</p:attrName>
                                        </p:attrNameLst>
                                      </p:cBhvr>
                                      <p:tavLst>
                                        <p:tav tm="0">
                                          <p:val>
                                            <p:strVal val="#ppt_x"/>
                                          </p:val>
                                        </p:tav>
                                        <p:tav tm="100000">
                                          <p:val>
                                            <p:strVal val="#ppt_x"/>
                                          </p:val>
                                        </p:tav>
                                      </p:tavLst>
                                    </p:anim>
                                    <p:anim calcmode="lin" valueType="num">
                                      <p:cBhvr additive="base">
                                        <p:cTn id="243" dur="500" fill="hold"/>
                                        <p:tgtEl>
                                          <p:spTgt spid="71"/>
                                        </p:tgtEl>
                                        <p:attrNameLst>
                                          <p:attrName>ppt_y</p:attrName>
                                        </p:attrNameLst>
                                      </p:cBhvr>
                                      <p:tavLst>
                                        <p:tav tm="0">
                                          <p:val>
                                            <p:strVal val="#ppt_y+0.1"/>
                                          </p:val>
                                        </p:tav>
                                        <p:tav tm="100000">
                                          <p:val>
                                            <p:strVal val="#ppt_y"/>
                                          </p:val>
                                        </p:tav>
                                      </p:tavLst>
                                    </p:anim>
                                    <p:animEffect transition="in" filter="fade">
                                      <p:cBhvr>
                                        <p:cTn id="244" dur="500"/>
                                        <p:tgtEl>
                                          <p:spTgt spid="71"/>
                                        </p:tgtEl>
                                      </p:cBhvr>
                                    </p:animEffect>
                                  </p:childTnLst>
                                </p:cTn>
                              </p:par>
                              <p:par>
                                <p:cTn id="250" presetID="2" presetClass="entr" presetSubtype="4" fill="hold" grpId="0" nodeType="withEffect">
                                  <p:stCondLst>
                                    <p:cond delay="0"/>
                                  </p:stCondLst>
                                  <p:childTnLst>
                                    <p:set>
                                      <p:cBhvr>
                                        <p:cTn id="246" dur="1" fill="hold">
                                          <p:stCondLst>
                                            <p:cond delay="0"/>
                                          </p:stCondLst>
                                        </p:cTn>
                                        <p:tgtEl>
                                          <p:spTgt spid="72"/>
                                        </p:tgtEl>
                                        <p:attrNameLst>
                                          <p:attrName>style.visibility</p:attrName>
                                        </p:attrNameLst>
                                      </p:cBhvr>
                                      <p:to>
                                        <p:strVal val="visible"/>
                                      </p:to>
                                    </p:set>
                                    <p:anim calcmode="lin" valueType="num">
                                      <p:cBhvr additive="base">
                                        <p:cTn id="247" dur="500" fill="hold"/>
                                        <p:tgtEl>
                                          <p:spTgt spid="72"/>
                                        </p:tgtEl>
                                        <p:attrNameLst>
                                          <p:attrName>ppt_x</p:attrName>
                                        </p:attrNameLst>
                                      </p:cBhvr>
                                      <p:tavLst>
                                        <p:tav tm="0">
                                          <p:val>
                                            <p:strVal val="#ppt_x"/>
                                          </p:val>
                                        </p:tav>
                                        <p:tav tm="100000">
                                          <p:val>
                                            <p:strVal val="#ppt_x"/>
                                          </p:val>
                                        </p:tav>
                                      </p:tavLst>
                                    </p:anim>
                                    <p:anim calcmode="lin" valueType="num">
                                      <p:cBhvr additive="base">
                                        <p:cTn id="248" dur="500" fill="hold"/>
                                        <p:tgtEl>
                                          <p:spTgt spid="72"/>
                                        </p:tgtEl>
                                        <p:attrNameLst>
                                          <p:attrName>ppt_y</p:attrName>
                                        </p:attrNameLst>
                                      </p:cBhvr>
                                      <p:tavLst>
                                        <p:tav tm="0">
                                          <p:val>
                                            <p:strVal val="#ppt_y+0.1"/>
                                          </p:val>
                                        </p:tav>
                                        <p:tav tm="100000">
                                          <p:val>
                                            <p:strVal val="#ppt_y"/>
                                          </p:val>
                                        </p:tav>
                                      </p:tavLst>
                                    </p:anim>
                                    <p:animEffect transition="in" filter="fade">
                                      <p:cBhvr>
                                        <p:cTn id="249" dur="500"/>
                                        <p:tgtEl>
                                          <p:spTgt spid="72"/>
                                        </p:tgtEl>
                                      </p:cBhvr>
                                    </p:animEffect>
                                  </p:childTnLst>
                                </p:cTn>
                              </p:par>
                              <p:par>
                                <p:cTn id="255" presetID="2" presetClass="entr" presetSubtype="4" fill="hold" grpId="0" nodeType="withEffect">
                                  <p:stCondLst>
                                    <p:cond delay="0"/>
                                  </p:stCondLst>
                                  <p:childTnLst>
                                    <p:set>
                                      <p:cBhvr>
                                        <p:cTn id="251" dur="1" fill="hold">
                                          <p:stCondLst>
                                            <p:cond delay="0"/>
                                          </p:stCondLst>
                                        </p:cTn>
                                        <p:tgtEl>
                                          <p:spTgt spid="73"/>
                                        </p:tgtEl>
                                        <p:attrNameLst>
                                          <p:attrName>style.visibility</p:attrName>
                                        </p:attrNameLst>
                                      </p:cBhvr>
                                      <p:to>
                                        <p:strVal val="visible"/>
                                      </p:to>
                                    </p:set>
                                    <p:anim calcmode="lin" valueType="num">
                                      <p:cBhvr additive="base">
                                        <p:cTn id="252" dur="500" fill="hold"/>
                                        <p:tgtEl>
                                          <p:spTgt spid="73"/>
                                        </p:tgtEl>
                                        <p:attrNameLst>
                                          <p:attrName>ppt_x</p:attrName>
                                        </p:attrNameLst>
                                      </p:cBhvr>
                                      <p:tavLst>
                                        <p:tav tm="0">
                                          <p:val>
                                            <p:strVal val="#ppt_x"/>
                                          </p:val>
                                        </p:tav>
                                        <p:tav tm="100000">
                                          <p:val>
                                            <p:strVal val="#ppt_x"/>
                                          </p:val>
                                        </p:tav>
                                      </p:tavLst>
                                    </p:anim>
                                    <p:anim calcmode="lin" valueType="num">
                                      <p:cBhvr additive="base">
                                        <p:cTn id="253" dur="500" fill="hold"/>
                                        <p:tgtEl>
                                          <p:spTgt spid="73"/>
                                        </p:tgtEl>
                                        <p:attrNameLst>
                                          <p:attrName>ppt_y</p:attrName>
                                        </p:attrNameLst>
                                      </p:cBhvr>
                                      <p:tavLst>
                                        <p:tav tm="0">
                                          <p:val>
                                            <p:strVal val="#ppt_y+0.1"/>
                                          </p:val>
                                        </p:tav>
                                        <p:tav tm="100000">
                                          <p:val>
                                            <p:strVal val="#ppt_y"/>
                                          </p:val>
                                        </p:tav>
                                      </p:tavLst>
                                    </p:anim>
                                    <p:animEffect transition="in" filter="fade">
                                      <p:cBhvr>
                                        <p:cTn id="254"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Rebalancing: When Consumers Come and Go</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Kafka moves partitions between a group's consumers automatically</a:t>
            </a:r>
          </a:p>
        </p:txBody>
      </p:sp>
      <p:sp>
        <p:nvSpPr>
          <p:cNvPr id="11" name="a1u_card10"/>
          <p:cNvSpPr/>
          <p:nvPr/>
        </p:nvSpPr>
        <p:spPr>
          <a:xfrm>
            <a:off x="457200" y="1280160"/>
            <a:ext cx="2523744" cy="1737360"/>
          </a:xfrm>
          <a:prstGeom prst="roundRect">
            <a:avLst>
              <a:gd name="adj" fmla="val 6315"/>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sh11"/>
          <p:cNvSpPr txBox="1"/>
          <p:nvPr/>
        </p:nvSpPr>
        <p:spPr>
          <a:xfrm>
            <a:off x="640080" y="1371600"/>
            <a:ext cx="2194560" cy="219456"/>
          </a:xfrm>
          <a:prstGeom prst="rect">
            <a:avLst/>
          </a:prstGeom>
          <a:noFill/>
        </p:spPr>
        <p:txBody>
          <a:bodyPr wrap="square" lIns="0" tIns="0" rIns="0" bIns="0" anchor="ctr">
            <a:spAutoFit/>
          </a:bodyPr>
          <a:lstStyle/>
          <a:p>
            <a:pPr algn="l"/>
            <a:r>
              <a:rPr sz="850" b="1" spc="120">
                <a:solidFill>
                  <a:srgbClr val="78716C"/>
                </a:solidFill>
                <a:latin typeface="Segoe UI"/>
              </a:rPr>
              <a:t>ONE CONSUMER</a:t>
            </a:r>
          </a:p>
        </p:txBody>
      </p:sp>
      <p:sp>
        <p:nvSpPr>
          <p:cNvPr id="13" name="a1u_pill12"/>
          <p:cNvSpPr/>
          <p:nvPr/>
        </p:nvSpPr>
        <p:spPr>
          <a:xfrm>
            <a:off x="640080" y="1673352"/>
            <a:ext cx="548640" cy="274320"/>
          </a:xfrm>
          <a:prstGeom prst="roundRect">
            <a:avLst>
              <a:gd name="adj" fmla="val 50000"/>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4F46E5"/>
                </a:solidFill>
                <a:latin typeface="Consolas"/>
              </a:rPr>
              <a:t>c1</a:t>
            </a:r>
          </a:p>
        </p:txBody>
      </p:sp>
      <p:sp>
        <p:nvSpPr>
          <p:cNvPr id="14" name="a1u_pc13"/>
          <p:cNvSpPr/>
          <p:nvPr/>
        </p:nvSpPr>
        <p:spPr>
          <a:xfrm>
            <a:off x="1325880" y="1673352"/>
            <a:ext cx="420624" cy="274320"/>
          </a:xfrm>
          <a:prstGeom prst="roundRect">
            <a:avLst>
              <a:gd name="adj" fmla="val 13333"/>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u_pct14"/>
          <p:cNvSpPr txBox="1"/>
          <p:nvPr/>
        </p:nvSpPr>
        <p:spPr>
          <a:xfrm>
            <a:off x="1325880" y="1673352"/>
            <a:ext cx="420624" cy="274320"/>
          </a:xfrm>
          <a:prstGeom prst="rect">
            <a:avLst/>
          </a:prstGeom>
          <a:noFill/>
        </p:spPr>
        <p:txBody>
          <a:bodyPr wrap="square" lIns="0" tIns="0" rIns="0" bIns="0" anchor="ctr">
            <a:spAutoFit/>
          </a:bodyPr>
          <a:lstStyle/>
          <a:p>
            <a:pPr algn="ctr"/>
            <a:r>
              <a:rPr sz="850" b="1">
                <a:solidFill>
                  <a:srgbClr val="0E7490"/>
                </a:solidFill>
                <a:latin typeface="Consolas"/>
              </a:rPr>
              <a:t>P0</a:t>
            </a:r>
          </a:p>
        </p:txBody>
      </p:sp>
      <p:sp>
        <p:nvSpPr>
          <p:cNvPr id="16" name="a1u_pc15"/>
          <p:cNvSpPr/>
          <p:nvPr/>
        </p:nvSpPr>
        <p:spPr>
          <a:xfrm>
            <a:off x="1801368" y="1673352"/>
            <a:ext cx="420624" cy="274320"/>
          </a:xfrm>
          <a:prstGeom prst="roundRect">
            <a:avLst>
              <a:gd name="adj" fmla="val 13333"/>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_pct16"/>
          <p:cNvSpPr txBox="1"/>
          <p:nvPr/>
        </p:nvSpPr>
        <p:spPr>
          <a:xfrm>
            <a:off x="1801368" y="1673352"/>
            <a:ext cx="420624" cy="274320"/>
          </a:xfrm>
          <a:prstGeom prst="rect">
            <a:avLst/>
          </a:prstGeom>
          <a:noFill/>
        </p:spPr>
        <p:txBody>
          <a:bodyPr wrap="square" lIns="0" tIns="0" rIns="0" bIns="0" anchor="ctr">
            <a:spAutoFit/>
          </a:bodyPr>
          <a:lstStyle/>
          <a:p>
            <a:pPr algn="ctr"/>
            <a:r>
              <a:rPr sz="850" b="1">
                <a:solidFill>
                  <a:srgbClr val="4F46E5"/>
                </a:solidFill>
                <a:latin typeface="Consolas"/>
              </a:rPr>
              <a:t>P1</a:t>
            </a:r>
          </a:p>
        </p:txBody>
      </p:sp>
      <p:sp>
        <p:nvSpPr>
          <p:cNvPr id="18" name="a1u_pc17"/>
          <p:cNvSpPr/>
          <p:nvPr/>
        </p:nvSpPr>
        <p:spPr>
          <a:xfrm>
            <a:off x="2276856" y="1673352"/>
            <a:ext cx="420624" cy="274320"/>
          </a:xfrm>
          <a:prstGeom prst="roundRect">
            <a:avLst>
              <a:gd name="adj" fmla="val 13333"/>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u_pct18"/>
          <p:cNvSpPr txBox="1"/>
          <p:nvPr/>
        </p:nvSpPr>
        <p:spPr>
          <a:xfrm>
            <a:off x="2276856" y="1673352"/>
            <a:ext cx="420624" cy="274320"/>
          </a:xfrm>
          <a:prstGeom prst="rect">
            <a:avLst/>
          </a:prstGeom>
          <a:noFill/>
        </p:spPr>
        <p:txBody>
          <a:bodyPr wrap="square" lIns="0" tIns="0" rIns="0" bIns="0" anchor="ctr">
            <a:spAutoFit/>
          </a:bodyPr>
          <a:lstStyle/>
          <a:p>
            <a:pPr algn="ctr"/>
            <a:r>
              <a:rPr sz="850" b="1">
                <a:solidFill>
                  <a:srgbClr val="C2410C"/>
                </a:solidFill>
                <a:latin typeface="Consolas"/>
              </a:rPr>
              <a:t>P2</a:t>
            </a:r>
          </a:p>
        </p:txBody>
      </p:sp>
      <p:sp>
        <p:nvSpPr>
          <p:cNvPr id="20" name="a1u_cap19"/>
          <p:cNvSpPr txBox="1"/>
          <p:nvPr/>
        </p:nvSpPr>
        <p:spPr>
          <a:xfrm>
            <a:off x="640080" y="2688336"/>
            <a:ext cx="2194560" cy="256032"/>
          </a:xfrm>
          <a:prstGeom prst="rect">
            <a:avLst/>
          </a:prstGeom>
          <a:noFill/>
        </p:spPr>
        <p:txBody>
          <a:bodyPr wrap="square" lIns="0" tIns="0" rIns="0" bIns="0" anchor="ctr">
            <a:spAutoFit/>
          </a:bodyPr>
          <a:lstStyle/>
          <a:p>
            <a:pPr algn="l"/>
            <a:r>
              <a:rPr sz="900" b="1">
                <a:solidFill>
                  <a:srgbClr val="78716C"/>
                </a:solidFill>
                <a:latin typeface="Segoe UI"/>
              </a:rPr>
              <a:t>one does all the work</a:t>
            </a:r>
          </a:p>
        </p:txBody>
      </p:sp>
      <p:sp>
        <p:nvSpPr>
          <p:cNvPr id="21" name="a2u_card20"/>
          <p:cNvSpPr/>
          <p:nvPr/>
        </p:nvSpPr>
        <p:spPr>
          <a:xfrm>
            <a:off x="3310128" y="1280160"/>
            <a:ext cx="2523744" cy="1737360"/>
          </a:xfrm>
          <a:prstGeom prst="roundRect">
            <a:avLst>
              <a:gd name="adj" fmla="val 6315"/>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2u_sh21"/>
          <p:cNvSpPr txBox="1"/>
          <p:nvPr/>
        </p:nvSpPr>
        <p:spPr>
          <a:xfrm>
            <a:off x="3493008" y="1371600"/>
            <a:ext cx="2194560" cy="219456"/>
          </a:xfrm>
          <a:prstGeom prst="rect">
            <a:avLst/>
          </a:prstGeom>
          <a:noFill/>
        </p:spPr>
        <p:txBody>
          <a:bodyPr wrap="square" lIns="0" tIns="0" rIns="0" bIns="0" anchor="ctr">
            <a:spAutoFit/>
          </a:bodyPr>
          <a:lstStyle/>
          <a:p>
            <a:pPr algn="l"/>
            <a:r>
              <a:rPr sz="850" b="1" spc="120">
                <a:solidFill>
                  <a:srgbClr val="78716C"/>
                </a:solidFill>
                <a:latin typeface="Segoe UI"/>
              </a:rPr>
              <a:t>TWO MORE JOIN</a:t>
            </a:r>
          </a:p>
        </p:txBody>
      </p:sp>
      <p:sp>
        <p:nvSpPr>
          <p:cNvPr id="23" name="a2u_pill22"/>
          <p:cNvSpPr/>
          <p:nvPr/>
        </p:nvSpPr>
        <p:spPr>
          <a:xfrm>
            <a:off x="3493008" y="1673352"/>
            <a:ext cx="548640" cy="274320"/>
          </a:xfrm>
          <a:prstGeom prst="roundRect">
            <a:avLst>
              <a:gd name="adj" fmla="val 50000"/>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4F46E5"/>
                </a:solidFill>
                <a:latin typeface="Consolas"/>
              </a:rPr>
              <a:t>c1</a:t>
            </a:r>
          </a:p>
        </p:txBody>
      </p:sp>
      <p:sp>
        <p:nvSpPr>
          <p:cNvPr id="24" name="a2u_pc23"/>
          <p:cNvSpPr/>
          <p:nvPr/>
        </p:nvSpPr>
        <p:spPr>
          <a:xfrm>
            <a:off x="4178808" y="1673352"/>
            <a:ext cx="420624" cy="274320"/>
          </a:xfrm>
          <a:prstGeom prst="roundRect">
            <a:avLst>
              <a:gd name="adj" fmla="val 13333"/>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2u_pct24"/>
          <p:cNvSpPr txBox="1"/>
          <p:nvPr/>
        </p:nvSpPr>
        <p:spPr>
          <a:xfrm>
            <a:off x="4178808" y="1673352"/>
            <a:ext cx="420624" cy="274320"/>
          </a:xfrm>
          <a:prstGeom prst="rect">
            <a:avLst/>
          </a:prstGeom>
          <a:noFill/>
        </p:spPr>
        <p:txBody>
          <a:bodyPr wrap="square" lIns="0" tIns="0" rIns="0" bIns="0" anchor="ctr">
            <a:spAutoFit/>
          </a:bodyPr>
          <a:lstStyle/>
          <a:p>
            <a:pPr algn="ctr"/>
            <a:r>
              <a:rPr sz="850" b="1">
                <a:solidFill>
                  <a:srgbClr val="0E7490"/>
                </a:solidFill>
                <a:latin typeface="Consolas"/>
              </a:rPr>
              <a:t>P0</a:t>
            </a:r>
          </a:p>
        </p:txBody>
      </p:sp>
      <p:sp>
        <p:nvSpPr>
          <p:cNvPr id="26" name="a2u_pill25"/>
          <p:cNvSpPr/>
          <p:nvPr/>
        </p:nvSpPr>
        <p:spPr>
          <a:xfrm>
            <a:off x="3493008" y="2002536"/>
            <a:ext cx="548640" cy="274320"/>
          </a:xfrm>
          <a:prstGeom prst="roundRect">
            <a:avLst>
              <a:gd name="adj" fmla="val 50000"/>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4F46E5"/>
                </a:solidFill>
                <a:latin typeface="Consolas"/>
              </a:rPr>
              <a:t>c2</a:t>
            </a:r>
          </a:p>
        </p:txBody>
      </p:sp>
      <p:sp>
        <p:nvSpPr>
          <p:cNvPr id="27" name="a2u_pc26"/>
          <p:cNvSpPr/>
          <p:nvPr/>
        </p:nvSpPr>
        <p:spPr>
          <a:xfrm>
            <a:off x="4178808" y="2002536"/>
            <a:ext cx="420624" cy="274320"/>
          </a:xfrm>
          <a:prstGeom prst="roundRect">
            <a:avLst>
              <a:gd name="adj" fmla="val 13333"/>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2u_pct27"/>
          <p:cNvSpPr txBox="1"/>
          <p:nvPr/>
        </p:nvSpPr>
        <p:spPr>
          <a:xfrm>
            <a:off x="4178808" y="2002536"/>
            <a:ext cx="420624" cy="274320"/>
          </a:xfrm>
          <a:prstGeom prst="rect">
            <a:avLst/>
          </a:prstGeom>
          <a:noFill/>
        </p:spPr>
        <p:txBody>
          <a:bodyPr wrap="square" lIns="0" tIns="0" rIns="0" bIns="0" anchor="ctr">
            <a:spAutoFit/>
          </a:bodyPr>
          <a:lstStyle/>
          <a:p>
            <a:pPr algn="ctr"/>
            <a:r>
              <a:rPr sz="850" b="1">
                <a:solidFill>
                  <a:srgbClr val="4F46E5"/>
                </a:solidFill>
                <a:latin typeface="Consolas"/>
              </a:rPr>
              <a:t>P1</a:t>
            </a:r>
          </a:p>
        </p:txBody>
      </p:sp>
      <p:sp>
        <p:nvSpPr>
          <p:cNvPr id="29" name="a2u_pill28"/>
          <p:cNvSpPr/>
          <p:nvPr/>
        </p:nvSpPr>
        <p:spPr>
          <a:xfrm>
            <a:off x="3493008" y="2331720"/>
            <a:ext cx="548640" cy="274320"/>
          </a:xfrm>
          <a:prstGeom prst="roundRect">
            <a:avLst>
              <a:gd name="adj" fmla="val 50000"/>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4F46E5"/>
                </a:solidFill>
                <a:latin typeface="Consolas"/>
              </a:rPr>
              <a:t>c3</a:t>
            </a:r>
          </a:p>
        </p:txBody>
      </p:sp>
      <p:sp>
        <p:nvSpPr>
          <p:cNvPr id="30" name="a2u_pc29"/>
          <p:cNvSpPr/>
          <p:nvPr/>
        </p:nvSpPr>
        <p:spPr>
          <a:xfrm>
            <a:off x="4178808" y="2331720"/>
            <a:ext cx="420624" cy="274320"/>
          </a:xfrm>
          <a:prstGeom prst="roundRect">
            <a:avLst>
              <a:gd name="adj" fmla="val 13333"/>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2u_pct30"/>
          <p:cNvSpPr txBox="1"/>
          <p:nvPr/>
        </p:nvSpPr>
        <p:spPr>
          <a:xfrm>
            <a:off x="4178808" y="2331720"/>
            <a:ext cx="420624" cy="274320"/>
          </a:xfrm>
          <a:prstGeom prst="rect">
            <a:avLst/>
          </a:prstGeom>
          <a:noFill/>
        </p:spPr>
        <p:txBody>
          <a:bodyPr wrap="square" lIns="0" tIns="0" rIns="0" bIns="0" anchor="ctr">
            <a:spAutoFit/>
          </a:bodyPr>
          <a:lstStyle/>
          <a:p>
            <a:pPr algn="ctr"/>
            <a:r>
              <a:rPr sz="850" b="1">
                <a:solidFill>
                  <a:srgbClr val="C2410C"/>
                </a:solidFill>
                <a:latin typeface="Consolas"/>
              </a:rPr>
              <a:t>P2</a:t>
            </a:r>
          </a:p>
        </p:txBody>
      </p:sp>
      <p:sp>
        <p:nvSpPr>
          <p:cNvPr id="32" name="a2u_cap31"/>
          <p:cNvSpPr txBox="1"/>
          <p:nvPr/>
        </p:nvSpPr>
        <p:spPr>
          <a:xfrm>
            <a:off x="3493008" y="2688336"/>
            <a:ext cx="2194560" cy="256032"/>
          </a:xfrm>
          <a:prstGeom prst="rect">
            <a:avLst/>
          </a:prstGeom>
          <a:noFill/>
        </p:spPr>
        <p:txBody>
          <a:bodyPr wrap="square" lIns="0" tIns="0" rIns="0" bIns="0" anchor="ctr">
            <a:spAutoFit/>
          </a:bodyPr>
          <a:lstStyle/>
          <a:p>
            <a:pPr algn="l"/>
            <a:r>
              <a:rPr sz="900" b="1">
                <a:solidFill>
                  <a:srgbClr val="15803D"/>
                </a:solidFill>
                <a:latin typeface="Segoe UI"/>
              </a:rPr>
              <a:t>rebalanced: one each</a:t>
            </a:r>
          </a:p>
        </p:txBody>
      </p:sp>
      <p:cxnSp>
        <p:nvCxnSpPr>
          <p:cNvPr id="33" name="a2u_ar32"/>
          <p:cNvCxnSpPr/>
          <p:nvPr/>
        </p:nvCxnSpPr>
        <p:spPr>
          <a:xfrm>
            <a:off x="3008376" y="2103120"/>
            <a:ext cx="256032" cy="0"/>
          </a:xfrm>
          <a:prstGeom prst="line">
            <a:avLst/>
          </a:prstGeom>
          <a:ln w="19050">
            <a:solidFill>
              <a:srgbClr val="A8A2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a3u_card33"/>
          <p:cNvSpPr/>
          <p:nvPr/>
        </p:nvSpPr>
        <p:spPr>
          <a:xfrm>
            <a:off x="6163056" y="1280160"/>
            <a:ext cx="2523744" cy="1737360"/>
          </a:xfrm>
          <a:prstGeom prst="roundRect">
            <a:avLst>
              <a:gd name="adj" fmla="val 6315"/>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3u_sh34"/>
          <p:cNvSpPr txBox="1"/>
          <p:nvPr/>
        </p:nvSpPr>
        <p:spPr>
          <a:xfrm>
            <a:off x="6345936" y="1371600"/>
            <a:ext cx="2194560" cy="219456"/>
          </a:xfrm>
          <a:prstGeom prst="rect">
            <a:avLst/>
          </a:prstGeom>
          <a:noFill/>
        </p:spPr>
        <p:txBody>
          <a:bodyPr wrap="square" lIns="0" tIns="0" rIns="0" bIns="0" anchor="ctr">
            <a:spAutoFit/>
          </a:bodyPr>
          <a:lstStyle/>
          <a:p>
            <a:pPr algn="l"/>
            <a:r>
              <a:rPr sz="850" b="1" spc="120">
                <a:solidFill>
                  <a:srgbClr val="78716C"/>
                </a:solidFill>
                <a:latin typeface="Segoe UI"/>
              </a:rPr>
              <a:t>ONE FAILS</a:t>
            </a:r>
          </a:p>
        </p:txBody>
      </p:sp>
      <p:sp>
        <p:nvSpPr>
          <p:cNvPr id="36" name="a3u_pill35"/>
          <p:cNvSpPr/>
          <p:nvPr/>
        </p:nvSpPr>
        <p:spPr>
          <a:xfrm>
            <a:off x="6345936" y="1673352"/>
            <a:ext cx="548640" cy="274320"/>
          </a:xfrm>
          <a:prstGeom prst="roundRect">
            <a:avLst>
              <a:gd name="adj" fmla="val 50000"/>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4F46E5"/>
                </a:solidFill>
                <a:latin typeface="Consolas"/>
              </a:rPr>
              <a:t>c1</a:t>
            </a:r>
          </a:p>
        </p:txBody>
      </p:sp>
      <p:sp>
        <p:nvSpPr>
          <p:cNvPr id="37" name="a3u_pc36"/>
          <p:cNvSpPr/>
          <p:nvPr/>
        </p:nvSpPr>
        <p:spPr>
          <a:xfrm>
            <a:off x="7031736" y="1673352"/>
            <a:ext cx="420624" cy="274320"/>
          </a:xfrm>
          <a:prstGeom prst="roundRect">
            <a:avLst>
              <a:gd name="adj" fmla="val 13333"/>
            </a:avLst>
          </a:prstGeom>
          <a:solidFill>
            <a:srgbClr val="D9F2F7"/>
          </a:solidFill>
          <a:ln w="952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3u_pct37"/>
          <p:cNvSpPr txBox="1"/>
          <p:nvPr/>
        </p:nvSpPr>
        <p:spPr>
          <a:xfrm>
            <a:off x="7031736" y="1673352"/>
            <a:ext cx="420624" cy="274320"/>
          </a:xfrm>
          <a:prstGeom prst="rect">
            <a:avLst/>
          </a:prstGeom>
          <a:noFill/>
        </p:spPr>
        <p:txBody>
          <a:bodyPr wrap="square" lIns="0" tIns="0" rIns="0" bIns="0" anchor="ctr">
            <a:spAutoFit/>
          </a:bodyPr>
          <a:lstStyle/>
          <a:p>
            <a:pPr algn="ctr"/>
            <a:r>
              <a:rPr sz="850" b="1">
                <a:solidFill>
                  <a:srgbClr val="0E7490"/>
                </a:solidFill>
                <a:latin typeface="Consolas"/>
              </a:rPr>
              <a:t>P0</a:t>
            </a:r>
          </a:p>
        </p:txBody>
      </p:sp>
      <p:sp>
        <p:nvSpPr>
          <p:cNvPr id="39" name="a3u_pc38"/>
          <p:cNvSpPr/>
          <p:nvPr/>
        </p:nvSpPr>
        <p:spPr>
          <a:xfrm>
            <a:off x="7507224" y="1673352"/>
            <a:ext cx="420624" cy="274320"/>
          </a:xfrm>
          <a:prstGeom prst="roundRect">
            <a:avLst>
              <a:gd name="adj" fmla="val 13333"/>
            </a:avLst>
          </a:prstGeom>
          <a:solidFill>
            <a:srgbClr val="E0E7FF"/>
          </a:solidFill>
          <a:ln w="952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3u_pct39"/>
          <p:cNvSpPr txBox="1"/>
          <p:nvPr/>
        </p:nvSpPr>
        <p:spPr>
          <a:xfrm>
            <a:off x="7507224" y="1673352"/>
            <a:ext cx="420624" cy="274320"/>
          </a:xfrm>
          <a:prstGeom prst="rect">
            <a:avLst/>
          </a:prstGeom>
          <a:noFill/>
        </p:spPr>
        <p:txBody>
          <a:bodyPr wrap="square" lIns="0" tIns="0" rIns="0" bIns="0" anchor="ctr">
            <a:spAutoFit/>
          </a:bodyPr>
          <a:lstStyle/>
          <a:p>
            <a:pPr algn="ctr"/>
            <a:r>
              <a:rPr sz="850" b="1">
                <a:solidFill>
                  <a:srgbClr val="4F46E5"/>
                </a:solidFill>
                <a:latin typeface="Consolas"/>
              </a:rPr>
              <a:t>P1</a:t>
            </a:r>
          </a:p>
        </p:txBody>
      </p:sp>
      <p:sp>
        <p:nvSpPr>
          <p:cNvPr id="41" name="a3u_pill40"/>
          <p:cNvSpPr/>
          <p:nvPr/>
        </p:nvSpPr>
        <p:spPr>
          <a:xfrm>
            <a:off x="6345936" y="2002536"/>
            <a:ext cx="548640" cy="274320"/>
          </a:xfrm>
          <a:prstGeom prst="roundRect">
            <a:avLst>
              <a:gd name="adj" fmla="val 50000"/>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4F46E5"/>
                </a:solidFill>
                <a:latin typeface="Consolas"/>
              </a:rPr>
              <a:t>c3</a:t>
            </a:r>
          </a:p>
        </p:txBody>
      </p:sp>
      <p:sp>
        <p:nvSpPr>
          <p:cNvPr id="42" name="a3u_pc41"/>
          <p:cNvSpPr/>
          <p:nvPr/>
        </p:nvSpPr>
        <p:spPr>
          <a:xfrm>
            <a:off x="7031736" y="2002536"/>
            <a:ext cx="420624" cy="274320"/>
          </a:xfrm>
          <a:prstGeom prst="roundRect">
            <a:avLst>
              <a:gd name="adj" fmla="val 13333"/>
            </a:avLst>
          </a:prstGeom>
          <a:solidFill>
            <a:srgbClr val="FFEDD5"/>
          </a:solidFill>
          <a:ln w="952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3u_pct42"/>
          <p:cNvSpPr txBox="1"/>
          <p:nvPr/>
        </p:nvSpPr>
        <p:spPr>
          <a:xfrm>
            <a:off x="7031736" y="2002536"/>
            <a:ext cx="420624" cy="274320"/>
          </a:xfrm>
          <a:prstGeom prst="rect">
            <a:avLst/>
          </a:prstGeom>
          <a:noFill/>
        </p:spPr>
        <p:txBody>
          <a:bodyPr wrap="square" lIns="0" tIns="0" rIns="0" bIns="0" anchor="ctr">
            <a:spAutoFit/>
          </a:bodyPr>
          <a:lstStyle/>
          <a:p>
            <a:pPr algn="ctr"/>
            <a:r>
              <a:rPr sz="850" b="1">
                <a:solidFill>
                  <a:srgbClr val="C2410C"/>
                </a:solidFill>
                <a:latin typeface="Consolas"/>
              </a:rPr>
              <a:t>P2</a:t>
            </a:r>
          </a:p>
        </p:txBody>
      </p:sp>
      <p:sp>
        <p:nvSpPr>
          <p:cNvPr id="44" name="a3u_cap43"/>
          <p:cNvSpPr txBox="1"/>
          <p:nvPr/>
        </p:nvSpPr>
        <p:spPr>
          <a:xfrm>
            <a:off x="6345936" y="2688336"/>
            <a:ext cx="2194560" cy="256032"/>
          </a:xfrm>
          <a:prstGeom prst="rect">
            <a:avLst/>
          </a:prstGeom>
          <a:noFill/>
        </p:spPr>
        <p:txBody>
          <a:bodyPr wrap="square" lIns="0" tIns="0" rIns="0" bIns="0" anchor="ctr">
            <a:spAutoFit/>
          </a:bodyPr>
          <a:lstStyle/>
          <a:p>
            <a:pPr algn="l"/>
            <a:r>
              <a:rPr sz="900" b="1">
                <a:solidFill>
                  <a:srgbClr val="A16207"/>
                </a:solidFill>
                <a:latin typeface="Segoe UI"/>
              </a:rPr>
              <a:t>c2's partition moves to c1</a:t>
            </a:r>
          </a:p>
        </p:txBody>
      </p:sp>
      <p:cxnSp>
        <p:nvCxnSpPr>
          <p:cNvPr id="45" name="a3u_ar44"/>
          <p:cNvCxnSpPr/>
          <p:nvPr/>
        </p:nvCxnSpPr>
        <p:spPr>
          <a:xfrm>
            <a:off x="5861304" y="2103120"/>
            <a:ext cx="256032" cy="0"/>
          </a:xfrm>
          <a:prstGeom prst="line">
            <a:avLst/>
          </a:prstGeom>
          <a:ln w="19050">
            <a:solidFill>
              <a:srgbClr val="A8A2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a4u_dot45"/>
          <p:cNvSpPr/>
          <p:nvPr/>
        </p:nvSpPr>
        <p:spPr>
          <a:xfrm>
            <a:off x="457200" y="3259836"/>
            <a:ext cx="91440" cy="91440"/>
          </a:xfrm>
          <a:prstGeom prst="roundRect">
            <a:avLst>
              <a:gd name="adj" fmla="val 2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4u_b46"/>
          <p:cNvSpPr txBox="1"/>
          <p:nvPr/>
        </p:nvSpPr>
        <p:spPr>
          <a:xfrm>
            <a:off x="676656" y="3163824"/>
            <a:ext cx="8010144" cy="237744"/>
          </a:xfrm>
          <a:prstGeom prst="rect">
            <a:avLst/>
          </a:prstGeom>
          <a:noFill/>
        </p:spPr>
        <p:txBody>
          <a:bodyPr wrap="square" lIns="0" tIns="0" rIns="0" bIns="0" anchor="t">
            <a:spAutoFit/>
          </a:bodyPr>
          <a:lstStyle/>
          <a:p>
            <a:pPr algn="l"/>
            <a:r>
              <a:rPr sz="950" b="1">
                <a:solidFill>
                  <a:srgbClr val="1C1917"/>
                </a:solidFill>
                <a:latin typeface="Segoe UI"/>
              </a:rPr>
              <a:t>Scale out  </a:t>
            </a:r>
            <a:r>
              <a:rPr sz="950" b="0">
                <a:solidFill>
                  <a:srgbClr val="44403C"/>
                </a:solidFill>
                <a:latin typeface="Segoe UI"/>
              </a:rPr>
              <a:t>add consumers - up to one per partition</a:t>
            </a:r>
          </a:p>
        </p:txBody>
      </p:sp>
      <p:sp>
        <p:nvSpPr>
          <p:cNvPr id="48" name="a4ud120_dot47"/>
          <p:cNvSpPr/>
          <p:nvPr/>
        </p:nvSpPr>
        <p:spPr>
          <a:xfrm>
            <a:off x="457200" y="3534156"/>
            <a:ext cx="91440" cy="91440"/>
          </a:xfrm>
          <a:prstGeom prst="roundRect">
            <a:avLst>
              <a:gd name="adj" fmla="val 2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4ud120_b48"/>
          <p:cNvSpPr txBox="1"/>
          <p:nvPr/>
        </p:nvSpPr>
        <p:spPr>
          <a:xfrm>
            <a:off x="676656" y="3438144"/>
            <a:ext cx="8010144" cy="237744"/>
          </a:xfrm>
          <a:prstGeom prst="rect">
            <a:avLst/>
          </a:prstGeom>
          <a:noFill/>
        </p:spPr>
        <p:txBody>
          <a:bodyPr wrap="square" lIns="0" tIns="0" rIns="0" bIns="0" anchor="t">
            <a:spAutoFit/>
          </a:bodyPr>
          <a:lstStyle/>
          <a:p>
            <a:pPr algn="l"/>
            <a:r>
              <a:rPr sz="950" b="1">
                <a:solidFill>
                  <a:srgbClr val="1C1917"/>
                </a:solidFill>
                <a:latin typeface="Segoe UI"/>
              </a:rPr>
              <a:t>Fail over  </a:t>
            </a:r>
            <a:r>
              <a:rPr sz="950" b="0">
                <a:solidFill>
                  <a:srgbClr val="44403C"/>
                </a:solidFill>
                <a:latin typeface="Segoe UI"/>
              </a:rPr>
              <a:t>a failed consumer's partitions go to the others</a:t>
            </a:r>
          </a:p>
        </p:txBody>
      </p:sp>
      <p:sp>
        <p:nvSpPr>
          <p:cNvPr id="50" name="a4ud240_dot49"/>
          <p:cNvSpPr/>
          <p:nvPr/>
        </p:nvSpPr>
        <p:spPr>
          <a:xfrm>
            <a:off x="457200" y="3808476"/>
            <a:ext cx="91440" cy="91440"/>
          </a:xfrm>
          <a:prstGeom prst="roundRect">
            <a:avLst>
              <a:gd name="adj" fmla="val 2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a4ud240_b50"/>
          <p:cNvSpPr txBox="1"/>
          <p:nvPr/>
        </p:nvSpPr>
        <p:spPr>
          <a:xfrm>
            <a:off x="676656" y="3712464"/>
            <a:ext cx="8010144" cy="237744"/>
          </a:xfrm>
          <a:prstGeom prst="rect">
            <a:avLst/>
          </a:prstGeom>
          <a:noFill/>
        </p:spPr>
        <p:txBody>
          <a:bodyPr wrap="square" lIns="0" tIns="0" rIns="0" bIns="0" anchor="t">
            <a:spAutoFit/>
          </a:bodyPr>
          <a:lstStyle/>
          <a:p>
            <a:pPr algn="l"/>
            <a:r>
              <a:rPr sz="950" b="1">
                <a:solidFill>
                  <a:srgbClr val="1C1917"/>
                </a:solidFill>
                <a:latin typeface="Segoe UI"/>
              </a:rPr>
              <a:t>More consumers than partitions?  </a:t>
            </a:r>
            <a:r>
              <a:rPr sz="950" b="0">
                <a:solidFill>
                  <a:srgbClr val="44403C"/>
                </a:solidFill>
                <a:latin typeface="Segoe UI"/>
              </a:rPr>
              <a:t>the extra ones sit idle</a:t>
            </a:r>
          </a:p>
        </p:txBody>
      </p:sp>
      <p:sp>
        <p:nvSpPr>
          <p:cNvPr id="52" name="a5u_nb51"/>
          <p:cNvSpPr/>
          <p:nvPr/>
        </p:nvSpPr>
        <p:spPr>
          <a:xfrm>
            <a:off x="457200" y="4041648"/>
            <a:ext cx="8229600" cy="475488"/>
          </a:xfrm>
          <a:prstGeom prst="roundRect">
            <a:avLst>
              <a:gd name="adj" fmla="val 15384"/>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a5u_nacc52"/>
          <p:cNvSpPr/>
          <p:nvPr/>
        </p:nvSpPr>
        <p:spPr>
          <a:xfrm>
            <a:off x="457200" y="4041648"/>
            <a:ext cx="54864"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a5u_nt53"/>
          <p:cNvSpPr txBox="1"/>
          <p:nvPr/>
        </p:nvSpPr>
        <p:spPr>
          <a:xfrm>
            <a:off x="658368" y="4041648"/>
            <a:ext cx="7827264" cy="475488"/>
          </a:xfrm>
          <a:prstGeom prst="rect">
            <a:avLst/>
          </a:prstGeom>
          <a:noFill/>
        </p:spPr>
        <p:txBody>
          <a:bodyPr wrap="square" lIns="0" tIns="0" rIns="0" bIns="0" anchor="ctr">
            <a:spAutoFit/>
          </a:bodyPr>
          <a:lstStyle/>
          <a:p>
            <a:pPr algn="l"/>
            <a:r>
              <a:rPr sz="900" b="1">
                <a:solidFill>
                  <a:srgbClr val="4F46E5"/>
                </a:solidFill>
                <a:latin typeface="Segoe UI"/>
              </a:rPr>
              <a:t>LAB  </a:t>
            </a:r>
            <a:r>
              <a:rPr sz="900" b="0">
                <a:solidFill>
                  <a:srgbClr val="44403C"/>
                </a:solidFill>
                <a:latin typeface="Segoe UI"/>
              </a:rPr>
              <a:t>Try it: two console consumers with --group dash, then a third - check with kafka-consumer-groups.sh --describe.</a:t>
            </a:r>
          </a:p>
        </p:txBody>
      </p:sp>
      <p:sp>
        <p:nvSpPr>
          <p:cNvPr id="55" name="ft54"/>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14</a:t>
            </a:r>
          </a:p>
        </p:txBody>
      </p:sp>
      <p:sp>
        <p:nvSpPr>
          <p:cNvPr id="56" name="ft55"/>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ft56"/>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Consumers</a:t>
            </a:r>
          </a:p>
        </p:txBody>
      </p:sp>
      <p:sp>
        <p:nvSpPr>
          <p:cNvPr id="58" name="ft57"/>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7</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par>
                                <p:cTn id="54" presetID="2" presetClass="entr" presetSubtype="4"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1"/>
                                          </p:val>
                                        </p:tav>
                                        <p:tav tm="100000">
                                          <p:val>
                                            <p:strVal val="#ppt_y"/>
                                          </p:val>
                                        </p:tav>
                                      </p:tavLst>
                                    </p:anim>
                                    <p:animEffect transition="in" filter="fade">
                                      <p:cBhvr>
                                        <p:cTn id="53" dur="500"/>
                                        <p:tgtEl>
                                          <p:spTgt spid="20"/>
                                        </p:tgtEl>
                                      </p:cBhvr>
                                    </p:animEffect>
                                  </p:childTnLst>
                                </p:cTn>
                              </p:par>
                            </p:childTnLst>
                          </p:cTn>
                        </p:par>
                      </p:childTnLst>
                    </p:cTn>
                  </p:par>
                  <p:par>
                    <p:cTn id="55" fill="hold">
                      <p:stCondLst>
                        <p:cond delay="indefinite"/>
                      </p:stCondLst>
                      <p:childTnLst>
                        <p:par>
                          <p:cTn id="56" fill="hold">
                            <p:stCondLst>
                              <p:cond delay="0"/>
                            </p:stCondLst>
                            <p:childTnLst>
                              <p:par>
                                <p:cTn id="61" presetID="2" presetClass="entr" presetSubtype="4" fill="hold" grpId="0" nodeType="clickEffect">
                                  <p:stCondLst>
                                    <p:cond delay="0"/>
                                  </p:stCondLst>
                                  <p:childTnLst>
                                    <p:set>
                                      <p:cBhvr>
                                        <p:cTn id="57" dur="1" fill="hold">
                                          <p:stCondLst>
                                            <p:cond delay="0"/>
                                          </p:stCondLst>
                                        </p:cTn>
                                        <p:tgtEl>
                                          <p:spTgt spid="21"/>
                                        </p:tgtEl>
                                        <p:attrNameLst>
                                          <p:attrName>style.visibility</p:attrName>
                                        </p:attrNameLst>
                                      </p:cBhvr>
                                      <p:to>
                                        <p:strVal val="visible"/>
                                      </p:to>
                                    </p:set>
                                    <p:anim calcmode="lin" valueType="num">
                                      <p:cBhvr additive="base">
                                        <p:cTn id="58" dur="500" fill="hold"/>
                                        <p:tgtEl>
                                          <p:spTgt spid="21"/>
                                        </p:tgtEl>
                                        <p:attrNameLst>
                                          <p:attrName>ppt_x</p:attrName>
                                        </p:attrNameLst>
                                      </p:cBhvr>
                                      <p:tavLst>
                                        <p:tav tm="0">
                                          <p:val>
                                            <p:strVal val="#ppt_x"/>
                                          </p:val>
                                        </p:tav>
                                        <p:tav tm="100000">
                                          <p:val>
                                            <p:strVal val="#ppt_x"/>
                                          </p:val>
                                        </p:tav>
                                      </p:tavLst>
                                    </p:anim>
                                    <p:anim calcmode="lin" valueType="num">
                                      <p:cBhvr additive="base">
                                        <p:cTn id="59" dur="500" fill="hold"/>
                                        <p:tgtEl>
                                          <p:spTgt spid="21"/>
                                        </p:tgtEl>
                                        <p:attrNameLst>
                                          <p:attrName>ppt_y</p:attrName>
                                        </p:attrNameLst>
                                      </p:cBhvr>
                                      <p:tavLst>
                                        <p:tav tm="0">
                                          <p:val>
                                            <p:strVal val="#ppt_y+0.1"/>
                                          </p:val>
                                        </p:tav>
                                        <p:tav tm="100000">
                                          <p:val>
                                            <p:strVal val="#ppt_y"/>
                                          </p:val>
                                        </p:tav>
                                      </p:tavLst>
                                    </p:anim>
                                    <p:animEffect transition="in" filter="fade">
                                      <p:cBhvr>
                                        <p:cTn id="60" dur="500"/>
                                        <p:tgtEl>
                                          <p:spTgt spid="21"/>
                                        </p:tgtEl>
                                      </p:cBhvr>
                                    </p:animEffect>
                                  </p:childTnLst>
                                </p:cTn>
                              </p:par>
                              <p:par>
                                <p:cTn id="66" presetID="2" presetClass="entr" presetSubtype="4"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 calcmode="lin" valueType="num">
                                      <p:cBhvr additive="base">
                                        <p:cTn id="63" dur="500" fill="hold"/>
                                        <p:tgtEl>
                                          <p:spTgt spid="22"/>
                                        </p:tgtEl>
                                        <p:attrNameLst>
                                          <p:attrName>ppt_x</p:attrName>
                                        </p:attrNameLst>
                                      </p:cBhvr>
                                      <p:tavLst>
                                        <p:tav tm="0">
                                          <p:val>
                                            <p:strVal val="#ppt_x"/>
                                          </p:val>
                                        </p:tav>
                                        <p:tav tm="100000">
                                          <p:val>
                                            <p:strVal val="#ppt_x"/>
                                          </p:val>
                                        </p:tav>
                                      </p:tavLst>
                                    </p:anim>
                                    <p:anim calcmode="lin" valueType="num">
                                      <p:cBhvr additive="base">
                                        <p:cTn id="64" dur="500" fill="hold"/>
                                        <p:tgtEl>
                                          <p:spTgt spid="22"/>
                                        </p:tgtEl>
                                        <p:attrNameLst>
                                          <p:attrName>ppt_y</p:attrName>
                                        </p:attrNameLst>
                                      </p:cBhvr>
                                      <p:tavLst>
                                        <p:tav tm="0">
                                          <p:val>
                                            <p:strVal val="#ppt_y+0.1"/>
                                          </p:val>
                                        </p:tav>
                                        <p:tav tm="100000">
                                          <p:val>
                                            <p:strVal val="#ppt_y"/>
                                          </p:val>
                                        </p:tav>
                                      </p:tavLst>
                                    </p:anim>
                                    <p:animEffect transition="in" filter="fade">
                                      <p:cBhvr>
                                        <p:cTn id="65" dur="500"/>
                                        <p:tgtEl>
                                          <p:spTgt spid="22"/>
                                        </p:tgtEl>
                                      </p:cBhvr>
                                    </p:animEffect>
                                  </p:childTnLst>
                                </p:cTn>
                              </p:par>
                              <p:par>
                                <p:cTn id="71" presetID="2" presetClass="entr" presetSubtype="4"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anim calcmode="lin" valueType="num">
                                      <p:cBhvr additive="base">
                                        <p:cTn id="68" dur="500" fill="hold"/>
                                        <p:tgtEl>
                                          <p:spTgt spid="23"/>
                                        </p:tgtEl>
                                        <p:attrNameLst>
                                          <p:attrName>ppt_x</p:attrName>
                                        </p:attrNameLst>
                                      </p:cBhvr>
                                      <p:tavLst>
                                        <p:tav tm="0">
                                          <p:val>
                                            <p:strVal val="#ppt_x"/>
                                          </p:val>
                                        </p:tav>
                                        <p:tav tm="100000">
                                          <p:val>
                                            <p:strVal val="#ppt_x"/>
                                          </p:val>
                                        </p:tav>
                                      </p:tavLst>
                                    </p:anim>
                                    <p:anim calcmode="lin" valueType="num">
                                      <p:cBhvr additive="base">
                                        <p:cTn id="69" dur="500" fill="hold"/>
                                        <p:tgtEl>
                                          <p:spTgt spid="23"/>
                                        </p:tgtEl>
                                        <p:attrNameLst>
                                          <p:attrName>ppt_y</p:attrName>
                                        </p:attrNameLst>
                                      </p:cBhvr>
                                      <p:tavLst>
                                        <p:tav tm="0">
                                          <p:val>
                                            <p:strVal val="#ppt_y+0.1"/>
                                          </p:val>
                                        </p:tav>
                                        <p:tav tm="100000">
                                          <p:val>
                                            <p:strVal val="#ppt_y"/>
                                          </p:val>
                                        </p:tav>
                                      </p:tavLst>
                                    </p:anim>
                                    <p:animEffect transition="in" filter="fade">
                                      <p:cBhvr>
                                        <p:cTn id="70" dur="500"/>
                                        <p:tgtEl>
                                          <p:spTgt spid="23"/>
                                        </p:tgtEl>
                                      </p:cBhvr>
                                    </p:animEffect>
                                  </p:childTnLst>
                                </p:cTn>
                              </p:par>
                              <p:par>
                                <p:cTn id="76" presetID="2" presetClass="entr" presetSubtype="4"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 calcmode="lin" valueType="num">
                                      <p:cBhvr additive="base">
                                        <p:cTn id="73" dur="500" fill="hold"/>
                                        <p:tgtEl>
                                          <p:spTgt spid="24"/>
                                        </p:tgtEl>
                                        <p:attrNameLst>
                                          <p:attrName>ppt_x</p:attrName>
                                        </p:attrNameLst>
                                      </p:cBhvr>
                                      <p:tavLst>
                                        <p:tav tm="0">
                                          <p:val>
                                            <p:strVal val="#ppt_x"/>
                                          </p:val>
                                        </p:tav>
                                        <p:tav tm="100000">
                                          <p:val>
                                            <p:strVal val="#ppt_x"/>
                                          </p:val>
                                        </p:tav>
                                      </p:tavLst>
                                    </p:anim>
                                    <p:anim calcmode="lin" valueType="num">
                                      <p:cBhvr additive="base">
                                        <p:cTn id="74" dur="500" fill="hold"/>
                                        <p:tgtEl>
                                          <p:spTgt spid="24"/>
                                        </p:tgtEl>
                                        <p:attrNameLst>
                                          <p:attrName>ppt_y</p:attrName>
                                        </p:attrNameLst>
                                      </p:cBhvr>
                                      <p:tavLst>
                                        <p:tav tm="0">
                                          <p:val>
                                            <p:strVal val="#ppt_y+0.1"/>
                                          </p:val>
                                        </p:tav>
                                        <p:tav tm="100000">
                                          <p:val>
                                            <p:strVal val="#ppt_y"/>
                                          </p:val>
                                        </p:tav>
                                      </p:tavLst>
                                    </p:anim>
                                    <p:animEffect transition="in" filter="fade">
                                      <p:cBhvr>
                                        <p:cTn id="75" dur="500"/>
                                        <p:tgtEl>
                                          <p:spTgt spid="24"/>
                                        </p:tgtEl>
                                      </p:cBhvr>
                                    </p:animEffect>
                                  </p:childTnLst>
                                </p:cTn>
                              </p:par>
                              <p:par>
                                <p:cTn id="81" presetID="2" presetClass="entr" presetSubtype="4" fill="hold" grpId="0" nodeType="withEffect">
                                  <p:stCondLst>
                                    <p:cond delay="0"/>
                                  </p:stCondLst>
                                  <p:childTnLst>
                                    <p:set>
                                      <p:cBhvr>
                                        <p:cTn id="77" dur="1" fill="hold">
                                          <p:stCondLst>
                                            <p:cond delay="0"/>
                                          </p:stCondLst>
                                        </p:cTn>
                                        <p:tgtEl>
                                          <p:spTgt spid="25"/>
                                        </p:tgtEl>
                                        <p:attrNameLst>
                                          <p:attrName>style.visibility</p:attrName>
                                        </p:attrNameLst>
                                      </p:cBhvr>
                                      <p:to>
                                        <p:strVal val="visible"/>
                                      </p:to>
                                    </p:set>
                                    <p:anim calcmode="lin" valueType="num">
                                      <p:cBhvr additive="base">
                                        <p:cTn id="78" dur="500" fill="hold"/>
                                        <p:tgtEl>
                                          <p:spTgt spid="25"/>
                                        </p:tgtEl>
                                        <p:attrNameLst>
                                          <p:attrName>ppt_x</p:attrName>
                                        </p:attrNameLst>
                                      </p:cBhvr>
                                      <p:tavLst>
                                        <p:tav tm="0">
                                          <p:val>
                                            <p:strVal val="#ppt_x"/>
                                          </p:val>
                                        </p:tav>
                                        <p:tav tm="100000">
                                          <p:val>
                                            <p:strVal val="#ppt_x"/>
                                          </p:val>
                                        </p:tav>
                                      </p:tavLst>
                                    </p:anim>
                                    <p:anim calcmode="lin" valueType="num">
                                      <p:cBhvr additive="base">
                                        <p:cTn id="79" dur="500" fill="hold"/>
                                        <p:tgtEl>
                                          <p:spTgt spid="25"/>
                                        </p:tgtEl>
                                        <p:attrNameLst>
                                          <p:attrName>ppt_y</p:attrName>
                                        </p:attrNameLst>
                                      </p:cBhvr>
                                      <p:tavLst>
                                        <p:tav tm="0">
                                          <p:val>
                                            <p:strVal val="#ppt_y+0.1"/>
                                          </p:val>
                                        </p:tav>
                                        <p:tav tm="100000">
                                          <p:val>
                                            <p:strVal val="#ppt_y"/>
                                          </p:val>
                                        </p:tav>
                                      </p:tavLst>
                                    </p:anim>
                                    <p:animEffect transition="in" filter="fade">
                                      <p:cBhvr>
                                        <p:cTn id="80" dur="500"/>
                                        <p:tgtEl>
                                          <p:spTgt spid="25"/>
                                        </p:tgtEl>
                                      </p:cBhvr>
                                    </p:animEffect>
                                  </p:childTnLst>
                                </p:cTn>
                              </p:par>
                              <p:par>
                                <p:cTn id="86" presetID="2" presetClass="entr" presetSubtype="4" fill="hold" grpId="0" nodeType="withEffect">
                                  <p:stCondLst>
                                    <p:cond delay="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ppt_x"/>
                                          </p:val>
                                        </p:tav>
                                        <p:tav tm="100000">
                                          <p:val>
                                            <p:strVal val="#ppt_x"/>
                                          </p:val>
                                        </p:tav>
                                      </p:tavLst>
                                    </p:anim>
                                    <p:anim calcmode="lin" valueType="num">
                                      <p:cBhvr additive="base">
                                        <p:cTn id="84" dur="500" fill="hold"/>
                                        <p:tgtEl>
                                          <p:spTgt spid="26"/>
                                        </p:tgtEl>
                                        <p:attrNameLst>
                                          <p:attrName>ppt_y</p:attrName>
                                        </p:attrNameLst>
                                      </p:cBhvr>
                                      <p:tavLst>
                                        <p:tav tm="0">
                                          <p:val>
                                            <p:strVal val="#ppt_y+0.1"/>
                                          </p:val>
                                        </p:tav>
                                        <p:tav tm="100000">
                                          <p:val>
                                            <p:strVal val="#ppt_y"/>
                                          </p:val>
                                        </p:tav>
                                      </p:tavLst>
                                    </p:anim>
                                    <p:animEffect transition="in" filter="fade">
                                      <p:cBhvr>
                                        <p:cTn id="85" dur="500"/>
                                        <p:tgtEl>
                                          <p:spTgt spid="26"/>
                                        </p:tgtEl>
                                      </p:cBhvr>
                                    </p:animEffect>
                                  </p:childTnLst>
                                </p:cTn>
                              </p:par>
                              <p:par>
                                <p:cTn id="91" presetID="2" presetClass="entr" presetSubtype="4" fill="hold" grpId="0" nodeType="withEffect">
                                  <p:stCondLst>
                                    <p:cond delay="0"/>
                                  </p:stCondLst>
                                  <p:childTnLst>
                                    <p:set>
                                      <p:cBhvr>
                                        <p:cTn id="87" dur="1" fill="hold">
                                          <p:stCondLst>
                                            <p:cond delay="0"/>
                                          </p:stCondLst>
                                        </p:cTn>
                                        <p:tgtEl>
                                          <p:spTgt spid="27"/>
                                        </p:tgtEl>
                                        <p:attrNameLst>
                                          <p:attrName>style.visibility</p:attrName>
                                        </p:attrNameLst>
                                      </p:cBhvr>
                                      <p:to>
                                        <p:strVal val="visible"/>
                                      </p:to>
                                    </p:set>
                                    <p:anim calcmode="lin" valueType="num">
                                      <p:cBhvr additive="base">
                                        <p:cTn id="88" dur="500" fill="hold"/>
                                        <p:tgtEl>
                                          <p:spTgt spid="27"/>
                                        </p:tgtEl>
                                        <p:attrNameLst>
                                          <p:attrName>ppt_x</p:attrName>
                                        </p:attrNameLst>
                                      </p:cBhvr>
                                      <p:tavLst>
                                        <p:tav tm="0">
                                          <p:val>
                                            <p:strVal val="#ppt_x"/>
                                          </p:val>
                                        </p:tav>
                                        <p:tav tm="100000">
                                          <p:val>
                                            <p:strVal val="#ppt_x"/>
                                          </p:val>
                                        </p:tav>
                                      </p:tavLst>
                                    </p:anim>
                                    <p:anim calcmode="lin" valueType="num">
                                      <p:cBhvr additive="base">
                                        <p:cTn id="89" dur="500" fill="hold"/>
                                        <p:tgtEl>
                                          <p:spTgt spid="27"/>
                                        </p:tgtEl>
                                        <p:attrNameLst>
                                          <p:attrName>ppt_y</p:attrName>
                                        </p:attrNameLst>
                                      </p:cBhvr>
                                      <p:tavLst>
                                        <p:tav tm="0">
                                          <p:val>
                                            <p:strVal val="#ppt_y+0.1"/>
                                          </p:val>
                                        </p:tav>
                                        <p:tav tm="100000">
                                          <p:val>
                                            <p:strVal val="#ppt_y"/>
                                          </p:val>
                                        </p:tav>
                                      </p:tavLst>
                                    </p:anim>
                                    <p:animEffect transition="in" filter="fade">
                                      <p:cBhvr>
                                        <p:cTn id="90" dur="500"/>
                                        <p:tgtEl>
                                          <p:spTgt spid="27"/>
                                        </p:tgtEl>
                                      </p:cBhvr>
                                    </p:animEffect>
                                  </p:childTnLst>
                                </p:cTn>
                              </p:par>
                              <p:par>
                                <p:cTn id="96" presetID="2" presetClass="entr" presetSubtype="4" fill="hold" grpId="0" nodeType="withEffect">
                                  <p:stCondLst>
                                    <p:cond delay="0"/>
                                  </p:stCondLst>
                                  <p:childTnLst>
                                    <p:set>
                                      <p:cBhvr>
                                        <p:cTn id="92" dur="1" fill="hold">
                                          <p:stCondLst>
                                            <p:cond delay="0"/>
                                          </p:stCondLst>
                                        </p:cTn>
                                        <p:tgtEl>
                                          <p:spTgt spid="28"/>
                                        </p:tgtEl>
                                        <p:attrNameLst>
                                          <p:attrName>style.visibility</p:attrName>
                                        </p:attrNameLst>
                                      </p:cBhvr>
                                      <p:to>
                                        <p:strVal val="visible"/>
                                      </p:to>
                                    </p:set>
                                    <p:anim calcmode="lin" valueType="num">
                                      <p:cBhvr additive="base">
                                        <p:cTn id="93" dur="500" fill="hold"/>
                                        <p:tgtEl>
                                          <p:spTgt spid="28"/>
                                        </p:tgtEl>
                                        <p:attrNameLst>
                                          <p:attrName>ppt_x</p:attrName>
                                        </p:attrNameLst>
                                      </p:cBhvr>
                                      <p:tavLst>
                                        <p:tav tm="0">
                                          <p:val>
                                            <p:strVal val="#ppt_x"/>
                                          </p:val>
                                        </p:tav>
                                        <p:tav tm="100000">
                                          <p:val>
                                            <p:strVal val="#ppt_x"/>
                                          </p:val>
                                        </p:tav>
                                      </p:tavLst>
                                    </p:anim>
                                    <p:anim calcmode="lin" valueType="num">
                                      <p:cBhvr additive="base">
                                        <p:cTn id="94" dur="500" fill="hold"/>
                                        <p:tgtEl>
                                          <p:spTgt spid="28"/>
                                        </p:tgtEl>
                                        <p:attrNameLst>
                                          <p:attrName>ppt_y</p:attrName>
                                        </p:attrNameLst>
                                      </p:cBhvr>
                                      <p:tavLst>
                                        <p:tav tm="0">
                                          <p:val>
                                            <p:strVal val="#ppt_y+0.1"/>
                                          </p:val>
                                        </p:tav>
                                        <p:tav tm="100000">
                                          <p:val>
                                            <p:strVal val="#ppt_y"/>
                                          </p:val>
                                        </p:tav>
                                      </p:tavLst>
                                    </p:anim>
                                    <p:animEffect transition="in" filter="fade">
                                      <p:cBhvr>
                                        <p:cTn id="95" dur="500"/>
                                        <p:tgtEl>
                                          <p:spTgt spid="28"/>
                                        </p:tgtEl>
                                      </p:cBhvr>
                                    </p:animEffect>
                                  </p:childTnLst>
                                </p:cTn>
                              </p:par>
                              <p:par>
                                <p:cTn id="101" presetID="2" presetClass="entr" presetSubtype="4" fill="hold" grpId="0" nodeType="withEffect">
                                  <p:stCondLst>
                                    <p:cond delay="0"/>
                                  </p:stCondLst>
                                  <p:childTnLst>
                                    <p:set>
                                      <p:cBhvr>
                                        <p:cTn id="97" dur="1" fill="hold">
                                          <p:stCondLst>
                                            <p:cond delay="0"/>
                                          </p:stCondLst>
                                        </p:cTn>
                                        <p:tgtEl>
                                          <p:spTgt spid="29"/>
                                        </p:tgtEl>
                                        <p:attrNameLst>
                                          <p:attrName>style.visibility</p:attrName>
                                        </p:attrNameLst>
                                      </p:cBhvr>
                                      <p:to>
                                        <p:strVal val="visible"/>
                                      </p:to>
                                    </p:set>
                                    <p:anim calcmode="lin" valueType="num">
                                      <p:cBhvr additive="base">
                                        <p:cTn id="98" dur="500" fill="hold"/>
                                        <p:tgtEl>
                                          <p:spTgt spid="29"/>
                                        </p:tgtEl>
                                        <p:attrNameLst>
                                          <p:attrName>ppt_x</p:attrName>
                                        </p:attrNameLst>
                                      </p:cBhvr>
                                      <p:tavLst>
                                        <p:tav tm="0">
                                          <p:val>
                                            <p:strVal val="#ppt_x"/>
                                          </p:val>
                                        </p:tav>
                                        <p:tav tm="100000">
                                          <p:val>
                                            <p:strVal val="#ppt_x"/>
                                          </p:val>
                                        </p:tav>
                                      </p:tavLst>
                                    </p:anim>
                                    <p:anim calcmode="lin" valueType="num">
                                      <p:cBhvr additive="base">
                                        <p:cTn id="99" dur="500" fill="hold"/>
                                        <p:tgtEl>
                                          <p:spTgt spid="29"/>
                                        </p:tgtEl>
                                        <p:attrNameLst>
                                          <p:attrName>ppt_y</p:attrName>
                                        </p:attrNameLst>
                                      </p:cBhvr>
                                      <p:tavLst>
                                        <p:tav tm="0">
                                          <p:val>
                                            <p:strVal val="#ppt_y+0.1"/>
                                          </p:val>
                                        </p:tav>
                                        <p:tav tm="100000">
                                          <p:val>
                                            <p:strVal val="#ppt_y"/>
                                          </p:val>
                                        </p:tav>
                                      </p:tavLst>
                                    </p:anim>
                                    <p:animEffect transition="in" filter="fade">
                                      <p:cBhvr>
                                        <p:cTn id="100" dur="500"/>
                                        <p:tgtEl>
                                          <p:spTgt spid="29"/>
                                        </p:tgtEl>
                                      </p:cBhvr>
                                    </p:animEffect>
                                  </p:childTnLst>
                                </p:cTn>
                              </p:par>
                              <p:par>
                                <p:cTn id="106" presetID="2" presetClass="entr" presetSubtype="4" fill="hold" grpId="0" nodeType="withEffect">
                                  <p:stCondLst>
                                    <p:cond delay="0"/>
                                  </p:stCondLst>
                                  <p:childTnLst>
                                    <p:set>
                                      <p:cBhvr>
                                        <p:cTn id="102" dur="1" fill="hold">
                                          <p:stCondLst>
                                            <p:cond delay="0"/>
                                          </p:stCondLst>
                                        </p:cTn>
                                        <p:tgtEl>
                                          <p:spTgt spid="30"/>
                                        </p:tgtEl>
                                        <p:attrNameLst>
                                          <p:attrName>style.visibility</p:attrName>
                                        </p:attrNameLst>
                                      </p:cBhvr>
                                      <p:to>
                                        <p:strVal val="visible"/>
                                      </p:to>
                                    </p:set>
                                    <p:anim calcmode="lin" valueType="num">
                                      <p:cBhvr additive="base">
                                        <p:cTn id="103" dur="500" fill="hold"/>
                                        <p:tgtEl>
                                          <p:spTgt spid="30"/>
                                        </p:tgtEl>
                                        <p:attrNameLst>
                                          <p:attrName>ppt_x</p:attrName>
                                        </p:attrNameLst>
                                      </p:cBhvr>
                                      <p:tavLst>
                                        <p:tav tm="0">
                                          <p:val>
                                            <p:strVal val="#ppt_x"/>
                                          </p:val>
                                        </p:tav>
                                        <p:tav tm="100000">
                                          <p:val>
                                            <p:strVal val="#ppt_x"/>
                                          </p:val>
                                        </p:tav>
                                      </p:tavLst>
                                    </p:anim>
                                    <p:anim calcmode="lin" valueType="num">
                                      <p:cBhvr additive="base">
                                        <p:cTn id="104" dur="500" fill="hold"/>
                                        <p:tgtEl>
                                          <p:spTgt spid="30"/>
                                        </p:tgtEl>
                                        <p:attrNameLst>
                                          <p:attrName>ppt_y</p:attrName>
                                        </p:attrNameLst>
                                      </p:cBhvr>
                                      <p:tavLst>
                                        <p:tav tm="0">
                                          <p:val>
                                            <p:strVal val="#ppt_y+0.1"/>
                                          </p:val>
                                        </p:tav>
                                        <p:tav tm="100000">
                                          <p:val>
                                            <p:strVal val="#ppt_y"/>
                                          </p:val>
                                        </p:tav>
                                      </p:tavLst>
                                    </p:anim>
                                    <p:animEffect transition="in" filter="fade">
                                      <p:cBhvr>
                                        <p:cTn id="105" dur="500"/>
                                        <p:tgtEl>
                                          <p:spTgt spid="30"/>
                                        </p:tgtEl>
                                      </p:cBhvr>
                                    </p:animEffect>
                                  </p:childTnLst>
                                </p:cTn>
                              </p:par>
                              <p:par>
                                <p:cTn id="111" presetID="2" presetClass="entr" presetSubtype="4" fill="hold" grpId="0" nodeType="withEffect">
                                  <p:stCondLst>
                                    <p:cond delay="0"/>
                                  </p:stCondLst>
                                  <p:childTnLst>
                                    <p:set>
                                      <p:cBhvr>
                                        <p:cTn id="107" dur="1" fill="hold">
                                          <p:stCondLst>
                                            <p:cond delay="0"/>
                                          </p:stCondLst>
                                        </p:cTn>
                                        <p:tgtEl>
                                          <p:spTgt spid="31"/>
                                        </p:tgtEl>
                                        <p:attrNameLst>
                                          <p:attrName>style.visibility</p:attrName>
                                        </p:attrNameLst>
                                      </p:cBhvr>
                                      <p:to>
                                        <p:strVal val="visible"/>
                                      </p:to>
                                    </p:set>
                                    <p:anim calcmode="lin" valueType="num">
                                      <p:cBhvr additive="base">
                                        <p:cTn id="108" dur="500" fill="hold"/>
                                        <p:tgtEl>
                                          <p:spTgt spid="31"/>
                                        </p:tgtEl>
                                        <p:attrNameLst>
                                          <p:attrName>ppt_x</p:attrName>
                                        </p:attrNameLst>
                                      </p:cBhvr>
                                      <p:tavLst>
                                        <p:tav tm="0">
                                          <p:val>
                                            <p:strVal val="#ppt_x"/>
                                          </p:val>
                                        </p:tav>
                                        <p:tav tm="100000">
                                          <p:val>
                                            <p:strVal val="#ppt_x"/>
                                          </p:val>
                                        </p:tav>
                                      </p:tavLst>
                                    </p:anim>
                                    <p:anim calcmode="lin" valueType="num">
                                      <p:cBhvr additive="base">
                                        <p:cTn id="109" dur="500" fill="hold"/>
                                        <p:tgtEl>
                                          <p:spTgt spid="31"/>
                                        </p:tgtEl>
                                        <p:attrNameLst>
                                          <p:attrName>ppt_y</p:attrName>
                                        </p:attrNameLst>
                                      </p:cBhvr>
                                      <p:tavLst>
                                        <p:tav tm="0">
                                          <p:val>
                                            <p:strVal val="#ppt_y+0.1"/>
                                          </p:val>
                                        </p:tav>
                                        <p:tav tm="100000">
                                          <p:val>
                                            <p:strVal val="#ppt_y"/>
                                          </p:val>
                                        </p:tav>
                                      </p:tavLst>
                                    </p:anim>
                                    <p:animEffect transition="in" filter="fade">
                                      <p:cBhvr>
                                        <p:cTn id="110" dur="500"/>
                                        <p:tgtEl>
                                          <p:spTgt spid="31"/>
                                        </p:tgtEl>
                                      </p:cBhvr>
                                    </p:animEffect>
                                  </p:childTnLst>
                                </p:cTn>
                              </p:par>
                              <p:par>
                                <p:cTn id="116" presetID="2" presetClass="entr" presetSubtype="4" fill="hold" grpId="0" nodeType="withEffect">
                                  <p:stCondLst>
                                    <p:cond delay="0"/>
                                  </p:stCondLst>
                                  <p:childTnLst>
                                    <p:set>
                                      <p:cBhvr>
                                        <p:cTn id="112" dur="1" fill="hold">
                                          <p:stCondLst>
                                            <p:cond delay="0"/>
                                          </p:stCondLst>
                                        </p:cTn>
                                        <p:tgtEl>
                                          <p:spTgt spid="32"/>
                                        </p:tgtEl>
                                        <p:attrNameLst>
                                          <p:attrName>style.visibility</p:attrName>
                                        </p:attrNameLst>
                                      </p:cBhvr>
                                      <p:to>
                                        <p:strVal val="visible"/>
                                      </p:to>
                                    </p:set>
                                    <p:anim calcmode="lin" valueType="num">
                                      <p:cBhvr additive="base">
                                        <p:cTn id="113" dur="500" fill="hold"/>
                                        <p:tgtEl>
                                          <p:spTgt spid="32"/>
                                        </p:tgtEl>
                                        <p:attrNameLst>
                                          <p:attrName>ppt_x</p:attrName>
                                        </p:attrNameLst>
                                      </p:cBhvr>
                                      <p:tavLst>
                                        <p:tav tm="0">
                                          <p:val>
                                            <p:strVal val="#ppt_x"/>
                                          </p:val>
                                        </p:tav>
                                        <p:tav tm="100000">
                                          <p:val>
                                            <p:strVal val="#ppt_x"/>
                                          </p:val>
                                        </p:tav>
                                      </p:tavLst>
                                    </p:anim>
                                    <p:anim calcmode="lin" valueType="num">
                                      <p:cBhvr additive="base">
                                        <p:cTn id="114" dur="500" fill="hold"/>
                                        <p:tgtEl>
                                          <p:spTgt spid="32"/>
                                        </p:tgtEl>
                                        <p:attrNameLst>
                                          <p:attrName>ppt_y</p:attrName>
                                        </p:attrNameLst>
                                      </p:cBhvr>
                                      <p:tavLst>
                                        <p:tav tm="0">
                                          <p:val>
                                            <p:strVal val="#ppt_y+0.1"/>
                                          </p:val>
                                        </p:tav>
                                        <p:tav tm="100000">
                                          <p:val>
                                            <p:strVal val="#ppt_y"/>
                                          </p:val>
                                        </p:tav>
                                      </p:tavLst>
                                    </p:anim>
                                    <p:animEffect transition="in" filter="fade">
                                      <p:cBhvr>
                                        <p:cTn id="115" dur="500"/>
                                        <p:tgtEl>
                                          <p:spTgt spid="32"/>
                                        </p:tgtEl>
                                      </p:cBhvr>
                                    </p:animEffect>
                                  </p:childTnLst>
                                </p:cTn>
                              </p:par>
                              <p:par>
                                <p:cTn id="121" presetID="2" presetClass="entr" presetSubtype="4" fill="hold" grpId="0" nodeType="withEffect">
                                  <p:stCondLst>
                                    <p:cond delay="0"/>
                                  </p:stCondLst>
                                  <p:childTnLst>
                                    <p:set>
                                      <p:cBhvr>
                                        <p:cTn id="117" dur="1" fill="hold">
                                          <p:stCondLst>
                                            <p:cond delay="0"/>
                                          </p:stCondLst>
                                        </p:cTn>
                                        <p:tgtEl>
                                          <p:spTgt spid="33"/>
                                        </p:tgtEl>
                                        <p:attrNameLst>
                                          <p:attrName>style.visibility</p:attrName>
                                        </p:attrNameLst>
                                      </p:cBhvr>
                                      <p:to>
                                        <p:strVal val="visible"/>
                                      </p:to>
                                    </p:set>
                                    <p:anim calcmode="lin" valueType="num">
                                      <p:cBhvr additive="base">
                                        <p:cTn id="118" dur="500" fill="hold"/>
                                        <p:tgtEl>
                                          <p:spTgt spid="33"/>
                                        </p:tgtEl>
                                        <p:attrNameLst>
                                          <p:attrName>ppt_x</p:attrName>
                                        </p:attrNameLst>
                                      </p:cBhvr>
                                      <p:tavLst>
                                        <p:tav tm="0">
                                          <p:val>
                                            <p:strVal val="#ppt_x"/>
                                          </p:val>
                                        </p:tav>
                                        <p:tav tm="100000">
                                          <p:val>
                                            <p:strVal val="#ppt_x"/>
                                          </p:val>
                                        </p:tav>
                                      </p:tavLst>
                                    </p:anim>
                                    <p:anim calcmode="lin" valueType="num">
                                      <p:cBhvr additive="base">
                                        <p:cTn id="119" dur="500" fill="hold"/>
                                        <p:tgtEl>
                                          <p:spTgt spid="33"/>
                                        </p:tgtEl>
                                        <p:attrNameLst>
                                          <p:attrName>ppt_y</p:attrName>
                                        </p:attrNameLst>
                                      </p:cBhvr>
                                      <p:tavLst>
                                        <p:tav tm="0">
                                          <p:val>
                                            <p:strVal val="#ppt_y+0.1"/>
                                          </p:val>
                                        </p:tav>
                                        <p:tav tm="100000">
                                          <p:val>
                                            <p:strVal val="#ppt_y"/>
                                          </p:val>
                                        </p:tav>
                                      </p:tavLst>
                                    </p:anim>
                                    <p:animEffect transition="in" filter="fade">
                                      <p:cBhvr>
                                        <p:cTn id="120" dur="500"/>
                                        <p:tgtEl>
                                          <p:spTgt spid="33"/>
                                        </p:tgtEl>
                                      </p:cBhvr>
                                    </p:animEffect>
                                  </p:childTnLst>
                                </p:cTn>
                              </p:par>
                            </p:childTnLst>
                          </p:cTn>
                        </p:par>
                      </p:childTnLst>
                    </p:cTn>
                  </p:par>
                  <p:par>
                    <p:cTn id="122" fill="hold">
                      <p:stCondLst>
                        <p:cond delay="indefinite"/>
                      </p:stCondLst>
                      <p:childTnLst>
                        <p:par>
                          <p:cTn id="123" fill="hold">
                            <p:stCondLst>
                              <p:cond delay="0"/>
                            </p:stCondLst>
                            <p:childTnLst>
                              <p:par>
                                <p:cTn id="128" presetID="2" presetClass="entr" presetSubtype="4" fill="hold" grpId="0" nodeType="clickEffect">
                                  <p:stCondLst>
                                    <p:cond delay="0"/>
                                  </p:stCondLst>
                                  <p:childTnLst>
                                    <p:set>
                                      <p:cBhvr>
                                        <p:cTn id="124" dur="1" fill="hold">
                                          <p:stCondLst>
                                            <p:cond delay="0"/>
                                          </p:stCondLst>
                                        </p:cTn>
                                        <p:tgtEl>
                                          <p:spTgt spid="34"/>
                                        </p:tgtEl>
                                        <p:attrNameLst>
                                          <p:attrName>style.visibility</p:attrName>
                                        </p:attrNameLst>
                                      </p:cBhvr>
                                      <p:to>
                                        <p:strVal val="visible"/>
                                      </p:to>
                                    </p:set>
                                    <p:anim calcmode="lin" valueType="num">
                                      <p:cBhvr additive="base">
                                        <p:cTn id="125" dur="500" fill="hold"/>
                                        <p:tgtEl>
                                          <p:spTgt spid="34"/>
                                        </p:tgtEl>
                                        <p:attrNameLst>
                                          <p:attrName>ppt_x</p:attrName>
                                        </p:attrNameLst>
                                      </p:cBhvr>
                                      <p:tavLst>
                                        <p:tav tm="0">
                                          <p:val>
                                            <p:strVal val="#ppt_x"/>
                                          </p:val>
                                        </p:tav>
                                        <p:tav tm="100000">
                                          <p:val>
                                            <p:strVal val="#ppt_x"/>
                                          </p:val>
                                        </p:tav>
                                      </p:tavLst>
                                    </p:anim>
                                    <p:anim calcmode="lin" valueType="num">
                                      <p:cBhvr additive="base">
                                        <p:cTn id="126" dur="500" fill="hold"/>
                                        <p:tgtEl>
                                          <p:spTgt spid="34"/>
                                        </p:tgtEl>
                                        <p:attrNameLst>
                                          <p:attrName>ppt_y</p:attrName>
                                        </p:attrNameLst>
                                      </p:cBhvr>
                                      <p:tavLst>
                                        <p:tav tm="0">
                                          <p:val>
                                            <p:strVal val="#ppt_y+0.1"/>
                                          </p:val>
                                        </p:tav>
                                        <p:tav tm="100000">
                                          <p:val>
                                            <p:strVal val="#ppt_y"/>
                                          </p:val>
                                        </p:tav>
                                      </p:tavLst>
                                    </p:anim>
                                    <p:animEffect transition="in" filter="fade">
                                      <p:cBhvr>
                                        <p:cTn id="127" dur="500"/>
                                        <p:tgtEl>
                                          <p:spTgt spid="34"/>
                                        </p:tgtEl>
                                      </p:cBhvr>
                                    </p:animEffect>
                                  </p:childTnLst>
                                </p:cTn>
                              </p:par>
                              <p:par>
                                <p:cTn id="133" presetID="2" presetClass="entr" presetSubtype="4" fill="hold" grpId="0" nodeType="withEffect">
                                  <p:stCondLst>
                                    <p:cond delay="0"/>
                                  </p:stCondLst>
                                  <p:childTnLst>
                                    <p:set>
                                      <p:cBhvr>
                                        <p:cTn id="129" dur="1" fill="hold">
                                          <p:stCondLst>
                                            <p:cond delay="0"/>
                                          </p:stCondLst>
                                        </p:cTn>
                                        <p:tgtEl>
                                          <p:spTgt spid="35"/>
                                        </p:tgtEl>
                                        <p:attrNameLst>
                                          <p:attrName>style.visibility</p:attrName>
                                        </p:attrNameLst>
                                      </p:cBhvr>
                                      <p:to>
                                        <p:strVal val="visible"/>
                                      </p:to>
                                    </p:set>
                                    <p:anim calcmode="lin" valueType="num">
                                      <p:cBhvr additive="base">
                                        <p:cTn id="130" dur="500" fill="hold"/>
                                        <p:tgtEl>
                                          <p:spTgt spid="35"/>
                                        </p:tgtEl>
                                        <p:attrNameLst>
                                          <p:attrName>ppt_x</p:attrName>
                                        </p:attrNameLst>
                                      </p:cBhvr>
                                      <p:tavLst>
                                        <p:tav tm="0">
                                          <p:val>
                                            <p:strVal val="#ppt_x"/>
                                          </p:val>
                                        </p:tav>
                                        <p:tav tm="100000">
                                          <p:val>
                                            <p:strVal val="#ppt_x"/>
                                          </p:val>
                                        </p:tav>
                                      </p:tavLst>
                                    </p:anim>
                                    <p:anim calcmode="lin" valueType="num">
                                      <p:cBhvr additive="base">
                                        <p:cTn id="131" dur="500" fill="hold"/>
                                        <p:tgtEl>
                                          <p:spTgt spid="35"/>
                                        </p:tgtEl>
                                        <p:attrNameLst>
                                          <p:attrName>ppt_y</p:attrName>
                                        </p:attrNameLst>
                                      </p:cBhvr>
                                      <p:tavLst>
                                        <p:tav tm="0">
                                          <p:val>
                                            <p:strVal val="#ppt_y+0.1"/>
                                          </p:val>
                                        </p:tav>
                                        <p:tav tm="100000">
                                          <p:val>
                                            <p:strVal val="#ppt_y"/>
                                          </p:val>
                                        </p:tav>
                                      </p:tavLst>
                                    </p:anim>
                                    <p:animEffect transition="in" filter="fade">
                                      <p:cBhvr>
                                        <p:cTn id="132" dur="500"/>
                                        <p:tgtEl>
                                          <p:spTgt spid="35"/>
                                        </p:tgtEl>
                                      </p:cBhvr>
                                    </p:animEffect>
                                  </p:childTnLst>
                                </p:cTn>
                              </p:par>
                              <p:par>
                                <p:cTn id="138" presetID="2" presetClass="entr" presetSubtype="4" fill="hold" grpId="0" nodeType="withEffect">
                                  <p:stCondLst>
                                    <p:cond delay="0"/>
                                  </p:stCondLst>
                                  <p:childTnLst>
                                    <p:set>
                                      <p:cBhvr>
                                        <p:cTn id="134" dur="1" fill="hold">
                                          <p:stCondLst>
                                            <p:cond delay="0"/>
                                          </p:stCondLst>
                                        </p:cTn>
                                        <p:tgtEl>
                                          <p:spTgt spid="36"/>
                                        </p:tgtEl>
                                        <p:attrNameLst>
                                          <p:attrName>style.visibility</p:attrName>
                                        </p:attrNameLst>
                                      </p:cBhvr>
                                      <p:to>
                                        <p:strVal val="visible"/>
                                      </p:to>
                                    </p:set>
                                    <p:anim calcmode="lin" valueType="num">
                                      <p:cBhvr additive="base">
                                        <p:cTn id="135" dur="500" fill="hold"/>
                                        <p:tgtEl>
                                          <p:spTgt spid="36"/>
                                        </p:tgtEl>
                                        <p:attrNameLst>
                                          <p:attrName>ppt_x</p:attrName>
                                        </p:attrNameLst>
                                      </p:cBhvr>
                                      <p:tavLst>
                                        <p:tav tm="0">
                                          <p:val>
                                            <p:strVal val="#ppt_x"/>
                                          </p:val>
                                        </p:tav>
                                        <p:tav tm="100000">
                                          <p:val>
                                            <p:strVal val="#ppt_x"/>
                                          </p:val>
                                        </p:tav>
                                      </p:tavLst>
                                    </p:anim>
                                    <p:anim calcmode="lin" valueType="num">
                                      <p:cBhvr additive="base">
                                        <p:cTn id="136" dur="500" fill="hold"/>
                                        <p:tgtEl>
                                          <p:spTgt spid="36"/>
                                        </p:tgtEl>
                                        <p:attrNameLst>
                                          <p:attrName>ppt_y</p:attrName>
                                        </p:attrNameLst>
                                      </p:cBhvr>
                                      <p:tavLst>
                                        <p:tav tm="0">
                                          <p:val>
                                            <p:strVal val="#ppt_y+0.1"/>
                                          </p:val>
                                        </p:tav>
                                        <p:tav tm="100000">
                                          <p:val>
                                            <p:strVal val="#ppt_y"/>
                                          </p:val>
                                        </p:tav>
                                      </p:tavLst>
                                    </p:anim>
                                    <p:animEffect transition="in" filter="fade">
                                      <p:cBhvr>
                                        <p:cTn id="137" dur="500"/>
                                        <p:tgtEl>
                                          <p:spTgt spid="36"/>
                                        </p:tgtEl>
                                      </p:cBhvr>
                                    </p:animEffect>
                                  </p:childTnLst>
                                </p:cTn>
                              </p:par>
                              <p:par>
                                <p:cTn id="143" presetID="2" presetClass="entr" presetSubtype="4" fill="hold" grpId="0" nodeType="withEffect">
                                  <p:stCondLst>
                                    <p:cond delay="0"/>
                                  </p:stCondLst>
                                  <p:childTnLst>
                                    <p:set>
                                      <p:cBhvr>
                                        <p:cTn id="139" dur="1" fill="hold">
                                          <p:stCondLst>
                                            <p:cond delay="0"/>
                                          </p:stCondLst>
                                        </p:cTn>
                                        <p:tgtEl>
                                          <p:spTgt spid="37"/>
                                        </p:tgtEl>
                                        <p:attrNameLst>
                                          <p:attrName>style.visibility</p:attrName>
                                        </p:attrNameLst>
                                      </p:cBhvr>
                                      <p:to>
                                        <p:strVal val="visible"/>
                                      </p:to>
                                    </p:set>
                                    <p:anim calcmode="lin" valueType="num">
                                      <p:cBhvr additive="base">
                                        <p:cTn id="140" dur="500" fill="hold"/>
                                        <p:tgtEl>
                                          <p:spTgt spid="37"/>
                                        </p:tgtEl>
                                        <p:attrNameLst>
                                          <p:attrName>ppt_x</p:attrName>
                                        </p:attrNameLst>
                                      </p:cBhvr>
                                      <p:tavLst>
                                        <p:tav tm="0">
                                          <p:val>
                                            <p:strVal val="#ppt_x"/>
                                          </p:val>
                                        </p:tav>
                                        <p:tav tm="100000">
                                          <p:val>
                                            <p:strVal val="#ppt_x"/>
                                          </p:val>
                                        </p:tav>
                                      </p:tavLst>
                                    </p:anim>
                                    <p:anim calcmode="lin" valueType="num">
                                      <p:cBhvr additive="base">
                                        <p:cTn id="141" dur="500" fill="hold"/>
                                        <p:tgtEl>
                                          <p:spTgt spid="37"/>
                                        </p:tgtEl>
                                        <p:attrNameLst>
                                          <p:attrName>ppt_y</p:attrName>
                                        </p:attrNameLst>
                                      </p:cBhvr>
                                      <p:tavLst>
                                        <p:tav tm="0">
                                          <p:val>
                                            <p:strVal val="#ppt_y+0.1"/>
                                          </p:val>
                                        </p:tav>
                                        <p:tav tm="100000">
                                          <p:val>
                                            <p:strVal val="#ppt_y"/>
                                          </p:val>
                                        </p:tav>
                                      </p:tavLst>
                                    </p:anim>
                                    <p:animEffect transition="in" filter="fade">
                                      <p:cBhvr>
                                        <p:cTn id="142" dur="500"/>
                                        <p:tgtEl>
                                          <p:spTgt spid="37"/>
                                        </p:tgtEl>
                                      </p:cBhvr>
                                    </p:animEffect>
                                  </p:childTnLst>
                                </p:cTn>
                              </p:par>
                              <p:par>
                                <p:cTn id="148" presetID="2" presetClass="entr" presetSubtype="4" fill="hold" grpId="0" nodeType="withEffect">
                                  <p:stCondLst>
                                    <p:cond delay="0"/>
                                  </p:stCondLst>
                                  <p:childTnLst>
                                    <p:set>
                                      <p:cBhvr>
                                        <p:cTn id="144" dur="1" fill="hold">
                                          <p:stCondLst>
                                            <p:cond delay="0"/>
                                          </p:stCondLst>
                                        </p:cTn>
                                        <p:tgtEl>
                                          <p:spTgt spid="38"/>
                                        </p:tgtEl>
                                        <p:attrNameLst>
                                          <p:attrName>style.visibility</p:attrName>
                                        </p:attrNameLst>
                                      </p:cBhvr>
                                      <p:to>
                                        <p:strVal val="visible"/>
                                      </p:to>
                                    </p:set>
                                    <p:anim calcmode="lin" valueType="num">
                                      <p:cBhvr additive="base">
                                        <p:cTn id="145" dur="500" fill="hold"/>
                                        <p:tgtEl>
                                          <p:spTgt spid="38"/>
                                        </p:tgtEl>
                                        <p:attrNameLst>
                                          <p:attrName>ppt_x</p:attrName>
                                        </p:attrNameLst>
                                      </p:cBhvr>
                                      <p:tavLst>
                                        <p:tav tm="0">
                                          <p:val>
                                            <p:strVal val="#ppt_x"/>
                                          </p:val>
                                        </p:tav>
                                        <p:tav tm="100000">
                                          <p:val>
                                            <p:strVal val="#ppt_x"/>
                                          </p:val>
                                        </p:tav>
                                      </p:tavLst>
                                    </p:anim>
                                    <p:anim calcmode="lin" valueType="num">
                                      <p:cBhvr additive="base">
                                        <p:cTn id="146" dur="500" fill="hold"/>
                                        <p:tgtEl>
                                          <p:spTgt spid="38"/>
                                        </p:tgtEl>
                                        <p:attrNameLst>
                                          <p:attrName>ppt_y</p:attrName>
                                        </p:attrNameLst>
                                      </p:cBhvr>
                                      <p:tavLst>
                                        <p:tav tm="0">
                                          <p:val>
                                            <p:strVal val="#ppt_y+0.1"/>
                                          </p:val>
                                        </p:tav>
                                        <p:tav tm="100000">
                                          <p:val>
                                            <p:strVal val="#ppt_y"/>
                                          </p:val>
                                        </p:tav>
                                      </p:tavLst>
                                    </p:anim>
                                    <p:animEffect transition="in" filter="fade">
                                      <p:cBhvr>
                                        <p:cTn id="147" dur="500"/>
                                        <p:tgtEl>
                                          <p:spTgt spid="38"/>
                                        </p:tgtEl>
                                      </p:cBhvr>
                                    </p:animEffect>
                                  </p:childTnLst>
                                </p:cTn>
                              </p:par>
                              <p:par>
                                <p:cTn id="153" presetID="2" presetClass="entr" presetSubtype="4" fill="hold" grpId="0" nodeType="withEffect">
                                  <p:stCondLst>
                                    <p:cond delay="0"/>
                                  </p:stCondLst>
                                  <p:childTnLst>
                                    <p:set>
                                      <p:cBhvr>
                                        <p:cTn id="149" dur="1" fill="hold">
                                          <p:stCondLst>
                                            <p:cond delay="0"/>
                                          </p:stCondLst>
                                        </p:cTn>
                                        <p:tgtEl>
                                          <p:spTgt spid="39"/>
                                        </p:tgtEl>
                                        <p:attrNameLst>
                                          <p:attrName>style.visibility</p:attrName>
                                        </p:attrNameLst>
                                      </p:cBhvr>
                                      <p:to>
                                        <p:strVal val="visible"/>
                                      </p:to>
                                    </p:set>
                                    <p:anim calcmode="lin" valueType="num">
                                      <p:cBhvr additive="base">
                                        <p:cTn id="150" dur="500" fill="hold"/>
                                        <p:tgtEl>
                                          <p:spTgt spid="39"/>
                                        </p:tgtEl>
                                        <p:attrNameLst>
                                          <p:attrName>ppt_x</p:attrName>
                                        </p:attrNameLst>
                                      </p:cBhvr>
                                      <p:tavLst>
                                        <p:tav tm="0">
                                          <p:val>
                                            <p:strVal val="#ppt_x"/>
                                          </p:val>
                                        </p:tav>
                                        <p:tav tm="100000">
                                          <p:val>
                                            <p:strVal val="#ppt_x"/>
                                          </p:val>
                                        </p:tav>
                                      </p:tavLst>
                                    </p:anim>
                                    <p:anim calcmode="lin" valueType="num">
                                      <p:cBhvr additive="base">
                                        <p:cTn id="151" dur="500" fill="hold"/>
                                        <p:tgtEl>
                                          <p:spTgt spid="39"/>
                                        </p:tgtEl>
                                        <p:attrNameLst>
                                          <p:attrName>ppt_y</p:attrName>
                                        </p:attrNameLst>
                                      </p:cBhvr>
                                      <p:tavLst>
                                        <p:tav tm="0">
                                          <p:val>
                                            <p:strVal val="#ppt_y+0.1"/>
                                          </p:val>
                                        </p:tav>
                                        <p:tav tm="100000">
                                          <p:val>
                                            <p:strVal val="#ppt_y"/>
                                          </p:val>
                                        </p:tav>
                                      </p:tavLst>
                                    </p:anim>
                                    <p:animEffect transition="in" filter="fade">
                                      <p:cBhvr>
                                        <p:cTn id="152" dur="500"/>
                                        <p:tgtEl>
                                          <p:spTgt spid="39"/>
                                        </p:tgtEl>
                                      </p:cBhvr>
                                    </p:animEffect>
                                  </p:childTnLst>
                                </p:cTn>
                              </p:par>
                              <p:par>
                                <p:cTn id="158" presetID="2" presetClass="entr" presetSubtype="4" fill="hold" grpId="0" nodeType="withEffect">
                                  <p:stCondLst>
                                    <p:cond delay="0"/>
                                  </p:stCondLst>
                                  <p:childTnLst>
                                    <p:set>
                                      <p:cBhvr>
                                        <p:cTn id="154" dur="1" fill="hold">
                                          <p:stCondLst>
                                            <p:cond delay="0"/>
                                          </p:stCondLst>
                                        </p:cTn>
                                        <p:tgtEl>
                                          <p:spTgt spid="40"/>
                                        </p:tgtEl>
                                        <p:attrNameLst>
                                          <p:attrName>style.visibility</p:attrName>
                                        </p:attrNameLst>
                                      </p:cBhvr>
                                      <p:to>
                                        <p:strVal val="visible"/>
                                      </p:to>
                                    </p:set>
                                    <p:anim calcmode="lin" valueType="num">
                                      <p:cBhvr additive="base">
                                        <p:cTn id="155" dur="500" fill="hold"/>
                                        <p:tgtEl>
                                          <p:spTgt spid="40"/>
                                        </p:tgtEl>
                                        <p:attrNameLst>
                                          <p:attrName>ppt_x</p:attrName>
                                        </p:attrNameLst>
                                      </p:cBhvr>
                                      <p:tavLst>
                                        <p:tav tm="0">
                                          <p:val>
                                            <p:strVal val="#ppt_x"/>
                                          </p:val>
                                        </p:tav>
                                        <p:tav tm="100000">
                                          <p:val>
                                            <p:strVal val="#ppt_x"/>
                                          </p:val>
                                        </p:tav>
                                      </p:tavLst>
                                    </p:anim>
                                    <p:anim calcmode="lin" valueType="num">
                                      <p:cBhvr additive="base">
                                        <p:cTn id="156" dur="500" fill="hold"/>
                                        <p:tgtEl>
                                          <p:spTgt spid="40"/>
                                        </p:tgtEl>
                                        <p:attrNameLst>
                                          <p:attrName>ppt_y</p:attrName>
                                        </p:attrNameLst>
                                      </p:cBhvr>
                                      <p:tavLst>
                                        <p:tav tm="0">
                                          <p:val>
                                            <p:strVal val="#ppt_y+0.1"/>
                                          </p:val>
                                        </p:tav>
                                        <p:tav tm="100000">
                                          <p:val>
                                            <p:strVal val="#ppt_y"/>
                                          </p:val>
                                        </p:tav>
                                      </p:tavLst>
                                    </p:anim>
                                    <p:animEffect transition="in" filter="fade">
                                      <p:cBhvr>
                                        <p:cTn id="157" dur="500"/>
                                        <p:tgtEl>
                                          <p:spTgt spid="40"/>
                                        </p:tgtEl>
                                      </p:cBhvr>
                                    </p:animEffect>
                                  </p:childTnLst>
                                </p:cTn>
                              </p:par>
                              <p:par>
                                <p:cTn id="163" presetID="2" presetClass="entr" presetSubtype="4" fill="hold" grpId="0" nodeType="withEffect">
                                  <p:stCondLst>
                                    <p:cond delay="0"/>
                                  </p:stCondLst>
                                  <p:childTnLst>
                                    <p:set>
                                      <p:cBhvr>
                                        <p:cTn id="159" dur="1" fill="hold">
                                          <p:stCondLst>
                                            <p:cond delay="0"/>
                                          </p:stCondLst>
                                        </p:cTn>
                                        <p:tgtEl>
                                          <p:spTgt spid="41"/>
                                        </p:tgtEl>
                                        <p:attrNameLst>
                                          <p:attrName>style.visibility</p:attrName>
                                        </p:attrNameLst>
                                      </p:cBhvr>
                                      <p:to>
                                        <p:strVal val="visible"/>
                                      </p:to>
                                    </p:set>
                                    <p:anim calcmode="lin" valueType="num">
                                      <p:cBhvr additive="base">
                                        <p:cTn id="160" dur="500" fill="hold"/>
                                        <p:tgtEl>
                                          <p:spTgt spid="41"/>
                                        </p:tgtEl>
                                        <p:attrNameLst>
                                          <p:attrName>ppt_x</p:attrName>
                                        </p:attrNameLst>
                                      </p:cBhvr>
                                      <p:tavLst>
                                        <p:tav tm="0">
                                          <p:val>
                                            <p:strVal val="#ppt_x"/>
                                          </p:val>
                                        </p:tav>
                                        <p:tav tm="100000">
                                          <p:val>
                                            <p:strVal val="#ppt_x"/>
                                          </p:val>
                                        </p:tav>
                                      </p:tavLst>
                                    </p:anim>
                                    <p:anim calcmode="lin" valueType="num">
                                      <p:cBhvr additive="base">
                                        <p:cTn id="161" dur="500" fill="hold"/>
                                        <p:tgtEl>
                                          <p:spTgt spid="41"/>
                                        </p:tgtEl>
                                        <p:attrNameLst>
                                          <p:attrName>ppt_y</p:attrName>
                                        </p:attrNameLst>
                                      </p:cBhvr>
                                      <p:tavLst>
                                        <p:tav tm="0">
                                          <p:val>
                                            <p:strVal val="#ppt_y+0.1"/>
                                          </p:val>
                                        </p:tav>
                                        <p:tav tm="100000">
                                          <p:val>
                                            <p:strVal val="#ppt_y"/>
                                          </p:val>
                                        </p:tav>
                                      </p:tavLst>
                                    </p:anim>
                                    <p:animEffect transition="in" filter="fade">
                                      <p:cBhvr>
                                        <p:cTn id="162" dur="500"/>
                                        <p:tgtEl>
                                          <p:spTgt spid="41"/>
                                        </p:tgtEl>
                                      </p:cBhvr>
                                    </p:animEffect>
                                  </p:childTnLst>
                                </p:cTn>
                              </p:par>
                              <p:par>
                                <p:cTn id="168" presetID="2" presetClass="entr" presetSubtype="4" fill="hold" grpId="0" nodeType="withEffect">
                                  <p:stCondLst>
                                    <p:cond delay="0"/>
                                  </p:stCondLst>
                                  <p:childTnLst>
                                    <p:set>
                                      <p:cBhvr>
                                        <p:cTn id="164" dur="1" fill="hold">
                                          <p:stCondLst>
                                            <p:cond delay="0"/>
                                          </p:stCondLst>
                                        </p:cTn>
                                        <p:tgtEl>
                                          <p:spTgt spid="42"/>
                                        </p:tgtEl>
                                        <p:attrNameLst>
                                          <p:attrName>style.visibility</p:attrName>
                                        </p:attrNameLst>
                                      </p:cBhvr>
                                      <p:to>
                                        <p:strVal val="visible"/>
                                      </p:to>
                                    </p:set>
                                    <p:anim calcmode="lin" valueType="num">
                                      <p:cBhvr additive="base">
                                        <p:cTn id="165" dur="500" fill="hold"/>
                                        <p:tgtEl>
                                          <p:spTgt spid="42"/>
                                        </p:tgtEl>
                                        <p:attrNameLst>
                                          <p:attrName>ppt_x</p:attrName>
                                        </p:attrNameLst>
                                      </p:cBhvr>
                                      <p:tavLst>
                                        <p:tav tm="0">
                                          <p:val>
                                            <p:strVal val="#ppt_x"/>
                                          </p:val>
                                        </p:tav>
                                        <p:tav tm="100000">
                                          <p:val>
                                            <p:strVal val="#ppt_x"/>
                                          </p:val>
                                        </p:tav>
                                      </p:tavLst>
                                    </p:anim>
                                    <p:anim calcmode="lin" valueType="num">
                                      <p:cBhvr additive="base">
                                        <p:cTn id="166" dur="500" fill="hold"/>
                                        <p:tgtEl>
                                          <p:spTgt spid="42"/>
                                        </p:tgtEl>
                                        <p:attrNameLst>
                                          <p:attrName>ppt_y</p:attrName>
                                        </p:attrNameLst>
                                      </p:cBhvr>
                                      <p:tavLst>
                                        <p:tav tm="0">
                                          <p:val>
                                            <p:strVal val="#ppt_y+0.1"/>
                                          </p:val>
                                        </p:tav>
                                        <p:tav tm="100000">
                                          <p:val>
                                            <p:strVal val="#ppt_y"/>
                                          </p:val>
                                        </p:tav>
                                      </p:tavLst>
                                    </p:anim>
                                    <p:animEffect transition="in" filter="fade">
                                      <p:cBhvr>
                                        <p:cTn id="167" dur="500"/>
                                        <p:tgtEl>
                                          <p:spTgt spid="42"/>
                                        </p:tgtEl>
                                      </p:cBhvr>
                                    </p:animEffect>
                                  </p:childTnLst>
                                </p:cTn>
                              </p:par>
                              <p:par>
                                <p:cTn id="173" presetID="2" presetClass="entr" presetSubtype="4" fill="hold" grpId="0" nodeType="withEffect">
                                  <p:stCondLst>
                                    <p:cond delay="0"/>
                                  </p:stCondLst>
                                  <p:childTnLst>
                                    <p:set>
                                      <p:cBhvr>
                                        <p:cTn id="169" dur="1" fill="hold">
                                          <p:stCondLst>
                                            <p:cond delay="0"/>
                                          </p:stCondLst>
                                        </p:cTn>
                                        <p:tgtEl>
                                          <p:spTgt spid="43"/>
                                        </p:tgtEl>
                                        <p:attrNameLst>
                                          <p:attrName>style.visibility</p:attrName>
                                        </p:attrNameLst>
                                      </p:cBhvr>
                                      <p:to>
                                        <p:strVal val="visible"/>
                                      </p:to>
                                    </p:set>
                                    <p:anim calcmode="lin" valueType="num">
                                      <p:cBhvr additive="base">
                                        <p:cTn id="170" dur="500" fill="hold"/>
                                        <p:tgtEl>
                                          <p:spTgt spid="43"/>
                                        </p:tgtEl>
                                        <p:attrNameLst>
                                          <p:attrName>ppt_x</p:attrName>
                                        </p:attrNameLst>
                                      </p:cBhvr>
                                      <p:tavLst>
                                        <p:tav tm="0">
                                          <p:val>
                                            <p:strVal val="#ppt_x"/>
                                          </p:val>
                                        </p:tav>
                                        <p:tav tm="100000">
                                          <p:val>
                                            <p:strVal val="#ppt_x"/>
                                          </p:val>
                                        </p:tav>
                                      </p:tavLst>
                                    </p:anim>
                                    <p:anim calcmode="lin" valueType="num">
                                      <p:cBhvr additive="base">
                                        <p:cTn id="171" dur="500" fill="hold"/>
                                        <p:tgtEl>
                                          <p:spTgt spid="43"/>
                                        </p:tgtEl>
                                        <p:attrNameLst>
                                          <p:attrName>ppt_y</p:attrName>
                                        </p:attrNameLst>
                                      </p:cBhvr>
                                      <p:tavLst>
                                        <p:tav tm="0">
                                          <p:val>
                                            <p:strVal val="#ppt_y+0.1"/>
                                          </p:val>
                                        </p:tav>
                                        <p:tav tm="100000">
                                          <p:val>
                                            <p:strVal val="#ppt_y"/>
                                          </p:val>
                                        </p:tav>
                                      </p:tavLst>
                                    </p:anim>
                                    <p:animEffect transition="in" filter="fade">
                                      <p:cBhvr>
                                        <p:cTn id="172" dur="500"/>
                                        <p:tgtEl>
                                          <p:spTgt spid="43"/>
                                        </p:tgtEl>
                                      </p:cBhvr>
                                    </p:animEffect>
                                  </p:childTnLst>
                                </p:cTn>
                              </p:par>
                              <p:par>
                                <p:cTn id="178" presetID="2" presetClass="entr" presetSubtype="4" fill="hold" grpId="0" nodeType="withEffect">
                                  <p:stCondLst>
                                    <p:cond delay="0"/>
                                  </p:stCondLst>
                                  <p:childTnLst>
                                    <p:set>
                                      <p:cBhvr>
                                        <p:cTn id="174" dur="1" fill="hold">
                                          <p:stCondLst>
                                            <p:cond delay="0"/>
                                          </p:stCondLst>
                                        </p:cTn>
                                        <p:tgtEl>
                                          <p:spTgt spid="44"/>
                                        </p:tgtEl>
                                        <p:attrNameLst>
                                          <p:attrName>style.visibility</p:attrName>
                                        </p:attrNameLst>
                                      </p:cBhvr>
                                      <p:to>
                                        <p:strVal val="visible"/>
                                      </p:to>
                                    </p:set>
                                    <p:anim calcmode="lin" valueType="num">
                                      <p:cBhvr additive="base">
                                        <p:cTn id="175" dur="500" fill="hold"/>
                                        <p:tgtEl>
                                          <p:spTgt spid="44"/>
                                        </p:tgtEl>
                                        <p:attrNameLst>
                                          <p:attrName>ppt_x</p:attrName>
                                        </p:attrNameLst>
                                      </p:cBhvr>
                                      <p:tavLst>
                                        <p:tav tm="0">
                                          <p:val>
                                            <p:strVal val="#ppt_x"/>
                                          </p:val>
                                        </p:tav>
                                        <p:tav tm="100000">
                                          <p:val>
                                            <p:strVal val="#ppt_x"/>
                                          </p:val>
                                        </p:tav>
                                      </p:tavLst>
                                    </p:anim>
                                    <p:anim calcmode="lin" valueType="num">
                                      <p:cBhvr additive="base">
                                        <p:cTn id="176" dur="500" fill="hold"/>
                                        <p:tgtEl>
                                          <p:spTgt spid="44"/>
                                        </p:tgtEl>
                                        <p:attrNameLst>
                                          <p:attrName>ppt_y</p:attrName>
                                        </p:attrNameLst>
                                      </p:cBhvr>
                                      <p:tavLst>
                                        <p:tav tm="0">
                                          <p:val>
                                            <p:strVal val="#ppt_y+0.1"/>
                                          </p:val>
                                        </p:tav>
                                        <p:tav tm="100000">
                                          <p:val>
                                            <p:strVal val="#ppt_y"/>
                                          </p:val>
                                        </p:tav>
                                      </p:tavLst>
                                    </p:anim>
                                    <p:animEffect transition="in" filter="fade">
                                      <p:cBhvr>
                                        <p:cTn id="177" dur="500"/>
                                        <p:tgtEl>
                                          <p:spTgt spid="44"/>
                                        </p:tgtEl>
                                      </p:cBhvr>
                                    </p:animEffect>
                                  </p:childTnLst>
                                </p:cTn>
                              </p:par>
                              <p:par>
                                <p:cTn id="183" presetID="2" presetClass="entr" presetSubtype="4" fill="hold" grpId="0" nodeType="withEffect">
                                  <p:stCondLst>
                                    <p:cond delay="0"/>
                                  </p:stCondLst>
                                  <p:childTnLst>
                                    <p:set>
                                      <p:cBhvr>
                                        <p:cTn id="179" dur="1" fill="hold">
                                          <p:stCondLst>
                                            <p:cond delay="0"/>
                                          </p:stCondLst>
                                        </p:cTn>
                                        <p:tgtEl>
                                          <p:spTgt spid="45"/>
                                        </p:tgtEl>
                                        <p:attrNameLst>
                                          <p:attrName>style.visibility</p:attrName>
                                        </p:attrNameLst>
                                      </p:cBhvr>
                                      <p:to>
                                        <p:strVal val="visible"/>
                                      </p:to>
                                    </p:set>
                                    <p:anim calcmode="lin" valueType="num">
                                      <p:cBhvr additive="base">
                                        <p:cTn id="180" dur="500" fill="hold"/>
                                        <p:tgtEl>
                                          <p:spTgt spid="45"/>
                                        </p:tgtEl>
                                        <p:attrNameLst>
                                          <p:attrName>ppt_x</p:attrName>
                                        </p:attrNameLst>
                                      </p:cBhvr>
                                      <p:tavLst>
                                        <p:tav tm="0">
                                          <p:val>
                                            <p:strVal val="#ppt_x"/>
                                          </p:val>
                                        </p:tav>
                                        <p:tav tm="100000">
                                          <p:val>
                                            <p:strVal val="#ppt_x"/>
                                          </p:val>
                                        </p:tav>
                                      </p:tavLst>
                                    </p:anim>
                                    <p:anim calcmode="lin" valueType="num">
                                      <p:cBhvr additive="base">
                                        <p:cTn id="181" dur="500" fill="hold"/>
                                        <p:tgtEl>
                                          <p:spTgt spid="45"/>
                                        </p:tgtEl>
                                        <p:attrNameLst>
                                          <p:attrName>ppt_y</p:attrName>
                                        </p:attrNameLst>
                                      </p:cBhvr>
                                      <p:tavLst>
                                        <p:tav tm="0">
                                          <p:val>
                                            <p:strVal val="#ppt_y+0.1"/>
                                          </p:val>
                                        </p:tav>
                                        <p:tav tm="100000">
                                          <p:val>
                                            <p:strVal val="#ppt_y"/>
                                          </p:val>
                                        </p:tav>
                                      </p:tavLst>
                                    </p:anim>
                                    <p:animEffect transition="in" filter="fade">
                                      <p:cBhvr>
                                        <p:cTn id="182" dur="500"/>
                                        <p:tgtEl>
                                          <p:spTgt spid="45"/>
                                        </p:tgtEl>
                                      </p:cBhvr>
                                    </p:animEffect>
                                  </p:childTnLst>
                                </p:cTn>
                              </p:par>
                            </p:childTnLst>
                          </p:cTn>
                        </p:par>
                      </p:childTnLst>
                    </p:cTn>
                  </p:par>
                  <p:par>
                    <p:cTn id="184" fill="hold">
                      <p:stCondLst>
                        <p:cond delay="indefinite"/>
                      </p:stCondLst>
                      <p:childTnLst>
                        <p:par>
                          <p:cTn id="185" fill="hold">
                            <p:stCondLst>
                              <p:cond delay="0"/>
                            </p:stCondLst>
                            <p:childTnLst>
                              <p:par>
                                <p:cTn id="190" presetID="2" presetClass="entr" presetSubtype="4" fill="hold" grpId="0" nodeType="clickEffect">
                                  <p:stCondLst>
                                    <p:cond delay="0"/>
                                  </p:stCondLst>
                                  <p:childTnLst>
                                    <p:set>
                                      <p:cBhvr>
                                        <p:cTn id="186" dur="1" fill="hold">
                                          <p:stCondLst>
                                            <p:cond delay="0"/>
                                          </p:stCondLst>
                                        </p:cTn>
                                        <p:tgtEl>
                                          <p:spTgt spid="46"/>
                                        </p:tgtEl>
                                        <p:attrNameLst>
                                          <p:attrName>style.visibility</p:attrName>
                                        </p:attrNameLst>
                                      </p:cBhvr>
                                      <p:to>
                                        <p:strVal val="visible"/>
                                      </p:to>
                                    </p:set>
                                    <p:anim calcmode="lin" valueType="num">
                                      <p:cBhvr additive="base">
                                        <p:cTn id="187" dur="500" fill="hold"/>
                                        <p:tgtEl>
                                          <p:spTgt spid="46"/>
                                        </p:tgtEl>
                                        <p:attrNameLst>
                                          <p:attrName>ppt_x</p:attrName>
                                        </p:attrNameLst>
                                      </p:cBhvr>
                                      <p:tavLst>
                                        <p:tav tm="0">
                                          <p:val>
                                            <p:strVal val="#ppt_x"/>
                                          </p:val>
                                        </p:tav>
                                        <p:tav tm="100000">
                                          <p:val>
                                            <p:strVal val="#ppt_x"/>
                                          </p:val>
                                        </p:tav>
                                      </p:tavLst>
                                    </p:anim>
                                    <p:anim calcmode="lin" valueType="num">
                                      <p:cBhvr additive="base">
                                        <p:cTn id="188" dur="500" fill="hold"/>
                                        <p:tgtEl>
                                          <p:spTgt spid="46"/>
                                        </p:tgtEl>
                                        <p:attrNameLst>
                                          <p:attrName>ppt_y</p:attrName>
                                        </p:attrNameLst>
                                      </p:cBhvr>
                                      <p:tavLst>
                                        <p:tav tm="0">
                                          <p:val>
                                            <p:strVal val="#ppt_y+0.1"/>
                                          </p:val>
                                        </p:tav>
                                        <p:tav tm="100000">
                                          <p:val>
                                            <p:strVal val="#ppt_y"/>
                                          </p:val>
                                        </p:tav>
                                      </p:tavLst>
                                    </p:anim>
                                    <p:animEffect transition="in" filter="fade">
                                      <p:cBhvr>
                                        <p:cTn id="189" dur="500"/>
                                        <p:tgtEl>
                                          <p:spTgt spid="46"/>
                                        </p:tgtEl>
                                      </p:cBhvr>
                                    </p:animEffect>
                                  </p:childTnLst>
                                </p:cTn>
                              </p:par>
                              <p:par>
                                <p:cTn id="195" presetID="2" presetClass="entr" presetSubtype="4" fill="hold" grpId="0" nodeType="withEffect">
                                  <p:stCondLst>
                                    <p:cond delay="0"/>
                                  </p:stCondLst>
                                  <p:childTnLst>
                                    <p:set>
                                      <p:cBhvr>
                                        <p:cTn id="191" dur="1" fill="hold">
                                          <p:stCondLst>
                                            <p:cond delay="0"/>
                                          </p:stCondLst>
                                        </p:cTn>
                                        <p:tgtEl>
                                          <p:spTgt spid="47"/>
                                        </p:tgtEl>
                                        <p:attrNameLst>
                                          <p:attrName>style.visibility</p:attrName>
                                        </p:attrNameLst>
                                      </p:cBhvr>
                                      <p:to>
                                        <p:strVal val="visible"/>
                                      </p:to>
                                    </p:set>
                                    <p:anim calcmode="lin" valueType="num">
                                      <p:cBhvr additive="base">
                                        <p:cTn id="192" dur="500" fill="hold"/>
                                        <p:tgtEl>
                                          <p:spTgt spid="47"/>
                                        </p:tgtEl>
                                        <p:attrNameLst>
                                          <p:attrName>ppt_x</p:attrName>
                                        </p:attrNameLst>
                                      </p:cBhvr>
                                      <p:tavLst>
                                        <p:tav tm="0">
                                          <p:val>
                                            <p:strVal val="#ppt_x"/>
                                          </p:val>
                                        </p:tav>
                                        <p:tav tm="100000">
                                          <p:val>
                                            <p:strVal val="#ppt_x"/>
                                          </p:val>
                                        </p:tav>
                                      </p:tavLst>
                                    </p:anim>
                                    <p:anim calcmode="lin" valueType="num">
                                      <p:cBhvr additive="base">
                                        <p:cTn id="193" dur="500" fill="hold"/>
                                        <p:tgtEl>
                                          <p:spTgt spid="47"/>
                                        </p:tgtEl>
                                        <p:attrNameLst>
                                          <p:attrName>ppt_y</p:attrName>
                                        </p:attrNameLst>
                                      </p:cBhvr>
                                      <p:tavLst>
                                        <p:tav tm="0">
                                          <p:val>
                                            <p:strVal val="#ppt_y+0.1"/>
                                          </p:val>
                                        </p:tav>
                                        <p:tav tm="100000">
                                          <p:val>
                                            <p:strVal val="#ppt_y"/>
                                          </p:val>
                                        </p:tav>
                                      </p:tavLst>
                                    </p:anim>
                                    <p:animEffect transition="in" filter="fade">
                                      <p:cBhvr>
                                        <p:cTn id="194" dur="500"/>
                                        <p:tgtEl>
                                          <p:spTgt spid="47"/>
                                        </p:tgtEl>
                                      </p:cBhvr>
                                    </p:animEffect>
                                  </p:childTnLst>
                                </p:cTn>
                              </p:par>
                              <p:par>
                                <p:cTn id="200" presetID="2" presetClass="entr" presetSubtype="4" fill="hold" grpId="0" nodeType="withEffect">
                                  <p:stCondLst>
                                    <p:cond delay="120"/>
                                  </p:stCondLst>
                                  <p:childTnLst>
                                    <p:set>
                                      <p:cBhvr>
                                        <p:cTn id="196" dur="1" fill="hold">
                                          <p:stCondLst>
                                            <p:cond delay="0"/>
                                          </p:stCondLst>
                                        </p:cTn>
                                        <p:tgtEl>
                                          <p:spTgt spid="48"/>
                                        </p:tgtEl>
                                        <p:attrNameLst>
                                          <p:attrName>style.visibility</p:attrName>
                                        </p:attrNameLst>
                                      </p:cBhvr>
                                      <p:to>
                                        <p:strVal val="visible"/>
                                      </p:to>
                                    </p:set>
                                    <p:anim calcmode="lin" valueType="num">
                                      <p:cBhvr additive="base">
                                        <p:cTn id="197" dur="500" fill="hold"/>
                                        <p:tgtEl>
                                          <p:spTgt spid="48"/>
                                        </p:tgtEl>
                                        <p:attrNameLst>
                                          <p:attrName>ppt_x</p:attrName>
                                        </p:attrNameLst>
                                      </p:cBhvr>
                                      <p:tavLst>
                                        <p:tav tm="0">
                                          <p:val>
                                            <p:strVal val="#ppt_x"/>
                                          </p:val>
                                        </p:tav>
                                        <p:tav tm="100000">
                                          <p:val>
                                            <p:strVal val="#ppt_x"/>
                                          </p:val>
                                        </p:tav>
                                      </p:tavLst>
                                    </p:anim>
                                    <p:anim calcmode="lin" valueType="num">
                                      <p:cBhvr additive="base">
                                        <p:cTn id="198" dur="500" fill="hold"/>
                                        <p:tgtEl>
                                          <p:spTgt spid="48"/>
                                        </p:tgtEl>
                                        <p:attrNameLst>
                                          <p:attrName>ppt_y</p:attrName>
                                        </p:attrNameLst>
                                      </p:cBhvr>
                                      <p:tavLst>
                                        <p:tav tm="0">
                                          <p:val>
                                            <p:strVal val="#ppt_y+0.1"/>
                                          </p:val>
                                        </p:tav>
                                        <p:tav tm="100000">
                                          <p:val>
                                            <p:strVal val="#ppt_y"/>
                                          </p:val>
                                        </p:tav>
                                      </p:tavLst>
                                    </p:anim>
                                    <p:animEffect transition="in" filter="fade">
                                      <p:cBhvr>
                                        <p:cTn id="199" dur="500"/>
                                        <p:tgtEl>
                                          <p:spTgt spid="48"/>
                                        </p:tgtEl>
                                      </p:cBhvr>
                                    </p:animEffect>
                                  </p:childTnLst>
                                </p:cTn>
                              </p:par>
                              <p:par>
                                <p:cTn id="205" presetID="2" presetClass="entr" presetSubtype="4" fill="hold" grpId="0" nodeType="withEffect">
                                  <p:stCondLst>
                                    <p:cond delay="120"/>
                                  </p:stCondLst>
                                  <p:childTnLst>
                                    <p:set>
                                      <p:cBhvr>
                                        <p:cTn id="201" dur="1" fill="hold">
                                          <p:stCondLst>
                                            <p:cond delay="0"/>
                                          </p:stCondLst>
                                        </p:cTn>
                                        <p:tgtEl>
                                          <p:spTgt spid="49"/>
                                        </p:tgtEl>
                                        <p:attrNameLst>
                                          <p:attrName>style.visibility</p:attrName>
                                        </p:attrNameLst>
                                      </p:cBhvr>
                                      <p:to>
                                        <p:strVal val="visible"/>
                                      </p:to>
                                    </p:set>
                                    <p:anim calcmode="lin" valueType="num">
                                      <p:cBhvr additive="base">
                                        <p:cTn id="202" dur="500" fill="hold"/>
                                        <p:tgtEl>
                                          <p:spTgt spid="49"/>
                                        </p:tgtEl>
                                        <p:attrNameLst>
                                          <p:attrName>ppt_x</p:attrName>
                                        </p:attrNameLst>
                                      </p:cBhvr>
                                      <p:tavLst>
                                        <p:tav tm="0">
                                          <p:val>
                                            <p:strVal val="#ppt_x"/>
                                          </p:val>
                                        </p:tav>
                                        <p:tav tm="100000">
                                          <p:val>
                                            <p:strVal val="#ppt_x"/>
                                          </p:val>
                                        </p:tav>
                                      </p:tavLst>
                                    </p:anim>
                                    <p:anim calcmode="lin" valueType="num">
                                      <p:cBhvr additive="base">
                                        <p:cTn id="203" dur="500" fill="hold"/>
                                        <p:tgtEl>
                                          <p:spTgt spid="49"/>
                                        </p:tgtEl>
                                        <p:attrNameLst>
                                          <p:attrName>ppt_y</p:attrName>
                                        </p:attrNameLst>
                                      </p:cBhvr>
                                      <p:tavLst>
                                        <p:tav tm="0">
                                          <p:val>
                                            <p:strVal val="#ppt_y+0.1"/>
                                          </p:val>
                                        </p:tav>
                                        <p:tav tm="100000">
                                          <p:val>
                                            <p:strVal val="#ppt_y"/>
                                          </p:val>
                                        </p:tav>
                                      </p:tavLst>
                                    </p:anim>
                                    <p:animEffect transition="in" filter="fade">
                                      <p:cBhvr>
                                        <p:cTn id="204" dur="500"/>
                                        <p:tgtEl>
                                          <p:spTgt spid="49"/>
                                        </p:tgtEl>
                                      </p:cBhvr>
                                    </p:animEffect>
                                  </p:childTnLst>
                                </p:cTn>
                              </p:par>
                              <p:par>
                                <p:cTn id="210" presetID="2" presetClass="entr" presetSubtype="4" fill="hold" grpId="0" nodeType="withEffect">
                                  <p:stCondLst>
                                    <p:cond delay="240"/>
                                  </p:stCondLst>
                                  <p:childTnLst>
                                    <p:set>
                                      <p:cBhvr>
                                        <p:cTn id="206" dur="1" fill="hold">
                                          <p:stCondLst>
                                            <p:cond delay="0"/>
                                          </p:stCondLst>
                                        </p:cTn>
                                        <p:tgtEl>
                                          <p:spTgt spid="50"/>
                                        </p:tgtEl>
                                        <p:attrNameLst>
                                          <p:attrName>style.visibility</p:attrName>
                                        </p:attrNameLst>
                                      </p:cBhvr>
                                      <p:to>
                                        <p:strVal val="visible"/>
                                      </p:to>
                                    </p:set>
                                    <p:anim calcmode="lin" valueType="num">
                                      <p:cBhvr additive="base">
                                        <p:cTn id="207" dur="500" fill="hold"/>
                                        <p:tgtEl>
                                          <p:spTgt spid="50"/>
                                        </p:tgtEl>
                                        <p:attrNameLst>
                                          <p:attrName>ppt_x</p:attrName>
                                        </p:attrNameLst>
                                      </p:cBhvr>
                                      <p:tavLst>
                                        <p:tav tm="0">
                                          <p:val>
                                            <p:strVal val="#ppt_x"/>
                                          </p:val>
                                        </p:tav>
                                        <p:tav tm="100000">
                                          <p:val>
                                            <p:strVal val="#ppt_x"/>
                                          </p:val>
                                        </p:tav>
                                      </p:tavLst>
                                    </p:anim>
                                    <p:anim calcmode="lin" valueType="num">
                                      <p:cBhvr additive="base">
                                        <p:cTn id="208" dur="500" fill="hold"/>
                                        <p:tgtEl>
                                          <p:spTgt spid="50"/>
                                        </p:tgtEl>
                                        <p:attrNameLst>
                                          <p:attrName>ppt_y</p:attrName>
                                        </p:attrNameLst>
                                      </p:cBhvr>
                                      <p:tavLst>
                                        <p:tav tm="0">
                                          <p:val>
                                            <p:strVal val="#ppt_y+0.1"/>
                                          </p:val>
                                        </p:tav>
                                        <p:tav tm="100000">
                                          <p:val>
                                            <p:strVal val="#ppt_y"/>
                                          </p:val>
                                        </p:tav>
                                      </p:tavLst>
                                    </p:anim>
                                    <p:animEffect transition="in" filter="fade">
                                      <p:cBhvr>
                                        <p:cTn id="209" dur="500"/>
                                        <p:tgtEl>
                                          <p:spTgt spid="50"/>
                                        </p:tgtEl>
                                      </p:cBhvr>
                                    </p:animEffect>
                                  </p:childTnLst>
                                </p:cTn>
                              </p:par>
                              <p:par>
                                <p:cTn id="215" presetID="2" presetClass="entr" presetSubtype="4" fill="hold" grpId="0" nodeType="withEffect">
                                  <p:stCondLst>
                                    <p:cond delay="240"/>
                                  </p:stCondLst>
                                  <p:childTnLst>
                                    <p:set>
                                      <p:cBhvr>
                                        <p:cTn id="211" dur="1" fill="hold">
                                          <p:stCondLst>
                                            <p:cond delay="0"/>
                                          </p:stCondLst>
                                        </p:cTn>
                                        <p:tgtEl>
                                          <p:spTgt spid="51"/>
                                        </p:tgtEl>
                                        <p:attrNameLst>
                                          <p:attrName>style.visibility</p:attrName>
                                        </p:attrNameLst>
                                      </p:cBhvr>
                                      <p:to>
                                        <p:strVal val="visible"/>
                                      </p:to>
                                    </p:set>
                                    <p:anim calcmode="lin" valueType="num">
                                      <p:cBhvr additive="base">
                                        <p:cTn id="212" dur="500" fill="hold"/>
                                        <p:tgtEl>
                                          <p:spTgt spid="51"/>
                                        </p:tgtEl>
                                        <p:attrNameLst>
                                          <p:attrName>ppt_x</p:attrName>
                                        </p:attrNameLst>
                                      </p:cBhvr>
                                      <p:tavLst>
                                        <p:tav tm="0">
                                          <p:val>
                                            <p:strVal val="#ppt_x"/>
                                          </p:val>
                                        </p:tav>
                                        <p:tav tm="100000">
                                          <p:val>
                                            <p:strVal val="#ppt_x"/>
                                          </p:val>
                                        </p:tav>
                                      </p:tavLst>
                                    </p:anim>
                                    <p:anim calcmode="lin" valueType="num">
                                      <p:cBhvr additive="base">
                                        <p:cTn id="213" dur="500" fill="hold"/>
                                        <p:tgtEl>
                                          <p:spTgt spid="51"/>
                                        </p:tgtEl>
                                        <p:attrNameLst>
                                          <p:attrName>ppt_y</p:attrName>
                                        </p:attrNameLst>
                                      </p:cBhvr>
                                      <p:tavLst>
                                        <p:tav tm="0">
                                          <p:val>
                                            <p:strVal val="#ppt_y+0.1"/>
                                          </p:val>
                                        </p:tav>
                                        <p:tav tm="100000">
                                          <p:val>
                                            <p:strVal val="#ppt_y"/>
                                          </p:val>
                                        </p:tav>
                                      </p:tavLst>
                                    </p:anim>
                                    <p:animEffect transition="in" filter="fade">
                                      <p:cBhvr>
                                        <p:cTn id="214" dur="500"/>
                                        <p:tgtEl>
                                          <p:spTgt spid="51"/>
                                        </p:tgtEl>
                                      </p:cBhvr>
                                    </p:animEffect>
                                  </p:childTnLst>
                                </p:cTn>
                              </p:par>
                            </p:childTnLst>
                          </p:cTn>
                        </p:par>
                      </p:childTnLst>
                    </p:cTn>
                  </p:par>
                  <p:par>
                    <p:cTn id="216" fill="hold">
                      <p:stCondLst>
                        <p:cond delay="indefinite"/>
                      </p:stCondLst>
                      <p:childTnLst>
                        <p:par>
                          <p:cTn id="217" fill="hold">
                            <p:stCondLst>
                              <p:cond delay="0"/>
                            </p:stCondLst>
                            <p:childTnLst>
                              <p:par>
                                <p:cTn id="222" presetID="2" presetClass="entr" presetSubtype="4" fill="hold" grpId="0" nodeType="clickEffect">
                                  <p:stCondLst>
                                    <p:cond delay="0"/>
                                  </p:stCondLst>
                                  <p:childTnLst>
                                    <p:set>
                                      <p:cBhvr>
                                        <p:cTn id="218" dur="1" fill="hold">
                                          <p:stCondLst>
                                            <p:cond delay="0"/>
                                          </p:stCondLst>
                                        </p:cTn>
                                        <p:tgtEl>
                                          <p:spTgt spid="52"/>
                                        </p:tgtEl>
                                        <p:attrNameLst>
                                          <p:attrName>style.visibility</p:attrName>
                                        </p:attrNameLst>
                                      </p:cBhvr>
                                      <p:to>
                                        <p:strVal val="visible"/>
                                      </p:to>
                                    </p:set>
                                    <p:anim calcmode="lin" valueType="num">
                                      <p:cBhvr additive="base">
                                        <p:cTn id="219" dur="500" fill="hold"/>
                                        <p:tgtEl>
                                          <p:spTgt spid="52"/>
                                        </p:tgtEl>
                                        <p:attrNameLst>
                                          <p:attrName>ppt_x</p:attrName>
                                        </p:attrNameLst>
                                      </p:cBhvr>
                                      <p:tavLst>
                                        <p:tav tm="0">
                                          <p:val>
                                            <p:strVal val="#ppt_x"/>
                                          </p:val>
                                        </p:tav>
                                        <p:tav tm="100000">
                                          <p:val>
                                            <p:strVal val="#ppt_x"/>
                                          </p:val>
                                        </p:tav>
                                      </p:tavLst>
                                    </p:anim>
                                    <p:anim calcmode="lin" valueType="num">
                                      <p:cBhvr additive="base">
                                        <p:cTn id="220" dur="500" fill="hold"/>
                                        <p:tgtEl>
                                          <p:spTgt spid="52"/>
                                        </p:tgtEl>
                                        <p:attrNameLst>
                                          <p:attrName>ppt_y</p:attrName>
                                        </p:attrNameLst>
                                      </p:cBhvr>
                                      <p:tavLst>
                                        <p:tav tm="0">
                                          <p:val>
                                            <p:strVal val="#ppt_y+0.1"/>
                                          </p:val>
                                        </p:tav>
                                        <p:tav tm="100000">
                                          <p:val>
                                            <p:strVal val="#ppt_y"/>
                                          </p:val>
                                        </p:tav>
                                      </p:tavLst>
                                    </p:anim>
                                    <p:animEffect transition="in" filter="fade">
                                      <p:cBhvr>
                                        <p:cTn id="221" dur="500"/>
                                        <p:tgtEl>
                                          <p:spTgt spid="52"/>
                                        </p:tgtEl>
                                      </p:cBhvr>
                                    </p:animEffect>
                                  </p:childTnLst>
                                </p:cTn>
                              </p:par>
                              <p:par>
                                <p:cTn id="227" presetID="2" presetClass="entr" presetSubtype="4" fill="hold" grpId="0" nodeType="withEffect">
                                  <p:stCondLst>
                                    <p:cond delay="0"/>
                                  </p:stCondLst>
                                  <p:childTnLst>
                                    <p:set>
                                      <p:cBhvr>
                                        <p:cTn id="223" dur="1" fill="hold">
                                          <p:stCondLst>
                                            <p:cond delay="0"/>
                                          </p:stCondLst>
                                        </p:cTn>
                                        <p:tgtEl>
                                          <p:spTgt spid="53"/>
                                        </p:tgtEl>
                                        <p:attrNameLst>
                                          <p:attrName>style.visibility</p:attrName>
                                        </p:attrNameLst>
                                      </p:cBhvr>
                                      <p:to>
                                        <p:strVal val="visible"/>
                                      </p:to>
                                    </p:set>
                                    <p:anim calcmode="lin" valueType="num">
                                      <p:cBhvr additive="base">
                                        <p:cTn id="224" dur="500" fill="hold"/>
                                        <p:tgtEl>
                                          <p:spTgt spid="53"/>
                                        </p:tgtEl>
                                        <p:attrNameLst>
                                          <p:attrName>ppt_x</p:attrName>
                                        </p:attrNameLst>
                                      </p:cBhvr>
                                      <p:tavLst>
                                        <p:tav tm="0">
                                          <p:val>
                                            <p:strVal val="#ppt_x"/>
                                          </p:val>
                                        </p:tav>
                                        <p:tav tm="100000">
                                          <p:val>
                                            <p:strVal val="#ppt_x"/>
                                          </p:val>
                                        </p:tav>
                                      </p:tavLst>
                                    </p:anim>
                                    <p:anim calcmode="lin" valueType="num">
                                      <p:cBhvr additive="base">
                                        <p:cTn id="225" dur="500" fill="hold"/>
                                        <p:tgtEl>
                                          <p:spTgt spid="53"/>
                                        </p:tgtEl>
                                        <p:attrNameLst>
                                          <p:attrName>ppt_y</p:attrName>
                                        </p:attrNameLst>
                                      </p:cBhvr>
                                      <p:tavLst>
                                        <p:tav tm="0">
                                          <p:val>
                                            <p:strVal val="#ppt_y+0.1"/>
                                          </p:val>
                                        </p:tav>
                                        <p:tav tm="100000">
                                          <p:val>
                                            <p:strVal val="#ppt_y"/>
                                          </p:val>
                                        </p:tav>
                                      </p:tavLst>
                                    </p:anim>
                                    <p:animEffect transition="in" filter="fade">
                                      <p:cBhvr>
                                        <p:cTn id="226" dur="500"/>
                                        <p:tgtEl>
                                          <p:spTgt spid="53"/>
                                        </p:tgtEl>
                                      </p:cBhvr>
                                    </p:animEffect>
                                  </p:childTnLst>
                                </p:cTn>
                              </p:par>
                              <p:par>
                                <p:cTn id="232" presetID="2" presetClass="entr" presetSubtype="4" fill="hold" grpId="0" nodeType="withEffect">
                                  <p:stCondLst>
                                    <p:cond delay="0"/>
                                  </p:stCondLst>
                                  <p:childTnLst>
                                    <p:set>
                                      <p:cBhvr>
                                        <p:cTn id="228" dur="1" fill="hold">
                                          <p:stCondLst>
                                            <p:cond delay="0"/>
                                          </p:stCondLst>
                                        </p:cTn>
                                        <p:tgtEl>
                                          <p:spTgt spid="54"/>
                                        </p:tgtEl>
                                        <p:attrNameLst>
                                          <p:attrName>style.visibility</p:attrName>
                                        </p:attrNameLst>
                                      </p:cBhvr>
                                      <p:to>
                                        <p:strVal val="visible"/>
                                      </p:to>
                                    </p:set>
                                    <p:anim calcmode="lin" valueType="num">
                                      <p:cBhvr additive="base">
                                        <p:cTn id="229" dur="500" fill="hold"/>
                                        <p:tgtEl>
                                          <p:spTgt spid="54"/>
                                        </p:tgtEl>
                                        <p:attrNameLst>
                                          <p:attrName>ppt_x</p:attrName>
                                        </p:attrNameLst>
                                      </p:cBhvr>
                                      <p:tavLst>
                                        <p:tav tm="0">
                                          <p:val>
                                            <p:strVal val="#ppt_x"/>
                                          </p:val>
                                        </p:tav>
                                        <p:tav tm="100000">
                                          <p:val>
                                            <p:strVal val="#ppt_x"/>
                                          </p:val>
                                        </p:tav>
                                      </p:tavLst>
                                    </p:anim>
                                    <p:anim calcmode="lin" valueType="num">
                                      <p:cBhvr additive="base">
                                        <p:cTn id="230" dur="500" fill="hold"/>
                                        <p:tgtEl>
                                          <p:spTgt spid="54"/>
                                        </p:tgtEl>
                                        <p:attrNameLst>
                                          <p:attrName>ppt_y</p:attrName>
                                        </p:attrNameLst>
                                      </p:cBhvr>
                                      <p:tavLst>
                                        <p:tav tm="0">
                                          <p:val>
                                            <p:strVal val="#ppt_y+0.1"/>
                                          </p:val>
                                        </p:tav>
                                        <p:tav tm="100000">
                                          <p:val>
                                            <p:strVal val="#ppt_y"/>
                                          </p:val>
                                        </p:tav>
                                      </p:tavLst>
                                    </p:anim>
                                    <p:animEffect transition="in" filter="fade">
                                      <p:cBhvr>
                                        <p:cTn id="231"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8181B"/>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9A34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7C2D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a0f_h8"/>
          <p:cNvSpPr txBox="1"/>
          <p:nvPr/>
        </p:nvSpPr>
        <p:spPr>
          <a:xfrm>
            <a:off x="548640" y="384048"/>
            <a:ext cx="7315200" cy="640080"/>
          </a:xfrm>
          <a:prstGeom prst="rect">
            <a:avLst/>
          </a:prstGeom>
          <a:noFill/>
        </p:spPr>
        <p:txBody>
          <a:bodyPr wrap="square" lIns="0" tIns="0" rIns="0" bIns="0" anchor="ctr">
            <a:spAutoFit/>
          </a:bodyPr>
          <a:lstStyle/>
          <a:p>
            <a:pPr algn="l"/>
            <a:r>
              <a:rPr sz="3050" b="0">
                <a:solidFill>
                  <a:srgbClr val="FFFFFF"/>
                </a:solidFill>
                <a:latin typeface="Bahnschrift SemiBold"/>
              </a:rPr>
              <a:t>Summary</a:t>
            </a:r>
          </a:p>
        </p:txBody>
      </p:sp>
      <p:sp>
        <p:nvSpPr>
          <p:cNvPr id="10" name="a1u_n9"/>
          <p:cNvSpPr/>
          <p:nvPr/>
        </p:nvSpPr>
        <p:spPr>
          <a:xfrm>
            <a:off x="548640" y="1234440"/>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a1u_nt10"/>
          <p:cNvSpPr txBox="1"/>
          <p:nvPr/>
        </p:nvSpPr>
        <p:spPr>
          <a:xfrm>
            <a:off x="548640" y="1234440"/>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1</a:t>
            </a:r>
          </a:p>
        </p:txBody>
      </p:sp>
      <p:sp>
        <p:nvSpPr>
          <p:cNvPr id="12" name="a1u_nb11"/>
          <p:cNvSpPr txBox="1"/>
          <p:nvPr/>
        </p:nvSpPr>
        <p:spPr>
          <a:xfrm>
            <a:off x="1133856" y="1188720"/>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KafkaConsumer + a config map</a:t>
            </a:r>
          </a:p>
          <a:p>
            <a:pPr algn="l">
              <a:spcAft>
                <a:spcPts val="100"/>
              </a:spcAft>
            </a:pPr>
            <a:r>
              <a:rPr sz="1000" b="0">
                <a:solidFill>
                  <a:srgbClr val="D6D3D1"/>
                </a:solidFill>
                <a:latin typeface="Segoe UI"/>
              </a:rPr>
              <a:t>bootstrap.servers - and a group.id to subscribe</a:t>
            </a:r>
          </a:p>
        </p:txBody>
      </p:sp>
      <p:sp>
        <p:nvSpPr>
          <p:cNvPr id="13" name="a1ud200_n12"/>
          <p:cNvSpPr/>
          <p:nvPr/>
        </p:nvSpPr>
        <p:spPr>
          <a:xfrm>
            <a:off x="548640" y="1892808"/>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ud200_nt13"/>
          <p:cNvSpPr txBox="1"/>
          <p:nvPr/>
        </p:nvSpPr>
        <p:spPr>
          <a:xfrm>
            <a:off x="548640" y="1892808"/>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2</a:t>
            </a:r>
          </a:p>
        </p:txBody>
      </p:sp>
      <p:sp>
        <p:nvSpPr>
          <p:cNvPr id="15" name="a1ud200_nb14"/>
          <p:cNvSpPr txBox="1"/>
          <p:nvPr/>
        </p:nvSpPr>
        <p:spPr>
          <a:xfrm>
            <a:off x="1133856" y="1847088"/>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subscribe(), then poll() forever</a:t>
            </a:r>
          </a:p>
          <a:p>
            <a:pPr algn="l">
              <a:spcAft>
                <a:spcPts val="100"/>
              </a:spcAft>
            </a:pPr>
            <a:r>
              <a:rPr sz="1000" b="0">
                <a:solidFill>
                  <a:srgbClr val="D6D3D1"/>
                </a:solidFill>
                <a:latin typeface="Segoe UI"/>
              </a:rPr>
              <a:t>A stream has no last message</a:t>
            </a:r>
          </a:p>
        </p:txBody>
      </p:sp>
      <p:sp>
        <p:nvSpPr>
          <p:cNvPr id="16" name="a1ud400_n15"/>
          <p:cNvSpPr/>
          <p:nvPr/>
        </p:nvSpPr>
        <p:spPr>
          <a:xfrm>
            <a:off x="548640" y="2551176"/>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400_nt16"/>
          <p:cNvSpPr txBox="1"/>
          <p:nvPr/>
        </p:nvSpPr>
        <p:spPr>
          <a:xfrm>
            <a:off x="548640" y="2551176"/>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3</a:t>
            </a:r>
          </a:p>
        </p:txBody>
      </p:sp>
      <p:sp>
        <p:nvSpPr>
          <p:cNvPr id="18" name="a1ud400_nb17"/>
          <p:cNvSpPr txBox="1"/>
          <p:nvPr/>
        </p:nvSpPr>
        <p:spPr>
          <a:xfrm>
            <a:off x="1133856" y="2505456"/>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Consuming doesn't delete</a:t>
            </a:r>
          </a:p>
          <a:p>
            <a:pPr algn="l">
              <a:spcAft>
                <a:spcPts val="100"/>
              </a:spcAft>
            </a:pPr>
            <a:r>
              <a:rPr sz="1000" b="0">
                <a:solidFill>
                  <a:srgbClr val="D6D3D1"/>
                </a:solidFill>
                <a:latin typeface="Segoe UI"/>
              </a:rPr>
              <a:t>Every consumer reads the log independently</a:t>
            </a:r>
          </a:p>
        </p:txBody>
      </p:sp>
      <p:sp>
        <p:nvSpPr>
          <p:cNvPr id="19" name="a1ud600_n18"/>
          <p:cNvSpPr/>
          <p:nvPr/>
        </p:nvSpPr>
        <p:spPr>
          <a:xfrm>
            <a:off x="548640" y="3209544"/>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ud600_nt19"/>
          <p:cNvSpPr txBox="1"/>
          <p:nvPr/>
        </p:nvSpPr>
        <p:spPr>
          <a:xfrm>
            <a:off x="548640" y="3209544"/>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4</a:t>
            </a:r>
          </a:p>
        </p:txBody>
      </p:sp>
      <p:sp>
        <p:nvSpPr>
          <p:cNvPr id="21" name="a1ud600_nb20"/>
          <p:cNvSpPr txBox="1"/>
          <p:nvPr/>
        </p:nvSpPr>
        <p:spPr>
          <a:xfrm>
            <a:off x="1133856" y="3163824"/>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Offsets are committed to Kafka</a:t>
            </a:r>
          </a:p>
          <a:p>
            <a:pPr algn="l">
              <a:spcAft>
                <a:spcPts val="100"/>
              </a:spcAft>
            </a:pPr>
            <a:r>
              <a:rPr sz="1000" b="0">
                <a:solidFill>
                  <a:srgbClr val="D6D3D1"/>
                </a:solidFill>
                <a:latin typeface="Segoe UI"/>
              </a:rPr>
              <a:t>A restart resumes from the last commit</a:t>
            </a:r>
          </a:p>
        </p:txBody>
      </p:sp>
      <p:sp>
        <p:nvSpPr>
          <p:cNvPr id="22" name="a1ud800_n21"/>
          <p:cNvSpPr/>
          <p:nvPr/>
        </p:nvSpPr>
        <p:spPr>
          <a:xfrm>
            <a:off x="548640" y="3867911"/>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ud800_nt22"/>
          <p:cNvSpPr txBox="1"/>
          <p:nvPr/>
        </p:nvSpPr>
        <p:spPr>
          <a:xfrm>
            <a:off x="548640" y="3867911"/>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5</a:t>
            </a:r>
          </a:p>
        </p:txBody>
      </p:sp>
      <p:sp>
        <p:nvSpPr>
          <p:cNvPr id="24" name="a1ud800_nb23"/>
          <p:cNvSpPr txBox="1"/>
          <p:nvPr/>
        </p:nvSpPr>
        <p:spPr>
          <a:xfrm>
            <a:off x="1133856" y="3822191"/>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Consumer groups scale out</a:t>
            </a:r>
          </a:p>
          <a:p>
            <a:pPr algn="l">
              <a:spcAft>
                <a:spcPts val="100"/>
              </a:spcAft>
            </a:pPr>
            <a:r>
              <a:rPr sz="1000" b="0">
                <a:solidFill>
                  <a:srgbClr val="D6D3D1"/>
                </a:solidFill>
                <a:latin typeface="Segoe UI"/>
              </a:rPr>
              <a:t>One consumer per partition, rebalanced as they change</a:t>
            </a:r>
          </a:p>
        </p:txBody>
      </p:sp>
      <p:sp>
        <p:nvSpPr>
          <p:cNvPr id="25" name="a2u_next24"/>
          <p:cNvSpPr/>
          <p:nvPr/>
        </p:nvSpPr>
        <p:spPr>
          <a:xfrm>
            <a:off x="6263640" y="1234440"/>
            <a:ext cx="2423160" cy="1097280"/>
          </a:xfrm>
          <a:prstGeom prst="roundRect">
            <a:avLst>
              <a:gd name="adj" fmla="val 8333"/>
            </a:avLst>
          </a:prstGeom>
          <a:solidFill>
            <a:srgbClr val="27272A"/>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2u_nextt25"/>
          <p:cNvSpPr txBox="1"/>
          <p:nvPr/>
        </p:nvSpPr>
        <p:spPr>
          <a:xfrm>
            <a:off x="6446520" y="1353312"/>
            <a:ext cx="2103120" cy="868680"/>
          </a:xfrm>
          <a:prstGeom prst="rect">
            <a:avLst/>
          </a:prstGeom>
          <a:noFill/>
        </p:spPr>
        <p:txBody>
          <a:bodyPr wrap="square" lIns="0" tIns="0" rIns="0" bIns="0" anchor="t">
            <a:spAutoFit/>
          </a:bodyPr>
          <a:lstStyle/>
          <a:p>
            <a:pPr algn="l">
              <a:spcAft>
                <a:spcPts val="400"/>
              </a:spcAft>
            </a:pPr>
            <a:r>
              <a:rPr sz="850" b="1" spc="220">
                <a:solidFill>
                  <a:srgbClr val="FB923C"/>
                </a:solidFill>
                <a:latin typeface="Segoe UI"/>
              </a:rPr>
              <a:t>UP NEXT</a:t>
            </a:r>
          </a:p>
          <a:p>
            <a:pPr algn="l">
              <a:spcAft>
                <a:spcPts val="400"/>
              </a:spcAft>
            </a:pPr>
            <a:r>
              <a:rPr sz="1050" b="0">
                <a:solidFill>
                  <a:srgbClr val="E7E5E4"/>
                </a:solidFill>
                <a:latin typeface="Segoe UI"/>
              </a:rPr>
              <a:t>Module 8 - Schema Registry</a:t>
            </a:r>
          </a:p>
          <a:p>
            <a:pPr algn="l">
              <a:spcAft>
                <a:spcPts val="400"/>
              </a:spcAft>
            </a:pPr>
            <a:r>
              <a:rPr sz="850" b="0">
                <a:solidFill>
                  <a:srgbClr val="A8A29E"/>
                </a:solidFill>
                <a:latin typeface="Segoe UI"/>
              </a:rPr>
              <a:t>schemas for keys and values</a:t>
            </a:r>
          </a:p>
        </p:txBody>
      </p:sp>
      <p:sp>
        <p:nvSpPr>
          <p:cNvPr id="27" name="a3u_src26"/>
          <p:cNvSpPr/>
          <p:nvPr/>
        </p:nvSpPr>
        <p:spPr>
          <a:xfrm>
            <a:off x="6263640" y="2514600"/>
            <a:ext cx="2423160" cy="1188720"/>
          </a:xfrm>
          <a:prstGeom prst="roundRect">
            <a:avLst>
              <a:gd name="adj" fmla="val 7692"/>
            </a:avLst>
          </a:prstGeom>
          <a:solidFill>
            <a:srgbClr val="27272A"/>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3u_srct27"/>
          <p:cNvSpPr txBox="1"/>
          <p:nvPr/>
        </p:nvSpPr>
        <p:spPr>
          <a:xfrm>
            <a:off x="6446520" y="2633472"/>
            <a:ext cx="2103120" cy="960120"/>
          </a:xfrm>
          <a:prstGeom prst="rect">
            <a:avLst/>
          </a:prstGeom>
          <a:noFill/>
        </p:spPr>
        <p:txBody>
          <a:bodyPr wrap="square" lIns="0" tIns="0" rIns="0" bIns="0" anchor="t">
            <a:spAutoFit/>
          </a:bodyPr>
          <a:lstStyle/>
          <a:p>
            <a:pPr algn="l">
              <a:spcAft>
                <a:spcPts val="400"/>
              </a:spcAft>
            </a:pPr>
            <a:r>
              <a:rPr sz="850" b="1" spc="220">
                <a:solidFill>
                  <a:srgbClr val="FB923C"/>
                </a:solidFill>
                <a:latin typeface="Segoe UI"/>
              </a:rPr>
              <a:t>SOURCE</a:t>
            </a:r>
          </a:p>
          <a:p>
            <a:pPr algn="l">
              <a:spcAft>
                <a:spcPts val="400"/>
              </a:spcAft>
            </a:pPr>
            <a:r>
              <a:rPr sz="850" b="0">
                <a:solidFill>
                  <a:srgbClr val="D6D3D1"/>
                </a:solidFill>
                <a:latin typeface="Segoe UI"/>
              </a:rPr>
              <a:t>Apache Kafka 101, Consumers - Tim Berglund and Gilles Philippart, Confluent Developer (developer.confluent.io)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4" presetID="2" presetClass="entr" presetSubtype="4"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ppt_y+0.1"/>
                                          </p:val>
                                        </p:tav>
                                        <p:tav tm="100000">
                                          <p:val>
                                            <p:strVal val="#ppt_y"/>
                                          </p:val>
                                        </p:tav>
                                      </p:tavLst>
                                    </p:anim>
                                    <p:animEffect transition="in" filter="fade">
                                      <p:cBhvr>
                                        <p:cTn id="13" dur="500"/>
                                        <p:tgtEl>
                                          <p:spTgt spid="10"/>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fill="hold"/>
                                        <p:tgtEl>
                                          <p:spTgt spid="11"/>
                                        </p:tgtEl>
                                        <p:attrNameLst>
                                          <p:attrName>ppt_x</p:attrName>
                                        </p:attrNameLst>
                                      </p:cBhvr>
                                      <p:tavLst>
                                        <p:tav tm="0">
                                          <p:val>
                                            <p:strVal val="#ppt_x"/>
                                          </p:val>
                                        </p:tav>
                                        <p:tav tm="100000">
                                          <p:val>
                                            <p:strVal val="#ppt_x"/>
                                          </p:val>
                                        </p:tav>
                                      </p:tavLst>
                                    </p:anim>
                                    <p:anim calcmode="lin" valueType="num">
                                      <p:cBhvr additive="base">
                                        <p:cTn id="17" dur="500" fill="hold"/>
                                        <p:tgtEl>
                                          <p:spTgt spid="11"/>
                                        </p:tgtEl>
                                        <p:attrNameLst>
                                          <p:attrName>ppt_y</p:attrName>
                                        </p:attrNameLst>
                                      </p:cBhvr>
                                      <p:tavLst>
                                        <p:tav tm="0">
                                          <p:val>
                                            <p:strVal val="#ppt_y+0.1"/>
                                          </p:val>
                                        </p:tav>
                                        <p:tav tm="100000">
                                          <p:val>
                                            <p:strVal val="#ppt_y"/>
                                          </p:val>
                                        </p:tav>
                                      </p:tavLst>
                                    </p:anim>
                                    <p:animEffect transition="in" filter="fade">
                                      <p:cBhvr>
                                        <p:cTn id="18" dur="500"/>
                                        <p:tgtEl>
                                          <p:spTgt spid="11"/>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ppt_y+0.1"/>
                                          </p:val>
                                        </p:tav>
                                        <p:tav tm="100000">
                                          <p:val>
                                            <p:strVal val="#ppt_y"/>
                                          </p:val>
                                        </p:tav>
                                      </p:tavLst>
                                    </p:anim>
                                    <p:animEffect transition="in" filter="fade">
                                      <p:cBhvr>
                                        <p:cTn id="23" dur="500"/>
                                        <p:tgtEl>
                                          <p:spTgt spid="12"/>
                                        </p:tgtEl>
                                      </p:cBhvr>
                                    </p:animEffect>
                                  </p:childTnLst>
                                </p:cTn>
                              </p:par>
                              <p:par>
                                <p:cTn id="29" presetID="2" presetClass="entr" presetSubtype="4" fill="hold" grpId="0" nodeType="withEffect">
                                  <p:stCondLst>
                                    <p:cond delay="200"/>
                                  </p:stCondLst>
                                  <p:childTnLst>
                                    <p:set>
                                      <p:cBhvr>
                                        <p:cTn id="25" dur="1" fill="hold">
                                          <p:stCondLst>
                                            <p:cond delay="0"/>
                                          </p:stCondLst>
                                        </p:cTn>
                                        <p:tgtEl>
                                          <p:spTgt spid="13"/>
                                        </p:tgtEl>
                                        <p:attrNameLst>
                                          <p:attrName>style.visibility</p:attrName>
                                        </p:attrNameLst>
                                      </p:cBhvr>
                                      <p:to>
                                        <p:strVal val="visible"/>
                                      </p:to>
                                    </p:set>
                                    <p:anim calcmode="lin" valueType="num">
                                      <p:cBhvr additive="base">
                                        <p:cTn id="26" dur="500" fill="hold"/>
                                        <p:tgtEl>
                                          <p:spTgt spid="13"/>
                                        </p:tgtEl>
                                        <p:attrNameLst>
                                          <p:attrName>ppt_x</p:attrName>
                                        </p:attrNameLst>
                                      </p:cBhvr>
                                      <p:tavLst>
                                        <p:tav tm="0">
                                          <p:val>
                                            <p:strVal val="#ppt_x"/>
                                          </p:val>
                                        </p:tav>
                                        <p:tav tm="100000">
                                          <p:val>
                                            <p:strVal val="#ppt_x"/>
                                          </p:val>
                                        </p:tav>
                                      </p:tavLst>
                                    </p:anim>
                                    <p:anim calcmode="lin" valueType="num">
                                      <p:cBhvr additive="base">
                                        <p:cTn id="27" dur="500" fill="hold"/>
                                        <p:tgtEl>
                                          <p:spTgt spid="13"/>
                                        </p:tgtEl>
                                        <p:attrNameLst>
                                          <p:attrName>ppt_y</p:attrName>
                                        </p:attrNameLst>
                                      </p:cBhvr>
                                      <p:tavLst>
                                        <p:tav tm="0">
                                          <p:val>
                                            <p:strVal val="#ppt_y+0.1"/>
                                          </p:val>
                                        </p:tav>
                                        <p:tav tm="100000">
                                          <p:val>
                                            <p:strVal val="#ppt_y"/>
                                          </p:val>
                                        </p:tav>
                                      </p:tavLst>
                                    </p:anim>
                                    <p:animEffect transition="in" filter="fade">
                                      <p:cBhvr>
                                        <p:cTn id="28" dur="500"/>
                                        <p:tgtEl>
                                          <p:spTgt spid="13"/>
                                        </p:tgtEl>
                                      </p:cBhvr>
                                    </p:animEffect>
                                  </p:childTnLst>
                                </p:cTn>
                              </p:par>
                              <p:par>
                                <p:cTn id="34" presetID="2" presetClass="entr" presetSubtype="4" fill="hold" grpId="0" nodeType="withEffect">
                                  <p:stCondLst>
                                    <p:cond delay="20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ppt_y+0.1"/>
                                          </p:val>
                                        </p:tav>
                                        <p:tav tm="100000">
                                          <p:val>
                                            <p:strVal val="#ppt_y"/>
                                          </p:val>
                                        </p:tav>
                                      </p:tavLst>
                                    </p:anim>
                                    <p:animEffect transition="in" filter="fade">
                                      <p:cBhvr>
                                        <p:cTn id="33" dur="500"/>
                                        <p:tgtEl>
                                          <p:spTgt spid="14"/>
                                        </p:tgtEl>
                                      </p:cBhvr>
                                    </p:animEffect>
                                  </p:childTnLst>
                                </p:cTn>
                              </p:par>
                              <p:par>
                                <p:cTn id="39" presetID="2" presetClass="entr" presetSubtype="4" fill="hold" grpId="0" nodeType="withEffect">
                                  <p:stCondLst>
                                    <p:cond delay="200"/>
                                  </p:stCondLst>
                                  <p:childTnLst>
                                    <p:set>
                                      <p:cBhvr>
                                        <p:cTn id="35" dur="1" fill="hold">
                                          <p:stCondLst>
                                            <p:cond delay="0"/>
                                          </p:stCondLst>
                                        </p:cTn>
                                        <p:tgtEl>
                                          <p:spTgt spid="15"/>
                                        </p:tgtEl>
                                        <p:attrNameLst>
                                          <p:attrName>style.visibility</p:attrName>
                                        </p:attrNameLst>
                                      </p:cBhvr>
                                      <p:to>
                                        <p:strVal val="visible"/>
                                      </p:to>
                                    </p:set>
                                    <p:anim calcmode="lin" valueType="num">
                                      <p:cBhvr additive="base">
                                        <p:cTn id="36" dur="500" fill="hold"/>
                                        <p:tgtEl>
                                          <p:spTgt spid="15"/>
                                        </p:tgtEl>
                                        <p:attrNameLst>
                                          <p:attrName>ppt_x</p:attrName>
                                        </p:attrNameLst>
                                      </p:cBhvr>
                                      <p:tavLst>
                                        <p:tav tm="0">
                                          <p:val>
                                            <p:strVal val="#ppt_x"/>
                                          </p:val>
                                        </p:tav>
                                        <p:tav tm="100000">
                                          <p:val>
                                            <p:strVal val="#ppt_x"/>
                                          </p:val>
                                        </p:tav>
                                      </p:tavLst>
                                    </p:anim>
                                    <p:anim calcmode="lin" valueType="num">
                                      <p:cBhvr additive="base">
                                        <p:cTn id="37" dur="500" fill="hold"/>
                                        <p:tgtEl>
                                          <p:spTgt spid="15"/>
                                        </p:tgtEl>
                                        <p:attrNameLst>
                                          <p:attrName>ppt_y</p:attrName>
                                        </p:attrNameLst>
                                      </p:cBhvr>
                                      <p:tavLst>
                                        <p:tav tm="0">
                                          <p:val>
                                            <p:strVal val="#ppt_y+0.1"/>
                                          </p:val>
                                        </p:tav>
                                        <p:tav tm="100000">
                                          <p:val>
                                            <p:strVal val="#ppt_y"/>
                                          </p:val>
                                        </p:tav>
                                      </p:tavLst>
                                    </p:anim>
                                    <p:animEffect transition="in" filter="fade">
                                      <p:cBhvr>
                                        <p:cTn id="38" dur="500"/>
                                        <p:tgtEl>
                                          <p:spTgt spid="15"/>
                                        </p:tgtEl>
                                      </p:cBhvr>
                                    </p:animEffect>
                                  </p:childTnLst>
                                </p:cTn>
                              </p:par>
                              <p:par>
                                <p:cTn id="44" presetID="2" presetClass="entr" presetSubtype="4" fill="hold" grpId="0" nodeType="withEffect">
                                  <p:stCondLst>
                                    <p:cond delay="400"/>
                                  </p:stCondLst>
                                  <p:childTnLst>
                                    <p:set>
                                      <p:cBhvr>
                                        <p:cTn id="40" dur="1" fill="hold">
                                          <p:stCondLst>
                                            <p:cond delay="0"/>
                                          </p:stCondLst>
                                        </p:cTn>
                                        <p:tgtEl>
                                          <p:spTgt spid="16"/>
                                        </p:tgtEl>
                                        <p:attrNameLst>
                                          <p:attrName>style.visibility</p:attrName>
                                        </p:attrNameLst>
                                      </p:cBhvr>
                                      <p:to>
                                        <p:strVal val="visible"/>
                                      </p:to>
                                    </p:set>
                                    <p:anim calcmode="lin" valueType="num">
                                      <p:cBhvr additive="base">
                                        <p:cTn id="41" dur="500" fill="hold"/>
                                        <p:tgtEl>
                                          <p:spTgt spid="16"/>
                                        </p:tgtEl>
                                        <p:attrNameLst>
                                          <p:attrName>ppt_x</p:attrName>
                                        </p:attrNameLst>
                                      </p:cBhvr>
                                      <p:tavLst>
                                        <p:tav tm="0">
                                          <p:val>
                                            <p:strVal val="#ppt_x"/>
                                          </p:val>
                                        </p:tav>
                                        <p:tav tm="100000">
                                          <p:val>
                                            <p:strVal val="#ppt_x"/>
                                          </p:val>
                                        </p:tav>
                                      </p:tavLst>
                                    </p:anim>
                                    <p:anim calcmode="lin" valueType="num">
                                      <p:cBhvr additive="base">
                                        <p:cTn id="42" dur="500" fill="hold"/>
                                        <p:tgtEl>
                                          <p:spTgt spid="16"/>
                                        </p:tgtEl>
                                        <p:attrNameLst>
                                          <p:attrName>ppt_y</p:attrName>
                                        </p:attrNameLst>
                                      </p:cBhvr>
                                      <p:tavLst>
                                        <p:tav tm="0">
                                          <p:val>
                                            <p:strVal val="#ppt_y+0.1"/>
                                          </p:val>
                                        </p:tav>
                                        <p:tav tm="100000">
                                          <p:val>
                                            <p:strVal val="#ppt_y"/>
                                          </p:val>
                                        </p:tav>
                                      </p:tavLst>
                                    </p:anim>
                                    <p:animEffect transition="in" filter="fade">
                                      <p:cBhvr>
                                        <p:cTn id="43" dur="500"/>
                                        <p:tgtEl>
                                          <p:spTgt spid="16"/>
                                        </p:tgtEl>
                                      </p:cBhvr>
                                    </p:animEffect>
                                  </p:childTnLst>
                                </p:cTn>
                              </p:par>
                              <p:par>
                                <p:cTn id="49" presetID="2" presetClass="entr" presetSubtype="4" fill="hold" grpId="0" nodeType="withEffect">
                                  <p:stCondLst>
                                    <p:cond delay="400"/>
                                  </p:stCondLst>
                                  <p:childTnLst>
                                    <p:set>
                                      <p:cBhvr>
                                        <p:cTn id="45" dur="1" fill="hold">
                                          <p:stCondLst>
                                            <p:cond delay="0"/>
                                          </p:stCondLst>
                                        </p:cTn>
                                        <p:tgtEl>
                                          <p:spTgt spid="17"/>
                                        </p:tgtEl>
                                        <p:attrNameLst>
                                          <p:attrName>style.visibility</p:attrName>
                                        </p:attrNameLst>
                                      </p:cBhvr>
                                      <p:to>
                                        <p:strVal val="visible"/>
                                      </p:to>
                                    </p:set>
                                    <p:anim calcmode="lin" valueType="num">
                                      <p:cBhvr additive="base">
                                        <p:cTn id="46" dur="500" fill="hold"/>
                                        <p:tgtEl>
                                          <p:spTgt spid="17"/>
                                        </p:tgtEl>
                                        <p:attrNameLst>
                                          <p:attrName>ppt_x</p:attrName>
                                        </p:attrNameLst>
                                      </p:cBhvr>
                                      <p:tavLst>
                                        <p:tav tm="0">
                                          <p:val>
                                            <p:strVal val="#ppt_x"/>
                                          </p:val>
                                        </p:tav>
                                        <p:tav tm="100000">
                                          <p:val>
                                            <p:strVal val="#ppt_x"/>
                                          </p:val>
                                        </p:tav>
                                      </p:tavLst>
                                    </p:anim>
                                    <p:anim calcmode="lin" valueType="num">
                                      <p:cBhvr additive="base">
                                        <p:cTn id="47" dur="500" fill="hold"/>
                                        <p:tgtEl>
                                          <p:spTgt spid="17"/>
                                        </p:tgtEl>
                                        <p:attrNameLst>
                                          <p:attrName>ppt_y</p:attrName>
                                        </p:attrNameLst>
                                      </p:cBhvr>
                                      <p:tavLst>
                                        <p:tav tm="0">
                                          <p:val>
                                            <p:strVal val="#ppt_y+0.1"/>
                                          </p:val>
                                        </p:tav>
                                        <p:tav tm="100000">
                                          <p:val>
                                            <p:strVal val="#ppt_y"/>
                                          </p:val>
                                        </p:tav>
                                      </p:tavLst>
                                    </p:anim>
                                    <p:animEffect transition="in" filter="fade">
                                      <p:cBhvr>
                                        <p:cTn id="48" dur="500"/>
                                        <p:tgtEl>
                                          <p:spTgt spid="17"/>
                                        </p:tgtEl>
                                      </p:cBhvr>
                                    </p:animEffect>
                                  </p:childTnLst>
                                </p:cTn>
                              </p:par>
                              <p:par>
                                <p:cTn id="54" presetID="2" presetClass="entr" presetSubtype="4" fill="hold" grpId="0" nodeType="withEffect">
                                  <p:stCondLst>
                                    <p:cond delay="40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00" fill="hold"/>
                                        <p:tgtEl>
                                          <p:spTgt spid="18"/>
                                        </p:tgtEl>
                                        <p:attrNameLst>
                                          <p:attrName>ppt_x</p:attrName>
                                        </p:attrNameLst>
                                      </p:cBhvr>
                                      <p:tavLst>
                                        <p:tav tm="0">
                                          <p:val>
                                            <p:strVal val="#ppt_x"/>
                                          </p:val>
                                        </p:tav>
                                        <p:tav tm="100000">
                                          <p:val>
                                            <p:strVal val="#ppt_x"/>
                                          </p:val>
                                        </p:tav>
                                      </p:tavLst>
                                    </p:anim>
                                    <p:anim calcmode="lin" valueType="num">
                                      <p:cBhvr additive="base">
                                        <p:cTn id="52" dur="500" fill="hold"/>
                                        <p:tgtEl>
                                          <p:spTgt spid="18"/>
                                        </p:tgtEl>
                                        <p:attrNameLst>
                                          <p:attrName>ppt_y</p:attrName>
                                        </p:attrNameLst>
                                      </p:cBhvr>
                                      <p:tavLst>
                                        <p:tav tm="0">
                                          <p:val>
                                            <p:strVal val="#ppt_y+0.1"/>
                                          </p:val>
                                        </p:tav>
                                        <p:tav tm="100000">
                                          <p:val>
                                            <p:strVal val="#ppt_y"/>
                                          </p:val>
                                        </p:tav>
                                      </p:tavLst>
                                    </p:anim>
                                    <p:animEffect transition="in" filter="fade">
                                      <p:cBhvr>
                                        <p:cTn id="53" dur="500"/>
                                        <p:tgtEl>
                                          <p:spTgt spid="18"/>
                                        </p:tgtEl>
                                      </p:cBhvr>
                                    </p:animEffect>
                                  </p:childTnLst>
                                </p:cTn>
                              </p:par>
                              <p:par>
                                <p:cTn id="59" presetID="2" presetClass="entr" presetSubtype="4" fill="hold" grpId="0" nodeType="withEffect">
                                  <p:stCondLst>
                                    <p:cond delay="600"/>
                                  </p:stCondLst>
                                  <p:childTnLst>
                                    <p:set>
                                      <p:cBhvr>
                                        <p:cTn id="55" dur="1" fill="hold">
                                          <p:stCondLst>
                                            <p:cond delay="0"/>
                                          </p:stCondLst>
                                        </p:cTn>
                                        <p:tgtEl>
                                          <p:spTgt spid="19"/>
                                        </p:tgtEl>
                                        <p:attrNameLst>
                                          <p:attrName>style.visibility</p:attrName>
                                        </p:attrNameLst>
                                      </p:cBhvr>
                                      <p:to>
                                        <p:strVal val="visible"/>
                                      </p:to>
                                    </p:set>
                                    <p:anim calcmode="lin" valueType="num">
                                      <p:cBhvr additive="base">
                                        <p:cTn id="56" dur="500" fill="hold"/>
                                        <p:tgtEl>
                                          <p:spTgt spid="19"/>
                                        </p:tgtEl>
                                        <p:attrNameLst>
                                          <p:attrName>ppt_x</p:attrName>
                                        </p:attrNameLst>
                                      </p:cBhvr>
                                      <p:tavLst>
                                        <p:tav tm="0">
                                          <p:val>
                                            <p:strVal val="#ppt_x"/>
                                          </p:val>
                                        </p:tav>
                                        <p:tav tm="100000">
                                          <p:val>
                                            <p:strVal val="#ppt_x"/>
                                          </p:val>
                                        </p:tav>
                                      </p:tavLst>
                                    </p:anim>
                                    <p:anim calcmode="lin" valueType="num">
                                      <p:cBhvr additive="base">
                                        <p:cTn id="57" dur="500" fill="hold"/>
                                        <p:tgtEl>
                                          <p:spTgt spid="19"/>
                                        </p:tgtEl>
                                        <p:attrNameLst>
                                          <p:attrName>ppt_y</p:attrName>
                                        </p:attrNameLst>
                                      </p:cBhvr>
                                      <p:tavLst>
                                        <p:tav tm="0">
                                          <p:val>
                                            <p:strVal val="#ppt_y+0.1"/>
                                          </p:val>
                                        </p:tav>
                                        <p:tav tm="100000">
                                          <p:val>
                                            <p:strVal val="#ppt_y"/>
                                          </p:val>
                                        </p:tav>
                                      </p:tavLst>
                                    </p:anim>
                                    <p:animEffect transition="in" filter="fade">
                                      <p:cBhvr>
                                        <p:cTn id="58" dur="500"/>
                                        <p:tgtEl>
                                          <p:spTgt spid="19"/>
                                        </p:tgtEl>
                                      </p:cBhvr>
                                    </p:animEffect>
                                  </p:childTnLst>
                                </p:cTn>
                              </p:par>
                              <p:par>
                                <p:cTn id="64" presetID="2" presetClass="entr" presetSubtype="4" fill="hold" grpId="0" nodeType="withEffect">
                                  <p:stCondLst>
                                    <p:cond delay="600"/>
                                  </p:stCondLst>
                                  <p:childTnLst>
                                    <p:set>
                                      <p:cBhvr>
                                        <p:cTn id="60" dur="1" fill="hold">
                                          <p:stCondLst>
                                            <p:cond delay="0"/>
                                          </p:stCondLst>
                                        </p:cTn>
                                        <p:tgtEl>
                                          <p:spTgt spid="20"/>
                                        </p:tgtEl>
                                        <p:attrNameLst>
                                          <p:attrName>style.visibility</p:attrName>
                                        </p:attrNameLst>
                                      </p:cBhvr>
                                      <p:to>
                                        <p:strVal val="visible"/>
                                      </p:to>
                                    </p:set>
                                    <p:anim calcmode="lin" valueType="num">
                                      <p:cBhvr additive="base">
                                        <p:cTn id="61" dur="500" fill="hold"/>
                                        <p:tgtEl>
                                          <p:spTgt spid="20"/>
                                        </p:tgtEl>
                                        <p:attrNameLst>
                                          <p:attrName>ppt_x</p:attrName>
                                        </p:attrNameLst>
                                      </p:cBhvr>
                                      <p:tavLst>
                                        <p:tav tm="0">
                                          <p:val>
                                            <p:strVal val="#ppt_x"/>
                                          </p:val>
                                        </p:tav>
                                        <p:tav tm="100000">
                                          <p:val>
                                            <p:strVal val="#ppt_x"/>
                                          </p:val>
                                        </p:tav>
                                      </p:tavLst>
                                    </p:anim>
                                    <p:anim calcmode="lin" valueType="num">
                                      <p:cBhvr additive="base">
                                        <p:cTn id="62" dur="500" fill="hold"/>
                                        <p:tgtEl>
                                          <p:spTgt spid="20"/>
                                        </p:tgtEl>
                                        <p:attrNameLst>
                                          <p:attrName>ppt_y</p:attrName>
                                        </p:attrNameLst>
                                      </p:cBhvr>
                                      <p:tavLst>
                                        <p:tav tm="0">
                                          <p:val>
                                            <p:strVal val="#ppt_y+0.1"/>
                                          </p:val>
                                        </p:tav>
                                        <p:tav tm="100000">
                                          <p:val>
                                            <p:strVal val="#ppt_y"/>
                                          </p:val>
                                        </p:tav>
                                      </p:tavLst>
                                    </p:anim>
                                    <p:animEffect transition="in" filter="fade">
                                      <p:cBhvr>
                                        <p:cTn id="63" dur="500"/>
                                        <p:tgtEl>
                                          <p:spTgt spid="20"/>
                                        </p:tgtEl>
                                      </p:cBhvr>
                                    </p:animEffect>
                                  </p:childTnLst>
                                </p:cTn>
                              </p:par>
                              <p:par>
                                <p:cTn id="69" presetID="2" presetClass="entr" presetSubtype="4" fill="hold" grpId="0" nodeType="withEffect">
                                  <p:stCondLst>
                                    <p:cond delay="600"/>
                                  </p:stCondLst>
                                  <p:childTnLst>
                                    <p:set>
                                      <p:cBhvr>
                                        <p:cTn id="65" dur="1" fill="hold">
                                          <p:stCondLst>
                                            <p:cond delay="0"/>
                                          </p:stCondLst>
                                        </p:cTn>
                                        <p:tgtEl>
                                          <p:spTgt spid="21"/>
                                        </p:tgtEl>
                                        <p:attrNameLst>
                                          <p:attrName>style.visibility</p:attrName>
                                        </p:attrNameLst>
                                      </p:cBhvr>
                                      <p:to>
                                        <p:strVal val="visible"/>
                                      </p:to>
                                    </p:set>
                                    <p:anim calcmode="lin" valueType="num">
                                      <p:cBhvr additive="base">
                                        <p:cTn id="66" dur="500" fill="hold"/>
                                        <p:tgtEl>
                                          <p:spTgt spid="21"/>
                                        </p:tgtEl>
                                        <p:attrNameLst>
                                          <p:attrName>ppt_x</p:attrName>
                                        </p:attrNameLst>
                                      </p:cBhvr>
                                      <p:tavLst>
                                        <p:tav tm="0">
                                          <p:val>
                                            <p:strVal val="#ppt_x"/>
                                          </p:val>
                                        </p:tav>
                                        <p:tav tm="100000">
                                          <p:val>
                                            <p:strVal val="#ppt_x"/>
                                          </p:val>
                                        </p:tav>
                                      </p:tavLst>
                                    </p:anim>
                                    <p:anim calcmode="lin" valueType="num">
                                      <p:cBhvr additive="base">
                                        <p:cTn id="67" dur="500" fill="hold"/>
                                        <p:tgtEl>
                                          <p:spTgt spid="21"/>
                                        </p:tgtEl>
                                        <p:attrNameLst>
                                          <p:attrName>ppt_y</p:attrName>
                                        </p:attrNameLst>
                                      </p:cBhvr>
                                      <p:tavLst>
                                        <p:tav tm="0">
                                          <p:val>
                                            <p:strVal val="#ppt_y+0.1"/>
                                          </p:val>
                                        </p:tav>
                                        <p:tav tm="100000">
                                          <p:val>
                                            <p:strVal val="#ppt_y"/>
                                          </p:val>
                                        </p:tav>
                                      </p:tavLst>
                                    </p:anim>
                                    <p:animEffect transition="in" filter="fade">
                                      <p:cBhvr>
                                        <p:cTn id="68" dur="500"/>
                                        <p:tgtEl>
                                          <p:spTgt spid="21"/>
                                        </p:tgtEl>
                                      </p:cBhvr>
                                    </p:animEffect>
                                  </p:childTnLst>
                                </p:cTn>
                              </p:par>
                              <p:par>
                                <p:cTn id="74" presetID="2" presetClass="entr" presetSubtype="4" fill="hold" grpId="0" nodeType="withEffect">
                                  <p:stCondLst>
                                    <p:cond delay="800"/>
                                  </p:stCondLst>
                                  <p:childTnLst>
                                    <p:set>
                                      <p:cBhvr>
                                        <p:cTn id="70" dur="1" fill="hold">
                                          <p:stCondLst>
                                            <p:cond delay="0"/>
                                          </p:stCondLst>
                                        </p:cTn>
                                        <p:tgtEl>
                                          <p:spTgt spid="22"/>
                                        </p:tgtEl>
                                        <p:attrNameLst>
                                          <p:attrName>style.visibility</p:attrName>
                                        </p:attrNameLst>
                                      </p:cBhvr>
                                      <p:to>
                                        <p:strVal val="visible"/>
                                      </p:to>
                                    </p:set>
                                    <p:anim calcmode="lin" valueType="num">
                                      <p:cBhvr additive="base">
                                        <p:cTn id="71" dur="500" fill="hold"/>
                                        <p:tgtEl>
                                          <p:spTgt spid="22"/>
                                        </p:tgtEl>
                                        <p:attrNameLst>
                                          <p:attrName>ppt_x</p:attrName>
                                        </p:attrNameLst>
                                      </p:cBhvr>
                                      <p:tavLst>
                                        <p:tav tm="0">
                                          <p:val>
                                            <p:strVal val="#ppt_x"/>
                                          </p:val>
                                        </p:tav>
                                        <p:tav tm="100000">
                                          <p:val>
                                            <p:strVal val="#ppt_x"/>
                                          </p:val>
                                        </p:tav>
                                      </p:tavLst>
                                    </p:anim>
                                    <p:anim calcmode="lin" valueType="num">
                                      <p:cBhvr additive="base">
                                        <p:cTn id="72" dur="500" fill="hold"/>
                                        <p:tgtEl>
                                          <p:spTgt spid="22"/>
                                        </p:tgtEl>
                                        <p:attrNameLst>
                                          <p:attrName>ppt_y</p:attrName>
                                        </p:attrNameLst>
                                      </p:cBhvr>
                                      <p:tavLst>
                                        <p:tav tm="0">
                                          <p:val>
                                            <p:strVal val="#ppt_y+0.1"/>
                                          </p:val>
                                        </p:tav>
                                        <p:tav tm="100000">
                                          <p:val>
                                            <p:strVal val="#ppt_y"/>
                                          </p:val>
                                        </p:tav>
                                      </p:tavLst>
                                    </p:anim>
                                    <p:animEffect transition="in" filter="fade">
                                      <p:cBhvr>
                                        <p:cTn id="73" dur="500"/>
                                        <p:tgtEl>
                                          <p:spTgt spid="22"/>
                                        </p:tgtEl>
                                      </p:cBhvr>
                                    </p:animEffect>
                                  </p:childTnLst>
                                </p:cTn>
                              </p:par>
                              <p:par>
                                <p:cTn id="79" presetID="2" presetClass="entr" presetSubtype="4" fill="hold" grpId="0" nodeType="withEffect">
                                  <p:stCondLst>
                                    <p:cond delay="800"/>
                                  </p:stCondLst>
                                  <p:childTnLst>
                                    <p:set>
                                      <p:cBhvr>
                                        <p:cTn id="75" dur="1" fill="hold">
                                          <p:stCondLst>
                                            <p:cond delay="0"/>
                                          </p:stCondLst>
                                        </p:cTn>
                                        <p:tgtEl>
                                          <p:spTgt spid="23"/>
                                        </p:tgtEl>
                                        <p:attrNameLst>
                                          <p:attrName>style.visibility</p:attrName>
                                        </p:attrNameLst>
                                      </p:cBhvr>
                                      <p:to>
                                        <p:strVal val="visible"/>
                                      </p:to>
                                    </p:set>
                                    <p:anim calcmode="lin" valueType="num">
                                      <p:cBhvr additive="base">
                                        <p:cTn id="76" dur="500" fill="hold"/>
                                        <p:tgtEl>
                                          <p:spTgt spid="23"/>
                                        </p:tgtEl>
                                        <p:attrNameLst>
                                          <p:attrName>ppt_x</p:attrName>
                                        </p:attrNameLst>
                                      </p:cBhvr>
                                      <p:tavLst>
                                        <p:tav tm="0">
                                          <p:val>
                                            <p:strVal val="#ppt_x"/>
                                          </p:val>
                                        </p:tav>
                                        <p:tav tm="100000">
                                          <p:val>
                                            <p:strVal val="#ppt_x"/>
                                          </p:val>
                                        </p:tav>
                                      </p:tavLst>
                                    </p:anim>
                                    <p:anim calcmode="lin" valueType="num">
                                      <p:cBhvr additive="base">
                                        <p:cTn id="77" dur="500" fill="hold"/>
                                        <p:tgtEl>
                                          <p:spTgt spid="23"/>
                                        </p:tgtEl>
                                        <p:attrNameLst>
                                          <p:attrName>ppt_y</p:attrName>
                                        </p:attrNameLst>
                                      </p:cBhvr>
                                      <p:tavLst>
                                        <p:tav tm="0">
                                          <p:val>
                                            <p:strVal val="#ppt_y+0.1"/>
                                          </p:val>
                                        </p:tav>
                                        <p:tav tm="100000">
                                          <p:val>
                                            <p:strVal val="#ppt_y"/>
                                          </p:val>
                                        </p:tav>
                                      </p:tavLst>
                                    </p:anim>
                                    <p:animEffect transition="in" filter="fade">
                                      <p:cBhvr>
                                        <p:cTn id="78" dur="500"/>
                                        <p:tgtEl>
                                          <p:spTgt spid="23"/>
                                        </p:tgtEl>
                                      </p:cBhvr>
                                    </p:animEffect>
                                  </p:childTnLst>
                                </p:cTn>
                              </p:par>
                              <p:par>
                                <p:cTn id="84" presetID="2" presetClass="entr" presetSubtype="4" fill="hold" grpId="0" nodeType="withEffect">
                                  <p:stCondLst>
                                    <p:cond delay="800"/>
                                  </p:stCondLst>
                                  <p:childTnLst>
                                    <p:set>
                                      <p:cBhvr>
                                        <p:cTn id="80" dur="1" fill="hold">
                                          <p:stCondLst>
                                            <p:cond delay="0"/>
                                          </p:stCondLst>
                                        </p:cTn>
                                        <p:tgtEl>
                                          <p:spTgt spid="24"/>
                                        </p:tgtEl>
                                        <p:attrNameLst>
                                          <p:attrName>style.visibility</p:attrName>
                                        </p:attrNameLst>
                                      </p:cBhvr>
                                      <p:to>
                                        <p:strVal val="visible"/>
                                      </p:to>
                                    </p:set>
                                    <p:anim calcmode="lin" valueType="num">
                                      <p:cBhvr additive="base">
                                        <p:cTn id="81" dur="500" fill="hold"/>
                                        <p:tgtEl>
                                          <p:spTgt spid="24"/>
                                        </p:tgtEl>
                                        <p:attrNameLst>
                                          <p:attrName>ppt_x</p:attrName>
                                        </p:attrNameLst>
                                      </p:cBhvr>
                                      <p:tavLst>
                                        <p:tav tm="0">
                                          <p:val>
                                            <p:strVal val="#ppt_x"/>
                                          </p:val>
                                        </p:tav>
                                        <p:tav tm="100000">
                                          <p:val>
                                            <p:strVal val="#ppt_x"/>
                                          </p:val>
                                        </p:tav>
                                      </p:tavLst>
                                    </p:anim>
                                    <p:anim calcmode="lin" valueType="num">
                                      <p:cBhvr additive="base">
                                        <p:cTn id="82" dur="500" fill="hold"/>
                                        <p:tgtEl>
                                          <p:spTgt spid="24"/>
                                        </p:tgtEl>
                                        <p:attrNameLst>
                                          <p:attrName>ppt_y</p:attrName>
                                        </p:attrNameLst>
                                      </p:cBhvr>
                                      <p:tavLst>
                                        <p:tav tm="0">
                                          <p:val>
                                            <p:strVal val="#ppt_y+0.1"/>
                                          </p:val>
                                        </p:tav>
                                        <p:tav tm="100000">
                                          <p:val>
                                            <p:strVal val="#ppt_y"/>
                                          </p:val>
                                        </p:tav>
                                      </p:tavLst>
                                    </p:anim>
                                    <p:animEffect transition="in" filter="fade">
                                      <p:cBhvr>
                                        <p:cTn id="83" dur="500"/>
                                        <p:tgtEl>
                                          <p:spTgt spid="24"/>
                                        </p:tgtEl>
                                      </p:cBhvr>
                                    </p:animEffect>
                                  </p:childTnLst>
                                </p:cTn>
                              </p:par>
                            </p:childTnLst>
                          </p:cTn>
                        </p:par>
                      </p:childTnLst>
                    </p:cTn>
                  </p:par>
                  <p:par>
                    <p:cTn id="85" fill="hold">
                      <p:stCondLst>
                        <p:cond delay="indefinite"/>
                      </p:stCondLst>
                      <p:childTnLst>
                        <p:par>
                          <p:cTn id="86" fill="hold">
                            <p:stCondLst>
                              <p:cond delay="0"/>
                            </p:stCondLst>
                            <p:childTnLst>
                              <p:par>
                                <p:cTn id="91" presetID="2" presetClass="entr" presetSubtype="4" fill="hold" grpId="0" nodeType="clickEffect">
                                  <p:stCondLst>
                                    <p:cond delay="0"/>
                                  </p:stCondLst>
                                  <p:childTnLst>
                                    <p:set>
                                      <p:cBhvr>
                                        <p:cTn id="87" dur="1" fill="hold">
                                          <p:stCondLst>
                                            <p:cond delay="0"/>
                                          </p:stCondLst>
                                        </p:cTn>
                                        <p:tgtEl>
                                          <p:spTgt spid="25"/>
                                        </p:tgtEl>
                                        <p:attrNameLst>
                                          <p:attrName>style.visibility</p:attrName>
                                        </p:attrNameLst>
                                      </p:cBhvr>
                                      <p:to>
                                        <p:strVal val="visible"/>
                                      </p:to>
                                    </p:set>
                                    <p:anim calcmode="lin" valueType="num">
                                      <p:cBhvr additive="base">
                                        <p:cTn id="88" dur="500" fill="hold"/>
                                        <p:tgtEl>
                                          <p:spTgt spid="25"/>
                                        </p:tgtEl>
                                        <p:attrNameLst>
                                          <p:attrName>ppt_x</p:attrName>
                                        </p:attrNameLst>
                                      </p:cBhvr>
                                      <p:tavLst>
                                        <p:tav tm="0">
                                          <p:val>
                                            <p:strVal val="#ppt_x"/>
                                          </p:val>
                                        </p:tav>
                                        <p:tav tm="100000">
                                          <p:val>
                                            <p:strVal val="#ppt_x"/>
                                          </p:val>
                                        </p:tav>
                                      </p:tavLst>
                                    </p:anim>
                                    <p:anim calcmode="lin" valueType="num">
                                      <p:cBhvr additive="base">
                                        <p:cTn id="89" dur="500" fill="hold"/>
                                        <p:tgtEl>
                                          <p:spTgt spid="25"/>
                                        </p:tgtEl>
                                        <p:attrNameLst>
                                          <p:attrName>ppt_y</p:attrName>
                                        </p:attrNameLst>
                                      </p:cBhvr>
                                      <p:tavLst>
                                        <p:tav tm="0">
                                          <p:val>
                                            <p:strVal val="#ppt_y+0.1"/>
                                          </p:val>
                                        </p:tav>
                                        <p:tav tm="100000">
                                          <p:val>
                                            <p:strVal val="#ppt_y"/>
                                          </p:val>
                                        </p:tav>
                                      </p:tavLst>
                                    </p:anim>
                                    <p:animEffect transition="in" filter="fade">
                                      <p:cBhvr>
                                        <p:cTn id="90" dur="500"/>
                                        <p:tgtEl>
                                          <p:spTgt spid="25"/>
                                        </p:tgtEl>
                                      </p:cBhvr>
                                    </p:animEffect>
                                  </p:childTnLst>
                                </p:cTn>
                              </p:par>
                              <p:par>
                                <p:cTn id="96" presetID="2" presetClass="entr" presetSubtype="4" fill="hold" grpId="0" nodeType="withEffect">
                                  <p:stCondLst>
                                    <p:cond delay="0"/>
                                  </p:stCondLst>
                                  <p:childTnLst>
                                    <p:set>
                                      <p:cBhvr>
                                        <p:cTn id="92" dur="1" fill="hold">
                                          <p:stCondLst>
                                            <p:cond delay="0"/>
                                          </p:stCondLst>
                                        </p:cTn>
                                        <p:tgtEl>
                                          <p:spTgt spid="26"/>
                                        </p:tgtEl>
                                        <p:attrNameLst>
                                          <p:attrName>style.visibility</p:attrName>
                                        </p:attrNameLst>
                                      </p:cBhvr>
                                      <p:to>
                                        <p:strVal val="visible"/>
                                      </p:to>
                                    </p:set>
                                    <p:anim calcmode="lin" valueType="num">
                                      <p:cBhvr additive="base">
                                        <p:cTn id="93" dur="500" fill="hold"/>
                                        <p:tgtEl>
                                          <p:spTgt spid="26"/>
                                        </p:tgtEl>
                                        <p:attrNameLst>
                                          <p:attrName>ppt_x</p:attrName>
                                        </p:attrNameLst>
                                      </p:cBhvr>
                                      <p:tavLst>
                                        <p:tav tm="0">
                                          <p:val>
                                            <p:strVal val="#ppt_x"/>
                                          </p:val>
                                        </p:tav>
                                        <p:tav tm="100000">
                                          <p:val>
                                            <p:strVal val="#ppt_x"/>
                                          </p:val>
                                        </p:tav>
                                      </p:tavLst>
                                    </p:anim>
                                    <p:anim calcmode="lin" valueType="num">
                                      <p:cBhvr additive="base">
                                        <p:cTn id="94" dur="500" fill="hold"/>
                                        <p:tgtEl>
                                          <p:spTgt spid="26"/>
                                        </p:tgtEl>
                                        <p:attrNameLst>
                                          <p:attrName>ppt_y</p:attrName>
                                        </p:attrNameLst>
                                      </p:cBhvr>
                                      <p:tavLst>
                                        <p:tav tm="0">
                                          <p:val>
                                            <p:strVal val="#ppt_y+0.1"/>
                                          </p:val>
                                        </p:tav>
                                        <p:tav tm="100000">
                                          <p:val>
                                            <p:strVal val="#ppt_y"/>
                                          </p:val>
                                        </p:tav>
                                      </p:tavLst>
                                    </p:anim>
                                    <p:animEffect transition="in" filter="fade">
                                      <p:cBhvr>
                                        <p:cTn id="95" dur="500"/>
                                        <p:tgtEl>
                                          <p:spTgt spid="26"/>
                                        </p:tgtEl>
                                      </p:cBhvr>
                                    </p:animEffect>
                                  </p:childTnLst>
                                </p:cTn>
                              </p:par>
                            </p:childTnLst>
                          </p:cTn>
                        </p:par>
                      </p:childTnLst>
                    </p:cTn>
                  </p:par>
                  <p:par>
                    <p:cTn id="97" fill="hold">
                      <p:stCondLst>
                        <p:cond delay="indefinite"/>
                      </p:stCondLst>
                      <p:childTnLst>
                        <p:par>
                          <p:cTn id="98" fill="hold">
                            <p:stCondLst>
                              <p:cond delay="0"/>
                            </p:stCondLst>
                            <p:childTnLst>
                              <p:par>
                                <p:cTn id="103" presetID="2" presetClass="entr" presetSubtype="4" fill="hold" grpId="0" nodeType="clickEffect">
                                  <p:stCondLst>
                                    <p:cond delay="0"/>
                                  </p:stCondLst>
                                  <p:childTnLst>
                                    <p:set>
                                      <p:cBhvr>
                                        <p:cTn id="99" dur="1" fill="hold">
                                          <p:stCondLst>
                                            <p:cond delay="0"/>
                                          </p:stCondLst>
                                        </p:cTn>
                                        <p:tgtEl>
                                          <p:spTgt spid="27"/>
                                        </p:tgtEl>
                                        <p:attrNameLst>
                                          <p:attrName>style.visibility</p:attrName>
                                        </p:attrNameLst>
                                      </p:cBhvr>
                                      <p:to>
                                        <p:strVal val="visible"/>
                                      </p:to>
                                    </p:set>
                                    <p:anim calcmode="lin" valueType="num">
                                      <p:cBhvr additive="base">
                                        <p:cTn id="100" dur="500" fill="hold"/>
                                        <p:tgtEl>
                                          <p:spTgt spid="27"/>
                                        </p:tgtEl>
                                        <p:attrNameLst>
                                          <p:attrName>ppt_x</p:attrName>
                                        </p:attrNameLst>
                                      </p:cBhvr>
                                      <p:tavLst>
                                        <p:tav tm="0">
                                          <p:val>
                                            <p:strVal val="#ppt_x"/>
                                          </p:val>
                                        </p:tav>
                                        <p:tav tm="100000">
                                          <p:val>
                                            <p:strVal val="#ppt_x"/>
                                          </p:val>
                                        </p:tav>
                                      </p:tavLst>
                                    </p:anim>
                                    <p:anim calcmode="lin" valueType="num">
                                      <p:cBhvr additive="base">
                                        <p:cTn id="101" dur="500" fill="hold"/>
                                        <p:tgtEl>
                                          <p:spTgt spid="27"/>
                                        </p:tgtEl>
                                        <p:attrNameLst>
                                          <p:attrName>ppt_y</p:attrName>
                                        </p:attrNameLst>
                                      </p:cBhvr>
                                      <p:tavLst>
                                        <p:tav tm="0">
                                          <p:val>
                                            <p:strVal val="#ppt_y+0.1"/>
                                          </p:val>
                                        </p:tav>
                                        <p:tav tm="100000">
                                          <p:val>
                                            <p:strVal val="#ppt_y"/>
                                          </p:val>
                                        </p:tav>
                                      </p:tavLst>
                                    </p:anim>
                                    <p:animEffect transition="in" filter="fade">
                                      <p:cBhvr>
                                        <p:cTn id="102" dur="500"/>
                                        <p:tgtEl>
                                          <p:spTgt spid="27"/>
                                        </p:tgtEl>
                                      </p:cBhvr>
                                    </p:animEffect>
                                  </p:childTnLst>
                                </p:cTn>
                              </p:par>
                              <p:par>
                                <p:cTn id="108" presetID="2" presetClass="entr" presetSubtype="4" fill="hold" grpId="0" nodeType="withEffect">
                                  <p:stCondLst>
                                    <p:cond delay="0"/>
                                  </p:stCondLst>
                                  <p:childTnLst>
                                    <p:set>
                                      <p:cBhvr>
                                        <p:cTn id="104" dur="1" fill="hold">
                                          <p:stCondLst>
                                            <p:cond delay="0"/>
                                          </p:stCondLst>
                                        </p:cTn>
                                        <p:tgtEl>
                                          <p:spTgt spid="28"/>
                                        </p:tgtEl>
                                        <p:attrNameLst>
                                          <p:attrName>style.visibility</p:attrName>
                                        </p:attrNameLst>
                                      </p:cBhvr>
                                      <p:to>
                                        <p:strVal val="visible"/>
                                      </p:to>
                                    </p:set>
                                    <p:anim calcmode="lin" valueType="num">
                                      <p:cBhvr additive="base">
                                        <p:cTn id="105" dur="500" fill="hold"/>
                                        <p:tgtEl>
                                          <p:spTgt spid="28"/>
                                        </p:tgtEl>
                                        <p:attrNameLst>
                                          <p:attrName>ppt_x</p:attrName>
                                        </p:attrNameLst>
                                      </p:cBhvr>
                                      <p:tavLst>
                                        <p:tav tm="0">
                                          <p:val>
                                            <p:strVal val="#ppt_x"/>
                                          </p:val>
                                        </p:tav>
                                        <p:tav tm="100000">
                                          <p:val>
                                            <p:strVal val="#ppt_x"/>
                                          </p:val>
                                        </p:tav>
                                      </p:tavLst>
                                    </p:anim>
                                    <p:anim calcmode="lin" valueType="num">
                                      <p:cBhvr additive="base">
                                        <p:cTn id="106" dur="500" fill="hold"/>
                                        <p:tgtEl>
                                          <p:spTgt spid="28"/>
                                        </p:tgtEl>
                                        <p:attrNameLst>
                                          <p:attrName>ppt_y</p:attrName>
                                        </p:attrNameLst>
                                      </p:cBhvr>
                                      <p:tavLst>
                                        <p:tav tm="0">
                                          <p:val>
                                            <p:strVal val="#ppt_y+0.1"/>
                                          </p:val>
                                        </p:tav>
                                        <p:tav tm="100000">
                                          <p:val>
                                            <p:strVal val="#ppt_y"/>
                                          </p:val>
                                        </p:tav>
                                      </p:tavLst>
                                    </p:anim>
                                    <p:animEffect transition="in" filter="fade">
                                      <p:cBhvr>
                                        <p:cTn id="10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