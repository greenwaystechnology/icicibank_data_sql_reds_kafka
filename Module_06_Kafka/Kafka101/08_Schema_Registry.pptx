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of the Kafka 101 series: the Confluent Schema Registry - how producers and consumers stay agreed on the shape of the data, even as that shape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applications are busily producing and consuming, two things happen. First, new consumers of existing topics emerge: people see that the data is useful and build new applications on it - sometimes your own team, sometimes another team, sometimes people you have never met. They all need to understand the format of the messages. Second, schemas change. However good the original model, the world changes and the software follows. Will downstream consumers cope with a new format? If some producers are on the new version and some on the old, will a consumer cope with both? Schema changes roll out in complex ways, and we need help with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Registry is a standalone server process that runs outside the brokers. It is not part of open-source Apache Kafka; it is a community-licensed component from Confluent, but widely adopted and highly standardized. To the cluster it looks like any other application: everything that is not a broker is a producer or a consumer. Its job is to maintain a database of the schemas written into the topics it is responsible for. That database is persisted in an internal Kafka topic and cached in the registry for low-latency access, and you can run several instances for high availability. Trainer note: the topic is called _schemas by default and is compacted; one instance is elected primary and takes all writes, the others forward writes to it and serve reads.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produce side you add one entry to the producer's configuration map: where the schema registry is on the network. When the producer serializes an object - not just a string, but a compound type from your language's type system - it calls the registry's REST API: here is a schema, please know about it. The registry either says it has never seen that one and stores it, or says it already knows it. Either way the producer gets the schema's id, puts that id in the message, and produces it to the topic. Trainer note: the Confluent wire format is one magic byte (0), a four-byte schema id, then the encoded value. Serializers cache ids, so the REST call happens once per schema, not per message. With the default naming strategy, the value schema for a topic is registered under the subject &lt;topic&gt;-value.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consumer has the same kind of object - in Java something that looks like a plain old Java object, with a lot of machinery underneath - and that object knows its schema. When a message arrives, the consumer reads the schema id from it and checks with the registry: is this the schema I expect, or one I can handle? If so, it consumes; if not, it throws rather than guess. Trainer note: in practice the deserializer fetches the writer's schema by id and, for Avro, resolves it against the reader's own schema - compatible differences such as a missing field with a default are filled in automatically. The main compatibility gate is at registration time, on the produce side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configure each topic - strictly, each subject - with a compatibility rule: forward, backward, both (full), or I suppose neither, which would not be very interesting. Backward: consumers using the new schema can read data written with the older one. Forward: consumers still on the old schema can read data written with the newer one. Full: both hold. Trainer note: the default is BACKWARD, and it only compares a new schema with the latest version; BACKWARD_TRANSITIVE and friends compare with every earlier version, which matters if consumers may replay the whole topic. The 'safe changes' lines are for Avro.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rules decide how changes roll out. If you control the producers and will update them first, consumers - which you may not control - will meet messages in a version they have never seen, so you want forward compatibility; the consumers can be updated later. If instead you control the consumers, and there are many producers owned by other teams who will move to the new schema progressively, or maybe never, your consumers must handle older versions without throwing - backward compatibility. Full covers both orders at the price of the tightest limits on what may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with the registry, the rules make the producer throw an exception if it is about to produce a message the consumers will not be able to handle, and make the consumer throw if it is about to consume a message it cannot handle. Since you cannot predict in code what to do with a truly unknown format, Schema Registry stops you: a produce or consume that would have broken something fails in a predictable way. That is the key idea. Trainer note: the registry answers the registration with HTTP 409; the Java producer surfaces it as a SerializationException from send(). Production setups often set auto.register.schemas=false so only CI/CD registers new versions.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of the lesson's recording, Schema Registry supports three serialization formats: Avro, JSON Schema and Protobuf. Avro is highly compact and the long-standing default in the Kafka world. JSON Schema is human-readable and a good fit for web applications. Protobuf is efficient and language-neutral, and popular with gRPC services. Each has its own serializer and deserializer pair; the registry flow - register, embed the id, look it up - is the same for all three.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Avro the schema is written down in an .avsc file - the lesson calls it the interface description. Tooling turns it into code: in Java, a Maven or Gradle plugin generates the class from the .avsc as part of the build - the object that looks like a POJO, with a lot of interesting machinery underneath. The transformation is automatic. Trainer note: an .avsc is the schema in JSON; Avro also has a separate IDL syntax (.avdl) that compiles to the same thing. The humidity field is a union with null and a default of null, which is why adding it is compatible both ways.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best things about the schema file is that it drives collaboration. When you and your team want to negotiate a change, here is a text file to do it with - through a pull request or a conversation - and it is the source of truth. The build generates the classes, and the registry's compatibility rules make producers and consumers check themselves before they do something that would fail unpredictably. There are also compile-time checks: if the build can reach the registry, it can ask whether this new version of the schema is acceptable under the topic's rules, so you do not have to deploy and wait to see. Trainer note: the Confluent Maven plugin's goals include test-compatibility and register; the REST endpoint shown is the same check.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lesson's slightly opinionated statement: in any non-trivial system, using Schema Registry is non-negotiable. At organizational scale, people will write consumers you have not talked everything through with, and they need a standard way to learn the schema and an automated way to negotiate changes to it. However well you define things up front, the world changes and your schemas will too. Confluent Cloud builds on the registry with governance features - data contracts, catalogs for discovery, and managing change across a large organization - covered briefly in the last module.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points to leave with. Quick check: you own the consumers and many teams own the producers - which rule? (BACKWARD.) And where does a message keep its schema? (It doesn't - it carries a four-byte schema id; the schema lives in the registry.)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edge1"/>
          <p:cNvSpPr/>
          <p:nvPr/>
        </p:nvSpPr>
        <p:spPr>
          <a:xfrm>
            <a:off x="0" y="0"/>
            <a:ext cx="128016" cy="51435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a0f_kick2"/>
          <p:cNvSpPr txBox="1"/>
          <p:nvPr/>
        </p:nvSpPr>
        <p:spPr>
          <a:xfrm>
            <a:off x="548640" y="868680"/>
            <a:ext cx="4937760" cy="292608"/>
          </a:xfrm>
          <a:prstGeom prst="rect">
            <a:avLst/>
          </a:prstGeom>
          <a:noFill/>
        </p:spPr>
        <p:txBody>
          <a:bodyPr wrap="square" lIns="0" tIns="0" rIns="0" bIns="0" anchor="ctr">
            <a:spAutoFit/>
          </a:bodyPr>
          <a:lstStyle/>
          <a:p>
            <a:pPr algn="l"/>
            <a:r>
              <a:rPr sz="1050" b="1" spc="300">
                <a:solidFill>
                  <a:srgbClr val="FB923C"/>
                </a:solidFill>
                <a:latin typeface="Segoe UI"/>
              </a:rPr>
              <a:t>APACHE KAFKA 101</a:t>
            </a:r>
          </a:p>
        </p:txBody>
      </p:sp>
      <p:sp>
        <p:nvSpPr>
          <p:cNvPr id="4" name="a0ud200_t3"/>
          <p:cNvSpPr txBox="1"/>
          <p:nvPr/>
        </p:nvSpPr>
        <p:spPr>
          <a:xfrm>
            <a:off x="548640" y="1188720"/>
            <a:ext cx="5212080" cy="1417320"/>
          </a:xfrm>
          <a:prstGeom prst="rect">
            <a:avLst/>
          </a:prstGeom>
          <a:noFill/>
        </p:spPr>
        <p:txBody>
          <a:bodyPr wrap="square" lIns="0" tIns="0" rIns="0" bIns="0" anchor="ctr">
            <a:spAutoFit/>
          </a:bodyPr>
          <a:lstStyle/>
          <a:p>
            <a:pPr algn="l"/>
            <a:r>
              <a:rPr sz="4200" b="0">
                <a:solidFill>
                  <a:srgbClr val="FFFFFF"/>
                </a:solidFill>
                <a:latin typeface="Bahnschrift SemiBold"/>
              </a:rPr>
              <a:t>Apache Kafka 101</a:t>
            </a:r>
          </a:p>
        </p:txBody>
      </p:sp>
      <p:sp>
        <p:nvSpPr>
          <p:cNvPr id="5" name="a0fd500_sub4"/>
          <p:cNvSpPr txBox="1"/>
          <p:nvPr/>
        </p:nvSpPr>
        <p:spPr>
          <a:xfrm>
            <a:off x="548640" y="2670048"/>
            <a:ext cx="5029200" cy="457200"/>
          </a:xfrm>
          <a:prstGeom prst="rect">
            <a:avLst/>
          </a:prstGeom>
          <a:noFill/>
        </p:spPr>
        <p:txBody>
          <a:bodyPr wrap="square" lIns="0" tIns="0" rIns="0" bIns="0" anchor="ctr">
            <a:spAutoFit/>
          </a:bodyPr>
          <a:lstStyle/>
          <a:p>
            <a:pPr algn="l"/>
            <a:r>
              <a:rPr sz="1450" b="0">
                <a:solidFill>
                  <a:srgbClr val="D6D3D1"/>
                </a:solidFill>
                <a:latin typeface="Segoe UI"/>
              </a:rPr>
              <a:t>Schema Registry</a:t>
            </a:r>
          </a:p>
          <a:p>
            <a:pPr algn="l"/>
            <a:r>
              <a:rPr sz="1450" b="0">
                <a:solidFill>
                  <a:srgbClr val="D6D3D1"/>
                </a:solidFill>
                <a:latin typeface="Segoe UI"/>
              </a:rPr>
              <a:t>keeping producers and consumers agreed on the data</a:t>
            </a:r>
          </a:p>
        </p:txBody>
      </p:sp>
      <p:sp>
        <p:nvSpPr>
          <p:cNvPr id="6" name="a0ud800_pill5"/>
          <p:cNvSpPr/>
          <p:nvPr/>
        </p:nvSpPr>
        <p:spPr>
          <a:xfrm>
            <a:off x="548640"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SCHEMAS</a:t>
            </a:r>
          </a:p>
        </p:txBody>
      </p:sp>
      <p:sp>
        <p:nvSpPr>
          <p:cNvPr id="7" name="a0ud950_pill6"/>
          <p:cNvSpPr/>
          <p:nvPr/>
        </p:nvSpPr>
        <p:spPr>
          <a:xfrm>
            <a:off x="1572768"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IDS</a:t>
            </a:r>
          </a:p>
        </p:txBody>
      </p:sp>
      <p:sp>
        <p:nvSpPr>
          <p:cNvPr id="8" name="a0ud1100_pill7"/>
          <p:cNvSpPr/>
          <p:nvPr/>
        </p:nvSpPr>
        <p:spPr>
          <a:xfrm>
            <a:off x="2596896"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COMPAT</a:t>
            </a:r>
          </a:p>
        </p:txBody>
      </p:sp>
      <p:sp>
        <p:nvSpPr>
          <p:cNvPr id="9" name="a0ud1250_pill8"/>
          <p:cNvSpPr/>
          <p:nvPr/>
        </p:nvSpPr>
        <p:spPr>
          <a:xfrm>
            <a:off x="3621024" y="3273552"/>
            <a:ext cx="932688" cy="329184"/>
          </a:xfrm>
          <a:prstGeom prst="roundRect">
            <a:avLst>
              <a:gd name="adj" fmla="val 50000"/>
            </a:avLst>
          </a:prstGeom>
          <a:solidFill>
            <a:srgbClr val="18181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DBA74"/>
                </a:solidFill>
                <a:latin typeface="Consolas"/>
              </a:rPr>
              <a:t>AVRO</a:t>
            </a:r>
          </a:p>
        </p:txBody>
      </p:sp>
      <p:sp>
        <p:nvSpPr>
          <p:cNvPr id="10" name="a0fd1400_nt9"/>
          <p:cNvSpPr txBox="1"/>
          <p:nvPr/>
        </p:nvSpPr>
        <p:spPr>
          <a:xfrm>
            <a:off x="548640" y="3950208"/>
            <a:ext cx="4937760" cy="457200"/>
          </a:xfrm>
          <a:prstGeom prst="rect">
            <a:avLst/>
          </a:prstGeom>
          <a:noFill/>
        </p:spPr>
        <p:txBody>
          <a:bodyPr wrap="square" lIns="0" tIns="0" rIns="0" bIns="0" anchor="ctr">
            <a:spAutoFit/>
          </a:bodyPr>
          <a:lstStyle/>
          <a:p>
            <a:pPr algn="l"/>
            <a:r>
              <a:rPr sz="1050" b="0">
                <a:solidFill>
                  <a:srgbClr val="A8A29E"/>
                </a:solidFill>
                <a:latin typeface="Segoe UI"/>
              </a:rPr>
              <a:t>Module 8  ·  Following the Kafka 101 Confluent Schema Registry lesson by Tim Berglund, Confluent</a:t>
            </a:r>
          </a:p>
        </p:txBody>
      </p:sp>
      <p:sp>
        <p:nvSpPr>
          <p:cNvPr id="11" name="a0fd1600_lc10"/>
          <p:cNvSpPr/>
          <p:nvPr/>
        </p:nvSpPr>
        <p:spPr>
          <a:xfrm>
            <a:off x="54864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0fd1600_lct11"/>
          <p:cNvSpPr txBox="1"/>
          <p:nvPr/>
        </p:nvSpPr>
        <p:spPr>
          <a:xfrm>
            <a:off x="54864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0</a:t>
            </a:r>
          </a:p>
        </p:txBody>
      </p:sp>
      <p:sp>
        <p:nvSpPr>
          <p:cNvPr id="13" name="a0fd1645_lc12"/>
          <p:cNvSpPr/>
          <p:nvPr/>
        </p:nvSpPr>
        <p:spPr>
          <a:xfrm>
            <a:off x="98755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0fd1645_lct13"/>
          <p:cNvSpPr txBox="1"/>
          <p:nvPr/>
        </p:nvSpPr>
        <p:spPr>
          <a:xfrm>
            <a:off x="98755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a:t>
            </a:r>
          </a:p>
        </p:txBody>
      </p:sp>
      <p:sp>
        <p:nvSpPr>
          <p:cNvPr id="15" name="a0fd1690_lc14"/>
          <p:cNvSpPr/>
          <p:nvPr/>
        </p:nvSpPr>
        <p:spPr>
          <a:xfrm>
            <a:off x="142646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0fd1690_lct15"/>
          <p:cNvSpPr txBox="1"/>
          <p:nvPr/>
        </p:nvSpPr>
        <p:spPr>
          <a:xfrm>
            <a:off x="142646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2</a:t>
            </a:r>
          </a:p>
        </p:txBody>
      </p:sp>
      <p:sp>
        <p:nvSpPr>
          <p:cNvPr id="17" name="a0fd1735_lc16"/>
          <p:cNvSpPr/>
          <p:nvPr/>
        </p:nvSpPr>
        <p:spPr>
          <a:xfrm>
            <a:off x="1865376"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a0fd1735_lct17"/>
          <p:cNvSpPr txBox="1"/>
          <p:nvPr/>
        </p:nvSpPr>
        <p:spPr>
          <a:xfrm>
            <a:off x="1865376"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3</a:t>
            </a:r>
          </a:p>
        </p:txBody>
      </p:sp>
      <p:sp>
        <p:nvSpPr>
          <p:cNvPr id="19" name="a0fd1780_lc18"/>
          <p:cNvSpPr/>
          <p:nvPr/>
        </p:nvSpPr>
        <p:spPr>
          <a:xfrm>
            <a:off x="230428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0fd1780_lct19"/>
          <p:cNvSpPr txBox="1"/>
          <p:nvPr/>
        </p:nvSpPr>
        <p:spPr>
          <a:xfrm>
            <a:off x="230428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4</a:t>
            </a:r>
          </a:p>
        </p:txBody>
      </p:sp>
      <p:sp>
        <p:nvSpPr>
          <p:cNvPr id="21" name="a0fd1825_lc20"/>
          <p:cNvSpPr/>
          <p:nvPr/>
        </p:nvSpPr>
        <p:spPr>
          <a:xfrm>
            <a:off x="2743200"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0fd1825_lct21"/>
          <p:cNvSpPr txBox="1"/>
          <p:nvPr/>
        </p:nvSpPr>
        <p:spPr>
          <a:xfrm>
            <a:off x="2743200"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5</a:t>
            </a:r>
          </a:p>
        </p:txBody>
      </p:sp>
      <p:sp>
        <p:nvSpPr>
          <p:cNvPr id="23" name="a0fd1870_lc22"/>
          <p:cNvSpPr/>
          <p:nvPr/>
        </p:nvSpPr>
        <p:spPr>
          <a:xfrm>
            <a:off x="3182112"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0fd1870_lct23"/>
          <p:cNvSpPr txBox="1"/>
          <p:nvPr/>
        </p:nvSpPr>
        <p:spPr>
          <a:xfrm>
            <a:off x="3182112"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6</a:t>
            </a:r>
          </a:p>
        </p:txBody>
      </p:sp>
      <p:sp>
        <p:nvSpPr>
          <p:cNvPr id="25" name="a0fd1915_lc24"/>
          <p:cNvSpPr/>
          <p:nvPr/>
        </p:nvSpPr>
        <p:spPr>
          <a:xfrm>
            <a:off x="3621024"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0fd1915_lct25"/>
          <p:cNvSpPr txBox="1"/>
          <p:nvPr/>
        </p:nvSpPr>
        <p:spPr>
          <a:xfrm>
            <a:off x="3621024"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7</a:t>
            </a:r>
          </a:p>
        </p:txBody>
      </p:sp>
      <p:sp>
        <p:nvSpPr>
          <p:cNvPr id="27" name="a0fd1960_lc26"/>
          <p:cNvSpPr/>
          <p:nvPr/>
        </p:nvSpPr>
        <p:spPr>
          <a:xfrm>
            <a:off x="4059935"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0fd1960_lct27"/>
          <p:cNvSpPr txBox="1"/>
          <p:nvPr/>
        </p:nvSpPr>
        <p:spPr>
          <a:xfrm>
            <a:off x="4059935"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8</a:t>
            </a:r>
          </a:p>
        </p:txBody>
      </p:sp>
      <p:sp>
        <p:nvSpPr>
          <p:cNvPr id="29" name="a0fd2005_lc28"/>
          <p:cNvSpPr/>
          <p:nvPr/>
        </p:nvSpPr>
        <p:spPr>
          <a:xfrm>
            <a:off x="4498848" y="4553712"/>
            <a:ext cx="384048" cy="237744"/>
          </a:xfrm>
          <a:prstGeom prst="roundRect">
            <a:avLst>
              <a:gd name="adj" fmla="val 15384"/>
            </a:avLst>
          </a:prstGeom>
          <a:solidFill>
            <a:srgbClr val="272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0fd2005_lct29"/>
          <p:cNvSpPr txBox="1"/>
          <p:nvPr/>
        </p:nvSpPr>
        <p:spPr>
          <a:xfrm>
            <a:off x="4498848"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9</a:t>
            </a:r>
          </a:p>
        </p:txBody>
      </p:sp>
      <p:sp>
        <p:nvSpPr>
          <p:cNvPr id="31" name="a0fd2050_lc30"/>
          <p:cNvSpPr/>
          <p:nvPr/>
        </p:nvSpPr>
        <p:spPr>
          <a:xfrm>
            <a:off x="4937759"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0fd2050_lct31"/>
          <p:cNvSpPr txBox="1"/>
          <p:nvPr/>
        </p:nvSpPr>
        <p:spPr>
          <a:xfrm>
            <a:off x="4937759"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10</a:t>
            </a:r>
          </a:p>
        </p:txBody>
      </p:sp>
      <p:sp>
        <p:nvSpPr>
          <p:cNvPr id="33" name="a0fd2095_lc32"/>
          <p:cNvSpPr/>
          <p:nvPr/>
        </p:nvSpPr>
        <p:spPr>
          <a:xfrm>
            <a:off x="5376671"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0fd2095_lct33"/>
          <p:cNvSpPr txBox="1"/>
          <p:nvPr/>
        </p:nvSpPr>
        <p:spPr>
          <a:xfrm>
            <a:off x="5376671"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11</a:t>
            </a:r>
          </a:p>
        </p:txBody>
      </p:sp>
      <p:sp>
        <p:nvSpPr>
          <p:cNvPr id="35" name="a0fd2140_lc34"/>
          <p:cNvSpPr/>
          <p:nvPr/>
        </p:nvSpPr>
        <p:spPr>
          <a:xfrm>
            <a:off x="5815583" y="4553712"/>
            <a:ext cx="384048" cy="237744"/>
          </a:xfrm>
          <a:prstGeom prst="roundRect">
            <a:avLst>
              <a:gd name="adj" fmla="val 1538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0fd2140_lct35"/>
          <p:cNvSpPr txBox="1"/>
          <p:nvPr/>
        </p:nvSpPr>
        <p:spPr>
          <a:xfrm>
            <a:off x="5815583" y="4553712"/>
            <a:ext cx="384048" cy="237744"/>
          </a:xfrm>
          <a:prstGeom prst="rect">
            <a:avLst/>
          </a:prstGeom>
          <a:noFill/>
        </p:spPr>
        <p:txBody>
          <a:bodyPr wrap="square" lIns="0" tIns="0" rIns="0" bIns="0" anchor="ctr">
            <a:spAutoFit/>
          </a:bodyPr>
          <a:lstStyle/>
          <a:p>
            <a:pPr algn="ctr"/>
            <a:r>
              <a:rPr sz="750" b="0">
                <a:solidFill>
                  <a:srgbClr val="78716C"/>
                </a:solidFill>
                <a:latin typeface="Consolas"/>
              </a:rPr>
              <a:t>12</a:t>
            </a:r>
          </a:p>
        </p:txBody>
      </p:sp>
      <p:sp>
        <p:nvSpPr>
          <p:cNvPr id="37" name="a0fd2185_lc36"/>
          <p:cNvSpPr/>
          <p:nvPr/>
        </p:nvSpPr>
        <p:spPr>
          <a:xfrm>
            <a:off x="6254496" y="4553712"/>
            <a:ext cx="384048" cy="237744"/>
          </a:xfrm>
          <a:prstGeom prst="roundRect">
            <a:avLst>
              <a:gd name="adj" fmla="val 15384"/>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0fd2185_lct37"/>
          <p:cNvSpPr txBox="1"/>
          <p:nvPr/>
        </p:nvSpPr>
        <p:spPr>
          <a:xfrm>
            <a:off x="6254496"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13</a:t>
            </a:r>
          </a:p>
        </p:txBody>
      </p:sp>
      <p:sp>
        <p:nvSpPr>
          <p:cNvPr id="39" name="a0fd2230_lc38"/>
          <p:cNvSpPr/>
          <p:nvPr/>
        </p:nvSpPr>
        <p:spPr>
          <a:xfrm>
            <a:off x="6693407" y="4553712"/>
            <a:ext cx="384048" cy="237744"/>
          </a:xfrm>
          <a:prstGeom prst="roundRect">
            <a:avLst>
              <a:gd name="adj" fmla="val 15384"/>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0fd2230_lct39"/>
          <p:cNvSpPr txBox="1"/>
          <p:nvPr/>
        </p:nvSpPr>
        <p:spPr>
          <a:xfrm>
            <a:off x="6693407"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14</a:t>
            </a:r>
          </a:p>
        </p:txBody>
      </p:sp>
      <p:sp>
        <p:nvSpPr>
          <p:cNvPr id="41" name="a0fd2275_lc40"/>
          <p:cNvSpPr/>
          <p:nvPr/>
        </p:nvSpPr>
        <p:spPr>
          <a:xfrm>
            <a:off x="7132319" y="4553712"/>
            <a:ext cx="384048" cy="237744"/>
          </a:xfrm>
          <a:prstGeom prst="roundRect">
            <a:avLst>
              <a:gd name="adj" fmla="val 15384"/>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0fd2275_lct41"/>
          <p:cNvSpPr txBox="1"/>
          <p:nvPr/>
        </p:nvSpPr>
        <p:spPr>
          <a:xfrm>
            <a:off x="7132319"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15</a:t>
            </a:r>
          </a:p>
        </p:txBody>
      </p:sp>
      <p:sp>
        <p:nvSpPr>
          <p:cNvPr id="43" name="a0fd2320_lc42"/>
          <p:cNvSpPr/>
          <p:nvPr/>
        </p:nvSpPr>
        <p:spPr>
          <a:xfrm>
            <a:off x="7571231" y="4553712"/>
            <a:ext cx="384048" cy="237744"/>
          </a:xfrm>
          <a:prstGeom prst="roundRect">
            <a:avLst>
              <a:gd name="adj" fmla="val 1538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0fd2320_lct43"/>
          <p:cNvSpPr txBox="1"/>
          <p:nvPr/>
        </p:nvSpPr>
        <p:spPr>
          <a:xfrm>
            <a:off x="7571231"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16</a:t>
            </a:r>
          </a:p>
        </p:txBody>
      </p:sp>
      <p:sp>
        <p:nvSpPr>
          <p:cNvPr id="45" name="a0fd2365_lc44"/>
          <p:cNvSpPr/>
          <p:nvPr/>
        </p:nvSpPr>
        <p:spPr>
          <a:xfrm>
            <a:off x="8010144" y="4553712"/>
            <a:ext cx="384048" cy="237744"/>
          </a:xfrm>
          <a:prstGeom prst="roundRect">
            <a:avLst>
              <a:gd name="adj" fmla="val 15384"/>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0fd2365_lct45"/>
          <p:cNvSpPr txBox="1"/>
          <p:nvPr/>
        </p:nvSpPr>
        <p:spPr>
          <a:xfrm>
            <a:off x="8010144" y="4553712"/>
            <a:ext cx="384048" cy="237744"/>
          </a:xfrm>
          <a:prstGeom prst="rect">
            <a:avLst/>
          </a:prstGeom>
          <a:noFill/>
        </p:spPr>
        <p:txBody>
          <a:bodyPr wrap="square" lIns="0" tIns="0" rIns="0" bIns="0" anchor="ctr">
            <a:spAutoFit/>
          </a:bodyPr>
          <a:lstStyle/>
          <a:p>
            <a:pPr algn="ctr"/>
            <a:r>
              <a:rPr sz="750" b="0">
                <a:solidFill>
                  <a:srgbClr val="FFFFFF"/>
                </a:solidFill>
                <a:latin typeface="Consolas"/>
              </a:rPr>
              <a:t>17</a:t>
            </a:r>
          </a:p>
        </p:txBody>
      </p:sp>
      <p:cxnSp>
        <p:nvCxnSpPr>
          <p:cNvPr id="47" name="a0fd2410_la46"/>
          <p:cNvCxnSpPr/>
          <p:nvPr/>
        </p:nvCxnSpPr>
        <p:spPr>
          <a:xfrm>
            <a:off x="8449056" y="4672584"/>
            <a:ext cx="237744" cy="0"/>
          </a:xfrm>
          <a:prstGeom prst="line">
            <a:avLst/>
          </a:prstGeom>
          <a:ln w="19050">
            <a:solidFill>
              <a:srgbClr val="FB92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a0fd900_lg47"/>
          <p:cNvSpPr/>
          <p:nvPr/>
        </p:nvSpPr>
        <p:spPr>
          <a:xfrm>
            <a:off x="5806440" y="1188720"/>
            <a:ext cx="2880360" cy="1783080"/>
          </a:xfrm>
          <a:prstGeom prst="roundRect">
            <a:avLst>
              <a:gd name="adj" fmla="val 410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0fd900_lgt48"/>
          <p:cNvSpPr txBox="1"/>
          <p:nvPr/>
        </p:nvSpPr>
        <p:spPr>
          <a:xfrm>
            <a:off x="5961888" y="1280160"/>
            <a:ext cx="2560320" cy="219456"/>
          </a:xfrm>
          <a:prstGeom prst="rect">
            <a:avLst/>
          </a:prstGeom>
          <a:noFill/>
        </p:spPr>
        <p:txBody>
          <a:bodyPr wrap="square" lIns="0" tIns="0" rIns="0" bIns="0" anchor="ctr">
            <a:spAutoFit/>
          </a:bodyPr>
          <a:lstStyle/>
          <a:p>
            <a:pPr algn="l"/>
            <a:r>
              <a:rPr sz="900" b="1">
                <a:solidFill>
                  <a:srgbClr val="A8A29E"/>
                </a:solidFill>
                <a:latin typeface="Consolas"/>
              </a:rPr>
              <a:t>subject: readings-value</a:t>
            </a:r>
          </a:p>
        </p:txBody>
      </p:sp>
      <p:sp>
        <p:nvSpPr>
          <p:cNvPr id="50" name="a0fd1100_vr49"/>
          <p:cNvSpPr/>
          <p:nvPr/>
        </p:nvSpPr>
        <p:spPr>
          <a:xfrm>
            <a:off x="5961888" y="1627632"/>
            <a:ext cx="2560320" cy="310896"/>
          </a:xfrm>
          <a:prstGeom prst="roundRect">
            <a:avLst>
              <a:gd name="adj" fmla="val 1176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0fd1100_vrt50"/>
          <p:cNvSpPr txBox="1"/>
          <p:nvPr/>
        </p:nvSpPr>
        <p:spPr>
          <a:xfrm>
            <a:off x="6071616" y="1627632"/>
            <a:ext cx="2377440" cy="310896"/>
          </a:xfrm>
          <a:prstGeom prst="rect">
            <a:avLst/>
          </a:prstGeom>
          <a:noFill/>
        </p:spPr>
        <p:txBody>
          <a:bodyPr wrap="square" lIns="0" tIns="0" rIns="0" bIns="0" anchor="ctr">
            <a:spAutoFit/>
          </a:bodyPr>
          <a:lstStyle/>
          <a:p>
            <a:pPr algn="l"/>
            <a:r>
              <a:rPr sz="900" b="1">
                <a:solidFill>
                  <a:srgbClr val="D6D3D1"/>
                </a:solidFill>
                <a:latin typeface="Consolas"/>
              </a:rPr>
              <a:t>version 1</a:t>
            </a:r>
            <a:r>
              <a:rPr sz="900" b="0">
                <a:solidFill>
                  <a:srgbClr val="A8A29E"/>
                </a:solidFill>
                <a:latin typeface="Consolas"/>
              </a:rPr>
              <a:t>   -&gt;   schema id 1</a:t>
            </a:r>
          </a:p>
        </p:txBody>
      </p:sp>
      <p:sp>
        <p:nvSpPr>
          <p:cNvPr id="52" name="a0fd1320_vr51"/>
          <p:cNvSpPr/>
          <p:nvPr/>
        </p:nvSpPr>
        <p:spPr>
          <a:xfrm>
            <a:off x="5961888" y="2029968"/>
            <a:ext cx="2560320" cy="310896"/>
          </a:xfrm>
          <a:prstGeom prst="roundRect">
            <a:avLst>
              <a:gd name="adj" fmla="val 11764"/>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a0fd1320_vrt52"/>
          <p:cNvSpPr txBox="1"/>
          <p:nvPr/>
        </p:nvSpPr>
        <p:spPr>
          <a:xfrm>
            <a:off x="6071616" y="2029968"/>
            <a:ext cx="2377440" cy="310896"/>
          </a:xfrm>
          <a:prstGeom prst="rect">
            <a:avLst/>
          </a:prstGeom>
          <a:noFill/>
        </p:spPr>
        <p:txBody>
          <a:bodyPr wrap="square" lIns="0" tIns="0" rIns="0" bIns="0" anchor="ctr">
            <a:spAutoFit/>
          </a:bodyPr>
          <a:lstStyle/>
          <a:p>
            <a:pPr algn="l"/>
            <a:r>
              <a:rPr sz="900" b="1">
                <a:solidFill>
                  <a:srgbClr val="D6D3D1"/>
                </a:solidFill>
                <a:latin typeface="Consolas"/>
              </a:rPr>
              <a:t>version 2</a:t>
            </a:r>
            <a:r>
              <a:rPr sz="900" b="0">
                <a:solidFill>
                  <a:srgbClr val="A8A29E"/>
                </a:solidFill>
                <a:latin typeface="Consolas"/>
              </a:rPr>
              <a:t>   -&gt;   schema id 2</a:t>
            </a:r>
          </a:p>
        </p:txBody>
      </p:sp>
      <p:sp>
        <p:nvSpPr>
          <p:cNvPr id="54" name="a0fd1540_vr53"/>
          <p:cNvSpPr/>
          <p:nvPr/>
        </p:nvSpPr>
        <p:spPr>
          <a:xfrm>
            <a:off x="5961888" y="2432304"/>
            <a:ext cx="2560320" cy="310896"/>
          </a:xfrm>
          <a:prstGeom prst="roundRect">
            <a:avLst>
              <a:gd name="adj" fmla="val 11764"/>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a0fd1540_vrt54"/>
          <p:cNvSpPr txBox="1"/>
          <p:nvPr/>
        </p:nvSpPr>
        <p:spPr>
          <a:xfrm>
            <a:off x="6071616" y="2432304"/>
            <a:ext cx="2377440" cy="310896"/>
          </a:xfrm>
          <a:prstGeom prst="rect">
            <a:avLst/>
          </a:prstGeom>
          <a:noFill/>
        </p:spPr>
        <p:txBody>
          <a:bodyPr wrap="square" lIns="0" tIns="0" rIns="0" bIns="0" anchor="ctr">
            <a:spAutoFit/>
          </a:bodyPr>
          <a:lstStyle/>
          <a:p>
            <a:pPr algn="l"/>
            <a:r>
              <a:rPr sz="900" b="1">
                <a:solidFill>
                  <a:srgbClr val="FFFFFF"/>
                </a:solidFill>
                <a:latin typeface="Consolas"/>
              </a:rPr>
              <a:t>version 3</a:t>
            </a:r>
            <a:r>
              <a:rPr sz="900" b="0">
                <a:solidFill>
                  <a:srgbClr val="FFFFFF"/>
                </a:solidFill>
                <a:latin typeface="Consolas"/>
              </a:rPr>
              <a:t>   -&gt;   schema id 3</a:t>
            </a:r>
          </a:p>
        </p:txBody>
      </p:sp>
      <p:sp>
        <p:nvSpPr>
          <p:cNvPr id="56" name="a0fd1900_cap55"/>
          <p:cNvSpPr txBox="1"/>
          <p:nvPr/>
        </p:nvSpPr>
        <p:spPr>
          <a:xfrm>
            <a:off x="5806440" y="3090672"/>
            <a:ext cx="2880360" cy="256032"/>
          </a:xfrm>
          <a:prstGeom prst="rect">
            <a:avLst/>
          </a:prstGeom>
          <a:noFill/>
        </p:spPr>
        <p:txBody>
          <a:bodyPr wrap="square" lIns="0" tIns="0" rIns="0" bIns="0" anchor="ctr">
            <a:spAutoFit/>
          </a:bodyPr>
          <a:lstStyle/>
          <a:p>
            <a:pPr algn="l"/>
            <a:r>
              <a:rPr sz="850" b="0">
                <a:solidFill>
                  <a:srgbClr val="A8A29E"/>
                </a:solidFill>
                <a:latin typeface="Segoe UI"/>
              </a:rPr>
              <a:t>every version of every schema, in one place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par>
                                <p:cTn id="12" presetID="2" presetClass="entr" presetSubtype="4" fill="hold" grpId="0" nodeType="withEffect">
                                  <p:stCondLst>
                                    <p:cond delay="200"/>
                                  </p:stCondLst>
                                  <p:childTnLst>
                                    <p:set>
                                      <p:cBhvr>
                                        <p:cTn id="8" dur="1" fill="hold">
                                          <p:stCondLst>
                                            <p:cond delay="0"/>
                                          </p:stCondLst>
                                        </p:cTn>
                                        <p:tgtEl>
                                          <p:spTgt spid="4"/>
                                        </p:tgtEl>
                                        <p:attrNameLst>
                                          <p:attrName>style.visibility</p:attrName>
                                        </p:attrNameLst>
                                      </p:cBhvr>
                                      <p:to>
                                        <p:strVal val="visible"/>
                                      </p:to>
                                    </p:set>
                                    <p:anim calcmode="lin" valueType="num">
                                      <p:cBhvr additive="base">
                                        <p:cTn id="9" dur="500" fill="hold"/>
                                        <p:tgtEl>
                                          <p:spTgt spid="4"/>
                                        </p:tgtEl>
                                        <p:attrNameLst>
                                          <p:attrName>ppt_x</p:attrName>
                                        </p:attrNameLst>
                                      </p:cBhvr>
                                      <p:tavLst>
                                        <p:tav tm="0">
                                          <p:val>
                                            <p:strVal val="#ppt_x"/>
                                          </p:val>
                                        </p:tav>
                                        <p:tav tm="100000">
                                          <p:val>
                                            <p:strVal val="#ppt_x"/>
                                          </p:val>
                                        </p:tav>
                                      </p:tavLst>
                                    </p:anim>
                                    <p:anim calcmode="lin" valueType="num">
                                      <p:cBhvr additive="base">
                                        <p:cTn id="10" dur="500" fill="hold"/>
                                        <p:tgtEl>
                                          <p:spTgt spid="4"/>
                                        </p:tgtEl>
                                        <p:attrNameLst>
                                          <p:attrName>ppt_y</p:attrName>
                                        </p:attrNameLst>
                                      </p:cBhvr>
                                      <p:tavLst>
                                        <p:tav tm="0">
                                          <p:val>
                                            <p:strVal val="#ppt_y+0.1"/>
                                          </p:val>
                                        </p:tav>
                                        <p:tav tm="100000">
                                          <p:val>
                                            <p:strVal val="#ppt_y"/>
                                          </p:val>
                                        </p:tav>
                                      </p:tavLst>
                                    </p:anim>
                                    <p:animEffect transition="in" filter="fade">
                                      <p:cBhvr>
                                        <p:cTn id="11" dur="500"/>
                                        <p:tgtEl>
                                          <p:spTgt spid="4"/>
                                        </p:tgtEl>
                                      </p:cBhvr>
                                    </p:animEffect>
                                  </p:childTnLst>
                                </p:cTn>
                              </p:par>
                              <p:par>
                                <p:cTn id="15" presetID="10" presetClass="entr" presetSubtype="0" fill="hold" grpId="0" nodeType="withEffect">
                                  <p:stCondLst>
                                    <p:cond delay="5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20" presetID="2" presetClass="entr" presetSubtype="4" fill="hold" grpId="0" nodeType="withEffect">
                                  <p:stCondLst>
                                    <p:cond delay="80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3" presetID="10" presetClass="entr" presetSubtype="0" fill="hold" grpId="0" nodeType="withEffect">
                                  <p:stCondLst>
                                    <p:cond delay="90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6" presetID="10" presetClass="entr" presetSubtype="0" fill="hold" grpId="0" nodeType="withEffect">
                                  <p:stCondLst>
                                    <p:cond delay="9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31" presetID="2" presetClass="entr" presetSubtype="4" fill="hold" grpId="0" nodeType="withEffect">
                                  <p:stCondLst>
                                    <p:cond delay="95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6" presetID="2" presetClass="entr" presetSubtype="4" fill="hold" grpId="0" nodeType="withEffect">
                                  <p:stCondLst>
                                    <p:cond delay="110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ppt_y+0.1"/>
                                          </p:val>
                                        </p:tav>
                                        <p:tav tm="100000">
                                          <p:val>
                                            <p:strVal val="#ppt_y"/>
                                          </p:val>
                                        </p:tav>
                                      </p:tavLst>
                                    </p:anim>
                                    <p:animEffect transition="in" filter="fade">
                                      <p:cBhvr>
                                        <p:cTn id="35" dur="500"/>
                                        <p:tgtEl>
                                          <p:spTgt spid="8"/>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par>
                                <p:cTn id="42" presetID="10" presetClass="entr" presetSubtype="0" fill="hold" grpId="0" nodeType="withEffect">
                                  <p:stCondLst>
                                    <p:cond delay="110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7" presetID="2" presetClass="entr" presetSubtype="4" fill="hold" grpId="0" nodeType="withEffect">
                                  <p:stCondLst>
                                    <p:cond delay="125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ppt_y+0.1"/>
                                          </p:val>
                                        </p:tav>
                                        <p:tav tm="100000">
                                          <p:val>
                                            <p:strVal val="#ppt_y"/>
                                          </p:val>
                                        </p:tav>
                                      </p:tavLst>
                                    </p:anim>
                                    <p:animEffect transition="in" filter="fade">
                                      <p:cBhvr>
                                        <p:cTn id="46" dur="500"/>
                                        <p:tgtEl>
                                          <p:spTgt spid="9"/>
                                        </p:tgtEl>
                                      </p:cBhvr>
                                    </p:animEffect>
                                  </p:childTnLst>
                                </p:cTn>
                              </p:par>
                              <p:par>
                                <p:cTn id="50" presetID="10" presetClass="entr" presetSubtype="0" fill="hold" grpId="0" nodeType="withEffect">
                                  <p:stCondLst>
                                    <p:cond delay="132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500"/>
                                        <p:tgtEl>
                                          <p:spTgt spid="52"/>
                                        </p:tgtEl>
                                      </p:cBhvr>
                                    </p:animEffect>
                                  </p:childTnLst>
                                </p:cTn>
                              </p:par>
                              <p:par>
                                <p:cTn id="53" presetID="10" presetClass="entr" presetSubtype="0" fill="hold" grpId="0" nodeType="withEffect">
                                  <p:stCondLst>
                                    <p:cond delay="132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6" presetID="10" presetClass="entr" presetSubtype="0" fill="hold" grpId="0" nodeType="withEffect">
                                  <p:stCondLst>
                                    <p:cond delay="140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par>
                                <p:cTn id="59" presetID="10" presetClass="entr" presetSubtype="0" fill="hold" grpId="0" nodeType="withEffect">
                                  <p:stCondLst>
                                    <p:cond delay="154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par>
                                <p:cTn id="62" presetID="10" presetClass="entr" presetSubtype="0" fill="hold" grpId="0" nodeType="withEffect">
                                  <p:stCondLst>
                                    <p:cond delay="1540"/>
                                  </p:stCondLst>
                                  <p:childTnLst>
                                    <p:set>
                                      <p:cBhvr>
                                        <p:cTn id="60" dur="1" fill="hold">
                                          <p:stCondLst>
                                            <p:cond delay="0"/>
                                          </p:stCondLst>
                                        </p:cTn>
                                        <p:tgtEl>
                                          <p:spTgt spid="55"/>
                                        </p:tgtEl>
                                        <p:attrNameLst>
                                          <p:attrName>style.visibility</p:attrName>
                                        </p:attrNameLst>
                                      </p:cBhvr>
                                      <p:to>
                                        <p:strVal val="visible"/>
                                      </p:to>
                                    </p:set>
                                    <p:animEffect transition="in" filter="fade">
                                      <p:cBhvr>
                                        <p:cTn id="61" dur="500"/>
                                        <p:tgtEl>
                                          <p:spTgt spid="55"/>
                                        </p:tgtEl>
                                      </p:cBhvr>
                                    </p:animEffect>
                                  </p:childTnLst>
                                </p:cTn>
                              </p:par>
                              <p:par>
                                <p:cTn id="65" presetID="10" presetClass="entr" presetSubtype="0" fill="hold" grpId="0" nodeType="withEffect">
                                  <p:stCondLst>
                                    <p:cond delay="160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p:tgtEl>
                                          <p:spTgt spid="11"/>
                                        </p:tgtEl>
                                      </p:cBhvr>
                                    </p:animEffect>
                                  </p:childTnLst>
                                </p:cTn>
                              </p:par>
                              <p:par>
                                <p:cTn id="68" presetID="10" presetClass="entr" presetSubtype="0" fill="hold" grpId="0" nodeType="withEffect">
                                  <p:stCondLst>
                                    <p:cond delay="160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00"/>
                                        <p:tgtEl>
                                          <p:spTgt spid="12"/>
                                        </p:tgtEl>
                                      </p:cBhvr>
                                    </p:animEffect>
                                  </p:childTnLst>
                                </p:cTn>
                              </p:par>
                              <p:par>
                                <p:cTn id="71" presetID="10" presetClass="entr" presetSubtype="0" fill="hold" grpId="0" nodeType="withEffect">
                                  <p:stCondLst>
                                    <p:cond delay="1645"/>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500"/>
                                        <p:tgtEl>
                                          <p:spTgt spid="13"/>
                                        </p:tgtEl>
                                      </p:cBhvr>
                                    </p:animEffect>
                                  </p:childTnLst>
                                </p:cTn>
                              </p:par>
                              <p:par>
                                <p:cTn id="74" presetID="10" presetClass="entr" presetSubtype="0" fill="hold" grpId="0" nodeType="withEffect">
                                  <p:stCondLst>
                                    <p:cond delay="1645"/>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500"/>
                                        <p:tgtEl>
                                          <p:spTgt spid="14"/>
                                        </p:tgtEl>
                                      </p:cBhvr>
                                    </p:animEffect>
                                  </p:childTnLst>
                                </p:cTn>
                              </p:par>
                              <p:par>
                                <p:cTn id="77" presetID="10" presetClass="entr" presetSubtype="0" fill="hold" grpId="0" nodeType="withEffect">
                                  <p:stCondLst>
                                    <p:cond delay="169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80" presetID="10" presetClass="entr" presetSubtype="0" fill="hold" grpId="0" nodeType="withEffect">
                                  <p:stCondLst>
                                    <p:cond delay="169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par>
                                <p:cTn id="83" presetID="10" presetClass="entr" presetSubtype="0" fill="hold" grpId="0" nodeType="withEffect">
                                  <p:stCondLst>
                                    <p:cond delay="1735"/>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500"/>
                                        <p:tgtEl>
                                          <p:spTgt spid="17"/>
                                        </p:tgtEl>
                                      </p:cBhvr>
                                    </p:animEffect>
                                  </p:childTnLst>
                                </p:cTn>
                              </p:par>
                              <p:par>
                                <p:cTn id="86" presetID="10" presetClass="entr" presetSubtype="0" fill="hold" grpId="0" nodeType="withEffect">
                                  <p:stCondLst>
                                    <p:cond delay="1735"/>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childTnLst>
                                </p:cTn>
                              </p:par>
                              <p:par>
                                <p:cTn id="89" presetID="10" presetClass="entr" presetSubtype="0" fill="hold" grpId="0" nodeType="withEffect">
                                  <p:stCondLst>
                                    <p:cond delay="178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500"/>
                                        <p:tgtEl>
                                          <p:spTgt spid="19"/>
                                        </p:tgtEl>
                                      </p:cBhvr>
                                    </p:animEffect>
                                  </p:childTnLst>
                                </p:cTn>
                              </p:par>
                              <p:par>
                                <p:cTn id="92" presetID="10" presetClass="entr" presetSubtype="0" fill="hold" grpId="0" nodeType="withEffect">
                                  <p:stCondLst>
                                    <p:cond delay="178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500"/>
                                        <p:tgtEl>
                                          <p:spTgt spid="20"/>
                                        </p:tgtEl>
                                      </p:cBhvr>
                                    </p:animEffect>
                                  </p:childTnLst>
                                </p:cTn>
                              </p:par>
                              <p:par>
                                <p:cTn id="95" presetID="10" presetClass="entr" presetSubtype="0" fill="hold" grpId="0" nodeType="withEffect">
                                  <p:stCondLst>
                                    <p:cond delay="1825"/>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00"/>
                                        <p:tgtEl>
                                          <p:spTgt spid="21"/>
                                        </p:tgtEl>
                                      </p:cBhvr>
                                    </p:animEffect>
                                  </p:childTnLst>
                                </p:cTn>
                              </p:par>
                              <p:par>
                                <p:cTn id="98" presetID="10" presetClass="entr" presetSubtype="0" fill="hold" grpId="0" nodeType="withEffect">
                                  <p:stCondLst>
                                    <p:cond delay="1825"/>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101" presetID="10" presetClass="entr" presetSubtype="0" fill="hold" grpId="0" nodeType="withEffect">
                                  <p:stCondLst>
                                    <p:cond delay="187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4" presetID="10" presetClass="entr" presetSubtype="0" fill="hold" grpId="0" nodeType="withEffect">
                                  <p:stCondLst>
                                    <p:cond delay="1870"/>
                                  </p:stCondLst>
                                  <p:childTnLst>
                                    <p:set>
                                      <p:cBhvr>
                                        <p:cTn id="102" dur="1" fill="hold">
                                          <p:stCondLst>
                                            <p:cond delay="0"/>
                                          </p:stCondLst>
                                        </p:cTn>
                                        <p:tgtEl>
                                          <p:spTgt spid="24"/>
                                        </p:tgtEl>
                                        <p:attrNameLst>
                                          <p:attrName>style.visibility</p:attrName>
                                        </p:attrNameLst>
                                      </p:cBhvr>
                                      <p:to>
                                        <p:strVal val="visible"/>
                                      </p:to>
                                    </p:set>
                                    <p:animEffect transition="in" filter="fade">
                                      <p:cBhvr>
                                        <p:cTn id="103" dur="500"/>
                                        <p:tgtEl>
                                          <p:spTgt spid="24"/>
                                        </p:tgtEl>
                                      </p:cBhvr>
                                    </p:animEffect>
                                  </p:childTnLst>
                                </p:cTn>
                              </p:par>
                              <p:par>
                                <p:cTn id="107" presetID="10" presetClass="entr" presetSubtype="0" fill="hold" grpId="0" nodeType="withEffect">
                                  <p:stCondLst>
                                    <p:cond delay="190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500"/>
                                        <p:tgtEl>
                                          <p:spTgt spid="56"/>
                                        </p:tgtEl>
                                      </p:cBhvr>
                                    </p:animEffect>
                                  </p:childTnLst>
                                </p:cTn>
                              </p:par>
                              <p:par>
                                <p:cTn id="110" presetID="10" presetClass="entr" presetSubtype="0" fill="hold" grpId="0" nodeType="withEffect">
                                  <p:stCondLst>
                                    <p:cond delay="1915"/>
                                  </p:stCondLst>
                                  <p:childTnLst>
                                    <p:set>
                                      <p:cBhvr>
                                        <p:cTn id="108" dur="1" fill="hold">
                                          <p:stCondLst>
                                            <p:cond delay="0"/>
                                          </p:stCondLst>
                                        </p:cTn>
                                        <p:tgtEl>
                                          <p:spTgt spid="25"/>
                                        </p:tgtEl>
                                        <p:attrNameLst>
                                          <p:attrName>style.visibility</p:attrName>
                                        </p:attrNameLst>
                                      </p:cBhvr>
                                      <p:to>
                                        <p:strVal val="visible"/>
                                      </p:to>
                                    </p:set>
                                    <p:animEffect transition="in" filter="fade">
                                      <p:cBhvr>
                                        <p:cTn id="109" dur="500"/>
                                        <p:tgtEl>
                                          <p:spTgt spid="25"/>
                                        </p:tgtEl>
                                      </p:cBhvr>
                                    </p:animEffect>
                                  </p:childTnLst>
                                </p:cTn>
                              </p:par>
                              <p:par>
                                <p:cTn id="113" presetID="10" presetClass="entr" presetSubtype="0" fill="hold" grpId="0" nodeType="withEffect">
                                  <p:stCondLst>
                                    <p:cond delay="1915"/>
                                  </p:stCondLst>
                                  <p:childTnLst>
                                    <p:set>
                                      <p:cBhvr>
                                        <p:cTn id="111" dur="1" fill="hold">
                                          <p:stCondLst>
                                            <p:cond delay="0"/>
                                          </p:stCondLst>
                                        </p:cTn>
                                        <p:tgtEl>
                                          <p:spTgt spid="26"/>
                                        </p:tgtEl>
                                        <p:attrNameLst>
                                          <p:attrName>style.visibility</p:attrName>
                                        </p:attrNameLst>
                                      </p:cBhvr>
                                      <p:to>
                                        <p:strVal val="visible"/>
                                      </p:to>
                                    </p:set>
                                    <p:animEffect transition="in" filter="fade">
                                      <p:cBhvr>
                                        <p:cTn id="112" dur="500"/>
                                        <p:tgtEl>
                                          <p:spTgt spid="26"/>
                                        </p:tgtEl>
                                      </p:cBhvr>
                                    </p:animEffect>
                                  </p:childTnLst>
                                </p:cTn>
                              </p:par>
                              <p:par>
                                <p:cTn id="116" presetID="10" presetClass="entr" presetSubtype="0" fill="hold" grpId="0" nodeType="withEffect">
                                  <p:stCondLst>
                                    <p:cond delay="1960"/>
                                  </p:stCondLst>
                                  <p:childTnLst>
                                    <p:set>
                                      <p:cBhvr>
                                        <p:cTn id="114" dur="1" fill="hold">
                                          <p:stCondLst>
                                            <p:cond delay="0"/>
                                          </p:stCondLst>
                                        </p:cTn>
                                        <p:tgtEl>
                                          <p:spTgt spid="27"/>
                                        </p:tgtEl>
                                        <p:attrNameLst>
                                          <p:attrName>style.visibility</p:attrName>
                                        </p:attrNameLst>
                                      </p:cBhvr>
                                      <p:to>
                                        <p:strVal val="visible"/>
                                      </p:to>
                                    </p:set>
                                    <p:animEffect transition="in" filter="fade">
                                      <p:cBhvr>
                                        <p:cTn id="115" dur="500"/>
                                        <p:tgtEl>
                                          <p:spTgt spid="27"/>
                                        </p:tgtEl>
                                      </p:cBhvr>
                                    </p:animEffect>
                                  </p:childTnLst>
                                </p:cTn>
                              </p:par>
                              <p:par>
                                <p:cTn id="119" presetID="10" presetClass="entr" presetSubtype="0" fill="hold" grpId="0" nodeType="withEffect">
                                  <p:stCondLst>
                                    <p:cond delay="196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00"/>
                                        <p:tgtEl>
                                          <p:spTgt spid="28"/>
                                        </p:tgtEl>
                                      </p:cBhvr>
                                    </p:animEffect>
                                  </p:childTnLst>
                                </p:cTn>
                              </p:par>
                              <p:par>
                                <p:cTn id="122" presetID="10" presetClass="entr" presetSubtype="0" fill="hold" grpId="0" nodeType="withEffect">
                                  <p:stCondLst>
                                    <p:cond delay="2005"/>
                                  </p:stCondLst>
                                  <p:childTnLst>
                                    <p:set>
                                      <p:cBhvr>
                                        <p:cTn id="120" dur="1" fill="hold">
                                          <p:stCondLst>
                                            <p:cond delay="0"/>
                                          </p:stCondLst>
                                        </p:cTn>
                                        <p:tgtEl>
                                          <p:spTgt spid="29"/>
                                        </p:tgtEl>
                                        <p:attrNameLst>
                                          <p:attrName>style.visibility</p:attrName>
                                        </p:attrNameLst>
                                      </p:cBhvr>
                                      <p:to>
                                        <p:strVal val="visible"/>
                                      </p:to>
                                    </p:set>
                                    <p:animEffect transition="in" filter="fade">
                                      <p:cBhvr>
                                        <p:cTn id="121" dur="500"/>
                                        <p:tgtEl>
                                          <p:spTgt spid="29"/>
                                        </p:tgtEl>
                                      </p:cBhvr>
                                    </p:animEffect>
                                  </p:childTnLst>
                                </p:cTn>
                              </p:par>
                              <p:par>
                                <p:cTn id="125" presetID="10" presetClass="entr" presetSubtype="0" fill="hold" grpId="0" nodeType="withEffect">
                                  <p:stCondLst>
                                    <p:cond delay="2005"/>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500"/>
                                        <p:tgtEl>
                                          <p:spTgt spid="30"/>
                                        </p:tgtEl>
                                      </p:cBhvr>
                                    </p:animEffect>
                                  </p:childTnLst>
                                </p:cTn>
                              </p:par>
                              <p:par>
                                <p:cTn id="128" presetID="10" presetClass="entr" presetSubtype="0" fill="hold" grpId="0" nodeType="withEffect">
                                  <p:stCondLst>
                                    <p:cond delay="205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childTnLst>
                                </p:cTn>
                              </p:par>
                              <p:par>
                                <p:cTn id="131" presetID="10" presetClass="entr" presetSubtype="0" fill="hold" grpId="0" nodeType="withEffect">
                                  <p:stCondLst>
                                    <p:cond delay="2050"/>
                                  </p:stCondLst>
                                  <p:childTnLst>
                                    <p:set>
                                      <p:cBhvr>
                                        <p:cTn id="129" dur="1" fill="hold">
                                          <p:stCondLst>
                                            <p:cond delay="0"/>
                                          </p:stCondLst>
                                        </p:cTn>
                                        <p:tgtEl>
                                          <p:spTgt spid="32"/>
                                        </p:tgtEl>
                                        <p:attrNameLst>
                                          <p:attrName>style.visibility</p:attrName>
                                        </p:attrNameLst>
                                      </p:cBhvr>
                                      <p:to>
                                        <p:strVal val="visible"/>
                                      </p:to>
                                    </p:set>
                                    <p:animEffect transition="in" filter="fade">
                                      <p:cBhvr>
                                        <p:cTn id="130" dur="500"/>
                                        <p:tgtEl>
                                          <p:spTgt spid="32"/>
                                        </p:tgtEl>
                                      </p:cBhvr>
                                    </p:animEffect>
                                  </p:childTnLst>
                                </p:cTn>
                              </p:par>
                              <p:par>
                                <p:cTn id="134" presetID="10" presetClass="entr" presetSubtype="0" fill="hold" grpId="0" nodeType="withEffect">
                                  <p:stCondLst>
                                    <p:cond delay="2095"/>
                                  </p:stCondLst>
                                  <p:childTnLst>
                                    <p:set>
                                      <p:cBhvr>
                                        <p:cTn id="132" dur="1" fill="hold">
                                          <p:stCondLst>
                                            <p:cond delay="0"/>
                                          </p:stCondLst>
                                        </p:cTn>
                                        <p:tgtEl>
                                          <p:spTgt spid="33"/>
                                        </p:tgtEl>
                                        <p:attrNameLst>
                                          <p:attrName>style.visibility</p:attrName>
                                        </p:attrNameLst>
                                      </p:cBhvr>
                                      <p:to>
                                        <p:strVal val="visible"/>
                                      </p:to>
                                    </p:set>
                                    <p:animEffect transition="in" filter="fade">
                                      <p:cBhvr>
                                        <p:cTn id="133" dur="500"/>
                                        <p:tgtEl>
                                          <p:spTgt spid="33"/>
                                        </p:tgtEl>
                                      </p:cBhvr>
                                    </p:animEffect>
                                  </p:childTnLst>
                                </p:cTn>
                              </p:par>
                              <p:par>
                                <p:cTn id="137" presetID="10" presetClass="entr" presetSubtype="0" fill="hold" grpId="0" nodeType="withEffect">
                                  <p:stCondLst>
                                    <p:cond delay="2095"/>
                                  </p:stCondLst>
                                  <p:childTnLst>
                                    <p:set>
                                      <p:cBhvr>
                                        <p:cTn id="135" dur="1" fill="hold">
                                          <p:stCondLst>
                                            <p:cond delay="0"/>
                                          </p:stCondLst>
                                        </p:cTn>
                                        <p:tgtEl>
                                          <p:spTgt spid="34"/>
                                        </p:tgtEl>
                                        <p:attrNameLst>
                                          <p:attrName>style.visibility</p:attrName>
                                        </p:attrNameLst>
                                      </p:cBhvr>
                                      <p:to>
                                        <p:strVal val="visible"/>
                                      </p:to>
                                    </p:set>
                                    <p:animEffect transition="in" filter="fade">
                                      <p:cBhvr>
                                        <p:cTn id="136" dur="500"/>
                                        <p:tgtEl>
                                          <p:spTgt spid="34"/>
                                        </p:tgtEl>
                                      </p:cBhvr>
                                    </p:animEffect>
                                  </p:childTnLst>
                                </p:cTn>
                              </p:par>
                              <p:par>
                                <p:cTn id="140" presetID="10" presetClass="entr" presetSubtype="0" fill="hold" grpId="0" nodeType="withEffect">
                                  <p:stCondLst>
                                    <p:cond delay="214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9" dur="500"/>
                                        <p:tgtEl>
                                          <p:spTgt spid="35"/>
                                        </p:tgtEl>
                                      </p:cBhvr>
                                    </p:animEffect>
                                  </p:childTnLst>
                                </p:cTn>
                              </p:par>
                              <p:par>
                                <p:cTn id="143" presetID="10" presetClass="entr" presetSubtype="0" fill="hold" grpId="0" nodeType="withEffect">
                                  <p:stCondLst>
                                    <p:cond delay="2140"/>
                                  </p:stCondLst>
                                  <p:childTnLst>
                                    <p:set>
                                      <p:cBhvr>
                                        <p:cTn id="141" dur="1" fill="hold">
                                          <p:stCondLst>
                                            <p:cond delay="0"/>
                                          </p:stCondLst>
                                        </p:cTn>
                                        <p:tgtEl>
                                          <p:spTgt spid="36"/>
                                        </p:tgtEl>
                                        <p:attrNameLst>
                                          <p:attrName>style.visibility</p:attrName>
                                        </p:attrNameLst>
                                      </p:cBhvr>
                                      <p:to>
                                        <p:strVal val="visible"/>
                                      </p:to>
                                    </p:set>
                                    <p:animEffect transition="in" filter="fade">
                                      <p:cBhvr>
                                        <p:cTn id="142" dur="500"/>
                                        <p:tgtEl>
                                          <p:spTgt spid="36"/>
                                        </p:tgtEl>
                                      </p:cBhvr>
                                    </p:animEffect>
                                  </p:childTnLst>
                                </p:cTn>
                              </p:par>
                              <p:par>
                                <p:cTn id="146" presetID="10" presetClass="entr" presetSubtype="0" fill="hold" grpId="0" nodeType="withEffect">
                                  <p:stCondLst>
                                    <p:cond delay="2185"/>
                                  </p:stCondLst>
                                  <p:childTnLst>
                                    <p:set>
                                      <p:cBhvr>
                                        <p:cTn id="144" dur="1" fill="hold">
                                          <p:stCondLst>
                                            <p:cond delay="0"/>
                                          </p:stCondLst>
                                        </p:cTn>
                                        <p:tgtEl>
                                          <p:spTgt spid="37"/>
                                        </p:tgtEl>
                                        <p:attrNameLst>
                                          <p:attrName>style.visibility</p:attrName>
                                        </p:attrNameLst>
                                      </p:cBhvr>
                                      <p:to>
                                        <p:strVal val="visible"/>
                                      </p:to>
                                    </p:set>
                                    <p:animEffect transition="in" filter="fade">
                                      <p:cBhvr>
                                        <p:cTn id="145" dur="500"/>
                                        <p:tgtEl>
                                          <p:spTgt spid="37"/>
                                        </p:tgtEl>
                                      </p:cBhvr>
                                    </p:animEffect>
                                  </p:childTnLst>
                                </p:cTn>
                              </p:par>
                              <p:par>
                                <p:cTn id="149" presetID="10" presetClass="entr" presetSubtype="0" fill="hold" grpId="0" nodeType="withEffect">
                                  <p:stCondLst>
                                    <p:cond delay="2185"/>
                                  </p:stCondLst>
                                  <p:childTnLst>
                                    <p:set>
                                      <p:cBhvr>
                                        <p:cTn id="147" dur="1" fill="hold">
                                          <p:stCondLst>
                                            <p:cond delay="0"/>
                                          </p:stCondLst>
                                        </p:cTn>
                                        <p:tgtEl>
                                          <p:spTgt spid="38"/>
                                        </p:tgtEl>
                                        <p:attrNameLst>
                                          <p:attrName>style.visibility</p:attrName>
                                        </p:attrNameLst>
                                      </p:cBhvr>
                                      <p:to>
                                        <p:strVal val="visible"/>
                                      </p:to>
                                    </p:set>
                                    <p:animEffect transition="in" filter="fade">
                                      <p:cBhvr>
                                        <p:cTn id="148" dur="500"/>
                                        <p:tgtEl>
                                          <p:spTgt spid="38"/>
                                        </p:tgtEl>
                                      </p:cBhvr>
                                    </p:animEffect>
                                  </p:childTnLst>
                                </p:cTn>
                              </p:par>
                              <p:par>
                                <p:cTn id="152" presetID="10" presetClass="entr" presetSubtype="0" fill="hold" grpId="0" nodeType="withEffect">
                                  <p:stCondLst>
                                    <p:cond delay="2230"/>
                                  </p:stCondLst>
                                  <p:childTnLst>
                                    <p:set>
                                      <p:cBhvr>
                                        <p:cTn id="150" dur="1" fill="hold">
                                          <p:stCondLst>
                                            <p:cond delay="0"/>
                                          </p:stCondLst>
                                        </p:cTn>
                                        <p:tgtEl>
                                          <p:spTgt spid="39"/>
                                        </p:tgtEl>
                                        <p:attrNameLst>
                                          <p:attrName>style.visibility</p:attrName>
                                        </p:attrNameLst>
                                      </p:cBhvr>
                                      <p:to>
                                        <p:strVal val="visible"/>
                                      </p:to>
                                    </p:set>
                                    <p:animEffect transition="in" filter="fade">
                                      <p:cBhvr>
                                        <p:cTn id="151" dur="500"/>
                                        <p:tgtEl>
                                          <p:spTgt spid="39"/>
                                        </p:tgtEl>
                                      </p:cBhvr>
                                    </p:animEffect>
                                  </p:childTnLst>
                                </p:cTn>
                              </p:par>
                              <p:par>
                                <p:cTn id="155" presetID="10" presetClass="entr" presetSubtype="0" fill="hold" grpId="0" nodeType="withEffect">
                                  <p:stCondLst>
                                    <p:cond delay="223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00"/>
                                        <p:tgtEl>
                                          <p:spTgt spid="40"/>
                                        </p:tgtEl>
                                      </p:cBhvr>
                                    </p:animEffect>
                                  </p:childTnLst>
                                </p:cTn>
                              </p:par>
                              <p:par>
                                <p:cTn id="158" presetID="10" presetClass="entr" presetSubtype="0" fill="hold" grpId="0" nodeType="withEffect">
                                  <p:stCondLst>
                                    <p:cond delay="2275"/>
                                  </p:stCondLst>
                                  <p:childTnLst>
                                    <p:set>
                                      <p:cBhvr>
                                        <p:cTn id="156" dur="1" fill="hold">
                                          <p:stCondLst>
                                            <p:cond delay="0"/>
                                          </p:stCondLst>
                                        </p:cTn>
                                        <p:tgtEl>
                                          <p:spTgt spid="41"/>
                                        </p:tgtEl>
                                        <p:attrNameLst>
                                          <p:attrName>style.visibility</p:attrName>
                                        </p:attrNameLst>
                                      </p:cBhvr>
                                      <p:to>
                                        <p:strVal val="visible"/>
                                      </p:to>
                                    </p:set>
                                    <p:animEffect transition="in" filter="fade">
                                      <p:cBhvr>
                                        <p:cTn id="157" dur="500"/>
                                        <p:tgtEl>
                                          <p:spTgt spid="41"/>
                                        </p:tgtEl>
                                      </p:cBhvr>
                                    </p:animEffect>
                                  </p:childTnLst>
                                </p:cTn>
                              </p:par>
                              <p:par>
                                <p:cTn id="161" presetID="10" presetClass="entr" presetSubtype="0" fill="hold" grpId="0" nodeType="withEffect">
                                  <p:stCondLst>
                                    <p:cond delay="2275"/>
                                  </p:stCondLst>
                                  <p:childTnLst>
                                    <p:set>
                                      <p:cBhvr>
                                        <p:cTn id="159" dur="1" fill="hold">
                                          <p:stCondLst>
                                            <p:cond delay="0"/>
                                          </p:stCondLst>
                                        </p:cTn>
                                        <p:tgtEl>
                                          <p:spTgt spid="42"/>
                                        </p:tgtEl>
                                        <p:attrNameLst>
                                          <p:attrName>style.visibility</p:attrName>
                                        </p:attrNameLst>
                                      </p:cBhvr>
                                      <p:to>
                                        <p:strVal val="visible"/>
                                      </p:to>
                                    </p:set>
                                    <p:animEffect transition="in" filter="fade">
                                      <p:cBhvr>
                                        <p:cTn id="160" dur="500"/>
                                        <p:tgtEl>
                                          <p:spTgt spid="42"/>
                                        </p:tgtEl>
                                      </p:cBhvr>
                                    </p:animEffect>
                                  </p:childTnLst>
                                </p:cTn>
                              </p:par>
                              <p:par>
                                <p:cTn id="164" presetID="10" presetClass="entr" presetSubtype="0" fill="hold" grpId="0" nodeType="withEffect">
                                  <p:stCondLst>
                                    <p:cond delay="232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500"/>
                                        <p:tgtEl>
                                          <p:spTgt spid="43"/>
                                        </p:tgtEl>
                                      </p:cBhvr>
                                    </p:animEffect>
                                  </p:childTnLst>
                                </p:cTn>
                              </p:par>
                              <p:par>
                                <p:cTn id="167" presetID="10" presetClass="entr" presetSubtype="0" fill="hold" grpId="0" nodeType="withEffect">
                                  <p:stCondLst>
                                    <p:cond delay="232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500"/>
                                        <p:tgtEl>
                                          <p:spTgt spid="44"/>
                                        </p:tgtEl>
                                      </p:cBhvr>
                                    </p:animEffect>
                                  </p:childTnLst>
                                </p:cTn>
                              </p:par>
                              <p:par>
                                <p:cTn id="170" presetID="10" presetClass="entr" presetSubtype="0" fill="hold" grpId="0" nodeType="withEffect">
                                  <p:stCondLst>
                                    <p:cond delay="2365"/>
                                  </p:stCondLst>
                                  <p:childTnLst>
                                    <p:set>
                                      <p:cBhvr>
                                        <p:cTn id="168" dur="1" fill="hold">
                                          <p:stCondLst>
                                            <p:cond delay="0"/>
                                          </p:stCondLst>
                                        </p:cTn>
                                        <p:tgtEl>
                                          <p:spTgt spid="45"/>
                                        </p:tgtEl>
                                        <p:attrNameLst>
                                          <p:attrName>style.visibility</p:attrName>
                                        </p:attrNameLst>
                                      </p:cBhvr>
                                      <p:to>
                                        <p:strVal val="visible"/>
                                      </p:to>
                                    </p:set>
                                    <p:animEffect transition="in" filter="fade">
                                      <p:cBhvr>
                                        <p:cTn id="169" dur="500"/>
                                        <p:tgtEl>
                                          <p:spTgt spid="45"/>
                                        </p:tgtEl>
                                      </p:cBhvr>
                                    </p:animEffect>
                                  </p:childTnLst>
                                </p:cTn>
                              </p:par>
                              <p:par>
                                <p:cTn id="173" presetID="10" presetClass="entr" presetSubtype="0" fill="hold" grpId="0" nodeType="withEffect">
                                  <p:stCondLst>
                                    <p:cond delay="2365"/>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500"/>
                                        <p:tgtEl>
                                          <p:spTgt spid="46"/>
                                        </p:tgtEl>
                                      </p:cBhvr>
                                    </p:animEffect>
                                  </p:childTnLst>
                                </p:cTn>
                              </p:par>
                              <p:par>
                                <p:cTn id="176" presetID="10" presetClass="entr" presetSubtype="0" fill="hold" grpId="0" nodeType="withEffect">
                                  <p:stCondLst>
                                    <p:cond delay="2410"/>
                                  </p:stCondLst>
                                  <p:childTnLst>
                                    <p:set>
                                      <p:cBhvr>
                                        <p:cTn id="174" dur="1" fill="hold">
                                          <p:stCondLst>
                                            <p:cond delay="0"/>
                                          </p:stCondLst>
                                        </p:cTn>
                                        <p:tgtEl>
                                          <p:spTgt spid="47"/>
                                        </p:tgtEl>
                                        <p:attrNameLst>
                                          <p:attrName>style.visibility</p:attrName>
                                        </p:attrNameLst>
                                      </p:cBhvr>
                                      <p:to>
                                        <p:strVal val="visible"/>
                                      </p:to>
                                    </p:set>
                                    <p:animEffect transition="in" filter="fade">
                                      <p:cBhvr>
                                        <p:cTn id="17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Once Data Flows, Two Things Happen</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New readers appear - and the shape of the data changes</a:t>
            </a:r>
          </a:p>
        </p:txBody>
      </p:sp>
      <p:sp>
        <p:nvSpPr>
          <p:cNvPr id="11" name="a1u_card10"/>
          <p:cNvSpPr/>
          <p:nvPr/>
        </p:nvSpPr>
        <p:spPr>
          <a:xfrm>
            <a:off x="457200" y="1280160"/>
            <a:ext cx="402336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50292" cy="23957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89888"/>
            <a:ext cx="3657600" cy="237744"/>
          </a:xfrm>
          <a:prstGeom prst="rect">
            <a:avLst/>
          </a:prstGeom>
          <a:noFill/>
        </p:spPr>
        <p:txBody>
          <a:bodyPr wrap="square" lIns="0" tIns="0" rIns="0" bIns="0" anchor="ctr">
            <a:spAutoFit/>
          </a:bodyPr>
          <a:lstStyle/>
          <a:p>
            <a:pPr algn="l"/>
            <a:r>
              <a:rPr sz="900" b="1">
                <a:solidFill>
                  <a:srgbClr val="0E7490"/>
                </a:solidFill>
                <a:latin typeface="Segoe UI"/>
              </a:rPr>
              <a:t>1   NEW CONSUMERS EMERGE</a:t>
            </a:r>
          </a:p>
        </p:txBody>
      </p:sp>
      <p:sp>
        <p:nvSpPr>
          <p:cNvPr id="14" name="a1ud80_nd13"/>
          <p:cNvSpPr/>
          <p:nvPr/>
        </p:nvSpPr>
        <p:spPr>
          <a:xfrm>
            <a:off x="658368" y="1737360"/>
            <a:ext cx="1143000" cy="548640"/>
          </a:xfrm>
          <a:prstGeom prst="roundRect">
            <a:avLst>
              <a:gd name="adj" fmla="val 1333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ndt14"/>
          <p:cNvSpPr txBox="1"/>
          <p:nvPr/>
        </p:nvSpPr>
        <p:spPr>
          <a:xfrm>
            <a:off x="704088" y="1773936"/>
            <a:ext cx="1051560" cy="256031"/>
          </a:xfrm>
          <a:prstGeom prst="rect">
            <a:avLst/>
          </a:prstGeom>
          <a:noFill/>
        </p:spPr>
        <p:txBody>
          <a:bodyPr wrap="square" lIns="0" tIns="0" rIns="0" bIns="0" anchor="b">
            <a:spAutoFit/>
          </a:bodyPr>
          <a:lstStyle/>
          <a:p>
            <a:pPr algn="ctr"/>
            <a:r>
              <a:rPr sz="950" b="1">
                <a:solidFill>
                  <a:srgbClr val="1C1917"/>
                </a:solidFill>
                <a:latin typeface="Segoe UI"/>
              </a:rPr>
              <a:t>Producer</a:t>
            </a:r>
          </a:p>
        </p:txBody>
      </p:sp>
      <p:sp>
        <p:nvSpPr>
          <p:cNvPr id="16" name="a1ud80_nds15"/>
          <p:cNvSpPr txBox="1"/>
          <p:nvPr/>
        </p:nvSpPr>
        <p:spPr>
          <a:xfrm>
            <a:off x="704088" y="2039111"/>
            <a:ext cx="1051560" cy="210311"/>
          </a:xfrm>
          <a:prstGeom prst="rect">
            <a:avLst/>
          </a:prstGeom>
          <a:noFill/>
        </p:spPr>
        <p:txBody>
          <a:bodyPr wrap="square" lIns="0" tIns="0" rIns="0" bIns="0" anchor="t">
            <a:spAutoFit/>
          </a:bodyPr>
          <a:lstStyle/>
          <a:p>
            <a:pPr algn="ctr"/>
            <a:r>
              <a:rPr sz="800" b="0">
                <a:solidFill>
                  <a:srgbClr val="EA580C"/>
                </a:solidFill>
                <a:latin typeface="Segoe UI"/>
              </a:rPr>
              <a:t>your team</a:t>
            </a:r>
          </a:p>
        </p:txBody>
      </p:sp>
      <p:cxnSp>
        <p:nvCxnSpPr>
          <p:cNvPr id="17" name="a1ud80_ar16"/>
          <p:cNvCxnSpPr/>
          <p:nvPr/>
        </p:nvCxnSpPr>
        <p:spPr>
          <a:xfrm>
            <a:off x="1819656" y="2011680"/>
            <a:ext cx="192024" cy="0"/>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1ud80_cell17"/>
          <p:cNvSpPr/>
          <p:nvPr/>
        </p:nvSpPr>
        <p:spPr>
          <a:xfrm>
            <a:off x="2029968" y="1847088"/>
            <a:ext cx="36576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80_cellt18"/>
          <p:cNvSpPr txBox="1"/>
          <p:nvPr/>
        </p:nvSpPr>
        <p:spPr>
          <a:xfrm>
            <a:off x="2029968" y="1847088"/>
            <a:ext cx="365760" cy="329184"/>
          </a:xfrm>
          <a:prstGeom prst="rect">
            <a:avLst/>
          </a:prstGeom>
          <a:noFill/>
        </p:spPr>
        <p:txBody>
          <a:bodyPr wrap="square" lIns="0" tIns="0" rIns="0" bIns="0" anchor="ctr">
            <a:spAutoFit/>
          </a:bodyPr>
          <a:lstStyle/>
          <a:p>
            <a:pPr algn="ctr"/>
            <a:r>
              <a:rPr sz="850" b="1">
                <a:solidFill>
                  <a:srgbClr val="0E7490"/>
                </a:solidFill>
                <a:latin typeface="Consolas"/>
              </a:rPr>
              <a:t>0</a:t>
            </a:r>
          </a:p>
        </p:txBody>
      </p:sp>
      <p:sp>
        <p:nvSpPr>
          <p:cNvPr id="20" name="a1ud80_cell19"/>
          <p:cNvSpPr/>
          <p:nvPr/>
        </p:nvSpPr>
        <p:spPr>
          <a:xfrm>
            <a:off x="2395728" y="1847088"/>
            <a:ext cx="36576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80_cellt20"/>
          <p:cNvSpPr txBox="1"/>
          <p:nvPr/>
        </p:nvSpPr>
        <p:spPr>
          <a:xfrm>
            <a:off x="2395728" y="1847088"/>
            <a:ext cx="365760" cy="329184"/>
          </a:xfrm>
          <a:prstGeom prst="rect">
            <a:avLst/>
          </a:prstGeom>
          <a:noFill/>
        </p:spPr>
        <p:txBody>
          <a:bodyPr wrap="square" lIns="0" tIns="0" rIns="0" bIns="0" anchor="ctr">
            <a:spAutoFit/>
          </a:bodyPr>
          <a:lstStyle/>
          <a:p>
            <a:pPr algn="ctr"/>
            <a:r>
              <a:rPr sz="850" b="1">
                <a:solidFill>
                  <a:srgbClr val="0E7490"/>
                </a:solidFill>
                <a:latin typeface="Consolas"/>
              </a:rPr>
              <a:t>1</a:t>
            </a:r>
          </a:p>
        </p:txBody>
      </p:sp>
      <p:sp>
        <p:nvSpPr>
          <p:cNvPr id="22" name="a1ud80_cell21"/>
          <p:cNvSpPr/>
          <p:nvPr/>
        </p:nvSpPr>
        <p:spPr>
          <a:xfrm>
            <a:off x="2761488" y="1847088"/>
            <a:ext cx="36576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_cellt22"/>
          <p:cNvSpPr txBox="1"/>
          <p:nvPr/>
        </p:nvSpPr>
        <p:spPr>
          <a:xfrm>
            <a:off x="2761488" y="1847088"/>
            <a:ext cx="365760" cy="329184"/>
          </a:xfrm>
          <a:prstGeom prst="rect">
            <a:avLst/>
          </a:prstGeom>
          <a:noFill/>
        </p:spPr>
        <p:txBody>
          <a:bodyPr wrap="square" lIns="0" tIns="0" rIns="0" bIns="0" anchor="ctr">
            <a:spAutoFit/>
          </a:bodyPr>
          <a:lstStyle/>
          <a:p>
            <a:pPr algn="ctr"/>
            <a:r>
              <a:rPr sz="850" b="1">
                <a:solidFill>
                  <a:srgbClr val="0E7490"/>
                </a:solidFill>
                <a:latin typeface="Consolas"/>
              </a:rPr>
              <a:t>2</a:t>
            </a:r>
          </a:p>
        </p:txBody>
      </p:sp>
      <p:sp>
        <p:nvSpPr>
          <p:cNvPr id="24" name="a1ud80_cell23"/>
          <p:cNvSpPr/>
          <p:nvPr/>
        </p:nvSpPr>
        <p:spPr>
          <a:xfrm>
            <a:off x="3127248" y="1847088"/>
            <a:ext cx="36576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80_cellt24"/>
          <p:cNvSpPr txBox="1"/>
          <p:nvPr/>
        </p:nvSpPr>
        <p:spPr>
          <a:xfrm>
            <a:off x="3127248" y="1847088"/>
            <a:ext cx="365760" cy="329184"/>
          </a:xfrm>
          <a:prstGeom prst="rect">
            <a:avLst/>
          </a:prstGeom>
          <a:noFill/>
        </p:spPr>
        <p:txBody>
          <a:bodyPr wrap="square" lIns="0" tIns="0" rIns="0" bIns="0" anchor="ctr">
            <a:spAutoFit/>
          </a:bodyPr>
          <a:lstStyle/>
          <a:p>
            <a:pPr algn="ctr"/>
            <a:r>
              <a:rPr sz="850" b="1">
                <a:solidFill>
                  <a:srgbClr val="0E7490"/>
                </a:solidFill>
                <a:latin typeface="Consolas"/>
              </a:rPr>
              <a:t>3</a:t>
            </a:r>
          </a:p>
        </p:txBody>
      </p:sp>
      <p:sp>
        <p:nvSpPr>
          <p:cNvPr id="26" name="a1ud80_cell25"/>
          <p:cNvSpPr/>
          <p:nvPr/>
        </p:nvSpPr>
        <p:spPr>
          <a:xfrm>
            <a:off x="3493008" y="1847088"/>
            <a:ext cx="36576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80_cellt26"/>
          <p:cNvSpPr txBox="1"/>
          <p:nvPr/>
        </p:nvSpPr>
        <p:spPr>
          <a:xfrm>
            <a:off x="3493008" y="1847088"/>
            <a:ext cx="365760" cy="329184"/>
          </a:xfrm>
          <a:prstGeom prst="rect">
            <a:avLst/>
          </a:prstGeom>
          <a:noFill/>
        </p:spPr>
        <p:txBody>
          <a:bodyPr wrap="square" lIns="0" tIns="0" rIns="0" bIns="0" anchor="ctr">
            <a:spAutoFit/>
          </a:bodyPr>
          <a:lstStyle/>
          <a:p>
            <a:pPr algn="ctr"/>
            <a:r>
              <a:rPr sz="850" b="1">
                <a:solidFill>
                  <a:srgbClr val="0E7490"/>
                </a:solidFill>
                <a:latin typeface="Consolas"/>
              </a:rPr>
              <a:t>4</a:t>
            </a:r>
          </a:p>
        </p:txBody>
      </p:sp>
      <p:sp>
        <p:nvSpPr>
          <p:cNvPr id="28" name="a1ud80_cell27"/>
          <p:cNvSpPr/>
          <p:nvPr/>
        </p:nvSpPr>
        <p:spPr>
          <a:xfrm>
            <a:off x="3858768" y="1847088"/>
            <a:ext cx="365760" cy="329184"/>
          </a:xfrm>
          <a:prstGeom prst="rect">
            <a:avLst/>
          </a:prstGeom>
          <a:solidFill>
            <a:srgbClr val="D9F2F7"/>
          </a:solidFill>
          <a:ln w="952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1ud80_cellt28"/>
          <p:cNvSpPr txBox="1"/>
          <p:nvPr/>
        </p:nvSpPr>
        <p:spPr>
          <a:xfrm>
            <a:off x="3858768" y="1847088"/>
            <a:ext cx="365760" cy="329184"/>
          </a:xfrm>
          <a:prstGeom prst="rect">
            <a:avLst/>
          </a:prstGeom>
          <a:noFill/>
        </p:spPr>
        <p:txBody>
          <a:bodyPr wrap="square" lIns="0" tIns="0" rIns="0" bIns="0" anchor="ctr">
            <a:spAutoFit/>
          </a:bodyPr>
          <a:lstStyle/>
          <a:p>
            <a:pPr algn="ctr"/>
            <a:r>
              <a:rPr sz="850" b="1">
                <a:solidFill>
                  <a:srgbClr val="0E7490"/>
                </a:solidFill>
                <a:latin typeface="Consolas"/>
              </a:rPr>
              <a:t>5</a:t>
            </a:r>
          </a:p>
        </p:txBody>
      </p:sp>
      <p:sp>
        <p:nvSpPr>
          <p:cNvPr id="30" name="a1ud80_lb29"/>
          <p:cNvSpPr txBox="1"/>
          <p:nvPr/>
        </p:nvSpPr>
        <p:spPr>
          <a:xfrm>
            <a:off x="2029968" y="2194560"/>
            <a:ext cx="2194560" cy="201168"/>
          </a:xfrm>
          <a:prstGeom prst="rect">
            <a:avLst/>
          </a:prstGeom>
          <a:noFill/>
        </p:spPr>
        <p:txBody>
          <a:bodyPr wrap="square" lIns="0" tIns="0" rIns="0" bIns="0" anchor="ctr">
            <a:spAutoFit/>
          </a:bodyPr>
          <a:lstStyle/>
          <a:p>
            <a:pPr algn="ctr"/>
            <a:r>
              <a:rPr sz="800" b="0">
                <a:solidFill>
                  <a:srgbClr val="78716C"/>
                </a:solidFill>
                <a:latin typeface="Consolas"/>
              </a:rPr>
              <a:t>thermostat_readings</a:t>
            </a:r>
          </a:p>
        </p:txBody>
      </p:sp>
      <p:cxnSp>
        <p:nvCxnSpPr>
          <p:cNvPr id="31" name="a2u_ar30"/>
          <p:cNvCxnSpPr/>
          <p:nvPr/>
        </p:nvCxnSpPr>
        <p:spPr>
          <a:xfrm flipH="1">
            <a:off x="1229868" y="2414016"/>
            <a:ext cx="1897380" cy="265176"/>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2u_pill31"/>
          <p:cNvSpPr/>
          <p:nvPr/>
        </p:nvSpPr>
        <p:spPr>
          <a:xfrm>
            <a:off x="658368" y="2697480"/>
            <a:ext cx="1143000" cy="310896"/>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dashboard</a:t>
            </a:r>
          </a:p>
        </p:txBody>
      </p:sp>
      <p:sp>
        <p:nvSpPr>
          <p:cNvPr id="33" name="a2u_lb32"/>
          <p:cNvSpPr txBox="1"/>
          <p:nvPr/>
        </p:nvSpPr>
        <p:spPr>
          <a:xfrm>
            <a:off x="658368" y="3035808"/>
            <a:ext cx="1143000" cy="201168"/>
          </a:xfrm>
          <a:prstGeom prst="rect">
            <a:avLst/>
          </a:prstGeom>
          <a:noFill/>
        </p:spPr>
        <p:txBody>
          <a:bodyPr wrap="square" lIns="0" tIns="0" rIns="0" bIns="0" anchor="ctr">
            <a:spAutoFit/>
          </a:bodyPr>
          <a:lstStyle/>
          <a:p>
            <a:pPr algn="ctr"/>
            <a:r>
              <a:rPr sz="800" b="0">
                <a:solidFill>
                  <a:srgbClr val="78716C"/>
                </a:solidFill>
                <a:latin typeface="Segoe UI"/>
              </a:rPr>
              <a:t>your team</a:t>
            </a:r>
          </a:p>
        </p:txBody>
      </p:sp>
      <p:cxnSp>
        <p:nvCxnSpPr>
          <p:cNvPr id="34" name="a2ud150_ar33"/>
          <p:cNvCxnSpPr/>
          <p:nvPr/>
        </p:nvCxnSpPr>
        <p:spPr>
          <a:xfrm flipH="1">
            <a:off x="2482596" y="2414016"/>
            <a:ext cx="644652" cy="265176"/>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a2ud150_pill34"/>
          <p:cNvSpPr/>
          <p:nvPr/>
        </p:nvSpPr>
        <p:spPr>
          <a:xfrm>
            <a:off x="1911095" y="2697480"/>
            <a:ext cx="1143000" cy="310896"/>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billing</a:t>
            </a:r>
          </a:p>
        </p:txBody>
      </p:sp>
      <p:sp>
        <p:nvSpPr>
          <p:cNvPr id="36" name="a2ud150_lb35"/>
          <p:cNvSpPr txBox="1"/>
          <p:nvPr/>
        </p:nvSpPr>
        <p:spPr>
          <a:xfrm>
            <a:off x="1911095" y="3035808"/>
            <a:ext cx="1143000" cy="201168"/>
          </a:xfrm>
          <a:prstGeom prst="rect">
            <a:avLst/>
          </a:prstGeom>
          <a:noFill/>
        </p:spPr>
        <p:txBody>
          <a:bodyPr wrap="square" lIns="0" tIns="0" rIns="0" bIns="0" anchor="ctr">
            <a:spAutoFit/>
          </a:bodyPr>
          <a:lstStyle/>
          <a:p>
            <a:pPr algn="ctr"/>
            <a:r>
              <a:rPr sz="800" b="0">
                <a:solidFill>
                  <a:srgbClr val="78716C"/>
                </a:solidFill>
                <a:latin typeface="Segoe UI"/>
              </a:rPr>
              <a:t>another team</a:t>
            </a:r>
          </a:p>
        </p:txBody>
      </p:sp>
      <p:cxnSp>
        <p:nvCxnSpPr>
          <p:cNvPr id="37" name="a2ud300_ar36"/>
          <p:cNvCxnSpPr/>
          <p:nvPr/>
        </p:nvCxnSpPr>
        <p:spPr>
          <a:xfrm>
            <a:off x="3127248" y="2414016"/>
            <a:ext cx="608076" cy="265176"/>
          </a:xfrm>
          <a:prstGeom prst="line">
            <a:avLst/>
          </a:prstGeom>
          <a:ln w="15875">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a2ud300_pill37"/>
          <p:cNvSpPr/>
          <p:nvPr/>
        </p:nvSpPr>
        <p:spPr>
          <a:xfrm>
            <a:off x="3163824" y="2697480"/>
            <a:ext cx="1143000" cy="310896"/>
          </a:xfrm>
          <a:prstGeom prst="roundRect">
            <a:avLst>
              <a:gd name="adj" fmla="val 50000"/>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4F46E5"/>
                </a:solidFill>
                <a:latin typeface="Consolas"/>
              </a:rPr>
              <a:t>ml-pipeline</a:t>
            </a:r>
          </a:p>
        </p:txBody>
      </p:sp>
      <p:sp>
        <p:nvSpPr>
          <p:cNvPr id="39" name="a2ud300_lb38"/>
          <p:cNvSpPr txBox="1"/>
          <p:nvPr/>
        </p:nvSpPr>
        <p:spPr>
          <a:xfrm>
            <a:off x="3163824" y="3035808"/>
            <a:ext cx="1143000" cy="201168"/>
          </a:xfrm>
          <a:prstGeom prst="rect">
            <a:avLst/>
          </a:prstGeom>
          <a:noFill/>
        </p:spPr>
        <p:txBody>
          <a:bodyPr wrap="square" lIns="0" tIns="0" rIns="0" bIns="0" anchor="ctr">
            <a:spAutoFit/>
          </a:bodyPr>
          <a:lstStyle/>
          <a:p>
            <a:pPr algn="ctr"/>
            <a:r>
              <a:rPr sz="800" b="0">
                <a:solidFill>
                  <a:srgbClr val="78716C"/>
                </a:solidFill>
                <a:latin typeface="Segoe UI"/>
              </a:rPr>
              <a:t>someone new</a:t>
            </a:r>
          </a:p>
        </p:txBody>
      </p:sp>
      <p:sp>
        <p:nvSpPr>
          <p:cNvPr id="40" name="a3u_card39"/>
          <p:cNvSpPr/>
          <p:nvPr/>
        </p:nvSpPr>
        <p:spPr>
          <a:xfrm>
            <a:off x="4663440" y="1280160"/>
            <a:ext cx="402336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3u_acc40"/>
          <p:cNvSpPr/>
          <p:nvPr/>
        </p:nvSpPr>
        <p:spPr>
          <a:xfrm>
            <a:off x="4663440" y="1280160"/>
            <a:ext cx="50292" cy="2395728"/>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hh41"/>
          <p:cNvSpPr txBox="1"/>
          <p:nvPr/>
        </p:nvSpPr>
        <p:spPr>
          <a:xfrm>
            <a:off x="4864607" y="1389888"/>
            <a:ext cx="3657600" cy="237744"/>
          </a:xfrm>
          <a:prstGeom prst="rect">
            <a:avLst/>
          </a:prstGeom>
          <a:noFill/>
        </p:spPr>
        <p:txBody>
          <a:bodyPr wrap="square" lIns="0" tIns="0" rIns="0" bIns="0" anchor="ctr">
            <a:spAutoFit/>
          </a:bodyPr>
          <a:lstStyle/>
          <a:p>
            <a:pPr algn="l"/>
            <a:r>
              <a:rPr sz="900" b="1">
                <a:solidFill>
                  <a:srgbClr val="A16207"/>
                </a:solidFill>
                <a:latin typeface="Segoe UI"/>
              </a:rPr>
              <a:t>2   SCHEMAS CHANGE</a:t>
            </a:r>
          </a:p>
        </p:txBody>
      </p:sp>
      <p:sp>
        <p:nvSpPr>
          <p:cNvPr id="43" name="a3ud100_sv42"/>
          <p:cNvSpPr/>
          <p:nvPr/>
        </p:nvSpPr>
        <p:spPr>
          <a:xfrm>
            <a:off x="4864608" y="1719072"/>
            <a:ext cx="3621024" cy="329184"/>
          </a:xfrm>
          <a:prstGeom prst="roundRect">
            <a:avLst>
              <a:gd name="adj" fmla="val 13888"/>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ud100_svt43"/>
          <p:cNvSpPr txBox="1"/>
          <p:nvPr/>
        </p:nvSpPr>
        <p:spPr>
          <a:xfrm>
            <a:off x="4974336" y="1719072"/>
            <a:ext cx="3438144" cy="329184"/>
          </a:xfrm>
          <a:prstGeom prst="rect">
            <a:avLst/>
          </a:prstGeom>
          <a:noFill/>
        </p:spPr>
        <p:txBody>
          <a:bodyPr wrap="square" lIns="0" tIns="0" rIns="0" bIns="0" anchor="ctr">
            <a:spAutoFit/>
          </a:bodyPr>
          <a:lstStyle/>
          <a:p>
            <a:pPr algn="l"/>
            <a:r>
              <a:rPr sz="950" b="1">
                <a:solidFill>
                  <a:srgbClr val="78716C"/>
                </a:solidFill>
                <a:latin typeface="Consolas"/>
              </a:rPr>
              <a:t>v1   </a:t>
            </a:r>
            <a:r>
              <a:rPr sz="950" b="0">
                <a:solidFill>
                  <a:srgbClr val="44403C"/>
                </a:solidFill>
                <a:latin typeface="Consolas"/>
              </a:rPr>
              <a:t>{ sensor_id, temp_c }</a:t>
            </a:r>
          </a:p>
        </p:txBody>
      </p:sp>
      <p:sp>
        <p:nvSpPr>
          <p:cNvPr id="45" name="a3ud250_sv44"/>
          <p:cNvSpPr/>
          <p:nvPr/>
        </p:nvSpPr>
        <p:spPr>
          <a:xfrm>
            <a:off x="4864608" y="2121408"/>
            <a:ext cx="3621024" cy="329184"/>
          </a:xfrm>
          <a:prstGeom prst="roundRect">
            <a:avLst>
              <a:gd name="adj" fmla="val 13888"/>
            </a:avLst>
          </a:prstGeom>
          <a:solidFill>
            <a:srgbClr val="FFFFFF"/>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ud250_svt45"/>
          <p:cNvSpPr txBox="1"/>
          <p:nvPr/>
        </p:nvSpPr>
        <p:spPr>
          <a:xfrm>
            <a:off x="4974336" y="2121408"/>
            <a:ext cx="3438144" cy="329184"/>
          </a:xfrm>
          <a:prstGeom prst="rect">
            <a:avLst/>
          </a:prstGeom>
          <a:noFill/>
        </p:spPr>
        <p:txBody>
          <a:bodyPr wrap="square" lIns="0" tIns="0" rIns="0" bIns="0" anchor="ctr">
            <a:spAutoFit/>
          </a:bodyPr>
          <a:lstStyle/>
          <a:p>
            <a:pPr algn="l"/>
            <a:r>
              <a:rPr sz="950" b="1">
                <a:solidFill>
                  <a:srgbClr val="A16207"/>
                </a:solidFill>
                <a:latin typeface="Consolas"/>
              </a:rPr>
              <a:t>v2   </a:t>
            </a:r>
            <a:r>
              <a:rPr sz="950" b="0">
                <a:solidFill>
                  <a:srgbClr val="44403C"/>
                </a:solidFill>
                <a:latin typeface="Consolas"/>
              </a:rPr>
              <a:t>{ sensor_id, temp_c, </a:t>
            </a:r>
            <a:r>
              <a:rPr sz="950" b="1">
                <a:solidFill>
                  <a:srgbClr val="A16207"/>
                </a:solidFill>
                <a:latin typeface="Consolas"/>
              </a:rPr>
              <a:t>humidity }</a:t>
            </a:r>
          </a:p>
        </p:txBody>
      </p:sp>
      <p:sp>
        <p:nvSpPr>
          <p:cNvPr id="47" name="a4u_cell46"/>
          <p:cNvSpPr/>
          <p:nvPr/>
        </p:nvSpPr>
        <p:spPr>
          <a:xfrm>
            <a:off x="4864608" y="2651760"/>
            <a:ext cx="475488" cy="347472"/>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4u_cellt47"/>
          <p:cNvSpPr txBox="1"/>
          <p:nvPr/>
        </p:nvSpPr>
        <p:spPr>
          <a:xfrm>
            <a:off x="4864608" y="2651760"/>
            <a:ext cx="475488" cy="347472"/>
          </a:xfrm>
          <a:prstGeom prst="rect">
            <a:avLst/>
          </a:prstGeom>
          <a:noFill/>
        </p:spPr>
        <p:txBody>
          <a:bodyPr wrap="square" lIns="0" tIns="0" rIns="0" bIns="0" anchor="ctr">
            <a:spAutoFit/>
          </a:bodyPr>
          <a:lstStyle/>
          <a:p>
            <a:pPr algn="ctr"/>
            <a:r>
              <a:rPr sz="850" b="1">
                <a:solidFill>
                  <a:srgbClr val="78716C"/>
                </a:solidFill>
                <a:latin typeface="Consolas"/>
              </a:rPr>
              <a:t>v1</a:t>
            </a:r>
          </a:p>
        </p:txBody>
      </p:sp>
      <p:sp>
        <p:nvSpPr>
          <p:cNvPr id="49" name="a4ud60_cell48"/>
          <p:cNvSpPr/>
          <p:nvPr/>
        </p:nvSpPr>
        <p:spPr>
          <a:xfrm>
            <a:off x="5340096" y="2651760"/>
            <a:ext cx="475488" cy="347472"/>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4ud60_cellt49"/>
          <p:cNvSpPr txBox="1"/>
          <p:nvPr/>
        </p:nvSpPr>
        <p:spPr>
          <a:xfrm>
            <a:off x="5340096" y="2651760"/>
            <a:ext cx="475488" cy="347472"/>
          </a:xfrm>
          <a:prstGeom prst="rect">
            <a:avLst/>
          </a:prstGeom>
          <a:noFill/>
        </p:spPr>
        <p:txBody>
          <a:bodyPr wrap="square" lIns="0" tIns="0" rIns="0" bIns="0" anchor="ctr">
            <a:spAutoFit/>
          </a:bodyPr>
          <a:lstStyle/>
          <a:p>
            <a:pPr algn="ctr"/>
            <a:r>
              <a:rPr sz="850" b="1">
                <a:solidFill>
                  <a:srgbClr val="78716C"/>
                </a:solidFill>
                <a:latin typeface="Consolas"/>
              </a:rPr>
              <a:t>v1</a:t>
            </a:r>
          </a:p>
        </p:txBody>
      </p:sp>
      <p:sp>
        <p:nvSpPr>
          <p:cNvPr id="51" name="a4ud120_cell50"/>
          <p:cNvSpPr/>
          <p:nvPr/>
        </p:nvSpPr>
        <p:spPr>
          <a:xfrm>
            <a:off x="5815584" y="2651760"/>
            <a:ext cx="475488" cy="347472"/>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a4ud120_cellt51"/>
          <p:cNvSpPr txBox="1"/>
          <p:nvPr/>
        </p:nvSpPr>
        <p:spPr>
          <a:xfrm>
            <a:off x="5815584" y="2651760"/>
            <a:ext cx="475488" cy="347472"/>
          </a:xfrm>
          <a:prstGeom prst="rect">
            <a:avLst/>
          </a:prstGeom>
          <a:noFill/>
        </p:spPr>
        <p:txBody>
          <a:bodyPr wrap="square" lIns="0" tIns="0" rIns="0" bIns="0" anchor="ctr">
            <a:spAutoFit/>
          </a:bodyPr>
          <a:lstStyle/>
          <a:p>
            <a:pPr algn="ctr"/>
            <a:r>
              <a:rPr sz="850" b="1">
                <a:solidFill>
                  <a:srgbClr val="A16207"/>
                </a:solidFill>
                <a:latin typeface="Consolas"/>
              </a:rPr>
              <a:t>v2</a:t>
            </a:r>
          </a:p>
        </p:txBody>
      </p:sp>
      <p:sp>
        <p:nvSpPr>
          <p:cNvPr id="53" name="a4ud180_cell52"/>
          <p:cNvSpPr/>
          <p:nvPr/>
        </p:nvSpPr>
        <p:spPr>
          <a:xfrm>
            <a:off x="6291072" y="2651760"/>
            <a:ext cx="475488" cy="347472"/>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4ud180_cellt53"/>
          <p:cNvSpPr txBox="1"/>
          <p:nvPr/>
        </p:nvSpPr>
        <p:spPr>
          <a:xfrm>
            <a:off x="6291072" y="2651760"/>
            <a:ext cx="475488" cy="347472"/>
          </a:xfrm>
          <a:prstGeom prst="rect">
            <a:avLst/>
          </a:prstGeom>
          <a:noFill/>
        </p:spPr>
        <p:txBody>
          <a:bodyPr wrap="square" lIns="0" tIns="0" rIns="0" bIns="0" anchor="ctr">
            <a:spAutoFit/>
          </a:bodyPr>
          <a:lstStyle/>
          <a:p>
            <a:pPr algn="ctr"/>
            <a:r>
              <a:rPr sz="850" b="1">
                <a:solidFill>
                  <a:srgbClr val="78716C"/>
                </a:solidFill>
                <a:latin typeface="Consolas"/>
              </a:rPr>
              <a:t>v1</a:t>
            </a:r>
          </a:p>
        </p:txBody>
      </p:sp>
      <p:sp>
        <p:nvSpPr>
          <p:cNvPr id="55" name="a4ud240_cell54"/>
          <p:cNvSpPr/>
          <p:nvPr/>
        </p:nvSpPr>
        <p:spPr>
          <a:xfrm>
            <a:off x="6766560" y="2651760"/>
            <a:ext cx="475488" cy="347472"/>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a4ud240_cellt55"/>
          <p:cNvSpPr txBox="1"/>
          <p:nvPr/>
        </p:nvSpPr>
        <p:spPr>
          <a:xfrm>
            <a:off x="6766560" y="2651760"/>
            <a:ext cx="475488" cy="347472"/>
          </a:xfrm>
          <a:prstGeom prst="rect">
            <a:avLst/>
          </a:prstGeom>
          <a:noFill/>
        </p:spPr>
        <p:txBody>
          <a:bodyPr wrap="square" lIns="0" tIns="0" rIns="0" bIns="0" anchor="ctr">
            <a:spAutoFit/>
          </a:bodyPr>
          <a:lstStyle/>
          <a:p>
            <a:pPr algn="ctr"/>
            <a:r>
              <a:rPr sz="850" b="1">
                <a:solidFill>
                  <a:srgbClr val="A16207"/>
                </a:solidFill>
                <a:latin typeface="Consolas"/>
              </a:rPr>
              <a:t>v2</a:t>
            </a:r>
          </a:p>
        </p:txBody>
      </p:sp>
      <p:sp>
        <p:nvSpPr>
          <p:cNvPr id="57" name="a4ud300_cell56"/>
          <p:cNvSpPr/>
          <p:nvPr/>
        </p:nvSpPr>
        <p:spPr>
          <a:xfrm>
            <a:off x="7242048" y="2651760"/>
            <a:ext cx="475488" cy="347472"/>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a4ud300_cellt57"/>
          <p:cNvSpPr txBox="1"/>
          <p:nvPr/>
        </p:nvSpPr>
        <p:spPr>
          <a:xfrm>
            <a:off x="7242048" y="2651760"/>
            <a:ext cx="475488" cy="347472"/>
          </a:xfrm>
          <a:prstGeom prst="rect">
            <a:avLst/>
          </a:prstGeom>
          <a:noFill/>
        </p:spPr>
        <p:txBody>
          <a:bodyPr wrap="square" lIns="0" tIns="0" rIns="0" bIns="0" anchor="ctr">
            <a:spAutoFit/>
          </a:bodyPr>
          <a:lstStyle/>
          <a:p>
            <a:pPr algn="ctr"/>
            <a:r>
              <a:rPr sz="850" b="1">
                <a:solidFill>
                  <a:srgbClr val="A16207"/>
                </a:solidFill>
                <a:latin typeface="Consolas"/>
              </a:rPr>
              <a:t>v2</a:t>
            </a:r>
          </a:p>
        </p:txBody>
      </p:sp>
      <p:sp>
        <p:nvSpPr>
          <p:cNvPr id="59" name="a4ud360_cell58"/>
          <p:cNvSpPr/>
          <p:nvPr/>
        </p:nvSpPr>
        <p:spPr>
          <a:xfrm>
            <a:off x="7717536" y="2651760"/>
            <a:ext cx="475488" cy="347472"/>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4ud360_cellt59"/>
          <p:cNvSpPr txBox="1"/>
          <p:nvPr/>
        </p:nvSpPr>
        <p:spPr>
          <a:xfrm>
            <a:off x="7717536" y="2651760"/>
            <a:ext cx="475488" cy="347472"/>
          </a:xfrm>
          <a:prstGeom prst="rect">
            <a:avLst/>
          </a:prstGeom>
          <a:noFill/>
        </p:spPr>
        <p:txBody>
          <a:bodyPr wrap="square" lIns="0" tIns="0" rIns="0" bIns="0" anchor="ctr">
            <a:spAutoFit/>
          </a:bodyPr>
          <a:lstStyle/>
          <a:p>
            <a:pPr algn="ctr"/>
            <a:r>
              <a:rPr sz="850" b="1">
                <a:solidFill>
                  <a:srgbClr val="78716C"/>
                </a:solidFill>
                <a:latin typeface="Consolas"/>
              </a:rPr>
              <a:t>v1</a:t>
            </a:r>
          </a:p>
        </p:txBody>
      </p:sp>
      <p:sp>
        <p:nvSpPr>
          <p:cNvPr id="61" name="a4ud400_lb60"/>
          <p:cNvSpPr txBox="1"/>
          <p:nvPr/>
        </p:nvSpPr>
        <p:spPr>
          <a:xfrm>
            <a:off x="4864608" y="3035808"/>
            <a:ext cx="3621024" cy="201168"/>
          </a:xfrm>
          <a:prstGeom prst="rect">
            <a:avLst/>
          </a:prstGeom>
          <a:noFill/>
        </p:spPr>
        <p:txBody>
          <a:bodyPr wrap="square" lIns="0" tIns="0" rIns="0" bIns="0" anchor="ctr">
            <a:spAutoFit/>
          </a:bodyPr>
          <a:lstStyle/>
          <a:p>
            <a:pPr algn="l"/>
            <a:r>
              <a:rPr sz="800" b="0">
                <a:solidFill>
                  <a:srgbClr val="78716C"/>
                </a:solidFill>
                <a:latin typeface="Segoe UI"/>
              </a:rPr>
              <a:t>one topic, old and new producers writing side by side</a:t>
            </a:r>
          </a:p>
        </p:txBody>
      </p:sp>
      <p:sp>
        <p:nvSpPr>
          <p:cNvPr id="62" name="a5u_nb61"/>
          <p:cNvSpPr/>
          <p:nvPr/>
        </p:nvSpPr>
        <p:spPr>
          <a:xfrm>
            <a:off x="457200" y="38862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a5u_nacc62"/>
          <p:cNvSpPr/>
          <p:nvPr/>
        </p:nvSpPr>
        <p:spPr>
          <a:xfrm>
            <a:off x="457200" y="38862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a5u_nt63"/>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Every consumer must understand the format - even as it changes. That is the problem Schema Registry solves.</a:t>
            </a:r>
          </a:p>
        </p:txBody>
      </p:sp>
      <p:sp>
        <p:nvSpPr>
          <p:cNvPr id="65" name="ft6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02</a:t>
            </a:r>
          </a:p>
        </p:txBody>
      </p:sp>
      <p:sp>
        <p:nvSpPr>
          <p:cNvPr id="66" name="ft6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ft6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68" name="ft6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8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8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8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8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8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8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8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8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8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8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8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childTnLst>
                          </p:cTn>
                        </p:par>
                      </p:childTnLst>
                    </p:cTn>
                  </p:par>
                  <p:par>
                    <p:cTn id="105" fill="hold">
                      <p:stCondLst>
                        <p:cond delay="indefinite"/>
                      </p:stCondLst>
                      <p:childTnLst>
                        <p:par>
                          <p:cTn id="106" fill="hold">
                            <p:stCondLst>
                              <p:cond delay="0"/>
                            </p:stCondLst>
                            <p:childTnLst>
                              <p:par>
                                <p:cTn id="111" presetID="2" presetClass="entr" presetSubtype="4" fill="hold" grpId="0" nodeType="clickEffect">
                                  <p:stCondLst>
                                    <p:cond delay="0"/>
                                  </p:stCondLst>
                                  <p:childTnLst>
                                    <p:set>
                                      <p:cBhvr>
                                        <p:cTn id="107" dur="1" fill="hold">
                                          <p:stCondLst>
                                            <p:cond delay="0"/>
                                          </p:stCondLst>
                                        </p:cTn>
                                        <p:tgtEl>
                                          <p:spTgt spid="31"/>
                                        </p:tgtEl>
                                        <p:attrNameLst>
                                          <p:attrName>style.visibility</p:attrName>
                                        </p:attrNameLst>
                                      </p:cBhvr>
                                      <p:to>
                                        <p:strVal val="visible"/>
                                      </p:to>
                                    </p:set>
                                    <p:anim calcmode="lin" valueType="num">
                                      <p:cBhvr additive="base">
                                        <p:cTn id="108" dur="500" fill="hold"/>
                                        <p:tgtEl>
                                          <p:spTgt spid="31"/>
                                        </p:tgtEl>
                                        <p:attrNameLst>
                                          <p:attrName>ppt_x</p:attrName>
                                        </p:attrNameLst>
                                      </p:cBhvr>
                                      <p:tavLst>
                                        <p:tav tm="0">
                                          <p:val>
                                            <p:strVal val="#ppt_x"/>
                                          </p:val>
                                        </p:tav>
                                        <p:tav tm="100000">
                                          <p:val>
                                            <p:strVal val="#ppt_x"/>
                                          </p:val>
                                        </p:tav>
                                      </p:tavLst>
                                    </p:anim>
                                    <p:anim calcmode="lin" valueType="num">
                                      <p:cBhvr additive="base">
                                        <p:cTn id="109" dur="500" fill="hold"/>
                                        <p:tgtEl>
                                          <p:spTgt spid="31"/>
                                        </p:tgtEl>
                                        <p:attrNameLst>
                                          <p:attrName>ppt_y</p:attrName>
                                        </p:attrNameLst>
                                      </p:cBhvr>
                                      <p:tavLst>
                                        <p:tav tm="0">
                                          <p:val>
                                            <p:strVal val="#ppt_y+0.1"/>
                                          </p:val>
                                        </p:tav>
                                        <p:tav tm="100000">
                                          <p:val>
                                            <p:strVal val="#ppt_y"/>
                                          </p:val>
                                        </p:tav>
                                      </p:tavLst>
                                    </p:anim>
                                    <p:animEffect transition="in" filter="fade">
                                      <p:cBhvr>
                                        <p:cTn id="110" dur="500"/>
                                        <p:tgtEl>
                                          <p:spTgt spid="31"/>
                                        </p:tgtEl>
                                      </p:cBhvr>
                                    </p:animEffect>
                                  </p:childTnLst>
                                </p:cTn>
                              </p:par>
                              <p:par>
                                <p:cTn id="116" presetID="2" presetClass="entr" presetSubtype="4"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15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par>
                                <p:cTn id="131" presetID="2" presetClass="entr" presetSubtype="4" fill="hold" grpId="0" nodeType="withEffect">
                                  <p:stCondLst>
                                    <p:cond delay="150"/>
                                  </p:stCondLst>
                                  <p:childTnLst>
                                    <p:set>
                                      <p:cBhvr>
                                        <p:cTn id="127" dur="1" fill="hold">
                                          <p:stCondLst>
                                            <p:cond delay="0"/>
                                          </p:stCondLst>
                                        </p:cTn>
                                        <p:tgtEl>
                                          <p:spTgt spid="35"/>
                                        </p:tgtEl>
                                        <p:attrNameLst>
                                          <p:attrName>style.visibility</p:attrName>
                                        </p:attrNameLst>
                                      </p:cBhvr>
                                      <p:to>
                                        <p:strVal val="visible"/>
                                      </p:to>
                                    </p:set>
                                    <p:anim calcmode="lin" valueType="num">
                                      <p:cBhvr additive="base">
                                        <p:cTn id="128" dur="500" fill="hold"/>
                                        <p:tgtEl>
                                          <p:spTgt spid="35"/>
                                        </p:tgtEl>
                                        <p:attrNameLst>
                                          <p:attrName>ppt_x</p:attrName>
                                        </p:attrNameLst>
                                      </p:cBhvr>
                                      <p:tavLst>
                                        <p:tav tm="0">
                                          <p:val>
                                            <p:strVal val="#ppt_x"/>
                                          </p:val>
                                        </p:tav>
                                        <p:tav tm="100000">
                                          <p:val>
                                            <p:strVal val="#ppt_x"/>
                                          </p:val>
                                        </p:tav>
                                      </p:tavLst>
                                    </p:anim>
                                    <p:anim calcmode="lin" valueType="num">
                                      <p:cBhvr additive="base">
                                        <p:cTn id="129" dur="500" fill="hold"/>
                                        <p:tgtEl>
                                          <p:spTgt spid="35"/>
                                        </p:tgtEl>
                                        <p:attrNameLst>
                                          <p:attrName>ppt_y</p:attrName>
                                        </p:attrNameLst>
                                      </p:cBhvr>
                                      <p:tavLst>
                                        <p:tav tm="0">
                                          <p:val>
                                            <p:strVal val="#ppt_y+0.1"/>
                                          </p:val>
                                        </p:tav>
                                        <p:tav tm="100000">
                                          <p:val>
                                            <p:strVal val="#ppt_y"/>
                                          </p:val>
                                        </p:tav>
                                      </p:tavLst>
                                    </p:anim>
                                    <p:animEffect transition="in" filter="fade">
                                      <p:cBhvr>
                                        <p:cTn id="130" dur="500"/>
                                        <p:tgtEl>
                                          <p:spTgt spid="35"/>
                                        </p:tgtEl>
                                      </p:cBhvr>
                                    </p:animEffect>
                                  </p:childTnLst>
                                </p:cTn>
                              </p:par>
                              <p:par>
                                <p:cTn id="136" presetID="2" presetClass="entr" presetSubtype="4" fill="hold" grpId="0" nodeType="withEffect">
                                  <p:stCondLst>
                                    <p:cond delay="150"/>
                                  </p:stCondLst>
                                  <p:childTnLst>
                                    <p:set>
                                      <p:cBhvr>
                                        <p:cTn id="132" dur="1" fill="hold">
                                          <p:stCondLst>
                                            <p:cond delay="0"/>
                                          </p:stCondLst>
                                        </p:cTn>
                                        <p:tgtEl>
                                          <p:spTgt spid="36"/>
                                        </p:tgtEl>
                                        <p:attrNameLst>
                                          <p:attrName>style.visibility</p:attrName>
                                        </p:attrNameLst>
                                      </p:cBhvr>
                                      <p:to>
                                        <p:strVal val="visible"/>
                                      </p:to>
                                    </p:set>
                                    <p:anim calcmode="lin" valueType="num">
                                      <p:cBhvr additive="base">
                                        <p:cTn id="133" dur="500" fill="hold"/>
                                        <p:tgtEl>
                                          <p:spTgt spid="36"/>
                                        </p:tgtEl>
                                        <p:attrNameLst>
                                          <p:attrName>ppt_x</p:attrName>
                                        </p:attrNameLst>
                                      </p:cBhvr>
                                      <p:tavLst>
                                        <p:tav tm="0">
                                          <p:val>
                                            <p:strVal val="#ppt_x"/>
                                          </p:val>
                                        </p:tav>
                                        <p:tav tm="100000">
                                          <p:val>
                                            <p:strVal val="#ppt_x"/>
                                          </p:val>
                                        </p:tav>
                                      </p:tavLst>
                                    </p:anim>
                                    <p:anim calcmode="lin" valueType="num">
                                      <p:cBhvr additive="base">
                                        <p:cTn id="134" dur="500" fill="hold"/>
                                        <p:tgtEl>
                                          <p:spTgt spid="36"/>
                                        </p:tgtEl>
                                        <p:attrNameLst>
                                          <p:attrName>ppt_y</p:attrName>
                                        </p:attrNameLst>
                                      </p:cBhvr>
                                      <p:tavLst>
                                        <p:tav tm="0">
                                          <p:val>
                                            <p:strVal val="#ppt_y+0.1"/>
                                          </p:val>
                                        </p:tav>
                                        <p:tav tm="100000">
                                          <p:val>
                                            <p:strVal val="#ppt_y"/>
                                          </p:val>
                                        </p:tav>
                                      </p:tavLst>
                                    </p:anim>
                                    <p:animEffect transition="in" filter="fade">
                                      <p:cBhvr>
                                        <p:cTn id="135" dur="500"/>
                                        <p:tgtEl>
                                          <p:spTgt spid="36"/>
                                        </p:tgtEl>
                                      </p:cBhvr>
                                    </p:animEffect>
                                  </p:childTnLst>
                                </p:cTn>
                              </p:par>
                              <p:par>
                                <p:cTn id="141" presetID="2" presetClass="entr" presetSubtype="4" fill="hold" grpId="0" nodeType="withEffect">
                                  <p:stCondLst>
                                    <p:cond delay="300"/>
                                  </p:stCondLst>
                                  <p:childTnLst>
                                    <p:set>
                                      <p:cBhvr>
                                        <p:cTn id="137" dur="1" fill="hold">
                                          <p:stCondLst>
                                            <p:cond delay="0"/>
                                          </p:stCondLst>
                                        </p:cTn>
                                        <p:tgtEl>
                                          <p:spTgt spid="37"/>
                                        </p:tgtEl>
                                        <p:attrNameLst>
                                          <p:attrName>style.visibility</p:attrName>
                                        </p:attrNameLst>
                                      </p:cBhvr>
                                      <p:to>
                                        <p:strVal val="visible"/>
                                      </p:to>
                                    </p:set>
                                    <p:anim calcmode="lin" valueType="num">
                                      <p:cBhvr additive="base">
                                        <p:cTn id="138" dur="500" fill="hold"/>
                                        <p:tgtEl>
                                          <p:spTgt spid="37"/>
                                        </p:tgtEl>
                                        <p:attrNameLst>
                                          <p:attrName>ppt_x</p:attrName>
                                        </p:attrNameLst>
                                      </p:cBhvr>
                                      <p:tavLst>
                                        <p:tav tm="0">
                                          <p:val>
                                            <p:strVal val="#ppt_x"/>
                                          </p:val>
                                        </p:tav>
                                        <p:tav tm="100000">
                                          <p:val>
                                            <p:strVal val="#ppt_x"/>
                                          </p:val>
                                        </p:tav>
                                      </p:tavLst>
                                    </p:anim>
                                    <p:anim calcmode="lin" valueType="num">
                                      <p:cBhvr additive="base">
                                        <p:cTn id="139" dur="500" fill="hold"/>
                                        <p:tgtEl>
                                          <p:spTgt spid="37"/>
                                        </p:tgtEl>
                                        <p:attrNameLst>
                                          <p:attrName>ppt_y</p:attrName>
                                        </p:attrNameLst>
                                      </p:cBhvr>
                                      <p:tavLst>
                                        <p:tav tm="0">
                                          <p:val>
                                            <p:strVal val="#ppt_y+0.1"/>
                                          </p:val>
                                        </p:tav>
                                        <p:tav tm="100000">
                                          <p:val>
                                            <p:strVal val="#ppt_y"/>
                                          </p:val>
                                        </p:tav>
                                      </p:tavLst>
                                    </p:anim>
                                    <p:animEffect transition="in" filter="fade">
                                      <p:cBhvr>
                                        <p:cTn id="140" dur="500"/>
                                        <p:tgtEl>
                                          <p:spTgt spid="37"/>
                                        </p:tgtEl>
                                      </p:cBhvr>
                                    </p:animEffect>
                                  </p:childTnLst>
                                </p:cTn>
                              </p:par>
                              <p:par>
                                <p:cTn id="146" presetID="2" presetClass="entr" presetSubtype="4" fill="hold" grpId="0" nodeType="withEffect">
                                  <p:stCondLst>
                                    <p:cond delay="30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ppt_y+0.1"/>
                                          </p:val>
                                        </p:tav>
                                        <p:tav tm="100000">
                                          <p:val>
                                            <p:strVal val="#ppt_y"/>
                                          </p:val>
                                        </p:tav>
                                      </p:tavLst>
                                    </p:anim>
                                    <p:animEffect transition="in" filter="fade">
                                      <p:cBhvr>
                                        <p:cTn id="145" dur="500"/>
                                        <p:tgtEl>
                                          <p:spTgt spid="38"/>
                                        </p:tgtEl>
                                      </p:cBhvr>
                                    </p:animEffect>
                                  </p:childTnLst>
                                </p:cTn>
                              </p:par>
                              <p:par>
                                <p:cTn id="151" presetID="2" presetClass="entr" presetSubtype="4" fill="hold" grpId="0" nodeType="withEffect">
                                  <p:stCondLst>
                                    <p:cond delay="300"/>
                                  </p:stCondLst>
                                  <p:childTnLst>
                                    <p:set>
                                      <p:cBhvr>
                                        <p:cTn id="147" dur="1" fill="hold">
                                          <p:stCondLst>
                                            <p:cond delay="0"/>
                                          </p:stCondLst>
                                        </p:cTn>
                                        <p:tgtEl>
                                          <p:spTgt spid="39"/>
                                        </p:tgtEl>
                                        <p:attrNameLst>
                                          <p:attrName>style.visibility</p:attrName>
                                        </p:attrNameLst>
                                      </p:cBhvr>
                                      <p:to>
                                        <p:strVal val="visible"/>
                                      </p:to>
                                    </p:set>
                                    <p:anim calcmode="lin" valueType="num">
                                      <p:cBhvr additive="base">
                                        <p:cTn id="148" dur="500" fill="hold"/>
                                        <p:tgtEl>
                                          <p:spTgt spid="39"/>
                                        </p:tgtEl>
                                        <p:attrNameLst>
                                          <p:attrName>ppt_x</p:attrName>
                                        </p:attrNameLst>
                                      </p:cBhvr>
                                      <p:tavLst>
                                        <p:tav tm="0">
                                          <p:val>
                                            <p:strVal val="#ppt_x"/>
                                          </p:val>
                                        </p:tav>
                                        <p:tav tm="100000">
                                          <p:val>
                                            <p:strVal val="#ppt_x"/>
                                          </p:val>
                                        </p:tav>
                                      </p:tavLst>
                                    </p:anim>
                                    <p:anim calcmode="lin" valueType="num">
                                      <p:cBhvr additive="base">
                                        <p:cTn id="149" dur="500" fill="hold"/>
                                        <p:tgtEl>
                                          <p:spTgt spid="39"/>
                                        </p:tgtEl>
                                        <p:attrNameLst>
                                          <p:attrName>ppt_y</p:attrName>
                                        </p:attrNameLst>
                                      </p:cBhvr>
                                      <p:tavLst>
                                        <p:tav tm="0">
                                          <p:val>
                                            <p:strVal val="#ppt_y+0.1"/>
                                          </p:val>
                                        </p:tav>
                                        <p:tav tm="100000">
                                          <p:val>
                                            <p:strVal val="#ppt_y"/>
                                          </p:val>
                                        </p:tav>
                                      </p:tavLst>
                                    </p:anim>
                                    <p:animEffect transition="in" filter="fade">
                                      <p:cBhvr>
                                        <p:cTn id="150" dur="500"/>
                                        <p:tgtEl>
                                          <p:spTgt spid="39"/>
                                        </p:tgtEl>
                                      </p:cBhvr>
                                    </p:animEffect>
                                  </p:childTnLst>
                                </p:cTn>
                              </p:par>
                            </p:childTnLst>
                          </p:cTn>
                        </p:par>
                      </p:childTnLst>
                    </p:cTn>
                  </p:par>
                  <p:par>
                    <p:cTn id="152" fill="hold">
                      <p:stCondLst>
                        <p:cond delay="indefinite"/>
                      </p:stCondLst>
                      <p:childTnLst>
                        <p:par>
                          <p:cTn id="153" fill="hold">
                            <p:stCondLst>
                              <p:cond delay="0"/>
                            </p:stCondLst>
                            <p:childTnLst>
                              <p:par>
                                <p:cTn id="158" presetID="2" presetClass="entr" presetSubtype="4" fill="hold" grpId="0" nodeType="clickEffect">
                                  <p:stCondLst>
                                    <p:cond delay="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par>
                                <p:cTn id="163" presetID="2" presetClass="entr" presetSubtype="4" fill="hold" grpId="0" nodeType="withEffect">
                                  <p:stCondLst>
                                    <p:cond delay="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par>
                                <p:cTn id="173" presetID="2" presetClass="entr" presetSubtype="4" fill="hold" grpId="0" nodeType="withEffect">
                                  <p:stCondLst>
                                    <p:cond delay="10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par>
                                <p:cTn id="178" presetID="2" presetClass="entr" presetSubtype="4" fill="hold" grpId="0" nodeType="withEffect">
                                  <p:stCondLst>
                                    <p:cond delay="100"/>
                                  </p:stCondLst>
                                  <p:childTnLst>
                                    <p:set>
                                      <p:cBhvr>
                                        <p:cTn id="174" dur="1" fill="hold">
                                          <p:stCondLst>
                                            <p:cond delay="0"/>
                                          </p:stCondLst>
                                        </p:cTn>
                                        <p:tgtEl>
                                          <p:spTgt spid="44"/>
                                        </p:tgtEl>
                                        <p:attrNameLst>
                                          <p:attrName>style.visibility</p:attrName>
                                        </p:attrNameLst>
                                      </p:cBhvr>
                                      <p:to>
                                        <p:strVal val="visible"/>
                                      </p:to>
                                    </p:set>
                                    <p:anim calcmode="lin" valueType="num">
                                      <p:cBhvr additive="base">
                                        <p:cTn id="175" dur="500" fill="hold"/>
                                        <p:tgtEl>
                                          <p:spTgt spid="44"/>
                                        </p:tgtEl>
                                        <p:attrNameLst>
                                          <p:attrName>ppt_x</p:attrName>
                                        </p:attrNameLst>
                                      </p:cBhvr>
                                      <p:tavLst>
                                        <p:tav tm="0">
                                          <p:val>
                                            <p:strVal val="#ppt_x"/>
                                          </p:val>
                                        </p:tav>
                                        <p:tav tm="100000">
                                          <p:val>
                                            <p:strVal val="#ppt_x"/>
                                          </p:val>
                                        </p:tav>
                                      </p:tavLst>
                                    </p:anim>
                                    <p:anim calcmode="lin" valueType="num">
                                      <p:cBhvr additive="base">
                                        <p:cTn id="176" dur="500" fill="hold"/>
                                        <p:tgtEl>
                                          <p:spTgt spid="44"/>
                                        </p:tgtEl>
                                        <p:attrNameLst>
                                          <p:attrName>ppt_y</p:attrName>
                                        </p:attrNameLst>
                                      </p:cBhvr>
                                      <p:tavLst>
                                        <p:tav tm="0">
                                          <p:val>
                                            <p:strVal val="#ppt_y+0.1"/>
                                          </p:val>
                                        </p:tav>
                                        <p:tav tm="100000">
                                          <p:val>
                                            <p:strVal val="#ppt_y"/>
                                          </p:val>
                                        </p:tav>
                                      </p:tavLst>
                                    </p:anim>
                                    <p:animEffect transition="in" filter="fade">
                                      <p:cBhvr>
                                        <p:cTn id="177" dur="500"/>
                                        <p:tgtEl>
                                          <p:spTgt spid="44"/>
                                        </p:tgtEl>
                                      </p:cBhvr>
                                    </p:animEffect>
                                  </p:childTnLst>
                                </p:cTn>
                              </p:par>
                              <p:par>
                                <p:cTn id="183" presetID="2" presetClass="entr" presetSubtype="4" fill="hold" grpId="0" nodeType="withEffect">
                                  <p:stCondLst>
                                    <p:cond delay="25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0" dur="500" fill="hold"/>
                                        <p:tgtEl>
                                          <p:spTgt spid="45"/>
                                        </p:tgtEl>
                                        <p:attrNameLst>
                                          <p:attrName>ppt_x</p:attrName>
                                        </p:attrNameLst>
                                      </p:cBhvr>
                                      <p:tavLst>
                                        <p:tav tm="0">
                                          <p:val>
                                            <p:strVal val="#ppt_x"/>
                                          </p:val>
                                        </p:tav>
                                        <p:tav tm="100000">
                                          <p:val>
                                            <p:strVal val="#ppt_x"/>
                                          </p:val>
                                        </p:tav>
                                      </p:tavLst>
                                    </p:anim>
                                    <p:anim calcmode="lin" valueType="num">
                                      <p:cBhvr additive="base">
                                        <p:cTn id="181" dur="500" fill="hold"/>
                                        <p:tgtEl>
                                          <p:spTgt spid="45"/>
                                        </p:tgtEl>
                                        <p:attrNameLst>
                                          <p:attrName>ppt_y</p:attrName>
                                        </p:attrNameLst>
                                      </p:cBhvr>
                                      <p:tavLst>
                                        <p:tav tm="0">
                                          <p:val>
                                            <p:strVal val="#ppt_y+0.1"/>
                                          </p:val>
                                        </p:tav>
                                        <p:tav tm="100000">
                                          <p:val>
                                            <p:strVal val="#ppt_y"/>
                                          </p:val>
                                        </p:tav>
                                      </p:tavLst>
                                    </p:anim>
                                    <p:animEffect transition="in" filter="fade">
                                      <p:cBhvr>
                                        <p:cTn id="182" dur="500"/>
                                        <p:tgtEl>
                                          <p:spTgt spid="45"/>
                                        </p:tgtEl>
                                      </p:cBhvr>
                                    </p:animEffect>
                                  </p:childTnLst>
                                </p:cTn>
                              </p:par>
                              <p:par>
                                <p:cTn id="188" presetID="2" presetClass="entr" presetSubtype="4" fill="hold" grpId="0" nodeType="withEffect">
                                  <p:stCondLst>
                                    <p:cond delay="250"/>
                                  </p:stCondLst>
                                  <p:childTnLst>
                                    <p:set>
                                      <p:cBhvr>
                                        <p:cTn id="184" dur="1" fill="hold">
                                          <p:stCondLst>
                                            <p:cond delay="0"/>
                                          </p:stCondLst>
                                        </p:cTn>
                                        <p:tgtEl>
                                          <p:spTgt spid="46"/>
                                        </p:tgtEl>
                                        <p:attrNameLst>
                                          <p:attrName>style.visibility</p:attrName>
                                        </p:attrNameLst>
                                      </p:cBhvr>
                                      <p:to>
                                        <p:strVal val="visible"/>
                                      </p:to>
                                    </p:set>
                                    <p:anim calcmode="lin" valueType="num">
                                      <p:cBhvr additive="base">
                                        <p:cTn id="185" dur="500" fill="hold"/>
                                        <p:tgtEl>
                                          <p:spTgt spid="46"/>
                                        </p:tgtEl>
                                        <p:attrNameLst>
                                          <p:attrName>ppt_x</p:attrName>
                                        </p:attrNameLst>
                                      </p:cBhvr>
                                      <p:tavLst>
                                        <p:tav tm="0">
                                          <p:val>
                                            <p:strVal val="#ppt_x"/>
                                          </p:val>
                                        </p:tav>
                                        <p:tav tm="100000">
                                          <p:val>
                                            <p:strVal val="#ppt_x"/>
                                          </p:val>
                                        </p:tav>
                                      </p:tavLst>
                                    </p:anim>
                                    <p:anim calcmode="lin" valueType="num">
                                      <p:cBhvr additive="base">
                                        <p:cTn id="186" dur="500" fill="hold"/>
                                        <p:tgtEl>
                                          <p:spTgt spid="46"/>
                                        </p:tgtEl>
                                        <p:attrNameLst>
                                          <p:attrName>ppt_y</p:attrName>
                                        </p:attrNameLst>
                                      </p:cBhvr>
                                      <p:tavLst>
                                        <p:tav tm="0">
                                          <p:val>
                                            <p:strVal val="#ppt_y+0.1"/>
                                          </p:val>
                                        </p:tav>
                                        <p:tav tm="100000">
                                          <p:val>
                                            <p:strVal val="#ppt_y"/>
                                          </p:val>
                                        </p:tav>
                                      </p:tavLst>
                                    </p:anim>
                                    <p:animEffect transition="in" filter="fade">
                                      <p:cBhvr>
                                        <p:cTn id="187" dur="500"/>
                                        <p:tgtEl>
                                          <p:spTgt spid="46"/>
                                        </p:tgtEl>
                                      </p:cBhvr>
                                    </p:animEffect>
                                  </p:childTnLst>
                                </p:cTn>
                              </p:par>
                            </p:childTnLst>
                          </p:cTn>
                        </p:par>
                      </p:childTnLst>
                    </p:cTn>
                  </p:par>
                  <p:par>
                    <p:cTn id="189" fill="hold">
                      <p:stCondLst>
                        <p:cond delay="indefinite"/>
                      </p:stCondLst>
                      <p:childTnLst>
                        <p:par>
                          <p:cTn id="190" fill="hold">
                            <p:stCondLst>
                              <p:cond delay="0"/>
                            </p:stCondLst>
                            <p:childTnLst>
                              <p:par>
                                <p:cTn id="195" presetID="2" presetClass="entr" presetSubtype="4" fill="hold" grpId="0" nodeType="clickEffect">
                                  <p:stCondLst>
                                    <p:cond delay="0"/>
                                  </p:stCondLst>
                                  <p:childTnLst>
                                    <p:set>
                                      <p:cBhvr>
                                        <p:cTn id="191" dur="1" fill="hold">
                                          <p:stCondLst>
                                            <p:cond delay="0"/>
                                          </p:stCondLst>
                                        </p:cTn>
                                        <p:tgtEl>
                                          <p:spTgt spid="47"/>
                                        </p:tgtEl>
                                        <p:attrNameLst>
                                          <p:attrName>style.visibility</p:attrName>
                                        </p:attrNameLst>
                                      </p:cBhvr>
                                      <p:to>
                                        <p:strVal val="visible"/>
                                      </p:to>
                                    </p:set>
                                    <p:anim calcmode="lin" valueType="num">
                                      <p:cBhvr additive="base">
                                        <p:cTn id="192" dur="500" fill="hold"/>
                                        <p:tgtEl>
                                          <p:spTgt spid="47"/>
                                        </p:tgtEl>
                                        <p:attrNameLst>
                                          <p:attrName>ppt_x</p:attrName>
                                        </p:attrNameLst>
                                      </p:cBhvr>
                                      <p:tavLst>
                                        <p:tav tm="0">
                                          <p:val>
                                            <p:strVal val="#ppt_x"/>
                                          </p:val>
                                        </p:tav>
                                        <p:tav tm="100000">
                                          <p:val>
                                            <p:strVal val="#ppt_x"/>
                                          </p:val>
                                        </p:tav>
                                      </p:tavLst>
                                    </p:anim>
                                    <p:anim calcmode="lin" valueType="num">
                                      <p:cBhvr additive="base">
                                        <p:cTn id="193" dur="500" fill="hold"/>
                                        <p:tgtEl>
                                          <p:spTgt spid="47"/>
                                        </p:tgtEl>
                                        <p:attrNameLst>
                                          <p:attrName>ppt_y</p:attrName>
                                        </p:attrNameLst>
                                      </p:cBhvr>
                                      <p:tavLst>
                                        <p:tav tm="0">
                                          <p:val>
                                            <p:strVal val="#ppt_y+0.1"/>
                                          </p:val>
                                        </p:tav>
                                        <p:tav tm="100000">
                                          <p:val>
                                            <p:strVal val="#ppt_y"/>
                                          </p:val>
                                        </p:tav>
                                      </p:tavLst>
                                    </p:anim>
                                    <p:animEffect transition="in" filter="fade">
                                      <p:cBhvr>
                                        <p:cTn id="194" dur="500"/>
                                        <p:tgtEl>
                                          <p:spTgt spid="47"/>
                                        </p:tgtEl>
                                      </p:cBhvr>
                                    </p:animEffect>
                                  </p:childTnLst>
                                </p:cTn>
                              </p:par>
                              <p:par>
                                <p:cTn id="200" presetID="2" presetClass="entr" presetSubtype="4" fill="hold" grpId="0" nodeType="withEffect">
                                  <p:stCondLst>
                                    <p:cond delay="0"/>
                                  </p:stCondLst>
                                  <p:childTnLst>
                                    <p:set>
                                      <p:cBhvr>
                                        <p:cTn id="196" dur="1" fill="hold">
                                          <p:stCondLst>
                                            <p:cond delay="0"/>
                                          </p:stCondLst>
                                        </p:cTn>
                                        <p:tgtEl>
                                          <p:spTgt spid="48"/>
                                        </p:tgtEl>
                                        <p:attrNameLst>
                                          <p:attrName>style.visibility</p:attrName>
                                        </p:attrNameLst>
                                      </p:cBhvr>
                                      <p:to>
                                        <p:strVal val="visible"/>
                                      </p:to>
                                    </p:set>
                                    <p:anim calcmode="lin" valueType="num">
                                      <p:cBhvr additive="base">
                                        <p:cTn id="197" dur="500" fill="hold"/>
                                        <p:tgtEl>
                                          <p:spTgt spid="48"/>
                                        </p:tgtEl>
                                        <p:attrNameLst>
                                          <p:attrName>ppt_x</p:attrName>
                                        </p:attrNameLst>
                                      </p:cBhvr>
                                      <p:tavLst>
                                        <p:tav tm="0">
                                          <p:val>
                                            <p:strVal val="#ppt_x"/>
                                          </p:val>
                                        </p:tav>
                                        <p:tav tm="100000">
                                          <p:val>
                                            <p:strVal val="#ppt_x"/>
                                          </p:val>
                                        </p:tav>
                                      </p:tavLst>
                                    </p:anim>
                                    <p:anim calcmode="lin" valueType="num">
                                      <p:cBhvr additive="base">
                                        <p:cTn id="198" dur="500" fill="hold"/>
                                        <p:tgtEl>
                                          <p:spTgt spid="48"/>
                                        </p:tgtEl>
                                        <p:attrNameLst>
                                          <p:attrName>ppt_y</p:attrName>
                                        </p:attrNameLst>
                                      </p:cBhvr>
                                      <p:tavLst>
                                        <p:tav tm="0">
                                          <p:val>
                                            <p:strVal val="#ppt_y+0.1"/>
                                          </p:val>
                                        </p:tav>
                                        <p:tav tm="100000">
                                          <p:val>
                                            <p:strVal val="#ppt_y"/>
                                          </p:val>
                                        </p:tav>
                                      </p:tavLst>
                                    </p:anim>
                                    <p:animEffect transition="in" filter="fade">
                                      <p:cBhvr>
                                        <p:cTn id="199" dur="500"/>
                                        <p:tgtEl>
                                          <p:spTgt spid="48"/>
                                        </p:tgtEl>
                                      </p:cBhvr>
                                    </p:animEffect>
                                  </p:childTnLst>
                                </p:cTn>
                              </p:par>
                              <p:par>
                                <p:cTn id="205" presetID="2" presetClass="entr" presetSubtype="4" fill="hold" grpId="0" nodeType="withEffect">
                                  <p:stCondLst>
                                    <p:cond delay="60"/>
                                  </p:stCondLst>
                                  <p:childTnLst>
                                    <p:set>
                                      <p:cBhvr>
                                        <p:cTn id="201" dur="1" fill="hold">
                                          <p:stCondLst>
                                            <p:cond delay="0"/>
                                          </p:stCondLst>
                                        </p:cTn>
                                        <p:tgtEl>
                                          <p:spTgt spid="49"/>
                                        </p:tgtEl>
                                        <p:attrNameLst>
                                          <p:attrName>style.visibility</p:attrName>
                                        </p:attrNameLst>
                                      </p:cBhvr>
                                      <p:to>
                                        <p:strVal val="visible"/>
                                      </p:to>
                                    </p:set>
                                    <p:anim calcmode="lin" valueType="num">
                                      <p:cBhvr additive="base">
                                        <p:cTn id="202" dur="500" fill="hold"/>
                                        <p:tgtEl>
                                          <p:spTgt spid="49"/>
                                        </p:tgtEl>
                                        <p:attrNameLst>
                                          <p:attrName>ppt_x</p:attrName>
                                        </p:attrNameLst>
                                      </p:cBhvr>
                                      <p:tavLst>
                                        <p:tav tm="0">
                                          <p:val>
                                            <p:strVal val="#ppt_x"/>
                                          </p:val>
                                        </p:tav>
                                        <p:tav tm="100000">
                                          <p:val>
                                            <p:strVal val="#ppt_x"/>
                                          </p:val>
                                        </p:tav>
                                      </p:tavLst>
                                    </p:anim>
                                    <p:anim calcmode="lin" valueType="num">
                                      <p:cBhvr additive="base">
                                        <p:cTn id="203" dur="500" fill="hold"/>
                                        <p:tgtEl>
                                          <p:spTgt spid="49"/>
                                        </p:tgtEl>
                                        <p:attrNameLst>
                                          <p:attrName>ppt_y</p:attrName>
                                        </p:attrNameLst>
                                      </p:cBhvr>
                                      <p:tavLst>
                                        <p:tav tm="0">
                                          <p:val>
                                            <p:strVal val="#ppt_y+0.1"/>
                                          </p:val>
                                        </p:tav>
                                        <p:tav tm="100000">
                                          <p:val>
                                            <p:strVal val="#ppt_y"/>
                                          </p:val>
                                        </p:tav>
                                      </p:tavLst>
                                    </p:anim>
                                    <p:animEffect transition="in" filter="fade">
                                      <p:cBhvr>
                                        <p:cTn id="204" dur="500"/>
                                        <p:tgtEl>
                                          <p:spTgt spid="49"/>
                                        </p:tgtEl>
                                      </p:cBhvr>
                                    </p:animEffect>
                                  </p:childTnLst>
                                </p:cTn>
                              </p:par>
                              <p:par>
                                <p:cTn id="210" presetID="2" presetClass="entr" presetSubtype="4" fill="hold" grpId="0" nodeType="withEffect">
                                  <p:stCondLst>
                                    <p:cond delay="60"/>
                                  </p:stCondLst>
                                  <p:childTnLst>
                                    <p:set>
                                      <p:cBhvr>
                                        <p:cTn id="206" dur="1" fill="hold">
                                          <p:stCondLst>
                                            <p:cond delay="0"/>
                                          </p:stCondLst>
                                        </p:cTn>
                                        <p:tgtEl>
                                          <p:spTgt spid="50"/>
                                        </p:tgtEl>
                                        <p:attrNameLst>
                                          <p:attrName>style.visibility</p:attrName>
                                        </p:attrNameLst>
                                      </p:cBhvr>
                                      <p:to>
                                        <p:strVal val="visible"/>
                                      </p:to>
                                    </p:set>
                                    <p:anim calcmode="lin" valueType="num">
                                      <p:cBhvr additive="base">
                                        <p:cTn id="207" dur="500" fill="hold"/>
                                        <p:tgtEl>
                                          <p:spTgt spid="50"/>
                                        </p:tgtEl>
                                        <p:attrNameLst>
                                          <p:attrName>ppt_x</p:attrName>
                                        </p:attrNameLst>
                                      </p:cBhvr>
                                      <p:tavLst>
                                        <p:tav tm="0">
                                          <p:val>
                                            <p:strVal val="#ppt_x"/>
                                          </p:val>
                                        </p:tav>
                                        <p:tav tm="100000">
                                          <p:val>
                                            <p:strVal val="#ppt_x"/>
                                          </p:val>
                                        </p:tav>
                                      </p:tavLst>
                                    </p:anim>
                                    <p:anim calcmode="lin" valueType="num">
                                      <p:cBhvr additive="base">
                                        <p:cTn id="208" dur="500" fill="hold"/>
                                        <p:tgtEl>
                                          <p:spTgt spid="50"/>
                                        </p:tgtEl>
                                        <p:attrNameLst>
                                          <p:attrName>ppt_y</p:attrName>
                                        </p:attrNameLst>
                                      </p:cBhvr>
                                      <p:tavLst>
                                        <p:tav tm="0">
                                          <p:val>
                                            <p:strVal val="#ppt_y+0.1"/>
                                          </p:val>
                                        </p:tav>
                                        <p:tav tm="100000">
                                          <p:val>
                                            <p:strVal val="#ppt_y"/>
                                          </p:val>
                                        </p:tav>
                                      </p:tavLst>
                                    </p:anim>
                                    <p:animEffect transition="in" filter="fade">
                                      <p:cBhvr>
                                        <p:cTn id="209" dur="500"/>
                                        <p:tgtEl>
                                          <p:spTgt spid="50"/>
                                        </p:tgtEl>
                                      </p:cBhvr>
                                    </p:animEffect>
                                  </p:childTnLst>
                                </p:cTn>
                              </p:par>
                              <p:par>
                                <p:cTn id="215" presetID="2" presetClass="entr" presetSubtype="4" fill="hold" grpId="0" nodeType="withEffect">
                                  <p:stCondLst>
                                    <p:cond delay="120"/>
                                  </p:stCondLst>
                                  <p:childTnLst>
                                    <p:set>
                                      <p:cBhvr>
                                        <p:cTn id="211" dur="1" fill="hold">
                                          <p:stCondLst>
                                            <p:cond delay="0"/>
                                          </p:stCondLst>
                                        </p:cTn>
                                        <p:tgtEl>
                                          <p:spTgt spid="51"/>
                                        </p:tgtEl>
                                        <p:attrNameLst>
                                          <p:attrName>style.visibility</p:attrName>
                                        </p:attrNameLst>
                                      </p:cBhvr>
                                      <p:to>
                                        <p:strVal val="visible"/>
                                      </p:to>
                                    </p:set>
                                    <p:anim calcmode="lin" valueType="num">
                                      <p:cBhvr additive="base">
                                        <p:cTn id="212" dur="500" fill="hold"/>
                                        <p:tgtEl>
                                          <p:spTgt spid="51"/>
                                        </p:tgtEl>
                                        <p:attrNameLst>
                                          <p:attrName>ppt_x</p:attrName>
                                        </p:attrNameLst>
                                      </p:cBhvr>
                                      <p:tavLst>
                                        <p:tav tm="0">
                                          <p:val>
                                            <p:strVal val="#ppt_x"/>
                                          </p:val>
                                        </p:tav>
                                        <p:tav tm="100000">
                                          <p:val>
                                            <p:strVal val="#ppt_x"/>
                                          </p:val>
                                        </p:tav>
                                      </p:tavLst>
                                    </p:anim>
                                    <p:anim calcmode="lin" valueType="num">
                                      <p:cBhvr additive="base">
                                        <p:cTn id="213" dur="500" fill="hold"/>
                                        <p:tgtEl>
                                          <p:spTgt spid="51"/>
                                        </p:tgtEl>
                                        <p:attrNameLst>
                                          <p:attrName>ppt_y</p:attrName>
                                        </p:attrNameLst>
                                      </p:cBhvr>
                                      <p:tavLst>
                                        <p:tav tm="0">
                                          <p:val>
                                            <p:strVal val="#ppt_y+0.1"/>
                                          </p:val>
                                        </p:tav>
                                        <p:tav tm="100000">
                                          <p:val>
                                            <p:strVal val="#ppt_y"/>
                                          </p:val>
                                        </p:tav>
                                      </p:tavLst>
                                    </p:anim>
                                    <p:animEffect transition="in" filter="fade">
                                      <p:cBhvr>
                                        <p:cTn id="214" dur="500"/>
                                        <p:tgtEl>
                                          <p:spTgt spid="51"/>
                                        </p:tgtEl>
                                      </p:cBhvr>
                                    </p:animEffect>
                                  </p:childTnLst>
                                </p:cTn>
                              </p:par>
                              <p:par>
                                <p:cTn id="220" presetID="2" presetClass="entr" presetSubtype="4" fill="hold" grpId="0" nodeType="withEffect">
                                  <p:stCondLst>
                                    <p:cond delay="120"/>
                                  </p:stCondLst>
                                  <p:childTnLst>
                                    <p:set>
                                      <p:cBhvr>
                                        <p:cTn id="216" dur="1" fill="hold">
                                          <p:stCondLst>
                                            <p:cond delay="0"/>
                                          </p:stCondLst>
                                        </p:cTn>
                                        <p:tgtEl>
                                          <p:spTgt spid="52"/>
                                        </p:tgtEl>
                                        <p:attrNameLst>
                                          <p:attrName>style.visibility</p:attrName>
                                        </p:attrNameLst>
                                      </p:cBhvr>
                                      <p:to>
                                        <p:strVal val="visible"/>
                                      </p:to>
                                    </p:set>
                                    <p:anim calcmode="lin" valueType="num">
                                      <p:cBhvr additive="base">
                                        <p:cTn id="217" dur="500" fill="hold"/>
                                        <p:tgtEl>
                                          <p:spTgt spid="52"/>
                                        </p:tgtEl>
                                        <p:attrNameLst>
                                          <p:attrName>ppt_x</p:attrName>
                                        </p:attrNameLst>
                                      </p:cBhvr>
                                      <p:tavLst>
                                        <p:tav tm="0">
                                          <p:val>
                                            <p:strVal val="#ppt_x"/>
                                          </p:val>
                                        </p:tav>
                                        <p:tav tm="100000">
                                          <p:val>
                                            <p:strVal val="#ppt_x"/>
                                          </p:val>
                                        </p:tav>
                                      </p:tavLst>
                                    </p:anim>
                                    <p:anim calcmode="lin" valueType="num">
                                      <p:cBhvr additive="base">
                                        <p:cTn id="218" dur="500" fill="hold"/>
                                        <p:tgtEl>
                                          <p:spTgt spid="52"/>
                                        </p:tgtEl>
                                        <p:attrNameLst>
                                          <p:attrName>ppt_y</p:attrName>
                                        </p:attrNameLst>
                                      </p:cBhvr>
                                      <p:tavLst>
                                        <p:tav tm="0">
                                          <p:val>
                                            <p:strVal val="#ppt_y+0.1"/>
                                          </p:val>
                                        </p:tav>
                                        <p:tav tm="100000">
                                          <p:val>
                                            <p:strVal val="#ppt_y"/>
                                          </p:val>
                                        </p:tav>
                                      </p:tavLst>
                                    </p:anim>
                                    <p:animEffect transition="in" filter="fade">
                                      <p:cBhvr>
                                        <p:cTn id="219" dur="500"/>
                                        <p:tgtEl>
                                          <p:spTgt spid="52"/>
                                        </p:tgtEl>
                                      </p:cBhvr>
                                    </p:animEffect>
                                  </p:childTnLst>
                                </p:cTn>
                              </p:par>
                              <p:par>
                                <p:cTn id="225" presetID="2" presetClass="entr" presetSubtype="4" fill="hold" grpId="0" nodeType="withEffect">
                                  <p:stCondLst>
                                    <p:cond delay="180"/>
                                  </p:stCondLst>
                                  <p:childTnLst>
                                    <p:set>
                                      <p:cBhvr>
                                        <p:cTn id="221" dur="1" fill="hold">
                                          <p:stCondLst>
                                            <p:cond delay="0"/>
                                          </p:stCondLst>
                                        </p:cTn>
                                        <p:tgtEl>
                                          <p:spTgt spid="53"/>
                                        </p:tgtEl>
                                        <p:attrNameLst>
                                          <p:attrName>style.visibility</p:attrName>
                                        </p:attrNameLst>
                                      </p:cBhvr>
                                      <p:to>
                                        <p:strVal val="visible"/>
                                      </p:to>
                                    </p:set>
                                    <p:anim calcmode="lin" valueType="num">
                                      <p:cBhvr additive="base">
                                        <p:cTn id="222" dur="500" fill="hold"/>
                                        <p:tgtEl>
                                          <p:spTgt spid="53"/>
                                        </p:tgtEl>
                                        <p:attrNameLst>
                                          <p:attrName>ppt_x</p:attrName>
                                        </p:attrNameLst>
                                      </p:cBhvr>
                                      <p:tavLst>
                                        <p:tav tm="0">
                                          <p:val>
                                            <p:strVal val="#ppt_x"/>
                                          </p:val>
                                        </p:tav>
                                        <p:tav tm="100000">
                                          <p:val>
                                            <p:strVal val="#ppt_x"/>
                                          </p:val>
                                        </p:tav>
                                      </p:tavLst>
                                    </p:anim>
                                    <p:anim calcmode="lin" valueType="num">
                                      <p:cBhvr additive="base">
                                        <p:cTn id="223" dur="500" fill="hold"/>
                                        <p:tgtEl>
                                          <p:spTgt spid="53"/>
                                        </p:tgtEl>
                                        <p:attrNameLst>
                                          <p:attrName>ppt_y</p:attrName>
                                        </p:attrNameLst>
                                      </p:cBhvr>
                                      <p:tavLst>
                                        <p:tav tm="0">
                                          <p:val>
                                            <p:strVal val="#ppt_y+0.1"/>
                                          </p:val>
                                        </p:tav>
                                        <p:tav tm="100000">
                                          <p:val>
                                            <p:strVal val="#ppt_y"/>
                                          </p:val>
                                        </p:tav>
                                      </p:tavLst>
                                    </p:anim>
                                    <p:animEffect transition="in" filter="fade">
                                      <p:cBhvr>
                                        <p:cTn id="224" dur="500"/>
                                        <p:tgtEl>
                                          <p:spTgt spid="53"/>
                                        </p:tgtEl>
                                      </p:cBhvr>
                                    </p:animEffect>
                                  </p:childTnLst>
                                </p:cTn>
                              </p:par>
                              <p:par>
                                <p:cTn id="230" presetID="2" presetClass="entr" presetSubtype="4" fill="hold" grpId="0" nodeType="withEffect">
                                  <p:stCondLst>
                                    <p:cond delay="180"/>
                                  </p:stCondLst>
                                  <p:childTnLst>
                                    <p:set>
                                      <p:cBhvr>
                                        <p:cTn id="226" dur="1" fill="hold">
                                          <p:stCondLst>
                                            <p:cond delay="0"/>
                                          </p:stCondLst>
                                        </p:cTn>
                                        <p:tgtEl>
                                          <p:spTgt spid="54"/>
                                        </p:tgtEl>
                                        <p:attrNameLst>
                                          <p:attrName>style.visibility</p:attrName>
                                        </p:attrNameLst>
                                      </p:cBhvr>
                                      <p:to>
                                        <p:strVal val="visible"/>
                                      </p:to>
                                    </p:set>
                                    <p:anim calcmode="lin" valueType="num">
                                      <p:cBhvr additive="base">
                                        <p:cTn id="227" dur="500" fill="hold"/>
                                        <p:tgtEl>
                                          <p:spTgt spid="54"/>
                                        </p:tgtEl>
                                        <p:attrNameLst>
                                          <p:attrName>ppt_x</p:attrName>
                                        </p:attrNameLst>
                                      </p:cBhvr>
                                      <p:tavLst>
                                        <p:tav tm="0">
                                          <p:val>
                                            <p:strVal val="#ppt_x"/>
                                          </p:val>
                                        </p:tav>
                                        <p:tav tm="100000">
                                          <p:val>
                                            <p:strVal val="#ppt_x"/>
                                          </p:val>
                                        </p:tav>
                                      </p:tavLst>
                                    </p:anim>
                                    <p:anim calcmode="lin" valueType="num">
                                      <p:cBhvr additive="base">
                                        <p:cTn id="228" dur="500" fill="hold"/>
                                        <p:tgtEl>
                                          <p:spTgt spid="54"/>
                                        </p:tgtEl>
                                        <p:attrNameLst>
                                          <p:attrName>ppt_y</p:attrName>
                                        </p:attrNameLst>
                                      </p:cBhvr>
                                      <p:tavLst>
                                        <p:tav tm="0">
                                          <p:val>
                                            <p:strVal val="#ppt_y+0.1"/>
                                          </p:val>
                                        </p:tav>
                                        <p:tav tm="100000">
                                          <p:val>
                                            <p:strVal val="#ppt_y"/>
                                          </p:val>
                                        </p:tav>
                                      </p:tavLst>
                                    </p:anim>
                                    <p:animEffect transition="in" filter="fade">
                                      <p:cBhvr>
                                        <p:cTn id="229" dur="500"/>
                                        <p:tgtEl>
                                          <p:spTgt spid="54"/>
                                        </p:tgtEl>
                                      </p:cBhvr>
                                    </p:animEffect>
                                  </p:childTnLst>
                                </p:cTn>
                              </p:par>
                              <p:par>
                                <p:cTn id="235" presetID="2" presetClass="entr" presetSubtype="4" fill="hold" grpId="0" nodeType="withEffect">
                                  <p:stCondLst>
                                    <p:cond delay="240"/>
                                  </p:stCondLst>
                                  <p:childTnLst>
                                    <p:set>
                                      <p:cBhvr>
                                        <p:cTn id="231" dur="1" fill="hold">
                                          <p:stCondLst>
                                            <p:cond delay="0"/>
                                          </p:stCondLst>
                                        </p:cTn>
                                        <p:tgtEl>
                                          <p:spTgt spid="55"/>
                                        </p:tgtEl>
                                        <p:attrNameLst>
                                          <p:attrName>style.visibility</p:attrName>
                                        </p:attrNameLst>
                                      </p:cBhvr>
                                      <p:to>
                                        <p:strVal val="visible"/>
                                      </p:to>
                                    </p:set>
                                    <p:anim calcmode="lin" valueType="num">
                                      <p:cBhvr additive="base">
                                        <p:cTn id="232" dur="500" fill="hold"/>
                                        <p:tgtEl>
                                          <p:spTgt spid="55"/>
                                        </p:tgtEl>
                                        <p:attrNameLst>
                                          <p:attrName>ppt_x</p:attrName>
                                        </p:attrNameLst>
                                      </p:cBhvr>
                                      <p:tavLst>
                                        <p:tav tm="0">
                                          <p:val>
                                            <p:strVal val="#ppt_x"/>
                                          </p:val>
                                        </p:tav>
                                        <p:tav tm="100000">
                                          <p:val>
                                            <p:strVal val="#ppt_x"/>
                                          </p:val>
                                        </p:tav>
                                      </p:tavLst>
                                    </p:anim>
                                    <p:anim calcmode="lin" valueType="num">
                                      <p:cBhvr additive="base">
                                        <p:cTn id="233" dur="500" fill="hold"/>
                                        <p:tgtEl>
                                          <p:spTgt spid="55"/>
                                        </p:tgtEl>
                                        <p:attrNameLst>
                                          <p:attrName>ppt_y</p:attrName>
                                        </p:attrNameLst>
                                      </p:cBhvr>
                                      <p:tavLst>
                                        <p:tav tm="0">
                                          <p:val>
                                            <p:strVal val="#ppt_y+0.1"/>
                                          </p:val>
                                        </p:tav>
                                        <p:tav tm="100000">
                                          <p:val>
                                            <p:strVal val="#ppt_y"/>
                                          </p:val>
                                        </p:tav>
                                      </p:tavLst>
                                    </p:anim>
                                    <p:animEffect transition="in" filter="fade">
                                      <p:cBhvr>
                                        <p:cTn id="234" dur="500"/>
                                        <p:tgtEl>
                                          <p:spTgt spid="55"/>
                                        </p:tgtEl>
                                      </p:cBhvr>
                                    </p:animEffect>
                                  </p:childTnLst>
                                </p:cTn>
                              </p:par>
                              <p:par>
                                <p:cTn id="240" presetID="2" presetClass="entr" presetSubtype="4" fill="hold" grpId="0" nodeType="withEffect">
                                  <p:stCondLst>
                                    <p:cond delay="240"/>
                                  </p:stCondLst>
                                  <p:childTnLst>
                                    <p:set>
                                      <p:cBhvr>
                                        <p:cTn id="236" dur="1" fill="hold">
                                          <p:stCondLst>
                                            <p:cond delay="0"/>
                                          </p:stCondLst>
                                        </p:cTn>
                                        <p:tgtEl>
                                          <p:spTgt spid="56"/>
                                        </p:tgtEl>
                                        <p:attrNameLst>
                                          <p:attrName>style.visibility</p:attrName>
                                        </p:attrNameLst>
                                      </p:cBhvr>
                                      <p:to>
                                        <p:strVal val="visible"/>
                                      </p:to>
                                    </p:set>
                                    <p:anim calcmode="lin" valueType="num">
                                      <p:cBhvr additive="base">
                                        <p:cTn id="237" dur="500" fill="hold"/>
                                        <p:tgtEl>
                                          <p:spTgt spid="56"/>
                                        </p:tgtEl>
                                        <p:attrNameLst>
                                          <p:attrName>ppt_x</p:attrName>
                                        </p:attrNameLst>
                                      </p:cBhvr>
                                      <p:tavLst>
                                        <p:tav tm="0">
                                          <p:val>
                                            <p:strVal val="#ppt_x"/>
                                          </p:val>
                                        </p:tav>
                                        <p:tav tm="100000">
                                          <p:val>
                                            <p:strVal val="#ppt_x"/>
                                          </p:val>
                                        </p:tav>
                                      </p:tavLst>
                                    </p:anim>
                                    <p:anim calcmode="lin" valueType="num">
                                      <p:cBhvr additive="base">
                                        <p:cTn id="238" dur="500" fill="hold"/>
                                        <p:tgtEl>
                                          <p:spTgt spid="56"/>
                                        </p:tgtEl>
                                        <p:attrNameLst>
                                          <p:attrName>ppt_y</p:attrName>
                                        </p:attrNameLst>
                                      </p:cBhvr>
                                      <p:tavLst>
                                        <p:tav tm="0">
                                          <p:val>
                                            <p:strVal val="#ppt_y+0.1"/>
                                          </p:val>
                                        </p:tav>
                                        <p:tav tm="100000">
                                          <p:val>
                                            <p:strVal val="#ppt_y"/>
                                          </p:val>
                                        </p:tav>
                                      </p:tavLst>
                                    </p:anim>
                                    <p:animEffect transition="in" filter="fade">
                                      <p:cBhvr>
                                        <p:cTn id="239" dur="500"/>
                                        <p:tgtEl>
                                          <p:spTgt spid="56"/>
                                        </p:tgtEl>
                                      </p:cBhvr>
                                    </p:animEffect>
                                  </p:childTnLst>
                                </p:cTn>
                              </p:par>
                              <p:par>
                                <p:cTn id="245" presetID="2" presetClass="entr" presetSubtype="4" fill="hold" grpId="0" nodeType="withEffect">
                                  <p:stCondLst>
                                    <p:cond delay="300"/>
                                  </p:stCondLst>
                                  <p:childTnLst>
                                    <p:set>
                                      <p:cBhvr>
                                        <p:cTn id="241" dur="1" fill="hold">
                                          <p:stCondLst>
                                            <p:cond delay="0"/>
                                          </p:stCondLst>
                                        </p:cTn>
                                        <p:tgtEl>
                                          <p:spTgt spid="57"/>
                                        </p:tgtEl>
                                        <p:attrNameLst>
                                          <p:attrName>style.visibility</p:attrName>
                                        </p:attrNameLst>
                                      </p:cBhvr>
                                      <p:to>
                                        <p:strVal val="visible"/>
                                      </p:to>
                                    </p:set>
                                    <p:anim calcmode="lin" valueType="num">
                                      <p:cBhvr additive="base">
                                        <p:cTn id="242" dur="500" fill="hold"/>
                                        <p:tgtEl>
                                          <p:spTgt spid="57"/>
                                        </p:tgtEl>
                                        <p:attrNameLst>
                                          <p:attrName>ppt_x</p:attrName>
                                        </p:attrNameLst>
                                      </p:cBhvr>
                                      <p:tavLst>
                                        <p:tav tm="0">
                                          <p:val>
                                            <p:strVal val="#ppt_x"/>
                                          </p:val>
                                        </p:tav>
                                        <p:tav tm="100000">
                                          <p:val>
                                            <p:strVal val="#ppt_x"/>
                                          </p:val>
                                        </p:tav>
                                      </p:tavLst>
                                    </p:anim>
                                    <p:anim calcmode="lin" valueType="num">
                                      <p:cBhvr additive="base">
                                        <p:cTn id="243" dur="500" fill="hold"/>
                                        <p:tgtEl>
                                          <p:spTgt spid="57"/>
                                        </p:tgtEl>
                                        <p:attrNameLst>
                                          <p:attrName>ppt_y</p:attrName>
                                        </p:attrNameLst>
                                      </p:cBhvr>
                                      <p:tavLst>
                                        <p:tav tm="0">
                                          <p:val>
                                            <p:strVal val="#ppt_y+0.1"/>
                                          </p:val>
                                        </p:tav>
                                        <p:tav tm="100000">
                                          <p:val>
                                            <p:strVal val="#ppt_y"/>
                                          </p:val>
                                        </p:tav>
                                      </p:tavLst>
                                    </p:anim>
                                    <p:animEffect transition="in" filter="fade">
                                      <p:cBhvr>
                                        <p:cTn id="244" dur="500"/>
                                        <p:tgtEl>
                                          <p:spTgt spid="57"/>
                                        </p:tgtEl>
                                      </p:cBhvr>
                                    </p:animEffect>
                                  </p:childTnLst>
                                </p:cTn>
                              </p:par>
                              <p:par>
                                <p:cTn id="250" presetID="2" presetClass="entr" presetSubtype="4" fill="hold" grpId="0" nodeType="withEffect">
                                  <p:stCondLst>
                                    <p:cond delay="300"/>
                                  </p:stCondLst>
                                  <p:childTnLst>
                                    <p:set>
                                      <p:cBhvr>
                                        <p:cTn id="246" dur="1" fill="hold">
                                          <p:stCondLst>
                                            <p:cond delay="0"/>
                                          </p:stCondLst>
                                        </p:cTn>
                                        <p:tgtEl>
                                          <p:spTgt spid="58"/>
                                        </p:tgtEl>
                                        <p:attrNameLst>
                                          <p:attrName>style.visibility</p:attrName>
                                        </p:attrNameLst>
                                      </p:cBhvr>
                                      <p:to>
                                        <p:strVal val="visible"/>
                                      </p:to>
                                    </p:set>
                                    <p:anim calcmode="lin" valueType="num">
                                      <p:cBhvr additive="base">
                                        <p:cTn id="247" dur="500" fill="hold"/>
                                        <p:tgtEl>
                                          <p:spTgt spid="58"/>
                                        </p:tgtEl>
                                        <p:attrNameLst>
                                          <p:attrName>ppt_x</p:attrName>
                                        </p:attrNameLst>
                                      </p:cBhvr>
                                      <p:tavLst>
                                        <p:tav tm="0">
                                          <p:val>
                                            <p:strVal val="#ppt_x"/>
                                          </p:val>
                                        </p:tav>
                                        <p:tav tm="100000">
                                          <p:val>
                                            <p:strVal val="#ppt_x"/>
                                          </p:val>
                                        </p:tav>
                                      </p:tavLst>
                                    </p:anim>
                                    <p:anim calcmode="lin" valueType="num">
                                      <p:cBhvr additive="base">
                                        <p:cTn id="248" dur="500" fill="hold"/>
                                        <p:tgtEl>
                                          <p:spTgt spid="58"/>
                                        </p:tgtEl>
                                        <p:attrNameLst>
                                          <p:attrName>ppt_y</p:attrName>
                                        </p:attrNameLst>
                                      </p:cBhvr>
                                      <p:tavLst>
                                        <p:tav tm="0">
                                          <p:val>
                                            <p:strVal val="#ppt_y+0.1"/>
                                          </p:val>
                                        </p:tav>
                                        <p:tav tm="100000">
                                          <p:val>
                                            <p:strVal val="#ppt_y"/>
                                          </p:val>
                                        </p:tav>
                                      </p:tavLst>
                                    </p:anim>
                                    <p:animEffect transition="in" filter="fade">
                                      <p:cBhvr>
                                        <p:cTn id="249" dur="500"/>
                                        <p:tgtEl>
                                          <p:spTgt spid="58"/>
                                        </p:tgtEl>
                                      </p:cBhvr>
                                    </p:animEffect>
                                  </p:childTnLst>
                                </p:cTn>
                              </p:par>
                              <p:par>
                                <p:cTn id="255" presetID="2" presetClass="entr" presetSubtype="4" fill="hold" grpId="0" nodeType="withEffect">
                                  <p:stCondLst>
                                    <p:cond delay="360"/>
                                  </p:stCondLst>
                                  <p:childTnLst>
                                    <p:set>
                                      <p:cBhvr>
                                        <p:cTn id="251" dur="1" fill="hold">
                                          <p:stCondLst>
                                            <p:cond delay="0"/>
                                          </p:stCondLst>
                                        </p:cTn>
                                        <p:tgtEl>
                                          <p:spTgt spid="59"/>
                                        </p:tgtEl>
                                        <p:attrNameLst>
                                          <p:attrName>style.visibility</p:attrName>
                                        </p:attrNameLst>
                                      </p:cBhvr>
                                      <p:to>
                                        <p:strVal val="visible"/>
                                      </p:to>
                                    </p:set>
                                    <p:anim calcmode="lin" valueType="num">
                                      <p:cBhvr additive="base">
                                        <p:cTn id="252" dur="500" fill="hold"/>
                                        <p:tgtEl>
                                          <p:spTgt spid="59"/>
                                        </p:tgtEl>
                                        <p:attrNameLst>
                                          <p:attrName>ppt_x</p:attrName>
                                        </p:attrNameLst>
                                      </p:cBhvr>
                                      <p:tavLst>
                                        <p:tav tm="0">
                                          <p:val>
                                            <p:strVal val="#ppt_x"/>
                                          </p:val>
                                        </p:tav>
                                        <p:tav tm="100000">
                                          <p:val>
                                            <p:strVal val="#ppt_x"/>
                                          </p:val>
                                        </p:tav>
                                      </p:tavLst>
                                    </p:anim>
                                    <p:anim calcmode="lin" valueType="num">
                                      <p:cBhvr additive="base">
                                        <p:cTn id="253" dur="500" fill="hold"/>
                                        <p:tgtEl>
                                          <p:spTgt spid="59"/>
                                        </p:tgtEl>
                                        <p:attrNameLst>
                                          <p:attrName>ppt_y</p:attrName>
                                        </p:attrNameLst>
                                      </p:cBhvr>
                                      <p:tavLst>
                                        <p:tav tm="0">
                                          <p:val>
                                            <p:strVal val="#ppt_y+0.1"/>
                                          </p:val>
                                        </p:tav>
                                        <p:tav tm="100000">
                                          <p:val>
                                            <p:strVal val="#ppt_y"/>
                                          </p:val>
                                        </p:tav>
                                      </p:tavLst>
                                    </p:anim>
                                    <p:animEffect transition="in" filter="fade">
                                      <p:cBhvr>
                                        <p:cTn id="254" dur="500"/>
                                        <p:tgtEl>
                                          <p:spTgt spid="59"/>
                                        </p:tgtEl>
                                      </p:cBhvr>
                                    </p:animEffect>
                                  </p:childTnLst>
                                </p:cTn>
                              </p:par>
                              <p:par>
                                <p:cTn id="260" presetID="2" presetClass="entr" presetSubtype="4" fill="hold" grpId="0" nodeType="withEffect">
                                  <p:stCondLst>
                                    <p:cond delay="360"/>
                                  </p:stCondLst>
                                  <p:childTnLst>
                                    <p:set>
                                      <p:cBhvr>
                                        <p:cTn id="256" dur="1" fill="hold">
                                          <p:stCondLst>
                                            <p:cond delay="0"/>
                                          </p:stCondLst>
                                        </p:cTn>
                                        <p:tgtEl>
                                          <p:spTgt spid="60"/>
                                        </p:tgtEl>
                                        <p:attrNameLst>
                                          <p:attrName>style.visibility</p:attrName>
                                        </p:attrNameLst>
                                      </p:cBhvr>
                                      <p:to>
                                        <p:strVal val="visible"/>
                                      </p:to>
                                    </p:set>
                                    <p:anim calcmode="lin" valueType="num">
                                      <p:cBhvr additive="base">
                                        <p:cTn id="257" dur="500" fill="hold"/>
                                        <p:tgtEl>
                                          <p:spTgt spid="60"/>
                                        </p:tgtEl>
                                        <p:attrNameLst>
                                          <p:attrName>ppt_x</p:attrName>
                                        </p:attrNameLst>
                                      </p:cBhvr>
                                      <p:tavLst>
                                        <p:tav tm="0">
                                          <p:val>
                                            <p:strVal val="#ppt_x"/>
                                          </p:val>
                                        </p:tav>
                                        <p:tav tm="100000">
                                          <p:val>
                                            <p:strVal val="#ppt_x"/>
                                          </p:val>
                                        </p:tav>
                                      </p:tavLst>
                                    </p:anim>
                                    <p:anim calcmode="lin" valueType="num">
                                      <p:cBhvr additive="base">
                                        <p:cTn id="258" dur="500" fill="hold"/>
                                        <p:tgtEl>
                                          <p:spTgt spid="60"/>
                                        </p:tgtEl>
                                        <p:attrNameLst>
                                          <p:attrName>ppt_y</p:attrName>
                                        </p:attrNameLst>
                                      </p:cBhvr>
                                      <p:tavLst>
                                        <p:tav tm="0">
                                          <p:val>
                                            <p:strVal val="#ppt_y+0.1"/>
                                          </p:val>
                                        </p:tav>
                                        <p:tav tm="100000">
                                          <p:val>
                                            <p:strVal val="#ppt_y"/>
                                          </p:val>
                                        </p:tav>
                                      </p:tavLst>
                                    </p:anim>
                                    <p:animEffect transition="in" filter="fade">
                                      <p:cBhvr>
                                        <p:cTn id="259" dur="500"/>
                                        <p:tgtEl>
                                          <p:spTgt spid="60"/>
                                        </p:tgtEl>
                                      </p:cBhvr>
                                    </p:animEffect>
                                  </p:childTnLst>
                                </p:cTn>
                              </p:par>
                              <p:par>
                                <p:cTn id="265" presetID="2" presetClass="entr" presetSubtype="4" fill="hold" grpId="0" nodeType="withEffect">
                                  <p:stCondLst>
                                    <p:cond delay="400"/>
                                  </p:stCondLst>
                                  <p:childTnLst>
                                    <p:set>
                                      <p:cBhvr>
                                        <p:cTn id="261" dur="1" fill="hold">
                                          <p:stCondLst>
                                            <p:cond delay="0"/>
                                          </p:stCondLst>
                                        </p:cTn>
                                        <p:tgtEl>
                                          <p:spTgt spid="61"/>
                                        </p:tgtEl>
                                        <p:attrNameLst>
                                          <p:attrName>style.visibility</p:attrName>
                                        </p:attrNameLst>
                                      </p:cBhvr>
                                      <p:to>
                                        <p:strVal val="visible"/>
                                      </p:to>
                                    </p:set>
                                    <p:anim calcmode="lin" valueType="num">
                                      <p:cBhvr additive="base">
                                        <p:cTn id="262" dur="500" fill="hold"/>
                                        <p:tgtEl>
                                          <p:spTgt spid="61"/>
                                        </p:tgtEl>
                                        <p:attrNameLst>
                                          <p:attrName>ppt_x</p:attrName>
                                        </p:attrNameLst>
                                      </p:cBhvr>
                                      <p:tavLst>
                                        <p:tav tm="0">
                                          <p:val>
                                            <p:strVal val="#ppt_x"/>
                                          </p:val>
                                        </p:tav>
                                        <p:tav tm="100000">
                                          <p:val>
                                            <p:strVal val="#ppt_x"/>
                                          </p:val>
                                        </p:tav>
                                      </p:tavLst>
                                    </p:anim>
                                    <p:anim calcmode="lin" valueType="num">
                                      <p:cBhvr additive="base">
                                        <p:cTn id="263" dur="500" fill="hold"/>
                                        <p:tgtEl>
                                          <p:spTgt spid="61"/>
                                        </p:tgtEl>
                                        <p:attrNameLst>
                                          <p:attrName>ppt_y</p:attrName>
                                        </p:attrNameLst>
                                      </p:cBhvr>
                                      <p:tavLst>
                                        <p:tav tm="0">
                                          <p:val>
                                            <p:strVal val="#ppt_y+0.1"/>
                                          </p:val>
                                        </p:tav>
                                        <p:tav tm="100000">
                                          <p:val>
                                            <p:strVal val="#ppt_y"/>
                                          </p:val>
                                        </p:tav>
                                      </p:tavLst>
                                    </p:anim>
                                    <p:animEffect transition="in" filter="fade">
                                      <p:cBhvr>
                                        <p:cTn id="264" dur="500"/>
                                        <p:tgtEl>
                                          <p:spTgt spid="61"/>
                                        </p:tgtEl>
                                      </p:cBhvr>
                                    </p:animEffect>
                                  </p:childTnLst>
                                </p:cTn>
                              </p:par>
                            </p:childTnLst>
                          </p:cTn>
                        </p:par>
                      </p:childTnLst>
                    </p:cTn>
                  </p:par>
                  <p:par>
                    <p:cTn id="266" fill="hold">
                      <p:stCondLst>
                        <p:cond delay="indefinite"/>
                      </p:stCondLst>
                      <p:childTnLst>
                        <p:par>
                          <p:cTn id="267" fill="hold">
                            <p:stCondLst>
                              <p:cond delay="0"/>
                            </p:stCondLst>
                            <p:childTnLst>
                              <p:par>
                                <p:cTn id="272" presetID="2" presetClass="entr" presetSubtype="4" fill="hold" grpId="0" nodeType="clickEffect">
                                  <p:stCondLst>
                                    <p:cond delay="0"/>
                                  </p:stCondLst>
                                  <p:childTnLst>
                                    <p:set>
                                      <p:cBhvr>
                                        <p:cTn id="268" dur="1" fill="hold">
                                          <p:stCondLst>
                                            <p:cond delay="0"/>
                                          </p:stCondLst>
                                        </p:cTn>
                                        <p:tgtEl>
                                          <p:spTgt spid="62"/>
                                        </p:tgtEl>
                                        <p:attrNameLst>
                                          <p:attrName>style.visibility</p:attrName>
                                        </p:attrNameLst>
                                      </p:cBhvr>
                                      <p:to>
                                        <p:strVal val="visible"/>
                                      </p:to>
                                    </p:set>
                                    <p:anim calcmode="lin" valueType="num">
                                      <p:cBhvr additive="base">
                                        <p:cTn id="269" dur="500" fill="hold"/>
                                        <p:tgtEl>
                                          <p:spTgt spid="62"/>
                                        </p:tgtEl>
                                        <p:attrNameLst>
                                          <p:attrName>ppt_x</p:attrName>
                                        </p:attrNameLst>
                                      </p:cBhvr>
                                      <p:tavLst>
                                        <p:tav tm="0">
                                          <p:val>
                                            <p:strVal val="#ppt_x"/>
                                          </p:val>
                                        </p:tav>
                                        <p:tav tm="100000">
                                          <p:val>
                                            <p:strVal val="#ppt_x"/>
                                          </p:val>
                                        </p:tav>
                                      </p:tavLst>
                                    </p:anim>
                                    <p:anim calcmode="lin" valueType="num">
                                      <p:cBhvr additive="base">
                                        <p:cTn id="270" dur="500" fill="hold"/>
                                        <p:tgtEl>
                                          <p:spTgt spid="62"/>
                                        </p:tgtEl>
                                        <p:attrNameLst>
                                          <p:attrName>ppt_y</p:attrName>
                                        </p:attrNameLst>
                                      </p:cBhvr>
                                      <p:tavLst>
                                        <p:tav tm="0">
                                          <p:val>
                                            <p:strVal val="#ppt_y+0.1"/>
                                          </p:val>
                                        </p:tav>
                                        <p:tav tm="100000">
                                          <p:val>
                                            <p:strVal val="#ppt_y"/>
                                          </p:val>
                                        </p:tav>
                                      </p:tavLst>
                                    </p:anim>
                                    <p:animEffect transition="in" filter="fade">
                                      <p:cBhvr>
                                        <p:cTn id="271" dur="500"/>
                                        <p:tgtEl>
                                          <p:spTgt spid="62"/>
                                        </p:tgtEl>
                                      </p:cBhvr>
                                    </p:animEffect>
                                  </p:childTnLst>
                                </p:cTn>
                              </p:par>
                              <p:par>
                                <p:cTn id="277" presetID="2" presetClass="entr" presetSubtype="4" fill="hold" grpId="0" nodeType="withEffect">
                                  <p:stCondLst>
                                    <p:cond delay="0"/>
                                  </p:stCondLst>
                                  <p:childTnLst>
                                    <p:set>
                                      <p:cBhvr>
                                        <p:cTn id="273" dur="1" fill="hold">
                                          <p:stCondLst>
                                            <p:cond delay="0"/>
                                          </p:stCondLst>
                                        </p:cTn>
                                        <p:tgtEl>
                                          <p:spTgt spid="63"/>
                                        </p:tgtEl>
                                        <p:attrNameLst>
                                          <p:attrName>style.visibility</p:attrName>
                                        </p:attrNameLst>
                                      </p:cBhvr>
                                      <p:to>
                                        <p:strVal val="visible"/>
                                      </p:to>
                                    </p:set>
                                    <p:anim calcmode="lin" valueType="num">
                                      <p:cBhvr additive="base">
                                        <p:cTn id="274" dur="500" fill="hold"/>
                                        <p:tgtEl>
                                          <p:spTgt spid="63"/>
                                        </p:tgtEl>
                                        <p:attrNameLst>
                                          <p:attrName>ppt_x</p:attrName>
                                        </p:attrNameLst>
                                      </p:cBhvr>
                                      <p:tavLst>
                                        <p:tav tm="0">
                                          <p:val>
                                            <p:strVal val="#ppt_x"/>
                                          </p:val>
                                        </p:tav>
                                        <p:tav tm="100000">
                                          <p:val>
                                            <p:strVal val="#ppt_x"/>
                                          </p:val>
                                        </p:tav>
                                      </p:tavLst>
                                    </p:anim>
                                    <p:anim calcmode="lin" valueType="num">
                                      <p:cBhvr additive="base">
                                        <p:cTn id="275" dur="500" fill="hold"/>
                                        <p:tgtEl>
                                          <p:spTgt spid="63"/>
                                        </p:tgtEl>
                                        <p:attrNameLst>
                                          <p:attrName>ppt_y</p:attrName>
                                        </p:attrNameLst>
                                      </p:cBhvr>
                                      <p:tavLst>
                                        <p:tav tm="0">
                                          <p:val>
                                            <p:strVal val="#ppt_y+0.1"/>
                                          </p:val>
                                        </p:tav>
                                        <p:tav tm="100000">
                                          <p:val>
                                            <p:strVal val="#ppt_y"/>
                                          </p:val>
                                        </p:tav>
                                      </p:tavLst>
                                    </p:anim>
                                    <p:animEffect transition="in" filter="fade">
                                      <p:cBhvr>
                                        <p:cTn id="276" dur="500"/>
                                        <p:tgtEl>
                                          <p:spTgt spid="63"/>
                                        </p:tgtEl>
                                      </p:cBhvr>
                                    </p:animEffect>
                                  </p:childTnLst>
                                </p:cTn>
                              </p:par>
                              <p:par>
                                <p:cTn id="282" presetID="2" presetClass="entr" presetSubtype="4" fill="hold" grpId="0" nodeType="withEffect">
                                  <p:stCondLst>
                                    <p:cond delay="0"/>
                                  </p:stCondLst>
                                  <p:childTnLst>
                                    <p:set>
                                      <p:cBhvr>
                                        <p:cTn id="278" dur="1" fill="hold">
                                          <p:stCondLst>
                                            <p:cond delay="0"/>
                                          </p:stCondLst>
                                        </p:cTn>
                                        <p:tgtEl>
                                          <p:spTgt spid="64"/>
                                        </p:tgtEl>
                                        <p:attrNameLst>
                                          <p:attrName>style.visibility</p:attrName>
                                        </p:attrNameLst>
                                      </p:cBhvr>
                                      <p:to>
                                        <p:strVal val="visible"/>
                                      </p:to>
                                    </p:set>
                                    <p:anim calcmode="lin" valueType="num">
                                      <p:cBhvr additive="base">
                                        <p:cTn id="279" dur="500" fill="hold"/>
                                        <p:tgtEl>
                                          <p:spTgt spid="64"/>
                                        </p:tgtEl>
                                        <p:attrNameLst>
                                          <p:attrName>ppt_x</p:attrName>
                                        </p:attrNameLst>
                                      </p:cBhvr>
                                      <p:tavLst>
                                        <p:tav tm="0">
                                          <p:val>
                                            <p:strVal val="#ppt_x"/>
                                          </p:val>
                                        </p:tav>
                                        <p:tav tm="100000">
                                          <p:val>
                                            <p:strVal val="#ppt_x"/>
                                          </p:val>
                                        </p:tav>
                                      </p:tavLst>
                                    </p:anim>
                                    <p:anim calcmode="lin" valueType="num">
                                      <p:cBhvr additive="base">
                                        <p:cTn id="280" dur="500" fill="hold"/>
                                        <p:tgtEl>
                                          <p:spTgt spid="64"/>
                                        </p:tgtEl>
                                        <p:attrNameLst>
                                          <p:attrName>ppt_y</p:attrName>
                                        </p:attrNameLst>
                                      </p:cBhvr>
                                      <p:tavLst>
                                        <p:tav tm="0">
                                          <p:val>
                                            <p:strVal val="#ppt_y+0.1"/>
                                          </p:val>
                                        </p:tav>
                                        <p:tav tm="100000">
                                          <p:val>
                                            <p:strVal val="#ppt_y"/>
                                          </p:val>
                                        </p:tav>
                                      </p:tavLst>
                                    </p:anim>
                                    <p:animEffect transition="in" filter="fade">
                                      <p:cBhvr>
                                        <p:cTn id="28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What Is Schema Registry?</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standalone server beside the cluster that keeps a database of schemas</a:t>
            </a:r>
          </a:p>
        </p:txBody>
      </p:sp>
      <p:sp>
        <p:nvSpPr>
          <p:cNvPr id="11" name="a1u_sr10"/>
          <p:cNvSpPr/>
          <p:nvPr/>
        </p:nvSpPr>
        <p:spPr>
          <a:xfrm>
            <a:off x="457200" y="1280160"/>
            <a:ext cx="2240280" cy="2331720"/>
          </a:xfrm>
          <a:prstGeom prst="roundRect">
            <a:avLst>
              <a:gd name="adj" fmla="val 4081"/>
            </a:avLst>
          </a:prstGeom>
          <a:noFill/>
          <a:ln w="15875">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srh11"/>
          <p:cNvSpPr txBox="1"/>
          <p:nvPr/>
        </p:nvSpPr>
        <p:spPr>
          <a:xfrm>
            <a:off x="621792" y="1371600"/>
            <a:ext cx="2011680" cy="237744"/>
          </a:xfrm>
          <a:prstGeom prst="rect">
            <a:avLst/>
          </a:prstGeom>
          <a:noFill/>
        </p:spPr>
        <p:txBody>
          <a:bodyPr wrap="square" lIns="0" tIns="0" rIns="0" bIns="0" anchor="ctr">
            <a:spAutoFit/>
          </a:bodyPr>
          <a:lstStyle/>
          <a:p>
            <a:pPr algn="l"/>
            <a:r>
              <a:rPr sz="850" b="1" spc="160">
                <a:solidFill>
                  <a:srgbClr val="C2410C"/>
                </a:solidFill>
                <a:latin typeface="Segoe UI"/>
              </a:rPr>
              <a:t>SCHEMA REGISTRY</a:t>
            </a:r>
          </a:p>
        </p:txBody>
      </p:sp>
      <p:sp>
        <p:nvSpPr>
          <p:cNvPr id="13" name="a1ud100_nd12"/>
          <p:cNvSpPr/>
          <p:nvPr/>
        </p:nvSpPr>
        <p:spPr>
          <a:xfrm>
            <a:off x="640080" y="1719072"/>
            <a:ext cx="1874519" cy="566928"/>
          </a:xfrm>
          <a:prstGeom prst="roundRect">
            <a:avLst>
              <a:gd name="adj" fmla="val 12903"/>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100_ndt13"/>
          <p:cNvSpPr txBox="1"/>
          <p:nvPr/>
        </p:nvSpPr>
        <p:spPr>
          <a:xfrm>
            <a:off x="685800" y="1755648"/>
            <a:ext cx="1783079" cy="265176"/>
          </a:xfrm>
          <a:prstGeom prst="rect">
            <a:avLst/>
          </a:prstGeom>
          <a:noFill/>
        </p:spPr>
        <p:txBody>
          <a:bodyPr wrap="square" lIns="0" tIns="0" rIns="0" bIns="0" anchor="b">
            <a:spAutoFit/>
          </a:bodyPr>
          <a:lstStyle/>
          <a:p>
            <a:pPr algn="ctr"/>
            <a:r>
              <a:rPr sz="900" b="1">
                <a:solidFill>
                  <a:srgbClr val="1C1917"/>
                </a:solidFill>
                <a:latin typeface="Segoe UI"/>
              </a:rPr>
              <a:t>instance 1</a:t>
            </a:r>
          </a:p>
        </p:txBody>
      </p:sp>
      <p:sp>
        <p:nvSpPr>
          <p:cNvPr id="15" name="a1ud100_nds14"/>
          <p:cNvSpPr txBox="1"/>
          <p:nvPr/>
        </p:nvSpPr>
        <p:spPr>
          <a:xfrm>
            <a:off x="685800" y="2029967"/>
            <a:ext cx="1783079" cy="219456"/>
          </a:xfrm>
          <a:prstGeom prst="rect">
            <a:avLst/>
          </a:prstGeom>
          <a:noFill/>
        </p:spPr>
        <p:txBody>
          <a:bodyPr wrap="square" lIns="0" tIns="0" rIns="0" bIns="0" anchor="t">
            <a:spAutoFit/>
          </a:bodyPr>
          <a:lstStyle/>
          <a:p>
            <a:pPr algn="ctr"/>
            <a:r>
              <a:rPr sz="750" b="0">
                <a:solidFill>
                  <a:srgbClr val="EA580C"/>
                </a:solidFill>
                <a:latin typeface="Segoe UI"/>
              </a:rPr>
              <a:t>primary - handles writes</a:t>
            </a:r>
          </a:p>
        </p:txBody>
      </p:sp>
      <p:sp>
        <p:nvSpPr>
          <p:cNvPr id="16" name="a1ud200_nd15"/>
          <p:cNvSpPr/>
          <p:nvPr/>
        </p:nvSpPr>
        <p:spPr>
          <a:xfrm>
            <a:off x="640080" y="2395728"/>
            <a:ext cx="1874519" cy="566928"/>
          </a:xfrm>
          <a:prstGeom prst="roundRect">
            <a:avLst>
              <a:gd name="adj" fmla="val 12903"/>
            </a:avLst>
          </a:prstGeom>
          <a:solidFill>
            <a:srgbClr val="FFFFFF"/>
          </a:solidFill>
          <a:ln w="15875">
            <a:solidFill>
              <a:srgbClr val="EA580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200_ndt16"/>
          <p:cNvSpPr txBox="1"/>
          <p:nvPr/>
        </p:nvSpPr>
        <p:spPr>
          <a:xfrm>
            <a:off x="685800" y="2432304"/>
            <a:ext cx="1783079" cy="265176"/>
          </a:xfrm>
          <a:prstGeom prst="rect">
            <a:avLst/>
          </a:prstGeom>
          <a:noFill/>
        </p:spPr>
        <p:txBody>
          <a:bodyPr wrap="square" lIns="0" tIns="0" rIns="0" bIns="0" anchor="b">
            <a:spAutoFit/>
          </a:bodyPr>
          <a:lstStyle/>
          <a:p>
            <a:pPr algn="ctr"/>
            <a:r>
              <a:rPr sz="900" b="1">
                <a:solidFill>
                  <a:srgbClr val="1C1917"/>
                </a:solidFill>
                <a:latin typeface="Segoe UI"/>
              </a:rPr>
              <a:t>instance 2</a:t>
            </a:r>
          </a:p>
        </p:txBody>
      </p:sp>
      <p:sp>
        <p:nvSpPr>
          <p:cNvPr id="18" name="a1ud200_nds17"/>
          <p:cNvSpPr txBox="1"/>
          <p:nvPr/>
        </p:nvSpPr>
        <p:spPr>
          <a:xfrm>
            <a:off x="685800" y="2706624"/>
            <a:ext cx="1783079" cy="219456"/>
          </a:xfrm>
          <a:prstGeom prst="rect">
            <a:avLst/>
          </a:prstGeom>
          <a:noFill/>
        </p:spPr>
        <p:txBody>
          <a:bodyPr wrap="square" lIns="0" tIns="0" rIns="0" bIns="0" anchor="t">
            <a:spAutoFit/>
          </a:bodyPr>
          <a:lstStyle/>
          <a:p>
            <a:pPr algn="ctr"/>
            <a:r>
              <a:rPr sz="750" b="0">
                <a:solidFill>
                  <a:srgbClr val="EA580C"/>
                </a:solidFill>
                <a:latin typeface="Segoe UI"/>
              </a:rPr>
              <a:t>secondary - serves reads</a:t>
            </a:r>
          </a:p>
        </p:txBody>
      </p:sp>
      <p:sp>
        <p:nvSpPr>
          <p:cNvPr id="19" name="a3u_pill18"/>
          <p:cNvSpPr/>
          <p:nvPr/>
        </p:nvSpPr>
        <p:spPr>
          <a:xfrm>
            <a:off x="640080" y="3108960"/>
            <a:ext cx="1874519" cy="292608"/>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800" b="1">
                <a:solidFill>
                  <a:srgbClr val="C2410C"/>
                </a:solidFill>
                <a:latin typeface="Segoe UI"/>
              </a:rPr>
              <a:t>schemas cached in memory</a:t>
            </a:r>
          </a:p>
        </p:txBody>
      </p:sp>
      <p:cxnSp>
        <p:nvCxnSpPr>
          <p:cNvPr id="20" name="a2u_ar19"/>
          <p:cNvCxnSpPr/>
          <p:nvPr/>
        </p:nvCxnSpPr>
        <p:spPr>
          <a:xfrm>
            <a:off x="2715768" y="2103120"/>
            <a:ext cx="512064"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2u_lb20"/>
          <p:cNvSpPr txBox="1"/>
          <p:nvPr/>
        </p:nvSpPr>
        <p:spPr>
          <a:xfrm>
            <a:off x="2697480" y="1865376"/>
            <a:ext cx="566928" cy="201168"/>
          </a:xfrm>
          <a:prstGeom prst="rect">
            <a:avLst/>
          </a:prstGeom>
          <a:noFill/>
        </p:spPr>
        <p:txBody>
          <a:bodyPr wrap="square" lIns="0" tIns="0" rIns="0" bIns="0" anchor="ctr">
            <a:spAutoFit/>
          </a:bodyPr>
          <a:lstStyle/>
          <a:p>
            <a:pPr algn="ctr"/>
            <a:r>
              <a:rPr sz="750" b="0">
                <a:solidFill>
                  <a:srgbClr val="78716C"/>
                </a:solidFill>
                <a:latin typeface="Segoe UI"/>
              </a:rPr>
              <a:t>produce</a:t>
            </a:r>
          </a:p>
        </p:txBody>
      </p:sp>
      <p:cxnSp>
        <p:nvCxnSpPr>
          <p:cNvPr id="22" name="a2ud100_ar21"/>
          <p:cNvCxnSpPr/>
          <p:nvPr/>
        </p:nvCxnSpPr>
        <p:spPr>
          <a:xfrm flipH="1">
            <a:off x="2715768" y="2615184"/>
            <a:ext cx="512064"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a2ud100_lb22"/>
          <p:cNvSpPr txBox="1"/>
          <p:nvPr/>
        </p:nvSpPr>
        <p:spPr>
          <a:xfrm>
            <a:off x="2697480" y="2651760"/>
            <a:ext cx="566928" cy="201168"/>
          </a:xfrm>
          <a:prstGeom prst="rect">
            <a:avLst/>
          </a:prstGeom>
          <a:noFill/>
        </p:spPr>
        <p:txBody>
          <a:bodyPr wrap="square" lIns="0" tIns="0" rIns="0" bIns="0" anchor="ctr">
            <a:spAutoFit/>
          </a:bodyPr>
          <a:lstStyle/>
          <a:p>
            <a:pPr algn="ctr"/>
            <a:r>
              <a:rPr sz="750" b="0">
                <a:solidFill>
                  <a:srgbClr val="78716C"/>
                </a:solidFill>
                <a:latin typeface="Segoe UI"/>
              </a:rPr>
              <a:t>consume</a:t>
            </a:r>
          </a:p>
        </p:txBody>
      </p:sp>
      <p:sp>
        <p:nvSpPr>
          <p:cNvPr id="24" name="a0f_cl23"/>
          <p:cNvSpPr/>
          <p:nvPr/>
        </p:nvSpPr>
        <p:spPr>
          <a:xfrm>
            <a:off x="3246120" y="1280160"/>
            <a:ext cx="2423160" cy="2331720"/>
          </a:xfrm>
          <a:prstGeom prst="roundRect">
            <a:avLst>
              <a:gd name="adj" fmla="val 3921"/>
            </a:avLst>
          </a:prstGeom>
          <a:solidFill>
            <a:srgbClr val="F7F6F3"/>
          </a:solidFill>
          <a:ln w="15875">
            <a:solidFill>
              <a:srgbClr val="0E749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0f_clh24"/>
          <p:cNvSpPr txBox="1"/>
          <p:nvPr/>
        </p:nvSpPr>
        <p:spPr>
          <a:xfrm>
            <a:off x="3410712" y="1371600"/>
            <a:ext cx="2148840" cy="237744"/>
          </a:xfrm>
          <a:prstGeom prst="rect">
            <a:avLst/>
          </a:prstGeom>
          <a:noFill/>
        </p:spPr>
        <p:txBody>
          <a:bodyPr wrap="square" lIns="0" tIns="0" rIns="0" bIns="0" anchor="ctr">
            <a:spAutoFit/>
          </a:bodyPr>
          <a:lstStyle/>
          <a:p>
            <a:pPr algn="l"/>
            <a:r>
              <a:rPr sz="850" b="1" spc="160">
                <a:solidFill>
                  <a:srgbClr val="0E7490"/>
                </a:solidFill>
                <a:latin typeface="Segoe UI"/>
              </a:rPr>
              <a:t>KAFKA CLUSTER</a:t>
            </a:r>
          </a:p>
        </p:txBody>
      </p:sp>
      <p:sp>
        <p:nvSpPr>
          <p:cNvPr id="26" name="a0f_pill25"/>
          <p:cNvSpPr/>
          <p:nvPr/>
        </p:nvSpPr>
        <p:spPr>
          <a:xfrm>
            <a:off x="3410712" y="1645920"/>
            <a:ext cx="621792"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0E7490"/>
                </a:solidFill>
                <a:latin typeface="Consolas"/>
              </a:rPr>
              <a:t>b1</a:t>
            </a:r>
          </a:p>
        </p:txBody>
      </p:sp>
      <p:sp>
        <p:nvSpPr>
          <p:cNvPr id="27" name="a0f_pill26"/>
          <p:cNvSpPr/>
          <p:nvPr/>
        </p:nvSpPr>
        <p:spPr>
          <a:xfrm>
            <a:off x="4123944" y="1645920"/>
            <a:ext cx="621792"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0E7490"/>
                </a:solidFill>
                <a:latin typeface="Consolas"/>
              </a:rPr>
              <a:t>b2</a:t>
            </a:r>
          </a:p>
        </p:txBody>
      </p:sp>
      <p:sp>
        <p:nvSpPr>
          <p:cNvPr id="28" name="a0f_pill27"/>
          <p:cNvSpPr/>
          <p:nvPr/>
        </p:nvSpPr>
        <p:spPr>
          <a:xfrm>
            <a:off x="4837176" y="1645920"/>
            <a:ext cx="621792" cy="274320"/>
          </a:xfrm>
          <a:prstGeom prst="roundRect">
            <a:avLst>
              <a:gd name="adj" fmla="val 50000"/>
            </a:avLst>
          </a:prstGeom>
          <a:solidFill>
            <a:srgbClr val="FFFFFF"/>
          </a:solidFill>
          <a:ln w="12700">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00" b="1">
                <a:solidFill>
                  <a:srgbClr val="0E7490"/>
                </a:solidFill>
                <a:latin typeface="Consolas"/>
              </a:rPr>
              <a:t>b3</a:t>
            </a:r>
          </a:p>
        </p:txBody>
      </p:sp>
      <p:sp>
        <p:nvSpPr>
          <p:cNvPr id="29" name="a2ud200_st28"/>
          <p:cNvSpPr txBox="1"/>
          <p:nvPr/>
        </p:nvSpPr>
        <p:spPr>
          <a:xfrm>
            <a:off x="3410712" y="2103120"/>
            <a:ext cx="2103120" cy="237744"/>
          </a:xfrm>
          <a:prstGeom prst="rect">
            <a:avLst/>
          </a:prstGeom>
          <a:noFill/>
        </p:spPr>
        <p:txBody>
          <a:bodyPr wrap="square" lIns="0" tIns="0" rIns="0" bIns="0" anchor="ctr">
            <a:spAutoFit/>
          </a:bodyPr>
          <a:lstStyle/>
          <a:p>
            <a:pPr algn="l"/>
            <a:r>
              <a:rPr sz="1000" b="1">
                <a:solidFill>
                  <a:srgbClr val="1C1917"/>
                </a:solidFill>
                <a:latin typeface="Consolas"/>
              </a:rPr>
              <a:t>_schemas</a:t>
            </a:r>
          </a:p>
        </p:txBody>
      </p:sp>
      <p:sp>
        <p:nvSpPr>
          <p:cNvPr id="30" name="a2ud200_cell29"/>
          <p:cNvSpPr/>
          <p:nvPr/>
        </p:nvSpPr>
        <p:spPr>
          <a:xfrm>
            <a:off x="3410712" y="2359152"/>
            <a:ext cx="402336" cy="36576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2ud200_cellt30"/>
          <p:cNvSpPr txBox="1"/>
          <p:nvPr/>
        </p:nvSpPr>
        <p:spPr>
          <a:xfrm>
            <a:off x="3410712" y="2359152"/>
            <a:ext cx="402336" cy="365760"/>
          </a:xfrm>
          <a:prstGeom prst="rect">
            <a:avLst/>
          </a:prstGeom>
          <a:noFill/>
        </p:spPr>
        <p:txBody>
          <a:bodyPr wrap="square" lIns="0" tIns="0" rIns="0" bIns="0" anchor="ctr">
            <a:spAutoFit/>
          </a:bodyPr>
          <a:lstStyle/>
          <a:p>
            <a:pPr algn="ctr"/>
            <a:r>
              <a:rPr sz="850" b="1">
                <a:solidFill>
                  <a:srgbClr val="C2410C"/>
                </a:solidFill>
                <a:latin typeface="Consolas"/>
              </a:rPr>
              <a:t>v1</a:t>
            </a:r>
          </a:p>
        </p:txBody>
      </p:sp>
      <p:sp>
        <p:nvSpPr>
          <p:cNvPr id="32" name="a2ud260_cell31"/>
          <p:cNvSpPr/>
          <p:nvPr/>
        </p:nvSpPr>
        <p:spPr>
          <a:xfrm>
            <a:off x="3813048" y="2359152"/>
            <a:ext cx="402336" cy="36576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2ud260_cellt32"/>
          <p:cNvSpPr txBox="1"/>
          <p:nvPr/>
        </p:nvSpPr>
        <p:spPr>
          <a:xfrm>
            <a:off x="3813048" y="2359152"/>
            <a:ext cx="402336" cy="365760"/>
          </a:xfrm>
          <a:prstGeom prst="rect">
            <a:avLst/>
          </a:prstGeom>
          <a:noFill/>
        </p:spPr>
        <p:txBody>
          <a:bodyPr wrap="square" lIns="0" tIns="0" rIns="0" bIns="0" anchor="ctr">
            <a:spAutoFit/>
          </a:bodyPr>
          <a:lstStyle/>
          <a:p>
            <a:pPr algn="ctr"/>
            <a:r>
              <a:rPr sz="850" b="1">
                <a:solidFill>
                  <a:srgbClr val="C2410C"/>
                </a:solidFill>
                <a:latin typeface="Consolas"/>
              </a:rPr>
              <a:t>v2</a:t>
            </a:r>
          </a:p>
        </p:txBody>
      </p:sp>
      <p:sp>
        <p:nvSpPr>
          <p:cNvPr id="34" name="a2ud320_cell33"/>
          <p:cNvSpPr/>
          <p:nvPr/>
        </p:nvSpPr>
        <p:spPr>
          <a:xfrm>
            <a:off x="4215384" y="2359152"/>
            <a:ext cx="402336" cy="36576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2ud320_cellt34"/>
          <p:cNvSpPr txBox="1"/>
          <p:nvPr/>
        </p:nvSpPr>
        <p:spPr>
          <a:xfrm>
            <a:off x="4215384" y="2359152"/>
            <a:ext cx="402336" cy="365760"/>
          </a:xfrm>
          <a:prstGeom prst="rect">
            <a:avLst/>
          </a:prstGeom>
          <a:noFill/>
        </p:spPr>
        <p:txBody>
          <a:bodyPr wrap="square" lIns="0" tIns="0" rIns="0" bIns="0" anchor="ctr">
            <a:spAutoFit/>
          </a:bodyPr>
          <a:lstStyle/>
          <a:p>
            <a:pPr algn="ctr"/>
            <a:r>
              <a:rPr sz="850" b="1">
                <a:solidFill>
                  <a:srgbClr val="C2410C"/>
                </a:solidFill>
                <a:latin typeface="Consolas"/>
              </a:rPr>
              <a:t>v1</a:t>
            </a:r>
          </a:p>
        </p:txBody>
      </p:sp>
      <p:sp>
        <p:nvSpPr>
          <p:cNvPr id="36" name="a2ud380_cell35"/>
          <p:cNvSpPr/>
          <p:nvPr/>
        </p:nvSpPr>
        <p:spPr>
          <a:xfrm>
            <a:off x="4617720" y="2359152"/>
            <a:ext cx="402336" cy="36576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2ud380_cellt36"/>
          <p:cNvSpPr txBox="1"/>
          <p:nvPr/>
        </p:nvSpPr>
        <p:spPr>
          <a:xfrm>
            <a:off x="4617720" y="2359152"/>
            <a:ext cx="402336" cy="365760"/>
          </a:xfrm>
          <a:prstGeom prst="rect">
            <a:avLst/>
          </a:prstGeom>
          <a:noFill/>
        </p:spPr>
        <p:txBody>
          <a:bodyPr wrap="square" lIns="0" tIns="0" rIns="0" bIns="0" anchor="ctr">
            <a:spAutoFit/>
          </a:bodyPr>
          <a:lstStyle/>
          <a:p>
            <a:pPr algn="ctr"/>
            <a:r>
              <a:rPr sz="850" b="1">
                <a:solidFill>
                  <a:srgbClr val="C2410C"/>
                </a:solidFill>
                <a:latin typeface="Consolas"/>
              </a:rPr>
              <a:t>v2</a:t>
            </a:r>
          </a:p>
        </p:txBody>
      </p:sp>
      <p:sp>
        <p:nvSpPr>
          <p:cNvPr id="38" name="a2ud440_cell37"/>
          <p:cNvSpPr/>
          <p:nvPr/>
        </p:nvSpPr>
        <p:spPr>
          <a:xfrm>
            <a:off x="5020056" y="2359152"/>
            <a:ext cx="402336" cy="365760"/>
          </a:xfrm>
          <a:prstGeom prst="rect">
            <a:avLst/>
          </a:prstGeom>
          <a:solidFill>
            <a:srgbClr val="FFEDD5"/>
          </a:solidFill>
          <a:ln w="9525">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2ud440_cellt38"/>
          <p:cNvSpPr txBox="1"/>
          <p:nvPr/>
        </p:nvSpPr>
        <p:spPr>
          <a:xfrm>
            <a:off x="5020056" y="2359152"/>
            <a:ext cx="402336" cy="365760"/>
          </a:xfrm>
          <a:prstGeom prst="rect">
            <a:avLst/>
          </a:prstGeom>
          <a:noFill/>
        </p:spPr>
        <p:txBody>
          <a:bodyPr wrap="square" lIns="0" tIns="0" rIns="0" bIns="0" anchor="ctr">
            <a:spAutoFit/>
          </a:bodyPr>
          <a:lstStyle/>
          <a:p>
            <a:pPr algn="ctr"/>
            <a:r>
              <a:rPr sz="850" b="1">
                <a:solidFill>
                  <a:srgbClr val="C2410C"/>
                </a:solidFill>
                <a:latin typeface="Consolas"/>
              </a:rPr>
              <a:t>v3</a:t>
            </a:r>
          </a:p>
        </p:txBody>
      </p:sp>
      <p:sp>
        <p:nvSpPr>
          <p:cNvPr id="40" name="a2ud400_sc39"/>
          <p:cNvSpPr txBox="1"/>
          <p:nvPr/>
        </p:nvSpPr>
        <p:spPr>
          <a:xfrm>
            <a:off x="3410712" y="2816352"/>
            <a:ext cx="2103120" cy="640080"/>
          </a:xfrm>
          <a:prstGeom prst="rect">
            <a:avLst/>
          </a:prstGeom>
          <a:noFill/>
        </p:spPr>
        <p:txBody>
          <a:bodyPr wrap="square" lIns="0" tIns="0" rIns="0" bIns="0" anchor="t">
            <a:spAutoFit/>
          </a:bodyPr>
          <a:lstStyle/>
          <a:p>
            <a:pPr algn="l"/>
            <a:r>
              <a:rPr sz="850" b="0">
                <a:solidFill>
                  <a:srgbClr val="78716C"/>
                </a:solidFill>
                <a:latin typeface="Segoe UI"/>
              </a:rPr>
              <a:t>an internal topic - the registry's durable store</a:t>
            </a:r>
          </a:p>
        </p:txBody>
      </p:sp>
      <p:sp>
        <p:nvSpPr>
          <p:cNvPr id="41" name="a3u_dot40"/>
          <p:cNvSpPr/>
          <p:nvPr/>
        </p:nvSpPr>
        <p:spPr>
          <a:xfrm>
            <a:off x="5897880" y="140360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a3u_b41"/>
          <p:cNvSpPr txBox="1"/>
          <p:nvPr/>
        </p:nvSpPr>
        <p:spPr>
          <a:xfrm>
            <a:off x="6117336" y="1307592"/>
            <a:ext cx="2569463" cy="566928"/>
          </a:xfrm>
          <a:prstGeom prst="rect">
            <a:avLst/>
          </a:prstGeom>
          <a:noFill/>
        </p:spPr>
        <p:txBody>
          <a:bodyPr wrap="square" lIns="0" tIns="0" rIns="0" bIns="0" anchor="t">
            <a:spAutoFit/>
          </a:bodyPr>
          <a:lstStyle/>
          <a:p>
            <a:pPr algn="l"/>
            <a:r>
              <a:rPr sz="900" b="1">
                <a:solidFill>
                  <a:srgbClr val="1C1917"/>
                </a:solidFill>
                <a:latin typeface="Segoe UI"/>
              </a:rPr>
              <a:t>Not Apache Kafka  </a:t>
            </a:r>
            <a:r>
              <a:rPr sz="900" b="0">
                <a:solidFill>
                  <a:srgbClr val="44403C"/>
                </a:solidFill>
                <a:latin typeface="Segoe UI"/>
              </a:rPr>
              <a:t>a Confluent component under the Community License - widely adopted</a:t>
            </a:r>
          </a:p>
        </p:txBody>
      </p:sp>
      <p:sp>
        <p:nvSpPr>
          <p:cNvPr id="43" name="a3ud120_dot42"/>
          <p:cNvSpPr/>
          <p:nvPr/>
        </p:nvSpPr>
        <p:spPr>
          <a:xfrm>
            <a:off x="5897880" y="2007107"/>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a3ud120_b43"/>
          <p:cNvSpPr txBox="1"/>
          <p:nvPr/>
        </p:nvSpPr>
        <p:spPr>
          <a:xfrm>
            <a:off x="6117336" y="1911095"/>
            <a:ext cx="2569463" cy="566928"/>
          </a:xfrm>
          <a:prstGeom prst="rect">
            <a:avLst/>
          </a:prstGeom>
          <a:noFill/>
        </p:spPr>
        <p:txBody>
          <a:bodyPr wrap="square" lIns="0" tIns="0" rIns="0" bIns="0" anchor="t">
            <a:spAutoFit/>
          </a:bodyPr>
          <a:lstStyle/>
          <a:p>
            <a:pPr algn="l"/>
            <a:r>
              <a:rPr sz="900" b="1">
                <a:solidFill>
                  <a:srgbClr val="1C1917"/>
                </a:solidFill>
                <a:latin typeface="Segoe UI"/>
              </a:rPr>
              <a:t>Just another client  </a:t>
            </a:r>
            <a:r>
              <a:rPr sz="900" b="0">
                <a:solidFill>
                  <a:srgbClr val="44403C"/>
                </a:solidFill>
                <a:latin typeface="Segoe UI"/>
              </a:rPr>
              <a:t>to the brokers it is a producer and a consumer</a:t>
            </a:r>
          </a:p>
        </p:txBody>
      </p:sp>
      <p:sp>
        <p:nvSpPr>
          <p:cNvPr id="45" name="a3ud240_dot44"/>
          <p:cNvSpPr/>
          <p:nvPr/>
        </p:nvSpPr>
        <p:spPr>
          <a:xfrm>
            <a:off x="5897880" y="2610612"/>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3ud240_b45"/>
          <p:cNvSpPr txBox="1"/>
          <p:nvPr/>
        </p:nvSpPr>
        <p:spPr>
          <a:xfrm>
            <a:off x="6117336" y="2514600"/>
            <a:ext cx="2569463" cy="566928"/>
          </a:xfrm>
          <a:prstGeom prst="rect">
            <a:avLst/>
          </a:prstGeom>
          <a:noFill/>
        </p:spPr>
        <p:txBody>
          <a:bodyPr wrap="square" lIns="0" tIns="0" rIns="0" bIns="0" anchor="t">
            <a:spAutoFit/>
          </a:bodyPr>
          <a:lstStyle/>
          <a:p>
            <a:pPr algn="l"/>
            <a:r>
              <a:rPr sz="900" b="1">
                <a:solidFill>
                  <a:srgbClr val="1C1917"/>
                </a:solidFill>
                <a:latin typeface="Segoe UI"/>
              </a:rPr>
              <a:t>Stored in a topic  </a:t>
            </a:r>
            <a:r>
              <a:rPr sz="900" b="0">
                <a:solidFill>
                  <a:srgbClr val="44403C"/>
                </a:solidFill>
                <a:latin typeface="Segoe UI"/>
              </a:rPr>
              <a:t>and cached - few network round trips</a:t>
            </a:r>
          </a:p>
        </p:txBody>
      </p:sp>
      <p:sp>
        <p:nvSpPr>
          <p:cNvPr id="47" name="a3ud360_dot46"/>
          <p:cNvSpPr/>
          <p:nvPr/>
        </p:nvSpPr>
        <p:spPr>
          <a:xfrm>
            <a:off x="5897880" y="3214116"/>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a3ud360_b47"/>
          <p:cNvSpPr txBox="1"/>
          <p:nvPr/>
        </p:nvSpPr>
        <p:spPr>
          <a:xfrm>
            <a:off x="6117336" y="3118104"/>
            <a:ext cx="2569463" cy="566928"/>
          </a:xfrm>
          <a:prstGeom prst="rect">
            <a:avLst/>
          </a:prstGeom>
          <a:noFill/>
        </p:spPr>
        <p:txBody>
          <a:bodyPr wrap="square" lIns="0" tIns="0" rIns="0" bIns="0" anchor="t">
            <a:spAutoFit/>
          </a:bodyPr>
          <a:lstStyle/>
          <a:p>
            <a:pPr algn="l"/>
            <a:r>
              <a:rPr sz="900" b="1">
                <a:solidFill>
                  <a:srgbClr val="1C1917"/>
                </a:solidFill>
                <a:latin typeface="Segoe UI"/>
              </a:rPr>
              <a:t>Highly available  </a:t>
            </a:r>
            <a:r>
              <a:rPr sz="900" b="0">
                <a:solidFill>
                  <a:srgbClr val="44403C"/>
                </a:solidFill>
                <a:latin typeface="Segoe UI"/>
              </a:rPr>
              <a:t>run several instances if you like</a:t>
            </a:r>
          </a:p>
        </p:txBody>
      </p:sp>
      <p:sp>
        <p:nvSpPr>
          <p:cNvPr id="49" name="a4u_nb48"/>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a4u_nacc49"/>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4u_nt50"/>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The brokers never look inside your messages - the registry and the client serializers do the schema work.</a:t>
            </a:r>
          </a:p>
        </p:txBody>
      </p:sp>
      <p:sp>
        <p:nvSpPr>
          <p:cNvPr id="52" name="ft5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03</a:t>
            </a:r>
          </a:p>
        </p:txBody>
      </p:sp>
      <p:sp>
        <p:nvSpPr>
          <p:cNvPr id="53" name="ft5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ft5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55" name="ft5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4"/>
                                        </p:tgtEl>
                                        <p:attrNameLst>
                                          <p:attrName>style.visibility</p:attrName>
                                        </p:attrNameLst>
                                      </p:cBhvr>
                                      <p:to>
                                        <p:strVal val="visible"/>
                                      </p:to>
                                    </p:set>
                                    <p:animEffect transition="in" filter="fade">
                                      <p:cBhvr>
                                        <p:cTn id="6" dur="500"/>
                                        <p:tgtEl>
                                          <p:spTgt spid="24"/>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500"/>
                                        <p:tgtEl>
                                          <p:spTgt spid="25"/>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childTnLst>
                          </p:cTn>
                        </p:par>
                      </p:childTnLst>
                    </p:cTn>
                  </p:par>
                  <p:par>
                    <p:cTn id="20" fill="hold">
                      <p:stCondLst>
                        <p:cond delay="indefinite"/>
                      </p:stCondLst>
                      <p:childTnLst>
                        <p:par>
                          <p:cTn id="21" fill="hold">
                            <p:stCondLst>
                              <p:cond delay="0"/>
                            </p:stCondLst>
                            <p:childTnLst>
                              <p:par>
                                <p:cTn id="26"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ppt_y+0.1"/>
                                          </p:val>
                                        </p:tav>
                                        <p:tav tm="100000">
                                          <p:val>
                                            <p:strVal val="#ppt_y"/>
                                          </p:val>
                                        </p:tav>
                                      </p:tavLst>
                                    </p:anim>
                                    <p:animEffect transition="in" filter="fade">
                                      <p:cBhvr>
                                        <p:cTn id="25" dur="500"/>
                                        <p:tgtEl>
                                          <p:spTgt spid="11"/>
                                        </p:tgtEl>
                                      </p:cBhvr>
                                    </p:animEffect>
                                  </p:childTnLst>
                                </p:cTn>
                              </p:par>
                              <p:par>
                                <p:cTn id="31"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ppt_y+0.1"/>
                                          </p:val>
                                        </p:tav>
                                        <p:tav tm="100000">
                                          <p:val>
                                            <p:strVal val="#ppt_y"/>
                                          </p:val>
                                        </p:tav>
                                      </p:tavLst>
                                    </p:anim>
                                    <p:animEffect transition="in" filter="fade">
                                      <p:cBhvr>
                                        <p:cTn id="30" dur="500"/>
                                        <p:tgtEl>
                                          <p:spTgt spid="12"/>
                                        </p:tgtEl>
                                      </p:cBhvr>
                                    </p:animEffect>
                                  </p:childTnLst>
                                </p:cTn>
                              </p:par>
                              <p:par>
                                <p:cTn id="36" presetID="2" presetClass="entr" presetSubtype="4" fill="hold" grpId="0" nodeType="withEffect">
                                  <p:stCondLst>
                                    <p:cond delay="10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ppt_y+0.1"/>
                                          </p:val>
                                        </p:tav>
                                        <p:tav tm="100000">
                                          <p:val>
                                            <p:strVal val="#ppt_y"/>
                                          </p:val>
                                        </p:tav>
                                      </p:tavLst>
                                    </p:anim>
                                    <p:animEffect transition="in" filter="fade">
                                      <p:cBhvr>
                                        <p:cTn id="35" dur="500"/>
                                        <p:tgtEl>
                                          <p:spTgt spid="13"/>
                                        </p:tgtEl>
                                      </p:cBhvr>
                                    </p:animEffect>
                                  </p:childTnLst>
                                </p:cTn>
                              </p:par>
                              <p:par>
                                <p:cTn id="41" presetID="2" presetClass="entr" presetSubtype="4" fill="hold" grpId="0" nodeType="withEffect">
                                  <p:stCondLst>
                                    <p:cond delay="10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ppt_x"/>
                                          </p:val>
                                        </p:tav>
                                        <p:tav tm="100000">
                                          <p:val>
                                            <p:strVal val="#ppt_x"/>
                                          </p:val>
                                        </p:tav>
                                      </p:tavLst>
                                    </p:anim>
                                    <p:anim calcmode="lin" valueType="num">
                                      <p:cBhvr additive="base">
                                        <p:cTn id="39" dur="500" fill="hold"/>
                                        <p:tgtEl>
                                          <p:spTgt spid="14"/>
                                        </p:tgtEl>
                                        <p:attrNameLst>
                                          <p:attrName>ppt_y</p:attrName>
                                        </p:attrNameLst>
                                      </p:cBhvr>
                                      <p:tavLst>
                                        <p:tav tm="0">
                                          <p:val>
                                            <p:strVal val="#ppt_y+0.1"/>
                                          </p:val>
                                        </p:tav>
                                        <p:tav tm="100000">
                                          <p:val>
                                            <p:strVal val="#ppt_y"/>
                                          </p:val>
                                        </p:tav>
                                      </p:tavLst>
                                    </p:anim>
                                    <p:animEffect transition="in" filter="fade">
                                      <p:cBhvr>
                                        <p:cTn id="40" dur="500"/>
                                        <p:tgtEl>
                                          <p:spTgt spid="14"/>
                                        </p:tgtEl>
                                      </p:cBhvr>
                                    </p:animEffect>
                                  </p:childTnLst>
                                </p:cTn>
                              </p:par>
                              <p:par>
                                <p:cTn id="46" presetID="2" presetClass="entr" presetSubtype="4" fill="hold" grpId="0" nodeType="withEffect">
                                  <p:stCondLst>
                                    <p:cond delay="10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ppt_y+0.1"/>
                                          </p:val>
                                        </p:tav>
                                        <p:tav tm="100000">
                                          <p:val>
                                            <p:strVal val="#ppt_y"/>
                                          </p:val>
                                        </p:tav>
                                      </p:tavLst>
                                    </p:anim>
                                    <p:animEffect transition="in" filter="fade">
                                      <p:cBhvr>
                                        <p:cTn id="45" dur="500"/>
                                        <p:tgtEl>
                                          <p:spTgt spid="15"/>
                                        </p:tgtEl>
                                      </p:cBhvr>
                                    </p:animEffect>
                                  </p:childTnLst>
                                </p:cTn>
                              </p:par>
                              <p:par>
                                <p:cTn id="51" presetID="2" presetClass="entr" presetSubtype="4" fill="hold" grpId="0" nodeType="withEffect">
                                  <p:stCondLst>
                                    <p:cond delay="20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500" fill="hold"/>
                                        <p:tgtEl>
                                          <p:spTgt spid="16"/>
                                        </p:tgtEl>
                                        <p:attrNameLst>
                                          <p:attrName>ppt_x</p:attrName>
                                        </p:attrNameLst>
                                      </p:cBhvr>
                                      <p:tavLst>
                                        <p:tav tm="0">
                                          <p:val>
                                            <p:strVal val="#ppt_x"/>
                                          </p:val>
                                        </p:tav>
                                        <p:tav tm="100000">
                                          <p:val>
                                            <p:strVal val="#ppt_x"/>
                                          </p:val>
                                        </p:tav>
                                      </p:tavLst>
                                    </p:anim>
                                    <p:anim calcmode="lin" valueType="num">
                                      <p:cBhvr additive="base">
                                        <p:cTn id="49" dur="500" fill="hold"/>
                                        <p:tgtEl>
                                          <p:spTgt spid="16"/>
                                        </p:tgtEl>
                                        <p:attrNameLst>
                                          <p:attrName>ppt_y</p:attrName>
                                        </p:attrNameLst>
                                      </p:cBhvr>
                                      <p:tavLst>
                                        <p:tav tm="0">
                                          <p:val>
                                            <p:strVal val="#ppt_y+0.1"/>
                                          </p:val>
                                        </p:tav>
                                        <p:tav tm="100000">
                                          <p:val>
                                            <p:strVal val="#ppt_y"/>
                                          </p:val>
                                        </p:tav>
                                      </p:tavLst>
                                    </p:anim>
                                    <p:animEffect transition="in" filter="fade">
                                      <p:cBhvr>
                                        <p:cTn id="50" dur="500"/>
                                        <p:tgtEl>
                                          <p:spTgt spid="16"/>
                                        </p:tgtEl>
                                      </p:cBhvr>
                                    </p:animEffect>
                                  </p:childTnLst>
                                </p:cTn>
                              </p:par>
                              <p:par>
                                <p:cTn id="56" presetID="2" presetClass="entr" presetSubtype="4" fill="hold" grpId="0" nodeType="withEffect">
                                  <p:stCondLst>
                                    <p:cond delay="20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ppt_x"/>
                                          </p:val>
                                        </p:tav>
                                        <p:tav tm="100000">
                                          <p:val>
                                            <p:strVal val="#ppt_x"/>
                                          </p:val>
                                        </p:tav>
                                      </p:tavLst>
                                    </p:anim>
                                    <p:anim calcmode="lin" valueType="num">
                                      <p:cBhvr additive="base">
                                        <p:cTn id="54" dur="500" fill="hold"/>
                                        <p:tgtEl>
                                          <p:spTgt spid="17"/>
                                        </p:tgtEl>
                                        <p:attrNameLst>
                                          <p:attrName>ppt_y</p:attrName>
                                        </p:attrNameLst>
                                      </p:cBhvr>
                                      <p:tavLst>
                                        <p:tav tm="0">
                                          <p:val>
                                            <p:strVal val="#ppt_y+0.1"/>
                                          </p:val>
                                        </p:tav>
                                        <p:tav tm="100000">
                                          <p:val>
                                            <p:strVal val="#ppt_y"/>
                                          </p:val>
                                        </p:tav>
                                      </p:tavLst>
                                    </p:anim>
                                    <p:animEffect transition="in" filter="fade">
                                      <p:cBhvr>
                                        <p:cTn id="55" dur="500"/>
                                        <p:tgtEl>
                                          <p:spTgt spid="17"/>
                                        </p:tgtEl>
                                      </p:cBhvr>
                                    </p:animEffect>
                                  </p:childTnLst>
                                </p:cTn>
                              </p:par>
                              <p:par>
                                <p:cTn id="61" presetID="2" presetClass="entr" presetSubtype="4" fill="hold" grpId="0" nodeType="withEffect">
                                  <p:stCondLst>
                                    <p:cond delay="20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ppt_x"/>
                                          </p:val>
                                        </p:tav>
                                        <p:tav tm="100000">
                                          <p:val>
                                            <p:strVal val="#ppt_x"/>
                                          </p:val>
                                        </p:tav>
                                      </p:tavLst>
                                    </p:anim>
                                    <p:anim calcmode="lin" valueType="num">
                                      <p:cBhvr additive="base">
                                        <p:cTn id="59" dur="500" fill="hold"/>
                                        <p:tgtEl>
                                          <p:spTgt spid="18"/>
                                        </p:tgtEl>
                                        <p:attrNameLst>
                                          <p:attrName>ppt_y</p:attrName>
                                        </p:attrNameLst>
                                      </p:cBhvr>
                                      <p:tavLst>
                                        <p:tav tm="0">
                                          <p:val>
                                            <p:strVal val="#ppt_y+0.1"/>
                                          </p:val>
                                        </p:tav>
                                        <p:tav tm="100000">
                                          <p:val>
                                            <p:strVal val="#ppt_y"/>
                                          </p:val>
                                        </p:tav>
                                      </p:tavLst>
                                    </p:anim>
                                    <p:animEffect transition="in" filter="fade">
                                      <p:cBhvr>
                                        <p:cTn id="60" dur="500"/>
                                        <p:tgtEl>
                                          <p:spTgt spid="18"/>
                                        </p:tgtEl>
                                      </p:cBhvr>
                                    </p:animEffect>
                                  </p:childTnLst>
                                </p:cTn>
                              </p:par>
                            </p:childTnLst>
                          </p:cTn>
                        </p:par>
                      </p:childTnLst>
                    </p:cTn>
                  </p:par>
                  <p:par>
                    <p:cTn id="62" fill="hold">
                      <p:stCondLst>
                        <p:cond delay="indefinite"/>
                      </p:stCondLst>
                      <p:childTnLst>
                        <p:par>
                          <p:cTn id="63" fill="hold">
                            <p:stCondLst>
                              <p:cond delay="0"/>
                            </p:stCondLst>
                            <p:childTnLst>
                              <p:par>
                                <p:cTn id="68" presetID="2" presetClass="entr" presetSubtype="4"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500" fill="hold"/>
                                        <p:tgtEl>
                                          <p:spTgt spid="20"/>
                                        </p:tgtEl>
                                        <p:attrNameLst>
                                          <p:attrName>ppt_x</p:attrName>
                                        </p:attrNameLst>
                                      </p:cBhvr>
                                      <p:tavLst>
                                        <p:tav tm="0">
                                          <p:val>
                                            <p:strVal val="#ppt_x"/>
                                          </p:val>
                                        </p:tav>
                                        <p:tav tm="100000">
                                          <p:val>
                                            <p:strVal val="#ppt_x"/>
                                          </p:val>
                                        </p:tav>
                                      </p:tavLst>
                                    </p:anim>
                                    <p:anim calcmode="lin" valueType="num">
                                      <p:cBhvr additive="base">
                                        <p:cTn id="66" dur="500" fill="hold"/>
                                        <p:tgtEl>
                                          <p:spTgt spid="20"/>
                                        </p:tgtEl>
                                        <p:attrNameLst>
                                          <p:attrName>ppt_y</p:attrName>
                                        </p:attrNameLst>
                                      </p:cBhvr>
                                      <p:tavLst>
                                        <p:tav tm="0">
                                          <p:val>
                                            <p:strVal val="#ppt_y+0.1"/>
                                          </p:val>
                                        </p:tav>
                                        <p:tav tm="100000">
                                          <p:val>
                                            <p:strVal val="#ppt_y"/>
                                          </p:val>
                                        </p:tav>
                                      </p:tavLst>
                                    </p:anim>
                                    <p:animEffect transition="in" filter="fade">
                                      <p:cBhvr>
                                        <p:cTn id="67" dur="500"/>
                                        <p:tgtEl>
                                          <p:spTgt spid="20"/>
                                        </p:tgtEl>
                                      </p:cBhvr>
                                    </p:animEffect>
                                  </p:childTnLst>
                                </p:cTn>
                              </p:par>
                              <p:par>
                                <p:cTn id="73" presetID="2" presetClass="entr" presetSubtype="4"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500" fill="hold"/>
                                        <p:tgtEl>
                                          <p:spTgt spid="21"/>
                                        </p:tgtEl>
                                        <p:attrNameLst>
                                          <p:attrName>ppt_x</p:attrName>
                                        </p:attrNameLst>
                                      </p:cBhvr>
                                      <p:tavLst>
                                        <p:tav tm="0">
                                          <p:val>
                                            <p:strVal val="#ppt_x"/>
                                          </p:val>
                                        </p:tav>
                                        <p:tav tm="100000">
                                          <p:val>
                                            <p:strVal val="#ppt_x"/>
                                          </p:val>
                                        </p:tav>
                                      </p:tavLst>
                                    </p:anim>
                                    <p:anim calcmode="lin" valueType="num">
                                      <p:cBhvr additive="base">
                                        <p:cTn id="71" dur="500" fill="hold"/>
                                        <p:tgtEl>
                                          <p:spTgt spid="21"/>
                                        </p:tgtEl>
                                        <p:attrNameLst>
                                          <p:attrName>ppt_y</p:attrName>
                                        </p:attrNameLst>
                                      </p:cBhvr>
                                      <p:tavLst>
                                        <p:tav tm="0">
                                          <p:val>
                                            <p:strVal val="#ppt_y+0.1"/>
                                          </p:val>
                                        </p:tav>
                                        <p:tav tm="100000">
                                          <p:val>
                                            <p:strVal val="#ppt_y"/>
                                          </p:val>
                                        </p:tav>
                                      </p:tavLst>
                                    </p:anim>
                                    <p:animEffect transition="in" filter="fade">
                                      <p:cBhvr>
                                        <p:cTn id="72" dur="500"/>
                                        <p:tgtEl>
                                          <p:spTgt spid="21"/>
                                        </p:tgtEl>
                                      </p:cBhvr>
                                    </p:animEffect>
                                  </p:childTnLst>
                                </p:cTn>
                              </p:par>
                              <p:par>
                                <p:cTn id="78" presetID="2" presetClass="entr" presetSubtype="4" fill="hold" grpId="0" nodeType="withEffect">
                                  <p:stCondLst>
                                    <p:cond delay="10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00" fill="hold"/>
                                        <p:tgtEl>
                                          <p:spTgt spid="22"/>
                                        </p:tgtEl>
                                        <p:attrNameLst>
                                          <p:attrName>ppt_x</p:attrName>
                                        </p:attrNameLst>
                                      </p:cBhvr>
                                      <p:tavLst>
                                        <p:tav tm="0">
                                          <p:val>
                                            <p:strVal val="#ppt_x"/>
                                          </p:val>
                                        </p:tav>
                                        <p:tav tm="100000">
                                          <p:val>
                                            <p:strVal val="#ppt_x"/>
                                          </p:val>
                                        </p:tav>
                                      </p:tavLst>
                                    </p:anim>
                                    <p:anim calcmode="lin" valueType="num">
                                      <p:cBhvr additive="base">
                                        <p:cTn id="76" dur="500" fill="hold"/>
                                        <p:tgtEl>
                                          <p:spTgt spid="22"/>
                                        </p:tgtEl>
                                        <p:attrNameLst>
                                          <p:attrName>ppt_y</p:attrName>
                                        </p:attrNameLst>
                                      </p:cBhvr>
                                      <p:tavLst>
                                        <p:tav tm="0">
                                          <p:val>
                                            <p:strVal val="#ppt_y+0.1"/>
                                          </p:val>
                                        </p:tav>
                                        <p:tav tm="100000">
                                          <p:val>
                                            <p:strVal val="#ppt_y"/>
                                          </p:val>
                                        </p:tav>
                                      </p:tavLst>
                                    </p:anim>
                                    <p:animEffect transition="in" filter="fade">
                                      <p:cBhvr>
                                        <p:cTn id="77" dur="500"/>
                                        <p:tgtEl>
                                          <p:spTgt spid="22"/>
                                        </p:tgtEl>
                                      </p:cBhvr>
                                    </p:animEffect>
                                  </p:childTnLst>
                                </p:cTn>
                              </p:par>
                              <p:par>
                                <p:cTn id="83" presetID="2" presetClass="entr" presetSubtype="4" fill="hold" grpId="0" nodeType="withEffect">
                                  <p:stCondLst>
                                    <p:cond delay="100"/>
                                  </p:stCondLst>
                                  <p:childTnLst>
                                    <p:set>
                                      <p:cBhvr>
                                        <p:cTn id="79" dur="1" fill="hold">
                                          <p:stCondLst>
                                            <p:cond delay="0"/>
                                          </p:stCondLst>
                                        </p:cTn>
                                        <p:tgtEl>
                                          <p:spTgt spid="23"/>
                                        </p:tgtEl>
                                        <p:attrNameLst>
                                          <p:attrName>style.visibility</p:attrName>
                                        </p:attrNameLst>
                                      </p:cBhvr>
                                      <p:to>
                                        <p:strVal val="visible"/>
                                      </p:to>
                                    </p:set>
                                    <p:anim calcmode="lin" valueType="num">
                                      <p:cBhvr additive="base">
                                        <p:cTn id="80" dur="500" fill="hold"/>
                                        <p:tgtEl>
                                          <p:spTgt spid="23"/>
                                        </p:tgtEl>
                                        <p:attrNameLst>
                                          <p:attrName>ppt_x</p:attrName>
                                        </p:attrNameLst>
                                      </p:cBhvr>
                                      <p:tavLst>
                                        <p:tav tm="0">
                                          <p:val>
                                            <p:strVal val="#ppt_x"/>
                                          </p:val>
                                        </p:tav>
                                        <p:tav tm="100000">
                                          <p:val>
                                            <p:strVal val="#ppt_x"/>
                                          </p:val>
                                        </p:tav>
                                      </p:tavLst>
                                    </p:anim>
                                    <p:anim calcmode="lin" valueType="num">
                                      <p:cBhvr additive="base">
                                        <p:cTn id="81" dur="500" fill="hold"/>
                                        <p:tgtEl>
                                          <p:spTgt spid="23"/>
                                        </p:tgtEl>
                                        <p:attrNameLst>
                                          <p:attrName>ppt_y</p:attrName>
                                        </p:attrNameLst>
                                      </p:cBhvr>
                                      <p:tavLst>
                                        <p:tav tm="0">
                                          <p:val>
                                            <p:strVal val="#ppt_y+0.1"/>
                                          </p:val>
                                        </p:tav>
                                        <p:tav tm="100000">
                                          <p:val>
                                            <p:strVal val="#ppt_y"/>
                                          </p:val>
                                        </p:tav>
                                      </p:tavLst>
                                    </p:anim>
                                    <p:animEffect transition="in" filter="fade">
                                      <p:cBhvr>
                                        <p:cTn id="82" dur="500"/>
                                        <p:tgtEl>
                                          <p:spTgt spid="23"/>
                                        </p:tgtEl>
                                      </p:cBhvr>
                                    </p:animEffect>
                                  </p:childTnLst>
                                </p:cTn>
                              </p:par>
                              <p:par>
                                <p:cTn id="88" presetID="2" presetClass="entr" presetSubtype="4" fill="hold" grpId="0" nodeType="withEffect">
                                  <p:stCondLst>
                                    <p:cond delay="200"/>
                                  </p:stCondLst>
                                  <p:childTnLst>
                                    <p:set>
                                      <p:cBhvr>
                                        <p:cTn id="84" dur="1" fill="hold">
                                          <p:stCondLst>
                                            <p:cond delay="0"/>
                                          </p:stCondLst>
                                        </p:cTn>
                                        <p:tgtEl>
                                          <p:spTgt spid="29"/>
                                        </p:tgtEl>
                                        <p:attrNameLst>
                                          <p:attrName>style.visibility</p:attrName>
                                        </p:attrNameLst>
                                      </p:cBhvr>
                                      <p:to>
                                        <p:strVal val="visible"/>
                                      </p:to>
                                    </p:set>
                                    <p:anim calcmode="lin" valueType="num">
                                      <p:cBhvr additive="base">
                                        <p:cTn id="85" dur="500" fill="hold"/>
                                        <p:tgtEl>
                                          <p:spTgt spid="29"/>
                                        </p:tgtEl>
                                        <p:attrNameLst>
                                          <p:attrName>ppt_x</p:attrName>
                                        </p:attrNameLst>
                                      </p:cBhvr>
                                      <p:tavLst>
                                        <p:tav tm="0">
                                          <p:val>
                                            <p:strVal val="#ppt_x"/>
                                          </p:val>
                                        </p:tav>
                                        <p:tav tm="100000">
                                          <p:val>
                                            <p:strVal val="#ppt_x"/>
                                          </p:val>
                                        </p:tav>
                                      </p:tavLst>
                                    </p:anim>
                                    <p:anim calcmode="lin" valueType="num">
                                      <p:cBhvr additive="base">
                                        <p:cTn id="86" dur="500" fill="hold"/>
                                        <p:tgtEl>
                                          <p:spTgt spid="29"/>
                                        </p:tgtEl>
                                        <p:attrNameLst>
                                          <p:attrName>ppt_y</p:attrName>
                                        </p:attrNameLst>
                                      </p:cBhvr>
                                      <p:tavLst>
                                        <p:tav tm="0">
                                          <p:val>
                                            <p:strVal val="#ppt_y+0.1"/>
                                          </p:val>
                                        </p:tav>
                                        <p:tav tm="100000">
                                          <p:val>
                                            <p:strVal val="#ppt_y"/>
                                          </p:val>
                                        </p:tav>
                                      </p:tavLst>
                                    </p:anim>
                                    <p:animEffect transition="in" filter="fade">
                                      <p:cBhvr>
                                        <p:cTn id="87" dur="500"/>
                                        <p:tgtEl>
                                          <p:spTgt spid="29"/>
                                        </p:tgtEl>
                                      </p:cBhvr>
                                    </p:animEffect>
                                  </p:childTnLst>
                                </p:cTn>
                              </p:par>
                              <p:par>
                                <p:cTn id="93" presetID="2" presetClass="entr" presetSubtype="4" fill="hold" grpId="0" nodeType="withEffect">
                                  <p:stCondLst>
                                    <p:cond delay="20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ppt_y+0.1"/>
                                          </p:val>
                                        </p:tav>
                                        <p:tav tm="100000">
                                          <p:val>
                                            <p:strVal val="#ppt_y"/>
                                          </p:val>
                                        </p:tav>
                                      </p:tavLst>
                                    </p:anim>
                                    <p:animEffect transition="in" filter="fade">
                                      <p:cBhvr>
                                        <p:cTn id="92" dur="500"/>
                                        <p:tgtEl>
                                          <p:spTgt spid="30"/>
                                        </p:tgtEl>
                                      </p:cBhvr>
                                    </p:animEffect>
                                  </p:childTnLst>
                                </p:cTn>
                              </p:par>
                              <p:par>
                                <p:cTn id="98" presetID="2" presetClass="entr" presetSubtype="4" fill="hold" grpId="0" nodeType="withEffect">
                                  <p:stCondLst>
                                    <p:cond delay="200"/>
                                  </p:stCondLst>
                                  <p:childTnLst>
                                    <p:set>
                                      <p:cBhvr>
                                        <p:cTn id="94" dur="1" fill="hold">
                                          <p:stCondLst>
                                            <p:cond delay="0"/>
                                          </p:stCondLst>
                                        </p:cTn>
                                        <p:tgtEl>
                                          <p:spTgt spid="31"/>
                                        </p:tgtEl>
                                        <p:attrNameLst>
                                          <p:attrName>style.visibility</p:attrName>
                                        </p:attrNameLst>
                                      </p:cBhvr>
                                      <p:to>
                                        <p:strVal val="visible"/>
                                      </p:to>
                                    </p:set>
                                    <p:anim calcmode="lin" valueType="num">
                                      <p:cBhvr additive="base">
                                        <p:cTn id="95" dur="500" fill="hold"/>
                                        <p:tgtEl>
                                          <p:spTgt spid="31"/>
                                        </p:tgtEl>
                                        <p:attrNameLst>
                                          <p:attrName>ppt_x</p:attrName>
                                        </p:attrNameLst>
                                      </p:cBhvr>
                                      <p:tavLst>
                                        <p:tav tm="0">
                                          <p:val>
                                            <p:strVal val="#ppt_x"/>
                                          </p:val>
                                        </p:tav>
                                        <p:tav tm="100000">
                                          <p:val>
                                            <p:strVal val="#ppt_x"/>
                                          </p:val>
                                        </p:tav>
                                      </p:tavLst>
                                    </p:anim>
                                    <p:anim calcmode="lin" valueType="num">
                                      <p:cBhvr additive="base">
                                        <p:cTn id="96" dur="500" fill="hold"/>
                                        <p:tgtEl>
                                          <p:spTgt spid="31"/>
                                        </p:tgtEl>
                                        <p:attrNameLst>
                                          <p:attrName>ppt_y</p:attrName>
                                        </p:attrNameLst>
                                      </p:cBhvr>
                                      <p:tavLst>
                                        <p:tav tm="0">
                                          <p:val>
                                            <p:strVal val="#ppt_y+0.1"/>
                                          </p:val>
                                        </p:tav>
                                        <p:tav tm="100000">
                                          <p:val>
                                            <p:strVal val="#ppt_y"/>
                                          </p:val>
                                        </p:tav>
                                      </p:tavLst>
                                    </p:anim>
                                    <p:animEffect transition="in" filter="fade">
                                      <p:cBhvr>
                                        <p:cTn id="97" dur="500"/>
                                        <p:tgtEl>
                                          <p:spTgt spid="31"/>
                                        </p:tgtEl>
                                      </p:cBhvr>
                                    </p:animEffect>
                                  </p:childTnLst>
                                </p:cTn>
                              </p:par>
                              <p:par>
                                <p:cTn id="103" presetID="2" presetClass="entr" presetSubtype="4" fill="hold" grpId="0" nodeType="withEffect">
                                  <p:stCondLst>
                                    <p:cond delay="260"/>
                                  </p:stCondLst>
                                  <p:childTnLst>
                                    <p:set>
                                      <p:cBhvr>
                                        <p:cTn id="99" dur="1" fill="hold">
                                          <p:stCondLst>
                                            <p:cond delay="0"/>
                                          </p:stCondLst>
                                        </p:cTn>
                                        <p:tgtEl>
                                          <p:spTgt spid="32"/>
                                        </p:tgtEl>
                                        <p:attrNameLst>
                                          <p:attrName>style.visibility</p:attrName>
                                        </p:attrNameLst>
                                      </p:cBhvr>
                                      <p:to>
                                        <p:strVal val="visible"/>
                                      </p:to>
                                    </p:set>
                                    <p:anim calcmode="lin" valueType="num">
                                      <p:cBhvr additive="base">
                                        <p:cTn id="100" dur="500" fill="hold"/>
                                        <p:tgtEl>
                                          <p:spTgt spid="32"/>
                                        </p:tgtEl>
                                        <p:attrNameLst>
                                          <p:attrName>ppt_x</p:attrName>
                                        </p:attrNameLst>
                                      </p:cBhvr>
                                      <p:tavLst>
                                        <p:tav tm="0">
                                          <p:val>
                                            <p:strVal val="#ppt_x"/>
                                          </p:val>
                                        </p:tav>
                                        <p:tav tm="100000">
                                          <p:val>
                                            <p:strVal val="#ppt_x"/>
                                          </p:val>
                                        </p:tav>
                                      </p:tavLst>
                                    </p:anim>
                                    <p:anim calcmode="lin" valueType="num">
                                      <p:cBhvr additive="base">
                                        <p:cTn id="101" dur="500" fill="hold"/>
                                        <p:tgtEl>
                                          <p:spTgt spid="32"/>
                                        </p:tgtEl>
                                        <p:attrNameLst>
                                          <p:attrName>ppt_y</p:attrName>
                                        </p:attrNameLst>
                                      </p:cBhvr>
                                      <p:tavLst>
                                        <p:tav tm="0">
                                          <p:val>
                                            <p:strVal val="#ppt_y+0.1"/>
                                          </p:val>
                                        </p:tav>
                                        <p:tav tm="100000">
                                          <p:val>
                                            <p:strVal val="#ppt_y"/>
                                          </p:val>
                                        </p:tav>
                                      </p:tavLst>
                                    </p:anim>
                                    <p:animEffect transition="in" filter="fade">
                                      <p:cBhvr>
                                        <p:cTn id="102" dur="500"/>
                                        <p:tgtEl>
                                          <p:spTgt spid="32"/>
                                        </p:tgtEl>
                                      </p:cBhvr>
                                    </p:animEffect>
                                  </p:childTnLst>
                                </p:cTn>
                              </p:par>
                              <p:par>
                                <p:cTn id="108" presetID="2" presetClass="entr" presetSubtype="4" fill="hold" grpId="0" nodeType="withEffect">
                                  <p:stCondLst>
                                    <p:cond delay="260"/>
                                  </p:stCondLst>
                                  <p:childTnLst>
                                    <p:set>
                                      <p:cBhvr>
                                        <p:cTn id="104" dur="1" fill="hold">
                                          <p:stCondLst>
                                            <p:cond delay="0"/>
                                          </p:stCondLst>
                                        </p:cTn>
                                        <p:tgtEl>
                                          <p:spTgt spid="33"/>
                                        </p:tgtEl>
                                        <p:attrNameLst>
                                          <p:attrName>style.visibility</p:attrName>
                                        </p:attrNameLst>
                                      </p:cBhvr>
                                      <p:to>
                                        <p:strVal val="visible"/>
                                      </p:to>
                                    </p:set>
                                    <p:anim calcmode="lin" valueType="num">
                                      <p:cBhvr additive="base">
                                        <p:cTn id="105" dur="500" fill="hold"/>
                                        <p:tgtEl>
                                          <p:spTgt spid="33"/>
                                        </p:tgtEl>
                                        <p:attrNameLst>
                                          <p:attrName>ppt_x</p:attrName>
                                        </p:attrNameLst>
                                      </p:cBhvr>
                                      <p:tavLst>
                                        <p:tav tm="0">
                                          <p:val>
                                            <p:strVal val="#ppt_x"/>
                                          </p:val>
                                        </p:tav>
                                        <p:tav tm="100000">
                                          <p:val>
                                            <p:strVal val="#ppt_x"/>
                                          </p:val>
                                        </p:tav>
                                      </p:tavLst>
                                    </p:anim>
                                    <p:anim calcmode="lin" valueType="num">
                                      <p:cBhvr additive="base">
                                        <p:cTn id="106" dur="500" fill="hold"/>
                                        <p:tgtEl>
                                          <p:spTgt spid="33"/>
                                        </p:tgtEl>
                                        <p:attrNameLst>
                                          <p:attrName>ppt_y</p:attrName>
                                        </p:attrNameLst>
                                      </p:cBhvr>
                                      <p:tavLst>
                                        <p:tav tm="0">
                                          <p:val>
                                            <p:strVal val="#ppt_y+0.1"/>
                                          </p:val>
                                        </p:tav>
                                        <p:tav tm="100000">
                                          <p:val>
                                            <p:strVal val="#ppt_y"/>
                                          </p:val>
                                        </p:tav>
                                      </p:tavLst>
                                    </p:anim>
                                    <p:animEffect transition="in" filter="fade">
                                      <p:cBhvr>
                                        <p:cTn id="107" dur="500"/>
                                        <p:tgtEl>
                                          <p:spTgt spid="33"/>
                                        </p:tgtEl>
                                      </p:cBhvr>
                                    </p:animEffect>
                                  </p:childTnLst>
                                </p:cTn>
                              </p:par>
                              <p:par>
                                <p:cTn id="113" presetID="2" presetClass="entr" presetSubtype="4" fill="hold" grpId="0" nodeType="withEffect">
                                  <p:stCondLst>
                                    <p:cond delay="320"/>
                                  </p:stCondLst>
                                  <p:childTnLst>
                                    <p:set>
                                      <p:cBhvr>
                                        <p:cTn id="109" dur="1" fill="hold">
                                          <p:stCondLst>
                                            <p:cond delay="0"/>
                                          </p:stCondLst>
                                        </p:cTn>
                                        <p:tgtEl>
                                          <p:spTgt spid="34"/>
                                        </p:tgtEl>
                                        <p:attrNameLst>
                                          <p:attrName>style.visibility</p:attrName>
                                        </p:attrNameLst>
                                      </p:cBhvr>
                                      <p:to>
                                        <p:strVal val="visible"/>
                                      </p:to>
                                    </p:set>
                                    <p:anim calcmode="lin" valueType="num">
                                      <p:cBhvr additive="base">
                                        <p:cTn id="110" dur="500" fill="hold"/>
                                        <p:tgtEl>
                                          <p:spTgt spid="34"/>
                                        </p:tgtEl>
                                        <p:attrNameLst>
                                          <p:attrName>ppt_x</p:attrName>
                                        </p:attrNameLst>
                                      </p:cBhvr>
                                      <p:tavLst>
                                        <p:tav tm="0">
                                          <p:val>
                                            <p:strVal val="#ppt_x"/>
                                          </p:val>
                                        </p:tav>
                                        <p:tav tm="100000">
                                          <p:val>
                                            <p:strVal val="#ppt_x"/>
                                          </p:val>
                                        </p:tav>
                                      </p:tavLst>
                                    </p:anim>
                                    <p:anim calcmode="lin" valueType="num">
                                      <p:cBhvr additive="base">
                                        <p:cTn id="111" dur="500" fill="hold"/>
                                        <p:tgtEl>
                                          <p:spTgt spid="34"/>
                                        </p:tgtEl>
                                        <p:attrNameLst>
                                          <p:attrName>ppt_y</p:attrName>
                                        </p:attrNameLst>
                                      </p:cBhvr>
                                      <p:tavLst>
                                        <p:tav tm="0">
                                          <p:val>
                                            <p:strVal val="#ppt_y+0.1"/>
                                          </p:val>
                                        </p:tav>
                                        <p:tav tm="100000">
                                          <p:val>
                                            <p:strVal val="#ppt_y"/>
                                          </p:val>
                                        </p:tav>
                                      </p:tavLst>
                                    </p:anim>
                                    <p:animEffect transition="in" filter="fade">
                                      <p:cBhvr>
                                        <p:cTn id="112" dur="500"/>
                                        <p:tgtEl>
                                          <p:spTgt spid="34"/>
                                        </p:tgtEl>
                                      </p:cBhvr>
                                    </p:animEffect>
                                  </p:childTnLst>
                                </p:cTn>
                              </p:par>
                              <p:par>
                                <p:cTn id="118" presetID="2" presetClass="entr" presetSubtype="4" fill="hold" grpId="0" nodeType="withEffect">
                                  <p:stCondLst>
                                    <p:cond delay="320"/>
                                  </p:stCondLst>
                                  <p:childTnLst>
                                    <p:set>
                                      <p:cBhvr>
                                        <p:cTn id="114" dur="1" fill="hold">
                                          <p:stCondLst>
                                            <p:cond delay="0"/>
                                          </p:stCondLst>
                                        </p:cTn>
                                        <p:tgtEl>
                                          <p:spTgt spid="35"/>
                                        </p:tgtEl>
                                        <p:attrNameLst>
                                          <p:attrName>style.visibility</p:attrName>
                                        </p:attrNameLst>
                                      </p:cBhvr>
                                      <p:to>
                                        <p:strVal val="visible"/>
                                      </p:to>
                                    </p:set>
                                    <p:anim calcmode="lin" valueType="num">
                                      <p:cBhvr additive="base">
                                        <p:cTn id="115" dur="500" fill="hold"/>
                                        <p:tgtEl>
                                          <p:spTgt spid="35"/>
                                        </p:tgtEl>
                                        <p:attrNameLst>
                                          <p:attrName>ppt_x</p:attrName>
                                        </p:attrNameLst>
                                      </p:cBhvr>
                                      <p:tavLst>
                                        <p:tav tm="0">
                                          <p:val>
                                            <p:strVal val="#ppt_x"/>
                                          </p:val>
                                        </p:tav>
                                        <p:tav tm="100000">
                                          <p:val>
                                            <p:strVal val="#ppt_x"/>
                                          </p:val>
                                        </p:tav>
                                      </p:tavLst>
                                    </p:anim>
                                    <p:anim calcmode="lin" valueType="num">
                                      <p:cBhvr additive="base">
                                        <p:cTn id="116" dur="500" fill="hold"/>
                                        <p:tgtEl>
                                          <p:spTgt spid="35"/>
                                        </p:tgtEl>
                                        <p:attrNameLst>
                                          <p:attrName>ppt_y</p:attrName>
                                        </p:attrNameLst>
                                      </p:cBhvr>
                                      <p:tavLst>
                                        <p:tav tm="0">
                                          <p:val>
                                            <p:strVal val="#ppt_y+0.1"/>
                                          </p:val>
                                        </p:tav>
                                        <p:tav tm="100000">
                                          <p:val>
                                            <p:strVal val="#ppt_y"/>
                                          </p:val>
                                        </p:tav>
                                      </p:tavLst>
                                    </p:anim>
                                    <p:animEffect transition="in" filter="fade">
                                      <p:cBhvr>
                                        <p:cTn id="117" dur="500"/>
                                        <p:tgtEl>
                                          <p:spTgt spid="35"/>
                                        </p:tgtEl>
                                      </p:cBhvr>
                                    </p:animEffect>
                                  </p:childTnLst>
                                </p:cTn>
                              </p:par>
                              <p:par>
                                <p:cTn id="123" presetID="2" presetClass="entr" presetSubtype="4" fill="hold" grpId="0" nodeType="withEffect">
                                  <p:stCondLst>
                                    <p:cond delay="380"/>
                                  </p:stCondLst>
                                  <p:childTnLst>
                                    <p:set>
                                      <p:cBhvr>
                                        <p:cTn id="119" dur="1" fill="hold">
                                          <p:stCondLst>
                                            <p:cond delay="0"/>
                                          </p:stCondLst>
                                        </p:cTn>
                                        <p:tgtEl>
                                          <p:spTgt spid="36"/>
                                        </p:tgtEl>
                                        <p:attrNameLst>
                                          <p:attrName>style.visibility</p:attrName>
                                        </p:attrNameLst>
                                      </p:cBhvr>
                                      <p:to>
                                        <p:strVal val="visible"/>
                                      </p:to>
                                    </p:set>
                                    <p:anim calcmode="lin" valueType="num">
                                      <p:cBhvr additive="base">
                                        <p:cTn id="120" dur="500" fill="hold"/>
                                        <p:tgtEl>
                                          <p:spTgt spid="36"/>
                                        </p:tgtEl>
                                        <p:attrNameLst>
                                          <p:attrName>ppt_x</p:attrName>
                                        </p:attrNameLst>
                                      </p:cBhvr>
                                      <p:tavLst>
                                        <p:tav tm="0">
                                          <p:val>
                                            <p:strVal val="#ppt_x"/>
                                          </p:val>
                                        </p:tav>
                                        <p:tav tm="100000">
                                          <p:val>
                                            <p:strVal val="#ppt_x"/>
                                          </p:val>
                                        </p:tav>
                                      </p:tavLst>
                                    </p:anim>
                                    <p:anim calcmode="lin" valueType="num">
                                      <p:cBhvr additive="base">
                                        <p:cTn id="121" dur="500" fill="hold"/>
                                        <p:tgtEl>
                                          <p:spTgt spid="36"/>
                                        </p:tgtEl>
                                        <p:attrNameLst>
                                          <p:attrName>ppt_y</p:attrName>
                                        </p:attrNameLst>
                                      </p:cBhvr>
                                      <p:tavLst>
                                        <p:tav tm="0">
                                          <p:val>
                                            <p:strVal val="#ppt_y+0.1"/>
                                          </p:val>
                                        </p:tav>
                                        <p:tav tm="100000">
                                          <p:val>
                                            <p:strVal val="#ppt_y"/>
                                          </p:val>
                                        </p:tav>
                                      </p:tavLst>
                                    </p:anim>
                                    <p:animEffect transition="in" filter="fade">
                                      <p:cBhvr>
                                        <p:cTn id="122" dur="500"/>
                                        <p:tgtEl>
                                          <p:spTgt spid="36"/>
                                        </p:tgtEl>
                                      </p:cBhvr>
                                    </p:animEffect>
                                  </p:childTnLst>
                                </p:cTn>
                              </p:par>
                              <p:par>
                                <p:cTn id="128" presetID="2" presetClass="entr" presetSubtype="4" fill="hold" grpId="0" nodeType="withEffect">
                                  <p:stCondLst>
                                    <p:cond delay="380"/>
                                  </p:stCondLst>
                                  <p:childTnLst>
                                    <p:set>
                                      <p:cBhvr>
                                        <p:cTn id="124" dur="1" fill="hold">
                                          <p:stCondLst>
                                            <p:cond delay="0"/>
                                          </p:stCondLst>
                                        </p:cTn>
                                        <p:tgtEl>
                                          <p:spTgt spid="37"/>
                                        </p:tgtEl>
                                        <p:attrNameLst>
                                          <p:attrName>style.visibility</p:attrName>
                                        </p:attrNameLst>
                                      </p:cBhvr>
                                      <p:to>
                                        <p:strVal val="visible"/>
                                      </p:to>
                                    </p:set>
                                    <p:anim calcmode="lin" valueType="num">
                                      <p:cBhvr additive="base">
                                        <p:cTn id="125" dur="500" fill="hold"/>
                                        <p:tgtEl>
                                          <p:spTgt spid="37"/>
                                        </p:tgtEl>
                                        <p:attrNameLst>
                                          <p:attrName>ppt_x</p:attrName>
                                        </p:attrNameLst>
                                      </p:cBhvr>
                                      <p:tavLst>
                                        <p:tav tm="0">
                                          <p:val>
                                            <p:strVal val="#ppt_x"/>
                                          </p:val>
                                        </p:tav>
                                        <p:tav tm="100000">
                                          <p:val>
                                            <p:strVal val="#ppt_x"/>
                                          </p:val>
                                        </p:tav>
                                      </p:tavLst>
                                    </p:anim>
                                    <p:anim calcmode="lin" valueType="num">
                                      <p:cBhvr additive="base">
                                        <p:cTn id="126" dur="500" fill="hold"/>
                                        <p:tgtEl>
                                          <p:spTgt spid="37"/>
                                        </p:tgtEl>
                                        <p:attrNameLst>
                                          <p:attrName>ppt_y</p:attrName>
                                        </p:attrNameLst>
                                      </p:cBhvr>
                                      <p:tavLst>
                                        <p:tav tm="0">
                                          <p:val>
                                            <p:strVal val="#ppt_y+0.1"/>
                                          </p:val>
                                        </p:tav>
                                        <p:tav tm="100000">
                                          <p:val>
                                            <p:strVal val="#ppt_y"/>
                                          </p:val>
                                        </p:tav>
                                      </p:tavLst>
                                    </p:anim>
                                    <p:animEffect transition="in" filter="fade">
                                      <p:cBhvr>
                                        <p:cTn id="127" dur="500"/>
                                        <p:tgtEl>
                                          <p:spTgt spid="37"/>
                                        </p:tgtEl>
                                      </p:cBhvr>
                                    </p:animEffect>
                                  </p:childTnLst>
                                </p:cTn>
                              </p:par>
                              <p:par>
                                <p:cTn id="133" presetID="2" presetClass="entr" presetSubtype="4" fill="hold" grpId="0" nodeType="withEffect">
                                  <p:stCondLst>
                                    <p:cond delay="400"/>
                                  </p:stCondLst>
                                  <p:childTnLst>
                                    <p:set>
                                      <p:cBhvr>
                                        <p:cTn id="129" dur="1" fill="hold">
                                          <p:stCondLst>
                                            <p:cond delay="0"/>
                                          </p:stCondLst>
                                        </p:cTn>
                                        <p:tgtEl>
                                          <p:spTgt spid="40"/>
                                        </p:tgtEl>
                                        <p:attrNameLst>
                                          <p:attrName>style.visibility</p:attrName>
                                        </p:attrNameLst>
                                      </p:cBhvr>
                                      <p:to>
                                        <p:strVal val="visible"/>
                                      </p:to>
                                    </p:set>
                                    <p:anim calcmode="lin" valueType="num">
                                      <p:cBhvr additive="base">
                                        <p:cTn id="130" dur="500" fill="hold"/>
                                        <p:tgtEl>
                                          <p:spTgt spid="40"/>
                                        </p:tgtEl>
                                        <p:attrNameLst>
                                          <p:attrName>ppt_x</p:attrName>
                                        </p:attrNameLst>
                                      </p:cBhvr>
                                      <p:tavLst>
                                        <p:tav tm="0">
                                          <p:val>
                                            <p:strVal val="#ppt_x"/>
                                          </p:val>
                                        </p:tav>
                                        <p:tav tm="100000">
                                          <p:val>
                                            <p:strVal val="#ppt_x"/>
                                          </p:val>
                                        </p:tav>
                                      </p:tavLst>
                                    </p:anim>
                                    <p:anim calcmode="lin" valueType="num">
                                      <p:cBhvr additive="base">
                                        <p:cTn id="131" dur="500" fill="hold"/>
                                        <p:tgtEl>
                                          <p:spTgt spid="40"/>
                                        </p:tgtEl>
                                        <p:attrNameLst>
                                          <p:attrName>ppt_y</p:attrName>
                                        </p:attrNameLst>
                                      </p:cBhvr>
                                      <p:tavLst>
                                        <p:tav tm="0">
                                          <p:val>
                                            <p:strVal val="#ppt_y+0.1"/>
                                          </p:val>
                                        </p:tav>
                                        <p:tav tm="100000">
                                          <p:val>
                                            <p:strVal val="#ppt_y"/>
                                          </p:val>
                                        </p:tav>
                                      </p:tavLst>
                                    </p:anim>
                                    <p:animEffect transition="in" filter="fade">
                                      <p:cBhvr>
                                        <p:cTn id="132" dur="500"/>
                                        <p:tgtEl>
                                          <p:spTgt spid="40"/>
                                        </p:tgtEl>
                                      </p:cBhvr>
                                    </p:animEffect>
                                  </p:childTnLst>
                                </p:cTn>
                              </p:par>
                              <p:par>
                                <p:cTn id="138" presetID="2" presetClass="entr" presetSubtype="4" fill="hold" grpId="0" nodeType="withEffect">
                                  <p:stCondLst>
                                    <p:cond delay="440"/>
                                  </p:stCondLst>
                                  <p:childTnLst>
                                    <p:set>
                                      <p:cBhvr>
                                        <p:cTn id="134" dur="1" fill="hold">
                                          <p:stCondLst>
                                            <p:cond delay="0"/>
                                          </p:stCondLst>
                                        </p:cTn>
                                        <p:tgtEl>
                                          <p:spTgt spid="38"/>
                                        </p:tgtEl>
                                        <p:attrNameLst>
                                          <p:attrName>style.visibility</p:attrName>
                                        </p:attrNameLst>
                                      </p:cBhvr>
                                      <p:to>
                                        <p:strVal val="visible"/>
                                      </p:to>
                                    </p:set>
                                    <p:anim calcmode="lin" valueType="num">
                                      <p:cBhvr additive="base">
                                        <p:cTn id="135" dur="500" fill="hold"/>
                                        <p:tgtEl>
                                          <p:spTgt spid="38"/>
                                        </p:tgtEl>
                                        <p:attrNameLst>
                                          <p:attrName>ppt_x</p:attrName>
                                        </p:attrNameLst>
                                      </p:cBhvr>
                                      <p:tavLst>
                                        <p:tav tm="0">
                                          <p:val>
                                            <p:strVal val="#ppt_x"/>
                                          </p:val>
                                        </p:tav>
                                        <p:tav tm="100000">
                                          <p:val>
                                            <p:strVal val="#ppt_x"/>
                                          </p:val>
                                        </p:tav>
                                      </p:tavLst>
                                    </p:anim>
                                    <p:anim calcmode="lin" valueType="num">
                                      <p:cBhvr additive="base">
                                        <p:cTn id="136" dur="500" fill="hold"/>
                                        <p:tgtEl>
                                          <p:spTgt spid="38"/>
                                        </p:tgtEl>
                                        <p:attrNameLst>
                                          <p:attrName>ppt_y</p:attrName>
                                        </p:attrNameLst>
                                      </p:cBhvr>
                                      <p:tavLst>
                                        <p:tav tm="0">
                                          <p:val>
                                            <p:strVal val="#ppt_y+0.1"/>
                                          </p:val>
                                        </p:tav>
                                        <p:tav tm="100000">
                                          <p:val>
                                            <p:strVal val="#ppt_y"/>
                                          </p:val>
                                        </p:tav>
                                      </p:tavLst>
                                    </p:anim>
                                    <p:animEffect transition="in" filter="fade">
                                      <p:cBhvr>
                                        <p:cTn id="137" dur="500"/>
                                        <p:tgtEl>
                                          <p:spTgt spid="38"/>
                                        </p:tgtEl>
                                      </p:cBhvr>
                                    </p:animEffect>
                                  </p:childTnLst>
                                </p:cTn>
                              </p:par>
                              <p:par>
                                <p:cTn id="143" presetID="2" presetClass="entr" presetSubtype="4" fill="hold" grpId="0" nodeType="withEffect">
                                  <p:stCondLst>
                                    <p:cond delay="440"/>
                                  </p:stCondLst>
                                  <p:childTnLst>
                                    <p:set>
                                      <p:cBhvr>
                                        <p:cTn id="139" dur="1" fill="hold">
                                          <p:stCondLst>
                                            <p:cond delay="0"/>
                                          </p:stCondLst>
                                        </p:cTn>
                                        <p:tgtEl>
                                          <p:spTgt spid="39"/>
                                        </p:tgtEl>
                                        <p:attrNameLst>
                                          <p:attrName>style.visibility</p:attrName>
                                        </p:attrNameLst>
                                      </p:cBhvr>
                                      <p:to>
                                        <p:strVal val="visible"/>
                                      </p:to>
                                    </p:set>
                                    <p:anim calcmode="lin" valueType="num">
                                      <p:cBhvr additive="base">
                                        <p:cTn id="140" dur="500" fill="hold"/>
                                        <p:tgtEl>
                                          <p:spTgt spid="39"/>
                                        </p:tgtEl>
                                        <p:attrNameLst>
                                          <p:attrName>ppt_x</p:attrName>
                                        </p:attrNameLst>
                                      </p:cBhvr>
                                      <p:tavLst>
                                        <p:tav tm="0">
                                          <p:val>
                                            <p:strVal val="#ppt_x"/>
                                          </p:val>
                                        </p:tav>
                                        <p:tav tm="100000">
                                          <p:val>
                                            <p:strVal val="#ppt_x"/>
                                          </p:val>
                                        </p:tav>
                                      </p:tavLst>
                                    </p:anim>
                                    <p:anim calcmode="lin" valueType="num">
                                      <p:cBhvr additive="base">
                                        <p:cTn id="141" dur="500" fill="hold"/>
                                        <p:tgtEl>
                                          <p:spTgt spid="39"/>
                                        </p:tgtEl>
                                        <p:attrNameLst>
                                          <p:attrName>ppt_y</p:attrName>
                                        </p:attrNameLst>
                                      </p:cBhvr>
                                      <p:tavLst>
                                        <p:tav tm="0">
                                          <p:val>
                                            <p:strVal val="#ppt_y+0.1"/>
                                          </p:val>
                                        </p:tav>
                                        <p:tav tm="100000">
                                          <p:val>
                                            <p:strVal val="#ppt_y"/>
                                          </p:val>
                                        </p:tav>
                                      </p:tavLst>
                                    </p:anim>
                                    <p:animEffect transition="in" filter="fade">
                                      <p:cBhvr>
                                        <p:cTn id="142" dur="500"/>
                                        <p:tgtEl>
                                          <p:spTgt spid="39"/>
                                        </p:tgtEl>
                                      </p:cBhvr>
                                    </p:animEffect>
                                  </p:childTnLst>
                                </p:cTn>
                              </p:par>
                            </p:childTnLst>
                          </p:cTn>
                        </p:par>
                      </p:childTnLst>
                    </p:cTn>
                  </p:par>
                  <p:par>
                    <p:cTn id="144" fill="hold">
                      <p:stCondLst>
                        <p:cond delay="indefinite"/>
                      </p:stCondLst>
                      <p:childTnLst>
                        <p:par>
                          <p:cTn id="145" fill="hold">
                            <p:stCondLst>
                              <p:cond delay="0"/>
                            </p:stCondLst>
                            <p:childTnLst>
                              <p:par>
                                <p:cTn id="150" presetID="2" presetClass="entr" presetSubtype="4" fill="hold" grpId="0" nodeType="clickEffect">
                                  <p:stCondLst>
                                    <p:cond delay="0"/>
                                  </p:stCondLst>
                                  <p:childTnLst>
                                    <p:set>
                                      <p:cBhvr>
                                        <p:cTn id="146" dur="1" fill="hold">
                                          <p:stCondLst>
                                            <p:cond delay="0"/>
                                          </p:stCondLst>
                                        </p:cTn>
                                        <p:tgtEl>
                                          <p:spTgt spid="19"/>
                                        </p:tgtEl>
                                        <p:attrNameLst>
                                          <p:attrName>style.visibility</p:attrName>
                                        </p:attrNameLst>
                                      </p:cBhvr>
                                      <p:to>
                                        <p:strVal val="visible"/>
                                      </p:to>
                                    </p:set>
                                    <p:anim calcmode="lin" valueType="num">
                                      <p:cBhvr additive="base">
                                        <p:cTn id="147" dur="500" fill="hold"/>
                                        <p:tgtEl>
                                          <p:spTgt spid="19"/>
                                        </p:tgtEl>
                                        <p:attrNameLst>
                                          <p:attrName>ppt_x</p:attrName>
                                        </p:attrNameLst>
                                      </p:cBhvr>
                                      <p:tavLst>
                                        <p:tav tm="0">
                                          <p:val>
                                            <p:strVal val="#ppt_x"/>
                                          </p:val>
                                        </p:tav>
                                        <p:tav tm="100000">
                                          <p:val>
                                            <p:strVal val="#ppt_x"/>
                                          </p:val>
                                        </p:tav>
                                      </p:tavLst>
                                    </p:anim>
                                    <p:anim calcmode="lin" valueType="num">
                                      <p:cBhvr additive="base">
                                        <p:cTn id="148" dur="500" fill="hold"/>
                                        <p:tgtEl>
                                          <p:spTgt spid="19"/>
                                        </p:tgtEl>
                                        <p:attrNameLst>
                                          <p:attrName>ppt_y</p:attrName>
                                        </p:attrNameLst>
                                      </p:cBhvr>
                                      <p:tavLst>
                                        <p:tav tm="0">
                                          <p:val>
                                            <p:strVal val="#ppt_y+0.1"/>
                                          </p:val>
                                        </p:tav>
                                        <p:tav tm="100000">
                                          <p:val>
                                            <p:strVal val="#ppt_y"/>
                                          </p:val>
                                        </p:tav>
                                      </p:tavLst>
                                    </p:anim>
                                    <p:animEffect transition="in" filter="fade">
                                      <p:cBhvr>
                                        <p:cTn id="149" dur="500"/>
                                        <p:tgtEl>
                                          <p:spTgt spid="19"/>
                                        </p:tgtEl>
                                      </p:cBhvr>
                                    </p:animEffect>
                                  </p:childTnLst>
                                </p:cTn>
                              </p:par>
                              <p:par>
                                <p:cTn id="155" presetID="2" presetClass="entr" presetSubtype="4" fill="hold" grpId="0" nodeType="withEffect">
                                  <p:stCondLst>
                                    <p:cond delay="0"/>
                                  </p:stCondLst>
                                  <p:childTnLst>
                                    <p:set>
                                      <p:cBhvr>
                                        <p:cTn id="151" dur="1" fill="hold">
                                          <p:stCondLst>
                                            <p:cond delay="0"/>
                                          </p:stCondLst>
                                        </p:cTn>
                                        <p:tgtEl>
                                          <p:spTgt spid="41"/>
                                        </p:tgtEl>
                                        <p:attrNameLst>
                                          <p:attrName>style.visibility</p:attrName>
                                        </p:attrNameLst>
                                      </p:cBhvr>
                                      <p:to>
                                        <p:strVal val="visible"/>
                                      </p:to>
                                    </p:set>
                                    <p:anim calcmode="lin" valueType="num">
                                      <p:cBhvr additive="base">
                                        <p:cTn id="152" dur="500" fill="hold"/>
                                        <p:tgtEl>
                                          <p:spTgt spid="41"/>
                                        </p:tgtEl>
                                        <p:attrNameLst>
                                          <p:attrName>ppt_x</p:attrName>
                                        </p:attrNameLst>
                                      </p:cBhvr>
                                      <p:tavLst>
                                        <p:tav tm="0">
                                          <p:val>
                                            <p:strVal val="#ppt_x"/>
                                          </p:val>
                                        </p:tav>
                                        <p:tav tm="100000">
                                          <p:val>
                                            <p:strVal val="#ppt_x"/>
                                          </p:val>
                                        </p:tav>
                                      </p:tavLst>
                                    </p:anim>
                                    <p:anim calcmode="lin" valueType="num">
                                      <p:cBhvr additive="base">
                                        <p:cTn id="153" dur="500" fill="hold"/>
                                        <p:tgtEl>
                                          <p:spTgt spid="41"/>
                                        </p:tgtEl>
                                        <p:attrNameLst>
                                          <p:attrName>ppt_y</p:attrName>
                                        </p:attrNameLst>
                                      </p:cBhvr>
                                      <p:tavLst>
                                        <p:tav tm="0">
                                          <p:val>
                                            <p:strVal val="#ppt_y+0.1"/>
                                          </p:val>
                                        </p:tav>
                                        <p:tav tm="100000">
                                          <p:val>
                                            <p:strVal val="#ppt_y"/>
                                          </p:val>
                                        </p:tav>
                                      </p:tavLst>
                                    </p:anim>
                                    <p:animEffect transition="in" filter="fade">
                                      <p:cBhvr>
                                        <p:cTn id="154" dur="500"/>
                                        <p:tgtEl>
                                          <p:spTgt spid="41"/>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42"/>
                                        </p:tgtEl>
                                        <p:attrNameLst>
                                          <p:attrName>style.visibility</p:attrName>
                                        </p:attrNameLst>
                                      </p:cBhvr>
                                      <p:to>
                                        <p:strVal val="visible"/>
                                      </p:to>
                                    </p:set>
                                    <p:anim calcmode="lin" valueType="num">
                                      <p:cBhvr additive="base">
                                        <p:cTn id="157" dur="500" fill="hold"/>
                                        <p:tgtEl>
                                          <p:spTgt spid="42"/>
                                        </p:tgtEl>
                                        <p:attrNameLst>
                                          <p:attrName>ppt_x</p:attrName>
                                        </p:attrNameLst>
                                      </p:cBhvr>
                                      <p:tavLst>
                                        <p:tav tm="0">
                                          <p:val>
                                            <p:strVal val="#ppt_x"/>
                                          </p:val>
                                        </p:tav>
                                        <p:tav tm="100000">
                                          <p:val>
                                            <p:strVal val="#ppt_x"/>
                                          </p:val>
                                        </p:tav>
                                      </p:tavLst>
                                    </p:anim>
                                    <p:anim calcmode="lin" valueType="num">
                                      <p:cBhvr additive="base">
                                        <p:cTn id="158" dur="500" fill="hold"/>
                                        <p:tgtEl>
                                          <p:spTgt spid="42"/>
                                        </p:tgtEl>
                                        <p:attrNameLst>
                                          <p:attrName>ppt_y</p:attrName>
                                        </p:attrNameLst>
                                      </p:cBhvr>
                                      <p:tavLst>
                                        <p:tav tm="0">
                                          <p:val>
                                            <p:strVal val="#ppt_y+0.1"/>
                                          </p:val>
                                        </p:tav>
                                        <p:tav tm="100000">
                                          <p:val>
                                            <p:strVal val="#ppt_y"/>
                                          </p:val>
                                        </p:tav>
                                      </p:tavLst>
                                    </p:anim>
                                    <p:animEffect transition="in" filter="fade">
                                      <p:cBhvr>
                                        <p:cTn id="159" dur="500"/>
                                        <p:tgtEl>
                                          <p:spTgt spid="42"/>
                                        </p:tgtEl>
                                      </p:cBhvr>
                                    </p:animEffect>
                                  </p:childTnLst>
                                </p:cTn>
                              </p:par>
                              <p:par>
                                <p:cTn id="165" presetID="2" presetClass="entr" presetSubtype="4" fill="hold" grpId="0" nodeType="withEffect">
                                  <p:stCondLst>
                                    <p:cond delay="120"/>
                                  </p:stCondLst>
                                  <p:childTnLst>
                                    <p:set>
                                      <p:cBhvr>
                                        <p:cTn id="161" dur="1" fill="hold">
                                          <p:stCondLst>
                                            <p:cond delay="0"/>
                                          </p:stCondLst>
                                        </p:cTn>
                                        <p:tgtEl>
                                          <p:spTgt spid="43"/>
                                        </p:tgtEl>
                                        <p:attrNameLst>
                                          <p:attrName>style.visibility</p:attrName>
                                        </p:attrNameLst>
                                      </p:cBhvr>
                                      <p:to>
                                        <p:strVal val="visible"/>
                                      </p:to>
                                    </p:set>
                                    <p:anim calcmode="lin" valueType="num">
                                      <p:cBhvr additive="base">
                                        <p:cTn id="162" dur="500" fill="hold"/>
                                        <p:tgtEl>
                                          <p:spTgt spid="43"/>
                                        </p:tgtEl>
                                        <p:attrNameLst>
                                          <p:attrName>ppt_x</p:attrName>
                                        </p:attrNameLst>
                                      </p:cBhvr>
                                      <p:tavLst>
                                        <p:tav tm="0">
                                          <p:val>
                                            <p:strVal val="#ppt_x"/>
                                          </p:val>
                                        </p:tav>
                                        <p:tav tm="100000">
                                          <p:val>
                                            <p:strVal val="#ppt_x"/>
                                          </p:val>
                                        </p:tav>
                                      </p:tavLst>
                                    </p:anim>
                                    <p:anim calcmode="lin" valueType="num">
                                      <p:cBhvr additive="base">
                                        <p:cTn id="163" dur="500" fill="hold"/>
                                        <p:tgtEl>
                                          <p:spTgt spid="43"/>
                                        </p:tgtEl>
                                        <p:attrNameLst>
                                          <p:attrName>ppt_y</p:attrName>
                                        </p:attrNameLst>
                                      </p:cBhvr>
                                      <p:tavLst>
                                        <p:tav tm="0">
                                          <p:val>
                                            <p:strVal val="#ppt_y+0.1"/>
                                          </p:val>
                                        </p:tav>
                                        <p:tav tm="100000">
                                          <p:val>
                                            <p:strVal val="#ppt_y"/>
                                          </p:val>
                                        </p:tav>
                                      </p:tavLst>
                                    </p:anim>
                                    <p:animEffect transition="in" filter="fade">
                                      <p:cBhvr>
                                        <p:cTn id="164" dur="500"/>
                                        <p:tgtEl>
                                          <p:spTgt spid="43"/>
                                        </p:tgtEl>
                                      </p:cBhvr>
                                    </p:animEffect>
                                  </p:childTnLst>
                                </p:cTn>
                              </p:par>
                              <p:par>
                                <p:cTn id="170" presetID="2" presetClass="entr" presetSubtype="4" fill="hold" grpId="0" nodeType="withEffect">
                                  <p:stCondLst>
                                    <p:cond delay="120"/>
                                  </p:stCondLst>
                                  <p:childTnLst>
                                    <p:set>
                                      <p:cBhvr>
                                        <p:cTn id="166" dur="1" fill="hold">
                                          <p:stCondLst>
                                            <p:cond delay="0"/>
                                          </p:stCondLst>
                                        </p:cTn>
                                        <p:tgtEl>
                                          <p:spTgt spid="44"/>
                                        </p:tgtEl>
                                        <p:attrNameLst>
                                          <p:attrName>style.visibility</p:attrName>
                                        </p:attrNameLst>
                                      </p:cBhvr>
                                      <p:to>
                                        <p:strVal val="visible"/>
                                      </p:to>
                                    </p:set>
                                    <p:anim calcmode="lin" valueType="num">
                                      <p:cBhvr additive="base">
                                        <p:cTn id="167" dur="500" fill="hold"/>
                                        <p:tgtEl>
                                          <p:spTgt spid="44"/>
                                        </p:tgtEl>
                                        <p:attrNameLst>
                                          <p:attrName>ppt_x</p:attrName>
                                        </p:attrNameLst>
                                      </p:cBhvr>
                                      <p:tavLst>
                                        <p:tav tm="0">
                                          <p:val>
                                            <p:strVal val="#ppt_x"/>
                                          </p:val>
                                        </p:tav>
                                        <p:tav tm="100000">
                                          <p:val>
                                            <p:strVal val="#ppt_x"/>
                                          </p:val>
                                        </p:tav>
                                      </p:tavLst>
                                    </p:anim>
                                    <p:anim calcmode="lin" valueType="num">
                                      <p:cBhvr additive="base">
                                        <p:cTn id="168" dur="500" fill="hold"/>
                                        <p:tgtEl>
                                          <p:spTgt spid="44"/>
                                        </p:tgtEl>
                                        <p:attrNameLst>
                                          <p:attrName>ppt_y</p:attrName>
                                        </p:attrNameLst>
                                      </p:cBhvr>
                                      <p:tavLst>
                                        <p:tav tm="0">
                                          <p:val>
                                            <p:strVal val="#ppt_y+0.1"/>
                                          </p:val>
                                        </p:tav>
                                        <p:tav tm="100000">
                                          <p:val>
                                            <p:strVal val="#ppt_y"/>
                                          </p:val>
                                        </p:tav>
                                      </p:tavLst>
                                    </p:anim>
                                    <p:animEffect transition="in" filter="fade">
                                      <p:cBhvr>
                                        <p:cTn id="169" dur="500"/>
                                        <p:tgtEl>
                                          <p:spTgt spid="44"/>
                                        </p:tgtEl>
                                      </p:cBhvr>
                                    </p:animEffect>
                                  </p:childTnLst>
                                </p:cTn>
                              </p:par>
                              <p:par>
                                <p:cTn id="175" presetID="2" presetClass="entr" presetSubtype="4" fill="hold" grpId="0" nodeType="withEffect">
                                  <p:stCondLst>
                                    <p:cond delay="240"/>
                                  </p:stCondLst>
                                  <p:childTnLst>
                                    <p:set>
                                      <p:cBhvr>
                                        <p:cTn id="171" dur="1" fill="hold">
                                          <p:stCondLst>
                                            <p:cond delay="0"/>
                                          </p:stCondLst>
                                        </p:cTn>
                                        <p:tgtEl>
                                          <p:spTgt spid="45"/>
                                        </p:tgtEl>
                                        <p:attrNameLst>
                                          <p:attrName>style.visibility</p:attrName>
                                        </p:attrNameLst>
                                      </p:cBhvr>
                                      <p:to>
                                        <p:strVal val="visible"/>
                                      </p:to>
                                    </p:set>
                                    <p:anim calcmode="lin" valueType="num">
                                      <p:cBhvr additive="base">
                                        <p:cTn id="172" dur="500" fill="hold"/>
                                        <p:tgtEl>
                                          <p:spTgt spid="45"/>
                                        </p:tgtEl>
                                        <p:attrNameLst>
                                          <p:attrName>ppt_x</p:attrName>
                                        </p:attrNameLst>
                                      </p:cBhvr>
                                      <p:tavLst>
                                        <p:tav tm="0">
                                          <p:val>
                                            <p:strVal val="#ppt_x"/>
                                          </p:val>
                                        </p:tav>
                                        <p:tav tm="100000">
                                          <p:val>
                                            <p:strVal val="#ppt_x"/>
                                          </p:val>
                                        </p:tav>
                                      </p:tavLst>
                                    </p:anim>
                                    <p:anim calcmode="lin" valueType="num">
                                      <p:cBhvr additive="base">
                                        <p:cTn id="173" dur="500" fill="hold"/>
                                        <p:tgtEl>
                                          <p:spTgt spid="45"/>
                                        </p:tgtEl>
                                        <p:attrNameLst>
                                          <p:attrName>ppt_y</p:attrName>
                                        </p:attrNameLst>
                                      </p:cBhvr>
                                      <p:tavLst>
                                        <p:tav tm="0">
                                          <p:val>
                                            <p:strVal val="#ppt_y+0.1"/>
                                          </p:val>
                                        </p:tav>
                                        <p:tav tm="100000">
                                          <p:val>
                                            <p:strVal val="#ppt_y"/>
                                          </p:val>
                                        </p:tav>
                                      </p:tavLst>
                                    </p:anim>
                                    <p:animEffect transition="in" filter="fade">
                                      <p:cBhvr>
                                        <p:cTn id="174" dur="500"/>
                                        <p:tgtEl>
                                          <p:spTgt spid="45"/>
                                        </p:tgtEl>
                                      </p:cBhvr>
                                    </p:animEffect>
                                  </p:childTnLst>
                                </p:cTn>
                              </p:par>
                              <p:par>
                                <p:cTn id="180" presetID="2" presetClass="entr" presetSubtype="4" fill="hold" grpId="0" nodeType="withEffect">
                                  <p:stCondLst>
                                    <p:cond delay="240"/>
                                  </p:stCondLst>
                                  <p:childTnLst>
                                    <p:set>
                                      <p:cBhvr>
                                        <p:cTn id="176" dur="1" fill="hold">
                                          <p:stCondLst>
                                            <p:cond delay="0"/>
                                          </p:stCondLst>
                                        </p:cTn>
                                        <p:tgtEl>
                                          <p:spTgt spid="46"/>
                                        </p:tgtEl>
                                        <p:attrNameLst>
                                          <p:attrName>style.visibility</p:attrName>
                                        </p:attrNameLst>
                                      </p:cBhvr>
                                      <p:to>
                                        <p:strVal val="visible"/>
                                      </p:to>
                                    </p:set>
                                    <p:anim calcmode="lin" valueType="num">
                                      <p:cBhvr additive="base">
                                        <p:cTn id="177" dur="500" fill="hold"/>
                                        <p:tgtEl>
                                          <p:spTgt spid="46"/>
                                        </p:tgtEl>
                                        <p:attrNameLst>
                                          <p:attrName>ppt_x</p:attrName>
                                        </p:attrNameLst>
                                      </p:cBhvr>
                                      <p:tavLst>
                                        <p:tav tm="0">
                                          <p:val>
                                            <p:strVal val="#ppt_x"/>
                                          </p:val>
                                        </p:tav>
                                        <p:tav tm="100000">
                                          <p:val>
                                            <p:strVal val="#ppt_x"/>
                                          </p:val>
                                        </p:tav>
                                      </p:tavLst>
                                    </p:anim>
                                    <p:anim calcmode="lin" valueType="num">
                                      <p:cBhvr additive="base">
                                        <p:cTn id="178" dur="500" fill="hold"/>
                                        <p:tgtEl>
                                          <p:spTgt spid="46"/>
                                        </p:tgtEl>
                                        <p:attrNameLst>
                                          <p:attrName>ppt_y</p:attrName>
                                        </p:attrNameLst>
                                      </p:cBhvr>
                                      <p:tavLst>
                                        <p:tav tm="0">
                                          <p:val>
                                            <p:strVal val="#ppt_y+0.1"/>
                                          </p:val>
                                        </p:tav>
                                        <p:tav tm="100000">
                                          <p:val>
                                            <p:strVal val="#ppt_y"/>
                                          </p:val>
                                        </p:tav>
                                      </p:tavLst>
                                    </p:anim>
                                    <p:animEffect transition="in" filter="fade">
                                      <p:cBhvr>
                                        <p:cTn id="179" dur="500"/>
                                        <p:tgtEl>
                                          <p:spTgt spid="46"/>
                                        </p:tgtEl>
                                      </p:cBhvr>
                                    </p:animEffect>
                                  </p:childTnLst>
                                </p:cTn>
                              </p:par>
                              <p:par>
                                <p:cTn id="185" presetID="2" presetClass="entr" presetSubtype="4" fill="hold" grpId="0" nodeType="withEffect">
                                  <p:stCondLst>
                                    <p:cond delay="360"/>
                                  </p:stCondLst>
                                  <p:childTnLst>
                                    <p:set>
                                      <p:cBhvr>
                                        <p:cTn id="181" dur="1" fill="hold">
                                          <p:stCondLst>
                                            <p:cond delay="0"/>
                                          </p:stCondLst>
                                        </p:cTn>
                                        <p:tgtEl>
                                          <p:spTgt spid="47"/>
                                        </p:tgtEl>
                                        <p:attrNameLst>
                                          <p:attrName>style.visibility</p:attrName>
                                        </p:attrNameLst>
                                      </p:cBhvr>
                                      <p:to>
                                        <p:strVal val="visible"/>
                                      </p:to>
                                    </p:set>
                                    <p:anim calcmode="lin" valueType="num">
                                      <p:cBhvr additive="base">
                                        <p:cTn id="182" dur="500" fill="hold"/>
                                        <p:tgtEl>
                                          <p:spTgt spid="47"/>
                                        </p:tgtEl>
                                        <p:attrNameLst>
                                          <p:attrName>ppt_x</p:attrName>
                                        </p:attrNameLst>
                                      </p:cBhvr>
                                      <p:tavLst>
                                        <p:tav tm="0">
                                          <p:val>
                                            <p:strVal val="#ppt_x"/>
                                          </p:val>
                                        </p:tav>
                                        <p:tav tm="100000">
                                          <p:val>
                                            <p:strVal val="#ppt_x"/>
                                          </p:val>
                                        </p:tav>
                                      </p:tavLst>
                                    </p:anim>
                                    <p:anim calcmode="lin" valueType="num">
                                      <p:cBhvr additive="base">
                                        <p:cTn id="183" dur="500" fill="hold"/>
                                        <p:tgtEl>
                                          <p:spTgt spid="47"/>
                                        </p:tgtEl>
                                        <p:attrNameLst>
                                          <p:attrName>ppt_y</p:attrName>
                                        </p:attrNameLst>
                                      </p:cBhvr>
                                      <p:tavLst>
                                        <p:tav tm="0">
                                          <p:val>
                                            <p:strVal val="#ppt_y+0.1"/>
                                          </p:val>
                                        </p:tav>
                                        <p:tav tm="100000">
                                          <p:val>
                                            <p:strVal val="#ppt_y"/>
                                          </p:val>
                                        </p:tav>
                                      </p:tavLst>
                                    </p:anim>
                                    <p:animEffect transition="in" filter="fade">
                                      <p:cBhvr>
                                        <p:cTn id="184" dur="500"/>
                                        <p:tgtEl>
                                          <p:spTgt spid="47"/>
                                        </p:tgtEl>
                                      </p:cBhvr>
                                    </p:animEffect>
                                  </p:childTnLst>
                                </p:cTn>
                              </p:par>
                              <p:par>
                                <p:cTn id="190" presetID="2" presetClass="entr" presetSubtype="4" fill="hold" grpId="0" nodeType="withEffect">
                                  <p:stCondLst>
                                    <p:cond delay="360"/>
                                  </p:stCondLst>
                                  <p:childTnLst>
                                    <p:set>
                                      <p:cBhvr>
                                        <p:cTn id="186" dur="1" fill="hold">
                                          <p:stCondLst>
                                            <p:cond delay="0"/>
                                          </p:stCondLst>
                                        </p:cTn>
                                        <p:tgtEl>
                                          <p:spTgt spid="48"/>
                                        </p:tgtEl>
                                        <p:attrNameLst>
                                          <p:attrName>style.visibility</p:attrName>
                                        </p:attrNameLst>
                                      </p:cBhvr>
                                      <p:to>
                                        <p:strVal val="visible"/>
                                      </p:to>
                                    </p:set>
                                    <p:anim calcmode="lin" valueType="num">
                                      <p:cBhvr additive="base">
                                        <p:cTn id="187" dur="500" fill="hold"/>
                                        <p:tgtEl>
                                          <p:spTgt spid="48"/>
                                        </p:tgtEl>
                                        <p:attrNameLst>
                                          <p:attrName>ppt_x</p:attrName>
                                        </p:attrNameLst>
                                      </p:cBhvr>
                                      <p:tavLst>
                                        <p:tav tm="0">
                                          <p:val>
                                            <p:strVal val="#ppt_x"/>
                                          </p:val>
                                        </p:tav>
                                        <p:tav tm="100000">
                                          <p:val>
                                            <p:strVal val="#ppt_x"/>
                                          </p:val>
                                        </p:tav>
                                      </p:tavLst>
                                    </p:anim>
                                    <p:anim calcmode="lin" valueType="num">
                                      <p:cBhvr additive="base">
                                        <p:cTn id="188" dur="500" fill="hold"/>
                                        <p:tgtEl>
                                          <p:spTgt spid="48"/>
                                        </p:tgtEl>
                                        <p:attrNameLst>
                                          <p:attrName>ppt_y</p:attrName>
                                        </p:attrNameLst>
                                      </p:cBhvr>
                                      <p:tavLst>
                                        <p:tav tm="0">
                                          <p:val>
                                            <p:strVal val="#ppt_y+0.1"/>
                                          </p:val>
                                        </p:tav>
                                        <p:tav tm="100000">
                                          <p:val>
                                            <p:strVal val="#ppt_y"/>
                                          </p:val>
                                        </p:tav>
                                      </p:tavLst>
                                    </p:anim>
                                    <p:animEffect transition="in" filter="fade">
                                      <p:cBhvr>
                                        <p:cTn id="189" dur="500"/>
                                        <p:tgtEl>
                                          <p:spTgt spid="48"/>
                                        </p:tgtEl>
                                      </p:cBhvr>
                                    </p:animEffect>
                                  </p:childTnLst>
                                </p:cTn>
                              </p:par>
                            </p:childTnLst>
                          </p:cTn>
                        </p:par>
                      </p:childTnLst>
                    </p:cTn>
                  </p:par>
                  <p:par>
                    <p:cTn id="191" fill="hold">
                      <p:stCondLst>
                        <p:cond delay="indefinite"/>
                      </p:stCondLst>
                      <p:childTnLst>
                        <p:par>
                          <p:cTn id="192" fill="hold">
                            <p:stCondLst>
                              <p:cond delay="0"/>
                            </p:stCondLst>
                            <p:childTnLst>
                              <p:par>
                                <p:cTn id="197" presetID="2" presetClass="entr" presetSubtype="4" fill="hold" grpId="0" nodeType="clickEffect">
                                  <p:stCondLst>
                                    <p:cond delay="0"/>
                                  </p:stCondLst>
                                  <p:childTnLst>
                                    <p:set>
                                      <p:cBhvr>
                                        <p:cTn id="193" dur="1" fill="hold">
                                          <p:stCondLst>
                                            <p:cond delay="0"/>
                                          </p:stCondLst>
                                        </p:cTn>
                                        <p:tgtEl>
                                          <p:spTgt spid="49"/>
                                        </p:tgtEl>
                                        <p:attrNameLst>
                                          <p:attrName>style.visibility</p:attrName>
                                        </p:attrNameLst>
                                      </p:cBhvr>
                                      <p:to>
                                        <p:strVal val="visible"/>
                                      </p:to>
                                    </p:set>
                                    <p:anim calcmode="lin" valueType="num">
                                      <p:cBhvr additive="base">
                                        <p:cTn id="194" dur="500" fill="hold"/>
                                        <p:tgtEl>
                                          <p:spTgt spid="49"/>
                                        </p:tgtEl>
                                        <p:attrNameLst>
                                          <p:attrName>ppt_x</p:attrName>
                                        </p:attrNameLst>
                                      </p:cBhvr>
                                      <p:tavLst>
                                        <p:tav tm="0">
                                          <p:val>
                                            <p:strVal val="#ppt_x"/>
                                          </p:val>
                                        </p:tav>
                                        <p:tav tm="100000">
                                          <p:val>
                                            <p:strVal val="#ppt_x"/>
                                          </p:val>
                                        </p:tav>
                                      </p:tavLst>
                                    </p:anim>
                                    <p:anim calcmode="lin" valueType="num">
                                      <p:cBhvr additive="base">
                                        <p:cTn id="195" dur="500" fill="hold"/>
                                        <p:tgtEl>
                                          <p:spTgt spid="49"/>
                                        </p:tgtEl>
                                        <p:attrNameLst>
                                          <p:attrName>ppt_y</p:attrName>
                                        </p:attrNameLst>
                                      </p:cBhvr>
                                      <p:tavLst>
                                        <p:tav tm="0">
                                          <p:val>
                                            <p:strVal val="#ppt_y+0.1"/>
                                          </p:val>
                                        </p:tav>
                                        <p:tav tm="100000">
                                          <p:val>
                                            <p:strVal val="#ppt_y"/>
                                          </p:val>
                                        </p:tav>
                                      </p:tavLst>
                                    </p:anim>
                                    <p:animEffect transition="in" filter="fade">
                                      <p:cBhvr>
                                        <p:cTn id="196" dur="500"/>
                                        <p:tgtEl>
                                          <p:spTgt spid="49"/>
                                        </p:tgtEl>
                                      </p:cBhvr>
                                    </p:animEffect>
                                  </p:childTnLst>
                                </p:cTn>
                              </p:par>
                              <p:par>
                                <p:cTn id="202" presetID="2" presetClass="entr" presetSubtype="4" fill="hold" grpId="0" nodeType="withEffect">
                                  <p:stCondLst>
                                    <p:cond delay="0"/>
                                  </p:stCondLst>
                                  <p:childTnLst>
                                    <p:set>
                                      <p:cBhvr>
                                        <p:cTn id="198" dur="1" fill="hold">
                                          <p:stCondLst>
                                            <p:cond delay="0"/>
                                          </p:stCondLst>
                                        </p:cTn>
                                        <p:tgtEl>
                                          <p:spTgt spid="50"/>
                                        </p:tgtEl>
                                        <p:attrNameLst>
                                          <p:attrName>style.visibility</p:attrName>
                                        </p:attrNameLst>
                                      </p:cBhvr>
                                      <p:to>
                                        <p:strVal val="visible"/>
                                      </p:to>
                                    </p:set>
                                    <p:anim calcmode="lin" valueType="num">
                                      <p:cBhvr additive="base">
                                        <p:cTn id="199" dur="500" fill="hold"/>
                                        <p:tgtEl>
                                          <p:spTgt spid="50"/>
                                        </p:tgtEl>
                                        <p:attrNameLst>
                                          <p:attrName>ppt_x</p:attrName>
                                        </p:attrNameLst>
                                      </p:cBhvr>
                                      <p:tavLst>
                                        <p:tav tm="0">
                                          <p:val>
                                            <p:strVal val="#ppt_x"/>
                                          </p:val>
                                        </p:tav>
                                        <p:tav tm="100000">
                                          <p:val>
                                            <p:strVal val="#ppt_x"/>
                                          </p:val>
                                        </p:tav>
                                      </p:tavLst>
                                    </p:anim>
                                    <p:anim calcmode="lin" valueType="num">
                                      <p:cBhvr additive="base">
                                        <p:cTn id="200" dur="500" fill="hold"/>
                                        <p:tgtEl>
                                          <p:spTgt spid="50"/>
                                        </p:tgtEl>
                                        <p:attrNameLst>
                                          <p:attrName>ppt_y</p:attrName>
                                        </p:attrNameLst>
                                      </p:cBhvr>
                                      <p:tavLst>
                                        <p:tav tm="0">
                                          <p:val>
                                            <p:strVal val="#ppt_y+0.1"/>
                                          </p:val>
                                        </p:tav>
                                        <p:tav tm="100000">
                                          <p:val>
                                            <p:strVal val="#ppt_y"/>
                                          </p:val>
                                        </p:tav>
                                      </p:tavLst>
                                    </p:anim>
                                    <p:animEffect transition="in" filter="fade">
                                      <p:cBhvr>
                                        <p:cTn id="201" dur="500"/>
                                        <p:tgtEl>
                                          <p:spTgt spid="50"/>
                                        </p:tgtEl>
                                      </p:cBhvr>
                                    </p:animEffect>
                                  </p:childTnLst>
                                </p:cTn>
                              </p:par>
                              <p:par>
                                <p:cTn id="207" presetID="2" presetClass="entr" presetSubtype="4" fill="hold" grpId="0" nodeType="withEffect">
                                  <p:stCondLst>
                                    <p:cond delay="0"/>
                                  </p:stCondLst>
                                  <p:childTnLst>
                                    <p:set>
                                      <p:cBhvr>
                                        <p:cTn id="203" dur="1" fill="hold">
                                          <p:stCondLst>
                                            <p:cond delay="0"/>
                                          </p:stCondLst>
                                        </p:cTn>
                                        <p:tgtEl>
                                          <p:spTgt spid="51"/>
                                        </p:tgtEl>
                                        <p:attrNameLst>
                                          <p:attrName>style.visibility</p:attrName>
                                        </p:attrNameLst>
                                      </p:cBhvr>
                                      <p:to>
                                        <p:strVal val="visible"/>
                                      </p:to>
                                    </p:set>
                                    <p:anim calcmode="lin" valueType="num">
                                      <p:cBhvr additive="base">
                                        <p:cTn id="204" dur="500" fill="hold"/>
                                        <p:tgtEl>
                                          <p:spTgt spid="51"/>
                                        </p:tgtEl>
                                        <p:attrNameLst>
                                          <p:attrName>ppt_x</p:attrName>
                                        </p:attrNameLst>
                                      </p:cBhvr>
                                      <p:tavLst>
                                        <p:tav tm="0">
                                          <p:val>
                                            <p:strVal val="#ppt_x"/>
                                          </p:val>
                                        </p:tav>
                                        <p:tav tm="100000">
                                          <p:val>
                                            <p:strVal val="#ppt_x"/>
                                          </p:val>
                                        </p:tav>
                                      </p:tavLst>
                                    </p:anim>
                                    <p:anim calcmode="lin" valueType="num">
                                      <p:cBhvr additive="base">
                                        <p:cTn id="205" dur="500" fill="hold"/>
                                        <p:tgtEl>
                                          <p:spTgt spid="51"/>
                                        </p:tgtEl>
                                        <p:attrNameLst>
                                          <p:attrName>ppt_y</p:attrName>
                                        </p:attrNameLst>
                                      </p:cBhvr>
                                      <p:tavLst>
                                        <p:tav tm="0">
                                          <p:val>
                                            <p:strVal val="#ppt_y+0.1"/>
                                          </p:val>
                                        </p:tav>
                                        <p:tav tm="100000">
                                          <p:val>
                                            <p:strVal val="#ppt_y"/>
                                          </p:val>
                                        </p:tav>
                                      </p:tavLst>
                                    </p:anim>
                                    <p:animEffect transition="in" filter="fade">
                                      <p:cBhvr>
                                        <p:cTn id="20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Producing: Register, Then Embed the ID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serializer registers the schema over REST and writes its ID into every message</a:t>
            </a:r>
          </a:p>
        </p:txBody>
      </p:sp>
      <p:sp>
        <p:nvSpPr>
          <p:cNvPr id="11" name="a1u_nd10"/>
          <p:cNvSpPr/>
          <p:nvPr/>
        </p:nvSpPr>
        <p:spPr>
          <a:xfrm>
            <a:off x="457200" y="1325880"/>
            <a:ext cx="1554480" cy="777240"/>
          </a:xfrm>
          <a:prstGeom prst="roundRect">
            <a:avLst>
              <a:gd name="adj" fmla="val 9411"/>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62456"/>
            <a:ext cx="1463039" cy="370332"/>
          </a:xfrm>
          <a:prstGeom prst="rect">
            <a:avLst/>
          </a:prstGeom>
          <a:noFill/>
        </p:spPr>
        <p:txBody>
          <a:bodyPr wrap="square" lIns="0" tIns="0" rIns="0" bIns="0" anchor="b">
            <a:spAutoFit/>
          </a:bodyPr>
          <a:lstStyle/>
          <a:p>
            <a:pPr algn="ctr"/>
            <a:r>
              <a:rPr sz="1000" b="1">
                <a:solidFill>
                  <a:srgbClr val="1C1917"/>
                </a:solidFill>
                <a:latin typeface="Segoe UI"/>
              </a:rPr>
              <a:t>Producer</a:t>
            </a:r>
          </a:p>
        </p:txBody>
      </p:sp>
      <p:sp>
        <p:nvSpPr>
          <p:cNvPr id="13" name="a1u_nds12"/>
          <p:cNvSpPr txBox="1"/>
          <p:nvPr/>
        </p:nvSpPr>
        <p:spPr>
          <a:xfrm>
            <a:off x="502920" y="1741932"/>
            <a:ext cx="1463039" cy="324612"/>
          </a:xfrm>
          <a:prstGeom prst="rect">
            <a:avLst/>
          </a:prstGeom>
          <a:noFill/>
        </p:spPr>
        <p:txBody>
          <a:bodyPr wrap="square" lIns="0" tIns="0" rIns="0" bIns="0" anchor="t">
            <a:spAutoFit/>
          </a:bodyPr>
          <a:lstStyle/>
          <a:p>
            <a:pPr algn="ctr"/>
            <a:r>
              <a:rPr sz="800" b="0">
                <a:solidFill>
                  <a:srgbClr val="EA580C"/>
                </a:solidFill>
                <a:latin typeface="Segoe UI"/>
              </a:rPr>
              <a:t>KafkaAvroSerializer</a:t>
            </a:r>
          </a:p>
        </p:txBody>
      </p:sp>
      <p:sp>
        <p:nvSpPr>
          <p:cNvPr id="14" name="a1u_nd13"/>
          <p:cNvSpPr/>
          <p:nvPr/>
        </p:nvSpPr>
        <p:spPr>
          <a:xfrm>
            <a:off x="3337560" y="1325880"/>
            <a:ext cx="1600200" cy="777240"/>
          </a:xfrm>
          <a:prstGeom prst="roundRect">
            <a:avLst>
              <a:gd name="adj" fmla="val 9411"/>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_ndt14"/>
          <p:cNvSpPr txBox="1"/>
          <p:nvPr/>
        </p:nvSpPr>
        <p:spPr>
          <a:xfrm>
            <a:off x="3383279" y="1362456"/>
            <a:ext cx="1508760" cy="370332"/>
          </a:xfrm>
          <a:prstGeom prst="rect">
            <a:avLst/>
          </a:prstGeom>
          <a:noFill/>
        </p:spPr>
        <p:txBody>
          <a:bodyPr wrap="square" lIns="0" tIns="0" rIns="0" bIns="0" anchor="b">
            <a:spAutoFit/>
          </a:bodyPr>
          <a:lstStyle/>
          <a:p>
            <a:pPr algn="ctr"/>
            <a:r>
              <a:rPr sz="1000" b="1">
                <a:solidFill>
                  <a:srgbClr val="1C1917"/>
                </a:solidFill>
                <a:latin typeface="Segoe UI"/>
              </a:rPr>
              <a:t>Schema Registry</a:t>
            </a:r>
          </a:p>
        </p:txBody>
      </p:sp>
      <p:sp>
        <p:nvSpPr>
          <p:cNvPr id="16" name="a1u_nds15"/>
          <p:cNvSpPr txBox="1"/>
          <p:nvPr/>
        </p:nvSpPr>
        <p:spPr>
          <a:xfrm>
            <a:off x="3383279" y="1741932"/>
            <a:ext cx="1508760" cy="324612"/>
          </a:xfrm>
          <a:prstGeom prst="rect">
            <a:avLst/>
          </a:prstGeom>
          <a:noFill/>
        </p:spPr>
        <p:txBody>
          <a:bodyPr wrap="square" lIns="0" tIns="0" rIns="0" bIns="0" anchor="t">
            <a:spAutoFit/>
          </a:bodyPr>
          <a:lstStyle/>
          <a:p>
            <a:pPr algn="ctr"/>
            <a:r>
              <a:rPr sz="800" b="0">
                <a:solidFill>
                  <a:srgbClr val="0E7490"/>
                </a:solidFill>
                <a:latin typeface="Segoe UI"/>
              </a:rPr>
              <a:t>REST API</a:t>
            </a:r>
          </a:p>
        </p:txBody>
      </p:sp>
      <p:sp>
        <p:nvSpPr>
          <p:cNvPr id="17" name="a2u_lb16"/>
          <p:cNvSpPr txBox="1"/>
          <p:nvPr/>
        </p:nvSpPr>
        <p:spPr>
          <a:xfrm>
            <a:off x="2029968" y="1298448"/>
            <a:ext cx="1289304" cy="201168"/>
          </a:xfrm>
          <a:prstGeom prst="rect">
            <a:avLst/>
          </a:prstGeom>
          <a:noFill/>
        </p:spPr>
        <p:txBody>
          <a:bodyPr wrap="square" lIns="0" tIns="0" rIns="0" bIns="0" anchor="ctr">
            <a:spAutoFit/>
          </a:bodyPr>
          <a:lstStyle/>
          <a:p>
            <a:pPr algn="ctr"/>
            <a:r>
              <a:rPr sz="800" b="1">
                <a:solidFill>
                  <a:srgbClr val="C2410C"/>
                </a:solidFill>
                <a:latin typeface="Segoe UI"/>
              </a:rPr>
              <a:t>1  POST the schema</a:t>
            </a:r>
          </a:p>
        </p:txBody>
      </p:sp>
      <p:cxnSp>
        <p:nvCxnSpPr>
          <p:cNvPr id="18" name="a2u_ar17"/>
          <p:cNvCxnSpPr/>
          <p:nvPr/>
        </p:nvCxnSpPr>
        <p:spPr>
          <a:xfrm>
            <a:off x="2029968" y="1536192"/>
            <a:ext cx="1289304"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a3u_ar18"/>
          <p:cNvCxnSpPr/>
          <p:nvPr/>
        </p:nvCxnSpPr>
        <p:spPr>
          <a:xfrm flipH="1">
            <a:off x="2029968" y="1883664"/>
            <a:ext cx="1289304"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3u_lb19"/>
          <p:cNvSpPr txBox="1"/>
          <p:nvPr/>
        </p:nvSpPr>
        <p:spPr>
          <a:xfrm>
            <a:off x="2029968" y="1920240"/>
            <a:ext cx="1289304" cy="201168"/>
          </a:xfrm>
          <a:prstGeom prst="rect">
            <a:avLst/>
          </a:prstGeom>
          <a:noFill/>
        </p:spPr>
        <p:txBody>
          <a:bodyPr wrap="square" lIns="0" tIns="0" rIns="0" bIns="0" anchor="ctr">
            <a:spAutoFit/>
          </a:bodyPr>
          <a:lstStyle/>
          <a:p>
            <a:pPr algn="ctr"/>
            <a:r>
              <a:rPr sz="800" b="1">
                <a:solidFill>
                  <a:srgbClr val="0E7490"/>
                </a:solidFill>
                <a:latin typeface="Segoe UI"/>
              </a:rPr>
              <a:t>2  its id: 42</a:t>
            </a:r>
          </a:p>
        </p:txBody>
      </p:sp>
      <p:cxnSp>
        <p:nvCxnSpPr>
          <p:cNvPr id="21" name="a4u_ar20"/>
          <p:cNvCxnSpPr/>
          <p:nvPr/>
        </p:nvCxnSpPr>
        <p:spPr>
          <a:xfrm>
            <a:off x="1234440" y="2121408"/>
            <a:ext cx="0" cy="347472"/>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a4u_lb21"/>
          <p:cNvSpPr txBox="1"/>
          <p:nvPr/>
        </p:nvSpPr>
        <p:spPr>
          <a:xfrm>
            <a:off x="1325880" y="2194560"/>
            <a:ext cx="2194560" cy="201168"/>
          </a:xfrm>
          <a:prstGeom prst="rect">
            <a:avLst/>
          </a:prstGeom>
          <a:noFill/>
        </p:spPr>
        <p:txBody>
          <a:bodyPr wrap="square" lIns="0" tIns="0" rIns="0" bIns="0" anchor="ctr">
            <a:spAutoFit/>
          </a:bodyPr>
          <a:lstStyle/>
          <a:p>
            <a:pPr algn="l"/>
            <a:r>
              <a:rPr sz="800" b="1">
                <a:solidFill>
                  <a:srgbClr val="C2410C"/>
                </a:solidFill>
                <a:latin typeface="Segoe UI"/>
              </a:rPr>
              <a:t>3  produce the message</a:t>
            </a:r>
          </a:p>
        </p:txBody>
      </p:sp>
      <p:sp>
        <p:nvSpPr>
          <p:cNvPr id="23" name="a4wd100_wm22"/>
          <p:cNvSpPr/>
          <p:nvPr/>
        </p:nvSpPr>
        <p:spPr>
          <a:xfrm>
            <a:off x="457200" y="2505456"/>
            <a:ext cx="411480" cy="384048"/>
          </a:xfrm>
          <a:prstGeom prst="rect">
            <a:avLst/>
          </a:prstGeom>
          <a:solidFill>
            <a:srgbClr val="3F3F4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wd100_wmt23"/>
          <p:cNvSpPr txBox="1"/>
          <p:nvPr/>
        </p:nvSpPr>
        <p:spPr>
          <a:xfrm>
            <a:off x="457200" y="2505456"/>
            <a:ext cx="411480" cy="384048"/>
          </a:xfrm>
          <a:prstGeom prst="rect">
            <a:avLst/>
          </a:prstGeom>
          <a:noFill/>
        </p:spPr>
        <p:txBody>
          <a:bodyPr wrap="square" lIns="0" tIns="0" rIns="0" bIns="0" anchor="ctr">
            <a:spAutoFit/>
          </a:bodyPr>
          <a:lstStyle/>
          <a:p>
            <a:pPr algn="ctr"/>
            <a:r>
              <a:rPr sz="950" b="1">
                <a:solidFill>
                  <a:srgbClr val="FFFFFF"/>
                </a:solidFill>
                <a:latin typeface="Consolas"/>
              </a:rPr>
              <a:t>0</a:t>
            </a:r>
          </a:p>
        </p:txBody>
      </p:sp>
      <p:sp>
        <p:nvSpPr>
          <p:cNvPr id="25" name="a4wd100_wm24"/>
          <p:cNvSpPr/>
          <p:nvPr/>
        </p:nvSpPr>
        <p:spPr>
          <a:xfrm>
            <a:off x="868680" y="2505456"/>
            <a:ext cx="868680" cy="384048"/>
          </a:xfrm>
          <a:prstGeom prst="rect">
            <a:avLst/>
          </a:prstGeom>
          <a:solidFill>
            <a:srgbClr val="EA580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4wd100_wmt25"/>
          <p:cNvSpPr txBox="1"/>
          <p:nvPr/>
        </p:nvSpPr>
        <p:spPr>
          <a:xfrm>
            <a:off x="868680" y="2505456"/>
            <a:ext cx="868680" cy="384048"/>
          </a:xfrm>
          <a:prstGeom prst="rect">
            <a:avLst/>
          </a:prstGeom>
          <a:noFill/>
        </p:spPr>
        <p:txBody>
          <a:bodyPr wrap="square" lIns="0" tIns="0" rIns="0" bIns="0" anchor="ctr">
            <a:spAutoFit/>
          </a:bodyPr>
          <a:lstStyle/>
          <a:p>
            <a:pPr algn="ctr"/>
            <a:r>
              <a:rPr sz="950" b="1">
                <a:solidFill>
                  <a:srgbClr val="FFFFFF"/>
                </a:solidFill>
                <a:latin typeface="Consolas"/>
              </a:rPr>
              <a:t>42</a:t>
            </a:r>
          </a:p>
        </p:txBody>
      </p:sp>
      <p:sp>
        <p:nvSpPr>
          <p:cNvPr id="27" name="a4wd100_wm26"/>
          <p:cNvSpPr/>
          <p:nvPr/>
        </p:nvSpPr>
        <p:spPr>
          <a:xfrm>
            <a:off x="1737360" y="2505456"/>
            <a:ext cx="3154680" cy="384048"/>
          </a:xfrm>
          <a:prstGeom prst="rect">
            <a:avLst/>
          </a:prstGeom>
          <a:solidFill>
            <a:srgbClr val="FFED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4wd100_wmt27"/>
          <p:cNvSpPr txBox="1"/>
          <p:nvPr/>
        </p:nvSpPr>
        <p:spPr>
          <a:xfrm>
            <a:off x="1737360" y="2505456"/>
            <a:ext cx="3154680" cy="384048"/>
          </a:xfrm>
          <a:prstGeom prst="rect">
            <a:avLst/>
          </a:prstGeom>
          <a:noFill/>
        </p:spPr>
        <p:txBody>
          <a:bodyPr wrap="square" lIns="0" tIns="0" rIns="0" bIns="0" anchor="ctr">
            <a:spAutoFit/>
          </a:bodyPr>
          <a:lstStyle/>
          <a:p>
            <a:pPr algn="ctr"/>
            <a:r>
              <a:rPr sz="950" b="1">
                <a:solidFill>
                  <a:srgbClr val="C2410C"/>
                </a:solidFill>
                <a:latin typeface="Consolas"/>
              </a:rPr>
              <a:t>Avro-encoded value</a:t>
            </a:r>
          </a:p>
        </p:txBody>
      </p:sp>
      <p:sp>
        <p:nvSpPr>
          <p:cNvPr id="29" name="a4ud300_lb28"/>
          <p:cNvSpPr txBox="1"/>
          <p:nvPr/>
        </p:nvSpPr>
        <p:spPr>
          <a:xfrm>
            <a:off x="457200" y="2926080"/>
            <a:ext cx="411480" cy="201168"/>
          </a:xfrm>
          <a:prstGeom prst="rect">
            <a:avLst/>
          </a:prstGeom>
          <a:noFill/>
        </p:spPr>
        <p:txBody>
          <a:bodyPr wrap="square" lIns="0" tIns="0" rIns="0" bIns="0" anchor="ctr">
            <a:spAutoFit/>
          </a:bodyPr>
          <a:lstStyle/>
          <a:p>
            <a:pPr algn="ctr"/>
            <a:r>
              <a:rPr sz="750" b="0">
                <a:solidFill>
                  <a:srgbClr val="78716C"/>
                </a:solidFill>
                <a:latin typeface="Segoe UI"/>
              </a:rPr>
              <a:t>magic</a:t>
            </a:r>
          </a:p>
        </p:txBody>
      </p:sp>
      <p:sp>
        <p:nvSpPr>
          <p:cNvPr id="30" name="a4ud300_lb29"/>
          <p:cNvSpPr txBox="1"/>
          <p:nvPr/>
        </p:nvSpPr>
        <p:spPr>
          <a:xfrm>
            <a:off x="868680" y="2926080"/>
            <a:ext cx="868680" cy="201168"/>
          </a:xfrm>
          <a:prstGeom prst="rect">
            <a:avLst/>
          </a:prstGeom>
          <a:noFill/>
        </p:spPr>
        <p:txBody>
          <a:bodyPr wrap="square" lIns="0" tIns="0" rIns="0" bIns="0" anchor="ctr">
            <a:spAutoFit/>
          </a:bodyPr>
          <a:lstStyle/>
          <a:p>
            <a:pPr algn="ctr"/>
            <a:r>
              <a:rPr sz="750" b="0">
                <a:solidFill>
                  <a:srgbClr val="78716C"/>
                </a:solidFill>
                <a:latin typeface="Segoe UI"/>
              </a:rPr>
              <a:t>schema id</a:t>
            </a:r>
          </a:p>
        </p:txBody>
      </p:sp>
      <p:sp>
        <p:nvSpPr>
          <p:cNvPr id="31" name="a4ud300_lb30"/>
          <p:cNvSpPr txBox="1"/>
          <p:nvPr/>
        </p:nvSpPr>
        <p:spPr>
          <a:xfrm>
            <a:off x="1737360" y="2926080"/>
            <a:ext cx="3154680" cy="201168"/>
          </a:xfrm>
          <a:prstGeom prst="rect">
            <a:avLst/>
          </a:prstGeom>
          <a:noFill/>
        </p:spPr>
        <p:txBody>
          <a:bodyPr wrap="square" lIns="0" tIns="0" rIns="0" bIns="0" anchor="ctr">
            <a:spAutoFit/>
          </a:bodyPr>
          <a:lstStyle/>
          <a:p>
            <a:pPr algn="ctr"/>
            <a:r>
              <a:rPr sz="750" b="0">
                <a:solidFill>
                  <a:srgbClr val="78716C"/>
                </a:solidFill>
                <a:latin typeface="Segoe UI"/>
              </a:rPr>
              <a:t>the record's bytes - no field names</a:t>
            </a:r>
          </a:p>
        </p:txBody>
      </p:sp>
      <p:sp>
        <p:nvSpPr>
          <p:cNvPr id="32" name="a5u_lb31"/>
          <p:cNvSpPr txBox="1"/>
          <p:nvPr/>
        </p:nvSpPr>
        <p:spPr>
          <a:xfrm>
            <a:off x="457200" y="3218688"/>
            <a:ext cx="4434840" cy="201168"/>
          </a:xfrm>
          <a:prstGeom prst="rect">
            <a:avLst/>
          </a:prstGeom>
          <a:noFill/>
        </p:spPr>
        <p:txBody>
          <a:bodyPr wrap="square" lIns="0" tIns="0" rIns="0" bIns="0" anchor="ctr">
            <a:spAutoFit/>
          </a:bodyPr>
          <a:lstStyle/>
          <a:p>
            <a:pPr algn="l"/>
            <a:r>
              <a:rPr sz="850" b="1">
                <a:solidFill>
                  <a:srgbClr val="C2410C"/>
                </a:solidFill>
                <a:latin typeface="Segoe UI"/>
              </a:rPr>
              <a:t>5 bytes of overhead - the schema itself never travels with the message</a:t>
            </a:r>
          </a:p>
        </p:txBody>
      </p:sp>
      <p:sp>
        <p:nvSpPr>
          <p:cNvPr id="33" name="a1f_codebg32"/>
          <p:cNvSpPr/>
          <p:nvPr/>
        </p:nvSpPr>
        <p:spPr>
          <a:xfrm>
            <a:off x="5257800" y="1280160"/>
            <a:ext cx="3429000" cy="1335024"/>
          </a:xfrm>
          <a:prstGeom prst="roundRect">
            <a:avLst>
              <a:gd name="adj" fmla="val 5479"/>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1f_codeh33"/>
          <p:cNvSpPr txBox="1"/>
          <p:nvPr/>
        </p:nvSpPr>
        <p:spPr>
          <a:xfrm>
            <a:off x="5385816" y="1335024"/>
            <a:ext cx="3172968" cy="219456"/>
          </a:xfrm>
          <a:prstGeom prst="rect">
            <a:avLst/>
          </a:prstGeom>
          <a:noFill/>
        </p:spPr>
        <p:txBody>
          <a:bodyPr wrap="square" lIns="0" tIns="0" rIns="0" bIns="0" anchor="ctr">
            <a:spAutoFit/>
          </a:bodyPr>
          <a:lstStyle/>
          <a:p>
            <a:pPr algn="l"/>
            <a:r>
              <a:rPr sz="950" b="1">
                <a:solidFill>
                  <a:srgbClr val="A8A29E"/>
                </a:solidFill>
                <a:latin typeface="Consolas"/>
              </a:rPr>
              <a:t>producer.properties</a:t>
            </a:r>
          </a:p>
        </p:txBody>
      </p:sp>
      <p:sp>
        <p:nvSpPr>
          <p:cNvPr id="35" name="a1f_codesep34"/>
          <p:cNvSpPr/>
          <p:nvPr/>
        </p:nvSpPr>
        <p:spPr>
          <a:xfrm>
            <a:off x="5385816" y="1609343"/>
            <a:ext cx="3172968"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1w_code35"/>
          <p:cNvSpPr txBox="1"/>
          <p:nvPr/>
        </p:nvSpPr>
        <p:spPr>
          <a:xfrm>
            <a:off x="5385816" y="1682495"/>
            <a:ext cx="3172968" cy="201168"/>
          </a:xfrm>
          <a:prstGeom prst="rect">
            <a:avLst/>
          </a:prstGeom>
          <a:noFill/>
        </p:spPr>
        <p:txBody>
          <a:bodyPr wrap="none" lIns="0" tIns="0" rIns="0" bIns="0" anchor="ctr">
            <a:spAutoFit/>
          </a:bodyPr>
          <a:lstStyle/>
          <a:p>
            <a:pPr algn="l"/>
            <a:r>
              <a:rPr sz="800" b="0">
                <a:solidFill>
                  <a:srgbClr val="E7E5E4"/>
                </a:solidFill>
                <a:latin typeface="Consolas"/>
              </a:rPr>
              <a:t>bootstrap.servers=broker1:9092</a:t>
            </a:r>
          </a:p>
        </p:txBody>
      </p:sp>
      <p:sp>
        <p:nvSpPr>
          <p:cNvPr id="37" name="a1wd90_code36"/>
          <p:cNvSpPr txBox="1"/>
          <p:nvPr/>
        </p:nvSpPr>
        <p:spPr>
          <a:xfrm>
            <a:off x="5385816" y="1883664"/>
            <a:ext cx="3172968" cy="201168"/>
          </a:xfrm>
          <a:prstGeom prst="rect">
            <a:avLst/>
          </a:prstGeom>
          <a:noFill/>
        </p:spPr>
        <p:txBody>
          <a:bodyPr wrap="none" lIns="0" tIns="0" rIns="0" bIns="0" anchor="ctr">
            <a:spAutoFit/>
          </a:bodyPr>
          <a:lstStyle/>
          <a:p>
            <a:pPr algn="l"/>
            <a:r>
              <a:rPr sz="800" b="0">
                <a:solidFill>
                  <a:srgbClr val="E7E5E4"/>
                </a:solidFill>
                <a:latin typeface="Consolas"/>
              </a:rPr>
              <a:t>key.serializer=...StringSerializer</a:t>
            </a:r>
          </a:p>
        </p:txBody>
      </p:sp>
      <p:sp>
        <p:nvSpPr>
          <p:cNvPr id="38" name="a1wd180_code37"/>
          <p:cNvSpPr txBox="1"/>
          <p:nvPr/>
        </p:nvSpPr>
        <p:spPr>
          <a:xfrm>
            <a:off x="5385816" y="2084831"/>
            <a:ext cx="3172968" cy="201168"/>
          </a:xfrm>
          <a:prstGeom prst="rect">
            <a:avLst/>
          </a:prstGeom>
          <a:noFill/>
        </p:spPr>
        <p:txBody>
          <a:bodyPr wrap="none" lIns="0" tIns="0" rIns="0" bIns="0" anchor="ctr">
            <a:spAutoFit/>
          </a:bodyPr>
          <a:lstStyle/>
          <a:p>
            <a:pPr algn="l"/>
            <a:r>
              <a:rPr sz="800" b="1">
                <a:solidFill>
                  <a:srgbClr val="FDBA74"/>
                </a:solidFill>
                <a:latin typeface="Consolas"/>
              </a:rPr>
              <a:t>value.serializer=...KafkaAvroSerializer</a:t>
            </a:r>
          </a:p>
        </p:txBody>
      </p:sp>
      <p:sp>
        <p:nvSpPr>
          <p:cNvPr id="39" name="a1wd270_code38"/>
          <p:cNvSpPr txBox="1"/>
          <p:nvPr/>
        </p:nvSpPr>
        <p:spPr>
          <a:xfrm>
            <a:off x="5385816" y="2286000"/>
            <a:ext cx="3172968" cy="201168"/>
          </a:xfrm>
          <a:prstGeom prst="rect">
            <a:avLst/>
          </a:prstGeom>
          <a:noFill/>
        </p:spPr>
        <p:txBody>
          <a:bodyPr wrap="none" lIns="0" tIns="0" rIns="0" bIns="0" anchor="ctr">
            <a:spAutoFit/>
          </a:bodyPr>
          <a:lstStyle/>
          <a:p>
            <a:pPr algn="l"/>
            <a:r>
              <a:rPr sz="800" b="1">
                <a:solidFill>
                  <a:srgbClr val="FDBA74"/>
                </a:solidFill>
                <a:latin typeface="Consolas"/>
              </a:rPr>
              <a:t>schema.registry.url=http://registry:8081</a:t>
            </a:r>
          </a:p>
        </p:txBody>
      </p:sp>
      <p:sp>
        <p:nvSpPr>
          <p:cNvPr id="40" name="a5u_dot39"/>
          <p:cNvSpPr/>
          <p:nvPr/>
        </p:nvSpPr>
        <p:spPr>
          <a:xfrm>
            <a:off x="5257800" y="286664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5u_b40"/>
          <p:cNvSpPr txBox="1"/>
          <p:nvPr/>
        </p:nvSpPr>
        <p:spPr>
          <a:xfrm>
            <a:off x="5477256" y="2770632"/>
            <a:ext cx="3209544" cy="420624"/>
          </a:xfrm>
          <a:prstGeom prst="rect">
            <a:avLst/>
          </a:prstGeom>
          <a:noFill/>
        </p:spPr>
        <p:txBody>
          <a:bodyPr wrap="square" lIns="0" tIns="0" rIns="0" bIns="0" anchor="t">
            <a:spAutoFit/>
          </a:bodyPr>
          <a:lstStyle/>
          <a:p>
            <a:pPr algn="l"/>
            <a:r>
              <a:rPr sz="850" b="1">
                <a:solidFill>
                  <a:srgbClr val="1C1917"/>
                </a:solidFill>
                <a:latin typeface="Segoe UI"/>
              </a:rPr>
              <a:t>Once per schema  </a:t>
            </a:r>
            <a:r>
              <a:rPr sz="850" b="0">
                <a:solidFill>
                  <a:srgbClr val="44403C"/>
                </a:solidFill>
                <a:latin typeface="Segoe UI"/>
              </a:rPr>
              <a:t>the id is cached - no REST call per message</a:t>
            </a:r>
          </a:p>
        </p:txBody>
      </p:sp>
      <p:sp>
        <p:nvSpPr>
          <p:cNvPr id="42" name="a5ud120_dot41"/>
          <p:cNvSpPr/>
          <p:nvPr/>
        </p:nvSpPr>
        <p:spPr>
          <a:xfrm>
            <a:off x="5257800" y="3323844"/>
            <a:ext cx="91440" cy="91440"/>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5ud120_b42"/>
          <p:cNvSpPr txBox="1"/>
          <p:nvPr/>
        </p:nvSpPr>
        <p:spPr>
          <a:xfrm>
            <a:off x="5477256" y="3227832"/>
            <a:ext cx="3209544" cy="420624"/>
          </a:xfrm>
          <a:prstGeom prst="rect">
            <a:avLst/>
          </a:prstGeom>
          <a:noFill/>
        </p:spPr>
        <p:txBody>
          <a:bodyPr wrap="square" lIns="0" tIns="0" rIns="0" bIns="0" anchor="t">
            <a:spAutoFit/>
          </a:bodyPr>
          <a:lstStyle/>
          <a:p>
            <a:pPr algn="l"/>
            <a:r>
              <a:rPr sz="850" b="1">
                <a:solidFill>
                  <a:srgbClr val="1C1917"/>
                </a:solidFill>
                <a:latin typeface="Segoe UI"/>
              </a:rPr>
              <a:t>Filed by subject  </a:t>
            </a:r>
            <a:r>
              <a:rPr sz="850" b="0">
                <a:solidFill>
                  <a:srgbClr val="44403C"/>
                </a:solidFill>
                <a:latin typeface="Segoe UI"/>
              </a:rPr>
              <a:t>here thermostat_readings-value</a:t>
            </a:r>
          </a:p>
        </p:txBody>
      </p:sp>
      <p:sp>
        <p:nvSpPr>
          <p:cNvPr id="44" name="a6u_nb43"/>
          <p:cNvSpPr/>
          <p:nvPr/>
        </p:nvSpPr>
        <p:spPr>
          <a:xfrm>
            <a:off x="457200" y="3886200"/>
            <a:ext cx="8229600" cy="566928"/>
          </a:xfrm>
          <a:prstGeom prst="roundRect">
            <a:avLst>
              <a:gd name="adj" fmla="val 12903"/>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6u_nacc44"/>
          <p:cNvSpPr/>
          <p:nvPr/>
        </p:nvSpPr>
        <p:spPr>
          <a:xfrm>
            <a:off x="457200" y="3886200"/>
            <a:ext cx="54864" cy="5669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a6u_nt45"/>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Every message names the schema that wrote it - so any consumer, even a brand-new one, can find out how to read it.</a:t>
            </a:r>
          </a:p>
        </p:txBody>
      </p:sp>
      <p:sp>
        <p:nvSpPr>
          <p:cNvPr id="47" name="ft46"/>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04</a:t>
            </a:r>
          </a:p>
        </p:txBody>
      </p:sp>
      <p:sp>
        <p:nvSpPr>
          <p:cNvPr id="48" name="ft47"/>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ft48"/>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50" name="ft49"/>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6" presetID="22" presetClass="entr" presetSubtype="8"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wipe(left)">
                                      <p:cBhvr>
                                        <p:cTn id="45" dur="500"/>
                                        <p:tgtEl>
                                          <p:spTgt spid="36"/>
                                        </p:tgtEl>
                                      </p:cBhvr>
                                    </p:animEffect>
                                  </p:childTnLst>
                                </p:cTn>
                              </p:par>
                              <p:par>
                                <p:cTn id="49" presetID="22" presetClass="entr" presetSubtype="8" fill="hold" grpId="0" nodeType="withEffect">
                                  <p:stCondLst>
                                    <p:cond delay="90"/>
                                  </p:stCondLst>
                                  <p:childTnLst>
                                    <p:set>
                                      <p:cBhvr>
                                        <p:cTn id="47" dur="1" fill="hold">
                                          <p:stCondLst>
                                            <p:cond delay="0"/>
                                          </p:stCondLst>
                                        </p:cTn>
                                        <p:tgtEl>
                                          <p:spTgt spid="37"/>
                                        </p:tgtEl>
                                        <p:attrNameLst>
                                          <p:attrName>style.visibility</p:attrName>
                                        </p:attrNameLst>
                                      </p:cBhvr>
                                      <p:to>
                                        <p:strVal val="visible"/>
                                      </p:to>
                                    </p:set>
                                    <p:animEffect transition="in" filter="wipe(left)">
                                      <p:cBhvr>
                                        <p:cTn id="48" dur="500"/>
                                        <p:tgtEl>
                                          <p:spTgt spid="37"/>
                                        </p:tgtEl>
                                      </p:cBhvr>
                                    </p:animEffect>
                                  </p:childTnLst>
                                </p:cTn>
                              </p:par>
                              <p:par>
                                <p:cTn id="52" presetID="22" presetClass="entr" presetSubtype="8" fill="hold" grpId="0" nodeType="withEffect">
                                  <p:stCondLst>
                                    <p:cond delay="180"/>
                                  </p:stCondLst>
                                  <p:childTnLst>
                                    <p:set>
                                      <p:cBhvr>
                                        <p:cTn id="50" dur="1" fill="hold">
                                          <p:stCondLst>
                                            <p:cond delay="0"/>
                                          </p:stCondLst>
                                        </p:cTn>
                                        <p:tgtEl>
                                          <p:spTgt spid="38"/>
                                        </p:tgtEl>
                                        <p:attrNameLst>
                                          <p:attrName>style.visibility</p:attrName>
                                        </p:attrNameLst>
                                      </p:cBhvr>
                                      <p:to>
                                        <p:strVal val="visible"/>
                                      </p:to>
                                    </p:set>
                                    <p:animEffect transition="in" filter="wipe(left)">
                                      <p:cBhvr>
                                        <p:cTn id="51" dur="500"/>
                                        <p:tgtEl>
                                          <p:spTgt spid="38"/>
                                        </p:tgtEl>
                                      </p:cBhvr>
                                    </p:animEffect>
                                  </p:childTnLst>
                                </p:cTn>
                              </p:par>
                              <p:par>
                                <p:cTn id="55" presetID="22" presetClass="entr" presetSubtype="8" fill="hold" grpId="0" nodeType="withEffect">
                                  <p:stCondLst>
                                    <p:cond delay="270"/>
                                  </p:stCondLst>
                                  <p:childTnLst>
                                    <p:set>
                                      <p:cBhvr>
                                        <p:cTn id="53" dur="1" fill="hold">
                                          <p:stCondLst>
                                            <p:cond delay="0"/>
                                          </p:stCondLst>
                                        </p:cTn>
                                        <p:tgtEl>
                                          <p:spTgt spid="39"/>
                                        </p:tgtEl>
                                        <p:attrNameLst>
                                          <p:attrName>style.visibility</p:attrName>
                                        </p:attrNameLst>
                                      </p:cBhvr>
                                      <p:to>
                                        <p:strVal val="visible"/>
                                      </p:to>
                                    </p:set>
                                    <p:animEffect transition="in" filter="wipe(left)">
                                      <p:cBhvr>
                                        <p:cTn id="54" dur="500"/>
                                        <p:tgtEl>
                                          <p:spTgt spid="39"/>
                                        </p:tgtEl>
                                      </p:cBhvr>
                                    </p:animEffect>
                                  </p:childTnLst>
                                </p:cTn>
                              </p:par>
                            </p:childTnLst>
                          </p:cTn>
                        </p:par>
                      </p:childTnLst>
                    </p:cTn>
                  </p:par>
                  <p:par>
                    <p:cTn id="56" fill="hold">
                      <p:stCondLst>
                        <p:cond delay="indefinite"/>
                      </p:stCondLst>
                      <p:childTnLst>
                        <p:par>
                          <p:cTn id="57" fill="hold">
                            <p:stCondLst>
                              <p:cond delay="0"/>
                            </p:stCondLst>
                            <p:childTnLst>
                              <p:par>
                                <p:cTn id="62" presetID="2" presetClass="entr" presetSubtype="4"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ppt_y+0.1"/>
                                          </p:val>
                                        </p:tav>
                                        <p:tav tm="100000">
                                          <p:val>
                                            <p:strVal val="#ppt_y"/>
                                          </p:val>
                                        </p:tav>
                                      </p:tavLst>
                                    </p:anim>
                                    <p:animEffect transition="in" filter="fade">
                                      <p:cBhvr>
                                        <p:cTn id="61" dur="500"/>
                                        <p:tgtEl>
                                          <p:spTgt spid="17"/>
                                        </p:tgtEl>
                                      </p:cBhvr>
                                    </p:animEffect>
                                  </p:childTnLst>
                                </p:cTn>
                              </p:par>
                              <p:par>
                                <p:cTn id="67" presetID="2" presetClass="entr" presetSubtype="4"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00" fill="hold"/>
                                        <p:tgtEl>
                                          <p:spTgt spid="18"/>
                                        </p:tgtEl>
                                        <p:attrNameLst>
                                          <p:attrName>ppt_x</p:attrName>
                                        </p:attrNameLst>
                                      </p:cBhvr>
                                      <p:tavLst>
                                        <p:tav tm="0">
                                          <p:val>
                                            <p:strVal val="#ppt_x"/>
                                          </p:val>
                                        </p:tav>
                                        <p:tav tm="100000">
                                          <p:val>
                                            <p:strVal val="#ppt_x"/>
                                          </p:val>
                                        </p:tav>
                                      </p:tavLst>
                                    </p:anim>
                                    <p:anim calcmode="lin" valueType="num">
                                      <p:cBhvr additive="base">
                                        <p:cTn id="65" dur="500" fill="hold"/>
                                        <p:tgtEl>
                                          <p:spTgt spid="18"/>
                                        </p:tgtEl>
                                        <p:attrNameLst>
                                          <p:attrName>ppt_y</p:attrName>
                                        </p:attrNameLst>
                                      </p:cBhvr>
                                      <p:tavLst>
                                        <p:tav tm="0">
                                          <p:val>
                                            <p:strVal val="#ppt_y+0.1"/>
                                          </p:val>
                                        </p:tav>
                                        <p:tav tm="100000">
                                          <p:val>
                                            <p:strVal val="#ppt_y"/>
                                          </p:val>
                                        </p:tav>
                                      </p:tavLst>
                                    </p:anim>
                                    <p:animEffect transition="in" filter="fade">
                                      <p:cBhvr>
                                        <p:cTn id="66"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4" presetID="2" presetClass="entr" presetSubtype="4"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ppt_x</p:attrName>
                                        </p:attrNameLst>
                                      </p:cBhvr>
                                      <p:tavLst>
                                        <p:tav tm="0">
                                          <p:val>
                                            <p:strVal val="#ppt_x"/>
                                          </p:val>
                                        </p:tav>
                                        <p:tav tm="100000">
                                          <p:val>
                                            <p:strVal val="#ppt_x"/>
                                          </p:val>
                                        </p:tav>
                                      </p:tavLst>
                                    </p:anim>
                                    <p:anim calcmode="lin" valueType="num">
                                      <p:cBhvr additive="base">
                                        <p:cTn id="72" dur="500" fill="hold"/>
                                        <p:tgtEl>
                                          <p:spTgt spid="19"/>
                                        </p:tgtEl>
                                        <p:attrNameLst>
                                          <p:attrName>ppt_y</p:attrName>
                                        </p:attrNameLst>
                                      </p:cBhvr>
                                      <p:tavLst>
                                        <p:tav tm="0">
                                          <p:val>
                                            <p:strVal val="#ppt_y+0.1"/>
                                          </p:val>
                                        </p:tav>
                                        <p:tav tm="100000">
                                          <p:val>
                                            <p:strVal val="#ppt_y"/>
                                          </p:val>
                                        </p:tav>
                                      </p:tavLst>
                                    </p:anim>
                                    <p:animEffect transition="in" filter="fade">
                                      <p:cBhvr>
                                        <p:cTn id="73" dur="500"/>
                                        <p:tgtEl>
                                          <p:spTgt spid="19"/>
                                        </p:tgtEl>
                                      </p:cBhvr>
                                    </p:animEffect>
                                  </p:childTnLst>
                                </p:cTn>
                              </p:par>
                              <p:par>
                                <p:cTn id="79" presetID="2" presetClass="entr" presetSubtype="4"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additive="base">
                                        <p:cTn id="76" dur="500" fill="hold"/>
                                        <p:tgtEl>
                                          <p:spTgt spid="20"/>
                                        </p:tgtEl>
                                        <p:attrNameLst>
                                          <p:attrName>ppt_x</p:attrName>
                                        </p:attrNameLst>
                                      </p:cBhvr>
                                      <p:tavLst>
                                        <p:tav tm="0">
                                          <p:val>
                                            <p:strVal val="#ppt_x"/>
                                          </p:val>
                                        </p:tav>
                                        <p:tav tm="100000">
                                          <p:val>
                                            <p:strVal val="#ppt_x"/>
                                          </p:val>
                                        </p:tav>
                                      </p:tavLst>
                                    </p:anim>
                                    <p:anim calcmode="lin" valueType="num">
                                      <p:cBhvr additive="base">
                                        <p:cTn id="77" dur="500" fill="hold"/>
                                        <p:tgtEl>
                                          <p:spTgt spid="20"/>
                                        </p:tgtEl>
                                        <p:attrNameLst>
                                          <p:attrName>ppt_y</p:attrName>
                                        </p:attrNameLst>
                                      </p:cBhvr>
                                      <p:tavLst>
                                        <p:tav tm="0">
                                          <p:val>
                                            <p:strVal val="#ppt_y+0.1"/>
                                          </p:val>
                                        </p:tav>
                                        <p:tav tm="100000">
                                          <p:val>
                                            <p:strVal val="#ppt_y"/>
                                          </p:val>
                                        </p:tav>
                                      </p:tavLst>
                                    </p:anim>
                                    <p:animEffect transition="in" filter="fade">
                                      <p:cBhvr>
                                        <p:cTn id="78" dur="500"/>
                                        <p:tgtEl>
                                          <p:spTgt spid="20"/>
                                        </p:tgtEl>
                                      </p:cBhvr>
                                    </p:animEffect>
                                  </p:childTnLst>
                                </p:cTn>
                              </p:par>
                            </p:childTnLst>
                          </p:cTn>
                        </p:par>
                      </p:childTnLst>
                    </p:cTn>
                  </p:par>
                  <p:par>
                    <p:cTn id="80" fill="hold">
                      <p:stCondLst>
                        <p:cond delay="indefinite"/>
                      </p:stCondLst>
                      <p:childTnLst>
                        <p:par>
                          <p:cTn id="81" fill="hold">
                            <p:stCondLst>
                              <p:cond delay="0"/>
                            </p:stCondLst>
                            <p:childTnLst>
                              <p:par>
                                <p:cTn id="86" presetID="2" presetClass="entr" presetSubtype="4"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additive="base">
                                        <p:cTn id="83" dur="500" fill="hold"/>
                                        <p:tgtEl>
                                          <p:spTgt spid="21"/>
                                        </p:tgtEl>
                                        <p:attrNameLst>
                                          <p:attrName>ppt_x</p:attrName>
                                        </p:attrNameLst>
                                      </p:cBhvr>
                                      <p:tavLst>
                                        <p:tav tm="0">
                                          <p:val>
                                            <p:strVal val="#ppt_x"/>
                                          </p:val>
                                        </p:tav>
                                        <p:tav tm="100000">
                                          <p:val>
                                            <p:strVal val="#ppt_x"/>
                                          </p:val>
                                        </p:tav>
                                      </p:tavLst>
                                    </p:anim>
                                    <p:anim calcmode="lin" valueType="num">
                                      <p:cBhvr additive="base">
                                        <p:cTn id="84" dur="500" fill="hold"/>
                                        <p:tgtEl>
                                          <p:spTgt spid="21"/>
                                        </p:tgtEl>
                                        <p:attrNameLst>
                                          <p:attrName>ppt_y</p:attrName>
                                        </p:attrNameLst>
                                      </p:cBhvr>
                                      <p:tavLst>
                                        <p:tav tm="0">
                                          <p:val>
                                            <p:strVal val="#ppt_y+0.1"/>
                                          </p:val>
                                        </p:tav>
                                        <p:tav tm="100000">
                                          <p:val>
                                            <p:strVal val="#ppt_y"/>
                                          </p:val>
                                        </p:tav>
                                      </p:tavLst>
                                    </p:anim>
                                    <p:animEffect transition="in" filter="fade">
                                      <p:cBhvr>
                                        <p:cTn id="85" dur="500"/>
                                        <p:tgtEl>
                                          <p:spTgt spid="21"/>
                                        </p:tgtEl>
                                      </p:cBhvr>
                                    </p:animEffect>
                                  </p:childTnLst>
                                </p:cTn>
                              </p:par>
                              <p:par>
                                <p:cTn id="91" presetID="2" presetClass="entr" presetSubtype="4"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500" fill="hold"/>
                                        <p:tgtEl>
                                          <p:spTgt spid="22"/>
                                        </p:tgtEl>
                                        <p:attrNameLst>
                                          <p:attrName>ppt_x</p:attrName>
                                        </p:attrNameLst>
                                      </p:cBhvr>
                                      <p:tavLst>
                                        <p:tav tm="0">
                                          <p:val>
                                            <p:strVal val="#ppt_x"/>
                                          </p:val>
                                        </p:tav>
                                        <p:tav tm="100000">
                                          <p:val>
                                            <p:strVal val="#ppt_x"/>
                                          </p:val>
                                        </p:tav>
                                      </p:tavLst>
                                    </p:anim>
                                    <p:anim calcmode="lin" valueType="num">
                                      <p:cBhvr additive="base">
                                        <p:cTn id="89" dur="500" fill="hold"/>
                                        <p:tgtEl>
                                          <p:spTgt spid="22"/>
                                        </p:tgtEl>
                                        <p:attrNameLst>
                                          <p:attrName>ppt_y</p:attrName>
                                        </p:attrNameLst>
                                      </p:cBhvr>
                                      <p:tavLst>
                                        <p:tav tm="0">
                                          <p:val>
                                            <p:strVal val="#ppt_y+0.1"/>
                                          </p:val>
                                        </p:tav>
                                        <p:tav tm="100000">
                                          <p:val>
                                            <p:strVal val="#ppt_y"/>
                                          </p:val>
                                        </p:tav>
                                      </p:tavLst>
                                    </p:anim>
                                    <p:animEffect transition="in" filter="fade">
                                      <p:cBhvr>
                                        <p:cTn id="90" dur="500"/>
                                        <p:tgtEl>
                                          <p:spTgt spid="22"/>
                                        </p:tgtEl>
                                      </p:cBhvr>
                                    </p:animEffect>
                                  </p:childTnLst>
                                </p:cTn>
                              </p:par>
                              <p:par>
                                <p:cTn id="94" presetID="22" presetClass="entr" presetSubtype="8" fill="hold" grpId="0" nodeType="withEffect">
                                  <p:stCondLst>
                                    <p:cond delay="100"/>
                                  </p:stCondLst>
                                  <p:childTnLst>
                                    <p:set>
                                      <p:cBhvr>
                                        <p:cTn id="92" dur="1" fill="hold">
                                          <p:stCondLst>
                                            <p:cond delay="0"/>
                                          </p:stCondLst>
                                        </p:cTn>
                                        <p:tgtEl>
                                          <p:spTgt spid="23"/>
                                        </p:tgtEl>
                                        <p:attrNameLst>
                                          <p:attrName>style.visibility</p:attrName>
                                        </p:attrNameLst>
                                      </p:cBhvr>
                                      <p:to>
                                        <p:strVal val="visible"/>
                                      </p:to>
                                    </p:set>
                                    <p:animEffect transition="in" filter="wipe(left)">
                                      <p:cBhvr>
                                        <p:cTn id="93" dur="500"/>
                                        <p:tgtEl>
                                          <p:spTgt spid="23"/>
                                        </p:tgtEl>
                                      </p:cBhvr>
                                    </p:animEffect>
                                  </p:childTnLst>
                                </p:cTn>
                              </p:par>
                              <p:par>
                                <p:cTn id="97" presetID="22" presetClass="entr" presetSubtype="8" fill="hold" grpId="0" nodeType="withEffect">
                                  <p:stCondLst>
                                    <p:cond delay="100"/>
                                  </p:stCondLst>
                                  <p:childTnLst>
                                    <p:set>
                                      <p:cBhvr>
                                        <p:cTn id="95" dur="1" fill="hold">
                                          <p:stCondLst>
                                            <p:cond delay="0"/>
                                          </p:stCondLst>
                                        </p:cTn>
                                        <p:tgtEl>
                                          <p:spTgt spid="24"/>
                                        </p:tgtEl>
                                        <p:attrNameLst>
                                          <p:attrName>style.visibility</p:attrName>
                                        </p:attrNameLst>
                                      </p:cBhvr>
                                      <p:to>
                                        <p:strVal val="visible"/>
                                      </p:to>
                                    </p:set>
                                    <p:animEffect transition="in" filter="wipe(left)">
                                      <p:cBhvr>
                                        <p:cTn id="96" dur="500"/>
                                        <p:tgtEl>
                                          <p:spTgt spid="24"/>
                                        </p:tgtEl>
                                      </p:cBhvr>
                                    </p:animEffect>
                                  </p:childTnLst>
                                </p:cTn>
                              </p:par>
                              <p:par>
                                <p:cTn id="100" presetID="22" presetClass="entr" presetSubtype="8" fill="hold" grpId="0" nodeType="withEffect">
                                  <p:stCondLst>
                                    <p:cond delay="100"/>
                                  </p:stCondLst>
                                  <p:childTnLst>
                                    <p:set>
                                      <p:cBhvr>
                                        <p:cTn id="98" dur="1" fill="hold">
                                          <p:stCondLst>
                                            <p:cond delay="0"/>
                                          </p:stCondLst>
                                        </p:cTn>
                                        <p:tgtEl>
                                          <p:spTgt spid="25"/>
                                        </p:tgtEl>
                                        <p:attrNameLst>
                                          <p:attrName>style.visibility</p:attrName>
                                        </p:attrNameLst>
                                      </p:cBhvr>
                                      <p:to>
                                        <p:strVal val="visible"/>
                                      </p:to>
                                    </p:set>
                                    <p:animEffect transition="in" filter="wipe(left)">
                                      <p:cBhvr>
                                        <p:cTn id="99" dur="500"/>
                                        <p:tgtEl>
                                          <p:spTgt spid="25"/>
                                        </p:tgtEl>
                                      </p:cBhvr>
                                    </p:animEffect>
                                  </p:childTnLst>
                                </p:cTn>
                              </p:par>
                              <p:par>
                                <p:cTn id="103" presetID="22" presetClass="entr" presetSubtype="8" fill="hold" grpId="0" nodeType="withEffect">
                                  <p:stCondLst>
                                    <p:cond delay="100"/>
                                  </p:stCondLst>
                                  <p:childTnLst>
                                    <p:set>
                                      <p:cBhvr>
                                        <p:cTn id="101" dur="1" fill="hold">
                                          <p:stCondLst>
                                            <p:cond delay="0"/>
                                          </p:stCondLst>
                                        </p:cTn>
                                        <p:tgtEl>
                                          <p:spTgt spid="26"/>
                                        </p:tgtEl>
                                        <p:attrNameLst>
                                          <p:attrName>style.visibility</p:attrName>
                                        </p:attrNameLst>
                                      </p:cBhvr>
                                      <p:to>
                                        <p:strVal val="visible"/>
                                      </p:to>
                                    </p:set>
                                    <p:animEffect transition="in" filter="wipe(left)">
                                      <p:cBhvr>
                                        <p:cTn id="102" dur="500"/>
                                        <p:tgtEl>
                                          <p:spTgt spid="26"/>
                                        </p:tgtEl>
                                      </p:cBhvr>
                                    </p:animEffect>
                                  </p:childTnLst>
                                </p:cTn>
                              </p:par>
                              <p:par>
                                <p:cTn id="106" presetID="22" presetClass="entr" presetSubtype="8" fill="hold" grpId="0" nodeType="withEffect">
                                  <p:stCondLst>
                                    <p:cond delay="100"/>
                                  </p:stCondLst>
                                  <p:childTnLst>
                                    <p:set>
                                      <p:cBhvr>
                                        <p:cTn id="104" dur="1" fill="hold">
                                          <p:stCondLst>
                                            <p:cond delay="0"/>
                                          </p:stCondLst>
                                        </p:cTn>
                                        <p:tgtEl>
                                          <p:spTgt spid="27"/>
                                        </p:tgtEl>
                                        <p:attrNameLst>
                                          <p:attrName>style.visibility</p:attrName>
                                        </p:attrNameLst>
                                      </p:cBhvr>
                                      <p:to>
                                        <p:strVal val="visible"/>
                                      </p:to>
                                    </p:set>
                                    <p:animEffect transition="in" filter="wipe(left)">
                                      <p:cBhvr>
                                        <p:cTn id="105" dur="500"/>
                                        <p:tgtEl>
                                          <p:spTgt spid="27"/>
                                        </p:tgtEl>
                                      </p:cBhvr>
                                    </p:animEffect>
                                  </p:childTnLst>
                                </p:cTn>
                              </p:par>
                              <p:par>
                                <p:cTn id="109" presetID="22" presetClass="entr" presetSubtype="8" fill="hold" grpId="0" nodeType="withEffect">
                                  <p:stCondLst>
                                    <p:cond delay="100"/>
                                  </p:stCondLst>
                                  <p:childTnLst>
                                    <p:set>
                                      <p:cBhvr>
                                        <p:cTn id="107" dur="1" fill="hold">
                                          <p:stCondLst>
                                            <p:cond delay="0"/>
                                          </p:stCondLst>
                                        </p:cTn>
                                        <p:tgtEl>
                                          <p:spTgt spid="28"/>
                                        </p:tgtEl>
                                        <p:attrNameLst>
                                          <p:attrName>style.visibility</p:attrName>
                                        </p:attrNameLst>
                                      </p:cBhvr>
                                      <p:to>
                                        <p:strVal val="visible"/>
                                      </p:to>
                                    </p:set>
                                    <p:animEffect transition="in" filter="wipe(left)">
                                      <p:cBhvr>
                                        <p:cTn id="108" dur="500"/>
                                        <p:tgtEl>
                                          <p:spTgt spid="28"/>
                                        </p:tgtEl>
                                      </p:cBhvr>
                                    </p:animEffect>
                                  </p:childTnLst>
                                </p:cTn>
                              </p:par>
                              <p:par>
                                <p:cTn id="114" presetID="2" presetClass="entr" presetSubtype="4" fill="hold" grpId="0" nodeType="withEffect">
                                  <p:stCondLst>
                                    <p:cond delay="30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ppt_x</p:attrName>
                                        </p:attrNameLst>
                                      </p:cBhvr>
                                      <p:tavLst>
                                        <p:tav tm="0">
                                          <p:val>
                                            <p:strVal val="#ppt_x"/>
                                          </p:val>
                                        </p:tav>
                                        <p:tav tm="100000">
                                          <p:val>
                                            <p:strVal val="#ppt_x"/>
                                          </p:val>
                                        </p:tav>
                                      </p:tavLst>
                                    </p:anim>
                                    <p:anim calcmode="lin" valueType="num">
                                      <p:cBhvr additive="base">
                                        <p:cTn id="112" dur="500" fill="hold"/>
                                        <p:tgtEl>
                                          <p:spTgt spid="29"/>
                                        </p:tgtEl>
                                        <p:attrNameLst>
                                          <p:attrName>ppt_y</p:attrName>
                                        </p:attrNameLst>
                                      </p:cBhvr>
                                      <p:tavLst>
                                        <p:tav tm="0">
                                          <p:val>
                                            <p:strVal val="#ppt_y+0.1"/>
                                          </p:val>
                                        </p:tav>
                                        <p:tav tm="100000">
                                          <p:val>
                                            <p:strVal val="#ppt_y"/>
                                          </p:val>
                                        </p:tav>
                                      </p:tavLst>
                                    </p:anim>
                                    <p:animEffect transition="in" filter="fade">
                                      <p:cBhvr>
                                        <p:cTn id="113" dur="500"/>
                                        <p:tgtEl>
                                          <p:spTgt spid="29"/>
                                        </p:tgtEl>
                                      </p:cBhvr>
                                    </p:animEffect>
                                  </p:childTnLst>
                                </p:cTn>
                              </p:par>
                              <p:par>
                                <p:cTn id="119" presetID="2" presetClass="entr" presetSubtype="4" fill="hold" grpId="0" nodeType="withEffect">
                                  <p:stCondLst>
                                    <p:cond delay="300"/>
                                  </p:stCondLst>
                                  <p:childTnLst>
                                    <p:set>
                                      <p:cBhvr>
                                        <p:cTn id="115" dur="1" fill="hold">
                                          <p:stCondLst>
                                            <p:cond delay="0"/>
                                          </p:stCondLst>
                                        </p:cTn>
                                        <p:tgtEl>
                                          <p:spTgt spid="30"/>
                                        </p:tgtEl>
                                        <p:attrNameLst>
                                          <p:attrName>style.visibility</p:attrName>
                                        </p:attrNameLst>
                                      </p:cBhvr>
                                      <p:to>
                                        <p:strVal val="visible"/>
                                      </p:to>
                                    </p:set>
                                    <p:anim calcmode="lin" valueType="num">
                                      <p:cBhvr additive="base">
                                        <p:cTn id="116" dur="500" fill="hold"/>
                                        <p:tgtEl>
                                          <p:spTgt spid="30"/>
                                        </p:tgtEl>
                                        <p:attrNameLst>
                                          <p:attrName>ppt_x</p:attrName>
                                        </p:attrNameLst>
                                      </p:cBhvr>
                                      <p:tavLst>
                                        <p:tav tm="0">
                                          <p:val>
                                            <p:strVal val="#ppt_x"/>
                                          </p:val>
                                        </p:tav>
                                        <p:tav tm="100000">
                                          <p:val>
                                            <p:strVal val="#ppt_x"/>
                                          </p:val>
                                        </p:tav>
                                      </p:tavLst>
                                    </p:anim>
                                    <p:anim calcmode="lin" valueType="num">
                                      <p:cBhvr additive="base">
                                        <p:cTn id="117" dur="500" fill="hold"/>
                                        <p:tgtEl>
                                          <p:spTgt spid="30"/>
                                        </p:tgtEl>
                                        <p:attrNameLst>
                                          <p:attrName>ppt_y</p:attrName>
                                        </p:attrNameLst>
                                      </p:cBhvr>
                                      <p:tavLst>
                                        <p:tav tm="0">
                                          <p:val>
                                            <p:strVal val="#ppt_y+0.1"/>
                                          </p:val>
                                        </p:tav>
                                        <p:tav tm="100000">
                                          <p:val>
                                            <p:strVal val="#ppt_y"/>
                                          </p:val>
                                        </p:tav>
                                      </p:tavLst>
                                    </p:anim>
                                    <p:animEffect transition="in" filter="fade">
                                      <p:cBhvr>
                                        <p:cTn id="118" dur="500"/>
                                        <p:tgtEl>
                                          <p:spTgt spid="30"/>
                                        </p:tgtEl>
                                      </p:cBhvr>
                                    </p:animEffect>
                                  </p:childTnLst>
                                </p:cTn>
                              </p:par>
                              <p:par>
                                <p:cTn id="124" presetID="2" presetClass="entr" presetSubtype="4" fill="hold" grpId="0" nodeType="withEffect">
                                  <p:stCondLst>
                                    <p:cond delay="300"/>
                                  </p:stCondLst>
                                  <p:childTnLst>
                                    <p:set>
                                      <p:cBhvr>
                                        <p:cTn id="120" dur="1" fill="hold">
                                          <p:stCondLst>
                                            <p:cond delay="0"/>
                                          </p:stCondLst>
                                        </p:cTn>
                                        <p:tgtEl>
                                          <p:spTgt spid="31"/>
                                        </p:tgtEl>
                                        <p:attrNameLst>
                                          <p:attrName>style.visibility</p:attrName>
                                        </p:attrNameLst>
                                      </p:cBhvr>
                                      <p:to>
                                        <p:strVal val="visible"/>
                                      </p:to>
                                    </p:set>
                                    <p:anim calcmode="lin" valueType="num">
                                      <p:cBhvr additive="base">
                                        <p:cTn id="121" dur="500" fill="hold"/>
                                        <p:tgtEl>
                                          <p:spTgt spid="31"/>
                                        </p:tgtEl>
                                        <p:attrNameLst>
                                          <p:attrName>ppt_x</p:attrName>
                                        </p:attrNameLst>
                                      </p:cBhvr>
                                      <p:tavLst>
                                        <p:tav tm="0">
                                          <p:val>
                                            <p:strVal val="#ppt_x"/>
                                          </p:val>
                                        </p:tav>
                                        <p:tav tm="100000">
                                          <p:val>
                                            <p:strVal val="#ppt_x"/>
                                          </p:val>
                                        </p:tav>
                                      </p:tavLst>
                                    </p:anim>
                                    <p:anim calcmode="lin" valueType="num">
                                      <p:cBhvr additive="base">
                                        <p:cTn id="122" dur="500" fill="hold"/>
                                        <p:tgtEl>
                                          <p:spTgt spid="31"/>
                                        </p:tgtEl>
                                        <p:attrNameLst>
                                          <p:attrName>ppt_y</p:attrName>
                                        </p:attrNameLst>
                                      </p:cBhvr>
                                      <p:tavLst>
                                        <p:tav tm="0">
                                          <p:val>
                                            <p:strVal val="#ppt_y+0.1"/>
                                          </p:val>
                                        </p:tav>
                                        <p:tav tm="100000">
                                          <p:val>
                                            <p:strVal val="#ppt_y"/>
                                          </p:val>
                                        </p:tav>
                                      </p:tavLst>
                                    </p:anim>
                                    <p:animEffect transition="in" filter="fade">
                                      <p:cBhvr>
                                        <p:cTn id="123" dur="500"/>
                                        <p:tgtEl>
                                          <p:spTgt spid="31"/>
                                        </p:tgtEl>
                                      </p:cBhvr>
                                    </p:animEffect>
                                  </p:childTnLst>
                                </p:cTn>
                              </p:par>
                            </p:childTnLst>
                          </p:cTn>
                        </p:par>
                      </p:childTnLst>
                    </p:cTn>
                  </p:par>
                  <p:par>
                    <p:cTn id="125" fill="hold">
                      <p:stCondLst>
                        <p:cond delay="indefinite"/>
                      </p:stCondLst>
                      <p:childTnLst>
                        <p:par>
                          <p:cTn id="126" fill="hold">
                            <p:stCondLst>
                              <p:cond delay="0"/>
                            </p:stCondLst>
                            <p:childTnLst>
                              <p:par>
                                <p:cTn id="131" presetID="2" presetClass="entr" presetSubtype="4" fill="hold" grpId="0" nodeType="clickEffect">
                                  <p:stCondLst>
                                    <p:cond delay="0"/>
                                  </p:stCondLst>
                                  <p:childTnLst>
                                    <p:set>
                                      <p:cBhvr>
                                        <p:cTn id="127" dur="1" fill="hold">
                                          <p:stCondLst>
                                            <p:cond delay="0"/>
                                          </p:stCondLst>
                                        </p:cTn>
                                        <p:tgtEl>
                                          <p:spTgt spid="32"/>
                                        </p:tgtEl>
                                        <p:attrNameLst>
                                          <p:attrName>style.visibility</p:attrName>
                                        </p:attrNameLst>
                                      </p:cBhvr>
                                      <p:to>
                                        <p:strVal val="visible"/>
                                      </p:to>
                                    </p:set>
                                    <p:anim calcmode="lin" valueType="num">
                                      <p:cBhvr additive="base">
                                        <p:cTn id="128" dur="500" fill="hold"/>
                                        <p:tgtEl>
                                          <p:spTgt spid="32"/>
                                        </p:tgtEl>
                                        <p:attrNameLst>
                                          <p:attrName>ppt_x</p:attrName>
                                        </p:attrNameLst>
                                      </p:cBhvr>
                                      <p:tavLst>
                                        <p:tav tm="0">
                                          <p:val>
                                            <p:strVal val="#ppt_x"/>
                                          </p:val>
                                        </p:tav>
                                        <p:tav tm="100000">
                                          <p:val>
                                            <p:strVal val="#ppt_x"/>
                                          </p:val>
                                        </p:tav>
                                      </p:tavLst>
                                    </p:anim>
                                    <p:anim calcmode="lin" valueType="num">
                                      <p:cBhvr additive="base">
                                        <p:cTn id="129" dur="500" fill="hold"/>
                                        <p:tgtEl>
                                          <p:spTgt spid="32"/>
                                        </p:tgtEl>
                                        <p:attrNameLst>
                                          <p:attrName>ppt_y</p:attrName>
                                        </p:attrNameLst>
                                      </p:cBhvr>
                                      <p:tavLst>
                                        <p:tav tm="0">
                                          <p:val>
                                            <p:strVal val="#ppt_y+0.1"/>
                                          </p:val>
                                        </p:tav>
                                        <p:tav tm="100000">
                                          <p:val>
                                            <p:strVal val="#ppt_y"/>
                                          </p:val>
                                        </p:tav>
                                      </p:tavLst>
                                    </p:anim>
                                    <p:animEffect transition="in" filter="fade">
                                      <p:cBhvr>
                                        <p:cTn id="130" dur="500"/>
                                        <p:tgtEl>
                                          <p:spTgt spid="32"/>
                                        </p:tgtEl>
                                      </p:cBhvr>
                                    </p:animEffect>
                                  </p:childTnLst>
                                </p:cTn>
                              </p:par>
                              <p:par>
                                <p:cTn id="136" presetID="2" presetClass="entr" presetSubtype="4" fill="hold" grpId="0" nodeType="withEffect">
                                  <p:stCondLst>
                                    <p:cond delay="0"/>
                                  </p:stCondLst>
                                  <p:childTnLst>
                                    <p:set>
                                      <p:cBhvr>
                                        <p:cTn id="132" dur="1" fill="hold">
                                          <p:stCondLst>
                                            <p:cond delay="0"/>
                                          </p:stCondLst>
                                        </p:cTn>
                                        <p:tgtEl>
                                          <p:spTgt spid="40"/>
                                        </p:tgtEl>
                                        <p:attrNameLst>
                                          <p:attrName>style.visibility</p:attrName>
                                        </p:attrNameLst>
                                      </p:cBhvr>
                                      <p:to>
                                        <p:strVal val="visible"/>
                                      </p:to>
                                    </p:set>
                                    <p:anim calcmode="lin" valueType="num">
                                      <p:cBhvr additive="base">
                                        <p:cTn id="133" dur="500" fill="hold"/>
                                        <p:tgtEl>
                                          <p:spTgt spid="40"/>
                                        </p:tgtEl>
                                        <p:attrNameLst>
                                          <p:attrName>ppt_x</p:attrName>
                                        </p:attrNameLst>
                                      </p:cBhvr>
                                      <p:tavLst>
                                        <p:tav tm="0">
                                          <p:val>
                                            <p:strVal val="#ppt_x"/>
                                          </p:val>
                                        </p:tav>
                                        <p:tav tm="100000">
                                          <p:val>
                                            <p:strVal val="#ppt_x"/>
                                          </p:val>
                                        </p:tav>
                                      </p:tavLst>
                                    </p:anim>
                                    <p:anim calcmode="lin" valueType="num">
                                      <p:cBhvr additive="base">
                                        <p:cTn id="134" dur="500" fill="hold"/>
                                        <p:tgtEl>
                                          <p:spTgt spid="40"/>
                                        </p:tgtEl>
                                        <p:attrNameLst>
                                          <p:attrName>ppt_y</p:attrName>
                                        </p:attrNameLst>
                                      </p:cBhvr>
                                      <p:tavLst>
                                        <p:tav tm="0">
                                          <p:val>
                                            <p:strVal val="#ppt_y+0.1"/>
                                          </p:val>
                                        </p:tav>
                                        <p:tav tm="100000">
                                          <p:val>
                                            <p:strVal val="#ppt_y"/>
                                          </p:val>
                                        </p:tav>
                                      </p:tavLst>
                                    </p:anim>
                                    <p:animEffect transition="in" filter="fade">
                                      <p:cBhvr>
                                        <p:cTn id="135" dur="500"/>
                                        <p:tgtEl>
                                          <p:spTgt spid="40"/>
                                        </p:tgtEl>
                                      </p:cBhvr>
                                    </p:animEffect>
                                  </p:childTnLst>
                                </p:cTn>
                              </p:par>
                              <p:par>
                                <p:cTn id="141" presetID="2" presetClass="entr" presetSubtype="4" fill="hold" grpId="0" nodeType="withEffect">
                                  <p:stCondLst>
                                    <p:cond delay="0"/>
                                  </p:stCondLst>
                                  <p:childTnLst>
                                    <p:set>
                                      <p:cBhvr>
                                        <p:cTn id="137" dur="1" fill="hold">
                                          <p:stCondLst>
                                            <p:cond delay="0"/>
                                          </p:stCondLst>
                                        </p:cTn>
                                        <p:tgtEl>
                                          <p:spTgt spid="41"/>
                                        </p:tgtEl>
                                        <p:attrNameLst>
                                          <p:attrName>style.visibility</p:attrName>
                                        </p:attrNameLst>
                                      </p:cBhvr>
                                      <p:to>
                                        <p:strVal val="visible"/>
                                      </p:to>
                                    </p:set>
                                    <p:anim calcmode="lin" valueType="num">
                                      <p:cBhvr additive="base">
                                        <p:cTn id="138" dur="500" fill="hold"/>
                                        <p:tgtEl>
                                          <p:spTgt spid="41"/>
                                        </p:tgtEl>
                                        <p:attrNameLst>
                                          <p:attrName>ppt_x</p:attrName>
                                        </p:attrNameLst>
                                      </p:cBhvr>
                                      <p:tavLst>
                                        <p:tav tm="0">
                                          <p:val>
                                            <p:strVal val="#ppt_x"/>
                                          </p:val>
                                        </p:tav>
                                        <p:tav tm="100000">
                                          <p:val>
                                            <p:strVal val="#ppt_x"/>
                                          </p:val>
                                        </p:tav>
                                      </p:tavLst>
                                    </p:anim>
                                    <p:anim calcmode="lin" valueType="num">
                                      <p:cBhvr additive="base">
                                        <p:cTn id="139" dur="500" fill="hold"/>
                                        <p:tgtEl>
                                          <p:spTgt spid="41"/>
                                        </p:tgtEl>
                                        <p:attrNameLst>
                                          <p:attrName>ppt_y</p:attrName>
                                        </p:attrNameLst>
                                      </p:cBhvr>
                                      <p:tavLst>
                                        <p:tav tm="0">
                                          <p:val>
                                            <p:strVal val="#ppt_y+0.1"/>
                                          </p:val>
                                        </p:tav>
                                        <p:tav tm="100000">
                                          <p:val>
                                            <p:strVal val="#ppt_y"/>
                                          </p:val>
                                        </p:tav>
                                      </p:tavLst>
                                    </p:anim>
                                    <p:animEffect transition="in" filter="fade">
                                      <p:cBhvr>
                                        <p:cTn id="140" dur="500"/>
                                        <p:tgtEl>
                                          <p:spTgt spid="41"/>
                                        </p:tgtEl>
                                      </p:cBhvr>
                                    </p:animEffect>
                                  </p:childTnLst>
                                </p:cTn>
                              </p:par>
                              <p:par>
                                <p:cTn id="146" presetID="2" presetClass="entr" presetSubtype="4" fill="hold" grpId="0" nodeType="withEffect">
                                  <p:stCondLst>
                                    <p:cond delay="120"/>
                                  </p:stCondLst>
                                  <p:childTnLst>
                                    <p:set>
                                      <p:cBhvr>
                                        <p:cTn id="142" dur="1" fill="hold">
                                          <p:stCondLst>
                                            <p:cond delay="0"/>
                                          </p:stCondLst>
                                        </p:cTn>
                                        <p:tgtEl>
                                          <p:spTgt spid="42"/>
                                        </p:tgtEl>
                                        <p:attrNameLst>
                                          <p:attrName>style.visibility</p:attrName>
                                        </p:attrNameLst>
                                      </p:cBhvr>
                                      <p:to>
                                        <p:strVal val="visible"/>
                                      </p:to>
                                    </p:set>
                                    <p:anim calcmode="lin" valueType="num">
                                      <p:cBhvr additive="base">
                                        <p:cTn id="143" dur="500" fill="hold"/>
                                        <p:tgtEl>
                                          <p:spTgt spid="42"/>
                                        </p:tgtEl>
                                        <p:attrNameLst>
                                          <p:attrName>ppt_x</p:attrName>
                                        </p:attrNameLst>
                                      </p:cBhvr>
                                      <p:tavLst>
                                        <p:tav tm="0">
                                          <p:val>
                                            <p:strVal val="#ppt_x"/>
                                          </p:val>
                                        </p:tav>
                                        <p:tav tm="100000">
                                          <p:val>
                                            <p:strVal val="#ppt_x"/>
                                          </p:val>
                                        </p:tav>
                                      </p:tavLst>
                                    </p:anim>
                                    <p:anim calcmode="lin" valueType="num">
                                      <p:cBhvr additive="base">
                                        <p:cTn id="144" dur="500" fill="hold"/>
                                        <p:tgtEl>
                                          <p:spTgt spid="42"/>
                                        </p:tgtEl>
                                        <p:attrNameLst>
                                          <p:attrName>ppt_y</p:attrName>
                                        </p:attrNameLst>
                                      </p:cBhvr>
                                      <p:tavLst>
                                        <p:tav tm="0">
                                          <p:val>
                                            <p:strVal val="#ppt_y+0.1"/>
                                          </p:val>
                                        </p:tav>
                                        <p:tav tm="100000">
                                          <p:val>
                                            <p:strVal val="#ppt_y"/>
                                          </p:val>
                                        </p:tav>
                                      </p:tavLst>
                                    </p:anim>
                                    <p:animEffect transition="in" filter="fade">
                                      <p:cBhvr>
                                        <p:cTn id="145" dur="500"/>
                                        <p:tgtEl>
                                          <p:spTgt spid="42"/>
                                        </p:tgtEl>
                                      </p:cBhvr>
                                    </p:animEffect>
                                  </p:childTnLst>
                                </p:cTn>
                              </p:par>
                              <p:par>
                                <p:cTn id="151" presetID="2" presetClass="entr" presetSubtype="4" fill="hold" grpId="0" nodeType="withEffect">
                                  <p:stCondLst>
                                    <p:cond delay="120"/>
                                  </p:stCondLst>
                                  <p:childTnLst>
                                    <p:set>
                                      <p:cBhvr>
                                        <p:cTn id="147" dur="1" fill="hold">
                                          <p:stCondLst>
                                            <p:cond delay="0"/>
                                          </p:stCondLst>
                                        </p:cTn>
                                        <p:tgtEl>
                                          <p:spTgt spid="43"/>
                                        </p:tgtEl>
                                        <p:attrNameLst>
                                          <p:attrName>style.visibility</p:attrName>
                                        </p:attrNameLst>
                                      </p:cBhvr>
                                      <p:to>
                                        <p:strVal val="visible"/>
                                      </p:to>
                                    </p:set>
                                    <p:anim calcmode="lin" valueType="num">
                                      <p:cBhvr additive="base">
                                        <p:cTn id="148" dur="500" fill="hold"/>
                                        <p:tgtEl>
                                          <p:spTgt spid="43"/>
                                        </p:tgtEl>
                                        <p:attrNameLst>
                                          <p:attrName>ppt_x</p:attrName>
                                        </p:attrNameLst>
                                      </p:cBhvr>
                                      <p:tavLst>
                                        <p:tav tm="0">
                                          <p:val>
                                            <p:strVal val="#ppt_x"/>
                                          </p:val>
                                        </p:tav>
                                        <p:tav tm="100000">
                                          <p:val>
                                            <p:strVal val="#ppt_x"/>
                                          </p:val>
                                        </p:tav>
                                      </p:tavLst>
                                    </p:anim>
                                    <p:anim calcmode="lin" valueType="num">
                                      <p:cBhvr additive="base">
                                        <p:cTn id="149" dur="500" fill="hold"/>
                                        <p:tgtEl>
                                          <p:spTgt spid="43"/>
                                        </p:tgtEl>
                                        <p:attrNameLst>
                                          <p:attrName>ppt_y</p:attrName>
                                        </p:attrNameLst>
                                      </p:cBhvr>
                                      <p:tavLst>
                                        <p:tav tm="0">
                                          <p:val>
                                            <p:strVal val="#ppt_y+0.1"/>
                                          </p:val>
                                        </p:tav>
                                        <p:tav tm="100000">
                                          <p:val>
                                            <p:strVal val="#ppt_y"/>
                                          </p:val>
                                        </p:tav>
                                      </p:tavLst>
                                    </p:anim>
                                    <p:animEffect transition="in" filter="fade">
                                      <p:cBhvr>
                                        <p:cTn id="150" dur="500"/>
                                        <p:tgtEl>
                                          <p:spTgt spid="43"/>
                                        </p:tgtEl>
                                      </p:cBhvr>
                                    </p:animEffect>
                                  </p:childTnLst>
                                </p:cTn>
                              </p:par>
                            </p:childTnLst>
                          </p:cTn>
                        </p:par>
                      </p:childTnLst>
                    </p:cTn>
                  </p:par>
                  <p:par>
                    <p:cTn id="152" fill="hold">
                      <p:stCondLst>
                        <p:cond delay="indefinite"/>
                      </p:stCondLst>
                      <p:childTnLst>
                        <p:par>
                          <p:cTn id="153" fill="hold">
                            <p:stCondLst>
                              <p:cond delay="0"/>
                            </p:stCondLst>
                            <p:childTnLst>
                              <p:par>
                                <p:cTn id="158" presetID="2" presetClass="entr" presetSubtype="4" fill="hold" grpId="0" nodeType="clickEffect">
                                  <p:stCondLst>
                                    <p:cond delay="0"/>
                                  </p:stCondLst>
                                  <p:childTnLst>
                                    <p:set>
                                      <p:cBhvr>
                                        <p:cTn id="154" dur="1" fill="hold">
                                          <p:stCondLst>
                                            <p:cond delay="0"/>
                                          </p:stCondLst>
                                        </p:cTn>
                                        <p:tgtEl>
                                          <p:spTgt spid="44"/>
                                        </p:tgtEl>
                                        <p:attrNameLst>
                                          <p:attrName>style.visibility</p:attrName>
                                        </p:attrNameLst>
                                      </p:cBhvr>
                                      <p:to>
                                        <p:strVal val="visible"/>
                                      </p:to>
                                    </p:set>
                                    <p:anim calcmode="lin" valueType="num">
                                      <p:cBhvr additive="base">
                                        <p:cTn id="155" dur="500" fill="hold"/>
                                        <p:tgtEl>
                                          <p:spTgt spid="44"/>
                                        </p:tgtEl>
                                        <p:attrNameLst>
                                          <p:attrName>ppt_x</p:attrName>
                                        </p:attrNameLst>
                                      </p:cBhvr>
                                      <p:tavLst>
                                        <p:tav tm="0">
                                          <p:val>
                                            <p:strVal val="#ppt_x"/>
                                          </p:val>
                                        </p:tav>
                                        <p:tav tm="100000">
                                          <p:val>
                                            <p:strVal val="#ppt_x"/>
                                          </p:val>
                                        </p:tav>
                                      </p:tavLst>
                                    </p:anim>
                                    <p:anim calcmode="lin" valueType="num">
                                      <p:cBhvr additive="base">
                                        <p:cTn id="156" dur="500" fill="hold"/>
                                        <p:tgtEl>
                                          <p:spTgt spid="44"/>
                                        </p:tgtEl>
                                        <p:attrNameLst>
                                          <p:attrName>ppt_y</p:attrName>
                                        </p:attrNameLst>
                                      </p:cBhvr>
                                      <p:tavLst>
                                        <p:tav tm="0">
                                          <p:val>
                                            <p:strVal val="#ppt_y+0.1"/>
                                          </p:val>
                                        </p:tav>
                                        <p:tav tm="100000">
                                          <p:val>
                                            <p:strVal val="#ppt_y"/>
                                          </p:val>
                                        </p:tav>
                                      </p:tavLst>
                                    </p:anim>
                                    <p:animEffect transition="in" filter="fade">
                                      <p:cBhvr>
                                        <p:cTn id="157" dur="500"/>
                                        <p:tgtEl>
                                          <p:spTgt spid="44"/>
                                        </p:tgtEl>
                                      </p:cBhvr>
                                    </p:animEffect>
                                  </p:childTnLst>
                                </p:cTn>
                              </p:par>
                              <p:par>
                                <p:cTn id="163" presetID="2" presetClass="entr" presetSubtype="4" fill="hold" grpId="0" nodeType="withEffect">
                                  <p:stCondLst>
                                    <p:cond delay="0"/>
                                  </p:stCondLst>
                                  <p:childTnLst>
                                    <p:set>
                                      <p:cBhvr>
                                        <p:cTn id="159" dur="1" fill="hold">
                                          <p:stCondLst>
                                            <p:cond delay="0"/>
                                          </p:stCondLst>
                                        </p:cTn>
                                        <p:tgtEl>
                                          <p:spTgt spid="45"/>
                                        </p:tgtEl>
                                        <p:attrNameLst>
                                          <p:attrName>style.visibility</p:attrName>
                                        </p:attrNameLst>
                                      </p:cBhvr>
                                      <p:to>
                                        <p:strVal val="visible"/>
                                      </p:to>
                                    </p:set>
                                    <p:anim calcmode="lin" valueType="num">
                                      <p:cBhvr additive="base">
                                        <p:cTn id="160" dur="500" fill="hold"/>
                                        <p:tgtEl>
                                          <p:spTgt spid="45"/>
                                        </p:tgtEl>
                                        <p:attrNameLst>
                                          <p:attrName>ppt_x</p:attrName>
                                        </p:attrNameLst>
                                      </p:cBhvr>
                                      <p:tavLst>
                                        <p:tav tm="0">
                                          <p:val>
                                            <p:strVal val="#ppt_x"/>
                                          </p:val>
                                        </p:tav>
                                        <p:tav tm="100000">
                                          <p:val>
                                            <p:strVal val="#ppt_x"/>
                                          </p:val>
                                        </p:tav>
                                      </p:tavLst>
                                    </p:anim>
                                    <p:anim calcmode="lin" valueType="num">
                                      <p:cBhvr additive="base">
                                        <p:cTn id="161" dur="500" fill="hold"/>
                                        <p:tgtEl>
                                          <p:spTgt spid="45"/>
                                        </p:tgtEl>
                                        <p:attrNameLst>
                                          <p:attrName>ppt_y</p:attrName>
                                        </p:attrNameLst>
                                      </p:cBhvr>
                                      <p:tavLst>
                                        <p:tav tm="0">
                                          <p:val>
                                            <p:strVal val="#ppt_y+0.1"/>
                                          </p:val>
                                        </p:tav>
                                        <p:tav tm="100000">
                                          <p:val>
                                            <p:strVal val="#ppt_y"/>
                                          </p:val>
                                        </p:tav>
                                      </p:tavLst>
                                    </p:anim>
                                    <p:animEffect transition="in" filter="fade">
                                      <p:cBhvr>
                                        <p:cTn id="162" dur="500"/>
                                        <p:tgtEl>
                                          <p:spTgt spid="45"/>
                                        </p:tgtEl>
                                      </p:cBhvr>
                                    </p:animEffect>
                                  </p:childTnLst>
                                </p:cTn>
                              </p:par>
                              <p:par>
                                <p:cTn id="168" presetID="2" presetClass="entr" presetSubtype="4" fill="hold" grpId="0" nodeType="withEffect">
                                  <p:stCondLst>
                                    <p:cond delay="0"/>
                                  </p:stCondLst>
                                  <p:childTnLst>
                                    <p:set>
                                      <p:cBhvr>
                                        <p:cTn id="164" dur="1" fill="hold">
                                          <p:stCondLst>
                                            <p:cond delay="0"/>
                                          </p:stCondLst>
                                        </p:cTn>
                                        <p:tgtEl>
                                          <p:spTgt spid="46"/>
                                        </p:tgtEl>
                                        <p:attrNameLst>
                                          <p:attrName>style.visibility</p:attrName>
                                        </p:attrNameLst>
                                      </p:cBhvr>
                                      <p:to>
                                        <p:strVal val="visible"/>
                                      </p:to>
                                    </p:set>
                                    <p:anim calcmode="lin" valueType="num">
                                      <p:cBhvr additive="base">
                                        <p:cTn id="165" dur="500" fill="hold"/>
                                        <p:tgtEl>
                                          <p:spTgt spid="46"/>
                                        </p:tgtEl>
                                        <p:attrNameLst>
                                          <p:attrName>ppt_x</p:attrName>
                                        </p:attrNameLst>
                                      </p:cBhvr>
                                      <p:tavLst>
                                        <p:tav tm="0">
                                          <p:val>
                                            <p:strVal val="#ppt_x"/>
                                          </p:val>
                                        </p:tav>
                                        <p:tav tm="100000">
                                          <p:val>
                                            <p:strVal val="#ppt_x"/>
                                          </p:val>
                                        </p:tav>
                                      </p:tavLst>
                                    </p:anim>
                                    <p:anim calcmode="lin" valueType="num">
                                      <p:cBhvr additive="base">
                                        <p:cTn id="166" dur="500" fill="hold"/>
                                        <p:tgtEl>
                                          <p:spTgt spid="46"/>
                                        </p:tgtEl>
                                        <p:attrNameLst>
                                          <p:attrName>ppt_y</p:attrName>
                                        </p:attrNameLst>
                                      </p:cBhvr>
                                      <p:tavLst>
                                        <p:tav tm="0">
                                          <p:val>
                                            <p:strVal val="#ppt_y+0.1"/>
                                          </p:val>
                                        </p:tav>
                                        <p:tav tm="100000">
                                          <p:val>
                                            <p:strVal val="#ppt_y"/>
                                          </p:val>
                                        </p:tav>
                                      </p:tavLst>
                                    </p:anim>
                                    <p:animEffect transition="in" filter="fade">
                                      <p:cBhvr>
                                        <p:cTn id="16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Consuming: Look Up the ID, Then Read</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The deserializer fetches the writer's schema by its ID - and stops if it can't read it</a:t>
            </a:r>
          </a:p>
        </p:txBody>
      </p:sp>
      <p:sp>
        <p:nvSpPr>
          <p:cNvPr id="11" name="a0f_lb10"/>
          <p:cNvSpPr txBox="1"/>
          <p:nvPr/>
        </p:nvSpPr>
        <p:spPr>
          <a:xfrm>
            <a:off x="457200" y="1280160"/>
            <a:ext cx="2377440" cy="201168"/>
          </a:xfrm>
          <a:prstGeom prst="rect">
            <a:avLst/>
          </a:prstGeom>
          <a:noFill/>
        </p:spPr>
        <p:txBody>
          <a:bodyPr wrap="square" lIns="0" tIns="0" rIns="0" bIns="0" anchor="ctr">
            <a:spAutoFit/>
          </a:bodyPr>
          <a:lstStyle/>
          <a:p>
            <a:pPr algn="l"/>
            <a:r>
              <a:rPr sz="800" b="0">
                <a:solidFill>
                  <a:srgbClr val="78716C"/>
                </a:solidFill>
                <a:latin typeface="Segoe UI"/>
              </a:rPr>
              <a:t>from the topic</a:t>
            </a:r>
          </a:p>
        </p:txBody>
      </p:sp>
      <p:sp>
        <p:nvSpPr>
          <p:cNvPr id="12" name="a0f_wm11"/>
          <p:cNvSpPr/>
          <p:nvPr/>
        </p:nvSpPr>
        <p:spPr>
          <a:xfrm>
            <a:off x="457200" y="1517904"/>
            <a:ext cx="320040" cy="384048"/>
          </a:xfrm>
          <a:prstGeom prst="rect">
            <a:avLst/>
          </a:prstGeom>
          <a:solidFill>
            <a:srgbClr val="3F3F4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0f_wmt12"/>
          <p:cNvSpPr txBox="1"/>
          <p:nvPr/>
        </p:nvSpPr>
        <p:spPr>
          <a:xfrm>
            <a:off x="457200" y="1517904"/>
            <a:ext cx="320040" cy="384048"/>
          </a:xfrm>
          <a:prstGeom prst="rect">
            <a:avLst/>
          </a:prstGeom>
          <a:noFill/>
        </p:spPr>
        <p:txBody>
          <a:bodyPr wrap="square" lIns="0" tIns="0" rIns="0" bIns="0" anchor="ctr">
            <a:spAutoFit/>
          </a:bodyPr>
          <a:lstStyle/>
          <a:p>
            <a:pPr algn="ctr"/>
            <a:r>
              <a:rPr sz="900" b="1">
                <a:solidFill>
                  <a:srgbClr val="FFFFFF"/>
                </a:solidFill>
                <a:latin typeface="Consolas"/>
              </a:rPr>
              <a:t>0</a:t>
            </a:r>
          </a:p>
        </p:txBody>
      </p:sp>
      <p:sp>
        <p:nvSpPr>
          <p:cNvPr id="14" name="a0f_wm13"/>
          <p:cNvSpPr/>
          <p:nvPr/>
        </p:nvSpPr>
        <p:spPr>
          <a:xfrm>
            <a:off x="777240" y="1517904"/>
            <a:ext cx="548640" cy="384048"/>
          </a:xfrm>
          <a:prstGeom prst="rect">
            <a:avLst/>
          </a:prstGeom>
          <a:solidFill>
            <a:srgbClr val="EA580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0f_wmt14"/>
          <p:cNvSpPr txBox="1"/>
          <p:nvPr/>
        </p:nvSpPr>
        <p:spPr>
          <a:xfrm>
            <a:off x="777240" y="1517904"/>
            <a:ext cx="548640" cy="384048"/>
          </a:xfrm>
          <a:prstGeom prst="rect">
            <a:avLst/>
          </a:prstGeom>
          <a:noFill/>
        </p:spPr>
        <p:txBody>
          <a:bodyPr wrap="square" lIns="0" tIns="0" rIns="0" bIns="0" anchor="ctr">
            <a:spAutoFit/>
          </a:bodyPr>
          <a:lstStyle/>
          <a:p>
            <a:pPr algn="ctr"/>
            <a:r>
              <a:rPr sz="900" b="1">
                <a:solidFill>
                  <a:srgbClr val="FFFFFF"/>
                </a:solidFill>
                <a:latin typeface="Consolas"/>
              </a:rPr>
              <a:t>42</a:t>
            </a:r>
          </a:p>
        </p:txBody>
      </p:sp>
      <p:sp>
        <p:nvSpPr>
          <p:cNvPr id="16" name="a0f_wm15"/>
          <p:cNvSpPr/>
          <p:nvPr/>
        </p:nvSpPr>
        <p:spPr>
          <a:xfrm>
            <a:off x="1325880" y="1517904"/>
            <a:ext cx="1508760" cy="384048"/>
          </a:xfrm>
          <a:prstGeom prst="rect">
            <a:avLst/>
          </a:prstGeom>
          <a:solidFill>
            <a:srgbClr val="FFED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0f_wmt16"/>
          <p:cNvSpPr txBox="1"/>
          <p:nvPr/>
        </p:nvSpPr>
        <p:spPr>
          <a:xfrm>
            <a:off x="1325880" y="1517904"/>
            <a:ext cx="1508760" cy="384048"/>
          </a:xfrm>
          <a:prstGeom prst="rect">
            <a:avLst/>
          </a:prstGeom>
          <a:noFill/>
        </p:spPr>
        <p:txBody>
          <a:bodyPr wrap="square" lIns="0" tIns="0" rIns="0" bIns="0" anchor="ctr">
            <a:spAutoFit/>
          </a:bodyPr>
          <a:lstStyle/>
          <a:p>
            <a:pPr algn="ctr"/>
            <a:r>
              <a:rPr sz="900" b="1">
                <a:solidFill>
                  <a:srgbClr val="C2410C"/>
                </a:solidFill>
                <a:latin typeface="Consolas"/>
              </a:rPr>
              <a:t>Avro bytes</a:t>
            </a:r>
          </a:p>
        </p:txBody>
      </p:sp>
      <p:cxnSp>
        <p:nvCxnSpPr>
          <p:cNvPr id="18" name="a1u_ar17"/>
          <p:cNvCxnSpPr/>
          <p:nvPr/>
        </p:nvCxnSpPr>
        <p:spPr>
          <a:xfrm>
            <a:off x="2852928" y="1709928"/>
            <a:ext cx="393192"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1u_nd18"/>
          <p:cNvSpPr/>
          <p:nvPr/>
        </p:nvSpPr>
        <p:spPr>
          <a:xfrm>
            <a:off x="3264408" y="1325880"/>
            <a:ext cx="1600200" cy="768096"/>
          </a:xfrm>
          <a:prstGeom prst="roundRect">
            <a:avLst>
              <a:gd name="adj" fmla="val 9523"/>
            </a:avLst>
          </a:prstGeom>
          <a:solidFill>
            <a:srgbClr val="F7F6F3"/>
          </a:solidFill>
          <a:ln w="15875">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_ndt19"/>
          <p:cNvSpPr txBox="1"/>
          <p:nvPr/>
        </p:nvSpPr>
        <p:spPr>
          <a:xfrm>
            <a:off x="3310127" y="1362456"/>
            <a:ext cx="1508760" cy="365759"/>
          </a:xfrm>
          <a:prstGeom prst="rect">
            <a:avLst/>
          </a:prstGeom>
          <a:noFill/>
        </p:spPr>
        <p:txBody>
          <a:bodyPr wrap="square" lIns="0" tIns="0" rIns="0" bIns="0" anchor="b">
            <a:spAutoFit/>
          </a:bodyPr>
          <a:lstStyle/>
          <a:p>
            <a:pPr algn="ctr"/>
            <a:r>
              <a:rPr sz="1000" b="1">
                <a:solidFill>
                  <a:srgbClr val="1C1917"/>
                </a:solidFill>
                <a:latin typeface="Segoe UI"/>
              </a:rPr>
              <a:t>Consumer</a:t>
            </a:r>
          </a:p>
        </p:txBody>
      </p:sp>
      <p:sp>
        <p:nvSpPr>
          <p:cNvPr id="21" name="a1u_nds20"/>
          <p:cNvSpPr txBox="1"/>
          <p:nvPr/>
        </p:nvSpPr>
        <p:spPr>
          <a:xfrm>
            <a:off x="3310127" y="1737360"/>
            <a:ext cx="1508760" cy="320040"/>
          </a:xfrm>
          <a:prstGeom prst="rect">
            <a:avLst/>
          </a:prstGeom>
          <a:noFill/>
        </p:spPr>
        <p:txBody>
          <a:bodyPr wrap="square" lIns="0" tIns="0" rIns="0" bIns="0" anchor="t">
            <a:spAutoFit/>
          </a:bodyPr>
          <a:lstStyle/>
          <a:p>
            <a:pPr algn="ctr"/>
            <a:r>
              <a:rPr sz="800" b="0">
                <a:solidFill>
                  <a:srgbClr val="4F46E5"/>
                </a:solidFill>
                <a:latin typeface="Segoe UI"/>
              </a:rPr>
              <a:t>KafkaAvroDeserializer</a:t>
            </a:r>
          </a:p>
        </p:txBody>
      </p:sp>
      <p:sp>
        <p:nvSpPr>
          <p:cNvPr id="22" name="a2u_lb21"/>
          <p:cNvSpPr txBox="1"/>
          <p:nvPr/>
        </p:nvSpPr>
        <p:spPr>
          <a:xfrm>
            <a:off x="4882896" y="1298448"/>
            <a:ext cx="1243584" cy="201168"/>
          </a:xfrm>
          <a:prstGeom prst="rect">
            <a:avLst/>
          </a:prstGeom>
          <a:noFill/>
        </p:spPr>
        <p:txBody>
          <a:bodyPr wrap="square" lIns="0" tIns="0" rIns="0" bIns="0" anchor="ctr">
            <a:spAutoFit/>
          </a:bodyPr>
          <a:lstStyle/>
          <a:p>
            <a:pPr algn="ctr"/>
            <a:r>
              <a:rPr sz="800" b="1">
                <a:solidFill>
                  <a:srgbClr val="4F46E5"/>
                </a:solidFill>
                <a:latin typeface="Segoe UI"/>
              </a:rPr>
              <a:t>1  GET schema 42</a:t>
            </a:r>
          </a:p>
        </p:txBody>
      </p:sp>
      <p:cxnSp>
        <p:nvCxnSpPr>
          <p:cNvPr id="23" name="a2u_ar22"/>
          <p:cNvCxnSpPr/>
          <p:nvPr/>
        </p:nvCxnSpPr>
        <p:spPr>
          <a:xfrm>
            <a:off x="4882896" y="1536192"/>
            <a:ext cx="1243584" cy="0"/>
          </a:xfrm>
          <a:prstGeom prst="line">
            <a:avLst/>
          </a:prstGeom>
          <a:ln w="1905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1u_nd23"/>
          <p:cNvSpPr/>
          <p:nvPr/>
        </p:nvSpPr>
        <p:spPr>
          <a:xfrm>
            <a:off x="6144768" y="1325880"/>
            <a:ext cx="1600200" cy="768096"/>
          </a:xfrm>
          <a:prstGeom prst="roundRect">
            <a:avLst>
              <a:gd name="adj" fmla="val 952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_ndt24"/>
          <p:cNvSpPr txBox="1"/>
          <p:nvPr/>
        </p:nvSpPr>
        <p:spPr>
          <a:xfrm>
            <a:off x="6190488" y="1362456"/>
            <a:ext cx="1508760" cy="365759"/>
          </a:xfrm>
          <a:prstGeom prst="rect">
            <a:avLst/>
          </a:prstGeom>
          <a:noFill/>
        </p:spPr>
        <p:txBody>
          <a:bodyPr wrap="square" lIns="0" tIns="0" rIns="0" bIns="0" anchor="b">
            <a:spAutoFit/>
          </a:bodyPr>
          <a:lstStyle/>
          <a:p>
            <a:pPr algn="ctr"/>
            <a:r>
              <a:rPr sz="1000" b="1">
                <a:solidFill>
                  <a:srgbClr val="1C1917"/>
                </a:solidFill>
                <a:latin typeface="Segoe UI"/>
              </a:rPr>
              <a:t>Schema Registry</a:t>
            </a:r>
          </a:p>
        </p:txBody>
      </p:sp>
      <p:sp>
        <p:nvSpPr>
          <p:cNvPr id="26" name="a1u_nds25"/>
          <p:cNvSpPr txBox="1"/>
          <p:nvPr/>
        </p:nvSpPr>
        <p:spPr>
          <a:xfrm>
            <a:off x="6190488" y="1737360"/>
            <a:ext cx="1508760" cy="320040"/>
          </a:xfrm>
          <a:prstGeom prst="rect">
            <a:avLst/>
          </a:prstGeom>
          <a:noFill/>
        </p:spPr>
        <p:txBody>
          <a:bodyPr wrap="square" lIns="0" tIns="0" rIns="0" bIns="0" anchor="t">
            <a:spAutoFit/>
          </a:bodyPr>
          <a:lstStyle/>
          <a:p>
            <a:pPr algn="ctr"/>
            <a:r>
              <a:rPr sz="800" b="0">
                <a:solidFill>
                  <a:srgbClr val="0E7490"/>
                </a:solidFill>
                <a:latin typeface="Segoe UI"/>
              </a:rPr>
              <a:t>REST API</a:t>
            </a:r>
          </a:p>
        </p:txBody>
      </p:sp>
      <p:cxnSp>
        <p:nvCxnSpPr>
          <p:cNvPr id="27" name="a3u_ar26"/>
          <p:cNvCxnSpPr/>
          <p:nvPr/>
        </p:nvCxnSpPr>
        <p:spPr>
          <a:xfrm flipH="1">
            <a:off x="4882896" y="1883664"/>
            <a:ext cx="1243584" cy="0"/>
          </a:xfrm>
          <a:prstGeom prst="line">
            <a:avLst/>
          </a:prstGeom>
          <a:ln w="19050">
            <a:solidFill>
              <a:srgbClr val="0E749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a3u_lb27"/>
          <p:cNvSpPr txBox="1"/>
          <p:nvPr/>
        </p:nvSpPr>
        <p:spPr>
          <a:xfrm>
            <a:off x="4882896" y="1920240"/>
            <a:ext cx="1243584" cy="201168"/>
          </a:xfrm>
          <a:prstGeom prst="rect">
            <a:avLst/>
          </a:prstGeom>
          <a:noFill/>
        </p:spPr>
        <p:txBody>
          <a:bodyPr wrap="square" lIns="0" tIns="0" rIns="0" bIns="0" anchor="ctr">
            <a:spAutoFit/>
          </a:bodyPr>
          <a:lstStyle/>
          <a:p>
            <a:pPr algn="ctr"/>
            <a:r>
              <a:rPr sz="800" b="1">
                <a:solidFill>
                  <a:srgbClr val="0E7490"/>
                </a:solidFill>
                <a:latin typeface="Segoe UI"/>
              </a:rPr>
              <a:t>2  the schema</a:t>
            </a:r>
          </a:p>
        </p:txBody>
      </p:sp>
      <p:cxnSp>
        <p:nvCxnSpPr>
          <p:cNvPr id="29" name="a4u_ar28"/>
          <p:cNvCxnSpPr/>
          <p:nvPr/>
        </p:nvCxnSpPr>
        <p:spPr>
          <a:xfrm flipH="1">
            <a:off x="2468880" y="2112264"/>
            <a:ext cx="1325880" cy="429768"/>
          </a:xfrm>
          <a:prstGeom prst="line">
            <a:avLst/>
          </a:prstGeom>
          <a:ln w="19050">
            <a:solidFill>
              <a:srgbClr val="1580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a5u_ar29"/>
          <p:cNvCxnSpPr/>
          <p:nvPr/>
        </p:nvCxnSpPr>
        <p:spPr>
          <a:xfrm>
            <a:off x="4343400" y="2112264"/>
            <a:ext cx="1417320" cy="429768"/>
          </a:xfrm>
          <a:prstGeom prst="line">
            <a:avLst/>
          </a:prstGeom>
          <a:ln w="19050">
            <a:solidFill>
              <a:srgbClr val="E11D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a4u_card30"/>
          <p:cNvSpPr/>
          <p:nvPr/>
        </p:nvSpPr>
        <p:spPr>
          <a:xfrm>
            <a:off x="457200" y="2560320"/>
            <a:ext cx="3931920"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4u_acc31"/>
          <p:cNvSpPr/>
          <p:nvPr/>
        </p:nvSpPr>
        <p:spPr>
          <a:xfrm>
            <a:off x="457200" y="2560320"/>
            <a:ext cx="3931920"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tt32"/>
          <p:cNvSpPr txBox="1"/>
          <p:nvPr/>
        </p:nvSpPr>
        <p:spPr>
          <a:xfrm>
            <a:off x="603504" y="2670048"/>
            <a:ext cx="3657600" cy="256032"/>
          </a:xfrm>
          <a:prstGeom prst="rect">
            <a:avLst/>
          </a:prstGeom>
          <a:noFill/>
        </p:spPr>
        <p:txBody>
          <a:bodyPr wrap="square" lIns="0" tIns="0" rIns="0" bIns="0" anchor="ctr">
            <a:spAutoFit/>
          </a:bodyPr>
          <a:lstStyle/>
          <a:p>
            <a:pPr algn="l"/>
            <a:r>
              <a:rPr sz="1100" b="1">
                <a:solidFill>
                  <a:srgbClr val="1C1917"/>
                </a:solidFill>
                <a:latin typeface="Segoe UI"/>
              </a:rPr>
              <a:t>Readable</a:t>
            </a:r>
          </a:p>
        </p:txBody>
      </p:sp>
      <p:sp>
        <p:nvSpPr>
          <p:cNvPr id="34" name="a4ud60_tb33"/>
          <p:cNvSpPr txBox="1"/>
          <p:nvPr/>
        </p:nvSpPr>
        <p:spPr>
          <a:xfrm>
            <a:off x="603504" y="2962656"/>
            <a:ext cx="3657600" cy="640080"/>
          </a:xfrm>
          <a:prstGeom prst="rect">
            <a:avLst/>
          </a:prstGeom>
          <a:noFill/>
        </p:spPr>
        <p:txBody>
          <a:bodyPr wrap="square" lIns="0" tIns="0" rIns="0" bIns="0" anchor="t">
            <a:spAutoFit/>
          </a:bodyPr>
          <a:lstStyle/>
          <a:p>
            <a:pPr algn="l"/>
            <a:r>
              <a:rPr sz="900" b="0">
                <a:solidFill>
                  <a:srgbClr val="44403C"/>
                </a:solidFill>
                <a:latin typeface="Segoe UI"/>
              </a:rPr>
              <a:t>decoded into the object your code expects - and on it goes</a:t>
            </a:r>
          </a:p>
        </p:txBody>
      </p:sp>
      <p:sp>
        <p:nvSpPr>
          <p:cNvPr id="35" name="a5u_card34"/>
          <p:cNvSpPr/>
          <p:nvPr/>
        </p:nvSpPr>
        <p:spPr>
          <a:xfrm>
            <a:off x="4754880" y="2560320"/>
            <a:ext cx="3931920" cy="1097280"/>
          </a:xfrm>
          <a:prstGeom prst="roundRect">
            <a:avLst>
              <a:gd name="adj" fmla="val 1000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5u_acc35"/>
          <p:cNvSpPr/>
          <p:nvPr/>
        </p:nvSpPr>
        <p:spPr>
          <a:xfrm>
            <a:off x="4754880" y="2560320"/>
            <a:ext cx="3931920" cy="457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5u_tt36"/>
          <p:cNvSpPr txBox="1"/>
          <p:nvPr/>
        </p:nvSpPr>
        <p:spPr>
          <a:xfrm>
            <a:off x="4901184" y="2670048"/>
            <a:ext cx="3657600" cy="256032"/>
          </a:xfrm>
          <a:prstGeom prst="rect">
            <a:avLst/>
          </a:prstGeom>
          <a:noFill/>
        </p:spPr>
        <p:txBody>
          <a:bodyPr wrap="square" lIns="0" tIns="0" rIns="0" bIns="0" anchor="ctr">
            <a:spAutoFit/>
          </a:bodyPr>
          <a:lstStyle/>
          <a:p>
            <a:pPr algn="l"/>
            <a:r>
              <a:rPr sz="1100" b="1">
                <a:solidFill>
                  <a:srgbClr val="1C1917"/>
                </a:solidFill>
                <a:latin typeface="Segoe UI"/>
              </a:rPr>
              <a:t>Not readable</a:t>
            </a:r>
          </a:p>
        </p:txBody>
      </p:sp>
      <p:sp>
        <p:nvSpPr>
          <p:cNvPr id="38" name="a5ud60_tb37"/>
          <p:cNvSpPr txBox="1"/>
          <p:nvPr/>
        </p:nvSpPr>
        <p:spPr>
          <a:xfrm>
            <a:off x="4901184" y="2962656"/>
            <a:ext cx="3657600" cy="640080"/>
          </a:xfrm>
          <a:prstGeom prst="rect">
            <a:avLst/>
          </a:prstGeom>
          <a:noFill/>
        </p:spPr>
        <p:txBody>
          <a:bodyPr wrap="square" lIns="0" tIns="0" rIns="0" bIns="0" anchor="t">
            <a:spAutoFit/>
          </a:bodyPr>
          <a:lstStyle/>
          <a:p>
            <a:pPr algn="l"/>
            <a:r>
              <a:rPr sz="900" b="0">
                <a:solidFill>
                  <a:srgbClr val="44403C"/>
                </a:solidFill>
                <a:latin typeface="Segoe UI"/>
              </a:rPr>
              <a:t>the deserializer throws - a predictable failure instead of silent garbage</a:t>
            </a:r>
          </a:p>
        </p:txBody>
      </p:sp>
      <p:sp>
        <p:nvSpPr>
          <p:cNvPr id="39" name="a6u_nb38"/>
          <p:cNvSpPr/>
          <p:nvPr/>
        </p:nvSpPr>
        <p:spPr>
          <a:xfrm>
            <a:off x="457200" y="3886200"/>
            <a:ext cx="8229600" cy="566928"/>
          </a:xfrm>
          <a:prstGeom prst="roundRect">
            <a:avLst>
              <a:gd name="adj" fmla="val 12903"/>
            </a:avLst>
          </a:prstGeom>
          <a:solidFill>
            <a:srgbClr val="D9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6u_nacc39"/>
          <p:cNvSpPr/>
          <p:nvPr/>
        </p:nvSpPr>
        <p:spPr>
          <a:xfrm>
            <a:off x="457200" y="3886200"/>
            <a:ext cx="54864" cy="5669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6u_nt40"/>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0E7490"/>
                </a:solidFill>
                <a:latin typeface="Segoe UI"/>
              </a:rPr>
              <a:t>KEY  </a:t>
            </a:r>
            <a:r>
              <a:rPr sz="950" b="0">
                <a:solidFill>
                  <a:srgbClr val="44403C"/>
                </a:solidFill>
                <a:latin typeface="Segoe UI"/>
              </a:rPr>
              <a:t>The lookup is cached too: one REST call per schema ID, then every later message is local.</a:t>
            </a:r>
          </a:p>
        </p:txBody>
      </p:sp>
      <p:sp>
        <p:nvSpPr>
          <p:cNvPr id="42" name="ft4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05</a:t>
            </a:r>
          </a:p>
        </p:txBody>
      </p:sp>
      <p:sp>
        <p:nvSpPr>
          <p:cNvPr id="43" name="ft4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ft4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45" name="ft4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5"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32" presetID="2" presetClass="entr" presetSubtype="4"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ppt_y+0.1"/>
                                          </p:val>
                                        </p:tav>
                                        <p:tav tm="100000">
                                          <p:val>
                                            <p:strVal val="#ppt_y"/>
                                          </p:val>
                                        </p:tav>
                                      </p:tavLst>
                                    </p:anim>
                                    <p:animEffect transition="in" filter="fade">
                                      <p:cBhvr>
                                        <p:cTn id="31" dur="500"/>
                                        <p:tgtEl>
                                          <p:spTgt spid="18"/>
                                        </p:tgtEl>
                                      </p:cBhvr>
                                    </p:animEffect>
                                  </p:childTnLst>
                                </p:cTn>
                              </p:par>
                              <p:par>
                                <p:cTn id="37" presetID="2" presetClass="entr" presetSubtype="4"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 calcmode="lin" valueType="num">
                                      <p:cBhvr additive="base">
                                        <p:cTn id="34" dur="500" fill="hold"/>
                                        <p:tgtEl>
                                          <p:spTgt spid="19"/>
                                        </p:tgtEl>
                                        <p:attrNameLst>
                                          <p:attrName>ppt_x</p:attrName>
                                        </p:attrNameLst>
                                      </p:cBhvr>
                                      <p:tavLst>
                                        <p:tav tm="0">
                                          <p:val>
                                            <p:strVal val="#ppt_x"/>
                                          </p:val>
                                        </p:tav>
                                        <p:tav tm="100000">
                                          <p:val>
                                            <p:strVal val="#ppt_x"/>
                                          </p:val>
                                        </p:tav>
                                      </p:tavLst>
                                    </p:anim>
                                    <p:anim calcmode="lin" valueType="num">
                                      <p:cBhvr additive="base">
                                        <p:cTn id="35" dur="500" fill="hold"/>
                                        <p:tgtEl>
                                          <p:spTgt spid="19"/>
                                        </p:tgtEl>
                                        <p:attrNameLst>
                                          <p:attrName>ppt_y</p:attrName>
                                        </p:attrNameLst>
                                      </p:cBhvr>
                                      <p:tavLst>
                                        <p:tav tm="0">
                                          <p:val>
                                            <p:strVal val="#ppt_y+0.1"/>
                                          </p:val>
                                        </p:tav>
                                        <p:tav tm="100000">
                                          <p:val>
                                            <p:strVal val="#ppt_y"/>
                                          </p:val>
                                        </p:tav>
                                      </p:tavLst>
                                    </p:anim>
                                    <p:animEffect transition="in" filter="fade">
                                      <p:cBhvr>
                                        <p:cTn id="36" dur="500"/>
                                        <p:tgtEl>
                                          <p:spTgt spid="19"/>
                                        </p:tgtEl>
                                      </p:cBhvr>
                                    </p:animEffect>
                                  </p:childTnLst>
                                </p:cTn>
                              </p:par>
                              <p:par>
                                <p:cTn id="42" presetID="2" presetClass="entr" presetSubtype="4"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ppt_y+0.1"/>
                                          </p:val>
                                        </p:tav>
                                        <p:tav tm="100000">
                                          <p:val>
                                            <p:strVal val="#ppt_y"/>
                                          </p:val>
                                        </p:tav>
                                      </p:tavLst>
                                    </p:anim>
                                    <p:animEffect transition="in" filter="fade">
                                      <p:cBhvr>
                                        <p:cTn id="41" dur="500"/>
                                        <p:tgtEl>
                                          <p:spTgt spid="20"/>
                                        </p:tgtEl>
                                      </p:cBhvr>
                                    </p:animEffect>
                                  </p:childTnLst>
                                </p:cTn>
                              </p:par>
                              <p:par>
                                <p:cTn id="47" presetID="2" presetClass="entr" presetSubtype="4"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additive="base">
                                        <p:cTn id="44" dur="500" fill="hold"/>
                                        <p:tgtEl>
                                          <p:spTgt spid="21"/>
                                        </p:tgtEl>
                                        <p:attrNameLst>
                                          <p:attrName>ppt_x</p:attrName>
                                        </p:attrNameLst>
                                      </p:cBhvr>
                                      <p:tavLst>
                                        <p:tav tm="0">
                                          <p:val>
                                            <p:strVal val="#ppt_x"/>
                                          </p:val>
                                        </p:tav>
                                        <p:tav tm="100000">
                                          <p:val>
                                            <p:strVal val="#ppt_x"/>
                                          </p:val>
                                        </p:tav>
                                      </p:tavLst>
                                    </p:anim>
                                    <p:anim calcmode="lin" valueType="num">
                                      <p:cBhvr additive="base">
                                        <p:cTn id="45" dur="500" fill="hold"/>
                                        <p:tgtEl>
                                          <p:spTgt spid="21"/>
                                        </p:tgtEl>
                                        <p:attrNameLst>
                                          <p:attrName>ppt_y</p:attrName>
                                        </p:attrNameLst>
                                      </p:cBhvr>
                                      <p:tavLst>
                                        <p:tav tm="0">
                                          <p:val>
                                            <p:strVal val="#ppt_y+0.1"/>
                                          </p:val>
                                        </p:tav>
                                        <p:tav tm="100000">
                                          <p:val>
                                            <p:strVal val="#ppt_y"/>
                                          </p:val>
                                        </p:tav>
                                      </p:tavLst>
                                    </p:anim>
                                    <p:animEffect transition="in" filter="fade">
                                      <p:cBhvr>
                                        <p:cTn id="46" dur="500"/>
                                        <p:tgtEl>
                                          <p:spTgt spid="21"/>
                                        </p:tgtEl>
                                      </p:cBhvr>
                                    </p:animEffect>
                                  </p:childTnLst>
                                </p:cTn>
                              </p:par>
                              <p:par>
                                <p:cTn id="52" presetID="2" presetClass="entr" presetSubtype="4"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ppt_x"/>
                                          </p:val>
                                        </p:tav>
                                        <p:tav tm="100000">
                                          <p:val>
                                            <p:strVal val="#ppt_x"/>
                                          </p:val>
                                        </p:tav>
                                      </p:tavLst>
                                    </p:anim>
                                    <p:anim calcmode="lin" valueType="num">
                                      <p:cBhvr additive="base">
                                        <p:cTn id="50" dur="500" fill="hold"/>
                                        <p:tgtEl>
                                          <p:spTgt spid="24"/>
                                        </p:tgtEl>
                                        <p:attrNameLst>
                                          <p:attrName>ppt_y</p:attrName>
                                        </p:attrNameLst>
                                      </p:cBhvr>
                                      <p:tavLst>
                                        <p:tav tm="0">
                                          <p:val>
                                            <p:strVal val="#ppt_y+0.1"/>
                                          </p:val>
                                        </p:tav>
                                        <p:tav tm="100000">
                                          <p:val>
                                            <p:strVal val="#ppt_y"/>
                                          </p:val>
                                        </p:tav>
                                      </p:tavLst>
                                    </p:anim>
                                    <p:animEffect transition="in" filter="fade">
                                      <p:cBhvr>
                                        <p:cTn id="51" dur="500"/>
                                        <p:tgtEl>
                                          <p:spTgt spid="24"/>
                                        </p:tgtEl>
                                      </p:cBhvr>
                                    </p:animEffect>
                                  </p:childTnLst>
                                </p:cTn>
                              </p:par>
                              <p:par>
                                <p:cTn id="57" presetID="2" presetClass="entr" presetSubtype="4"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additive="base">
                                        <p:cTn id="54" dur="500" fill="hold"/>
                                        <p:tgtEl>
                                          <p:spTgt spid="25"/>
                                        </p:tgtEl>
                                        <p:attrNameLst>
                                          <p:attrName>ppt_x</p:attrName>
                                        </p:attrNameLst>
                                      </p:cBhvr>
                                      <p:tavLst>
                                        <p:tav tm="0">
                                          <p:val>
                                            <p:strVal val="#ppt_x"/>
                                          </p:val>
                                        </p:tav>
                                        <p:tav tm="100000">
                                          <p:val>
                                            <p:strVal val="#ppt_x"/>
                                          </p:val>
                                        </p:tav>
                                      </p:tavLst>
                                    </p:anim>
                                    <p:anim calcmode="lin" valueType="num">
                                      <p:cBhvr additive="base">
                                        <p:cTn id="55" dur="500" fill="hold"/>
                                        <p:tgtEl>
                                          <p:spTgt spid="25"/>
                                        </p:tgtEl>
                                        <p:attrNameLst>
                                          <p:attrName>ppt_y</p:attrName>
                                        </p:attrNameLst>
                                      </p:cBhvr>
                                      <p:tavLst>
                                        <p:tav tm="0">
                                          <p:val>
                                            <p:strVal val="#ppt_y+0.1"/>
                                          </p:val>
                                        </p:tav>
                                        <p:tav tm="100000">
                                          <p:val>
                                            <p:strVal val="#ppt_y"/>
                                          </p:val>
                                        </p:tav>
                                      </p:tavLst>
                                    </p:anim>
                                    <p:animEffect transition="in" filter="fade">
                                      <p:cBhvr>
                                        <p:cTn id="56" dur="500"/>
                                        <p:tgtEl>
                                          <p:spTgt spid="25"/>
                                        </p:tgtEl>
                                      </p:cBhvr>
                                    </p:animEffect>
                                  </p:childTnLst>
                                </p:cTn>
                              </p:par>
                              <p:par>
                                <p:cTn id="62" presetID="2" presetClass="entr" presetSubtype="4"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500" fill="hold"/>
                                        <p:tgtEl>
                                          <p:spTgt spid="26"/>
                                        </p:tgtEl>
                                        <p:attrNameLst>
                                          <p:attrName>ppt_x</p:attrName>
                                        </p:attrNameLst>
                                      </p:cBhvr>
                                      <p:tavLst>
                                        <p:tav tm="0">
                                          <p:val>
                                            <p:strVal val="#ppt_x"/>
                                          </p:val>
                                        </p:tav>
                                        <p:tav tm="100000">
                                          <p:val>
                                            <p:strVal val="#ppt_x"/>
                                          </p:val>
                                        </p:tav>
                                      </p:tavLst>
                                    </p:anim>
                                    <p:anim calcmode="lin" valueType="num">
                                      <p:cBhvr additive="base">
                                        <p:cTn id="60" dur="500" fill="hold"/>
                                        <p:tgtEl>
                                          <p:spTgt spid="26"/>
                                        </p:tgtEl>
                                        <p:attrNameLst>
                                          <p:attrName>ppt_y</p:attrName>
                                        </p:attrNameLst>
                                      </p:cBhvr>
                                      <p:tavLst>
                                        <p:tav tm="0">
                                          <p:val>
                                            <p:strVal val="#ppt_y+0.1"/>
                                          </p:val>
                                        </p:tav>
                                        <p:tav tm="100000">
                                          <p:val>
                                            <p:strVal val="#ppt_y"/>
                                          </p:val>
                                        </p:tav>
                                      </p:tavLst>
                                    </p:anim>
                                    <p:animEffect transition="in" filter="fade">
                                      <p:cBhvr>
                                        <p:cTn id="61"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9" presetID="2" presetClass="entr" presetSubtype="4"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 calcmode="lin" valueType="num">
                                      <p:cBhvr additive="base">
                                        <p:cTn id="66" dur="500" fill="hold"/>
                                        <p:tgtEl>
                                          <p:spTgt spid="22"/>
                                        </p:tgtEl>
                                        <p:attrNameLst>
                                          <p:attrName>ppt_x</p:attrName>
                                        </p:attrNameLst>
                                      </p:cBhvr>
                                      <p:tavLst>
                                        <p:tav tm="0">
                                          <p:val>
                                            <p:strVal val="#ppt_x"/>
                                          </p:val>
                                        </p:tav>
                                        <p:tav tm="100000">
                                          <p:val>
                                            <p:strVal val="#ppt_x"/>
                                          </p:val>
                                        </p:tav>
                                      </p:tavLst>
                                    </p:anim>
                                    <p:anim calcmode="lin" valueType="num">
                                      <p:cBhvr additive="base">
                                        <p:cTn id="67" dur="500" fill="hold"/>
                                        <p:tgtEl>
                                          <p:spTgt spid="22"/>
                                        </p:tgtEl>
                                        <p:attrNameLst>
                                          <p:attrName>ppt_y</p:attrName>
                                        </p:attrNameLst>
                                      </p:cBhvr>
                                      <p:tavLst>
                                        <p:tav tm="0">
                                          <p:val>
                                            <p:strVal val="#ppt_y+0.1"/>
                                          </p:val>
                                        </p:tav>
                                        <p:tav tm="100000">
                                          <p:val>
                                            <p:strVal val="#ppt_y"/>
                                          </p:val>
                                        </p:tav>
                                      </p:tavLst>
                                    </p:anim>
                                    <p:animEffect transition="in" filter="fade">
                                      <p:cBhvr>
                                        <p:cTn id="68" dur="500"/>
                                        <p:tgtEl>
                                          <p:spTgt spid="22"/>
                                        </p:tgtEl>
                                      </p:cBhvr>
                                    </p:animEffect>
                                  </p:childTnLst>
                                </p:cTn>
                              </p:par>
                              <p:par>
                                <p:cTn id="74" presetID="2" presetClass="entr" presetSubtype="4"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 calcmode="lin" valueType="num">
                                      <p:cBhvr additive="base">
                                        <p:cTn id="71" dur="500" fill="hold"/>
                                        <p:tgtEl>
                                          <p:spTgt spid="23"/>
                                        </p:tgtEl>
                                        <p:attrNameLst>
                                          <p:attrName>ppt_x</p:attrName>
                                        </p:attrNameLst>
                                      </p:cBhvr>
                                      <p:tavLst>
                                        <p:tav tm="0">
                                          <p:val>
                                            <p:strVal val="#ppt_x"/>
                                          </p:val>
                                        </p:tav>
                                        <p:tav tm="100000">
                                          <p:val>
                                            <p:strVal val="#ppt_x"/>
                                          </p:val>
                                        </p:tav>
                                      </p:tavLst>
                                    </p:anim>
                                    <p:anim calcmode="lin" valueType="num">
                                      <p:cBhvr additive="base">
                                        <p:cTn id="72" dur="500" fill="hold"/>
                                        <p:tgtEl>
                                          <p:spTgt spid="23"/>
                                        </p:tgtEl>
                                        <p:attrNameLst>
                                          <p:attrName>ppt_y</p:attrName>
                                        </p:attrNameLst>
                                      </p:cBhvr>
                                      <p:tavLst>
                                        <p:tav tm="0">
                                          <p:val>
                                            <p:strVal val="#ppt_y+0.1"/>
                                          </p:val>
                                        </p:tav>
                                        <p:tav tm="100000">
                                          <p:val>
                                            <p:strVal val="#ppt_y"/>
                                          </p:val>
                                        </p:tav>
                                      </p:tavLst>
                                    </p:anim>
                                    <p:animEffect transition="in" filter="fade">
                                      <p:cBhvr>
                                        <p:cTn id="73" dur="500"/>
                                        <p:tgtEl>
                                          <p:spTgt spid="23"/>
                                        </p:tgtEl>
                                      </p:cBhvr>
                                    </p:animEffect>
                                  </p:childTnLst>
                                </p:cTn>
                              </p:par>
                            </p:childTnLst>
                          </p:cTn>
                        </p:par>
                      </p:childTnLst>
                    </p:cTn>
                  </p:par>
                  <p:par>
                    <p:cTn id="75" fill="hold">
                      <p:stCondLst>
                        <p:cond delay="indefinite"/>
                      </p:stCondLst>
                      <p:childTnLst>
                        <p:par>
                          <p:cTn id="76" fill="hold">
                            <p:stCondLst>
                              <p:cond delay="0"/>
                            </p:stCondLst>
                            <p:childTnLst>
                              <p:par>
                                <p:cTn id="81" presetID="2" presetClass="entr" presetSubtype="4"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ppt_y+0.1"/>
                                          </p:val>
                                        </p:tav>
                                        <p:tav tm="100000">
                                          <p:val>
                                            <p:strVal val="#ppt_y"/>
                                          </p:val>
                                        </p:tav>
                                      </p:tavLst>
                                    </p:anim>
                                    <p:animEffect transition="in" filter="fade">
                                      <p:cBhvr>
                                        <p:cTn id="80" dur="500"/>
                                        <p:tgtEl>
                                          <p:spTgt spid="27"/>
                                        </p:tgtEl>
                                      </p:cBhvr>
                                    </p:animEffect>
                                  </p:childTnLst>
                                </p:cTn>
                              </p:par>
                              <p:par>
                                <p:cTn id="86" presetID="2" presetClass="entr" presetSubtype="4"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 calcmode="lin" valueType="num">
                                      <p:cBhvr additive="base">
                                        <p:cTn id="83" dur="500" fill="hold"/>
                                        <p:tgtEl>
                                          <p:spTgt spid="28"/>
                                        </p:tgtEl>
                                        <p:attrNameLst>
                                          <p:attrName>ppt_x</p:attrName>
                                        </p:attrNameLst>
                                      </p:cBhvr>
                                      <p:tavLst>
                                        <p:tav tm="0">
                                          <p:val>
                                            <p:strVal val="#ppt_x"/>
                                          </p:val>
                                        </p:tav>
                                        <p:tav tm="100000">
                                          <p:val>
                                            <p:strVal val="#ppt_x"/>
                                          </p:val>
                                        </p:tav>
                                      </p:tavLst>
                                    </p:anim>
                                    <p:anim calcmode="lin" valueType="num">
                                      <p:cBhvr additive="base">
                                        <p:cTn id="84" dur="500" fill="hold"/>
                                        <p:tgtEl>
                                          <p:spTgt spid="28"/>
                                        </p:tgtEl>
                                        <p:attrNameLst>
                                          <p:attrName>ppt_y</p:attrName>
                                        </p:attrNameLst>
                                      </p:cBhvr>
                                      <p:tavLst>
                                        <p:tav tm="0">
                                          <p:val>
                                            <p:strVal val="#ppt_y+0.1"/>
                                          </p:val>
                                        </p:tav>
                                        <p:tav tm="100000">
                                          <p:val>
                                            <p:strVal val="#ppt_y"/>
                                          </p:val>
                                        </p:tav>
                                      </p:tavLst>
                                    </p:anim>
                                    <p:animEffect transition="in" filter="fade">
                                      <p:cBhvr>
                                        <p:cTn id="85" dur="500"/>
                                        <p:tgtEl>
                                          <p:spTgt spid="28"/>
                                        </p:tgtEl>
                                      </p:cBhvr>
                                    </p:animEffect>
                                  </p:childTnLst>
                                </p:cTn>
                              </p:par>
                            </p:childTnLst>
                          </p:cTn>
                        </p:par>
                      </p:childTnLst>
                    </p:cTn>
                  </p:par>
                  <p:par>
                    <p:cTn id="87" fill="hold">
                      <p:stCondLst>
                        <p:cond delay="indefinite"/>
                      </p:stCondLst>
                      <p:childTnLst>
                        <p:par>
                          <p:cTn id="88" fill="hold">
                            <p:stCondLst>
                              <p:cond delay="0"/>
                            </p:stCondLst>
                            <p:childTnLst>
                              <p:par>
                                <p:cTn id="93" presetID="2" presetClass="entr" presetSubtype="4" fill="hold" grpId="0" nodeType="clickEffect">
                                  <p:stCondLst>
                                    <p:cond delay="0"/>
                                  </p:stCondLst>
                                  <p:childTnLst>
                                    <p:set>
                                      <p:cBhvr>
                                        <p:cTn id="89" dur="1" fill="hold">
                                          <p:stCondLst>
                                            <p:cond delay="0"/>
                                          </p:stCondLst>
                                        </p:cTn>
                                        <p:tgtEl>
                                          <p:spTgt spid="29"/>
                                        </p:tgtEl>
                                        <p:attrNameLst>
                                          <p:attrName>style.visibility</p:attrName>
                                        </p:attrNameLst>
                                      </p:cBhvr>
                                      <p:to>
                                        <p:strVal val="visible"/>
                                      </p:to>
                                    </p:set>
                                    <p:anim calcmode="lin" valueType="num">
                                      <p:cBhvr additive="base">
                                        <p:cTn id="90" dur="500" fill="hold"/>
                                        <p:tgtEl>
                                          <p:spTgt spid="29"/>
                                        </p:tgtEl>
                                        <p:attrNameLst>
                                          <p:attrName>ppt_x</p:attrName>
                                        </p:attrNameLst>
                                      </p:cBhvr>
                                      <p:tavLst>
                                        <p:tav tm="0">
                                          <p:val>
                                            <p:strVal val="#ppt_x"/>
                                          </p:val>
                                        </p:tav>
                                        <p:tav tm="100000">
                                          <p:val>
                                            <p:strVal val="#ppt_x"/>
                                          </p:val>
                                        </p:tav>
                                      </p:tavLst>
                                    </p:anim>
                                    <p:anim calcmode="lin" valueType="num">
                                      <p:cBhvr additive="base">
                                        <p:cTn id="91" dur="500" fill="hold"/>
                                        <p:tgtEl>
                                          <p:spTgt spid="29"/>
                                        </p:tgtEl>
                                        <p:attrNameLst>
                                          <p:attrName>ppt_y</p:attrName>
                                        </p:attrNameLst>
                                      </p:cBhvr>
                                      <p:tavLst>
                                        <p:tav tm="0">
                                          <p:val>
                                            <p:strVal val="#ppt_y+0.1"/>
                                          </p:val>
                                        </p:tav>
                                        <p:tav tm="100000">
                                          <p:val>
                                            <p:strVal val="#ppt_y"/>
                                          </p:val>
                                        </p:tav>
                                      </p:tavLst>
                                    </p:anim>
                                    <p:animEffect transition="in" filter="fade">
                                      <p:cBhvr>
                                        <p:cTn id="92" dur="500"/>
                                        <p:tgtEl>
                                          <p:spTgt spid="29"/>
                                        </p:tgtEl>
                                      </p:cBhvr>
                                    </p:animEffect>
                                  </p:childTnLst>
                                </p:cTn>
                              </p:par>
                              <p:par>
                                <p:cTn id="98" presetID="2" presetClass="entr" presetSubtype="4"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 calcmode="lin" valueType="num">
                                      <p:cBhvr additive="base">
                                        <p:cTn id="95" dur="500" fill="hold"/>
                                        <p:tgtEl>
                                          <p:spTgt spid="31"/>
                                        </p:tgtEl>
                                        <p:attrNameLst>
                                          <p:attrName>ppt_x</p:attrName>
                                        </p:attrNameLst>
                                      </p:cBhvr>
                                      <p:tavLst>
                                        <p:tav tm="0">
                                          <p:val>
                                            <p:strVal val="#ppt_x"/>
                                          </p:val>
                                        </p:tav>
                                        <p:tav tm="100000">
                                          <p:val>
                                            <p:strVal val="#ppt_x"/>
                                          </p:val>
                                        </p:tav>
                                      </p:tavLst>
                                    </p:anim>
                                    <p:anim calcmode="lin" valueType="num">
                                      <p:cBhvr additive="base">
                                        <p:cTn id="96" dur="500" fill="hold"/>
                                        <p:tgtEl>
                                          <p:spTgt spid="31"/>
                                        </p:tgtEl>
                                        <p:attrNameLst>
                                          <p:attrName>ppt_y</p:attrName>
                                        </p:attrNameLst>
                                      </p:cBhvr>
                                      <p:tavLst>
                                        <p:tav tm="0">
                                          <p:val>
                                            <p:strVal val="#ppt_y+0.1"/>
                                          </p:val>
                                        </p:tav>
                                        <p:tav tm="100000">
                                          <p:val>
                                            <p:strVal val="#ppt_y"/>
                                          </p:val>
                                        </p:tav>
                                      </p:tavLst>
                                    </p:anim>
                                    <p:animEffect transition="in" filter="fade">
                                      <p:cBhvr>
                                        <p:cTn id="97" dur="500"/>
                                        <p:tgtEl>
                                          <p:spTgt spid="31"/>
                                        </p:tgtEl>
                                      </p:cBhvr>
                                    </p:animEffect>
                                  </p:childTnLst>
                                </p:cTn>
                              </p:par>
                              <p:par>
                                <p:cTn id="103" presetID="2" presetClass="entr" presetSubtype="4" fill="hold" grpId="0" nodeType="withEffect">
                                  <p:stCondLst>
                                    <p:cond delay="0"/>
                                  </p:stCondLst>
                                  <p:childTnLst>
                                    <p:set>
                                      <p:cBhvr>
                                        <p:cTn id="99" dur="1" fill="hold">
                                          <p:stCondLst>
                                            <p:cond delay="0"/>
                                          </p:stCondLst>
                                        </p:cTn>
                                        <p:tgtEl>
                                          <p:spTgt spid="32"/>
                                        </p:tgtEl>
                                        <p:attrNameLst>
                                          <p:attrName>style.visibility</p:attrName>
                                        </p:attrNameLst>
                                      </p:cBhvr>
                                      <p:to>
                                        <p:strVal val="visible"/>
                                      </p:to>
                                    </p:set>
                                    <p:anim calcmode="lin" valueType="num">
                                      <p:cBhvr additive="base">
                                        <p:cTn id="100" dur="500" fill="hold"/>
                                        <p:tgtEl>
                                          <p:spTgt spid="32"/>
                                        </p:tgtEl>
                                        <p:attrNameLst>
                                          <p:attrName>ppt_x</p:attrName>
                                        </p:attrNameLst>
                                      </p:cBhvr>
                                      <p:tavLst>
                                        <p:tav tm="0">
                                          <p:val>
                                            <p:strVal val="#ppt_x"/>
                                          </p:val>
                                        </p:tav>
                                        <p:tav tm="100000">
                                          <p:val>
                                            <p:strVal val="#ppt_x"/>
                                          </p:val>
                                        </p:tav>
                                      </p:tavLst>
                                    </p:anim>
                                    <p:anim calcmode="lin" valueType="num">
                                      <p:cBhvr additive="base">
                                        <p:cTn id="101" dur="500" fill="hold"/>
                                        <p:tgtEl>
                                          <p:spTgt spid="32"/>
                                        </p:tgtEl>
                                        <p:attrNameLst>
                                          <p:attrName>ppt_y</p:attrName>
                                        </p:attrNameLst>
                                      </p:cBhvr>
                                      <p:tavLst>
                                        <p:tav tm="0">
                                          <p:val>
                                            <p:strVal val="#ppt_y+0.1"/>
                                          </p:val>
                                        </p:tav>
                                        <p:tav tm="100000">
                                          <p:val>
                                            <p:strVal val="#ppt_y"/>
                                          </p:val>
                                        </p:tav>
                                      </p:tavLst>
                                    </p:anim>
                                    <p:animEffect transition="in" filter="fade">
                                      <p:cBhvr>
                                        <p:cTn id="102" dur="500"/>
                                        <p:tgtEl>
                                          <p:spTgt spid="32"/>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33"/>
                                        </p:tgtEl>
                                        <p:attrNameLst>
                                          <p:attrName>style.visibility</p:attrName>
                                        </p:attrNameLst>
                                      </p:cBhvr>
                                      <p:to>
                                        <p:strVal val="visible"/>
                                      </p:to>
                                    </p:set>
                                    <p:anim calcmode="lin" valueType="num">
                                      <p:cBhvr additive="base">
                                        <p:cTn id="105" dur="500" fill="hold"/>
                                        <p:tgtEl>
                                          <p:spTgt spid="33"/>
                                        </p:tgtEl>
                                        <p:attrNameLst>
                                          <p:attrName>ppt_x</p:attrName>
                                        </p:attrNameLst>
                                      </p:cBhvr>
                                      <p:tavLst>
                                        <p:tav tm="0">
                                          <p:val>
                                            <p:strVal val="#ppt_x"/>
                                          </p:val>
                                        </p:tav>
                                        <p:tav tm="100000">
                                          <p:val>
                                            <p:strVal val="#ppt_x"/>
                                          </p:val>
                                        </p:tav>
                                      </p:tavLst>
                                    </p:anim>
                                    <p:anim calcmode="lin" valueType="num">
                                      <p:cBhvr additive="base">
                                        <p:cTn id="106" dur="500" fill="hold"/>
                                        <p:tgtEl>
                                          <p:spTgt spid="33"/>
                                        </p:tgtEl>
                                        <p:attrNameLst>
                                          <p:attrName>ppt_y</p:attrName>
                                        </p:attrNameLst>
                                      </p:cBhvr>
                                      <p:tavLst>
                                        <p:tav tm="0">
                                          <p:val>
                                            <p:strVal val="#ppt_y+0.1"/>
                                          </p:val>
                                        </p:tav>
                                        <p:tav tm="100000">
                                          <p:val>
                                            <p:strVal val="#ppt_y"/>
                                          </p:val>
                                        </p:tav>
                                      </p:tavLst>
                                    </p:anim>
                                    <p:animEffect transition="in" filter="fade">
                                      <p:cBhvr>
                                        <p:cTn id="107" dur="500"/>
                                        <p:tgtEl>
                                          <p:spTgt spid="33"/>
                                        </p:tgtEl>
                                      </p:cBhvr>
                                    </p:animEffect>
                                  </p:childTnLst>
                                </p:cTn>
                              </p:par>
                              <p:par>
                                <p:cTn id="113" presetID="2" presetClass="entr" presetSubtype="4" fill="hold" grpId="0" nodeType="withEffect">
                                  <p:stCondLst>
                                    <p:cond delay="60"/>
                                  </p:stCondLst>
                                  <p:childTnLst>
                                    <p:set>
                                      <p:cBhvr>
                                        <p:cTn id="109" dur="1" fill="hold">
                                          <p:stCondLst>
                                            <p:cond delay="0"/>
                                          </p:stCondLst>
                                        </p:cTn>
                                        <p:tgtEl>
                                          <p:spTgt spid="34"/>
                                        </p:tgtEl>
                                        <p:attrNameLst>
                                          <p:attrName>style.visibility</p:attrName>
                                        </p:attrNameLst>
                                      </p:cBhvr>
                                      <p:to>
                                        <p:strVal val="visible"/>
                                      </p:to>
                                    </p:set>
                                    <p:anim calcmode="lin" valueType="num">
                                      <p:cBhvr additive="base">
                                        <p:cTn id="110" dur="500" fill="hold"/>
                                        <p:tgtEl>
                                          <p:spTgt spid="34"/>
                                        </p:tgtEl>
                                        <p:attrNameLst>
                                          <p:attrName>ppt_x</p:attrName>
                                        </p:attrNameLst>
                                      </p:cBhvr>
                                      <p:tavLst>
                                        <p:tav tm="0">
                                          <p:val>
                                            <p:strVal val="#ppt_x"/>
                                          </p:val>
                                        </p:tav>
                                        <p:tav tm="100000">
                                          <p:val>
                                            <p:strVal val="#ppt_x"/>
                                          </p:val>
                                        </p:tav>
                                      </p:tavLst>
                                    </p:anim>
                                    <p:anim calcmode="lin" valueType="num">
                                      <p:cBhvr additive="base">
                                        <p:cTn id="111" dur="500" fill="hold"/>
                                        <p:tgtEl>
                                          <p:spTgt spid="34"/>
                                        </p:tgtEl>
                                        <p:attrNameLst>
                                          <p:attrName>ppt_y</p:attrName>
                                        </p:attrNameLst>
                                      </p:cBhvr>
                                      <p:tavLst>
                                        <p:tav tm="0">
                                          <p:val>
                                            <p:strVal val="#ppt_y+0.1"/>
                                          </p:val>
                                        </p:tav>
                                        <p:tav tm="100000">
                                          <p:val>
                                            <p:strVal val="#ppt_y"/>
                                          </p:val>
                                        </p:tav>
                                      </p:tavLst>
                                    </p:anim>
                                    <p:animEffect transition="in" filter="fade">
                                      <p:cBhvr>
                                        <p:cTn id="112" dur="500"/>
                                        <p:tgtEl>
                                          <p:spTgt spid="34"/>
                                        </p:tgtEl>
                                      </p:cBhvr>
                                    </p:animEffect>
                                  </p:childTnLst>
                                </p:cTn>
                              </p:par>
                            </p:childTnLst>
                          </p:cTn>
                        </p:par>
                      </p:childTnLst>
                    </p:cTn>
                  </p:par>
                  <p:par>
                    <p:cTn id="114" fill="hold">
                      <p:stCondLst>
                        <p:cond delay="indefinite"/>
                      </p:stCondLst>
                      <p:childTnLst>
                        <p:par>
                          <p:cTn id="115" fill="hold">
                            <p:stCondLst>
                              <p:cond delay="0"/>
                            </p:stCondLst>
                            <p:childTnLst>
                              <p:par>
                                <p:cTn id="120" presetID="2" presetClass="entr" presetSubtype="4" fill="hold" grpId="0" nodeType="clickEffect">
                                  <p:stCondLst>
                                    <p:cond delay="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1"/>
                                          </p:val>
                                        </p:tav>
                                        <p:tav tm="100000">
                                          <p:val>
                                            <p:strVal val="#ppt_y"/>
                                          </p:val>
                                        </p:tav>
                                      </p:tavLst>
                                    </p:anim>
                                    <p:animEffect transition="in" filter="fade">
                                      <p:cBhvr>
                                        <p:cTn id="119" dur="500"/>
                                        <p:tgtEl>
                                          <p:spTgt spid="30"/>
                                        </p:tgtEl>
                                      </p:cBhvr>
                                    </p:animEffect>
                                  </p:childTnLst>
                                </p:cTn>
                              </p:par>
                              <p:par>
                                <p:cTn id="125" presetID="2" presetClass="entr" presetSubtype="4" fill="hold" grpId="0" nodeType="withEffect">
                                  <p:stCondLst>
                                    <p:cond delay="0"/>
                                  </p:stCondLst>
                                  <p:childTnLst>
                                    <p:set>
                                      <p:cBhvr>
                                        <p:cTn id="121" dur="1" fill="hold">
                                          <p:stCondLst>
                                            <p:cond delay="0"/>
                                          </p:stCondLst>
                                        </p:cTn>
                                        <p:tgtEl>
                                          <p:spTgt spid="35"/>
                                        </p:tgtEl>
                                        <p:attrNameLst>
                                          <p:attrName>style.visibility</p:attrName>
                                        </p:attrNameLst>
                                      </p:cBhvr>
                                      <p:to>
                                        <p:strVal val="visible"/>
                                      </p:to>
                                    </p:set>
                                    <p:anim calcmode="lin" valueType="num">
                                      <p:cBhvr additive="base">
                                        <p:cTn id="122" dur="500" fill="hold"/>
                                        <p:tgtEl>
                                          <p:spTgt spid="35"/>
                                        </p:tgtEl>
                                        <p:attrNameLst>
                                          <p:attrName>ppt_x</p:attrName>
                                        </p:attrNameLst>
                                      </p:cBhvr>
                                      <p:tavLst>
                                        <p:tav tm="0">
                                          <p:val>
                                            <p:strVal val="#ppt_x"/>
                                          </p:val>
                                        </p:tav>
                                        <p:tav tm="100000">
                                          <p:val>
                                            <p:strVal val="#ppt_x"/>
                                          </p:val>
                                        </p:tav>
                                      </p:tavLst>
                                    </p:anim>
                                    <p:anim calcmode="lin" valueType="num">
                                      <p:cBhvr additive="base">
                                        <p:cTn id="123" dur="500" fill="hold"/>
                                        <p:tgtEl>
                                          <p:spTgt spid="35"/>
                                        </p:tgtEl>
                                        <p:attrNameLst>
                                          <p:attrName>ppt_y</p:attrName>
                                        </p:attrNameLst>
                                      </p:cBhvr>
                                      <p:tavLst>
                                        <p:tav tm="0">
                                          <p:val>
                                            <p:strVal val="#ppt_y+0.1"/>
                                          </p:val>
                                        </p:tav>
                                        <p:tav tm="100000">
                                          <p:val>
                                            <p:strVal val="#ppt_y"/>
                                          </p:val>
                                        </p:tav>
                                      </p:tavLst>
                                    </p:anim>
                                    <p:animEffect transition="in" filter="fade">
                                      <p:cBhvr>
                                        <p:cTn id="124" dur="500"/>
                                        <p:tgtEl>
                                          <p:spTgt spid="35"/>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36"/>
                                        </p:tgtEl>
                                        <p:attrNameLst>
                                          <p:attrName>style.visibility</p:attrName>
                                        </p:attrNameLst>
                                      </p:cBhvr>
                                      <p:to>
                                        <p:strVal val="visible"/>
                                      </p:to>
                                    </p:set>
                                    <p:anim calcmode="lin" valueType="num">
                                      <p:cBhvr additive="base">
                                        <p:cTn id="127" dur="500" fill="hold"/>
                                        <p:tgtEl>
                                          <p:spTgt spid="36"/>
                                        </p:tgtEl>
                                        <p:attrNameLst>
                                          <p:attrName>ppt_x</p:attrName>
                                        </p:attrNameLst>
                                      </p:cBhvr>
                                      <p:tavLst>
                                        <p:tav tm="0">
                                          <p:val>
                                            <p:strVal val="#ppt_x"/>
                                          </p:val>
                                        </p:tav>
                                        <p:tav tm="100000">
                                          <p:val>
                                            <p:strVal val="#ppt_x"/>
                                          </p:val>
                                        </p:tav>
                                      </p:tavLst>
                                    </p:anim>
                                    <p:anim calcmode="lin" valueType="num">
                                      <p:cBhvr additive="base">
                                        <p:cTn id="128" dur="500" fill="hold"/>
                                        <p:tgtEl>
                                          <p:spTgt spid="36"/>
                                        </p:tgtEl>
                                        <p:attrNameLst>
                                          <p:attrName>ppt_y</p:attrName>
                                        </p:attrNameLst>
                                      </p:cBhvr>
                                      <p:tavLst>
                                        <p:tav tm="0">
                                          <p:val>
                                            <p:strVal val="#ppt_y+0.1"/>
                                          </p:val>
                                        </p:tav>
                                        <p:tav tm="100000">
                                          <p:val>
                                            <p:strVal val="#ppt_y"/>
                                          </p:val>
                                        </p:tav>
                                      </p:tavLst>
                                    </p:anim>
                                    <p:animEffect transition="in" filter="fade">
                                      <p:cBhvr>
                                        <p:cTn id="129" dur="500"/>
                                        <p:tgtEl>
                                          <p:spTgt spid="36"/>
                                        </p:tgtEl>
                                      </p:cBhvr>
                                    </p:animEffect>
                                  </p:childTnLst>
                                </p:cTn>
                              </p:par>
                              <p:par>
                                <p:cTn id="135" presetID="2" presetClass="entr" presetSubtype="4" fill="hold" grpId="0" nodeType="withEffect">
                                  <p:stCondLst>
                                    <p:cond delay="0"/>
                                  </p:stCondLst>
                                  <p:childTnLst>
                                    <p:set>
                                      <p:cBhvr>
                                        <p:cTn id="131" dur="1" fill="hold">
                                          <p:stCondLst>
                                            <p:cond delay="0"/>
                                          </p:stCondLst>
                                        </p:cTn>
                                        <p:tgtEl>
                                          <p:spTgt spid="37"/>
                                        </p:tgtEl>
                                        <p:attrNameLst>
                                          <p:attrName>style.visibility</p:attrName>
                                        </p:attrNameLst>
                                      </p:cBhvr>
                                      <p:to>
                                        <p:strVal val="visible"/>
                                      </p:to>
                                    </p:set>
                                    <p:anim calcmode="lin" valueType="num">
                                      <p:cBhvr additive="base">
                                        <p:cTn id="132" dur="500" fill="hold"/>
                                        <p:tgtEl>
                                          <p:spTgt spid="37"/>
                                        </p:tgtEl>
                                        <p:attrNameLst>
                                          <p:attrName>ppt_x</p:attrName>
                                        </p:attrNameLst>
                                      </p:cBhvr>
                                      <p:tavLst>
                                        <p:tav tm="0">
                                          <p:val>
                                            <p:strVal val="#ppt_x"/>
                                          </p:val>
                                        </p:tav>
                                        <p:tav tm="100000">
                                          <p:val>
                                            <p:strVal val="#ppt_x"/>
                                          </p:val>
                                        </p:tav>
                                      </p:tavLst>
                                    </p:anim>
                                    <p:anim calcmode="lin" valueType="num">
                                      <p:cBhvr additive="base">
                                        <p:cTn id="133" dur="500" fill="hold"/>
                                        <p:tgtEl>
                                          <p:spTgt spid="37"/>
                                        </p:tgtEl>
                                        <p:attrNameLst>
                                          <p:attrName>ppt_y</p:attrName>
                                        </p:attrNameLst>
                                      </p:cBhvr>
                                      <p:tavLst>
                                        <p:tav tm="0">
                                          <p:val>
                                            <p:strVal val="#ppt_y+0.1"/>
                                          </p:val>
                                        </p:tav>
                                        <p:tav tm="100000">
                                          <p:val>
                                            <p:strVal val="#ppt_y"/>
                                          </p:val>
                                        </p:tav>
                                      </p:tavLst>
                                    </p:anim>
                                    <p:animEffect transition="in" filter="fade">
                                      <p:cBhvr>
                                        <p:cTn id="134" dur="500"/>
                                        <p:tgtEl>
                                          <p:spTgt spid="37"/>
                                        </p:tgtEl>
                                      </p:cBhvr>
                                    </p:animEffect>
                                  </p:childTnLst>
                                </p:cTn>
                              </p:par>
                              <p:par>
                                <p:cTn id="140" presetID="2" presetClass="entr" presetSubtype="4" fill="hold" grpId="0" nodeType="withEffect">
                                  <p:stCondLst>
                                    <p:cond delay="60"/>
                                  </p:stCondLst>
                                  <p:childTnLst>
                                    <p:set>
                                      <p:cBhvr>
                                        <p:cTn id="136" dur="1" fill="hold">
                                          <p:stCondLst>
                                            <p:cond delay="0"/>
                                          </p:stCondLst>
                                        </p:cTn>
                                        <p:tgtEl>
                                          <p:spTgt spid="38"/>
                                        </p:tgtEl>
                                        <p:attrNameLst>
                                          <p:attrName>style.visibility</p:attrName>
                                        </p:attrNameLst>
                                      </p:cBhvr>
                                      <p:to>
                                        <p:strVal val="visible"/>
                                      </p:to>
                                    </p:set>
                                    <p:anim calcmode="lin" valueType="num">
                                      <p:cBhvr additive="base">
                                        <p:cTn id="137" dur="500" fill="hold"/>
                                        <p:tgtEl>
                                          <p:spTgt spid="38"/>
                                        </p:tgtEl>
                                        <p:attrNameLst>
                                          <p:attrName>ppt_x</p:attrName>
                                        </p:attrNameLst>
                                      </p:cBhvr>
                                      <p:tavLst>
                                        <p:tav tm="0">
                                          <p:val>
                                            <p:strVal val="#ppt_x"/>
                                          </p:val>
                                        </p:tav>
                                        <p:tav tm="100000">
                                          <p:val>
                                            <p:strVal val="#ppt_x"/>
                                          </p:val>
                                        </p:tav>
                                      </p:tavLst>
                                    </p:anim>
                                    <p:anim calcmode="lin" valueType="num">
                                      <p:cBhvr additive="base">
                                        <p:cTn id="138" dur="500" fill="hold"/>
                                        <p:tgtEl>
                                          <p:spTgt spid="38"/>
                                        </p:tgtEl>
                                        <p:attrNameLst>
                                          <p:attrName>ppt_y</p:attrName>
                                        </p:attrNameLst>
                                      </p:cBhvr>
                                      <p:tavLst>
                                        <p:tav tm="0">
                                          <p:val>
                                            <p:strVal val="#ppt_y+0.1"/>
                                          </p:val>
                                        </p:tav>
                                        <p:tav tm="100000">
                                          <p:val>
                                            <p:strVal val="#ppt_y"/>
                                          </p:val>
                                        </p:tav>
                                      </p:tavLst>
                                    </p:anim>
                                    <p:animEffect transition="in" filter="fade">
                                      <p:cBhvr>
                                        <p:cTn id="139" dur="500"/>
                                        <p:tgtEl>
                                          <p:spTgt spid="38"/>
                                        </p:tgtEl>
                                      </p:cBhvr>
                                    </p:animEffect>
                                  </p:childTnLst>
                                </p:cTn>
                              </p:par>
                            </p:childTnLst>
                          </p:cTn>
                        </p:par>
                      </p:childTnLst>
                    </p:cTn>
                  </p:par>
                  <p:par>
                    <p:cTn id="141" fill="hold">
                      <p:stCondLst>
                        <p:cond delay="indefinite"/>
                      </p:stCondLst>
                      <p:childTnLst>
                        <p:par>
                          <p:cTn id="142" fill="hold">
                            <p:stCondLst>
                              <p:cond delay="0"/>
                            </p:stCondLst>
                            <p:childTnLst>
                              <p:par>
                                <p:cTn id="147" presetID="2" presetClass="entr" presetSubtype="4" fill="hold" grpId="0" nodeType="clickEffect">
                                  <p:stCondLst>
                                    <p:cond delay="0"/>
                                  </p:stCondLst>
                                  <p:childTnLst>
                                    <p:set>
                                      <p:cBhvr>
                                        <p:cTn id="143" dur="1" fill="hold">
                                          <p:stCondLst>
                                            <p:cond delay="0"/>
                                          </p:stCondLst>
                                        </p:cTn>
                                        <p:tgtEl>
                                          <p:spTgt spid="39"/>
                                        </p:tgtEl>
                                        <p:attrNameLst>
                                          <p:attrName>style.visibility</p:attrName>
                                        </p:attrNameLst>
                                      </p:cBhvr>
                                      <p:to>
                                        <p:strVal val="visible"/>
                                      </p:to>
                                    </p:set>
                                    <p:anim calcmode="lin" valueType="num">
                                      <p:cBhvr additive="base">
                                        <p:cTn id="144" dur="500" fill="hold"/>
                                        <p:tgtEl>
                                          <p:spTgt spid="39"/>
                                        </p:tgtEl>
                                        <p:attrNameLst>
                                          <p:attrName>ppt_x</p:attrName>
                                        </p:attrNameLst>
                                      </p:cBhvr>
                                      <p:tavLst>
                                        <p:tav tm="0">
                                          <p:val>
                                            <p:strVal val="#ppt_x"/>
                                          </p:val>
                                        </p:tav>
                                        <p:tav tm="100000">
                                          <p:val>
                                            <p:strVal val="#ppt_x"/>
                                          </p:val>
                                        </p:tav>
                                      </p:tavLst>
                                    </p:anim>
                                    <p:anim calcmode="lin" valueType="num">
                                      <p:cBhvr additive="base">
                                        <p:cTn id="145" dur="500" fill="hold"/>
                                        <p:tgtEl>
                                          <p:spTgt spid="39"/>
                                        </p:tgtEl>
                                        <p:attrNameLst>
                                          <p:attrName>ppt_y</p:attrName>
                                        </p:attrNameLst>
                                      </p:cBhvr>
                                      <p:tavLst>
                                        <p:tav tm="0">
                                          <p:val>
                                            <p:strVal val="#ppt_y+0.1"/>
                                          </p:val>
                                        </p:tav>
                                        <p:tav tm="100000">
                                          <p:val>
                                            <p:strVal val="#ppt_y"/>
                                          </p:val>
                                        </p:tav>
                                      </p:tavLst>
                                    </p:anim>
                                    <p:animEffect transition="in" filter="fade">
                                      <p:cBhvr>
                                        <p:cTn id="146" dur="500"/>
                                        <p:tgtEl>
                                          <p:spTgt spid="39"/>
                                        </p:tgtEl>
                                      </p:cBhvr>
                                    </p:animEffect>
                                  </p:childTnLst>
                                </p:cTn>
                              </p:par>
                              <p:par>
                                <p:cTn id="152" presetID="2" presetClass="entr" presetSubtype="4" fill="hold" grpId="0" nodeType="withEffect">
                                  <p:stCondLst>
                                    <p:cond delay="0"/>
                                  </p:stCondLst>
                                  <p:childTnLst>
                                    <p:set>
                                      <p:cBhvr>
                                        <p:cTn id="148" dur="1" fill="hold">
                                          <p:stCondLst>
                                            <p:cond delay="0"/>
                                          </p:stCondLst>
                                        </p:cTn>
                                        <p:tgtEl>
                                          <p:spTgt spid="40"/>
                                        </p:tgtEl>
                                        <p:attrNameLst>
                                          <p:attrName>style.visibility</p:attrName>
                                        </p:attrNameLst>
                                      </p:cBhvr>
                                      <p:to>
                                        <p:strVal val="visible"/>
                                      </p:to>
                                    </p:set>
                                    <p:anim calcmode="lin" valueType="num">
                                      <p:cBhvr additive="base">
                                        <p:cTn id="149" dur="500" fill="hold"/>
                                        <p:tgtEl>
                                          <p:spTgt spid="40"/>
                                        </p:tgtEl>
                                        <p:attrNameLst>
                                          <p:attrName>ppt_x</p:attrName>
                                        </p:attrNameLst>
                                      </p:cBhvr>
                                      <p:tavLst>
                                        <p:tav tm="0">
                                          <p:val>
                                            <p:strVal val="#ppt_x"/>
                                          </p:val>
                                        </p:tav>
                                        <p:tav tm="100000">
                                          <p:val>
                                            <p:strVal val="#ppt_x"/>
                                          </p:val>
                                        </p:tav>
                                      </p:tavLst>
                                    </p:anim>
                                    <p:anim calcmode="lin" valueType="num">
                                      <p:cBhvr additive="base">
                                        <p:cTn id="150" dur="500" fill="hold"/>
                                        <p:tgtEl>
                                          <p:spTgt spid="40"/>
                                        </p:tgtEl>
                                        <p:attrNameLst>
                                          <p:attrName>ppt_y</p:attrName>
                                        </p:attrNameLst>
                                      </p:cBhvr>
                                      <p:tavLst>
                                        <p:tav tm="0">
                                          <p:val>
                                            <p:strVal val="#ppt_y+0.1"/>
                                          </p:val>
                                        </p:tav>
                                        <p:tav tm="100000">
                                          <p:val>
                                            <p:strVal val="#ppt_y"/>
                                          </p:val>
                                        </p:tav>
                                      </p:tavLst>
                                    </p:anim>
                                    <p:animEffect transition="in" filter="fade">
                                      <p:cBhvr>
                                        <p:cTn id="151" dur="500"/>
                                        <p:tgtEl>
                                          <p:spTgt spid="40"/>
                                        </p:tgtEl>
                                      </p:cBhvr>
                                    </p:animEffect>
                                  </p:childTnLst>
                                </p:cTn>
                              </p:par>
                              <p:par>
                                <p:cTn id="157" presetID="2" presetClass="entr" presetSubtype="4" fill="hold" grpId="0" nodeType="withEffect">
                                  <p:stCondLst>
                                    <p:cond delay="0"/>
                                  </p:stCondLst>
                                  <p:childTnLst>
                                    <p:set>
                                      <p:cBhvr>
                                        <p:cTn id="153" dur="1" fill="hold">
                                          <p:stCondLst>
                                            <p:cond delay="0"/>
                                          </p:stCondLst>
                                        </p:cTn>
                                        <p:tgtEl>
                                          <p:spTgt spid="41"/>
                                        </p:tgtEl>
                                        <p:attrNameLst>
                                          <p:attrName>style.visibility</p:attrName>
                                        </p:attrNameLst>
                                      </p:cBhvr>
                                      <p:to>
                                        <p:strVal val="visible"/>
                                      </p:to>
                                    </p:set>
                                    <p:anim calcmode="lin" valueType="num">
                                      <p:cBhvr additive="base">
                                        <p:cTn id="154" dur="500" fill="hold"/>
                                        <p:tgtEl>
                                          <p:spTgt spid="41"/>
                                        </p:tgtEl>
                                        <p:attrNameLst>
                                          <p:attrName>ppt_x</p:attrName>
                                        </p:attrNameLst>
                                      </p:cBhvr>
                                      <p:tavLst>
                                        <p:tav tm="0">
                                          <p:val>
                                            <p:strVal val="#ppt_x"/>
                                          </p:val>
                                        </p:tav>
                                        <p:tav tm="100000">
                                          <p:val>
                                            <p:strVal val="#ppt_x"/>
                                          </p:val>
                                        </p:tav>
                                      </p:tavLst>
                                    </p:anim>
                                    <p:anim calcmode="lin" valueType="num">
                                      <p:cBhvr additive="base">
                                        <p:cTn id="155" dur="500" fill="hold"/>
                                        <p:tgtEl>
                                          <p:spTgt spid="41"/>
                                        </p:tgtEl>
                                        <p:attrNameLst>
                                          <p:attrName>ppt_y</p:attrName>
                                        </p:attrNameLst>
                                      </p:cBhvr>
                                      <p:tavLst>
                                        <p:tav tm="0">
                                          <p:val>
                                            <p:strVal val="#ppt_y+0.1"/>
                                          </p:val>
                                        </p:tav>
                                        <p:tav tm="100000">
                                          <p:val>
                                            <p:strVal val="#ppt_y"/>
                                          </p:val>
                                        </p:tav>
                                      </p:tavLst>
                                    </p:anim>
                                    <p:animEffect transition="in" filter="fade">
                                      <p:cBhvr>
                                        <p:cTn id="15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Compatibility Rules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Each subject gets a rule that says which schema changes the registry accepts</a:t>
            </a:r>
          </a:p>
        </p:txBody>
      </p:sp>
      <p:sp>
        <p:nvSpPr>
          <p:cNvPr id="11" name="a1u_card10"/>
          <p:cNvSpPr/>
          <p:nvPr/>
        </p:nvSpPr>
        <p:spPr>
          <a:xfrm>
            <a:off x="457200" y="1280160"/>
            <a:ext cx="2609088"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09088" cy="6400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90_ct12"/>
          <p:cNvSpPr txBox="1"/>
          <p:nvPr/>
        </p:nvSpPr>
        <p:spPr>
          <a:xfrm>
            <a:off x="621792" y="1481328"/>
            <a:ext cx="2279904" cy="274320"/>
          </a:xfrm>
          <a:prstGeom prst="rect">
            <a:avLst/>
          </a:prstGeom>
          <a:noFill/>
        </p:spPr>
        <p:txBody>
          <a:bodyPr wrap="square" lIns="0" tIns="0" rIns="0" bIns="0" anchor="ctr">
            <a:spAutoFit/>
          </a:bodyPr>
          <a:lstStyle/>
          <a:p>
            <a:pPr algn="l"/>
            <a:r>
              <a:rPr sz="1300" b="1">
                <a:solidFill>
                  <a:srgbClr val="1C1917"/>
                </a:solidFill>
                <a:latin typeface="Segoe UI"/>
              </a:rPr>
              <a:t>BACKWARD</a:t>
            </a:r>
          </a:p>
        </p:txBody>
      </p:sp>
      <p:sp>
        <p:nvSpPr>
          <p:cNvPr id="14" name="a1ud120_cs13"/>
          <p:cNvSpPr txBox="1"/>
          <p:nvPr/>
        </p:nvSpPr>
        <p:spPr>
          <a:xfrm>
            <a:off x="621792" y="1755648"/>
            <a:ext cx="2279904" cy="237744"/>
          </a:xfrm>
          <a:prstGeom prst="rect">
            <a:avLst/>
          </a:prstGeom>
          <a:noFill/>
        </p:spPr>
        <p:txBody>
          <a:bodyPr wrap="square" lIns="0" tIns="0" rIns="0" bIns="0" anchor="ctr">
            <a:spAutoFit/>
          </a:bodyPr>
          <a:lstStyle/>
          <a:p>
            <a:pPr algn="l"/>
            <a:r>
              <a:rPr sz="1000" b="1">
                <a:solidFill>
                  <a:srgbClr val="0E7490"/>
                </a:solidFill>
                <a:latin typeface="Consolas"/>
              </a:rPr>
              <a:t>new reads old</a:t>
            </a:r>
          </a:p>
        </p:txBody>
      </p:sp>
      <p:sp>
        <p:nvSpPr>
          <p:cNvPr id="15" name="a1ud150_cb14"/>
          <p:cNvSpPr txBox="1"/>
          <p:nvPr/>
        </p:nvSpPr>
        <p:spPr>
          <a:xfrm>
            <a:off x="621792" y="2011680"/>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consumers on the new schema read old data</a:t>
            </a:r>
          </a:p>
        </p:txBody>
      </p:sp>
      <p:sp>
        <p:nvSpPr>
          <p:cNvPr id="16" name="a1ud220_cb15"/>
          <p:cNvSpPr txBox="1"/>
          <p:nvPr/>
        </p:nvSpPr>
        <p:spPr>
          <a:xfrm>
            <a:off x="621792" y="2395728"/>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upgrade consumers first</a:t>
            </a:r>
          </a:p>
        </p:txBody>
      </p:sp>
      <p:sp>
        <p:nvSpPr>
          <p:cNvPr id="17" name="a1ud290_cb16"/>
          <p:cNvSpPr txBox="1"/>
          <p:nvPr/>
        </p:nvSpPr>
        <p:spPr>
          <a:xfrm>
            <a:off x="621792" y="2779776"/>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safe: delete a field; add one with a default</a:t>
            </a:r>
          </a:p>
        </p:txBody>
      </p:sp>
      <p:sp>
        <p:nvSpPr>
          <p:cNvPr id="18" name="a2u_card17"/>
          <p:cNvSpPr/>
          <p:nvPr/>
        </p:nvSpPr>
        <p:spPr>
          <a:xfrm>
            <a:off x="3267456" y="1280160"/>
            <a:ext cx="2609088"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2u_acc18"/>
          <p:cNvSpPr/>
          <p:nvPr/>
        </p:nvSpPr>
        <p:spPr>
          <a:xfrm>
            <a:off x="3267456" y="1280160"/>
            <a:ext cx="2609088" cy="640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2ud90_ct19"/>
          <p:cNvSpPr txBox="1"/>
          <p:nvPr/>
        </p:nvSpPr>
        <p:spPr>
          <a:xfrm>
            <a:off x="3432048" y="1481328"/>
            <a:ext cx="2279904" cy="274320"/>
          </a:xfrm>
          <a:prstGeom prst="rect">
            <a:avLst/>
          </a:prstGeom>
          <a:noFill/>
        </p:spPr>
        <p:txBody>
          <a:bodyPr wrap="square" lIns="0" tIns="0" rIns="0" bIns="0" anchor="ctr">
            <a:spAutoFit/>
          </a:bodyPr>
          <a:lstStyle/>
          <a:p>
            <a:pPr algn="l"/>
            <a:r>
              <a:rPr sz="1300" b="1">
                <a:solidFill>
                  <a:srgbClr val="1C1917"/>
                </a:solidFill>
                <a:latin typeface="Segoe UI"/>
              </a:rPr>
              <a:t>FORWARD</a:t>
            </a:r>
          </a:p>
        </p:txBody>
      </p:sp>
      <p:sp>
        <p:nvSpPr>
          <p:cNvPr id="21" name="a2ud120_cs20"/>
          <p:cNvSpPr txBox="1"/>
          <p:nvPr/>
        </p:nvSpPr>
        <p:spPr>
          <a:xfrm>
            <a:off x="3432048" y="1755648"/>
            <a:ext cx="2279904" cy="237744"/>
          </a:xfrm>
          <a:prstGeom prst="rect">
            <a:avLst/>
          </a:prstGeom>
          <a:noFill/>
        </p:spPr>
        <p:txBody>
          <a:bodyPr wrap="square" lIns="0" tIns="0" rIns="0" bIns="0" anchor="ctr">
            <a:spAutoFit/>
          </a:bodyPr>
          <a:lstStyle/>
          <a:p>
            <a:pPr algn="l"/>
            <a:r>
              <a:rPr sz="1000" b="1">
                <a:solidFill>
                  <a:srgbClr val="EA580C"/>
                </a:solidFill>
                <a:latin typeface="Consolas"/>
              </a:rPr>
              <a:t>old reads new</a:t>
            </a:r>
          </a:p>
        </p:txBody>
      </p:sp>
      <p:sp>
        <p:nvSpPr>
          <p:cNvPr id="22" name="a2ud150_cb21"/>
          <p:cNvSpPr txBox="1"/>
          <p:nvPr/>
        </p:nvSpPr>
        <p:spPr>
          <a:xfrm>
            <a:off x="3432048" y="2011680"/>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consumers on the old schema read new data</a:t>
            </a:r>
          </a:p>
        </p:txBody>
      </p:sp>
      <p:sp>
        <p:nvSpPr>
          <p:cNvPr id="23" name="a2ud220_cb22"/>
          <p:cNvSpPr txBox="1"/>
          <p:nvPr/>
        </p:nvSpPr>
        <p:spPr>
          <a:xfrm>
            <a:off x="3432048" y="2395728"/>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upgrade producers first</a:t>
            </a:r>
          </a:p>
        </p:txBody>
      </p:sp>
      <p:sp>
        <p:nvSpPr>
          <p:cNvPr id="24" name="a2ud290_cb23"/>
          <p:cNvSpPr txBox="1"/>
          <p:nvPr/>
        </p:nvSpPr>
        <p:spPr>
          <a:xfrm>
            <a:off x="3432048" y="2779776"/>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safe: add a field; delete one with a default</a:t>
            </a:r>
          </a:p>
        </p:txBody>
      </p:sp>
      <p:sp>
        <p:nvSpPr>
          <p:cNvPr id="25" name="a3u_card24"/>
          <p:cNvSpPr/>
          <p:nvPr/>
        </p:nvSpPr>
        <p:spPr>
          <a:xfrm>
            <a:off x="6077712" y="1280160"/>
            <a:ext cx="2609088"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3u_acc25"/>
          <p:cNvSpPr/>
          <p:nvPr/>
        </p:nvSpPr>
        <p:spPr>
          <a:xfrm>
            <a:off x="6077712" y="1280160"/>
            <a:ext cx="2609088" cy="6400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3ud90_ct26"/>
          <p:cNvSpPr txBox="1"/>
          <p:nvPr/>
        </p:nvSpPr>
        <p:spPr>
          <a:xfrm>
            <a:off x="6242304" y="1481328"/>
            <a:ext cx="2279904" cy="274320"/>
          </a:xfrm>
          <a:prstGeom prst="rect">
            <a:avLst/>
          </a:prstGeom>
          <a:noFill/>
        </p:spPr>
        <p:txBody>
          <a:bodyPr wrap="square" lIns="0" tIns="0" rIns="0" bIns="0" anchor="ctr">
            <a:spAutoFit/>
          </a:bodyPr>
          <a:lstStyle/>
          <a:p>
            <a:pPr algn="l"/>
            <a:r>
              <a:rPr sz="1300" b="1">
                <a:solidFill>
                  <a:srgbClr val="1C1917"/>
                </a:solidFill>
                <a:latin typeface="Segoe UI"/>
              </a:rPr>
              <a:t>FULL</a:t>
            </a:r>
          </a:p>
        </p:txBody>
      </p:sp>
      <p:sp>
        <p:nvSpPr>
          <p:cNvPr id="28" name="a3ud120_cs27"/>
          <p:cNvSpPr txBox="1"/>
          <p:nvPr/>
        </p:nvSpPr>
        <p:spPr>
          <a:xfrm>
            <a:off x="6242304" y="1755648"/>
            <a:ext cx="2279904" cy="237744"/>
          </a:xfrm>
          <a:prstGeom prst="rect">
            <a:avLst/>
          </a:prstGeom>
          <a:noFill/>
        </p:spPr>
        <p:txBody>
          <a:bodyPr wrap="square" lIns="0" tIns="0" rIns="0" bIns="0" anchor="ctr">
            <a:spAutoFit/>
          </a:bodyPr>
          <a:lstStyle/>
          <a:p>
            <a:pPr algn="l"/>
            <a:r>
              <a:rPr sz="1000" b="1">
                <a:solidFill>
                  <a:srgbClr val="4F46E5"/>
                </a:solidFill>
                <a:latin typeface="Consolas"/>
              </a:rPr>
              <a:t>both ways</a:t>
            </a:r>
          </a:p>
        </p:txBody>
      </p:sp>
      <p:sp>
        <p:nvSpPr>
          <p:cNvPr id="29" name="a3ud150_cb28"/>
          <p:cNvSpPr txBox="1"/>
          <p:nvPr/>
        </p:nvSpPr>
        <p:spPr>
          <a:xfrm>
            <a:off x="6242304" y="2011680"/>
            <a:ext cx="2279904"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backward and forward at once</a:t>
            </a:r>
          </a:p>
        </p:txBody>
      </p:sp>
      <p:sp>
        <p:nvSpPr>
          <p:cNvPr id="30" name="a3ud220_cb29"/>
          <p:cNvSpPr txBox="1"/>
          <p:nvPr/>
        </p:nvSpPr>
        <p:spPr>
          <a:xfrm>
            <a:off x="6242304" y="2395728"/>
            <a:ext cx="2279904"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upgrade in any order</a:t>
            </a:r>
          </a:p>
        </p:txBody>
      </p:sp>
      <p:sp>
        <p:nvSpPr>
          <p:cNvPr id="31" name="a3ud290_cb30"/>
          <p:cNvSpPr txBox="1"/>
          <p:nvPr/>
        </p:nvSpPr>
        <p:spPr>
          <a:xfrm>
            <a:off x="6242304" y="2779776"/>
            <a:ext cx="2279904"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safe: add or delete fields that have defaults</a:t>
            </a:r>
          </a:p>
        </p:txBody>
      </p:sp>
      <p:sp>
        <p:nvSpPr>
          <p:cNvPr id="32" name="a4u_nb31"/>
          <p:cNvSpPr/>
          <p:nvPr/>
        </p:nvSpPr>
        <p:spPr>
          <a:xfrm>
            <a:off x="457200" y="3858768"/>
            <a:ext cx="8229600" cy="621792"/>
          </a:xfrm>
          <a:prstGeom prst="roundRect">
            <a:avLst>
              <a:gd name="adj" fmla="val 11764"/>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acc32"/>
          <p:cNvSpPr/>
          <p:nvPr/>
        </p:nvSpPr>
        <p:spPr>
          <a:xfrm>
            <a:off x="457200" y="3858768"/>
            <a:ext cx="54864" cy="621792"/>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4u_nt33"/>
          <p:cNvSpPr txBox="1"/>
          <p:nvPr/>
        </p:nvSpPr>
        <p:spPr>
          <a:xfrm>
            <a:off x="658368" y="3858768"/>
            <a:ext cx="7827264" cy="621792"/>
          </a:xfrm>
          <a:prstGeom prst="rect">
            <a:avLst/>
          </a:prstGeom>
          <a:noFill/>
        </p:spPr>
        <p:txBody>
          <a:bodyPr wrap="square" lIns="0" tIns="0" rIns="0" bIns="0" anchor="ctr">
            <a:spAutoFit/>
          </a:bodyPr>
          <a:lstStyle/>
          <a:p>
            <a:pPr algn="l"/>
            <a:r>
              <a:rPr sz="950" b="1">
                <a:solidFill>
                  <a:srgbClr val="A16207"/>
                </a:solidFill>
                <a:latin typeface="Segoe UI"/>
              </a:rPr>
              <a:t>i  </a:t>
            </a:r>
            <a:r>
              <a:rPr sz="950" b="0">
                <a:solidFill>
                  <a:srgbClr val="44403C"/>
                </a:solidFill>
                <a:latin typeface="Segoe UI"/>
              </a:rPr>
              <a:t>Default: BACKWARD. NONE switches checking off; each rule also has a _TRANSITIVE form that checks every earlier version, not just the latest.</a:t>
            </a:r>
          </a:p>
        </p:txBody>
      </p:sp>
      <p:sp>
        <p:nvSpPr>
          <p:cNvPr id="35" name="ft34"/>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06</a:t>
            </a:r>
          </a:p>
        </p:txBody>
      </p:sp>
      <p:sp>
        <p:nvSpPr>
          <p:cNvPr id="36" name="ft35"/>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ft36"/>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38" name="ft37"/>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9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2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5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2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29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6" presetID="2" presetClass="entr" presetSubtype="4"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9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12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15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22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29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childTnLst>
                          </p:cTn>
                        </p:par>
                      </p:childTnLst>
                    </p:cTn>
                  </p:par>
                  <p:par>
                    <p:cTn id="77" fill="hold">
                      <p:stCondLst>
                        <p:cond delay="indefinite"/>
                      </p:stCondLst>
                      <p:childTnLst>
                        <p:par>
                          <p:cTn id="78" fill="hold">
                            <p:stCondLst>
                              <p:cond delay="0"/>
                            </p:stCondLst>
                            <p:childTnLst>
                              <p:par>
                                <p:cTn id="83" presetID="2" presetClass="entr" presetSubtype="4" fill="hold" grpId="0" nodeType="clickEffect">
                                  <p:stCondLst>
                                    <p:cond delay="0"/>
                                  </p:stCondLst>
                                  <p:childTnLst>
                                    <p:set>
                                      <p:cBhvr>
                                        <p:cTn id="79" dur="1" fill="hold">
                                          <p:stCondLst>
                                            <p:cond delay="0"/>
                                          </p:stCondLst>
                                        </p:cTn>
                                        <p:tgtEl>
                                          <p:spTgt spid="25"/>
                                        </p:tgtEl>
                                        <p:attrNameLst>
                                          <p:attrName>style.visibility</p:attrName>
                                        </p:attrNameLst>
                                      </p:cBhvr>
                                      <p:to>
                                        <p:strVal val="visible"/>
                                      </p:to>
                                    </p:set>
                                    <p:anim calcmode="lin" valueType="num">
                                      <p:cBhvr additive="base">
                                        <p:cTn id="80" dur="500" fill="hold"/>
                                        <p:tgtEl>
                                          <p:spTgt spid="25"/>
                                        </p:tgtEl>
                                        <p:attrNameLst>
                                          <p:attrName>ppt_x</p:attrName>
                                        </p:attrNameLst>
                                      </p:cBhvr>
                                      <p:tavLst>
                                        <p:tav tm="0">
                                          <p:val>
                                            <p:strVal val="#ppt_x"/>
                                          </p:val>
                                        </p:tav>
                                        <p:tav tm="100000">
                                          <p:val>
                                            <p:strVal val="#ppt_x"/>
                                          </p:val>
                                        </p:tav>
                                      </p:tavLst>
                                    </p:anim>
                                    <p:anim calcmode="lin" valueType="num">
                                      <p:cBhvr additive="base">
                                        <p:cTn id="81" dur="500" fill="hold"/>
                                        <p:tgtEl>
                                          <p:spTgt spid="25"/>
                                        </p:tgtEl>
                                        <p:attrNameLst>
                                          <p:attrName>ppt_y</p:attrName>
                                        </p:attrNameLst>
                                      </p:cBhvr>
                                      <p:tavLst>
                                        <p:tav tm="0">
                                          <p:val>
                                            <p:strVal val="#ppt_y+0.1"/>
                                          </p:val>
                                        </p:tav>
                                        <p:tav tm="100000">
                                          <p:val>
                                            <p:strVal val="#ppt_y"/>
                                          </p:val>
                                        </p:tav>
                                      </p:tavLst>
                                    </p:anim>
                                    <p:animEffect transition="in" filter="fade">
                                      <p:cBhvr>
                                        <p:cTn id="82" dur="500"/>
                                        <p:tgtEl>
                                          <p:spTgt spid="25"/>
                                        </p:tgtEl>
                                      </p:cBhvr>
                                    </p:animEffect>
                                  </p:childTnLst>
                                </p:cTn>
                              </p:par>
                              <p:par>
                                <p:cTn id="88" presetID="2" presetClass="entr" presetSubtype="4" fill="hold" grpId="0" nodeType="with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ppt_x"/>
                                          </p:val>
                                        </p:tav>
                                        <p:tav tm="100000">
                                          <p:val>
                                            <p:strVal val="#ppt_x"/>
                                          </p:val>
                                        </p:tav>
                                      </p:tavLst>
                                    </p:anim>
                                    <p:anim calcmode="lin" valueType="num">
                                      <p:cBhvr additive="base">
                                        <p:cTn id="86" dur="500" fill="hold"/>
                                        <p:tgtEl>
                                          <p:spTgt spid="26"/>
                                        </p:tgtEl>
                                        <p:attrNameLst>
                                          <p:attrName>ppt_y</p:attrName>
                                        </p:attrNameLst>
                                      </p:cBhvr>
                                      <p:tavLst>
                                        <p:tav tm="0">
                                          <p:val>
                                            <p:strVal val="#ppt_y+0.1"/>
                                          </p:val>
                                        </p:tav>
                                        <p:tav tm="100000">
                                          <p:val>
                                            <p:strVal val="#ppt_y"/>
                                          </p:val>
                                        </p:tav>
                                      </p:tavLst>
                                    </p:anim>
                                    <p:animEffect transition="in" filter="fade">
                                      <p:cBhvr>
                                        <p:cTn id="87" dur="500"/>
                                        <p:tgtEl>
                                          <p:spTgt spid="26"/>
                                        </p:tgtEl>
                                      </p:cBhvr>
                                    </p:animEffect>
                                  </p:childTnLst>
                                </p:cTn>
                              </p:par>
                              <p:par>
                                <p:cTn id="93" presetID="2" presetClass="entr" presetSubtype="4" fill="hold" grpId="0" nodeType="withEffect">
                                  <p:stCondLst>
                                    <p:cond delay="90"/>
                                  </p:stCondLst>
                                  <p:childTnLst>
                                    <p:set>
                                      <p:cBhvr>
                                        <p:cTn id="89" dur="1" fill="hold">
                                          <p:stCondLst>
                                            <p:cond delay="0"/>
                                          </p:stCondLst>
                                        </p:cTn>
                                        <p:tgtEl>
                                          <p:spTgt spid="27"/>
                                        </p:tgtEl>
                                        <p:attrNameLst>
                                          <p:attrName>style.visibility</p:attrName>
                                        </p:attrNameLst>
                                      </p:cBhvr>
                                      <p:to>
                                        <p:strVal val="visible"/>
                                      </p:to>
                                    </p:set>
                                    <p:anim calcmode="lin" valueType="num">
                                      <p:cBhvr additive="base">
                                        <p:cTn id="90" dur="500" fill="hold"/>
                                        <p:tgtEl>
                                          <p:spTgt spid="27"/>
                                        </p:tgtEl>
                                        <p:attrNameLst>
                                          <p:attrName>ppt_x</p:attrName>
                                        </p:attrNameLst>
                                      </p:cBhvr>
                                      <p:tavLst>
                                        <p:tav tm="0">
                                          <p:val>
                                            <p:strVal val="#ppt_x"/>
                                          </p:val>
                                        </p:tav>
                                        <p:tav tm="100000">
                                          <p:val>
                                            <p:strVal val="#ppt_x"/>
                                          </p:val>
                                        </p:tav>
                                      </p:tavLst>
                                    </p:anim>
                                    <p:anim calcmode="lin" valueType="num">
                                      <p:cBhvr additive="base">
                                        <p:cTn id="91" dur="500" fill="hold"/>
                                        <p:tgtEl>
                                          <p:spTgt spid="27"/>
                                        </p:tgtEl>
                                        <p:attrNameLst>
                                          <p:attrName>ppt_y</p:attrName>
                                        </p:attrNameLst>
                                      </p:cBhvr>
                                      <p:tavLst>
                                        <p:tav tm="0">
                                          <p:val>
                                            <p:strVal val="#ppt_y+0.1"/>
                                          </p:val>
                                        </p:tav>
                                        <p:tav tm="100000">
                                          <p:val>
                                            <p:strVal val="#ppt_y"/>
                                          </p:val>
                                        </p:tav>
                                      </p:tavLst>
                                    </p:anim>
                                    <p:animEffect transition="in" filter="fade">
                                      <p:cBhvr>
                                        <p:cTn id="92" dur="500"/>
                                        <p:tgtEl>
                                          <p:spTgt spid="27"/>
                                        </p:tgtEl>
                                      </p:cBhvr>
                                    </p:animEffect>
                                  </p:childTnLst>
                                </p:cTn>
                              </p:par>
                              <p:par>
                                <p:cTn id="98" presetID="2" presetClass="entr" presetSubtype="4" fill="hold" grpId="0" nodeType="withEffect">
                                  <p:stCondLst>
                                    <p:cond delay="120"/>
                                  </p:stCondLst>
                                  <p:childTnLst>
                                    <p:set>
                                      <p:cBhvr>
                                        <p:cTn id="94" dur="1" fill="hold">
                                          <p:stCondLst>
                                            <p:cond delay="0"/>
                                          </p:stCondLst>
                                        </p:cTn>
                                        <p:tgtEl>
                                          <p:spTgt spid="28"/>
                                        </p:tgtEl>
                                        <p:attrNameLst>
                                          <p:attrName>style.visibility</p:attrName>
                                        </p:attrNameLst>
                                      </p:cBhvr>
                                      <p:to>
                                        <p:strVal val="visible"/>
                                      </p:to>
                                    </p:set>
                                    <p:anim calcmode="lin" valueType="num">
                                      <p:cBhvr additive="base">
                                        <p:cTn id="95" dur="500" fill="hold"/>
                                        <p:tgtEl>
                                          <p:spTgt spid="28"/>
                                        </p:tgtEl>
                                        <p:attrNameLst>
                                          <p:attrName>ppt_x</p:attrName>
                                        </p:attrNameLst>
                                      </p:cBhvr>
                                      <p:tavLst>
                                        <p:tav tm="0">
                                          <p:val>
                                            <p:strVal val="#ppt_x"/>
                                          </p:val>
                                        </p:tav>
                                        <p:tav tm="100000">
                                          <p:val>
                                            <p:strVal val="#ppt_x"/>
                                          </p:val>
                                        </p:tav>
                                      </p:tavLst>
                                    </p:anim>
                                    <p:anim calcmode="lin" valueType="num">
                                      <p:cBhvr additive="base">
                                        <p:cTn id="96" dur="500" fill="hold"/>
                                        <p:tgtEl>
                                          <p:spTgt spid="28"/>
                                        </p:tgtEl>
                                        <p:attrNameLst>
                                          <p:attrName>ppt_y</p:attrName>
                                        </p:attrNameLst>
                                      </p:cBhvr>
                                      <p:tavLst>
                                        <p:tav tm="0">
                                          <p:val>
                                            <p:strVal val="#ppt_y+0.1"/>
                                          </p:val>
                                        </p:tav>
                                        <p:tav tm="100000">
                                          <p:val>
                                            <p:strVal val="#ppt_y"/>
                                          </p:val>
                                        </p:tav>
                                      </p:tavLst>
                                    </p:anim>
                                    <p:animEffect transition="in" filter="fade">
                                      <p:cBhvr>
                                        <p:cTn id="97" dur="500"/>
                                        <p:tgtEl>
                                          <p:spTgt spid="28"/>
                                        </p:tgtEl>
                                      </p:cBhvr>
                                    </p:animEffect>
                                  </p:childTnLst>
                                </p:cTn>
                              </p:par>
                              <p:par>
                                <p:cTn id="103" presetID="2" presetClass="entr" presetSubtype="4" fill="hold" grpId="0" nodeType="withEffect">
                                  <p:stCondLst>
                                    <p:cond delay="15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22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29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childTnLst>
                          </p:cTn>
                        </p:par>
                      </p:childTnLst>
                    </p:cTn>
                  </p:par>
                  <p:par>
                    <p:cTn id="114" fill="hold">
                      <p:stCondLst>
                        <p:cond delay="indefinite"/>
                      </p:stCondLst>
                      <p:childTnLst>
                        <p:par>
                          <p:cTn id="115" fill="hold">
                            <p:stCondLst>
                              <p:cond delay="0"/>
                            </p:stCondLst>
                            <p:childTnLst>
                              <p:par>
                                <p:cTn id="120" presetID="2" presetClass="entr" presetSubtype="4" fill="hold" grpId="0" nodeType="clickEffect">
                                  <p:stCondLst>
                                    <p:cond delay="0"/>
                                  </p:stCondLst>
                                  <p:childTnLst>
                                    <p:set>
                                      <p:cBhvr>
                                        <p:cTn id="116" dur="1" fill="hold">
                                          <p:stCondLst>
                                            <p:cond delay="0"/>
                                          </p:stCondLst>
                                        </p:cTn>
                                        <p:tgtEl>
                                          <p:spTgt spid="32"/>
                                        </p:tgtEl>
                                        <p:attrNameLst>
                                          <p:attrName>style.visibility</p:attrName>
                                        </p:attrNameLst>
                                      </p:cBhvr>
                                      <p:to>
                                        <p:strVal val="visible"/>
                                      </p:to>
                                    </p:set>
                                    <p:anim calcmode="lin" valueType="num">
                                      <p:cBhvr additive="base">
                                        <p:cTn id="117" dur="500" fill="hold"/>
                                        <p:tgtEl>
                                          <p:spTgt spid="32"/>
                                        </p:tgtEl>
                                        <p:attrNameLst>
                                          <p:attrName>ppt_x</p:attrName>
                                        </p:attrNameLst>
                                      </p:cBhvr>
                                      <p:tavLst>
                                        <p:tav tm="0">
                                          <p:val>
                                            <p:strVal val="#ppt_x"/>
                                          </p:val>
                                        </p:tav>
                                        <p:tav tm="100000">
                                          <p:val>
                                            <p:strVal val="#ppt_x"/>
                                          </p:val>
                                        </p:tav>
                                      </p:tavLst>
                                    </p:anim>
                                    <p:anim calcmode="lin" valueType="num">
                                      <p:cBhvr additive="base">
                                        <p:cTn id="118" dur="500" fill="hold"/>
                                        <p:tgtEl>
                                          <p:spTgt spid="32"/>
                                        </p:tgtEl>
                                        <p:attrNameLst>
                                          <p:attrName>ppt_y</p:attrName>
                                        </p:attrNameLst>
                                      </p:cBhvr>
                                      <p:tavLst>
                                        <p:tav tm="0">
                                          <p:val>
                                            <p:strVal val="#ppt_y+0.1"/>
                                          </p:val>
                                        </p:tav>
                                        <p:tav tm="100000">
                                          <p:val>
                                            <p:strVal val="#ppt_y"/>
                                          </p:val>
                                        </p:tav>
                                      </p:tavLst>
                                    </p:anim>
                                    <p:animEffect transition="in" filter="fade">
                                      <p:cBhvr>
                                        <p:cTn id="119" dur="500"/>
                                        <p:tgtEl>
                                          <p:spTgt spid="32"/>
                                        </p:tgtEl>
                                      </p:cBhvr>
                                    </p:animEffect>
                                  </p:childTnLst>
                                </p:cTn>
                              </p:par>
                              <p:par>
                                <p:cTn id="125" presetID="2" presetClass="entr" presetSubtype="4" fill="hold" grpId="0" nodeType="withEffect">
                                  <p:stCondLst>
                                    <p:cond delay="0"/>
                                  </p:stCondLst>
                                  <p:childTnLst>
                                    <p:set>
                                      <p:cBhvr>
                                        <p:cTn id="121" dur="1" fill="hold">
                                          <p:stCondLst>
                                            <p:cond delay="0"/>
                                          </p:stCondLst>
                                        </p:cTn>
                                        <p:tgtEl>
                                          <p:spTgt spid="33"/>
                                        </p:tgtEl>
                                        <p:attrNameLst>
                                          <p:attrName>style.visibility</p:attrName>
                                        </p:attrNameLst>
                                      </p:cBhvr>
                                      <p:to>
                                        <p:strVal val="visible"/>
                                      </p:to>
                                    </p:set>
                                    <p:anim calcmode="lin" valueType="num">
                                      <p:cBhvr additive="base">
                                        <p:cTn id="122" dur="500" fill="hold"/>
                                        <p:tgtEl>
                                          <p:spTgt spid="33"/>
                                        </p:tgtEl>
                                        <p:attrNameLst>
                                          <p:attrName>ppt_x</p:attrName>
                                        </p:attrNameLst>
                                      </p:cBhvr>
                                      <p:tavLst>
                                        <p:tav tm="0">
                                          <p:val>
                                            <p:strVal val="#ppt_x"/>
                                          </p:val>
                                        </p:tav>
                                        <p:tav tm="100000">
                                          <p:val>
                                            <p:strVal val="#ppt_x"/>
                                          </p:val>
                                        </p:tav>
                                      </p:tavLst>
                                    </p:anim>
                                    <p:anim calcmode="lin" valueType="num">
                                      <p:cBhvr additive="base">
                                        <p:cTn id="123" dur="500" fill="hold"/>
                                        <p:tgtEl>
                                          <p:spTgt spid="33"/>
                                        </p:tgtEl>
                                        <p:attrNameLst>
                                          <p:attrName>ppt_y</p:attrName>
                                        </p:attrNameLst>
                                      </p:cBhvr>
                                      <p:tavLst>
                                        <p:tav tm="0">
                                          <p:val>
                                            <p:strVal val="#ppt_y+0.1"/>
                                          </p:val>
                                        </p:tav>
                                        <p:tav tm="100000">
                                          <p:val>
                                            <p:strVal val="#ppt_y"/>
                                          </p:val>
                                        </p:tav>
                                      </p:tavLst>
                                    </p:anim>
                                    <p:animEffect transition="in" filter="fade">
                                      <p:cBhvr>
                                        <p:cTn id="124" dur="500"/>
                                        <p:tgtEl>
                                          <p:spTgt spid="33"/>
                                        </p:tgtEl>
                                      </p:cBhvr>
                                    </p:animEffect>
                                  </p:childTnLst>
                                </p:cTn>
                              </p:par>
                              <p:par>
                                <p:cTn id="130" presetID="2" presetClass="entr" presetSubtype="4" fill="hold" grpId="0" nodeType="withEffect">
                                  <p:stCondLst>
                                    <p:cond delay="0"/>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500" fill="hold"/>
                                        <p:tgtEl>
                                          <p:spTgt spid="34"/>
                                        </p:tgtEl>
                                        <p:attrNameLst>
                                          <p:attrName>ppt_x</p:attrName>
                                        </p:attrNameLst>
                                      </p:cBhvr>
                                      <p:tavLst>
                                        <p:tav tm="0">
                                          <p:val>
                                            <p:strVal val="#ppt_x"/>
                                          </p:val>
                                        </p:tav>
                                        <p:tav tm="100000">
                                          <p:val>
                                            <p:strVal val="#ppt_x"/>
                                          </p:val>
                                        </p:tav>
                                      </p:tavLst>
                                    </p:anim>
                                    <p:anim calcmode="lin" valueType="num">
                                      <p:cBhvr additive="base">
                                        <p:cTn id="128" dur="500" fill="hold"/>
                                        <p:tgtEl>
                                          <p:spTgt spid="34"/>
                                        </p:tgtEl>
                                        <p:attrNameLst>
                                          <p:attrName>ppt_y</p:attrName>
                                        </p:attrNameLst>
                                      </p:cBhvr>
                                      <p:tavLst>
                                        <p:tav tm="0">
                                          <p:val>
                                            <p:strVal val="#ppt_y+0.1"/>
                                          </p:val>
                                        </p:tav>
                                        <p:tav tm="100000">
                                          <p:val>
                                            <p:strVal val="#ppt_y"/>
                                          </p:val>
                                        </p:tav>
                                      </p:tavLst>
                                    </p:anim>
                                    <p:animEffect transition="in" filter="fade">
                                      <p:cBhvr>
                                        <p:cTn id="12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Pick the Rule by Who Upgrades First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Compatibility follows your rollout order</a:t>
            </a:r>
          </a:p>
        </p:txBody>
      </p:sp>
      <p:sp>
        <p:nvSpPr>
          <p:cNvPr id="11" name="a1u_card10"/>
          <p:cNvSpPr/>
          <p:nvPr/>
        </p:nvSpPr>
        <p:spPr>
          <a:xfrm>
            <a:off x="457200" y="1280160"/>
            <a:ext cx="402336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50292" cy="2395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hh12"/>
          <p:cNvSpPr txBox="1"/>
          <p:nvPr/>
        </p:nvSpPr>
        <p:spPr>
          <a:xfrm>
            <a:off x="658368" y="1389888"/>
            <a:ext cx="3657600" cy="237744"/>
          </a:xfrm>
          <a:prstGeom prst="rect">
            <a:avLst/>
          </a:prstGeom>
          <a:noFill/>
        </p:spPr>
        <p:txBody>
          <a:bodyPr wrap="square" lIns="0" tIns="0" rIns="0" bIns="0" anchor="ctr">
            <a:spAutoFit/>
          </a:bodyPr>
          <a:lstStyle/>
          <a:p>
            <a:pPr algn="l"/>
            <a:r>
              <a:rPr sz="900" b="1">
                <a:solidFill>
                  <a:srgbClr val="EA580C"/>
                </a:solidFill>
                <a:latin typeface="Segoe UI"/>
              </a:rPr>
              <a:t>YOU CONTROL THE PRODUCERS</a:t>
            </a:r>
          </a:p>
        </p:txBody>
      </p:sp>
      <p:sp>
        <p:nvSpPr>
          <p:cNvPr id="14" name="a1ud80_nd13"/>
          <p:cNvSpPr/>
          <p:nvPr/>
        </p:nvSpPr>
        <p:spPr>
          <a:xfrm>
            <a:off x="658368" y="1719072"/>
            <a:ext cx="987552" cy="585216"/>
          </a:xfrm>
          <a:prstGeom prst="roundRect">
            <a:avLst>
              <a:gd name="adj" fmla="val 12500"/>
            </a:avLst>
          </a:prstGeom>
          <a:solidFill>
            <a:srgbClr val="FFFFFF"/>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a1ud80_ndt14"/>
          <p:cNvSpPr txBox="1"/>
          <p:nvPr/>
        </p:nvSpPr>
        <p:spPr>
          <a:xfrm>
            <a:off x="704088" y="1755648"/>
            <a:ext cx="896112" cy="274320"/>
          </a:xfrm>
          <a:prstGeom prst="rect">
            <a:avLst/>
          </a:prstGeom>
          <a:noFill/>
        </p:spPr>
        <p:txBody>
          <a:bodyPr wrap="square" lIns="0" tIns="0" rIns="0" bIns="0" anchor="b">
            <a:spAutoFit/>
          </a:bodyPr>
          <a:lstStyle/>
          <a:p>
            <a:pPr algn="ctr"/>
            <a:r>
              <a:rPr sz="900" b="1">
                <a:solidFill>
                  <a:srgbClr val="1C1917"/>
                </a:solidFill>
                <a:latin typeface="Segoe UI"/>
              </a:rPr>
              <a:t>Producer</a:t>
            </a:r>
          </a:p>
        </p:txBody>
      </p:sp>
      <p:sp>
        <p:nvSpPr>
          <p:cNvPr id="16" name="a1ud80_nds15"/>
          <p:cNvSpPr txBox="1"/>
          <p:nvPr/>
        </p:nvSpPr>
        <p:spPr>
          <a:xfrm>
            <a:off x="704088" y="2039111"/>
            <a:ext cx="896112" cy="228600"/>
          </a:xfrm>
          <a:prstGeom prst="rect">
            <a:avLst/>
          </a:prstGeom>
          <a:noFill/>
        </p:spPr>
        <p:txBody>
          <a:bodyPr wrap="square" lIns="0" tIns="0" rIns="0" bIns="0" anchor="t">
            <a:spAutoFit/>
          </a:bodyPr>
          <a:lstStyle/>
          <a:p>
            <a:pPr algn="ctr"/>
            <a:r>
              <a:rPr sz="750" b="0">
                <a:solidFill>
                  <a:srgbClr val="EA580C"/>
                </a:solidFill>
                <a:latin typeface="Segoe UI"/>
              </a:rPr>
              <a:t>v2 - first</a:t>
            </a:r>
          </a:p>
        </p:txBody>
      </p:sp>
      <p:cxnSp>
        <p:nvCxnSpPr>
          <p:cNvPr id="17" name="a1ud80_ar16"/>
          <p:cNvCxnSpPr/>
          <p:nvPr/>
        </p:nvCxnSpPr>
        <p:spPr>
          <a:xfrm>
            <a:off x="1664208" y="2011680"/>
            <a:ext cx="164592" cy="0"/>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a1ud80_cell17"/>
          <p:cNvSpPr/>
          <p:nvPr/>
        </p:nvSpPr>
        <p:spPr>
          <a:xfrm>
            <a:off x="1847088" y="1847088"/>
            <a:ext cx="329184" cy="329184"/>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a1ud80_cellt18"/>
          <p:cNvSpPr txBox="1"/>
          <p:nvPr/>
        </p:nvSpPr>
        <p:spPr>
          <a:xfrm>
            <a:off x="1847088" y="1847088"/>
            <a:ext cx="329184" cy="329184"/>
          </a:xfrm>
          <a:prstGeom prst="rect">
            <a:avLst/>
          </a:prstGeom>
          <a:noFill/>
        </p:spPr>
        <p:txBody>
          <a:bodyPr wrap="square" lIns="0" tIns="0" rIns="0" bIns="0" anchor="ctr">
            <a:spAutoFit/>
          </a:bodyPr>
          <a:lstStyle/>
          <a:p>
            <a:pPr algn="ctr"/>
            <a:r>
              <a:rPr sz="800" b="1">
                <a:solidFill>
                  <a:srgbClr val="78716C"/>
                </a:solidFill>
                <a:latin typeface="Consolas"/>
              </a:rPr>
              <a:t>v1</a:t>
            </a:r>
          </a:p>
        </p:txBody>
      </p:sp>
      <p:sp>
        <p:nvSpPr>
          <p:cNvPr id="20" name="a1ud80_cell19"/>
          <p:cNvSpPr/>
          <p:nvPr/>
        </p:nvSpPr>
        <p:spPr>
          <a:xfrm>
            <a:off x="2176272" y="1847088"/>
            <a:ext cx="329184" cy="329184"/>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1ud80_cellt20"/>
          <p:cNvSpPr txBox="1"/>
          <p:nvPr/>
        </p:nvSpPr>
        <p:spPr>
          <a:xfrm>
            <a:off x="2176272" y="1847088"/>
            <a:ext cx="329184" cy="329184"/>
          </a:xfrm>
          <a:prstGeom prst="rect">
            <a:avLst/>
          </a:prstGeom>
          <a:noFill/>
        </p:spPr>
        <p:txBody>
          <a:bodyPr wrap="square" lIns="0" tIns="0" rIns="0" bIns="0" anchor="ctr">
            <a:spAutoFit/>
          </a:bodyPr>
          <a:lstStyle/>
          <a:p>
            <a:pPr algn="ctr"/>
            <a:r>
              <a:rPr sz="800" b="1">
                <a:solidFill>
                  <a:srgbClr val="78716C"/>
                </a:solidFill>
                <a:latin typeface="Consolas"/>
              </a:rPr>
              <a:t>v1</a:t>
            </a:r>
          </a:p>
        </p:txBody>
      </p:sp>
      <p:sp>
        <p:nvSpPr>
          <p:cNvPr id="22" name="a1ud80_cell21"/>
          <p:cNvSpPr/>
          <p:nvPr/>
        </p:nvSpPr>
        <p:spPr>
          <a:xfrm>
            <a:off x="2505456" y="1847088"/>
            <a:ext cx="329184" cy="329184"/>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_cellt22"/>
          <p:cNvSpPr txBox="1"/>
          <p:nvPr/>
        </p:nvSpPr>
        <p:spPr>
          <a:xfrm>
            <a:off x="2505456" y="1847088"/>
            <a:ext cx="329184" cy="329184"/>
          </a:xfrm>
          <a:prstGeom prst="rect">
            <a:avLst/>
          </a:prstGeom>
          <a:noFill/>
        </p:spPr>
        <p:txBody>
          <a:bodyPr wrap="square" lIns="0" tIns="0" rIns="0" bIns="0" anchor="ctr">
            <a:spAutoFit/>
          </a:bodyPr>
          <a:lstStyle/>
          <a:p>
            <a:pPr algn="ctr"/>
            <a:r>
              <a:rPr sz="800" b="1">
                <a:solidFill>
                  <a:srgbClr val="A16207"/>
                </a:solidFill>
                <a:latin typeface="Consolas"/>
              </a:rPr>
              <a:t>v2</a:t>
            </a:r>
          </a:p>
        </p:txBody>
      </p:sp>
      <p:sp>
        <p:nvSpPr>
          <p:cNvPr id="24" name="a1ud80_cell23"/>
          <p:cNvSpPr/>
          <p:nvPr/>
        </p:nvSpPr>
        <p:spPr>
          <a:xfrm>
            <a:off x="2834640" y="1847088"/>
            <a:ext cx="329184" cy="329184"/>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1ud80_cellt24"/>
          <p:cNvSpPr txBox="1"/>
          <p:nvPr/>
        </p:nvSpPr>
        <p:spPr>
          <a:xfrm>
            <a:off x="2834640" y="1847088"/>
            <a:ext cx="329184" cy="329184"/>
          </a:xfrm>
          <a:prstGeom prst="rect">
            <a:avLst/>
          </a:prstGeom>
          <a:noFill/>
        </p:spPr>
        <p:txBody>
          <a:bodyPr wrap="square" lIns="0" tIns="0" rIns="0" bIns="0" anchor="ctr">
            <a:spAutoFit/>
          </a:bodyPr>
          <a:lstStyle/>
          <a:p>
            <a:pPr algn="ctr"/>
            <a:r>
              <a:rPr sz="800" b="1">
                <a:solidFill>
                  <a:srgbClr val="A16207"/>
                </a:solidFill>
                <a:latin typeface="Consolas"/>
              </a:rPr>
              <a:t>v2</a:t>
            </a:r>
          </a:p>
        </p:txBody>
      </p:sp>
      <p:sp>
        <p:nvSpPr>
          <p:cNvPr id="26" name="a1ud80_cell25"/>
          <p:cNvSpPr/>
          <p:nvPr/>
        </p:nvSpPr>
        <p:spPr>
          <a:xfrm>
            <a:off x="3163824" y="1847088"/>
            <a:ext cx="329184" cy="329184"/>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1ud80_cellt26"/>
          <p:cNvSpPr txBox="1"/>
          <p:nvPr/>
        </p:nvSpPr>
        <p:spPr>
          <a:xfrm>
            <a:off x="3163824" y="1847088"/>
            <a:ext cx="329184" cy="329184"/>
          </a:xfrm>
          <a:prstGeom prst="rect">
            <a:avLst/>
          </a:prstGeom>
          <a:noFill/>
        </p:spPr>
        <p:txBody>
          <a:bodyPr wrap="square" lIns="0" tIns="0" rIns="0" bIns="0" anchor="ctr">
            <a:spAutoFit/>
          </a:bodyPr>
          <a:lstStyle/>
          <a:p>
            <a:pPr algn="ctr"/>
            <a:r>
              <a:rPr sz="800" b="1">
                <a:solidFill>
                  <a:srgbClr val="A16207"/>
                </a:solidFill>
                <a:latin typeface="Consolas"/>
              </a:rPr>
              <a:t>v2</a:t>
            </a:r>
          </a:p>
        </p:txBody>
      </p:sp>
      <p:cxnSp>
        <p:nvCxnSpPr>
          <p:cNvPr id="28" name="a1ud80_ar27"/>
          <p:cNvCxnSpPr/>
          <p:nvPr/>
        </p:nvCxnSpPr>
        <p:spPr>
          <a:xfrm>
            <a:off x="3511296" y="2011680"/>
            <a:ext cx="164591" cy="0"/>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a1ud80_nd28"/>
          <p:cNvSpPr/>
          <p:nvPr/>
        </p:nvSpPr>
        <p:spPr>
          <a:xfrm>
            <a:off x="3694176" y="1719072"/>
            <a:ext cx="621792" cy="585216"/>
          </a:xfrm>
          <a:prstGeom prst="roundRect">
            <a:avLst>
              <a:gd name="adj" fmla="val 12500"/>
            </a:avLst>
          </a:prstGeom>
          <a:solidFill>
            <a:srgbClr val="FFFFFF"/>
          </a:solidFill>
          <a:ln w="15875">
            <a:solidFill>
              <a:srgbClr val="7871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1ud80_ndt29"/>
          <p:cNvSpPr txBox="1"/>
          <p:nvPr/>
        </p:nvSpPr>
        <p:spPr>
          <a:xfrm>
            <a:off x="3739896" y="1755648"/>
            <a:ext cx="530352" cy="274320"/>
          </a:xfrm>
          <a:prstGeom prst="rect">
            <a:avLst/>
          </a:prstGeom>
          <a:noFill/>
        </p:spPr>
        <p:txBody>
          <a:bodyPr wrap="square" lIns="0" tIns="0" rIns="0" bIns="0" anchor="b">
            <a:spAutoFit/>
          </a:bodyPr>
          <a:lstStyle/>
          <a:p>
            <a:pPr algn="ctr"/>
            <a:r>
              <a:rPr sz="850" b="1">
                <a:solidFill>
                  <a:srgbClr val="1C1917"/>
                </a:solidFill>
                <a:latin typeface="Segoe UI"/>
              </a:rPr>
              <a:t>Apps</a:t>
            </a:r>
          </a:p>
        </p:txBody>
      </p:sp>
      <p:sp>
        <p:nvSpPr>
          <p:cNvPr id="31" name="a1ud80_nds30"/>
          <p:cNvSpPr txBox="1"/>
          <p:nvPr/>
        </p:nvSpPr>
        <p:spPr>
          <a:xfrm>
            <a:off x="3739896" y="2039111"/>
            <a:ext cx="530352" cy="228600"/>
          </a:xfrm>
          <a:prstGeom prst="rect">
            <a:avLst/>
          </a:prstGeom>
          <a:noFill/>
        </p:spPr>
        <p:txBody>
          <a:bodyPr wrap="square" lIns="0" tIns="0" rIns="0" bIns="0" anchor="t">
            <a:spAutoFit/>
          </a:bodyPr>
          <a:lstStyle/>
          <a:p>
            <a:pPr algn="ctr"/>
            <a:r>
              <a:rPr sz="700" b="0">
                <a:solidFill>
                  <a:srgbClr val="78716C"/>
                </a:solidFill>
                <a:latin typeface="Segoe UI"/>
              </a:rPr>
              <a:t>v1 - later</a:t>
            </a:r>
          </a:p>
        </p:txBody>
      </p:sp>
      <p:sp>
        <p:nvSpPr>
          <p:cNvPr id="32" name="a2u_pill31"/>
          <p:cNvSpPr/>
          <p:nvPr/>
        </p:nvSpPr>
        <p:spPr>
          <a:xfrm>
            <a:off x="658368" y="2560320"/>
            <a:ext cx="1325880" cy="347472"/>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FFFFF"/>
                </a:solidFill>
                <a:latin typeface="Consolas"/>
              </a:rPr>
              <a:t>FORWARD</a:t>
            </a:r>
          </a:p>
        </p:txBody>
      </p:sp>
      <p:sp>
        <p:nvSpPr>
          <p:cNvPr id="33" name="a2u_rw32"/>
          <p:cNvSpPr txBox="1"/>
          <p:nvPr/>
        </p:nvSpPr>
        <p:spPr>
          <a:xfrm>
            <a:off x="2121408" y="2560320"/>
            <a:ext cx="2194560" cy="347472"/>
          </a:xfrm>
          <a:prstGeom prst="rect">
            <a:avLst/>
          </a:prstGeom>
          <a:noFill/>
        </p:spPr>
        <p:txBody>
          <a:bodyPr wrap="square" lIns="0" tIns="0" rIns="0" bIns="0" anchor="ctr">
            <a:spAutoFit/>
          </a:bodyPr>
          <a:lstStyle/>
          <a:p>
            <a:pPr algn="l"/>
            <a:r>
              <a:rPr sz="900" b="1">
                <a:solidFill>
                  <a:srgbClr val="1C1917"/>
                </a:solidFill>
                <a:latin typeface="Segoe UI"/>
              </a:rPr>
              <a:t>old consumers must read new data</a:t>
            </a:r>
          </a:p>
        </p:txBody>
      </p:sp>
      <p:sp>
        <p:nvSpPr>
          <p:cNvPr id="34" name="a2ud100_rwho33"/>
          <p:cNvSpPr txBox="1"/>
          <p:nvPr/>
        </p:nvSpPr>
        <p:spPr>
          <a:xfrm>
            <a:off x="658368" y="3035808"/>
            <a:ext cx="3639312" cy="457200"/>
          </a:xfrm>
          <a:prstGeom prst="rect">
            <a:avLst/>
          </a:prstGeom>
          <a:noFill/>
        </p:spPr>
        <p:txBody>
          <a:bodyPr wrap="square" lIns="0" tIns="0" rIns="0" bIns="0" anchor="t">
            <a:spAutoFit/>
          </a:bodyPr>
          <a:lstStyle/>
          <a:p>
            <a:pPr algn="l"/>
            <a:r>
              <a:rPr sz="850" b="0">
                <a:solidFill>
                  <a:srgbClr val="78716C"/>
                </a:solidFill>
                <a:latin typeface="Segoe UI"/>
              </a:rPr>
              <a:t>consumers - maybe other teams' - update later</a:t>
            </a:r>
          </a:p>
        </p:txBody>
      </p:sp>
      <p:sp>
        <p:nvSpPr>
          <p:cNvPr id="35" name="a3u_card34"/>
          <p:cNvSpPr/>
          <p:nvPr/>
        </p:nvSpPr>
        <p:spPr>
          <a:xfrm>
            <a:off x="4663440" y="1280160"/>
            <a:ext cx="4023360" cy="2395728"/>
          </a:xfrm>
          <a:prstGeom prst="roundRect">
            <a:avLst>
              <a:gd name="adj" fmla="val 458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a3u_acc35"/>
          <p:cNvSpPr/>
          <p:nvPr/>
        </p:nvSpPr>
        <p:spPr>
          <a:xfrm>
            <a:off x="4663440" y="1280160"/>
            <a:ext cx="50292" cy="239572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a3u_hh36"/>
          <p:cNvSpPr txBox="1"/>
          <p:nvPr/>
        </p:nvSpPr>
        <p:spPr>
          <a:xfrm>
            <a:off x="4864607" y="1389888"/>
            <a:ext cx="3657600" cy="237744"/>
          </a:xfrm>
          <a:prstGeom prst="rect">
            <a:avLst/>
          </a:prstGeom>
          <a:noFill/>
        </p:spPr>
        <p:txBody>
          <a:bodyPr wrap="square" lIns="0" tIns="0" rIns="0" bIns="0" anchor="ctr">
            <a:spAutoFit/>
          </a:bodyPr>
          <a:lstStyle/>
          <a:p>
            <a:pPr algn="l"/>
            <a:r>
              <a:rPr sz="900" b="1">
                <a:solidFill>
                  <a:srgbClr val="0E7490"/>
                </a:solidFill>
                <a:latin typeface="Segoe UI"/>
              </a:rPr>
              <a:t>YOU CONTROL THE CONSUMERS</a:t>
            </a:r>
          </a:p>
        </p:txBody>
      </p:sp>
      <p:sp>
        <p:nvSpPr>
          <p:cNvPr id="38" name="a3ud80_nd37"/>
          <p:cNvSpPr/>
          <p:nvPr/>
        </p:nvSpPr>
        <p:spPr>
          <a:xfrm>
            <a:off x="4864607" y="1719072"/>
            <a:ext cx="987552" cy="585216"/>
          </a:xfrm>
          <a:prstGeom prst="roundRect">
            <a:avLst>
              <a:gd name="adj" fmla="val 12500"/>
            </a:avLst>
          </a:prstGeom>
          <a:solidFill>
            <a:srgbClr val="FFFFFF"/>
          </a:solidFill>
          <a:ln w="15875">
            <a:solidFill>
              <a:srgbClr val="7871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3ud80_ndt38"/>
          <p:cNvSpPr txBox="1"/>
          <p:nvPr/>
        </p:nvSpPr>
        <p:spPr>
          <a:xfrm>
            <a:off x="4910327" y="1755648"/>
            <a:ext cx="896112" cy="274320"/>
          </a:xfrm>
          <a:prstGeom prst="rect">
            <a:avLst/>
          </a:prstGeom>
          <a:noFill/>
        </p:spPr>
        <p:txBody>
          <a:bodyPr wrap="square" lIns="0" tIns="0" rIns="0" bIns="0" anchor="b">
            <a:spAutoFit/>
          </a:bodyPr>
          <a:lstStyle/>
          <a:p>
            <a:pPr algn="ctr"/>
            <a:r>
              <a:rPr sz="900" b="1">
                <a:solidFill>
                  <a:srgbClr val="1C1917"/>
                </a:solidFill>
                <a:latin typeface="Segoe UI"/>
              </a:rPr>
              <a:t>Producers</a:t>
            </a:r>
          </a:p>
        </p:txBody>
      </p:sp>
      <p:sp>
        <p:nvSpPr>
          <p:cNvPr id="40" name="a3ud80_nds39"/>
          <p:cNvSpPr txBox="1"/>
          <p:nvPr/>
        </p:nvSpPr>
        <p:spPr>
          <a:xfrm>
            <a:off x="4910327" y="2039111"/>
            <a:ext cx="896112" cy="228600"/>
          </a:xfrm>
          <a:prstGeom prst="rect">
            <a:avLst/>
          </a:prstGeom>
          <a:noFill/>
        </p:spPr>
        <p:txBody>
          <a:bodyPr wrap="square" lIns="0" tIns="0" rIns="0" bIns="0" anchor="t">
            <a:spAutoFit/>
          </a:bodyPr>
          <a:lstStyle/>
          <a:p>
            <a:pPr algn="ctr"/>
            <a:r>
              <a:rPr sz="750" b="0">
                <a:solidFill>
                  <a:srgbClr val="78716C"/>
                </a:solidFill>
                <a:latin typeface="Segoe UI"/>
              </a:rPr>
              <a:t>v1 - others</a:t>
            </a:r>
          </a:p>
        </p:txBody>
      </p:sp>
      <p:cxnSp>
        <p:nvCxnSpPr>
          <p:cNvPr id="41" name="a3ud80_ar40"/>
          <p:cNvCxnSpPr/>
          <p:nvPr/>
        </p:nvCxnSpPr>
        <p:spPr>
          <a:xfrm>
            <a:off x="5870448" y="2011680"/>
            <a:ext cx="164592" cy="0"/>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a3ud80_cell41"/>
          <p:cNvSpPr/>
          <p:nvPr/>
        </p:nvSpPr>
        <p:spPr>
          <a:xfrm>
            <a:off x="6053327" y="1847088"/>
            <a:ext cx="329184" cy="329184"/>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a3ud80_cellt42"/>
          <p:cNvSpPr txBox="1"/>
          <p:nvPr/>
        </p:nvSpPr>
        <p:spPr>
          <a:xfrm>
            <a:off x="6053327" y="1847088"/>
            <a:ext cx="329184" cy="329184"/>
          </a:xfrm>
          <a:prstGeom prst="rect">
            <a:avLst/>
          </a:prstGeom>
          <a:noFill/>
        </p:spPr>
        <p:txBody>
          <a:bodyPr wrap="square" lIns="0" tIns="0" rIns="0" bIns="0" anchor="ctr">
            <a:spAutoFit/>
          </a:bodyPr>
          <a:lstStyle/>
          <a:p>
            <a:pPr algn="ctr"/>
            <a:r>
              <a:rPr sz="800" b="1">
                <a:solidFill>
                  <a:srgbClr val="78716C"/>
                </a:solidFill>
                <a:latin typeface="Consolas"/>
              </a:rPr>
              <a:t>v1</a:t>
            </a:r>
          </a:p>
        </p:txBody>
      </p:sp>
      <p:sp>
        <p:nvSpPr>
          <p:cNvPr id="44" name="a3ud80_cell43"/>
          <p:cNvSpPr/>
          <p:nvPr/>
        </p:nvSpPr>
        <p:spPr>
          <a:xfrm>
            <a:off x="6382512" y="1847088"/>
            <a:ext cx="329184" cy="329184"/>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a3ud80_cellt44"/>
          <p:cNvSpPr txBox="1"/>
          <p:nvPr/>
        </p:nvSpPr>
        <p:spPr>
          <a:xfrm>
            <a:off x="6382512" y="1847088"/>
            <a:ext cx="329184" cy="329184"/>
          </a:xfrm>
          <a:prstGeom prst="rect">
            <a:avLst/>
          </a:prstGeom>
          <a:noFill/>
        </p:spPr>
        <p:txBody>
          <a:bodyPr wrap="square" lIns="0" tIns="0" rIns="0" bIns="0" anchor="ctr">
            <a:spAutoFit/>
          </a:bodyPr>
          <a:lstStyle/>
          <a:p>
            <a:pPr algn="ctr"/>
            <a:r>
              <a:rPr sz="800" b="1">
                <a:solidFill>
                  <a:srgbClr val="78716C"/>
                </a:solidFill>
                <a:latin typeface="Consolas"/>
              </a:rPr>
              <a:t>v1</a:t>
            </a:r>
          </a:p>
        </p:txBody>
      </p:sp>
      <p:sp>
        <p:nvSpPr>
          <p:cNvPr id="46" name="a3ud80_cell45"/>
          <p:cNvSpPr/>
          <p:nvPr/>
        </p:nvSpPr>
        <p:spPr>
          <a:xfrm>
            <a:off x="6711695" y="1847088"/>
            <a:ext cx="329184" cy="329184"/>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a3ud80_cellt46"/>
          <p:cNvSpPr txBox="1"/>
          <p:nvPr/>
        </p:nvSpPr>
        <p:spPr>
          <a:xfrm>
            <a:off x="6711695" y="1847088"/>
            <a:ext cx="329184" cy="329184"/>
          </a:xfrm>
          <a:prstGeom prst="rect">
            <a:avLst/>
          </a:prstGeom>
          <a:noFill/>
        </p:spPr>
        <p:txBody>
          <a:bodyPr wrap="square" lIns="0" tIns="0" rIns="0" bIns="0" anchor="ctr">
            <a:spAutoFit/>
          </a:bodyPr>
          <a:lstStyle/>
          <a:p>
            <a:pPr algn="ctr"/>
            <a:r>
              <a:rPr sz="800" b="1">
                <a:solidFill>
                  <a:srgbClr val="A16207"/>
                </a:solidFill>
                <a:latin typeface="Consolas"/>
              </a:rPr>
              <a:t>v2</a:t>
            </a:r>
          </a:p>
        </p:txBody>
      </p:sp>
      <p:sp>
        <p:nvSpPr>
          <p:cNvPr id="48" name="a3ud80_cell47"/>
          <p:cNvSpPr/>
          <p:nvPr/>
        </p:nvSpPr>
        <p:spPr>
          <a:xfrm>
            <a:off x="7040879" y="1847088"/>
            <a:ext cx="329184" cy="329184"/>
          </a:xfrm>
          <a:prstGeom prst="rect">
            <a:avLst/>
          </a:prstGeom>
          <a:solidFill>
            <a:srgbClr val="F7F6F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a3ud80_cellt48"/>
          <p:cNvSpPr txBox="1"/>
          <p:nvPr/>
        </p:nvSpPr>
        <p:spPr>
          <a:xfrm>
            <a:off x="7040879" y="1847088"/>
            <a:ext cx="329184" cy="329184"/>
          </a:xfrm>
          <a:prstGeom prst="rect">
            <a:avLst/>
          </a:prstGeom>
          <a:noFill/>
        </p:spPr>
        <p:txBody>
          <a:bodyPr wrap="square" lIns="0" tIns="0" rIns="0" bIns="0" anchor="ctr">
            <a:spAutoFit/>
          </a:bodyPr>
          <a:lstStyle/>
          <a:p>
            <a:pPr algn="ctr"/>
            <a:r>
              <a:rPr sz="800" b="1">
                <a:solidFill>
                  <a:srgbClr val="78716C"/>
                </a:solidFill>
                <a:latin typeface="Consolas"/>
              </a:rPr>
              <a:t>v1</a:t>
            </a:r>
          </a:p>
        </p:txBody>
      </p:sp>
      <p:sp>
        <p:nvSpPr>
          <p:cNvPr id="50" name="a3ud80_cell49"/>
          <p:cNvSpPr/>
          <p:nvPr/>
        </p:nvSpPr>
        <p:spPr>
          <a:xfrm>
            <a:off x="7370063" y="1847088"/>
            <a:ext cx="329184" cy="329184"/>
          </a:xfrm>
          <a:prstGeom prst="rect">
            <a:avLst/>
          </a:prstGeom>
          <a:solidFill>
            <a:srgbClr val="FEF9C3"/>
          </a:solidFill>
          <a:ln w="9525">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a3ud80_cellt50"/>
          <p:cNvSpPr txBox="1"/>
          <p:nvPr/>
        </p:nvSpPr>
        <p:spPr>
          <a:xfrm>
            <a:off x="7370063" y="1847088"/>
            <a:ext cx="329184" cy="329184"/>
          </a:xfrm>
          <a:prstGeom prst="rect">
            <a:avLst/>
          </a:prstGeom>
          <a:noFill/>
        </p:spPr>
        <p:txBody>
          <a:bodyPr wrap="square" lIns="0" tIns="0" rIns="0" bIns="0" anchor="ctr">
            <a:spAutoFit/>
          </a:bodyPr>
          <a:lstStyle/>
          <a:p>
            <a:pPr algn="ctr"/>
            <a:r>
              <a:rPr sz="800" b="1">
                <a:solidFill>
                  <a:srgbClr val="A16207"/>
                </a:solidFill>
                <a:latin typeface="Consolas"/>
              </a:rPr>
              <a:t>v2</a:t>
            </a:r>
          </a:p>
        </p:txBody>
      </p:sp>
      <p:cxnSp>
        <p:nvCxnSpPr>
          <p:cNvPr id="52" name="a3ud80_ar51"/>
          <p:cNvCxnSpPr/>
          <p:nvPr/>
        </p:nvCxnSpPr>
        <p:spPr>
          <a:xfrm>
            <a:off x="7717536" y="2011680"/>
            <a:ext cx="164591" cy="0"/>
          </a:xfrm>
          <a:prstGeom prst="line">
            <a:avLst/>
          </a:prstGeom>
          <a:ln w="15875">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a3ud80_nd52"/>
          <p:cNvSpPr/>
          <p:nvPr/>
        </p:nvSpPr>
        <p:spPr>
          <a:xfrm>
            <a:off x="7900416" y="1719072"/>
            <a:ext cx="621792" cy="585216"/>
          </a:xfrm>
          <a:prstGeom prst="roundRect">
            <a:avLst>
              <a:gd name="adj" fmla="val 12500"/>
            </a:avLst>
          </a:prstGeom>
          <a:solidFill>
            <a:srgbClr val="FFFFFF"/>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a3ud80_ndt53"/>
          <p:cNvSpPr txBox="1"/>
          <p:nvPr/>
        </p:nvSpPr>
        <p:spPr>
          <a:xfrm>
            <a:off x="7946136" y="1755648"/>
            <a:ext cx="530352" cy="274320"/>
          </a:xfrm>
          <a:prstGeom prst="rect">
            <a:avLst/>
          </a:prstGeom>
          <a:noFill/>
        </p:spPr>
        <p:txBody>
          <a:bodyPr wrap="square" lIns="0" tIns="0" rIns="0" bIns="0" anchor="b">
            <a:spAutoFit/>
          </a:bodyPr>
          <a:lstStyle/>
          <a:p>
            <a:pPr algn="ctr"/>
            <a:r>
              <a:rPr sz="850" b="1">
                <a:solidFill>
                  <a:srgbClr val="1C1917"/>
                </a:solidFill>
                <a:latin typeface="Segoe UI"/>
              </a:rPr>
              <a:t>Consumer</a:t>
            </a:r>
          </a:p>
        </p:txBody>
      </p:sp>
      <p:sp>
        <p:nvSpPr>
          <p:cNvPr id="55" name="a3ud80_nds54"/>
          <p:cNvSpPr txBox="1"/>
          <p:nvPr/>
        </p:nvSpPr>
        <p:spPr>
          <a:xfrm>
            <a:off x="7946136" y="2039111"/>
            <a:ext cx="530352" cy="228600"/>
          </a:xfrm>
          <a:prstGeom prst="rect">
            <a:avLst/>
          </a:prstGeom>
          <a:noFill/>
        </p:spPr>
        <p:txBody>
          <a:bodyPr wrap="square" lIns="0" tIns="0" rIns="0" bIns="0" anchor="t">
            <a:spAutoFit/>
          </a:bodyPr>
          <a:lstStyle/>
          <a:p>
            <a:pPr algn="ctr"/>
            <a:r>
              <a:rPr sz="700" b="0">
                <a:solidFill>
                  <a:srgbClr val="0E7490"/>
                </a:solidFill>
                <a:latin typeface="Segoe UI"/>
              </a:rPr>
              <a:t>v2 - first</a:t>
            </a:r>
          </a:p>
        </p:txBody>
      </p:sp>
      <p:sp>
        <p:nvSpPr>
          <p:cNvPr id="56" name="a4u_pill55"/>
          <p:cNvSpPr/>
          <p:nvPr/>
        </p:nvSpPr>
        <p:spPr>
          <a:xfrm>
            <a:off x="4864607" y="2560320"/>
            <a:ext cx="1325880" cy="347472"/>
          </a:xfrm>
          <a:prstGeom prst="roundRect">
            <a:avLst>
              <a:gd name="adj" fmla="val 50000"/>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050" b="1">
                <a:solidFill>
                  <a:srgbClr val="FFFFFF"/>
                </a:solidFill>
                <a:latin typeface="Consolas"/>
              </a:rPr>
              <a:t>BACKWARD</a:t>
            </a:r>
          </a:p>
        </p:txBody>
      </p:sp>
      <p:sp>
        <p:nvSpPr>
          <p:cNvPr id="57" name="a4u_rw56"/>
          <p:cNvSpPr txBox="1"/>
          <p:nvPr/>
        </p:nvSpPr>
        <p:spPr>
          <a:xfrm>
            <a:off x="6327648" y="2560320"/>
            <a:ext cx="2194560" cy="347472"/>
          </a:xfrm>
          <a:prstGeom prst="rect">
            <a:avLst/>
          </a:prstGeom>
          <a:noFill/>
        </p:spPr>
        <p:txBody>
          <a:bodyPr wrap="square" lIns="0" tIns="0" rIns="0" bIns="0" anchor="ctr">
            <a:spAutoFit/>
          </a:bodyPr>
          <a:lstStyle/>
          <a:p>
            <a:pPr algn="l"/>
            <a:r>
              <a:rPr sz="900" b="1">
                <a:solidFill>
                  <a:srgbClr val="1C1917"/>
                </a:solidFill>
                <a:latin typeface="Segoe UI"/>
              </a:rPr>
              <a:t>the new consumer must read old data</a:t>
            </a:r>
          </a:p>
        </p:txBody>
      </p:sp>
      <p:sp>
        <p:nvSpPr>
          <p:cNvPr id="58" name="a4ud100_rwho57"/>
          <p:cNvSpPr txBox="1"/>
          <p:nvPr/>
        </p:nvSpPr>
        <p:spPr>
          <a:xfrm>
            <a:off x="4864607" y="3035808"/>
            <a:ext cx="3639312" cy="457200"/>
          </a:xfrm>
          <a:prstGeom prst="rect">
            <a:avLst/>
          </a:prstGeom>
          <a:noFill/>
        </p:spPr>
        <p:txBody>
          <a:bodyPr wrap="square" lIns="0" tIns="0" rIns="0" bIns="0" anchor="t">
            <a:spAutoFit/>
          </a:bodyPr>
          <a:lstStyle/>
          <a:p>
            <a:pPr algn="l"/>
            <a:r>
              <a:rPr sz="850" b="0">
                <a:solidFill>
                  <a:srgbClr val="78716C"/>
                </a:solidFill>
                <a:latin typeface="Segoe UI"/>
              </a:rPr>
              <a:t>producers move gradually - or not at all</a:t>
            </a:r>
          </a:p>
        </p:txBody>
      </p:sp>
      <p:sp>
        <p:nvSpPr>
          <p:cNvPr id="59" name="a5u_nb58"/>
          <p:cNvSpPr/>
          <p:nvPr/>
        </p:nvSpPr>
        <p:spPr>
          <a:xfrm>
            <a:off x="457200" y="3886200"/>
            <a:ext cx="8229600" cy="566928"/>
          </a:xfrm>
          <a:prstGeom prst="roundRect">
            <a:avLst>
              <a:gd name="adj" fmla="val 1290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a5u_nacc59"/>
          <p:cNvSpPr/>
          <p:nvPr/>
        </p:nvSpPr>
        <p:spPr>
          <a:xfrm>
            <a:off x="457200" y="3886200"/>
            <a:ext cx="54864" cy="5669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a5u_nt60"/>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4F46E5"/>
                </a:solidFill>
                <a:latin typeface="Segoe UI"/>
              </a:rPr>
              <a:t>KEY  </a:t>
            </a:r>
            <a:r>
              <a:rPr sz="950" b="0">
                <a:solidFill>
                  <a:srgbClr val="44403C"/>
                </a:solidFill>
                <a:latin typeface="Segoe UI"/>
              </a:rPr>
              <a:t>Control neither side? Choose FULL - any rollout order works, but fewer changes are allowed.</a:t>
            </a:r>
          </a:p>
        </p:txBody>
      </p:sp>
      <p:sp>
        <p:nvSpPr>
          <p:cNvPr id="62" name="ft61"/>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07</a:t>
            </a:r>
          </a:p>
        </p:txBody>
      </p:sp>
      <p:sp>
        <p:nvSpPr>
          <p:cNvPr id="63" name="ft62"/>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ft63"/>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65" name="ft64"/>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8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8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8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8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8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8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par>
                                <p:cTn id="54" presetID="2" presetClass="entr" presetSubtype="4" fill="hold" grpId="0" nodeType="withEffect">
                                  <p:stCondLst>
                                    <p:cond delay="8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ppt_x</p:attrName>
                                        </p:attrNameLst>
                                      </p:cBhvr>
                                      <p:tavLst>
                                        <p:tav tm="0">
                                          <p:val>
                                            <p:strVal val="#ppt_x"/>
                                          </p:val>
                                        </p:tav>
                                        <p:tav tm="100000">
                                          <p:val>
                                            <p:strVal val="#ppt_x"/>
                                          </p:val>
                                        </p:tav>
                                      </p:tavLst>
                                    </p:anim>
                                    <p:anim calcmode="lin" valueType="num">
                                      <p:cBhvr additive="base">
                                        <p:cTn id="52" dur="500" fill="hold"/>
                                        <p:tgtEl>
                                          <p:spTgt spid="20"/>
                                        </p:tgtEl>
                                        <p:attrNameLst>
                                          <p:attrName>ppt_y</p:attrName>
                                        </p:attrNameLst>
                                      </p:cBhvr>
                                      <p:tavLst>
                                        <p:tav tm="0">
                                          <p:val>
                                            <p:strVal val="#ppt_y+0.1"/>
                                          </p:val>
                                        </p:tav>
                                        <p:tav tm="100000">
                                          <p:val>
                                            <p:strVal val="#ppt_y"/>
                                          </p:val>
                                        </p:tav>
                                      </p:tavLst>
                                    </p:anim>
                                    <p:animEffect transition="in" filter="fade">
                                      <p:cBhvr>
                                        <p:cTn id="53" dur="500"/>
                                        <p:tgtEl>
                                          <p:spTgt spid="20"/>
                                        </p:tgtEl>
                                      </p:cBhvr>
                                    </p:animEffect>
                                  </p:childTnLst>
                                </p:cTn>
                              </p:par>
                              <p:par>
                                <p:cTn id="59" presetID="2" presetClass="entr" presetSubtype="4" fill="hold" grpId="0" nodeType="withEffect">
                                  <p:stCondLst>
                                    <p:cond delay="80"/>
                                  </p:stCondLst>
                                  <p:childTnLst>
                                    <p:set>
                                      <p:cBhvr>
                                        <p:cTn id="55" dur="1" fill="hold">
                                          <p:stCondLst>
                                            <p:cond delay="0"/>
                                          </p:stCondLst>
                                        </p:cTn>
                                        <p:tgtEl>
                                          <p:spTgt spid="21"/>
                                        </p:tgtEl>
                                        <p:attrNameLst>
                                          <p:attrName>style.visibility</p:attrName>
                                        </p:attrNameLst>
                                      </p:cBhvr>
                                      <p:to>
                                        <p:strVal val="visible"/>
                                      </p:to>
                                    </p:set>
                                    <p:anim calcmode="lin" valueType="num">
                                      <p:cBhvr additive="base">
                                        <p:cTn id="56" dur="500" fill="hold"/>
                                        <p:tgtEl>
                                          <p:spTgt spid="21"/>
                                        </p:tgtEl>
                                        <p:attrNameLst>
                                          <p:attrName>ppt_x</p:attrName>
                                        </p:attrNameLst>
                                      </p:cBhvr>
                                      <p:tavLst>
                                        <p:tav tm="0">
                                          <p:val>
                                            <p:strVal val="#ppt_x"/>
                                          </p:val>
                                        </p:tav>
                                        <p:tav tm="100000">
                                          <p:val>
                                            <p:strVal val="#ppt_x"/>
                                          </p:val>
                                        </p:tav>
                                      </p:tavLst>
                                    </p:anim>
                                    <p:anim calcmode="lin" valueType="num">
                                      <p:cBhvr additive="base">
                                        <p:cTn id="57" dur="500" fill="hold"/>
                                        <p:tgtEl>
                                          <p:spTgt spid="21"/>
                                        </p:tgtEl>
                                        <p:attrNameLst>
                                          <p:attrName>ppt_y</p:attrName>
                                        </p:attrNameLst>
                                      </p:cBhvr>
                                      <p:tavLst>
                                        <p:tav tm="0">
                                          <p:val>
                                            <p:strVal val="#ppt_y+0.1"/>
                                          </p:val>
                                        </p:tav>
                                        <p:tav tm="100000">
                                          <p:val>
                                            <p:strVal val="#ppt_y"/>
                                          </p:val>
                                        </p:tav>
                                      </p:tavLst>
                                    </p:anim>
                                    <p:animEffect transition="in" filter="fade">
                                      <p:cBhvr>
                                        <p:cTn id="58" dur="500"/>
                                        <p:tgtEl>
                                          <p:spTgt spid="21"/>
                                        </p:tgtEl>
                                      </p:cBhvr>
                                    </p:animEffect>
                                  </p:childTnLst>
                                </p:cTn>
                              </p:par>
                              <p:par>
                                <p:cTn id="64" presetID="2" presetClass="entr" presetSubtype="4" fill="hold" grpId="0" nodeType="withEffect">
                                  <p:stCondLst>
                                    <p:cond delay="80"/>
                                  </p:stCondLst>
                                  <p:childTnLst>
                                    <p:set>
                                      <p:cBhvr>
                                        <p:cTn id="60" dur="1" fill="hold">
                                          <p:stCondLst>
                                            <p:cond delay="0"/>
                                          </p:stCondLst>
                                        </p:cTn>
                                        <p:tgtEl>
                                          <p:spTgt spid="22"/>
                                        </p:tgtEl>
                                        <p:attrNameLst>
                                          <p:attrName>style.visibility</p:attrName>
                                        </p:attrNameLst>
                                      </p:cBhvr>
                                      <p:to>
                                        <p:strVal val="visible"/>
                                      </p:to>
                                    </p:set>
                                    <p:anim calcmode="lin" valueType="num">
                                      <p:cBhvr additive="base">
                                        <p:cTn id="61" dur="500" fill="hold"/>
                                        <p:tgtEl>
                                          <p:spTgt spid="22"/>
                                        </p:tgtEl>
                                        <p:attrNameLst>
                                          <p:attrName>ppt_x</p:attrName>
                                        </p:attrNameLst>
                                      </p:cBhvr>
                                      <p:tavLst>
                                        <p:tav tm="0">
                                          <p:val>
                                            <p:strVal val="#ppt_x"/>
                                          </p:val>
                                        </p:tav>
                                        <p:tav tm="100000">
                                          <p:val>
                                            <p:strVal val="#ppt_x"/>
                                          </p:val>
                                        </p:tav>
                                      </p:tavLst>
                                    </p:anim>
                                    <p:anim calcmode="lin" valueType="num">
                                      <p:cBhvr additive="base">
                                        <p:cTn id="62" dur="500" fill="hold"/>
                                        <p:tgtEl>
                                          <p:spTgt spid="22"/>
                                        </p:tgtEl>
                                        <p:attrNameLst>
                                          <p:attrName>ppt_y</p:attrName>
                                        </p:attrNameLst>
                                      </p:cBhvr>
                                      <p:tavLst>
                                        <p:tav tm="0">
                                          <p:val>
                                            <p:strVal val="#ppt_y+0.1"/>
                                          </p:val>
                                        </p:tav>
                                        <p:tav tm="100000">
                                          <p:val>
                                            <p:strVal val="#ppt_y"/>
                                          </p:val>
                                        </p:tav>
                                      </p:tavLst>
                                    </p:anim>
                                    <p:animEffect transition="in" filter="fade">
                                      <p:cBhvr>
                                        <p:cTn id="63" dur="500"/>
                                        <p:tgtEl>
                                          <p:spTgt spid="22"/>
                                        </p:tgtEl>
                                      </p:cBhvr>
                                    </p:animEffect>
                                  </p:childTnLst>
                                </p:cTn>
                              </p:par>
                              <p:par>
                                <p:cTn id="69" presetID="2" presetClass="entr" presetSubtype="4" fill="hold" grpId="0" nodeType="withEffect">
                                  <p:stCondLst>
                                    <p:cond delay="8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500" fill="hold"/>
                                        <p:tgtEl>
                                          <p:spTgt spid="23"/>
                                        </p:tgtEl>
                                        <p:attrNameLst>
                                          <p:attrName>ppt_x</p:attrName>
                                        </p:attrNameLst>
                                      </p:cBhvr>
                                      <p:tavLst>
                                        <p:tav tm="0">
                                          <p:val>
                                            <p:strVal val="#ppt_x"/>
                                          </p:val>
                                        </p:tav>
                                        <p:tav tm="100000">
                                          <p:val>
                                            <p:strVal val="#ppt_x"/>
                                          </p:val>
                                        </p:tav>
                                      </p:tavLst>
                                    </p:anim>
                                    <p:anim calcmode="lin" valueType="num">
                                      <p:cBhvr additive="base">
                                        <p:cTn id="67" dur="500" fill="hold"/>
                                        <p:tgtEl>
                                          <p:spTgt spid="23"/>
                                        </p:tgtEl>
                                        <p:attrNameLst>
                                          <p:attrName>ppt_y</p:attrName>
                                        </p:attrNameLst>
                                      </p:cBhvr>
                                      <p:tavLst>
                                        <p:tav tm="0">
                                          <p:val>
                                            <p:strVal val="#ppt_y+0.1"/>
                                          </p:val>
                                        </p:tav>
                                        <p:tav tm="100000">
                                          <p:val>
                                            <p:strVal val="#ppt_y"/>
                                          </p:val>
                                        </p:tav>
                                      </p:tavLst>
                                    </p:anim>
                                    <p:animEffect transition="in" filter="fade">
                                      <p:cBhvr>
                                        <p:cTn id="68" dur="500"/>
                                        <p:tgtEl>
                                          <p:spTgt spid="23"/>
                                        </p:tgtEl>
                                      </p:cBhvr>
                                    </p:animEffect>
                                  </p:childTnLst>
                                </p:cTn>
                              </p:par>
                              <p:par>
                                <p:cTn id="74" presetID="2" presetClass="entr" presetSubtype="4" fill="hold" grpId="0" nodeType="withEffect">
                                  <p:stCondLst>
                                    <p:cond delay="8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ppt_x</p:attrName>
                                        </p:attrNameLst>
                                      </p:cBhvr>
                                      <p:tavLst>
                                        <p:tav tm="0">
                                          <p:val>
                                            <p:strVal val="#ppt_x"/>
                                          </p:val>
                                        </p:tav>
                                        <p:tav tm="100000">
                                          <p:val>
                                            <p:strVal val="#ppt_x"/>
                                          </p:val>
                                        </p:tav>
                                      </p:tavLst>
                                    </p:anim>
                                    <p:anim calcmode="lin" valueType="num">
                                      <p:cBhvr additive="base">
                                        <p:cTn id="72" dur="500" fill="hold"/>
                                        <p:tgtEl>
                                          <p:spTgt spid="24"/>
                                        </p:tgtEl>
                                        <p:attrNameLst>
                                          <p:attrName>ppt_y</p:attrName>
                                        </p:attrNameLst>
                                      </p:cBhvr>
                                      <p:tavLst>
                                        <p:tav tm="0">
                                          <p:val>
                                            <p:strVal val="#ppt_y+0.1"/>
                                          </p:val>
                                        </p:tav>
                                        <p:tav tm="100000">
                                          <p:val>
                                            <p:strVal val="#ppt_y"/>
                                          </p:val>
                                        </p:tav>
                                      </p:tavLst>
                                    </p:anim>
                                    <p:animEffect transition="in" filter="fade">
                                      <p:cBhvr>
                                        <p:cTn id="73" dur="500"/>
                                        <p:tgtEl>
                                          <p:spTgt spid="24"/>
                                        </p:tgtEl>
                                      </p:cBhvr>
                                    </p:animEffect>
                                  </p:childTnLst>
                                </p:cTn>
                              </p:par>
                              <p:par>
                                <p:cTn id="79" presetID="2" presetClass="entr" presetSubtype="4" fill="hold" grpId="0" nodeType="withEffect">
                                  <p:stCondLst>
                                    <p:cond delay="8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ppt_x</p:attrName>
                                        </p:attrNameLst>
                                      </p:cBhvr>
                                      <p:tavLst>
                                        <p:tav tm="0">
                                          <p:val>
                                            <p:strVal val="#ppt_x"/>
                                          </p:val>
                                        </p:tav>
                                        <p:tav tm="100000">
                                          <p:val>
                                            <p:strVal val="#ppt_x"/>
                                          </p:val>
                                        </p:tav>
                                      </p:tavLst>
                                    </p:anim>
                                    <p:anim calcmode="lin" valueType="num">
                                      <p:cBhvr additive="base">
                                        <p:cTn id="77" dur="500" fill="hold"/>
                                        <p:tgtEl>
                                          <p:spTgt spid="25"/>
                                        </p:tgtEl>
                                        <p:attrNameLst>
                                          <p:attrName>ppt_y</p:attrName>
                                        </p:attrNameLst>
                                      </p:cBhvr>
                                      <p:tavLst>
                                        <p:tav tm="0">
                                          <p:val>
                                            <p:strVal val="#ppt_y+0.1"/>
                                          </p:val>
                                        </p:tav>
                                        <p:tav tm="100000">
                                          <p:val>
                                            <p:strVal val="#ppt_y"/>
                                          </p:val>
                                        </p:tav>
                                      </p:tavLst>
                                    </p:anim>
                                    <p:animEffect transition="in" filter="fade">
                                      <p:cBhvr>
                                        <p:cTn id="78" dur="500"/>
                                        <p:tgtEl>
                                          <p:spTgt spid="25"/>
                                        </p:tgtEl>
                                      </p:cBhvr>
                                    </p:animEffect>
                                  </p:childTnLst>
                                </p:cTn>
                              </p:par>
                              <p:par>
                                <p:cTn id="84" presetID="2" presetClass="entr" presetSubtype="4" fill="hold" grpId="0" nodeType="withEffect">
                                  <p:stCondLst>
                                    <p:cond delay="8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ppt_x</p:attrName>
                                        </p:attrNameLst>
                                      </p:cBhvr>
                                      <p:tavLst>
                                        <p:tav tm="0">
                                          <p:val>
                                            <p:strVal val="#ppt_x"/>
                                          </p:val>
                                        </p:tav>
                                        <p:tav tm="100000">
                                          <p:val>
                                            <p:strVal val="#ppt_x"/>
                                          </p:val>
                                        </p:tav>
                                      </p:tavLst>
                                    </p:anim>
                                    <p:anim calcmode="lin" valueType="num">
                                      <p:cBhvr additive="base">
                                        <p:cTn id="82" dur="500" fill="hold"/>
                                        <p:tgtEl>
                                          <p:spTgt spid="26"/>
                                        </p:tgtEl>
                                        <p:attrNameLst>
                                          <p:attrName>ppt_y</p:attrName>
                                        </p:attrNameLst>
                                      </p:cBhvr>
                                      <p:tavLst>
                                        <p:tav tm="0">
                                          <p:val>
                                            <p:strVal val="#ppt_y+0.1"/>
                                          </p:val>
                                        </p:tav>
                                        <p:tav tm="100000">
                                          <p:val>
                                            <p:strVal val="#ppt_y"/>
                                          </p:val>
                                        </p:tav>
                                      </p:tavLst>
                                    </p:anim>
                                    <p:animEffect transition="in" filter="fade">
                                      <p:cBhvr>
                                        <p:cTn id="83" dur="500"/>
                                        <p:tgtEl>
                                          <p:spTgt spid="26"/>
                                        </p:tgtEl>
                                      </p:cBhvr>
                                    </p:animEffect>
                                  </p:childTnLst>
                                </p:cTn>
                              </p:par>
                              <p:par>
                                <p:cTn id="89" presetID="2" presetClass="entr" presetSubtype="4" fill="hold" grpId="0" nodeType="withEffect">
                                  <p:stCondLst>
                                    <p:cond delay="8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ppt_x</p:attrName>
                                        </p:attrNameLst>
                                      </p:cBhvr>
                                      <p:tavLst>
                                        <p:tav tm="0">
                                          <p:val>
                                            <p:strVal val="#ppt_x"/>
                                          </p:val>
                                        </p:tav>
                                        <p:tav tm="100000">
                                          <p:val>
                                            <p:strVal val="#ppt_x"/>
                                          </p:val>
                                        </p:tav>
                                      </p:tavLst>
                                    </p:anim>
                                    <p:anim calcmode="lin" valueType="num">
                                      <p:cBhvr additive="base">
                                        <p:cTn id="87" dur="500" fill="hold"/>
                                        <p:tgtEl>
                                          <p:spTgt spid="27"/>
                                        </p:tgtEl>
                                        <p:attrNameLst>
                                          <p:attrName>ppt_y</p:attrName>
                                        </p:attrNameLst>
                                      </p:cBhvr>
                                      <p:tavLst>
                                        <p:tav tm="0">
                                          <p:val>
                                            <p:strVal val="#ppt_y+0.1"/>
                                          </p:val>
                                        </p:tav>
                                        <p:tav tm="100000">
                                          <p:val>
                                            <p:strVal val="#ppt_y"/>
                                          </p:val>
                                        </p:tav>
                                      </p:tavLst>
                                    </p:anim>
                                    <p:animEffect transition="in" filter="fade">
                                      <p:cBhvr>
                                        <p:cTn id="88" dur="500"/>
                                        <p:tgtEl>
                                          <p:spTgt spid="27"/>
                                        </p:tgtEl>
                                      </p:cBhvr>
                                    </p:animEffect>
                                  </p:childTnLst>
                                </p:cTn>
                              </p:par>
                              <p:par>
                                <p:cTn id="94" presetID="2" presetClass="entr" presetSubtype="4" fill="hold" grpId="0" nodeType="withEffect">
                                  <p:stCondLst>
                                    <p:cond delay="8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ppt_y+0.1"/>
                                          </p:val>
                                        </p:tav>
                                        <p:tav tm="100000">
                                          <p:val>
                                            <p:strVal val="#ppt_y"/>
                                          </p:val>
                                        </p:tav>
                                      </p:tavLst>
                                    </p:anim>
                                    <p:animEffect transition="in" filter="fade">
                                      <p:cBhvr>
                                        <p:cTn id="93" dur="500"/>
                                        <p:tgtEl>
                                          <p:spTgt spid="28"/>
                                        </p:tgtEl>
                                      </p:cBhvr>
                                    </p:animEffect>
                                  </p:childTnLst>
                                </p:cTn>
                              </p:par>
                              <p:par>
                                <p:cTn id="99" presetID="2" presetClass="entr" presetSubtype="4" fill="hold" grpId="0" nodeType="withEffect">
                                  <p:stCondLst>
                                    <p:cond delay="8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ppt_x</p:attrName>
                                        </p:attrNameLst>
                                      </p:cBhvr>
                                      <p:tavLst>
                                        <p:tav tm="0">
                                          <p:val>
                                            <p:strVal val="#ppt_x"/>
                                          </p:val>
                                        </p:tav>
                                        <p:tav tm="100000">
                                          <p:val>
                                            <p:strVal val="#ppt_x"/>
                                          </p:val>
                                        </p:tav>
                                      </p:tavLst>
                                    </p:anim>
                                    <p:anim calcmode="lin" valueType="num">
                                      <p:cBhvr additive="base">
                                        <p:cTn id="97" dur="500" fill="hold"/>
                                        <p:tgtEl>
                                          <p:spTgt spid="29"/>
                                        </p:tgtEl>
                                        <p:attrNameLst>
                                          <p:attrName>ppt_y</p:attrName>
                                        </p:attrNameLst>
                                      </p:cBhvr>
                                      <p:tavLst>
                                        <p:tav tm="0">
                                          <p:val>
                                            <p:strVal val="#ppt_y+0.1"/>
                                          </p:val>
                                        </p:tav>
                                        <p:tav tm="100000">
                                          <p:val>
                                            <p:strVal val="#ppt_y"/>
                                          </p:val>
                                        </p:tav>
                                      </p:tavLst>
                                    </p:anim>
                                    <p:animEffect transition="in" filter="fade">
                                      <p:cBhvr>
                                        <p:cTn id="98" dur="500"/>
                                        <p:tgtEl>
                                          <p:spTgt spid="29"/>
                                        </p:tgtEl>
                                      </p:cBhvr>
                                    </p:animEffect>
                                  </p:childTnLst>
                                </p:cTn>
                              </p:par>
                              <p:par>
                                <p:cTn id="104" presetID="2" presetClass="entr" presetSubtype="4" fill="hold" grpId="0" nodeType="withEffect">
                                  <p:stCondLst>
                                    <p:cond delay="8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ppt_x</p:attrName>
                                        </p:attrNameLst>
                                      </p:cBhvr>
                                      <p:tavLst>
                                        <p:tav tm="0">
                                          <p:val>
                                            <p:strVal val="#ppt_x"/>
                                          </p:val>
                                        </p:tav>
                                        <p:tav tm="100000">
                                          <p:val>
                                            <p:strVal val="#ppt_x"/>
                                          </p:val>
                                        </p:tav>
                                      </p:tavLst>
                                    </p:anim>
                                    <p:anim calcmode="lin" valueType="num">
                                      <p:cBhvr additive="base">
                                        <p:cTn id="102" dur="500" fill="hold"/>
                                        <p:tgtEl>
                                          <p:spTgt spid="30"/>
                                        </p:tgtEl>
                                        <p:attrNameLst>
                                          <p:attrName>ppt_y</p:attrName>
                                        </p:attrNameLst>
                                      </p:cBhvr>
                                      <p:tavLst>
                                        <p:tav tm="0">
                                          <p:val>
                                            <p:strVal val="#ppt_y+0.1"/>
                                          </p:val>
                                        </p:tav>
                                        <p:tav tm="100000">
                                          <p:val>
                                            <p:strVal val="#ppt_y"/>
                                          </p:val>
                                        </p:tav>
                                      </p:tavLst>
                                    </p:anim>
                                    <p:animEffect transition="in" filter="fade">
                                      <p:cBhvr>
                                        <p:cTn id="103" dur="500"/>
                                        <p:tgtEl>
                                          <p:spTgt spid="30"/>
                                        </p:tgtEl>
                                      </p:cBhvr>
                                    </p:animEffect>
                                  </p:childTnLst>
                                </p:cTn>
                              </p:par>
                              <p:par>
                                <p:cTn id="109" presetID="2" presetClass="entr" presetSubtype="4" fill="hold" grpId="0" nodeType="withEffect">
                                  <p:stCondLst>
                                    <p:cond delay="8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ppt_x</p:attrName>
                                        </p:attrNameLst>
                                      </p:cBhvr>
                                      <p:tavLst>
                                        <p:tav tm="0">
                                          <p:val>
                                            <p:strVal val="#ppt_x"/>
                                          </p:val>
                                        </p:tav>
                                        <p:tav tm="100000">
                                          <p:val>
                                            <p:strVal val="#ppt_x"/>
                                          </p:val>
                                        </p:tav>
                                      </p:tavLst>
                                    </p:anim>
                                    <p:anim calcmode="lin" valueType="num">
                                      <p:cBhvr additive="base">
                                        <p:cTn id="107" dur="500" fill="hold"/>
                                        <p:tgtEl>
                                          <p:spTgt spid="31"/>
                                        </p:tgtEl>
                                        <p:attrNameLst>
                                          <p:attrName>ppt_y</p:attrName>
                                        </p:attrNameLst>
                                      </p:cBhvr>
                                      <p:tavLst>
                                        <p:tav tm="0">
                                          <p:val>
                                            <p:strVal val="#ppt_y+0.1"/>
                                          </p:val>
                                        </p:tav>
                                        <p:tav tm="100000">
                                          <p:val>
                                            <p:strVal val="#ppt_y"/>
                                          </p:val>
                                        </p:tav>
                                      </p:tavLst>
                                    </p:anim>
                                    <p:animEffect transition="in" filter="fade">
                                      <p:cBhvr>
                                        <p:cTn id="108" dur="500"/>
                                        <p:tgtEl>
                                          <p:spTgt spid="31"/>
                                        </p:tgtEl>
                                      </p:cBhvr>
                                    </p:animEffect>
                                  </p:childTnLst>
                                </p:cTn>
                              </p:par>
                            </p:childTnLst>
                          </p:cTn>
                        </p:par>
                      </p:childTnLst>
                    </p:cTn>
                  </p:par>
                  <p:par>
                    <p:cTn id="110" fill="hold">
                      <p:stCondLst>
                        <p:cond delay="indefinite"/>
                      </p:stCondLst>
                      <p:childTnLst>
                        <p:par>
                          <p:cTn id="111" fill="hold">
                            <p:stCondLst>
                              <p:cond delay="0"/>
                            </p:stCondLst>
                            <p:childTnLst>
                              <p:par>
                                <p:cTn id="116" presetID="2" presetClass="entr" presetSubtype="4" fill="hold" grpId="0" nodeType="clickEffect">
                                  <p:stCondLst>
                                    <p:cond delay="0"/>
                                  </p:stCondLst>
                                  <p:childTnLst>
                                    <p:set>
                                      <p:cBhvr>
                                        <p:cTn id="112" dur="1" fill="hold">
                                          <p:stCondLst>
                                            <p:cond delay="0"/>
                                          </p:stCondLst>
                                        </p:cTn>
                                        <p:tgtEl>
                                          <p:spTgt spid="32"/>
                                        </p:tgtEl>
                                        <p:attrNameLst>
                                          <p:attrName>style.visibility</p:attrName>
                                        </p:attrNameLst>
                                      </p:cBhvr>
                                      <p:to>
                                        <p:strVal val="visible"/>
                                      </p:to>
                                    </p:set>
                                    <p:anim calcmode="lin" valueType="num">
                                      <p:cBhvr additive="base">
                                        <p:cTn id="113" dur="500" fill="hold"/>
                                        <p:tgtEl>
                                          <p:spTgt spid="32"/>
                                        </p:tgtEl>
                                        <p:attrNameLst>
                                          <p:attrName>ppt_x</p:attrName>
                                        </p:attrNameLst>
                                      </p:cBhvr>
                                      <p:tavLst>
                                        <p:tav tm="0">
                                          <p:val>
                                            <p:strVal val="#ppt_x"/>
                                          </p:val>
                                        </p:tav>
                                        <p:tav tm="100000">
                                          <p:val>
                                            <p:strVal val="#ppt_x"/>
                                          </p:val>
                                        </p:tav>
                                      </p:tavLst>
                                    </p:anim>
                                    <p:anim calcmode="lin" valueType="num">
                                      <p:cBhvr additive="base">
                                        <p:cTn id="114" dur="500" fill="hold"/>
                                        <p:tgtEl>
                                          <p:spTgt spid="32"/>
                                        </p:tgtEl>
                                        <p:attrNameLst>
                                          <p:attrName>ppt_y</p:attrName>
                                        </p:attrNameLst>
                                      </p:cBhvr>
                                      <p:tavLst>
                                        <p:tav tm="0">
                                          <p:val>
                                            <p:strVal val="#ppt_y+0.1"/>
                                          </p:val>
                                        </p:tav>
                                        <p:tav tm="100000">
                                          <p:val>
                                            <p:strVal val="#ppt_y"/>
                                          </p:val>
                                        </p:tav>
                                      </p:tavLst>
                                    </p:anim>
                                    <p:animEffect transition="in" filter="fade">
                                      <p:cBhvr>
                                        <p:cTn id="115" dur="500"/>
                                        <p:tgtEl>
                                          <p:spTgt spid="32"/>
                                        </p:tgtEl>
                                      </p:cBhvr>
                                    </p:animEffect>
                                  </p:childTnLst>
                                </p:cTn>
                              </p:par>
                              <p:par>
                                <p:cTn id="121" presetID="2" presetClass="entr" presetSubtype="4"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500" fill="hold"/>
                                        <p:tgtEl>
                                          <p:spTgt spid="33"/>
                                        </p:tgtEl>
                                        <p:attrNameLst>
                                          <p:attrName>ppt_x</p:attrName>
                                        </p:attrNameLst>
                                      </p:cBhvr>
                                      <p:tavLst>
                                        <p:tav tm="0">
                                          <p:val>
                                            <p:strVal val="#ppt_x"/>
                                          </p:val>
                                        </p:tav>
                                        <p:tav tm="100000">
                                          <p:val>
                                            <p:strVal val="#ppt_x"/>
                                          </p:val>
                                        </p:tav>
                                      </p:tavLst>
                                    </p:anim>
                                    <p:anim calcmode="lin" valueType="num">
                                      <p:cBhvr additive="base">
                                        <p:cTn id="119" dur="500" fill="hold"/>
                                        <p:tgtEl>
                                          <p:spTgt spid="33"/>
                                        </p:tgtEl>
                                        <p:attrNameLst>
                                          <p:attrName>ppt_y</p:attrName>
                                        </p:attrNameLst>
                                      </p:cBhvr>
                                      <p:tavLst>
                                        <p:tav tm="0">
                                          <p:val>
                                            <p:strVal val="#ppt_y+0.1"/>
                                          </p:val>
                                        </p:tav>
                                        <p:tav tm="100000">
                                          <p:val>
                                            <p:strVal val="#ppt_y"/>
                                          </p:val>
                                        </p:tav>
                                      </p:tavLst>
                                    </p:anim>
                                    <p:animEffect transition="in" filter="fade">
                                      <p:cBhvr>
                                        <p:cTn id="120" dur="500"/>
                                        <p:tgtEl>
                                          <p:spTgt spid="33"/>
                                        </p:tgtEl>
                                      </p:cBhvr>
                                    </p:animEffect>
                                  </p:childTnLst>
                                </p:cTn>
                              </p:par>
                              <p:par>
                                <p:cTn id="126" presetID="2" presetClass="entr" presetSubtype="4" fill="hold" grpId="0" nodeType="withEffect">
                                  <p:stCondLst>
                                    <p:cond delay="10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500" fill="hold"/>
                                        <p:tgtEl>
                                          <p:spTgt spid="34"/>
                                        </p:tgtEl>
                                        <p:attrNameLst>
                                          <p:attrName>ppt_x</p:attrName>
                                        </p:attrNameLst>
                                      </p:cBhvr>
                                      <p:tavLst>
                                        <p:tav tm="0">
                                          <p:val>
                                            <p:strVal val="#ppt_x"/>
                                          </p:val>
                                        </p:tav>
                                        <p:tav tm="100000">
                                          <p:val>
                                            <p:strVal val="#ppt_x"/>
                                          </p:val>
                                        </p:tav>
                                      </p:tavLst>
                                    </p:anim>
                                    <p:anim calcmode="lin" valueType="num">
                                      <p:cBhvr additive="base">
                                        <p:cTn id="124" dur="500" fill="hold"/>
                                        <p:tgtEl>
                                          <p:spTgt spid="34"/>
                                        </p:tgtEl>
                                        <p:attrNameLst>
                                          <p:attrName>ppt_y</p:attrName>
                                        </p:attrNameLst>
                                      </p:cBhvr>
                                      <p:tavLst>
                                        <p:tav tm="0">
                                          <p:val>
                                            <p:strVal val="#ppt_y+0.1"/>
                                          </p:val>
                                        </p:tav>
                                        <p:tav tm="100000">
                                          <p:val>
                                            <p:strVal val="#ppt_y"/>
                                          </p:val>
                                        </p:tav>
                                      </p:tavLst>
                                    </p:anim>
                                    <p:animEffect transition="in" filter="fade">
                                      <p:cBhvr>
                                        <p:cTn id="125" dur="500"/>
                                        <p:tgtEl>
                                          <p:spTgt spid="34"/>
                                        </p:tgtEl>
                                      </p:cBhvr>
                                    </p:animEffect>
                                  </p:childTnLst>
                                </p:cTn>
                              </p:par>
                            </p:childTnLst>
                          </p:cTn>
                        </p:par>
                      </p:childTnLst>
                    </p:cTn>
                  </p:par>
                  <p:par>
                    <p:cTn id="127" fill="hold">
                      <p:stCondLst>
                        <p:cond delay="indefinite"/>
                      </p:stCondLst>
                      <p:childTnLst>
                        <p:par>
                          <p:cTn id="128" fill="hold">
                            <p:stCondLst>
                              <p:cond delay="0"/>
                            </p:stCondLst>
                            <p:childTnLst>
                              <p:par>
                                <p:cTn id="133" presetID="2" presetClass="entr" presetSubtype="4" fill="hold" grpId="0" nodeType="clickEffect">
                                  <p:stCondLst>
                                    <p:cond delay="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par>
                                <p:cTn id="148" presetID="2" presetClass="entr" presetSubtype="4" fill="hold" grpId="0" nodeType="withEffect">
                                  <p:stCondLst>
                                    <p:cond delay="80"/>
                                  </p:stCondLst>
                                  <p:childTnLst>
                                    <p:set>
                                      <p:cBhvr>
                                        <p:cTn id="144" dur="1" fill="hold">
                                          <p:stCondLst>
                                            <p:cond delay="0"/>
                                          </p:stCondLst>
                                        </p:cTn>
                                        <p:tgtEl>
                                          <p:spTgt spid="38"/>
                                        </p:tgtEl>
                                        <p:attrNameLst>
                                          <p:attrName>style.visibility</p:attrName>
                                        </p:attrNameLst>
                                      </p:cBhvr>
                                      <p:to>
                                        <p:strVal val="visible"/>
                                      </p:to>
                                    </p:set>
                                    <p:anim calcmode="lin" valueType="num">
                                      <p:cBhvr additive="base">
                                        <p:cTn id="145" dur="500" fill="hold"/>
                                        <p:tgtEl>
                                          <p:spTgt spid="38"/>
                                        </p:tgtEl>
                                        <p:attrNameLst>
                                          <p:attrName>ppt_x</p:attrName>
                                        </p:attrNameLst>
                                      </p:cBhvr>
                                      <p:tavLst>
                                        <p:tav tm="0">
                                          <p:val>
                                            <p:strVal val="#ppt_x"/>
                                          </p:val>
                                        </p:tav>
                                        <p:tav tm="100000">
                                          <p:val>
                                            <p:strVal val="#ppt_x"/>
                                          </p:val>
                                        </p:tav>
                                      </p:tavLst>
                                    </p:anim>
                                    <p:anim calcmode="lin" valueType="num">
                                      <p:cBhvr additive="base">
                                        <p:cTn id="146" dur="500" fill="hold"/>
                                        <p:tgtEl>
                                          <p:spTgt spid="38"/>
                                        </p:tgtEl>
                                        <p:attrNameLst>
                                          <p:attrName>ppt_y</p:attrName>
                                        </p:attrNameLst>
                                      </p:cBhvr>
                                      <p:tavLst>
                                        <p:tav tm="0">
                                          <p:val>
                                            <p:strVal val="#ppt_y+0.1"/>
                                          </p:val>
                                        </p:tav>
                                        <p:tav tm="100000">
                                          <p:val>
                                            <p:strVal val="#ppt_y"/>
                                          </p:val>
                                        </p:tav>
                                      </p:tavLst>
                                    </p:anim>
                                    <p:animEffect transition="in" filter="fade">
                                      <p:cBhvr>
                                        <p:cTn id="147" dur="500"/>
                                        <p:tgtEl>
                                          <p:spTgt spid="38"/>
                                        </p:tgtEl>
                                      </p:cBhvr>
                                    </p:animEffect>
                                  </p:childTnLst>
                                </p:cTn>
                              </p:par>
                              <p:par>
                                <p:cTn id="153" presetID="2" presetClass="entr" presetSubtype="4" fill="hold" grpId="0" nodeType="withEffect">
                                  <p:stCondLst>
                                    <p:cond delay="80"/>
                                  </p:stCondLst>
                                  <p:childTnLst>
                                    <p:set>
                                      <p:cBhvr>
                                        <p:cTn id="149" dur="1" fill="hold">
                                          <p:stCondLst>
                                            <p:cond delay="0"/>
                                          </p:stCondLst>
                                        </p:cTn>
                                        <p:tgtEl>
                                          <p:spTgt spid="39"/>
                                        </p:tgtEl>
                                        <p:attrNameLst>
                                          <p:attrName>style.visibility</p:attrName>
                                        </p:attrNameLst>
                                      </p:cBhvr>
                                      <p:to>
                                        <p:strVal val="visible"/>
                                      </p:to>
                                    </p:set>
                                    <p:anim calcmode="lin" valueType="num">
                                      <p:cBhvr additive="base">
                                        <p:cTn id="150" dur="500" fill="hold"/>
                                        <p:tgtEl>
                                          <p:spTgt spid="39"/>
                                        </p:tgtEl>
                                        <p:attrNameLst>
                                          <p:attrName>ppt_x</p:attrName>
                                        </p:attrNameLst>
                                      </p:cBhvr>
                                      <p:tavLst>
                                        <p:tav tm="0">
                                          <p:val>
                                            <p:strVal val="#ppt_x"/>
                                          </p:val>
                                        </p:tav>
                                        <p:tav tm="100000">
                                          <p:val>
                                            <p:strVal val="#ppt_x"/>
                                          </p:val>
                                        </p:tav>
                                      </p:tavLst>
                                    </p:anim>
                                    <p:anim calcmode="lin" valueType="num">
                                      <p:cBhvr additive="base">
                                        <p:cTn id="151" dur="500" fill="hold"/>
                                        <p:tgtEl>
                                          <p:spTgt spid="39"/>
                                        </p:tgtEl>
                                        <p:attrNameLst>
                                          <p:attrName>ppt_y</p:attrName>
                                        </p:attrNameLst>
                                      </p:cBhvr>
                                      <p:tavLst>
                                        <p:tav tm="0">
                                          <p:val>
                                            <p:strVal val="#ppt_y+0.1"/>
                                          </p:val>
                                        </p:tav>
                                        <p:tav tm="100000">
                                          <p:val>
                                            <p:strVal val="#ppt_y"/>
                                          </p:val>
                                        </p:tav>
                                      </p:tavLst>
                                    </p:anim>
                                    <p:animEffect transition="in" filter="fade">
                                      <p:cBhvr>
                                        <p:cTn id="152" dur="500"/>
                                        <p:tgtEl>
                                          <p:spTgt spid="39"/>
                                        </p:tgtEl>
                                      </p:cBhvr>
                                    </p:animEffect>
                                  </p:childTnLst>
                                </p:cTn>
                              </p:par>
                              <p:par>
                                <p:cTn id="158" presetID="2" presetClass="entr" presetSubtype="4" fill="hold" grpId="0" nodeType="withEffect">
                                  <p:stCondLst>
                                    <p:cond delay="8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ppt_x</p:attrName>
                                        </p:attrNameLst>
                                      </p:cBhvr>
                                      <p:tavLst>
                                        <p:tav tm="0">
                                          <p:val>
                                            <p:strVal val="#ppt_x"/>
                                          </p:val>
                                        </p:tav>
                                        <p:tav tm="100000">
                                          <p:val>
                                            <p:strVal val="#ppt_x"/>
                                          </p:val>
                                        </p:tav>
                                      </p:tavLst>
                                    </p:anim>
                                    <p:anim calcmode="lin" valueType="num">
                                      <p:cBhvr additive="base">
                                        <p:cTn id="156" dur="500" fill="hold"/>
                                        <p:tgtEl>
                                          <p:spTgt spid="40"/>
                                        </p:tgtEl>
                                        <p:attrNameLst>
                                          <p:attrName>ppt_y</p:attrName>
                                        </p:attrNameLst>
                                      </p:cBhvr>
                                      <p:tavLst>
                                        <p:tav tm="0">
                                          <p:val>
                                            <p:strVal val="#ppt_y+0.1"/>
                                          </p:val>
                                        </p:tav>
                                        <p:tav tm="100000">
                                          <p:val>
                                            <p:strVal val="#ppt_y"/>
                                          </p:val>
                                        </p:tav>
                                      </p:tavLst>
                                    </p:anim>
                                    <p:animEffect transition="in" filter="fade">
                                      <p:cBhvr>
                                        <p:cTn id="157" dur="500"/>
                                        <p:tgtEl>
                                          <p:spTgt spid="40"/>
                                        </p:tgtEl>
                                      </p:cBhvr>
                                    </p:animEffect>
                                  </p:childTnLst>
                                </p:cTn>
                              </p:par>
                              <p:par>
                                <p:cTn id="163" presetID="2" presetClass="entr" presetSubtype="4" fill="hold" grpId="0" nodeType="withEffect">
                                  <p:stCondLst>
                                    <p:cond delay="80"/>
                                  </p:stCondLst>
                                  <p:childTnLst>
                                    <p:set>
                                      <p:cBhvr>
                                        <p:cTn id="159" dur="1" fill="hold">
                                          <p:stCondLst>
                                            <p:cond delay="0"/>
                                          </p:stCondLst>
                                        </p:cTn>
                                        <p:tgtEl>
                                          <p:spTgt spid="41"/>
                                        </p:tgtEl>
                                        <p:attrNameLst>
                                          <p:attrName>style.visibility</p:attrName>
                                        </p:attrNameLst>
                                      </p:cBhvr>
                                      <p:to>
                                        <p:strVal val="visible"/>
                                      </p:to>
                                    </p:set>
                                    <p:anim calcmode="lin" valueType="num">
                                      <p:cBhvr additive="base">
                                        <p:cTn id="160" dur="500" fill="hold"/>
                                        <p:tgtEl>
                                          <p:spTgt spid="41"/>
                                        </p:tgtEl>
                                        <p:attrNameLst>
                                          <p:attrName>ppt_x</p:attrName>
                                        </p:attrNameLst>
                                      </p:cBhvr>
                                      <p:tavLst>
                                        <p:tav tm="0">
                                          <p:val>
                                            <p:strVal val="#ppt_x"/>
                                          </p:val>
                                        </p:tav>
                                        <p:tav tm="100000">
                                          <p:val>
                                            <p:strVal val="#ppt_x"/>
                                          </p:val>
                                        </p:tav>
                                      </p:tavLst>
                                    </p:anim>
                                    <p:anim calcmode="lin" valueType="num">
                                      <p:cBhvr additive="base">
                                        <p:cTn id="161" dur="500" fill="hold"/>
                                        <p:tgtEl>
                                          <p:spTgt spid="41"/>
                                        </p:tgtEl>
                                        <p:attrNameLst>
                                          <p:attrName>ppt_y</p:attrName>
                                        </p:attrNameLst>
                                      </p:cBhvr>
                                      <p:tavLst>
                                        <p:tav tm="0">
                                          <p:val>
                                            <p:strVal val="#ppt_y+0.1"/>
                                          </p:val>
                                        </p:tav>
                                        <p:tav tm="100000">
                                          <p:val>
                                            <p:strVal val="#ppt_y"/>
                                          </p:val>
                                        </p:tav>
                                      </p:tavLst>
                                    </p:anim>
                                    <p:animEffect transition="in" filter="fade">
                                      <p:cBhvr>
                                        <p:cTn id="162" dur="500"/>
                                        <p:tgtEl>
                                          <p:spTgt spid="41"/>
                                        </p:tgtEl>
                                      </p:cBhvr>
                                    </p:animEffect>
                                  </p:childTnLst>
                                </p:cTn>
                              </p:par>
                              <p:par>
                                <p:cTn id="168" presetID="2" presetClass="entr" presetSubtype="4" fill="hold" grpId="0" nodeType="withEffect">
                                  <p:stCondLst>
                                    <p:cond delay="8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ppt_y+0.1"/>
                                          </p:val>
                                        </p:tav>
                                        <p:tav tm="100000">
                                          <p:val>
                                            <p:strVal val="#ppt_y"/>
                                          </p:val>
                                        </p:tav>
                                      </p:tavLst>
                                    </p:anim>
                                    <p:animEffect transition="in" filter="fade">
                                      <p:cBhvr>
                                        <p:cTn id="167" dur="500"/>
                                        <p:tgtEl>
                                          <p:spTgt spid="42"/>
                                        </p:tgtEl>
                                      </p:cBhvr>
                                    </p:animEffect>
                                  </p:childTnLst>
                                </p:cTn>
                              </p:par>
                              <p:par>
                                <p:cTn id="173" presetID="2" presetClass="entr" presetSubtype="4" fill="hold" grpId="0" nodeType="withEffect">
                                  <p:stCondLst>
                                    <p:cond delay="80"/>
                                  </p:stCondLst>
                                  <p:childTnLst>
                                    <p:set>
                                      <p:cBhvr>
                                        <p:cTn id="169" dur="1" fill="hold">
                                          <p:stCondLst>
                                            <p:cond delay="0"/>
                                          </p:stCondLst>
                                        </p:cTn>
                                        <p:tgtEl>
                                          <p:spTgt spid="43"/>
                                        </p:tgtEl>
                                        <p:attrNameLst>
                                          <p:attrName>style.visibility</p:attrName>
                                        </p:attrNameLst>
                                      </p:cBhvr>
                                      <p:to>
                                        <p:strVal val="visible"/>
                                      </p:to>
                                    </p:set>
                                    <p:anim calcmode="lin" valueType="num">
                                      <p:cBhvr additive="base">
                                        <p:cTn id="170" dur="500" fill="hold"/>
                                        <p:tgtEl>
                                          <p:spTgt spid="43"/>
                                        </p:tgtEl>
                                        <p:attrNameLst>
                                          <p:attrName>ppt_x</p:attrName>
                                        </p:attrNameLst>
                                      </p:cBhvr>
                                      <p:tavLst>
                                        <p:tav tm="0">
                                          <p:val>
                                            <p:strVal val="#ppt_x"/>
                                          </p:val>
                                        </p:tav>
                                        <p:tav tm="100000">
                                          <p:val>
                                            <p:strVal val="#ppt_x"/>
                                          </p:val>
                                        </p:tav>
                                      </p:tavLst>
                                    </p:anim>
                                    <p:anim calcmode="lin" valueType="num">
                                      <p:cBhvr additive="base">
                                        <p:cTn id="171" dur="500" fill="hold"/>
                                        <p:tgtEl>
                                          <p:spTgt spid="43"/>
                                        </p:tgtEl>
                                        <p:attrNameLst>
                                          <p:attrName>ppt_y</p:attrName>
                                        </p:attrNameLst>
                                      </p:cBhvr>
                                      <p:tavLst>
                                        <p:tav tm="0">
                                          <p:val>
                                            <p:strVal val="#ppt_y+0.1"/>
                                          </p:val>
                                        </p:tav>
                                        <p:tav tm="100000">
                                          <p:val>
                                            <p:strVal val="#ppt_y"/>
                                          </p:val>
                                        </p:tav>
                                      </p:tavLst>
                                    </p:anim>
                                    <p:animEffect transition="in" filter="fade">
                                      <p:cBhvr>
                                        <p:cTn id="172" dur="500"/>
                                        <p:tgtEl>
                                          <p:spTgt spid="43"/>
                                        </p:tgtEl>
                                      </p:cBhvr>
                                    </p:animEffect>
                                  </p:childTnLst>
                                </p:cTn>
                              </p:par>
                              <p:par>
                                <p:cTn id="178" presetID="2" presetClass="entr" presetSubtype="4" fill="hold" grpId="0" nodeType="withEffect">
                                  <p:stCondLst>
                                    <p:cond delay="80"/>
                                  </p:stCondLst>
                                  <p:childTnLst>
                                    <p:set>
                                      <p:cBhvr>
                                        <p:cTn id="174" dur="1" fill="hold">
                                          <p:stCondLst>
                                            <p:cond delay="0"/>
                                          </p:stCondLst>
                                        </p:cTn>
                                        <p:tgtEl>
                                          <p:spTgt spid="44"/>
                                        </p:tgtEl>
                                        <p:attrNameLst>
                                          <p:attrName>style.visibility</p:attrName>
                                        </p:attrNameLst>
                                      </p:cBhvr>
                                      <p:to>
                                        <p:strVal val="visible"/>
                                      </p:to>
                                    </p:set>
                                    <p:anim calcmode="lin" valueType="num">
                                      <p:cBhvr additive="base">
                                        <p:cTn id="175" dur="500" fill="hold"/>
                                        <p:tgtEl>
                                          <p:spTgt spid="44"/>
                                        </p:tgtEl>
                                        <p:attrNameLst>
                                          <p:attrName>ppt_x</p:attrName>
                                        </p:attrNameLst>
                                      </p:cBhvr>
                                      <p:tavLst>
                                        <p:tav tm="0">
                                          <p:val>
                                            <p:strVal val="#ppt_x"/>
                                          </p:val>
                                        </p:tav>
                                        <p:tav tm="100000">
                                          <p:val>
                                            <p:strVal val="#ppt_x"/>
                                          </p:val>
                                        </p:tav>
                                      </p:tavLst>
                                    </p:anim>
                                    <p:anim calcmode="lin" valueType="num">
                                      <p:cBhvr additive="base">
                                        <p:cTn id="176" dur="500" fill="hold"/>
                                        <p:tgtEl>
                                          <p:spTgt spid="44"/>
                                        </p:tgtEl>
                                        <p:attrNameLst>
                                          <p:attrName>ppt_y</p:attrName>
                                        </p:attrNameLst>
                                      </p:cBhvr>
                                      <p:tavLst>
                                        <p:tav tm="0">
                                          <p:val>
                                            <p:strVal val="#ppt_y+0.1"/>
                                          </p:val>
                                        </p:tav>
                                        <p:tav tm="100000">
                                          <p:val>
                                            <p:strVal val="#ppt_y"/>
                                          </p:val>
                                        </p:tav>
                                      </p:tavLst>
                                    </p:anim>
                                    <p:animEffect transition="in" filter="fade">
                                      <p:cBhvr>
                                        <p:cTn id="177" dur="500"/>
                                        <p:tgtEl>
                                          <p:spTgt spid="44"/>
                                        </p:tgtEl>
                                      </p:cBhvr>
                                    </p:animEffect>
                                  </p:childTnLst>
                                </p:cTn>
                              </p:par>
                              <p:par>
                                <p:cTn id="183" presetID="2" presetClass="entr" presetSubtype="4" fill="hold" grpId="0" nodeType="withEffect">
                                  <p:stCondLst>
                                    <p:cond delay="8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0" dur="500" fill="hold"/>
                                        <p:tgtEl>
                                          <p:spTgt spid="45"/>
                                        </p:tgtEl>
                                        <p:attrNameLst>
                                          <p:attrName>ppt_x</p:attrName>
                                        </p:attrNameLst>
                                      </p:cBhvr>
                                      <p:tavLst>
                                        <p:tav tm="0">
                                          <p:val>
                                            <p:strVal val="#ppt_x"/>
                                          </p:val>
                                        </p:tav>
                                        <p:tav tm="100000">
                                          <p:val>
                                            <p:strVal val="#ppt_x"/>
                                          </p:val>
                                        </p:tav>
                                      </p:tavLst>
                                    </p:anim>
                                    <p:anim calcmode="lin" valueType="num">
                                      <p:cBhvr additive="base">
                                        <p:cTn id="181" dur="500" fill="hold"/>
                                        <p:tgtEl>
                                          <p:spTgt spid="45"/>
                                        </p:tgtEl>
                                        <p:attrNameLst>
                                          <p:attrName>ppt_y</p:attrName>
                                        </p:attrNameLst>
                                      </p:cBhvr>
                                      <p:tavLst>
                                        <p:tav tm="0">
                                          <p:val>
                                            <p:strVal val="#ppt_y+0.1"/>
                                          </p:val>
                                        </p:tav>
                                        <p:tav tm="100000">
                                          <p:val>
                                            <p:strVal val="#ppt_y"/>
                                          </p:val>
                                        </p:tav>
                                      </p:tavLst>
                                    </p:anim>
                                    <p:animEffect transition="in" filter="fade">
                                      <p:cBhvr>
                                        <p:cTn id="182" dur="500"/>
                                        <p:tgtEl>
                                          <p:spTgt spid="45"/>
                                        </p:tgtEl>
                                      </p:cBhvr>
                                    </p:animEffect>
                                  </p:childTnLst>
                                </p:cTn>
                              </p:par>
                              <p:par>
                                <p:cTn id="188" presetID="2" presetClass="entr" presetSubtype="4" fill="hold" grpId="0" nodeType="withEffect">
                                  <p:stCondLst>
                                    <p:cond delay="80"/>
                                  </p:stCondLst>
                                  <p:childTnLst>
                                    <p:set>
                                      <p:cBhvr>
                                        <p:cTn id="184" dur="1" fill="hold">
                                          <p:stCondLst>
                                            <p:cond delay="0"/>
                                          </p:stCondLst>
                                        </p:cTn>
                                        <p:tgtEl>
                                          <p:spTgt spid="46"/>
                                        </p:tgtEl>
                                        <p:attrNameLst>
                                          <p:attrName>style.visibility</p:attrName>
                                        </p:attrNameLst>
                                      </p:cBhvr>
                                      <p:to>
                                        <p:strVal val="visible"/>
                                      </p:to>
                                    </p:set>
                                    <p:anim calcmode="lin" valueType="num">
                                      <p:cBhvr additive="base">
                                        <p:cTn id="185" dur="500" fill="hold"/>
                                        <p:tgtEl>
                                          <p:spTgt spid="46"/>
                                        </p:tgtEl>
                                        <p:attrNameLst>
                                          <p:attrName>ppt_x</p:attrName>
                                        </p:attrNameLst>
                                      </p:cBhvr>
                                      <p:tavLst>
                                        <p:tav tm="0">
                                          <p:val>
                                            <p:strVal val="#ppt_x"/>
                                          </p:val>
                                        </p:tav>
                                        <p:tav tm="100000">
                                          <p:val>
                                            <p:strVal val="#ppt_x"/>
                                          </p:val>
                                        </p:tav>
                                      </p:tavLst>
                                    </p:anim>
                                    <p:anim calcmode="lin" valueType="num">
                                      <p:cBhvr additive="base">
                                        <p:cTn id="186" dur="500" fill="hold"/>
                                        <p:tgtEl>
                                          <p:spTgt spid="46"/>
                                        </p:tgtEl>
                                        <p:attrNameLst>
                                          <p:attrName>ppt_y</p:attrName>
                                        </p:attrNameLst>
                                      </p:cBhvr>
                                      <p:tavLst>
                                        <p:tav tm="0">
                                          <p:val>
                                            <p:strVal val="#ppt_y+0.1"/>
                                          </p:val>
                                        </p:tav>
                                        <p:tav tm="100000">
                                          <p:val>
                                            <p:strVal val="#ppt_y"/>
                                          </p:val>
                                        </p:tav>
                                      </p:tavLst>
                                    </p:anim>
                                    <p:animEffect transition="in" filter="fade">
                                      <p:cBhvr>
                                        <p:cTn id="187" dur="500"/>
                                        <p:tgtEl>
                                          <p:spTgt spid="46"/>
                                        </p:tgtEl>
                                      </p:cBhvr>
                                    </p:animEffect>
                                  </p:childTnLst>
                                </p:cTn>
                              </p:par>
                              <p:par>
                                <p:cTn id="193" presetID="2" presetClass="entr" presetSubtype="4" fill="hold" grpId="0" nodeType="withEffect">
                                  <p:stCondLst>
                                    <p:cond delay="80"/>
                                  </p:stCondLst>
                                  <p:childTnLst>
                                    <p:set>
                                      <p:cBhvr>
                                        <p:cTn id="189" dur="1" fill="hold">
                                          <p:stCondLst>
                                            <p:cond delay="0"/>
                                          </p:stCondLst>
                                        </p:cTn>
                                        <p:tgtEl>
                                          <p:spTgt spid="47"/>
                                        </p:tgtEl>
                                        <p:attrNameLst>
                                          <p:attrName>style.visibility</p:attrName>
                                        </p:attrNameLst>
                                      </p:cBhvr>
                                      <p:to>
                                        <p:strVal val="visible"/>
                                      </p:to>
                                    </p:set>
                                    <p:anim calcmode="lin" valueType="num">
                                      <p:cBhvr additive="base">
                                        <p:cTn id="190" dur="500" fill="hold"/>
                                        <p:tgtEl>
                                          <p:spTgt spid="47"/>
                                        </p:tgtEl>
                                        <p:attrNameLst>
                                          <p:attrName>ppt_x</p:attrName>
                                        </p:attrNameLst>
                                      </p:cBhvr>
                                      <p:tavLst>
                                        <p:tav tm="0">
                                          <p:val>
                                            <p:strVal val="#ppt_x"/>
                                          </p:val>
                                        </p:tav>
                                        <p:tav tm="100000">
                                          <p:val>
                                            <p:strVal val="#ppt_x"/>
                                          </p:val>
                                        </p:tav>
                                      </p:tavLst>
                                    </p:anim>
                                    <p:anim calcmode="lin" valueType="num">
                                      <p:cBhvr additive="base">
                                        <p:cTn id="191" dur="500" fill="hold"/>
                                        <p:tgtEl>
                                          <p:spTgt spid="47"/>
                                        </p:tgtEl>
                                        <p:attrNameLst>
                                          <p:attrName>ppt_y</p:attrName>
                                        </p:attrNameLst>
                                      </p:cBhvr>
                                      <p:tavLst>
                                        <p:tav tm="0">
                                          <p:val>
                                            <p:strVal val="#ppt_y+0.1"/>
                                          </p:val>
                                        </p:tav>
                                        <p:tav tm="100000">
                                          <p:val>
                                            <p:strVal val="#ppt_y"/>
                                          </p:val>
                                        </p:tav>
                                      </p:tavLst>
                                    </p:anim>
                                    <p:animEffect transition="in" filter="fade">
                                      <p:cBhvr>
                                        <p:cTn id="192" dur="500"/>
                                        <p:tgtEl>
                                          <p:spTgt spid="47"/>
                                        </p:tgtEl>
                                      </p:cBhvr>
                                    </p:animEffect>
                                  </p:childTnLst>
                                </p:cTn>
                              </p:par>
                              <p:par>
                                <p:cTn id="198" presetID="2" presetClass="entr" presetSubtype="4" fill="hold" grpId="0" nodeType="withEffect">
                                  <p:stCondLst>
                                    <p:cond delay="80"/>
                                  </p:stCondLst>
                                  <p:childTnLst>
                                    <p:set>
                                      <p:cBhvr>
                                        <p:cTn id="194" dur="1" fill="hold">
                                          <p:stCondLst>
                                            <p:cond delay="0"/>
                                          </p:stCondLst>
                                        </p:cTn>
                                        <p:tgtEl>
                                          <p:spTgt spid="48"/>
                                        </p:tgtEl>
                                        <p:attrNameLst>
                                          <p:attrName>style.visibility</p:attrName>
                                        </p:attrNameLst>
                                      </p:cBhvr>
                                      <p:to>
                                        <p:strVal val="visible"/>
                                      </p:to>
                                    </p:set>
                                    <p:anim calcmode="lin" valueType="num">
                                      <p:cBhvr additive="base">
                                        <p:cTn id="195" dur="500" fill="hold"/>
                                        <p:tgtEl>
                                          <p:spTgt spid="48"/>
                                        </p:tgtEl>
                                        <p:attrNameLst>
                                          <p:attrName>ppt_x</p:attrName>
                                        </p:attrNameLst>
                                      </p:cBhvr>
                                      <p:tavLst>
                                        <p:tav tm="0">
                                          <p:val>
                                            <p:strVal val="#ppt_x"/>
                                          </p:val>
                                        </p:tav>
                                        <p:tav tm="100000">
                                          <p:val>
                                            <p:strVal val="#ppt_x"/>
                                          </p:val>
                                        </p:tav>
                                      </p:tavLst>
                                    </p:anim>
                                    <p:anim calcmode="lin" valueType="num">
                                      <p:cBhvr additive="base">
                                        <p:cTn id="196" dur="500" fill="hold"/>
                                        <p:tgtEl>
                                          <p:spTgt spid="48"/>
                                        </p:tgtEl>
                                        <p:attrNameLst>
                                          <p:attrName>ppt_y</p:attrName>
                                        </p:attrNameLst>
                                      </p:cBhvr>
                                      <p:tavLst>
                                        <p:tav tm="0">
                                          <p:val>
                                            <p:strVal val="#ppt_y+0.1"/>
                                          </p:val>
                                        </p:tav>
                                        <p:tav tm="100000">
                                          <p:val>
                                            <p:strVal val="#ppt_y"/>
                                          </p:val>
                                        </p:tav>
                                      </p:tavLst>
                                    </p:anim>
                                    <p:animEffect transition="in" filter="fade">
                                      <p:cBhvr>
                                        <p:cTn id="197" dur="500"/>
                                        <p:tgtEl>
                                          <p:spTgt spid="48"/>
                                        </p:tgtEl>
                                      </p:cBhvr>
                                    </p:animEffect>
                                  </p:childTnLst>
                                </p:cTn>
                              </p:par>
                              <p:par>
                                <p:cTn id="203" presetID="2" presetClass="entr" presetSubtype="4" fill="hold" grpId="0" nodeType="withEffect">
                                  <p:stCondLst>
                                    <p:cond delay="80"/>
                                  </p:stCondLst>
                                  <p:childTnLst>
                                    <p:set>
                                      <p:cBhvr>
                                        <p:cTn id="199" dur="1" fill="hold">
                                          <p:stCondLst>
                                            <p:cond delay="0"/>
                                          </p:stCondLst>
                                        </p:cTn>
                                        <p:tgtEl>
                                          <p:spTgt spid="49"/>
                                        </p:tgtEl>
                                        <p:attrNameLst>
                                          <p:attrName>style.visibility</p:attrName>
                                        </p:attrNameLst>
                                      </p:cBhvr>
                                      <p:to>
                                        <p:strVal val="visible"/>
                                      </p:to>
                                    </p:set>
                                    <p:anim calcmode="lin" valueType="num">
                                      <p:cBhvr additive="base">
                                        <p:cTn id="200" dur="500" fill="hold"/>
                                        <p:tgtEl>
                                          <p:spTgt spid="49"/>
                                        </p:tgtEl>
                                        <p:attrNameLst>
                                          <p:attrName>ppt_x</p:attrName>
                                        </p:attrNameLst>
                                      </p:cBhvr>
                                      <p:tavLst>
                                        <p:tav tm="0">
                                          <p:val>
                                            <p:strVal val="#ppt_x"/>
                                          </p:val>
                                        </p:tav>
                                        <p:tav tm="100000">
                                          <p:val>
                                            <p:strVal val="#ppt_x"/>
                                          </p:val>
                                        </p:tav>
                                      </p:tavLst>
                                    </p:anim>
                                    <p:anim calcmode="lin" valueType="num">
                                      <p:cBhvr additive="base">
                                        <p:cTn id="201" dur="500" fill="hold"/>
                                        <p:tgtEl>
                                          <p:spTgt spid="49"/>
                                        </p:tgtEl>
                                        <p:attrNameLst>
                                          <p:attrName>ppt_y</p:attrName>
                                        </p:attrNameLst>
                                      </p:cBhvr>
                                      <p:tavLst>
                                        <p:tav tm="0">
                                          <p:val>
                                            <p:strVal val="#ppt_y+0.1"/>
                                          </p:val>
                                        </p:tav>
                                        <p:tav tm="100000">
                                          <p:val>
                                            <p:strVal val="#ppt_y"/>
                                          </p:val>
                                        </p:tav>
                                      </p:tavLst>
                                    </p:anim>
                                    <p:animEffect transition="in" filter="fade">
                                      <p:cBhvr>
                                        <p:cTn id="202" dur="500"/>
                                        <p:tgtEl>
                                          <p:spTgt spid="49"/>
                                        </p:tgtEl>
                                      </p:cBhvr>
                                    </p:animEffect>
                                  </p:childTnLst>
                                </p:cTn>
                              </p:par>
                              <p:par>
                                <p:cTn id="208" presetID="2" presetClass="entr" presetSubtype="4" fill="hold" grpId="0" nodeType="withEffect">
                                  <p:stCondLst>
                                    <p:cond delay="80"/>
                                  </p:stCondLst>
                                  <p:childTnLst>
                                    <p:set>
                                      <p:cBhvr>
                                        <p:cTn id="204" dur="1" fill="hold">
                                          <p:stCondLst>
                                            <p:cond delay="0"/>
                                          </p:stCondLst>
                                        </p:cTn>
                                        <p:tgtEl>
                                          <p:spTgt spid="50"/>
                                        </p:tgtEl>
                                        <p:attrNameLst>
                                          <p:attrName>style.visibility</p:attrName>
                                        </p:attrNameLst>
                                      </p:cBhvr>
                                      <p:to>
                                        <p:strVal val="visible"/>
                                      </p:to>
                                    </p:set>
                                    <p:anim calcmode="lin" valueType="num">
                                      <p:cBhvr additive="base">
                                        <p:cTn id="205" dur="500" fill="hold"/>
                                        <p:tgtEl>
                                          <p:spTgt spid="50"/>
                                        </p:tgtEl>
                                        <p:attrNameLst>
                                          <p:attrName>ppt_x</p:attrName>
                                        </p:attrNameLst>
                                      </p:cBhvr>
                                      <p:tavLst>
                                        <p:tav tm="0">
                                          <p:val>
                                            <p:strVal val="#ppt_x"/>
                                          </p:val>
                                        </p:tav>
                                        <p:tav tm="100000">
                                          <p:val>
                                            <p:strVal val="#ppt_x"/>
                                          </p:val>
                                        </p:tav>
                                      </p:tavLst>
                                    </p:anim>
                                    <p:anim calcmode="lin" valueType="num">
                                      <p:cBhvr additive="base">
                                        <p:cTn id="206" dur="500" fill="hold"/>
                                        <p:tgtEl>
                                          <p:spTgt spid="50"/>
                                        </p:tgtEl>
                                        <p:attrNameLst>
                                          <p:attrName>ppt_y</p:attrName>
                                        </p:attrNameLst>
                                      </p:cBhvr>
                                      <p:tavLst>
                                        <p:tav tm="0">
                                          <p:val>
                                            <p:strVal val="#ppt_y+0.1"/>
                                          </p:val>
                                        </p:tav>
                                        <p:tav tm="100000">
                                          <p:val>
                                            <p:strVal val="#ppt_y"/>
                                          </p:val>
                                        </p:tav>
                                      </p:tavLst>
                                    </p:anim>
                                    <p:animEffect transition="in" filter="fade">
                                      <p:cBhvr>
                                        <p:cTn id="207" dur="500"/>
                                        <p:tgtEl>
                                          <p:spTgt spid="50"/>
                                        </p:tgtEl>
                                      </p:cBhvr>
                                    </p:animEffect>
                                  </p:childTnLst>
                                </p:cTn>
                              </p:par>
                              <p:par>
                                <p:cTn id="213" presetID="2" presetClass="entr" presetSubtype="4" fill="hold" grpId="0" nodeType="withEffect">
                                  <p:stCondLst>
                                    <p:cond delay="80"/>
                                  </p:stCondLst>
                                  <p:childTnLst>
                                    <p:set>
                                      <p:cBhvr>
                                        <p:cTn id="209" dur="1" fill="hold">
                                          <p:stCondLst>
                                            <p:cond delay="0"/>
                                          </p:stCondLst>
                                        </p:cTn>
                                        <p:tgtEl>
                                          <p:spTgt spid="51"/>
                                        </p:tgtEl>
                                        <p:attrNameLst>
                                          <p:attrName>style.visibility</p:attrName>
                                        </p:attrNameLst>
                                      </p:cBhvr>
                                      <p:to>
                                        <p:strVal val="visible"/>
                                      </p:to>
                                    </p:set>
                                    <p:anim calcmode="lin" valueType="num">
                                      <p:cBhvr additive="base">
                                        <p:cTn id="210" dur="500" fill="hold"/>
                                        <p:tgtEl>
                                          <p:spTgt spid="51"/>
                                        </p:tgtEl>
                                        <p:attrNameLst>
                                          <p:attrName>ppt_x</p:attrName>
                                        </p:attrNameLst>
                                      </p:cBhvr>
                                      <p:tavLst>
                                        <p:tav tm="0">
                                          <p:val>
                                            <p:strVal val="#ppt_x"/>
                                          </p:val>
                                        </p:tav>
                                        <p:tav tm="100000">
                                          <p:val>
                                            <p:strVal val="#ppt_x"/>
                                          </p:val>
                                        </p:tav>
                                      </p:tavLst>
                                    </p:anim>
                                    <p:anim calcmode="lin" valueType="num">
                                      <p:cBhvr additive="base">
                                        <p:cTn id="211" dur="500" fill="hold"/>
                                        <p:tgtEl>
                                          <p:spTgt spid="51"/>
                                        </p:tgtEl>
                                        <p:attrNameLst>
                                          <p:attrName>ppt_y</p:attrName>
                                        </p:attrNameLst>
                                      </p:cBhvr>
                                      <p:tavLst>
                                        <p:tav tm="0">
                                          <p:val>
                                            <p:strVal val="#ppt_y+0.1"/>
                                          </p:val>
                                        </p:tav>
                                        <p:tav tm="100000">
                                          <p:val>
                                            <p:strVal val="#ppt_y"/>
                                          </p:val>
                                        </p:tav>
                                      </p:tavLst>
                                    </p:anim>
                                    <p:animEffect transition="in" filter="fade">
                                      <p:cBhvr>
                                        <p:cTn id="212" dur="500"/>
                                        <p:tgtEl>
                                          <p:spTgt spid="51"/>
                                        </p:tgtEl>
                                      </p:cBhvr>
                                    </p:animEffect>
                                  </p:childTnLst>
                                </p:cTn>
                              </p:par>
                              <p:par>
                                <p:cTn id="218" presetID="2" presetClass="entr" presetSubtype="4" fill="hold" grpId="0" nodeType="withEffect">
                                  <p:stCondLst>
                                    <p:cond delay="80"/>
                                  </p:stCondLst>
                                  <p:childTnLst>
                                    <p:set>
                                      <p:cBhvr>
                                        <p:cTn id="214" dur="1" fill="hold">
                                          <p:stCondLst>
                                            <p:cond delay="0"/>
                                          </p:stCondLst>
                                        </p:cTn>
                                        <p:tgtEl>
                                          <p:spTgt spid="52"/>
                                        </p:tgtEl>
                                        <p:attrNameLst>
                                          <p:attrName>style.visibility</p:attrName>
                                        </p:attrNameLst>
                                      </p:cBhvr>
                                      <p:to>
                                        <p:strVal val="visible"/>
                                      </p:to>
                                    </p:set>
                                    <p:anim calcmode="lin" valueType="num">
                                      <p:cBhvr additive="base">
                                        <p:cTn id="215" dur="500" fill="hold"/>
                                        <p:tgtEl>
                                          <p:spTgt spid="52"/>
                                        </p:tgtEl>
                                        <p:attrNameLst>
                                          <p:attrName>ppt_x</p:attrName>
                                        </p:attrNameLst>
                                      </p:cBhvr>
                                      <p:tavLst>
                                        <p:tav tm="0">
                                          <p:val>
                                            <p:strVal val="#ppt_x"/>
                                          </p:val>
                                        </p:tav>
                                        <p:tav tm="100000">
                                          <p:val>
                                            <p:strVal val="#ppt_x"/>
                                          </p:val>
                                        </p:tav>
                                      </p:tavLst>
                                    </p:anim>
                                    <p:anim calcmode="lin" valueType="num">
                                      <p:cBhvr additive="base">
                                        <p:cTn id="216" dur="500" fill="hold"/>
                                        <p:tgtEl>
                                          <p:spTgt spid="52"/>
                                        </p:tgtEl>
                                        <p:attrNameLst>
                                          <p:attrName>ppt_y</p:attrName>
                                        </p:attrNameLst>
                                      </p:cBhvr>
                                      <p:tavLst>
                                        <p:tav tm="0">
                                          <p:val>
                                            <p:strVal val="#ppt_y+0.1"/>
                                          </p:val>
                                        </p:tav>
                                        <p:tav tm="100000">
                                          <p:val>
                                            <p:strVal val="#ppt_y"/>
                                          </p:val>
                                        </p:tav>
                                      </p:tavLst>
                                    </p:anim>
                                    <p:animEffect transition="in" filter="fade">
                                      <p:cBhvr>
                                        <p:cTn id="217" dur="500"/>
                                        <p:tgtEl>
                                          <p:spTgt spid="52"/>
                                        </p:tgtEl>
                                      </p:cBhvr>
                                    </p:animEffect>
                                  </p:childTnLst>
                                </p:cTn>
                              </p:par>
                              <p:par>
                                <p:cTn id="223" presetID="2" presetClass="entr" presetSubtype="4" fill="hold" grpId="0" nodeType="withEffect">
                                  <p:stCondLst>
                                    <p:cond delay="80"/>
                                  </p:stCondLst>
                                  <p:childTnLst>
                                    <p:set>
                                      <p:cBhvr>
                                        <p:cTn id="219" dur="1" fill="hold">
                                          <p:stCondLst>
                                            <p:cond delay="0"/>
                                          </p:stCondLst>
                                        </p:cTn>
                                        <p:tgtEl>
                                          <p:spTgt spid="53"/>
                                        </p:tgtEl>
                                        <p:attrNameLst>
                                          <p:attrName>style.visibility</p:attrName>
                                        </p:attrNameLst>
                                      </p:cBhvr>
                                      <p:to>
                                        <p:strVal val="visible"/>
                                      </p:to>
                                    </p:set>
                                    <p:anim calcmode="lin" valueType="num">
                                      <p:cBhvr additive="base">
                                        <p:cTn id="220" dur="500" fill="hold"/>
                                        <p:tgtEl>
                                          <p:spTgt spid="53"/>
                                        </p:tgtEl>
                                        <p:attrNameLst>
                                          <p:attrName>ppt_x</p:attrName>
                                        </p:attrNameLst>
                                      </p:cBhvr>
                                      <p:tavLst>
                                        <p:tav tm="0">
                                          <p:val>
                                            <p:strVal val="#ppt_x"/>
                                          </p:val>
                                        </p:tav>
                                        <p:tav tm="100000">
                                          <p:val>
                                            <p:strVal val="#ppt_x"/>
                                          </p:val>
                                        </p:tav>
                                      </p:tavLst>
                                    </p:anim>
                                    <p:anim calcmode="lin" valueType="num">
                                      <p:cBhvr additive="base">
                                        <p:cTn id="221" dur="500" fill="hold"/>
                                        <p:tgtEl>
                                          <p:spTgt spid="53"/>
                                        </p:tgtEl>
                                        <p:attrNameLst>
                                          <p:attrName>ppt_y</p:attrName>
                                        </p:attrNameLst>
                                      </p:cBhvr>
                                      <p:tavLst>
                                        <p:tav tm="0">
                                          <p:val>
                                            <p:strVal val="#ppt_y+0.1"/>
                                          </p:val>
                                        </p:tav>
                                        <p:tav tm="100000">
                                          <p:val>
                                            <p:strVal val="#ppt_y"/>
                                          </p:val>
                                        </p:tav>
                                      </p:tavLst>
                                    </p:anim>
                                    <p:animEffect transition="in" filter="fade">
                                      <p:cBhvr>
                                        <p:cTn id="222" dur="500"/>
                                        <p:tgtEl>
                                          <p:spTgt spid="53"/>
                                        </p:tgtEl>
                                      </p:cBhvr>
                                    </p:animEffect>
                                  </p:childTnLst>
                                </p:cTn>
                              </p:par>
                              <p:par>
                                <p:cTn id="228" presetID="2" presetClass="entr" presetSubtype="4" fill="hold" grpId="0" nodeType="withEffect">
                                  <p:stCondLst>
                                    <p:cond delay="80"/>
                                  </p:stCondLst>
                                  <p:childTnLst>
                                    <p:set>
                                      <p:cBhvr>
                                        <p:cTn id="224" dur="1" fill="hold">
                                          <p:stCondLst>
                                            <p:cond delay="0"/>
                                          </p:stCondLst>
                                        </p:cTn>
                                        <p:tgtEl>
                                          <p:spTgt spid="54"/>
                                        </p:tgtEl>
                                        <p:attrNameLst>
                                          <p:attrName>style.visibility</p:attrName>
                                        </p:attrNameLst>
                                      </p:cBhvr>
                                      <p:to>
                                        <p:strVal val="visible"/>
                                      </p:to>
                                    </p:set>
                                    <p:anim calcmode="lin" valueType="num">
                                      <p:cBhvr additive="base">
                                        <p:cTn id="225" dur="500" fill="hold"/>
                                        <p:tgtEl>
                                          <p:spTgt spid="54"/>
                                        </p:tgtEl>
                                        <p:attrNameLst>
                                          <p:attrName>ppt_x</p:attrName>
                                        </p:attrNameLst>
                                      </p:cBhvr>
                                      <p:tavLst>
                                        <p:tav tm="0">
                                          <p:val>
                                            <p:strVal val="#ppt_x"/>
                                          </p:val>
                                        </p:tav>
                                        <p:tav tm="100000">
                                          <p:val>
                                            <p:strVal val="#ppt_x"/>
                                          </p:val>
                                        </p:tav>
                                      </p:tavLst>
                                    </p:anim>
                                    <p:anim calcmode="lin" valueType="num">
                                      <p:cBhvr additive="base">
                                        <p:cTn id="226" dur="500" fill="hold"/>
                                        <p:tgtEl>
                                          <p:spTgt spid="54"/>
                                        </p:tgtEl>
                                        <p:attrNameLst>
                                          <p:attrName>ppt_y</p:attrName>
                                        </p:attrNameLst>
                                      </p:cBhvr>
                                      <p:tavLst>
                                        <p:tav tm="0">
                                          <p:val>
                                            <p:strVal val="#ppt_y+0.1"/>
                                          </p:val>
                                        </p:tav>
                                        <p:tav tm="100000">
                                          <p:val>
                                            <p:strVal val="#ppt_y"/>
                                          </p:val>
                                        </p:tav>
                                      </p:tavLst>
                                    </p:anim>
                                    <p:animEffect transition="in" filter="fade">
                                      <p:cBhvr>
                                        <p:cTn id="227" dur="500"/>
                                        <p:tgtEl>
                                          <p:spTgt spid="54"/>
                                        </p:tgtEl>
                                      </p:cBhvr>
                                    </p:animEffect>
                                  </p:childTnLst>
                                </p:cTn>
                              </p:par>
                              <p:par>
                                <p:cTn id="233" presetID="2" presetClass="entr" presetSubtype="4" fill="hold" grpId="0" nodeType="withEffect">
                                  <p:stCondLst>
                                    <p:cond delay="80"/>
                                  </p:stCondLst>
                                  <p:childTnLst>
                                    <p:set>
                                      <p:cBhvr>
                                        <p:cTn id="229" dur="1" fill="hold">
                                          <p:stCondLst>
                                            <p:cond delay="0"/>
                                          </p:stCondLst>
                                        </p:cTn>
                                        <p:tgtEl>
                                          <p:spTgt spid="55"/>
                                        </p:tgtEl>
                                        <p:attrNameLst>
                                          <p:attrName>style.visibility</p:attrName>
                                        </p:attrNameLst>
                                      </p:cBhvr>
                                      <p:to>
                                        <p:strVal val="visible"/>
                                      </p:to>
                                    </p:set>
                                    <p:anim calcmode="lin" valueType="num">
                                      <p:cBhvr additive="base">
                                        <p:cTn id="230" dur="500" fill="hold"/>
                                        <p:tgtEl>
                                          <p:spTgt spid="55"/>
                                        </p:tgtEl>
                                        <p:attrNameLst>
                                          <p:attrName>ppt_x</p:attrName>
                                        </p:attrNameLst>
                                      </p:cBhvr>
                                      <p:tavLst>
                                        <p:tav tm="0">
                                          <p:val>
                                            <p:strVal val="#ppt_x"/>
                                          </p:val>
                                        </p:tav>
                                        <p:tav tm="100000">
                                          <p:val>
                                            <p:strVal val="#ppt_x"/>
                                          </p:val>
                                        </p:tav>
                                      </p:tavLst>
                                    </p:anim>
                                    <p:anim calcmode="lin" valueType="num">
                                      <p:cBhvr additive="base">
                                        <p:cTn id="231" dur="500" fill="hold"/>
                                        <p:tgtEl>
                                          <p:spTgt spid="55"/>
                                        </p:tgtEl>
                                        <p:attrNameLst>
                                          <p:attrName>ppt_y</p:attrName>
                                        </p:attrNameLst>
                                      </p:cBhvr>
                                      <p:tavLst>
                                        <p:tav tm="0">
                                          <p:val>
                                            <p:strVal val="#ppt_y+0.1"/>
                                          </p:val>
                                        </p:tav>
                                        <p:tav tm="100000">
                                          <p:val>
                                            <p:strVal val="#ppt_y"/>
                                          </p:val>
                                        </p:tav>
                                      </p:tavLst>
                                    </p:anim>
                                    <p:animEffect transition="in" filter="fade">
                                      <p:cBhvr>
                                        <p:cTn id="232" dur="500"/>
                                        <p:tgtEl>
                                          <p:spTgt spid="55"/>
                                        </p:tgtEl>
                                      </p:cBhvr>
                                    </p:animEffect>
                                  </p:childTnLst>
                                </p:cTn>
                              </p:par>
                            </p:childTnLst>
                          </p:cTn>
                        </p:par>
                      </p:childTnLst>
                    </p:cTn>
                  </p:par>
                  <p:par>
                    <p:cTn id="234" fill="hold">
                      <p:stCondLst>
                        <p:cond delay="indefinite"/>
                      </p:stCondLst>
                      <p:childTnLst>
                        <p:par>
                          <p:cTn id="235" fill="hold">
                            <p:stCondLst>
                              <p:cond delay="0"/>
                            </p:stCondLst>
                            <p:childTnLst>
                              <p:par>
                                <p:cTn id="240" presetID="2" presetClass="entr" presetSubtype="4" fill="hold" grpId="0" nodeType="clickEffect">
                                  <p:stCondLst>
                                    <p:cond delay="0"/>
                                  </p:stCondLst>
                                  <p:childTnLst>
                                    <p:set>
                                      <p:cBhvr>
                                        <p:cTn id="236" dur="1" fill="hold">
                                          <p:stCondLst>
                                            <p:cond delay="0"/>
                                          </p:stCondLst>
                                        </p:cTn>
                                        <p:tgtEl>
                                          <p:spTgt spid="56"/>
                                        </p:tgtEl>
                                        <p:attrNameLst>
                                          <p:attrName>style.visibility</p:attrName>
                                        </p:attrNameLst>
                                      </p:cBhvr>
                                      <p:to>
                                        <p:strVal val="visible"/>
                                      </p:to>
                                    </p:set>
                                    <p:anim calcmode="lin" valueType="num">
                                      <p:cBhvr additive="base">
                                        <p:cTn id="237" dur="500" fill="hold"/>
                                        <p:tgtEl>
                                          <p:spTgt spid="56"/>
                                        </p:tgtEl>
                                        <p:attrNameLst>
                                          <p:attrName>ppt_x</p:attrName>
                                        </p:attrNameLst>
                                      </p:cBhvr>
                                      <p:tavLst>
                                        <p:tav tm="0">
                                          <p:val>
                                            <p:strVal val="#ppt_x"/>
                                          </p:val>
                                        </p:tav>
                                        <p:tav tm="100000">
                                          <p:val>
                                            <p:strVal val="#ppt_x"/>
                                          </p:val>
                                        </p:tav>
                                      </p:tavLst>
                                    </p:anim>
                                    <p:anim calcmode="lin" valueType="num">
                                      <p:cBhvr additive="base">
                                        <p:cTn id="238" dur="500" fill="hold"/>
                                        <p:tgtEl>
                                          <p:spTgt spid="56"/>
                                        </p:tgtEl>
                                        <p:attrNameLst>
                                          <p:attrName>ppt_y</p:attrName>
                                        </p:attrNameLst>
                                      </p:cBhvr>
                                      <p:tavLst>
                                        <p:tav tm="0">
                                          <p:val>
                                            <p:strVal val="#ppt_y+0.1"/>
                                          </p:val>
                                        </p:tav>
                                        <p:tav tm="100000">
                                          <p:val>
                                            <p:strVal val="#ppt_y"/>
                                          </p:val>
                                        </p:tav>
                                      </p:tavLst>
                                    </p:anim>
                                    <p:animEffect transition="in" filter="fade">
                                      <p:cBhvr>
                                        <p:cTn id="239" dur="500"/>
                                        <p:tgtEl>
                                          <p:spTgt spid="56"/>
                                        </p:tgtEl>
                                      </p:cBhvr>
                                    </p:animEffect>
                                  </p:childTnLst>
                                </p:cTn>
                              </p:par>
                              <p:par>
                                <p:cTn id="245" presetID="2" presetClass="entr" presetSubtype="4" fill="hold" grpId="0" nodeType="withEffect">
                                  <p:stCondLst>
                                    <p:cond delay="0"/>
                                  </p:stCondLst>
                                  <p:childTnLst>
                                    <p:set>
                                      <p:cBhvr>
                                        <p:cTn id="241" dur="1" fill="hold">
                                          <p:stCondLst>
                                            <p:cond delay="0"/>
                                          </p:stCondLst>
                                        </p:cTn>
                                        <p:tgtEl>
                                          <p:spTgt spid="57"/>
                                        </p:tgtEl>
                                        <p:attrNameLst>
                                          <p:attrName>style.visibility</p:attrName>
                                        </p:attrNameLst>
                                      </p:cBhvr>
                                      <p:to>
                                        <p:strVal val="visible"/>
                                      </p:to>
                                    </p:set>
                                    <p:anim calcmode="lin" valueType="num">
                                      <p:cBhvr additive="base">
                                        <p:cTn id="242" dur="500" fill="hold"/>
                                        <p:tgtEl>
                                          <p:spTgt spid="57"/>
                                        </p:tgtEl>
                                        <p:attrNameLst>
                                          <p:attrName>ppt_x</p:attrName>
                                        </p:attrNameLst>
                                      </p:cBhvr>
                                      <p:tavLst>
                                        <p:tav tm="0">
                                          <p:val>
                                            <p:strVal val="#ppt_x"/>
                                          </p:val>
                                        </p:tav>
                                        <p:tav tm="100000">
                                          <p:val>
                                            <p:strVal val="#ppt_x"/>
                                          </p:val>
                                        </p:tav>
                                      </p:tavLst>
                                    </p:anim>
                                    <p:anim calcmode="lin" valueType="num">
                                      <p:cBhvr additive="base">
                                        <p:cTn id="243" dur="500" fill="hold"/>
                                        <p:tgtEl>
                                          <p:spTgt spid="57"/>
                                        </p:tgtEl>
                                        <p:attrNameLst>
                                          <p:attrName>ppt_y</p:attrName>
                                        </p:attrNameLst>
                                      </p:cBhvr>
                                      <p:tavLst>
                                        <p:tav tm="0">
                                          <p:val>
                                            <p:strVal val="#ppt_y+0.1"/>
                                          </p:val>
                                        </p:tav>
                                        <p:tav tm="100000">
                                          <p:val>
                                            <p:strVal val="#ppt_y"/>
                                          </p:val>
                                        </p:tav>
                                      </p:tavLst>
                                    </p:anim>
                                    <p:animEffect transition="in" filter="fade">
                                      <p:cBhvr>
                                        <p:cTn id="244" dur="500"/>
                                        <p:tgtEl>
                                          <p:spTgt spid="57"/>
                                        </p:tgtEl>
                                      </p:cBhvr>
                                    </p:animEffect>
                                  </p:childTnLst>
                                </p:cTn>
                              </p:par>
                              <p:par>
                                <p:cTn id="250" presetID="2" presetClass="entr" presetSubtype="4" fill="hold" grpId="0" nodeType="withEffect">
                                  <p:stCondLst>
                                    <p:cond delay="100"/>
                                  </p:stCondLst>
                                  <p:childTnLst>
                                    <p:set>
                                      <p:cBhvr>
                                        <p:cTn id="246" dur="1" fill="hold">
                                          <p:stCondLst>
                                            <p:cond delay="0"/>
                                          </p:stCondLst>
                                        </p:cTn>
                                        <p:tgtEl>
                                          <p:spTgt spid="58"/>
                                        </p:tgtEl>
                                        <p:attrNameLst>
                                          <p:attrName>style.visibility</p:attrName>
                                        </p:attrNameLst>
                                      </p:cBhvr>
                                      <p:to>
                                        <p:strVal val="visible"/>
                                      </p:to>
                                    </p:set>
                                    <p:anim calcmode="lin" valueType="num">
                                      <p:cBhvr additive="base">
                                        <p:cTn id="247" dur="500" fill="hold"/>
                                        <p:tgtEl>
                                          <p:spTgt spid="58"/>
                                        </p:tgtEl>
                                        <p:attrNameLst>
                                          <p:attrName>ppt_x</p:attrName>
                                        </p:attrNameLst>
                                      </p:cBhvr>
                                      <p:tavLst>
                                        <p:tav tm="0">
                                          <p:val>
                                            <p:strVal val="#ppt_x"/>
                                          </p:val>
                                        </p:tav>
                                        <p:tav tm="100000">
                                          <p:val>
                                            <p:strVal val="#ppt_x"/>
                                          </p:val>
                                        </p:tav>
                                      </p:tavLst>
                                    </p:anim>
                                    <p:anim calcmode="lin" valueType="num">
                                      <p:cBhvr additive="base">
                                        <p:cTn id="248" dur="500" fill="hold"/>
                                        <p:tgtEl>
                                          <p:spTgt spid="58"/>
                                        </p:tgtEl>
                                        <p:attrNameLst>
                                          <p:attrName>ppt_y</p:attrName>
                                        </p:attrNameLst>
                                      </p:cBhvr>
                                      <p:tavLst>
                                        <p:tav tm="0">
                                          <p:val>
                                            <p:strVal val="#ppt_y+0.1"/>
                                          </p:val>
                                        </p:tav>
                                        <p:tav tm="100000">
                                          <p:val>
                                            <p:strVal val="#ppt_y"/>
                                          </p:val>
                                        </p:tav>
                                      </p:tavLst>
                                    </p:anim>
                                    <p:animEffect transition="in" filter="fade">
                                      <p:cBhvr>
                                        <p:cTn id="249" dur="500"/>
                                        <p:tgtEl>
                                          <p:spTgt spid="58"/>
                                        </p:tgtEl>
                                      </p:cBhvr>
                                    </p:animEffect>
                                  </p:childTnLst>
                                </p:cTn>
                              </p:par>
                            </p:childTnLst>
                          </p:cTn>
                        </p:par>
                      </p:childTnLst>
                    </p:cTn>
                  </p:par>
                  <p:par>
                    <p:cTn id="251" fill="hold">
                      <p:stCondLst>
                        <p:cond delay="indefinite"/>
                      </p:stCondLst>
                      <p:childTnLst>
                        <p:par>
                          <p:cTn id="252" fill="hold">
                            <p:stCondLst>
                              <p:cond delay="0"/>
                            </p:stCondLst>
                            <p:childTnLst>
                              <p:par>
                                <p:cTn id="257" presetID="2" presetClass="entr" presetSubtype="4" fill="hold" grpId="0" nodeType="clickEffect">
                                  <p:stCondLst>
                                    <p:cond delay="0"/>
                                  </p:stCondLst>
                                  <p:childTnLst>
                                    <p:set>
                                      <p:cBhvr>
                                        <p:cTn id="253" dur="1" fill="hold">
                                          <p:stCondLst>
                                            <p:cond delay="0"/>
                                          </p:stCondLst>
                                        </p:cTn>
                                        <p:tgtEl>
                                          <p:spTgt spid="59"/>
                                        </p:tgtEl>
                                        <p:attrNameLst>
                                          <p:attrName>style.visibility</p:attrName>
                                        </p:attrNameLst>
                                      </p:cBhvr>
                                      <p:to>
                                        <p:strVal val="visible"/>
                                      </p:to>
                                    </p:set>
                                    <p:anim calcmode="lin" valueType="num">
                                      <p:cBhvr additive="base">
                                        <p:cTn id="254" dur="500" fill="hold"/>
                                        <p:tgtEl>
                                          <p:spTgt spid="59"/>
                                        </p:tgtEl>
                                        <p:attrNameLst>
                                          <p:attrName>ppt_x</p:attrName>
                                        </p:attrNameLst>
                                      </p:cBhvr>
                                      <p:tavLst>
                                        <p:tav tm="0">
                                          <p:val>
                                            <p:strVal val="#ppt_x"/>
                                          </p:val>
                                        </p:tav>
                                        <p:tav tm="100000">
                                          <p:val>
                                            <p:strVal val="#ppt_x"/>
                                          </p:val>
                                        </p:tav>
                                      </p:tavLst>
                                    </p:anim>
                                    <p:anim calcmode="lin" valueType="num">
                                      <p:cBhvr additive="base">
                                        <p:cTn id="255" dur="500" fill="hold"/>
                                        <p:tgtEl>
                                          <p:spTgt spid="59"/>
                                        </p:tgtEl>
                                        <p:attrNameLst>
                                          <p:attrName>ppt_y</p:attrName>
                                        </p:attrNameLst>
                                      </p:cBhvr>
                                      <p:tavLst>
                                        <p:tav tm="0">
                                          <p:val>
                                            <p:strVal val="#ppt_y+0.1"/>
                                          </p:val>
                                        </p:tav>
                                        <p:tav tm="100000">
                                          <p:val>
                                            <p:strVal val="#ppt_y"/>
                                          </p:val>
                                        </p:tav>
                                      </p:tavLst>
                                    </p:anim>
                                    <p:animEffect transition="in" filter="fade">
                                      <p:cBhvr>
                                        <p:cTn id="256" dur="500"/>
                                        <p:tgtEl>
                                          <p:spTgt spid="59"/>
                                        </p:tgtEl>
                                      </p:cBhvr>
                                    </p:animEffect>
                                  </p:childTnLst>
                                </p:cTn>
                              </p:par>
                              <p:par>
                                <p:cTn id="262" presetID="2" presetClass="entr" presetSubtype="4" fill="hold" grpId="0" nodeType="withEffect">
                                  <p:stCondLst>
                                    <p:cond delay="0"/>
                                  </p:stCondLst>
                                  <p:childTnLst>
                                    <p:set>
                                      <p:cBhvr>
                                        <p:cTn id="258" dur="1" fill="hold">
                                          <p:stCondLst>
                                            <p:cond delay="0"/>
                                          </p:stCondLst>
                                        </p:cTn>
                                        <p:tgtEl>
                                          <p:spTgt spid="60"/>
                                        </p:tgtEl>
                                        <p:attrNameLst>
                                          <p:attrName>style.visibility</p:attrName>
                                        </p:attrNameLst>
                                      </p:cBhvr>
                                      <p:to>
                                        <p:strVal val="visible"/>
                                      </p:to>
                                    </p:set>
                                    <p:anim calcmode="lin" valueType="num">
                                      <p:cBhvr additive="base">
                                        <p:cTn id="259" dur="500" fill="hold"/>
                                        <p:tgtEl>
                                          <p:spTgt spid="60"/>
                                        </p:tgtEl>
                                        <p:attrNameLst>
                                          <p:attrName>ppt_x</p:attrName>
                                        </p:attrNameLst>
                                      </p:cBhvr>
                                      <p:tavLst>
                                        <p:tav tm="0">
                                          <p:val>
                                            <p:strVal val="#ppt_x"/>
                                          </p:val>
                                        </p:tav>
                                        <p:tav tm="100000">
                                          <p:val>
                                            <p:strVal val="#ppt_x"/>
                                          </p:val>
                                        </p:tav>
                                      </p:tavLst>
                                    </p:anim>
                                    <p:anim calcmode="lin" valueType="num">
                                      <p:cBhvr additive="base">
                                        <p:cTn id="260" dur="500" fill="hold"/>
                                        <p:tgtEl>
                                          <p:spTgt spid="60"/>
                                        </p:tgtEl>
                                        <p:attrNameLst>
                                          <p:attrName>ppt_y</p:attrName>
                                        </p:attrNameLst>
                                      </p:cBhvr>
                                      <p:tavLst>
                                        <p:tav tm="0">
                                          <p:val>
                                            <p:strVal val="#ppt_y+0.1"/>
                                          </p:val>
                                        </p:tav>
                                        <p:tav tm="100000">
                                          <p:val>
                                            <p:strVal val="#ppt_y"/>
                                          </p:val>
                                        </p:tav>
                                      </p:tavLst>
                                    </p:anim>
                                    <p:animEffect transition="in" filter="fade">
                                      <p:cBhvr>
                                        <p:cTn id="261" dur="500"/>
                                        <p:tgtEl>
                                          <p:spTgt spid="60"/>
                                        </p:tgtEl>
                                      </p:cBhvr>
                                    </p:animEffect>
                                  </p:childTnLst>
                                </p:cTn>
                              </p:par>
                              <p:par>
                                <p:cTn id="267" presetID="2" presetClass="entr" presetSubtype="4" fill="hold" grpId="0" nodeType="withEffect">
                                  <p:stCondLst>
                                    <p:cond delay="0"/>
                                  </p:stCondLst>
                                  <p:childTnLst>
                                    <p:set>
                                      <p:cBhvr>
                                        <p:cTn id="263" dur="1" fill="hold">
                                          <p:stCondLst>
                                            <p:cond delay="0"/>
                                          </p:stCondLst>
                                        </p:cTn>
                                        <p:tgtEl>
                                          <p:spTgt spid="61"/>
                                        </p:tgtEl>
                                        <p:attrNameLst>
                                          <p:attrName>style.visibility</p:attrName>
                                        </p:attrNameLst>
                                      </p:cBhvr>
                                      <p:to>
                                        <p:strVal val="visible"/>
                                      </p:to>
                                    </p:set>
                                    <p:anim calcmode="lin" valueType="num">
                                      <p:cBhvr additive="base">
                                        <p:cTn id="264" dur="500" fill="hold"/>
                                        <p:tgtEl>
                                          <p:spTgt spid="61"/>
                                        </p:tgtEl>
                                        <p:attrNameLst>
                                          <p:attrName>ppt_x</p:attrName>
                                        </p:attrNameLst>
                                      </p:cBhvr>
                                      <p:tavLst>
                                        <p:tav tm="0">
                                          <p:val>
                                            <p:strVal val="#ppt_x"/>
                                          </p:val>
                                        </p:tav>
                                        <p:tav tm="100000">
                                          <p:val>
                                            <p:strVal val="#ppt_x"/>
                                          </p:val>
                                        </p:tav>
                                      </p:tavLst>
                                    </p:anim>
                                    <p:anim calcmode="lin" valueType="num">
                                      <p:cBhvr additive="base">
                                        <p:cTn id="265" dur="500" fill="hold"/>
                                        <p:tgtEl>
                                          <p:spTgt spid="61"/>
                                        </p:tgtEl>
                                        <p:attrNameLst>
                                          <p:attrName>ppt_y</p:attrName>
                                        </p:attrNameLst>
                                      </p:cBhvr>
                                      <p:tavLst>
                                        <p:tav tm="0">
                                          <p:val>
                                            <p:strVal val="#ppt_y+0.1"/>
                                          </p:val>
                                        </p:tav>
                                        <p:tav tm="100000">
                                          <p:val>
                                            <p:strVal val="#ppt_y"/>
                                          </p:val>
                                        </p:tav>
                                      </p:tavLst>
                                    </p:anim>
                                    <p:animEffect transition="in" filter="fade">
                                      <p:cBhvr>
                                        <p:cTn id="266"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Fail Early, Fail Predictably</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breaking change becomes a clear error at the edge - not a mystery downstream</a:t>
            </a:r>
          </a:p>
        </p:txBody>
      </p:sp>
      <p:sp>
        <p:nvSpPr>
          <p:cNvPr id="11" name="a1u_nd10"/>
          <p:cNvSpPr/>
          <p:nvPr/>
        </p:nvSpPr>
        <p:spPr>
          <a:xfrm>
            <a:off x="457200" y="1325880"/>
            <a:ext cx="1508760" cy="768096"/>
          </a:xfrm>
          <a:prstGeom prst="roundRect">
            <a:avLst>
              <a:gd name="adj" fmla="val 952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ndt11"/>
          <p:cNvSpPr txBox="1"/>
          <p:nvPr/>
        </p:nvSpPr>
        <p:spPr>
          <a:xfrm>
            <a:off x="502920" y="1362456"/>
            <a:ext cx="1417319" cy="365759"/>
          </a:xfrm>
          <a:prstGeom prst="rect">
            <a:avLst/>
          </a:prstGeom>
          <a:noFill/>
        </p:spPr>
        <p:txBody>
          <a:bodyPr wrap="square" lIns="0" tIns="0" rIns="0" bIns="0" anchor="b">
            <a:spAutoFit/>
          </a:bodyPr>
          <a:lstStyle/>
          <a:p>
            <a:pPr algn="ctr"/>
            <a:r>
              <a:rPr sz="1000" b="1">
                <a:solidFill>
                  <a:srgbClr val="1C1917"/>
                </a:solidFill>
                <a:latin typeface="Segoe UI"/>
              </a:rPr>
              <a:t>Producer</a:t>
            </a:r>
          </a:p>
        </p:txBody>
      </p:sp>
      <p:sp>
        <p:nvSpPr>
          <p:cNvPr id="13" name="a1u_nds12"/>
          <p:cNvSpPr txBox="1"/>
          <p:nvPr/>
        </p:nvSpPr>
        <p:spPr>
          <a:xfrm>
            <a:off x="502920" y="1737360"/>
            <a:ext cx="1417319" cy="320040"/>
          </a:xfrm>
          <a:prstGeom prst="rect">
            <a:avLst/>
          </a:prstGeom>
          <a:noFill/>
        </p:spPr>
        <p:txBody>
          <a:bodyPr wrap="square" lIns="0" tIns="0" rIns="0" bIns="0" anchor="t">
            <a:spAutoFit/>
          </a:bodyPr>
          <a:lstStyle/>
          <a:p>
            <a:pPr algn="ctr"/>
            <a:r>
              <a:rPr sz="800" b="0">
                <a:solidFill>
                  <a:srgbClr val="EA580C"/>
                </a:solidFill>
                <a:latin typeface="Segoe UI"/>
              </a:rPr>
              <a:t>new schema v3</a:t>
            </a:r>
          </a:p>
        </p:txBody>
      </p:sp>
      <p:cxnSp>
        <p:nvCxnSpPr>
          <p:cNvPr id="14" name="a1ud100_ar13"/>
          <p:cNvCxnSpPr/>
          <p:nvPr/>
        </p:nvCxnSpPr>
        <p:spPr>
          <a:xfrm>
            <a:off x="1984248" y="1709928"/>
            <a:ext cx="420624" cy="0"/>
          </a:xfrm>
          <a:prstGeom prst="line">
            <a:avLst/>
          </a:prstGeom>
          <a:ln w="19050">
            <a:solidFill>
              <a:srgbClr val="EA58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a1ud100_nd14"/>
          <p:cNvSpPr/>
          <p:nvPr/>
        </p:nvSpPr>
        <p:spPr>
          <a:xfrm>
            <a:off x="2423160" y="1325880"/>
            <a:ext cx="1783080" cy="768096"/>
          </a:xfrm>
          <a:prstGeom prst="roundRect">
            <a:avLst>
              <a:gd name="adj" fmla="val 952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1ud100_ndt15"/>
          <p:cNvSpPr txBox="1"/>
          <p:nvPr/>
        </p:nvSpPr>
        <p:spPr>
          <a:xfrm>
            <a:off x="2468879" y="1362456"/>
            <a:ext cx="1691639" cy="365759"/>
          </a:xfrm>
          <a:prstGeom prst="rect">
            <a:avLst/>
          </a:prstGeom>
          <a:noFill/>
        </p:spPr>
        <p:txBody>
          <a:bodyPr wrap="square" lIns="0" tIns="0" rIns="0" bIns="0" anchor="b">
            <a:spAutoFit/>
          </a:bodyPr>
          <a:lstStyle/>
          <a:p>
            <a:pPr algn="ctr"/>
            <a:r>
              <a:rPr sz="1000" b="1">
                <a:solidFill>
                  <a:srgbClr val="1C1917"/>
                </a:solidFill>
                <a:latin typeface="Segoe UI"/>
              </a:rPr>
              <a:t>Schema Registry</a:t>
            </a:r>
          </a:p>
        </p:txBody>
      </p:sp>
      <p:sp>
        <p:nvSpPr>
          <p:cNvPr id="17" name="a1ud100_nds16"/>
          <p:cNvSpPr txBox="1"/>
          <p:nvPr/>
        </p:nvSpPr>
        <p:spPr>
          <a:xfrm>
            <a:off x="2468879" y="1737360"/>
            <a:ext cx="1691639" cy="320040"/>
          </a:xfrm>
          <a:prstGeom prst="rect">
            <a:avLst/>
          </a:prstGeom>
          <a:noFill/>
        </p:spPr>
        <p:txBody>
          <a:bodyPr wrap="square" lIns="0" tIns="0" rIns="0" bIns="0" anchor="t">
            <a:spAutoFit/>
          </a:bodyPr>
          <a:lstStyle/>
          <a:p>
            <a:pPr algn="ctr"/>
            <a:r>
              <a:rPr sz="800" b="0">
                <a:solidFill>
                  <a:srgbClr val="0E7490"/>
                </a:solidFill>
                <a:latin typeface="Segoe UI"/>
              </a:rPr>
              <a:t>check v3 against BACKWARD</a:t>
            </a:r>
          </a:p>
        </p:txBody>
      </p:sp>
      <p:cxnSp>
        <p:nvCxnSpPr>
          <p:cNvPr id="18" name="a2u_ar17"/>
          <p:cNvCxnSpPr/>
          <p:nvPr/>
        </p:nvCxnSpPr>
        <p:spPr>
          <a:xfrm>
            <a:off x="4224528" y="1709928"/>
            <a:ext cx="420624" cy="0"/>
          </a:xfrm>
          <a:prstGeom prst="line">
            <a:avLst/>
          </a:prstGeom>
          <a:ln w="19050">
            <a:solidFill>
              <a:srgbClr val="E11D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a2u_pill18"/>
          <p:cNvSpPr/>
          <p:nvPr/>
        </p:nvSpPr>
        <p:spPr>
          <a:xfrm>
            <a:off x="4663440" y="1536192"/>
            <a:ext cx="1600200" cy="347472"/>
          </a:xfrm>
          <a:prstGeom prst="roundRect">
            <a:avLst>
              <a:gd name="adj" fmla="val 50000"/>
            </a:avLst>
          </a:prstGeom>
          <a:solidFill>
            <a:srgbClr val="FFE4E6"/>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950" b="1">
                <a:solidFill>
                  <a:srgbClr val="9F1239"/>
                </a:solidFill>
                <a:latin typeface="Consolas"/>
              </a:rPr>
              <a:t>409  incompatible</a:t>
            </a:r>
          </a:p>
        </p:txBody>
      </p:sp>
      <p:cxnSp>
        <p:nvCxnSpPr>
          <p:cNvPr id="20" name="a2ud150_ar19"/>
          <p:cNvCxnSpPr/>
          <p:nvPr/>
        </p:nvCxnSpPr>
        <p:spPr>
          <a:xfrm>
            <a:off x="6281928" y="1709928"/>
            <a:ext cx="420624" cy="0"/>
          </a:xfrm>
          <a:prstGeom prst="line">
            <a:avLst/>
          </a:prstGeom>
          <a:ln w="19050">
            <a:solidFill>
              <a:srgbClr val="E11D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a2ud150_nd20"/>
          <p:cNvSpPr/>
          <p:nvPr/>
        </p:nvSpPr>
        <p:spPr>
          <a:xfrm>
            <a:off x="6720840" y="1325880"/>
            <a:ext cx="1965960" cy="768096"/>
          </a:xfrm>
          <a:prstGeom prst="roundRect">
            <a:avLst>
              <a:gd name="adj" fmla="val 9523"/>
            </a:avLst>
          </a:prstGeom>
          <a:solidFill>
            <a:srgbClr val="F7F6F3"/>
          </a:solidFill>
          <a:ln w="1587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150_ndt21"/>
          <p:cNvSpPr txBox="1"/>
          <p:nvPr/>
        </p:nvSpPr>
        <p:spPr>
          <a:xfrm>
            <a:off x="6766559" y="1362456"/>
            <a:ext cx="1874519" cy="365759"/>
          </a:xfrm>
          <a:prstGeom prst="rect">
            <a:avLst/>
          </a:prstGeom>
          <a:noFill/>
        </p:spPr>
        <p:txBody>
          <a:bodyPr wrap="square" lIns="0" tIns="0" rIns="0" bIns="0" anchor="b">
            <a:spAutoFit/>
          </a:bodyPr>
          <a:lstStyle/>
          <a:p>
            <a:pPr algn="ctr"/>
            <a:r>
              <a:rPr sz="1000" b="1">
                <a:solidFill>
                  <a:srgbClr val="1C1917"/>
                </a:solidFill>
                <a:latin typeface="Segoe UI"/>
              </a:rPr>
              <a:t>send() throws</a:t>
            </a:r>
          </a:p>
        </p:txBody>
      </p:sp>
      <p:sp>
        <p:nvSpPr>
          <p:cNvPr id="23" name="a2ud150_nds22"/>
          <p:cNvSpPr txBox="1"/>
          <p:nvPr/>
        </p:nvSpPr>
        <p:spPr>
          <a:xfrm>
            <a:off x="6766559" y="1737360"/>
            <a:ext cx="1874519" cy="320040"/>
          </a:xfrm>
          <a:prstGeom prst="rect">
            <a:avLst/>
          </a:prstGeom>
          <a:noFill/>
        </p:spPr>
        <p:txBody>
          <a:bodyPr wrap="square" lIns="0" tIns="0" rIns="0" bIns="0" anchor="t">
            <a:spAutoFit/>
          </a:bodyPr>
          <a:lstStyle/>
          <a:p>
            <a:pPr algn="ctr"/>
            <a:r>
              <a:rPr sz="800" b="0">
                <a:solidFill>
                  <a:srgbClr val="E11D48"/>
                </a:solidFill>
                <a:latin typeface="Segoe UI"/>
              </a:rPr>
              <a:t>SerializationException</a:t>
            </a:r>
          </a:p>
        </p:txBody>
      </p:sp>
      <p:sp>
        <p:nvSpPr>
          <p:cNvPr id="24" name="a3u_lb23"/>
          <p:cNvSpPr txBox="1"/>
          <p:nvPr/>
        </p:nvSpPr>
        <p:spPr>
          <a:xfrm>
            <a:off x="457200" y="2212848"/>
            <a:ext cx="8229600" cy="201168"/>
          </a:xfrm>
          <a:prstGeom prst="rect">
            <a:avLst/>
          </a:prstGeom>
          <a:noFill/>
        </p:spPr>
        <p:txBody>
          <a:bodyPr wrap="square" lIns="0" tIns="0" rIns="0" bIns="0" anchor="ctr">
            <a:spAutoFit/>
          </a:bodyPr>
          <a:lstStyle/>
          <a:p>
            <a:pPr algn="l"/>
            <a:r>
              <a:rPr sz="850" b="1">
                <a:solidFill>
                  <a:srgbClr val="9F1239"/>
                </a:solidFill>
                <a:latin typeface="Segoe UI"/>
              </a:rPr>
              <a:t>the bad message never reaches the topic - no consumer ever sees it</a:t>
            </a:r>
          </a:p>
        </p:txBody>
      </p:sp>
      <p:sp>
        <p:nvSpPr>
          <p:cNvPr id="25" name="a4u_card24"/>
          <p:cNvSpPr/>
          <p:nvPr/>
        </p:nvSpPr>
        <p:spPr>
          <a:xfrm>
            <a:off x="457200" y="2606040"/>
            <a:ext cx="4023360" cy="1051560"/>
          </a:xfrm>
          <a:prstGeom prst="roundRect">
            <a:avLst>
              <a:gd name="adj" fmla="val 104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4u_acc25"/>
          <p:cNvSpPr/>
          <p:nvPr/>
        </p:nvSpPr>
        <p:spPr>
          <a:xfrm>
            <a:off x="457200" y="2606040"/>
            <a:ext cx="402336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4u_tt26"/>
          <p:cNvSpPr txBox="1"/>
          <p:nvPr/>
        </p:nvSpPr>
        <p:spPr>
          <a:xfrm>
            <a:off x="603504" y="2715768"/>
            <a:ext cx="3749040" cy="256032"/>
          </a:xfrm>
          <a:prstGeom prst="rect">
            <a:avLst/>
          </a:prstGeom>
          <a:noFill/>
        </p:spPr>
        <p:txBody>
          <a:bodyPr wrap="square" lIns="0" tIns="0" rIns="0" bIns="0" anchor="ctr">
            <a:spAutoFit/>
          </a:bodyPr>
          <a:lstStyle/>
          <a:p>
            <a:pPr algn="l"/>
            <a:r>
              <a:rPr sz="1100" b="1">
                <a:solidFill>
                  <a:srgbClr val="1C1917"/>
                </a:solidFill>
                <a:latin typeface="Segoe UI"/>
              </a:rPr>
              <a:t>Producer side</a:t>
            </a:r>
          </a:p>
        </p:txBody>
      </p:sp>
      <p:sp>
        <p:nvSpPr>
          <p:cNvPr id="28" name="a4ud60_tb27"/>
          <p:cNvSpPr txBox="1"/>
          <p:nvPr/>
        </p:nvSpPr>
        <p:spPr>
          <a:xfrm>
            <a:off x="603504" y="3008376"/>
            <a:ext cx="3749040" cy="594359"/>
          </a:xfrm>
          <a:prstGeom prst="rect">
            <a:avLst/>
          </a:prstGeom>
          <a:noFill/>
        </p:spPr>
        <p:txBody>
          <a:bodyPr wrap="square" lIns="0" tIns="0" rIns="0" bIns="0" anchor="t">
            <a:spAutoFit/>
          </a:bodyPr>
          <a:lstStyle/>
          <a:p>
            <a:pPr algn="l"/>
            <a:r>
              <a:rPr sz="900" b="0">
                <a:solidFill>
                  <a:srgbClr val="44403C"/>
                </a:solidFill>
                <a:latin typeface="Segoe UI"/>
              </a:rPr>
              <a:t>refuses to produce a message the consumers won't be able to handle</a:t>
            </a:r>
          </a:p>
        </p:txBody>
      </p:sp>
      <p:sp>
        <p:nvSpPr>
          <p:cNvPr id="29" name="a5u_card28"/>
          <p:cNvSpPr/>
          <p:nvPr/>
        </p:nvSpPr>
        <p:spPr>
          <a:xfrm>
            <a:off x="4663440" y="2606040"/>
            <a:ext cx="4023360" cy="1051560"/>
          </a:xfrm>
          <a:prstGeom prst="roundRect">
            <a:avLst>
              <a:gd name="adj" fmla="val 1043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5u_acc29"/>
          <p:cNvSpPr/>
          <p:nvPr/>
        </p:nvSpPr>
        <p:spPr>
          <a:xfrm>
            <a:off x="4663440" y="2606040"/>
            <a:ext cx="4023360"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5u_tt30"/>
          <p:cNvSpPr txBox="1"/>
          <p:nvPr/>
        </p:nvSpPr>
        <p:spPr>
          <a:xfrm>
            <a:off x="4809744" y="2715768"/>
            <a:ext cx="3749040" cy="256032"/>
          </a:xfrm>
          <a:prstGeom prst="rect">
            <a:avLst/>
          </a:prstGeom>
          <a:noFill/>
        </p:spPr>
        <p:txBody>
          <a:bodyPr wrap="square" lIns="0" tIns="0" rIns="0" bIns="0" anchor="ctr">
            <a:spAutoFit/>
          </a:bodyPr>
          <a:lstStyle/>
          <a:p>
            <a:pPr algn="l"/>
            <a:r>
              <a:rPr sz="1100" b="1">
                <a:solidFill>
                  <a:srgbClr val="1C1917"/>
                </a:solidFill>
                <a:latin typeface="Segoe UI"/>
              </a:rPr>
              <a:t>Consumer side</a:t>
            </a:r>
          </a:p>
        </p:txBody>
      </p:sp>
      <p:sp>
        <p:nvSpPr>
          <p:cNvPr id="32" name="a5ud60_tb31"/>
          <p:cNvSpPr txBox="1"/>
          <p:nvPr/>
        </p:nvSpPr>
        <p:spPr>
          <a:xfrm>
            <a:off x="4809744" y="3008376"/>
            <a:ext cx="3749040" cy="594359"/>
          </a:xfrm>
          <a:prstGeom prst="rect">
            <a:avLst/>
          </a:prstGeom>
          <a:noFill/>
        </p:spPr>
        <p:txBody>
          <a:bodyPr wrap="square" lIns="0" tIns="0" rIns="0" bIns="0" anchor="t">
            <a:spAutoFit/>
          </a:bodyPr>
          <a:lstStyle/>
          <a:p>
            <a:pPr algn="l"/>
            <a:r>
              <a:rPr sz="900" b="0">
                <a:solidFill>
                  <a:srgbClr val="44403C"/>
                </a:solidFill>
                <a:latin typeface="Segoe UI"/>
              </a:rPr>
              <a:t>refuses to consume a message it can't read - an exception, not a guess</a:t>
            </a:r>
          </a:p>
        </p:txBody>
      </p:sp>
      <p:sp>
        <p:nvSpPr>
          <p:cNvPr id="33" name="a6u_nb32"/>
          <p:cNvSpPr/>
          <p:nvPr/>
        </p:nvSpPr>
        <p:spPr>
          <a:xfrm>
            <a:off x="457200" y="3886200"/>
            <a:ext cx="8229600" cy="566928"/>
          </a:xfrm>
          <a:prstGeom prst="roundRect">
            <a:avLst>
              <a:gd name="adj" fmla="val 12903"/>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a6u_nacc33"/>
          <p:cNvSpPr/>
          <p:nvPr/>
        </p:nvSpPr>
        <p:spPr>
          <a:xfrm>
            <a:off x="457200" y="3886200"/>
            <a:ext cx="54864" cy="56692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a6u_nt34"/>
          <p:cNvSpPr txBox="1"/>
          <p:nvPr/>
        </p:nvSpPr>
        <p:spPr>
          <a:xfrm>
            <a:off x="658368" y="3886200"/>
            <a:ext cx="7827264" cy="566928"/>
          </a:xfrm>
          <a:prstGeom prst="rect">
            <a:avLst/>
          </a:prstGeom>
          <a:noFill/>
        </p:spPr>
        <p:txBody>
          <a:bodyPr wrap="square" lIns="0" tIns="0" rIns="0" bIns="0" anchor="ctr">
            <a:spAutoFit/>
          </a:bodyPr>
          <a:lstStyle/>
          <a:p>
            <a:pPr algn="l"/>
            <a:r>
              <a:rPr sz="950" b="1">
                <a:solidFill>
                  <a:srgbClr val="15803D"/>
                </a:solidFill>
                <a:latin typeface="Segoe UI"/>
              </a:rPr>
              <a:t>KEY  </a:t>
            </a:r>
            <a:r>
              <a:rPr sz="950" b="0">
                <a:solidFill>
                  <a:srgbClr val="44403C"/>
                </a:solidFill>
                <a:latin typeface="Segoe UI"/>
              </a:rPr>
              <a:t>You can't write code for a truly unknown format - so fail in a known place, at a known time.</a:t>
            </a:r>
          </a:p>
        </p:txBody>
      </p:sp>
      <p:sp>
        <p:nvSpPr>
          <p:cNvPr id="36" name="ft35"/>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08</a:t>
            </a:r>
          </a:p>
        </p:txBody>
      </p:sp>
      <p:sp>
        <p:nvSpPr>
          <p:cNvPr id="37" name="ft36"/>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ft37"/>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39" name="ft38"/>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10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10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0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6" presetID="2" presetClass="entr" presetSubtype="4"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par>
                                <p:cTn id="51" presetID="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ppt_x</p:attrName>
                                        </p:attrNameLst>
                                      </p:cBhvr>
                                      <p:tavLst>
                                        <p:tav tm="0">
                                          <p:val>
                                            <p:strVal val="#ppt_x"/>
                                          </p:val>
                                        </p:tav>
                                        <p:tav tm="100000">
                                          <p:val>
                                            <p:strVal val="#ppt_x"/>
                                          </p:val>
                                        </p:tav>
                                      </p:tavLst>
                                    </p:anim>
                                    <p:anim calcmode="lin" valueType="num">
                                      <p:cBhvr additive="base">
                                        <p:cTn id="49" dur="500" fill="hold"/>
                                        <p:tgtEl>
                                          <p:spTgt spid="19"/>
                                        </p:tgtEl>
                                        <p:attrNameLst>
                                          <p:attrName>ppt_y</p:attrName>
                                        </p:attrNameLst>
                                      </p:cBhvr>
                                      <p:tavLst>
                                        <p:tav tm="0">
                                          <p:val>
                                            <p:strVal val="#ppt_y+0.1"/>
                                          </p:val>
                                        </p:tav>
                                        <p:tav tm="100000">
                                          <p:val>
                                            <p:strVal val="#ppt_y"/>
                                          </p:val>
                                        </p:tav>
                                      </p:tavLst>
                                    </p:anim>
                                    <p:animEffect transition="in" filter="fade">
                                      <p:cBhvr>
                                        <p:cTn id="50" dur="500"/>
                                        <p:tgtEl>
                                          <p:spTgt spid="19"/>
                                        </p:tgtEl>
                                      </p:cBhvr>
                                    </p:animEffect>
                                  </p:childTnLst>
                                </p:cTn>
                              </p:par>
                              <p:par>
                                <p:cTn id="56" presetID="2" presetClass="entr" presetSubtype="4" fill="hold" grpId="0" nodeType="withEffect">
                                  <p:stCondLst>
                                    <p:cond delay="15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15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15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15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8" presetID="2" presetClass="entr" presetSubtype="4"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anim calcmode="lin" valueType="num">
                                      <p:cBhvr additive="base">
                                        <p:cTn id="75" dur="500" fill="hold"/>
                                        <p:tgtEl>
                                          <p:spTgt spid="24"/>
                                        </p:tgtEl>
                                        <p:attrNameLst>
                                          <p:attrName>ppt_x</p:attrName>
                                        </p:attrNameLst>
                                      </p:cBhvr>
                                      <p:tavLst>
                                        <p:tav tm="0">
                                          <p:val>
                                            <p:strVal val="#ppt_x"/>
                                          </p:val>
                                        </p:tav>
                                        <p:tav tm="100000">
                                          <p:val>
                                            <p:strVal val="#ppt_x"/>
                                          </p:val>
                                        </p:tav>
                                      </p:tavLst>
                                    </p:anim>
                                    <p:anim calcmode="lin" valueType="num">
                                      <p:cBhvr additive="base">
                                        <p:cTn id="76" dur="500" fill="hold"/>
                                        <p:tgtEl>
                                          <p:spTgt spid="24"/>
                                        </p:tgtEl>
                                        <p:attrNameLst>
                                          <p:attrName>ppt_y</p:attrName>
                                        </p:attrNameLst>
                                      </p:cBhvr>
                                      <p:tavLst>
                                        <p:tav tm="0">
                                          <p:val>
                                            <p:strVal val="#ppt_y+0.1"/>
                                          </p:val>
                                        </p:tav>
                                        <p:tav tm="100000">
                                          <p:val>
                                            <p:strVal val="#ppt_y"/>
                                          </p:val>
                                        </p:tav>
                                      </p:tavLst>
                                    </p:anim>
                                    <p:animEffect transition="in" filter="fade">
                                      <p:cBhvr>
                                        <p:cTn id="77" dur="500"/>
                                        <p:tgtEl>
                                          <p:spTgt spid="24"/>
                                        </p:tgtEl>
                                      </p:cBhvr>
                                    </p:animEffect>
                                  </p:childTnLst>
                                </p:cTn>
                              </p:par>
                            </p:childTnLst>
                          </p:cTn>
                        </p:par>
                      </p:childTnLst>
                    </p:cTn>
                  </p:par>
                  <p:par>
                    <p:cTn id="79" fill="hold">
                      <p:stCondLst>
                        <p:cond delay="indefinite"/>
                      </p:stCondLst>
                      <p:childTnLst>
                        <p:par>
                          <p:cTn id="80" fill="hold">
                            <p:stCondLst>
                              <p:cond delay="0"/>
                            </p:stCondLst>
                            <p:childTnLst>
                              <p:par>
                                <p:cTn id="85" presetID="2" presetClass="entr" presetSubtype="4" fill="hold" grpId="0" nodeType="click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par>
                                <p:cTn id="95" presetID="2" presetClass="entr" presetSubtype="4"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ppt_y+0.1"/>
                                          </p:val>
                                        </p:tav>
                                        <p:tav tm="100000">
                                          <p:val>
                                            <p:strVal val="#ppt_y"/>
                                          </p:val>
                                        </p:tav>
                                      </p:tavLst>
                                    </p:anim>
                                    <p:animEffect transition="in" filter="fade">
                                      <p:cBhvr>
                                        <p:cTn id="94" dur="500"/>
                                        <p:tgtEl>
                                          <p:spTgt spid="27"/>
                                        </p:tgtEl>
                                      </p:cBhvr>
                                    </p:animEffect>
                                  </p:childTnLst>
                                </p:cTn>
                              </p:par>
                              <p:par>
                                <p:cTn id="100" presetID="2" presetClass="entr" presetSubtype="4" fill="hold" grpId="0" nodeType="withEffect">
                                  <p:stCondLst>
                                    <p:cond delay="60"/>
                                  </p:stCondLst>
                                  <p:childTnLst>
                                    <p:set>
                                      <p:cBhvr>
                                        <p:cTn id="96" dur="1" fill="hold">
                                          <p:stCondLst>
                                            <p:cond delay="0"/>
                                          </p:stCondLst>
                                        </p:cTn>
                                        <p:tgtEl>
                                          <p:spTgt spid="28"/>
                                        </p:tgtEl>
                                        <p:attrNameLst>
                                          <p:attrName>style.visibility</p:attrName>
                                        </p:attrNameLst>
                                      </p:cBhvr>
                                      <p:to>
                                        <p:strVal val="visible"/>
                                      </p:to>
                                    </p:set>
                                    <p:anim calcmode="lin" valueType="num">
                                      <p:cBhvr additive="base">
                                        <p:cTn id="97" dur="500" fill="hold"/>
                                        <p:tgtEl>
                                          <p:spTgt spid="28"/>
                                        </p:tgtEl>
                                        <p:attrNameLst>
                                          <p:attrName>ppt_x</p:attrName>
                                        </p:attrNameLst>
                                      </p:cBhvr>
                                      <p:tavLst>
                                        <p:tav tm="0">
                                          <p:val>
                                            <p:strVal val="#ppt_x"/>
                                          </p:val>
                                        </p:tav>
                                        <p:tav tm="100000">
                                          <p:val>
                                            <p:strVal val="#ppt_x"/>
                                          </p:val>
                                        </p:tav>
                                      </p:tavLst>
                                    </p:anim>
                                    <p:anim calcmode="lin" valueType="num">
                                      <p:cBhvr additive="base">
                                        <p:cTn id="98" dur="500" fill="hold"/>
                                        <p:tgtEl>
                                          <p:spTgt spid="28"/>
                                        </p:tgtEl>
                                        <p:attrNameLst>
                                          <p:attrName>ppt_y</p:attrName>
                                        </p:attrNameLst>
                                      </p:cBhvr>
                                      <p:tavLst>
                                        <p:tav tm="0">
                                          <p:val>
                                            <p:strVal val="#ppt_y+0.1"/>
                                          </p:val>
                                        </p:tav>
                                        <p:tav tm="100000">
                                          <p:val>
                                            <p:strVal val="#ppt_y"/>
                                          </p:val>
                                        </p:tav>
                                      </p:tavLst>
                                    </p:anim>
                                    <p:animEffect transition="in" filter="fade">
                                      <p:cBhvr>
                                        <p:cTn id="99" dur="500"/>
                                        <p:tgtEl>
                                          <p:spTgt spid="28"/>
                                        </p:tgtEl>
                                      </p:cBhvr>
                                    </p:animEffect>
                                  </p:childTnLst>
                                </p:cTn>
                              </p:par>
                            </p:childTnLst>
                          </p:cTn>
                        </p:par>
                      </p:childTnLst>
                    </p:cTn>
                  </p:par>
                  <p:par>
                    <p:cTn id="101" fill="hold">
                      <p:stCondLst>
                        <p:cond delay="indefinite"/>
                      </p:stCondLst>
                      <p:childTnLst>
                        <p:par>
                          <p:cTn id="102" fill="hold">
                            <p:stCondLst>
                              <p:cond delay="0"/>
                            </p:stCondLst>
                            <p:childTnLst>
                              <p:par>
                                <p:cTn id="107" presetID="2" presetClass="entr" presetSubtype="4" fill="hold" grpId="0" nodeType="clickEffect">
                                  <p:stCondLst>
                                    <p:cond delay="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500" fill="hold"/>
                                        <p:tgtEl>
                                          <p:spTgt spid="29"/>
                                        </p:tgtEl>
                                        <p:attrNameLst>
                                          <p:attrName>ppt_x</p:attrName>
                                        </p:attrNameLst>
                                      </p:cBhvr>
                                      <p:tavLst>
                                        <p:tav tm="0">
                                          <p:val>
                                            <p:strVal val="#ppt_x"/>
                                          </p:val>
                                        </p:tav>
                                        <p:tav tm="100000">
                                          <p:val>
                                            <p:strVal val="#ppt_x"/>
                                          </p:val>
                                        </p:tav>
                                      </p:tavLst>
                                    </p:anim>
                                    <p:anim calcmode="lin" valueType="num">
                                      <p:cBhvr additive="base">
                                        <p:cTn id="105" dur="500" fill="hold"/>
                                        <p:tgtEl>
                                          <p:spTgt spid="29"/>
                                        </p:tgtEl>
                                        <p:attrNameLst>
                                          <p:attrName>ppt_y</p:attrName>
                                        </p:attrNameLst>
                                      </p:cBhvr>
                                      <p:tavLst>
                                        <p:tav tm="0">
                                          <p:val>
                                            <p:strVal val="#ppt_y+0.1"/>
                                          </p:val>
                                        </p:tav>
                                        <p:tav tm="100000">
                                          <p:val>
                                            <p:strVal val="#ppt_y"/>
                                          </p:val>
                                        </p:tav>
                                      </p:tavLst>
                                    </p:anim>
                                    <p:animEffect transition="in" filter="fade">
                                      <p:cBhvr>
                                        <p:cTn id="106" dur="500"/>
                                        <p:tgtEl>
                                          <p:spTgt spid="29"/>
                                        </p:tgtEl>
                                      </p:cBhvr>
                                    </p:animEffect>
                                  </p:childTnLst>
                                </p:cTn>
                              </p:par>
                              <p:par>
                                <p:cTn id="112" presetID="2" presetClass="entr" presetSubtype="4"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additive="base">
                                        <p:cTn id="109" dur="500" fill="hold"/>
                                        <p:tgtEl>
                                          <p:spTgt spid="30"/>
                                        </p:tgtEl>
                                        <p:attrNameLst>
                                          <p:attrName>ppt_x</p:attrName>
                                        </p:attrNameLst>
                                      </p:cBhvr>
                                      <p:tavLst>
                                        <p:tav tm="0">
                                          <p:val>
                                            <p:strVal val="#ppt_x"/>
                                          </p:val>
                                        </p:tav>
                                        <p:tav tm="100000">
                                          <p:val>
                                            <p:strVal val="#ppt_x"/>
                                          </p:val>
                                        </p:tav>
                                      </p:tavLst>
                                    </p:anim>
                                    <p:anim calcmode="lin" valueType="num">
                                      <p:cBhvr additive="base">
                                        <p:cTn id="110" dur="500" fill="hold"/>
                                        <p:tgtEl>
                                          <p:spTgt spid="30"/>
                                        </p:tgtEl>
                                        <p:attrNameLst>
                                          <p:attrName>ppt_y</p:attrName>
                                        </p:attrNameLst>
                                      </p:cBhvr>
                                      <p:tavLst>
                                        <p:tav tm="0">
                                          <p:val>
                                            <p:strVal val="#ppt_y+0.1"/>
                                          </p:val>
                                        </p:tav>
                                        <p:tav tm="100000">
                                          <p:val>
                                            <p:strVal val="#ppt_y"/>
                                          </p:val>
                                        </p:tav>
                                      </p:tavLst>
                                    </p:anim>
                                    <p:animEffect transition="in" filter="fade">
                                      <p:cBhvr>
                                        <p:cTn id="111" dur="500"/>
                                        <p:tgtEl>
                                          <p:spTgt spid="30"/>
                                        </p:tgtEl>
                                      </p:cBhvr>
                                    </p:animEffect>
                                  </p:childTnLst>
                                </p:cTn>
                              </p:par>
                              <p:par>
                                <p:cTn id="117" presetID="2" presetClass="entr" presetSubtype="4" fill="hold" grpId="0" nodeType="withEffect">
                                  <p:stCondLst>
                                    <p:cond delay="0"/>
                                  </p:stCondLst>
                                  <p:childTnLst>
                                    <p:set>
                                      <p:cBhvr>
                                        <p:cTn id="113" dur="1" fill="hold">
                                          <p:stCondLst>
                                            <p:cond delay="0"/>
                                          </p:stCondLst>
                                        </p:cTn>
                                        <p:tgtEl>
                                          <p:spTgt spid="31"/>
                                        </p:tgtEl>
                                        <p:attrNameLst>
                                          <p:attrName>style.visibility</p:attrName>
                                        </p:attrNameLst>
                                      </p:cBhvr>
                                      <p:to>
                                        <p:strVal val="visible"/>
                                      </p:to>
                                    </p:set>
                                    <p:anim calcmode="lin" valueType="num">
                                      <p:cBhvr additive="base">
                                        <p:cTn id="114" dur="500" fill="hold"/>
                                        <p:tgtEl>
                                          <p:spTgt spid="31"/>
                                        </p:tgtEl>
                                        <p:attrNameLst>
                                          <p:attrName>ppt_x</p:attrName>
                                        </p:attrNameLst>
                                      </p:cBhvr>
                                      <p:tavLst>
                                        <p:tav tm="0">
                                          <p:val>
                                            <p:strVal val="#ppt_x"/>
                                          </p:val>
                                        </p:tav>
                                        <p:tav tm="100000">
                                          <p:val>
                                            <p:strVal val="#ppt_x"/>
                                          </p:val>
                                        </p:tav>
                                      </p:tavLst>
                                    </p:anim>
                                    <p:anim calcmode="lin" valueType="num">
                                      <p:cBhvr additive="base">
                                        <p:cTn id="115" dur="500" fill="hold"/>
                                        <p:tgtEl>
                                          <p:spTgt spid="31"/>
                                        </p:tgtEl>
                                        <p:attrNameLst>
                                          <p:attrName>ppt_y</p:attrName>
                                        </p:attrNameLst>
                                      </p:cBhvr>
                                      <p:tavLst>
                                        <p:tav tm="0">
                                          <p:val>
                                            <p:strVal val="#ppt_y+0.1"/>
                                          </p:val>
                                        </p:tav>
                                        <p:tav tm="100000">
                                          <p:val>
                                            <p:strVal val="#ppt_y"/>
                                          </p:val>
                                        </p:tav>
                                      </p:tavLst>
                                    </p:anim>
                                    <p:animEffect transition="in" filter="fade">
                                      <p:cBhvr>
                                        <p:cTn id="116" dur="500"/>
                                        <p:tgtEl>
                                          <p:spTgt spid="31"/>
                                        </p:tgtEl>
                                      </p:cBhvr>
                                    </p:animEffect>
                                  </p:childTnLst>
                                </p:cTn>
                              </p:par>
                              <p:par>
                                <p:cTn id="122" presetID="2" presetClass="entr" presetSubtype="4" fill="hold" grpId="0" nodeType="withEffect">
                                  <p:stCondLst>
                                    <p:cond delay="60"/>
                                  </p:stCondLst>
                                  <p:childTnLst>
                                    <p:set>
                                      <p:cBhvr>
                                        <p:cTn id="118" dur="1" fill="hold">
                                          <p:stCondLst>
                                            <p:cond delay="0"/>
                                          </p:stCondLst>
                                        </p:cTn>
                                        <p:tgtEl>
                                          <p:spTgt spid="32"/>
                                        </p:tgtEl>
                                        <p:attrNameLst>
                                          <p:attrName>style.visibility</p:attrName>
                                        </p:attrNameLst>
                                      </p:cBhvr>
                                      <p:to>
                                        <p:strVal val="visible"/>
                                      </p:to>
                                    </p:set>
                                    <p:anim calcmode="lin" valueType="num">
                                      <p:cBhvr additive="base">
                                        <p:cTn id="119" dur="500" fill="hold"/>
                                        <p:tgtEl>
                                          <p:spTgt spid="32"/>
                                        </p:tgtEl>
                                        <p:attrNameLst>
                                          <p:attrName>ppt_x</p:attrName>
                                        </p:attrNameLst>
                                      </p:cBhvr>
                                      <p:tavLst>
                                        <p:tav tm="0">
                                          <p:val>
                                            <p:strVal val="#ppt_x"/>
                                          </p:val>
                                        </p:tav>
                                        <p:tav tm="100000">
                                          <p:val>
                                            <p:strVal val="#ppt_x"/>
                                          </p:val>
                                        </p:tav>
                                      </p:tavLst>
                                    </p:anim>
                                    <p:anim calcmode="lin" valueType="num">
                                      <p:cBhvr additive="base">
                                        <p:cTn id="120" dur="500" fill="hold"/>
                                        <p:tgtEl>
                                          <p:spTgt spid="32"/>
                                        </p:tgtEl>
                                        <p:attrNameLst>
                                          <p:attrName>ppt_y</p:attrName>
                                        </p:attrNameLst>
                                      </p:cBhvr>
                                      <p:tavLst>
                                        <p:tav tm="0">
                                          <p:val>
                                            <p:strVal val="#ppt_y+0.1"/>
                                          </p:val>
                                        </p:tav>
                                        <p:tav tm="100000">
                                          <p:val>
                                            <p:strVal val="#ppt_y"/>
                                          </p:val>
                                        </p:tav>
                                      </p:tavLst>
                                    </p:anim>
                                    <p:animEffect transition="in" filter="fade">
                                      <p:cBhvr>
                                        <p:cTn id="121" dur="500"/>
                                        <p:tgtEl>
                                          <p:spTgt spid="32"/>
                                        </p:tgtEl>
                                      </p:cBhvr>
                                    </p:animEffect>
                                  </p:childTnLst>
                                </p:cTn>
                              </p:par>
                            </p:childTnLst>
                          </p:cTn>
                        </p:par>
                      </p:childTnLst>
                    </p:cTn>
                  </p:par>
                  <p:par>
                    <p:cTn id="123" fill="hold">
                      <p:stCondLst>
                        <p:cond delay="indefinite"/>
                      </p:stCondLst>
                      <p:childTnLst>
                        <p:par>
                          <p:cTn id="124" fill="hold">
                            <p:stCondLst>
                              <p:cond delay="0"/>
                            </p:stCondLst>
                            <p:childTnLst>
                              <p:par>
                                <p:cTn id="129" presetID="2" presetClass="entr" presetSubtype="4" fill="hold" grpId="0" nodeType="clickEffect">
                                  <p:stCondLst>
                                    <p:cond delay="0"/>
                                  </p:stCondLst>
                                  <p:childTnLst>
                                    <p:set>
                                      <p:cBhvr>
                                        <p:cTn id="125" dur="1" fill="hold">
                                          <p:stCondLst>
                                            <p:cond delay="0"/>
                                          </p:stCondLst>
                                        </p:cTn>
                                        <p:tgtEl>
                                          <p:spTgt spid="33"/>
                                        </p:tgtEl>
                                        <p:attrNameLst>
                                          <p:attrName>style.visibility</p:attrName>
                                        </p:attrNameLst>
                                      </p:cBhvr>
                                      <p:to>
                                        <p:strVal val="visible"/>
                                      </p:to>
                                    </p:set>
                                    <p:anim calcmode="lin" valueType="num">
                                      <p:cBhvr additive="base">
                                        <p:cTn id="126" dur="500" fill="hold"/>
                                        <p:tgtEl>
                                          <p:spTgt spid="33"/>
                                        </p:tgtEl>
                                        <p:attrNameLst>
                                          <p:attrName>ppt_x</p:attrName>
                                        </p:attrNameLst>
                                      </p:cBhvr>
                                      <p:tavLst>
                                        <p:tav tm="0">
                                          <p:val>
                                            <p:strVal val="#ppt_x"/>
                                          </p:val>
                                        </p:tav>
                                        <p:tav tm="100000">
                                          <p:val>
                                            <p:strVal val="#ppt_x"/>
                                          </p:val>
                                        </p:tav>
                                      </p:tavLst>
                                    </p:anim>
                                    <p:anim calcmode="lin" valueType="num">
                                      <p:cBhvr additive="base">
                                        <p:cTn id="127" dur="500" fill="hold"/>
                                        <p:tgtEl>
                                          <p:spTgt spid="33"/>
                                        </p:tgtEl>
                                        <p:attrNameLst>
                                          <p:attrName>ppt_y</p:attrName>
                                        </p:attrNameLst>
                                      </p:cBhvr>
                                      <p:tavLst>
                                        <p:tav tm="0">
                                          <p:val>
                                            <p:strVal val="#ppt_y+0.1"/>
                                          </p:val>
                                        </p:tav>
                                        <p:tav tm="100000">
                                          <p:val>
                                            <p:strVal val="#ppt_y"/>
                                          </p:val>
                                        </p:tav>
                                      </p:tavLst>
                                    </p:anim>
                                    <p:animEffect transition="in" filter="fade">
                                      <p:cBhvr>
                                        <p:cTn id="128" dur="500"/>
                                        <p:tgtEl>
                                          <p:spTgt spid="33"/>
                                        </p:tgtEl>
                                      </p:cBhvr>
                                    </p:animEffect>
                                  </p:childTnLst>
                                </p:cTn>
                              </p:par>
                              <p:par>
                                <p:cTn id="134" presetID="2" presetClass="entr" presetSubtype="4" fill="hold" grpId="0" nodeType="withEffect">
                                  <p:stCondLst>
                                    <p:cond delay="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500" fill="hold"/>
                                        <p:tgtEl>
                                          <p:spTgt spid="34"/>
                                        </p:tgtEl>
                                        <p:attrNameLst>
                                          <p:attrName>ppt_x</p:attrName>
                                        </p:attrNameLst>
                                      </p:cBhvr>
                                      <p:tavLst>
                                        <p:tav tm="0">
                                          <p:val>
                                            <p:strVal val="#ppt_x"/>
                                          </p:val>
                                        </p:tav>
                                        <p:tav tm="100000">
                                          <p:val>
                                            <p:strVal val="#ppt_x"/>
                                          </p:val>
                                        </p:tav>
                                      </p:tavLst>
                                    </p:anim>
                                    <p:anim calcmode="lin" valueType="num">
                                      <p:cBhvr additive="base">
                                        <p:cTn id="132" dur="500" fill="hold"/>
                                        <p:tgtEl>
                                          <p:spTgt spid="34"/>
                                        </p:tgtEl>
                                        <p:attrNameLst>
                                          <p:attrName>ppt_y</p:attrName>
                                        </p:attrNameLst>
                                      </p:cBhvr>
                                      <p:tavLst>
                                        <p:tav tm="0">
                                          <p:val>
                                            <p:strVal val="#ppt_y+0.1"/>
                                          </p:val>
                                        </p:tav>
                                        <p:tav tm="100000">
                                          <p:val>
                                            <p:strVal val="#ppt_y"/>
                                          </p:val>
                                        </p:tav>
                                      </p:tavLst>
                                    </p:anim>
                                    <p:animEffect transition="in" filter="fade">
                                      <p:cBhvr>
                                        <p:cTn id="133" dur="500"/>
                                        <p:tgtEl>
                                          <p:spTgt spid="34"/>
                                        </p:tgtEl>
                                      </p:cBhvr>
                                    </p:animEffect>
                                  </p:childTnLst>
                                </p:cTn>
                              </p:par>
                              <p:par>
                                <p:cTn id="139" presetID="2" presetClass="entr" presetSubtype="4" fill="hold" grpId="0" nodeType="withEffect">
                                  <p:stCondLst>
                                    <p:cond delay="0"/>
                                  </p:stCondLst>
                                  <p:childTnLst>
                                    <p:set>
                                      <p:cBhvr>
                                        <p:cTn id="135" dur="1" fill="hold">
                                          <p:stCondLst>
                                            <p:cond delay="0"/>
                                          </p:stCondLst>
                                        </p:cTn>
                                        <p:tgtEl>
                                          <p:spTgt spid="35"/>
                                        </p:tgtEl>
                                        <p:attrNameLst>
                                          <p:attrName>style.visibility</p:attrName>
                                        </p:attrNameLst>
                                      </p:cBhvr>
                                      <p:to>
                                        <p:strVal val="visible"/>
                                      </p:to>
                                    </p:set>
                                    <p:anim calcmode="lin" valueType="num">
                                      <p:cBhvr additive="base">
                                        <p:cTn id="136" dur="500" fill="hold"/>
                                        <p:tgtEl>
                                          <p:spTgt spid="35"/>
                                        </p:tgtEl>
                                        <p:attrNameLst>
                                          <p:attrName>ppt_x</p:attrName>
                                        </p:attrNameLst>
                                      </p:cBhvr>
                                      <p:tavLst>
                                        <p:tav tm="0">
                                          <p:val>
                                            <p:strVal val="#ppt_x"/>
                                          </p:val>
                                        </p:tav>
                                        <p:tav tm="100000">
                                          <p:val>
                                            <p:strVal val="#ppt_x"/>
                                          </p:val>
                                        </p:tav>
                                      </p:tavLst>
                                    </p:anim>
                                    <p:anim calcmode="lin" valueType="num">
                                      <p:cBhvr additive="base">
                                        <p:cTn id="137" dur="500" fill="hold"/>
                                        <p:tgtEl>
                                          <p:spTgt spid="35"/>
                                        </p:tgtEl>
                                        <p:attrNameLst>
                                          <p:attrName>ppt_y</p:attrName>
                                        </p:attrNameLst>
                                      </p:cBhvr>
                                      <p:tavLst>
                                        <p:tav tm="0">
                                          <p:val>
                                            <p:strVal val="#ppt_y+0.1"/>
                                          </p:val>
                                        </p:tav>
                                        <p:tav tm="100000">
                                          <p:val>
                                            <p:strVal val="#ppt_y"/>
                                          </p:val>
                                        </p:tav>
                                      </p:tavLst>
                                    </p:anim>
                                    <p:animEffect transition="in" filter="fade">
                                      <p:cBhvr>
                                        <p:cTn id="13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Three Serialization Formats</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Avro, JSON Schema and Protobuf - each with serializers that talk to the registry</a:t>
            </a:r>
          </a:p>
        </p:txBody>
      </p:sp>
      <p:sp>
        <p:nvSpPr>
          <p:cNvPr id="11" name="a1u_card10"/>
          <p:cNvSpPr/>
          <p:nvPr/>
        </p:nvSpPr>
        <p:spPr>
          <a:xfrm>
            <a:off x="457200" y="1280160"/>
            <a:ext cx="2609088" cy="2468880"/>
          </a:xfrm>
          <a:prstGeom prst="roundRect">
            <a:avLst>
              <a:gd name="adj" fmla="val 44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2609088" cy="6400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d60_ic12"/>
          <p:cNvSpPr/>
          <p:nvPr/>
        </p:nvSpPr>
        <p:spPr>
          <a:xfrm>
            <a:off x="621792" y="148132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60_ict13"/>
          <p:cNvSpPr txBox="1"/>
          <p:nvPr/>
        </p:nvSpPr>
        <p:spPr>
          <a:xfrm>
            <a:off x="621792" y="1481328"/>
            <a:ext cx="384048" cy="384048"/>
          </a:xfrm>
          <a:prstGeom prst="rect">
            <a:avLst/>
          </a:prstGeom>
          <a:noFill/>
        </p:spPr>
        <p:txBody>
          <a:bodyPr wrap="square" lIns="0" tIns="0" rIns="0" bIns="0" anchor="ctr">
            <a:spAutoFit/>
          </a:bodyPr>
          <a:lstStyle/>
          <a:p>
            <a:pPr algn="ctr"/>
            <a:r>
              <a:rPr sz="1200" b="1">
                <a:solidFill>
                  <a:srgbClr val="FFFFFF"/>
                </a:solidFill>
                <a:latin typeface="Segoe UI"/>
              </a:rPr>
              <a:t>A</a:t>
            </a:r>
          </a:p>
        </p:txBody>
      </p:sp>
      <p:sp>
        <p:nvSpPr>
          <p:cNvPr id="15" name="a1ud90_ct14"/>
          <p:cNvSpPr txBox="1"/>
          <p:nvPr/>
        </p:nvSpPr>
        <p:spPr>
          <a:xfrm>
            <a:off x="621792" y="1956815"/>
            <a:ext cx="2279904" cy="274320"/>
          </a:xfrm>
          <a:prstGeom prst="rect">
            <a:avLst/>
          </a:prstGeom>
          <a:noFill/>
        </p:spPr>
        <p:txBody>
          <a:bodyPr wrap="square" lIns="0" tIns="0" rIns="0" bIns="0" anchor="ctr">
            <a:spAutoFit/>
          </a:bodyPr>
          <a:lstStyle/>
          <a:p>
            <a:pPr algn="l"/>
            <a:r>
              <a:rPr sz="1300" b="1">
                <a:solidFill>
                  <a:srgbClr val="1C1917"/>
                </a:solidFill>
                <a:latin typeface="Segoe UI"/>
              </a:rPr>
              <a:t>Avro</a:t>
            </a:r>
          </a:p>
        </p:txBody>
      </p:sp>
      <p:sp>
        <p:nvSpPr>
          <p:cNvPr id="16" name="a1ud120_cs15"/>
          <p:cNvSpPr txBox="1"/>
          <p:nvPr/>
        </p:nvSpPr>
        <p:spPr>
          <a:xfrm>
            <a:off x="621792" y="2231135"/>
            <a:ext cx="2279904" cy="237744"/>
          </a:xfrm>
          <a:prstGeom prst="rect">
            <a:avLst/>
          </a:prstGeom>
          <a:noFill/>
        </p:spPr>
        <p:txBody>
          <a:bodyPr wrap="square" lIns="0" tIns="0" rIns="0" bIns="0" anchor="ctr">
            <a:spAutoFit/>
          </a:bodyPr>
          <a:lstStyle/>
          <a:p>
            <a:pPr algn="l"/>
            <a:r>
              <a:rPr sz="1000" b="1">
                <a:solidFill>
                  <a:srgbClr val="EA580C"/>
                </a:solidFill>
                <a:latin typeface="Consolas"/>
              </a:rPr>
              <a:t>.avsc</a:t>
            </a:r>
          </a:p>
        </p:txBody>
      </p:sp>
      <p:sp>
        <p:nvSpPr>
          <p:cNvPr id="17" name="a1ud150_cb16"/>
          <p:cNvSpPr txBox="1"/>
          <p:nvPr/>
        </p:nvSpPr>
        <p:spPr>
          <a:xfrm>
            <a:off x="621792" y="2487168"/>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compact binary - no field names on the wire</a:t>
            </a:r>
          </a:p>
        </p:txBody>
      </p:sp>
      <p:sp>
        <p:nvSpPr>
          <p:cNvPr id="18" name="a1ud220_cb17"/>
          <p:cNvSpPr txBox="1"/>
          <p:nvPr/>
        </p:nvSpPr>
        <p:spPr>
          <a:xfrm>
            <a:off x="621792" y="2871215"/>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the classic Kafka choice</a:t>
            </a:r>
          </a:p>
        </p:txBody>
      </p:sp>
      <p:sp>
        <p:nvSpPr>
          <p:cNvPr id="19" name="a1ud290_cb18"/>
          <p:cNvSpPr txBox="1"/>
          <p:nvPr/>
        </p:nvSpPr>
        <p:spPr>
          <a:xfrm>
            <a:off x="621792" y="3255263"/>
            <a:ext cx="2279904" cy="475488"/>
          </a:xfrm>
          <a:prstGeom prst="rect">
            <a:avLst/>
          </a:prstGeom>
          <a:noFill/>
        </p:spPr>
        <p:txBody>
          <a:bodyPr wrap="square" lIns="0" tIns="0" rIns="0" bIns="0" anchor="t">
            <a:spAutoFit/>
          </a:bodyPr>
          <a:lstStyle/>
          <a:p>
            <a:pPr algn="l"/>
            <a:r>
              <a:rPr sz="950" b="1">
                <a:solidFill>
                  <a:srgbClr val="EA580C"/>
                </a:solidFill>
                <a:latin typeface="Segoe UI"/>
              </a:rPr>
              <a:t>· </a:t>
            </a:r>
            <a:r>
              <a:rPr sz="950" b="0">
                <a:solidFill>
                  <a:srgbClr val="44403C"/>
                </a:solidFill>
                <a:latin typeface="Segoe UI"/>
              </a:rPr>
              <a:t>the schema itself is JSON</a:t>
            </a:r>
          </a:p>
        </p:txBody>
      </p:sp>
      <p:sp>
        <p:nvSpPr>
          <p:cNvPr id="20" name="a2u_card19"/>
          <p:cNvSpPr/>
          <p:nvPr/>
        </p:nvSpPr>
        <p:spPr>
          <a:xfrm>
            <a:off x="3267456" y="1280160"/>
            <a:ext cx="2609088" cy="2468880"/>
          </a:xfrm>
          <a:prstGeom prst="roundRect">
            <a:avLst>
              <a:gd name="adj" fmla="val 44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2u_acc20"/>
          <p:cNvSpPr/>
          <p:nvPr/>
        </p:nvSpPr>
        <p:spPr>
          <a:xfrm>
            <a:off x="3267456" y="1280160"/>
            <a:ext cx="2609088" cy="64008"/>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2ud60_ic21"/>
          <p:cNvSpPr/>
          <p:nvPr/>
        </p:nvSpPr>
        <p:spPr>
          <a:xfrm>
            <a:off x="3432048" y="1481328"/>
            <a:ext cx="384048" cy="384048"/>
          </a:xfrm>
          <a:prstGeom prst="ellipse">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2ud60_ict22"/>
          <p:cNvSpPr txBox="1"/>
          <p:nvPr/>
        </p:nvSpPr>
        <p:spPr>
          <a:xfrm>
            <a:off x="3432048" y="1481328"/>
            <a:ext cx="384048" cy="384048"/>
          </a:xfrm>
          <a:prstGeom prst="rect">
            <a:avLst/>
          </a:prstGeom>
          <a:noFill/>
        </p:spPr>
        <p:txBody>
          <a:bodyPr wrap="square" lIns="0" tIns="0" rIns="0" bIns="0" anchor="ctr">
            <a:spAutoFit/>
          </a:bodyPr>
          <a:lstStyle/>
          <a:p>
            <a:pPr algn="ctr"/>
            <a:r>
              <a:rPr sz="1200" b="1">
                <a:solidFill>
                  <a:srgbClr val="FFFFFF"/>
                </a:solidFill>
                <a:latin typeface="Segoe UI"/>
              </a:rPr>
              <a:t>{}</a:t>
            </a:r>
          </a:p>
        </p:txBody>
      </p:sp>
      <p:sp>
        <p:nvSpPr>
          <p:cNvPr id="24" name="a2ud90_ct23"/>
          <p:cNvSpPr txBox="1"/>
          <p:nvPr/>
        </p:nvSpPr>
        <p:spPr>
          <a:xfrm>
            <a:off x="3432048" y="1956815"/>
            <a:ext cx="2279904" cy="274320"/>
          </a:xfrm>
          <a:prstGeom prst="rect">
            <a:avLst/>
          </a:prstGeom>
          <a:noFill/>
        </p:spPr>
        <p:txBody>
          <a:bodyPr wrap="square" lIns="0" tIns="0" rIns="0" bIns="0" anchor="ctr">
            <a:spAutoFit/>
          </a:bodyPr>
          <a:lstStyle/>
          <a:p>
            <a:pPr algn="l"/>
            <a:r>
              <a:rPr sz="1300" b="1">
                <a:solidFill>
                  <a:srgbClr val="1C1917"/>
                </a:solidFill>
                <a:latin typeface="Segoe UI"/>
              </a:rPr>
              <a:t>JSON Schema</a:t>
            </a:r>
          </a:p>
        </p:txBody>
      </p:sp>
      <p:sp>
        <p:nvSpPr>
          <p:cNvPr id="25" name="a2ud120_cs24"/>
          <p:cNvSpPr txBox="1"/>
          <p:nvPr/>
        </p:nvSpPr>
        <p:spPr>
          <a:xfrm>
            <a:off x="3432048" y="2231135"/>
            <a:ext cx="2279904" cy="237744"/>
          </a:xfrm>
          <a:prstGeom prst="rect">
            <a:avLst/>
          </a:prstGeom>
          <a:noFill/>
        </p:spPr>
        <p:txBody>
          <a:bodyPr wrap="square" lIns="0" tIns="0" rIns="0" bIns="0" anchor="ctr">
            <a:spAutoFit/>
          </a:bodyPr>
          <a:lstStyle/>
          <a:p>
            <a:pPr algn="l"/>
            <a:r>
              <a:rPr sz="1000" b="1">
                <a:solidFill>
                  <a:srgbClr val="0E7490"/>
                </a:solidFill>
                <a:latin typeface="Consolas"/>
              </a:rPr>
              <a:t>.json</a:t>
            </a:r>
          </a:p>
        </p:txBody>
      </p:sp>
      <p:sp>
        <p:nvSpPr>
          <p:cNvPr id="26" name="a2ud150_cb25"/>
          <p:cNvSpPr txBox="1"/>
          <p:nvPr/>
        </p:nvSpPr>
        <p:spPr>
          <a:xfrm>
            <a:off x="3432048" y="2487168"/>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human-readable JSON messages</a:t>
            </a:r>
          </a:p>
        </p:txBody>
      </p:sp>
      <p:sp>
        <p:nvSpPr>
          <p:cNvPr id="27" name="a2ud220_cb26"/>
          <p:cNvSpPr txBox="1"/>
          <p:nvPr/>
        </p:nvSpPr>
        <p:spPr>
          <a:xfrm>
            <a:off x="3432048" y="2871215"/>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a natural fit for web applications</a:t>
            </a:r>
          </a:p>
        </p:txBody>
      </p:sp>
      <p:sp>
        <p:nvSpPr>
          <p:cNvPr id="28" name="a2ud290_cb27"/>
          <p:cNvSpPr txBox="1"/>
          <p:nvPr/>
        </p:nvSpPr>
        <p:spPr>
          <a:xfrm>
            <a:off x="3432048" y="3255263"/>
            <a:ext cx="2279904" cy="475488"/>
          </a:xfrm>
          <a:prstGeom prst="rect">
            <a:avLst/>
          </a:prstGeom>
          <a:noFill/>
        </p:spPr>
        <p:txBody>
          <a:bodyPr wrap="square" lIns="0" tIns="0" rIns="0" bIns="0" anchor="t">
            <a:spAutoFit/>
          </a:bodyPr>
          <a:lstStyle/>
          <a:p>
            <a:pPr algn="l"/>
            <a:r>
              <a:rPr sz="950" b="1">
                <a:solidFill>
                  <a:srgbClr val="0E7490"/>
                </a:solidFill>
                <a:latin typeface="Segoe UI"/>
              </a:rPr>
              <a:t>· </a:t>
            </a:r>
            <a:r>
              <a:rPr sz="950" b="0">
                <a:solidFill>
                  <a:srgbClr val="44403C"/>
                </a:solidFill>
                <a:latin typeface="Segoe UI"/>
              </a:rPr>
              <a:t>bigger on the wire</a:t>
            </a:r>
          </a:p>
        </p:txBody>
      </p:sp>
      <p:sp>
        <p:nvSpPr>
          <p:cNvPr id="29" name="a3u_card28"/>
          <p:cNvSpPr/>
          <p:nvPr/>
        </p:nvSpPr>
        <p:spPr>
          <a:xfrm>
            <a:off x="6077712" y="1280160"/>
            <a:ext cx="2609088" cy="2468880"/>
          </a:xfrm>
          <a:prstGeom prst="roundRect">
            <a:avLst>
              <a:gd name="adj" fmla="val 4444"/>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a3u_acc29"/>
          <p:cNvSpPr/>
          <p:nvPr/>
        </p:nvSpPr>
        <p:spPr>
          <a:xfrm>
            <a:off x="6077712" y="1280160"/>
            <a:ext cx="2609088" cy="6400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3ud60_ic30"/>
          <p:cNvSpPr/>
          <p:nvPr/>
        </p:nvSpPr>
        <p:spPr>
          <a:xfrm>
            <a:off x="6242304" y="1481328"/>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3ud60_ict31"/>
          <p:cNvSpPr txBox="1"/>
          <p:nvPr/>
        </p:nvSpPr>
        <p:spPr>
          <a:xfrm>
            <a:off x="6242304" y="1481328"/>
            <a:ext cx="384048" cy="384048"/>
          </a:xfrm>
          <a:prstGeom prst="rect">
            <a:avLst/>
          </a:prstGeom>
          <a:noFill/>
        </p:spPr>
        <p:txBody>
          <a:bodyPr wrap="square" lIns="0" tIns="0" rIns="0" bIns="0" anchor="ctr">
            <a:spAutoFit/>
          </a:bodyPr>
          <a:lstStyle/>
          <a:p>
            <a:pPr algn="ctr"/>
            <a:r>
              <a:rPr sz="1200" b="1">
                <a:solidFill>
                  <a:srgbClr val="FFFFFF"/>
                </a:solidFill>
                <a:latin typeface="Segoe UI"/>
              </a:rPr>
              <a:t>P</a:t>
            </a:r>
          </a:p>
        </p:txBody>
      </p:sp>
      <p:sp>
        <p:nvSpPr>
          <p:cNvPr id="33" name="a3ud90_ct32"/>
          <p:cNvSpPr txBox="1"/>
          <p:nvPr/>
        </p:nvSpPr>
        <p:spPr>
          <a:xfrm>
            <a:off x="6242304" y="1956815"/>
            <a:ext cx="2279904" cy="274320"/>
          </a:xfrm>
          <a:prstGeom prst="rect">
            <a:avLst/>
          </a:prstGeom>
          <a:noFill/>
        </p:spPr>
        <p:txBody>
          <a:bodyPr wrap="square" lIns="0" tIns="0" rIns="0" bIns="0" anchor="ctr">
            <a:spAutoFit/>
          </a:bodyPr>
          <a:lstStyle/>
          <a:p>
            <a:pPr algn="l"/>
            <a:r>
              <a:rPr sz="1300" b="1">
                <a:solidFill>
                  <a:srgbClr val="1C1917"/>
                </a:solidFill>
                <a:latin typeface="Segoe UI"/>
              </a:rPr>
              <a:t>Protobuf</a:t>
            </a:r>
          </a:p>
        </p:txBody>
      </p:sp>
      <p:sp>
        <p:nvSpPr>
          <p:cNvPr id="34" name="a3ud120_cs33"/>
          <p:cNvSpPr txBox="1"/>
          <p:nvPr/>
        </p:nvSpPr>
        <p:spPr>
          <a:xfrm>
            <a:off x="6242304" y="2231135"/>
            <a:ext cx="2279904" cy="237744"/>
          </a:xfrm>
          <a:prstGeom prst="rect">
            <a:avLst/>
          </a:prstGeom>
          <a:noFill/>
        </p:spPr>
        <p:txBody>
          <a:bodyPr wrap="square" lIns="0" tIns="0" rIns="0" bIns="0" anchor="ctr">
            <a:spAutoFit/>
          </a:bodyPr>
          <a:lstStyle/>
          <a:p>
            <a:pPr algn="l"/>
            <a:r>
              <a:rPr sz="1000" b="1">
                <a:solidFill>
                  <a:srgbClr val="4F46E5"/>
                </a:solidFill>
                <a:latin typeface="Consolas"/>
              </a:rPr>
              <a:t>.proto</a:t>
            </a:r>
          </a:p>
        </p:txBody>
      </p:sp>
      <p:sp>
        <p:nvSpPr>
          <p:cNvPr id="35" name="a3ud150_cb34"/>
          <p:cNvSpPr txBox="1"/>
          <p:nvPr/>
        </p:nvSpPr>
        <p:spPr>
          <a:xfrm>
            <a:off x="6242304" y="2487168"/>
            <a:ext cx="2279904"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compact and language-neutral</a:t>
            </a:r>
          </a:p>
        </p:txBody>
      </p:sp>
      <p:sp>
        <p:nvSpPr>
          <p:cNvPr id="36" name="a3ud220_cb35"/>
          <p:cNvSpPr txBox="1"/>
          <p:nvPr/>
        </p:nvSpPr>
        <p:spPr>
          <a:xfrm>
            <a:off x="6242304" y="2871215"/>
            <a:ext cx="2279904"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popular with gRPC services</a:t>
            </a:r>
          </a:p>
        </p:txBody>
      </p:sp>
      <p:sp>
        <p:nvSpPr>
          <p:cNvPr id="37" name="a3ud290_cb36"/>
          <p:cNvSpPr txBox="1"/>
          <p:nvPr/>
        </p:nvSpPr>
        <p:spPr>
          <a:xfrm>
            <a:off x="6242304" y="3255263"/>
            <a:ext cx="2279904" cy="475488"/>
          </a:xfrm>
          <a:prstGeom prst="rect">
            <a:avLst/>
          </a:prstGeom>
          <a:noFill/>
        </p:spPr>
        <p:txBody>
          <a:bodyPr wrap="square" lIns="0" tIns="0" rIns="0" bIns="0" anchor="t">
            <a:spAutoFit/>
          </a:bodyPr>
          <a:lstStyle/>
          <a:p>
            <a:pPr algn="l"/>
            <a:r>
              <a:rPr sz="950" b="1">
                <a:solidFill>
                  <a:srgbClr val="4F46E5"/>
                </a:solidFill>
                <a:latin typeface="Segoe UI"/>
              </a:rPr>
              <a:t>· </a:t>
            </a:r>
            <a:r>
              <a:rPr sz="950" b="0">
                <a:solidFill>
                  <a:srgbClr val="44403C"/>
                </a:solidFill>
                <a:latin typeface="Segoe UI"/>
              </a:rPr>
              <a:t>code generated for many languages</a:t>
            </a:r>
          </a:p>
        </p:txBody>
      </p:sp>
      <p:sp>
        <p:nvSpPr>
          <p:cNvPr id="38" name="a4u_nb37"/>
          <p:cNvSpPr/>
          <p:nvPr/>
        </p:nvSpPr>
        <p:spPr>
          <a:xfrm>
            <a:off x="457200" y="3931920"/>
            <a:ext cx="8229600" cy="548640"/>
          </a:xfrm>
          <a:prstGeom prst="roundRect">
            <a:avLst>
              <a:gd name="adj" fmla="val 1333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4u_nacc38"/>
          <p:cNvSpPr/>
          <p:nvPr/>
        </p:nvSpPr>
        <p:spPr>
          <a:xfrm>
            <a:off x="457200" y="3931920"/>
            <a:ext cx="54864" cy="5486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4u_nt39"/>
          <p:cNvSpPr txBox="1"/>
          <p:nvPr/>
        </p:nvSpPr>
        <p:spPr>
          <a:xfrm>
            <a:off x="658368" y="3931920"/>
            <a:ext cx="7827264" cy="548640"/>
          </a:xfrm>
          <a:prstGeom prst="rect">
            <a:avLst/>
          </a:prstGeom>
          <a:noFill/>
        </p:spPr>
        <p:txBody>
          <a:bodyPr wrap="square" lIns="0" tIns="0" rIns="0" bIns="0" anchor="ctr">
            <a:spAutoFit/>
          </a:bodyPr>
          <a:lstStyle/>
          <a:p>
            <a:pPr algn="l"/>
            <a:r>
              <a:rPr sz="950" b="1">
                <a:solidFill>
                  <a:srgbClr val="4F46E5"/>
                </a:solidFill>
                <a:latin typeface="Segoe UI"/>
              </a:rPr>
              <a:t>i  </a:t>
            </a:r>
            <a:r>
              <a:rPr sz="950" b="0">
                <a:solidFill>
                  <a:srgbClr val="44403C"/>
                </a:solidFill>
                <a:latin typeface="Segoe UI"/>
              </a:rPr>
              <a:t>KafkaAvroSerializer, KafkaJsonSchemaSerializer, KafkaProtobufSerializer - same registry, same flow.</a:t>
            </a:r>
          </a:p>
        </p:txBody>
      </p:sp>
      <p:sp>
        <p:nvSpPr>
          <p:cNvPr id="41" name="ft40"/>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09</a:t>
            </a:r>
          </a:p>
        </p:txBody>
      </p:sp>
      <p:sp>
        <p:nvSpPr>
          <p:cNvPr id="42" name="ft41"/>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ft42"/>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6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par>
                                <p:cTn id="29" presetID="2" presetClass="entr" presetSubtype="4" fill="hold" grpId="0" nodeType="withEffect">
                                  <p:stCondLst>
                                    <p:cond delay="9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ppt_y+0.1"/>
                                          </p:val>
                                        </p:tav>
                                        <p:tav tm="100000">
                                          <p:val>
                                            <p:strVal val="#ppt_y"/>
                                          </p:val>
                                        </p:tav>
                                      </p:tavLst>
                                    </p:anim>
                                    <p:animEffect transition="in" filter="fade">
                                      <p:cBhvr>
                                        <p:cTn id="28" dur="500"/>
                                        <p:tgtEl>
                                          <p:spTgt spid="15"/>
                                        </p:tgtEl>
                                      </p:cBhvr>
                                    </p:animEffect>
                                  </p:childTnLst>
                                </p:cTn>
                              </p:par>
                              <p:par>
                                <p:cTn id="34" presetID="2" presetClass="entr" presetSubtype="4" fill="hold" grpId="0" nodeType="withEffect">
                                  <p:stCondLst>
                                    <p:cond delay="12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ppt_y+0.1"/>
                                          </p:val>
                                        </p:tav>
                                        <p:tav tm="100000">
                                          <p:val>
                                            <p:strVal val="#ppt_y"/>
                                          </p:val>
                                        </p:tav>
                                      </p:tavLst>
                                    </p:anim>
                                    <p:animEffect transition="in" filter="fade">
                                      <p:cBhvr>
                                        <p:cTn id="33" dur="500"/>
                                        <p:tgtEl>
                                          <p:spTgt spid="16"/>
                                        </p:tgtEl>
                                      </p:cBhvr>
                                    </p:animEffect>
                                  </p:childTnLst>
                                </p:cTn>
                              </p:par>
                              <p:par>
                                <p:cTn id="39" presetID="2" presetClass="entr" presetSubtype="4" fill="hold" grpId="0" nodeType="withEffect">
                                  <p:stCondLst>
                                    <p:cond delay="1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ppt_y+0.1"/>
                                          </p:val>
                                        </p:tav>
                                        <p:tav tm="100000">
                                          <p:val>
                                            <p:strVal val="#ppt_y"/>
                                          </p:val>
                                        </p:tav>
                                      </p:tavLst>
                                    </p:anim>
                                    <p:animEffect transition="in" filter="fade">
                                      <p:cBhvr>
                                        <p:cTn id="38" dur="500"/>
                                        <p:tgtEl>
                                          <p:spTgt spid="17"/>
                                        </p:tgtEl>
                                      </p:cBhvr>
                                    </p:animEffect>
                                  </p:childTnLst>
                                </p:cTn>
                              </p:par>
                              <p:par>
                                <p:cTn id="44" presetID="2" presetClass="entr" presetSubtype="4" fill="hold" grpId="0" nodeType="withEffect">
                                  <p:stCondLst>
                                    <p:cond delay="22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ppt_x"/>
                                          </p:val>
                                        </p:tav>
                                        <p:tav tm="100000">
                                          <p:val>
                                            <p:strVal val="#ppt_x"/>
                                          </p:val>
                                        </p:tav>
                                      </p:tavLst>
                                    </p:anim>
                                    <p:anim calcmode="lin" valueType="num">
                                      <p:cBhvr additive="base">
                                        <p:cTn id="42" dur="500" fill="hold"/>
                                        <p:tgtEl>
                                          <p:spTgt spid="18"/>
                                        </p:tgtEl>
                                        <p:attrNameLst>
                                          <p:attrName>ppt_y</p:attrName>
                                        </p:attrNameLst>
                                      </p:cBhvr>
                                      <p:tavLst>
                                        <p:tav tm="0">
                                          <p:val>
                                            <p:strVal val="#ppt_y+0.1"/>
                                          </p:val>
                                        </p:tav>
                                        <p:tav tm="100000">
                                          <p:val>
                                            <p:strVal val="#ppt_y"/>
                                          </p:val>
                                        </p:tav>
                                      </p:tavLst>
                                    </p:anim>
                                    <p:animEffect transition="in" filter="fade">
                                      <p:cBhvr>
                                        <p:cTn id="43" dur="500"/>
                                        <p:tgtEl>
                                          <p:spTgt spid="18"/>
                                        </p:tgtEl>
                                      </p:cBhvr>
                                    </p:animEffect>
                                  </p:childTnLst>
                                </p:cTn>
                              </p:par>
                              <p:par>
                                <p:cTn id="49" presetID="2" presetClass="entr" presetSubtype="4" fill="hold" grpId="0" nodeType="withEffect">
                                  <p:stCondLst>
                                    <p:cond delay="29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fill="hold"/>
                                        <p:tgtEl>
                                          <p:spTgt spid="19"/>
                                        </p:tgtEl>
                                        <p:attrNameLst>
                                          <p:attrName>ppt_x</p:attrName>
                                        </p:attrNameLst>
                                      </p:cBhvr>
                                      <p:tavLst>
                                        <p:tav tm="0">
                                          <p:val>
                                            <p:strVal val="#ppt_x"/>
                                          </p:val>
                                        </p:tav>
                                        <p:tav tm="100000">
                                          <p:val>
                                            <p:strVal val="#ppt_x"/>
                                          </p:val>
                                        </p:tav>
                                      </p:tavLst>
                                    </p:anim>
                                    <p:anim calcmode="lin" valueType="num">
                                      <p:cBhvr additive="base">
                                        <p:cTn id="47" dur="500" fill="hold"/>
                                        <p:tgtEl>
                                          <p:spTgt spid="19"/>
                                        </p:tgtEl>
                                        <p:attrNameLst>
                                          <p:attrName>ppt_y</p:attrName>
                                        </p:attrNameLst>
                                      </p:cBhvr>
                                      <p:tavLst>
                                        <p:tav tm="0">
                                          <p:val>
                                            <p:strVal val="#ppt_y+0.1"/>
                                          </p:val>
                                        </p:tav>
                                        <p:tav tm="100000">
                                          <p:val>
                                            <p:strVal val="#ppt_y"/>
                                          </p:val>
                                        </p:tav>
                                      </p:tavLst>
                                    </p:anim>
                                    <p:animEffect transition="in" filter="fade">
                                      <p:cBhvr>
                                        <p:cTn id="48"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6"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ppt_y+0.1"/>
                                          </p:val>
                                        </p:tav>
                                        <p:tav tm="100000">
                                          <p:val>
                                            <p:strVal val="#ppt_y"/>
                                          </p:val>
                                        </p:tav>
                                      </p:tavLst>
                                    </p:anim>
                                    <p:animEffect transition="in" filter="fade">
                                      <p:cBhvr>
                                        <p:cTn id="55" dur="500"/>
                                        <p:tgtEl>
                                          <p:spTgt spid="20"/>
                                        </p:tgtEl>
                                      </p:cBhvr>
                                    </p:animEffect>
                                  </p:childTnLst>
                                </p:cTn>
                              </p:par>
                              <p:par>
                                <p:cTn id="61" presetID="2" presetClass="entr" presetSubtype="4"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500" fill="hold"/>
                                        <p:tgtEl>
                                          <p:spTgt spid="21"/>
                                        </p:tgtEl>
                                        <p:attrNameLst>
                                          <p:attrName>ppt_x</p:attrName>
                                        </p:attrNameLst>
                                      </p:cBhvr>
                                      <p:tavLst>
                                        <p:tav tm="0">
                                          <p:val>
                                            <p:strVal val="#ppt_x"/>
                                          </p:val>
                                        </p:tav>
                                        <p:tav tm="100000">
                                          <p:val>
                                            <p:strVal val="#ppt_x"/>
                                          </p:val>
                                        </p:tav>
                                      </p:tavLst>
                                    </p:anim>
                                    <p:anim calcmode="lin" valueType="num">
                                      <p:cBhvr additive="base">
                                        <p:cTn id="59" dur="500" fill="hold"/>
                                        <p:tgtEl>
                                          <p:spTgt spid="21"/>
                                        </p:tgtEl>
                                        <p:attrNameLst>
                                          <p:attrName>ppt_y</p:attrName>
                                        </p:attrNameLst>
                                      </p:cBhvr>
                                      <p:tavLst>
                                        <p:tav tm="0">
                                          <p:val>
                                            <p:strVal val="#ppt_y+0.1"/>
                                          </p:val>
                                        </p:tav>
                                        <p:tav tm="100000">
                                          <p:val>
                                            <p:strVal val="#ppt_y"/>
                                          </p:val>
                                        </p:tav>
                                      </p:tavLst>
                                    </p:anim>
                                    <p:animEffect transition="in" filter="fade">
                                      <p:cBhvr>
                                        <p:cTn id="60" dur="500"/>
                                        <p:tgtEl>
                                          <p:spTgt spid="21"/>
                                        </p:tgtEl>
                                      </p:cBhvr>
                                    </p:animEffect>
                                  </p:childTnLst>
                                </p:cTn>
                              </p:par>
                              <p:par>
                                <p:cTn id="66" presetID="2" presetClass="entr" presetSubtype="4" fill="hold" grpId="0" nodeType="withEffect">
                                  <p:stCondLst>
                                    <p:cond delay="60"/>
                                  </p:stCondLst>
                                  <p:childTnLst>
                                    <p:set>
                                      <p:cBhvr>
                                        <p:cTn id="62" dur="1" fill="hold">
                                          <p:stCondLst>
                                            <p:cond delay="0"/>
                                          </p:stCondLst>
                                        </p:cTn>
                                        <p:tgtEl>
                                          <p:spTgt spid="22"/>
                                        </p:tgtEl>
                                        <p:attrNameLst>
                                          <p:attrName>style.visibility</p:attrName>
                                        </p:attrNameLst>
                                      </p:cBhvr>
                                      <p:to>
                                        <p:strVal val="visible"/>
                                      </p:to>
                                    </p:set>
                                    <p:anim calcmode="lin" valueType="num">
                                      <p:cBhvr additive="base">
                                        <p:cTn id="63" dur="500" fill="hold"/>
                                        <p:tgtEl>
                                          <p:spTgt spid="22"/>
                                        </p:tgtEl>
                                        <p:attrNameLst>
                                          <p:attrName>ppt_x</p:attrName>
                                        </p:attrNameLst>
                                      </p:cBhvr>
                                      <p:tavLst>
                                        <p:tav tm="0">
                                          <p:val>
                                            <p:strVal val="#ppt_x"/>
                                          </p:val>
                                        </p:tav>
                                        <p:tav tm="100000">
                                          <p:val>
                                            <p:strVal val="#ppt_x"/>
                                          </p:val>
                                        </p:tav>
                                      </p:tavLst>
                                    </p:anim>
                                    <p:anim calcmode="lin" valueType="num">
                                      <p:cBhvr additive="base">
                                        <p:cTn id="64" dur="500" fill="hold"/>
                                        <p:tgtEl>
                                          <p:spTgt spid="22"/>
                                        </p:tgtEl>
                                        <p:attrNameLst>
                                          <p:attrName>ppt_y</p:attrName>
                                        </p:attrNameLst>
                                      </p:cBhvr>
                                      <p:tavLst>
                                        <p:tav tm="0">
                                          <p:val>
                                            <p:strVal val="#ppt_y+0.1"/>
                                          </p:val>
                                        </p:tav>
                                        <p:tav tm="100000">
                                          <p:val>
                                            <p:strVal val="#ppt_y"/>
                                          </p:val>
                                        </p:tav>
                                      </p:tavLst>
                                    </p:anim>
                                    <p:animEffect transition="in" filter="fade">
                                      <p:cBhvr>
                                        <p:cTn id="65" dur="500"/>
                                        <p:tgtEl>
                                          <p:spTgt spid="22"/>
                                        </p:tgtEl>
                                      </p:cBhvr>
                                    </p:animEffect>
                                  </p:childTnLst>
                                </p:cTn>
                              </p:par>
                              <p:par>
                                <p:cTn id="71" presetID="2" presetClass="entr" presetSubtype="4" fill="hold" grpId="0" nodeType="withEffect">
                                  <p:stCondLst>
                                    <p:cond delay="60"/>
                                  </p:stCondLst>
                                  <p:childTnLst>
                                    <p:set>
                                      <p:cBhvr>
                                        <p:cTn id="67" dur="1" fill="hold">
                                          <p:stCondLst>
                                            <p:cond delay="0"/>
                                          </p:stCondLst>
                                        </p:cTn>
                                        <p:tgtEl>
                                          <p:spTgt spid="23"/>
                                        </p:tgtEl>
                                        <p:attrNameLst>
                                          <p:attrName>style.visibility</p:attrName>
                                        </p:attrNameLst>
                                      </p:cBhvr>
                                      <p:to>
                                        <p:strVal val="visible"/>
                                      </p:to>
                                    </p:set>
                                    <p:anim calcmode="lin" valueType="num">
                                      <p:cBhvr additive="base">
                                        <p:cTn id="68" dur="500" fill="hold"/>
                                        <p:tgtEl>
                                          <p:spTgt spid="23"/>
                                        </p:tgtEl>
                                        <p:attrNameLst>
                                          <p:attrName>ppt_x</p:attrName>
                                        </p:attrNameLst>
                                      </p:cBhvr>
                                      <p:tavLst>
                                        <p:tav tm="0">
                                          <p:val>
                                            <p:strVal val="#ppt_x"/>
                                          </p:val>
                                        </p:tav>
                                        <p:tav tm="100000">
                                          <p:val>
                                            <p:strVal val="#ppt_x"/>
                                          </p:val>
                                        </p:tav>
                                      </p:tavLst>
                                    </p:anim>
                                    <p:anim calcmode="lin" valueType="num">
                                      <p:cBhvr additive="base">
                                        <p:cTn id="69" dur="500" fill="hold"/>
                                        <p:tgtEl>
                                          <p:spTgt spid="23"/>
                                        </p:tgtEl>
                                        <p:attrNameLst>
                                          <p:attrName>ppt_y</p:attrName>
                                        </p:attrNameLst>
                                      </p:cBhvr>
                                      <p:tavLst>
                                        <p:tav tm="0">
                                          <p:val>
                                            <p:strVal val="#ppt_y+0.1"/>
                                          </p:val>
                                        </p:tav>
                                        <p:tav tm="100000">
                                          <p:val>
                                            <p:strVal val="#ppt_y"/>
                                          </p:val>
                                        </p:tav>
                                      </p:tavLst>
                                    </p:anim>
                                    <p:animEffect transition="in" filter="fade">
                                      <p:cBhvr>
                                        <p:cTn id="70" dur="500"/>
                                        <p:tgtEl>
                                          <p:spTgt spid="23"/>
                                        </p:tgtEl>
                                      </p:cBhvr>
                                    </p:animEffect>
                                  </p:childTnLst>
                                </p:cTn>
                              </p:par>
                              <p:par>
                                <p:cTn id="76" presetID="2" presetClass="entr" presetSubtype="4" fill="hold" grpId="0" nodeType="withEffect">
                                  <p:stCondLst>
                                    <p:cond delay="90"/>
                                  </p:stCondLst>
                                  <p:childTnLst>
                                    <p:set>
                                      <p:cBhvr>
                                        <p:cTn id="72" dur="1" fill="hold">
                                          <p:stCondLst>
                                            <p:cond delay="0"/>
                                          </p:stCondLst>
                                        </p:cTn>
                                        <p:tgtEl>
                                          <p:spTgt spid="24"/>
                                        </p:tgtEl>
                                        <p:attrNameLst>
                                          <p:attrName>style.visibility</p:attrName>
                                        </p:attrNameLst>
                                      </p:cBhvr>
                                      <p:to>
                                        <p:strVal val="visible"/>
                                      </p:to>
                                    </p:set>
                                    <p:anim calcmode="lin" valueType="num">
                                      <p:cBhvr additive="base">
                                        <p:cTn id="73" dur="500" fill="hold"/>
                                        <p:tgtEl>
                                          <p:spTgt spid="24"/>
                                        </p:tgtEl>
                                        <p:attrNameLst>
                                          <p:attrName>ppt_x</p:attrName>
                                        </p:attrNameLst>
                                      </p:cBhvr>
                                      <p:tavLst>
                                        <p:tav tm="0">
                                          <p:val>
                                            <p:strVal val="#ppt_x"/>
                                          </p:val>
                                        </p:tav>
                                        <p:tav tm="100000">
                                          <p:val>
                                            <p:strVal val="#ppt_x"/>
                                          </p:val>
                                        </p:tav>
                                      </p:tavLst>
                                    </p:anim>
                                    <p:anim calcmode="lin" valueType="num">
                                      <p:cBhvr additive="base">
                                        <p:cTn id="74" dur="500" fill="hold"/>
                                        <p:tgtEl>
                                          <p:spTgt spid="24"/>
                                        </p:tgtEl>
                                        <p:attrNameLst>
                                          <p:attrName>ppt_y</p:attrName>
                                        </p:attrNameLst>
                                      </p:cBhvr>
                                      <p:tavLst>
                                        <p:tav tm="0">
                                          <p:val>
                                            <p:strVal val="#ppt_y+0.1"/>
                                          </p:val>
                                        </p:tav>
                                        <p:tav tm="100000">
                                          <p:val>
                                            <p:strVal val="#ppt_y"/>
                                          </p:val>
                                        </p:tav>
                                      </p:tavLst>
                                    </p:anim>
                                    <p:animEffect transition="in" filter="fade">
                                      <p:cBhvr>
                                        <p:cTn id="75" dur="500"/>
                                        <p:tgtEl>
                                          <p:spTgt spid="24"/>
                                        </p:tgtEl>
                                      </p:cBhvr>
                                    </p:animEffect>
                                  </p:childTnLst>
                                </p:cTn>
                              </p:par>
                              <p:par>
                                <p:cTn id="81" presetID="2" presetClass="entr" presetSubtype="4" fill="hold" grpId="0" nodeType="withEffect">
                                  <p:stCondLst>
                                    <p:cond delay="12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500" fill="hold"/>
                                        <p:tgtEl>
                                          <p:spTgt spid="25"/>
                                        </p:tgtEl>
                                        <p:attrNameLst>
                                          <p:attrName>ppt_x</p:attrName>
                                        </p:attrNameLst>
                                      </p:cBhvr>
                                      <p:tavLst>
                                        <p:tav tm="0">
                                          <p:val>
                                            <p:strVal val="#ppt_x"/>
                                          </p:val>
                                        </p:tav>
                                        <p:tav tm="100000">
                                          <p:val>
                                            <p:strVal val="#ppt_x"/>
                                          </p:val>
                                        </p:tav>
                                      </p:tavLst>
                                    </p:anim>
                                    <p:anim calcmode="lin" valueType="num">
                                      <p:cBhvr additive="base">
                                        <p:cTn id="79" dur="500" fill="hold"/>
                                        <p:tgtEl>
                                          <p:spTgt spid="25"/>
                                        </p:tgtEl>
                                        <p:attrNameLst>
                                          <p:attrName>ppt_y</p:attrName>
                                        </p:attrNameLst>
                                      </p:cBhvr>
                                      <p:tavLst>
                                        <p:tav tm="0">
                                          <p:val>
                                            <p:strVal val="#ppt_y+0.1"/>
                                          </p:val>
                                        </p:tav>
                                        <p:tav tm="100000">
                                          <p:val>
                                            <p:strVal val="#ppt_y"/>
                                          </p:val>
                                        </p:tav>
                                      </p:tavLst>
                                    </p:anim>
                                    <p:animEffect transition="in" filter="fade">
                                      <p:cBhvr>
                                        <p:cTn id="80" dur="500"/>
                                        <p:tgtEl>
                                          <p:spTgt spid="25"/>
                                        </p:tgtEl>
                                      </p:cBhvr>
                                    </p:animEffect>
                                  </p:childTnLst>
                                </p:cTn>
                              </p:par>
                              <p:par>
                                <p:cTn id="86" presetID="2" presetClass="entr" presetSubtype="4" fill="hold" grpId="0" nodeType="withEffect">
                                  <p:stCondLst>
                                    <p:cond delay="15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500" fill="hold"/>
                                        <p:tgtEl>
                                          <p:spTgt spid="26"/>
                                        </p:tgtEl>
                                        <p:attrNameLst>
                                          <p:attrName>ppt_x</p:attrName>
                                        </p:attrNameLst>
                                      </p:cBhvr>
                                      <p:tavLst>
                                        <p:tav tm="0">
                                          <p:val>
                                            <p:strVal val="#ppt_x"/>
                                          </p:val>
                                        </p:tav>
                                        <p:tav tm="100000">
                                          <p:val>
                                            <p:strVal val="#ppt_x"/>
                                          </p:val>
                                        </p:tav>
                                      </p:tavLst>
                                    </p:anim>
                                    <p:anim calcmode="lin" valueType="num">
                                      <p:cBhvr additive="base">
                                        <p:cTn id="84" dur="500" fill="hold"/>
                                        <p:tgtEl>
                                          <p:spTgt spid="26"/>
                                        </p:tgtEl>
                                        <p:attrNameLst>
                                          <p:attrName>ppt_y</p:attrName>
                                        </p:attrNameLst>
                                      </p:cBhvr>
                                      <p:tavLst>
                                        <p:tav tm="0">
                                          <p:val>
                                            <p:strVal val="#ppt_y+0.1"/>
                                          </p:val>
                                        </p:tav>
                                        <p:tav tm="100000">
                                          <p:val>
                                            <p:strVal val="#ppt_y"/>
                                          </p:val>
                                        </p:tav>
                                      </p:tavLst>
                                    </p:anim>
                                    <p:animEffect transition="in" filter="fade">
                                      <p:cBhvr>
                                        <p:cTn id="85" dur="500"/>
                                        <p:tgtEl>
                                          <p:spTgt spid="26"/>
                                        </p:tgtEl>
                                      </p:cBhvr>
                                    </p:animEffect>
                                  </p:childTnLst>
                                </p:cTn>
                              </p:par>
                              <p:par>
                                <p:cTn id="91" presetID="2" presetClass="entr" presetSubtype="4" fill="hold" grpId="0" nodeType="withEffect">
                                  <p:stCondLst>
                                    <p:cond delay="220"/>
                                  </p:stCondLst>
                                  <p:childTnLst>
                                    <p:set>
                                      <p:cBhvr>
                                        <p:cTn id="87" dur="1" fill="hold">
                                          <p:stCondLst>
                                            <p:cond delay="0"/>
                                          </p:stCondLst>
                                        </p:cTn>
                                        <p:tgtEl>
                                          <p:spTgt spid="27"/>
                                        </p:tgtEl>
                                        <p:attrNameLst>
                                          <p:attrName>style.visibility</p:attrName>
                                        </p:attrNameLst>
                                      </p:cBhvr>
                                      <p:to>
                                        <p:strVal val="visible"/>
                                      </p:to>
                                    </p:set>
                                    <p:anim calcmode="lin" valueType="num">
                                      <p:cBhvr additive="base">
                                        <p:cTn id="88" dur="500" fill="hold"/>
                                        <p:tgtEl>
                                          <p:spTgt spid="27"/>
                                        </p:tgtEl>
                                        <p:attrNameLst>
                                          <p:attrName>ppt_x</p:attrName>
                                        </p:attrNameLst>
                                      </p:cBhvr>
                                      <p:tavLst>
                                        <p:tav tm="0">
                                          <p:val>
                                            <p:strVal val="#ppt_x"/>
                                          </p:val>
                                        </p:tav>
                                        <p:tav tm="100000">
                                          <p:val>
                                            <p:strVal val="#ppt_x"/>
                                          </p:val>
                                        </p:tav>
                                      </p:tavLst>
                                    </p:anim>
                                    <p:anim calcmode="lin" valueType="num">
                                      <p:cBhvr additive="base">
                                        <p:cTn id="89" dur="500" fill="hold"/>
                                        <p:tgtEl>
                                          <p:spTgt spid="27"/>
                                        </p:tgtEl>
                                        <p:attrNameLst>
                                          <p:attrName>ppt_y</p:attrName>
                                        </p:attrNameLst>
                                      </p:cBhvr>
                                      <p:tavLst>
                                        <p:tav tm="0">
                                          <p:val>
                                            <p:strVal val="#ppt_y+0.1"/>
                                          </p:val>
                                        </p:tav>
                                        <p:tav tm="100000">
                                          <p:val>
                                            <p:strVal val="#ppt_y"/>
                                          </p:val>
                                        </p:tav>
                                      </p:tavLst>
                                    </p:anim>
                                    <p:animEffect transition="in" filter="fade">
                                      <p:cBhvr>
                                        <p:cTn id="90" dur="500"/>
                                        <p:tgtEl>
                                          <p:spTgt spid="27"/>
                                        </p:tgtEl>
                                      </p:cBhvr>
                                    </p:animEffect>
                                  </p:childTnLst>
                                </p:cTn>
                              </p:par>
                              <p:par>
                                <p:cTn id="96" presetID="2" presetClass="entr" presetSubtype="4" fill="hold" grpId="0" nodeType="withEffect">
                                  <p:stCondLst>
                                    <p:cond delay="29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500" fill="hold"/>
                                        <p:tgtEl>
                                          <p:spTgt spid="28"/>
                                        </p:tgtEl>
                                        <p:attrNameLst>
                                          <p:attrName>ppt_x</p:attrName>
                                        </p:attrNameLst>
                                      </p:cBhvr>
                                      <p:tavLst>
                                        <p:tav tm="0">
                                          <p:val>
                                            <p:strVal val="#ppt_x"/>
                                          </p:val>
                                        </p:tav>
                                        <p:tav tm="100000">
                                          <p:val>
                                            <p:strVal val="#ppt_x"/>
                                          </p:val>
                                        </p:tav>
                                      </p:tavLst>
                                    </p:anim>
                                    <p:anim calcmode="lin" valueType="num">
                                      <p:cBhvr additive="base">
                                        <p:cTn id="94" dur="500" fill="hold"/>
                                        <p:tgtEl>
                                          <p:spTgt spid="28"/>
                                        </p:tgtEl>
                                        <p:attrNameLst>
                                          <p:attrName>ppt_y</p:attrName>
                                        </p:attrNameLst>
                                      </p:cBhvr>
                                      <p:tavLst>
                                        <p:tav tm="0">
                                          <p:val>
                                            <p:strVal val="#ppt_y+0.1"/>
                                          </p:val>
                                        </p:tav>
                                        <p:tav tm="100000">
                                          <p:val>
                                            <p:strVal val="#ppt_y"/>
                                          </p:val>
                                        </p:tav>
                                      </p:tavLst>
                                    </p:anim>
                                    <p:animEffect transition="in" filter="fade">
                                      <p:cBhvr>
                                        <p:cTn id="95"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9"/>
                                        </p:tgtEl>
                                        <p:attrNameLst>
                                          <p:attrName>style.visibility</p:attrName>
                                        </p:attrNameLst>
                                      </p:cBhvr>
                                      <p:to>
                                        <p:strVal val="visible"/>
                                      </p:to>
                                    </p:set>
                                    <p:anim calcmode="lin" valueType="num">
                                      <p:cBhvr additive="base">
                                        <p:cTn id="100" dur="500" fill="hold"/>
                                        <p:tgtEl>
                                          <p:spTgt spid="29"/>
                                        </p:tgtEl>
                                        <p:attrNameLst>
                                          <p:attrName>ppt_x</p:attrName>
                                        </p:attrNameLst>
                                      </p:cBhvr>
                                      <p:tavLst>
                                        <p:tav tm="0">
                                          <p:val>
                                            <p:strVal val="#ppt_x"/>
                                          </p:val>
                                        </p:tav>
                                        <p:tav tm="100000">
                                          <p:val>
                                            <p:strVal val="#ppt_x"/>
                                          </p:val>
                                        </p:tav>
                                      </p:tavLst>
                                    </p:anim>
                                    <p:anim calcmode="lin" valueType="num">
                                      <p:cBhvr additive="base">
                                        <p:cTn id="101" dur="500" fill="hold"/>
                                        <p:tgtEl>
                                          <p:spTgt spid="29"/>
                                        </p:tgtEl>
                                        <p:attrNameLst>
                                          <p:attrName>ppt_y</p:attrName>
                                        </p:attrNameLst>
                                      </p:cBhvr>
                                      <p:tavLst>
                                        <p:tav tm="0">
                                          <p:val>
                                            <p:strVal val="#ppt_y+0.1"/>
                                          </p:val>
                                        </p:tav>
                                        <p:tav tm="100000">
                                          <p:val>
                                            <p:strVal val="#ppt_y"/>
                                          </p:val>
                                        </p:tav>
                                      </p:tavLst>
                                    </p:anim>
                                    <p:animEffect transition="in" filter="fade">
                                      <p:cBhvr>
                                        <p:cTn id="102" dur="500"/>
                                        <p:tgtEl>
                                          <p:spTgt spid="29"/>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30"/>
                                        </p:tgtEl>
                                        <p:attrNameLst>
                                          <p:attrName>style.visibility</p:attrName>
                                        </p:attrNameLst>
                                      </p:cBhvr>
                                      <p:to>
                                        <p:strVal val="visible"/>
                                      </p:to>
                                    </p:set>
                                    <p:anim calcmode="lin" valueType="num">
                                      <p:cBhvr additive="base">
                                        <p:cTn id="105" dur="500" fill="hold"/>
                                        <p:tgtEl>
                                          <p:spTgt spid="30"/>
                                        </p:tgtEl>
                                        <p:attrNameLst>
                                          <p:attrName>ppt_x</p:attrName>
                                        </p:attrNameLst>
                                      </p:cBhvr>
                                      <p:tavLst>
                                        <p:tav tm="0">
                                          <p:val>
                                            <p:strVal val="#ppt_x"/>
                                          </p:val>
                                        </p:tav>
                                        <p:tav tm="100000">
                                          <p:val>
                                            <p:strVal val="#ppt_x"/>
                                          </p:val>
                                        </p:tav>
                                      </p:tavLst>
                                    </p:anim>
                                    <p:anim calcmode="lin" valueType="num">
                                      <p:cBhvr additive="base">
                                        <p:cTn id="106" dur="500" fill="hold"/>
                                        <p:tgtEl>
                                          <p:spTgt spid="30"/>
                                        </p:tgtEl>
                                        <p:attrNameLst>
                                          <p:attrName>ppt_y</p:attrName>
                                        </p:attrNameLst>
                                      </p:cBhvr>
                                      <p:tavLst>
                                        <p:tav tm="0">
                                          <p:val>
                                            <p:strVal val="#ppt_y+0.1"/>
                                          </p:val>
                                        </p:tav>
                                        <p:tav tm="100000">
                                          <p:val>
                                            <p:strVal val="#ppt_y"/>
                                          </p:val>
                                        </p:tav>
                                      </p:tavLst>
                                    </p:anim>
                                    <p:animEffect transition="in" filter="fade">
                                      <p:cBhvr>
                                        <p:cTn id="107" dur="500"/>
                                        <p:tgtEl>
                                          <p:spTgt spid="30"/>
                                        </p:tgtEl>
                                      </p:cBhvr>
                                    </p:animEffect>
                                  </p:childTnLst>
                                </p:cTn>
                              </p:par>
                              <p:par>
                                <p:cTn id="113" presetID="2" presetClass="entr" presetSubtype="4" fill="hold" grpId="0" nodeType="withEffect">
                                  <p:stCondLst>
                                    <p:cond delay="6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500" fill="hold"/>
                                        <p:tgtEl>
                                          <p:spTgt spid="31"/>
                                        </p:tgtEl>
                                        <p:attrNameLst>
                                          <p:attrName>ppt_x</p:attrName>
                                        </p:attrNameLst>
                                      </p:cBhvr>
                                      <p:tavLst>
                                        <p:tav tm="0">
                                          <p:val>
                                            <p:strVal val="#ppt_x"/>
                                          </p:val>
                                        </p:tav>
                                        <p:tav tm="100000">
                                          <p:val>
                                            <p:strVal val="#ppt_x"/>
                                          </p:val>
                                        </p:tav>
                                      </p:tavLst>
                                    </p:anim>
                                    <p:anim calcmode="lin" valueType="num">
                                      <p:cBhvr additive="base">
                                        <p:cTn id="111" dur="500" fill="hold"/>
                                        <p:tgtEl>
                                          <p:spTgt spid="31"/>
                                        </p:tgtEl>
                                        <p:attrNameLst>
                                          <p:attrName>ppt_y</p:attrName>
                                        </p:attrNameLst>
                                      </p:cBhvr>
                                      <p:tavLst>
                                        <p:tav tm="0">
                                          <p:val>
                                            <p:strVal val="#ppt_y+0.1"/>
                                          </p:val>
                                        </p:tav>
                                        <p:tav tm="100000">
                                          <p:val>
                                            <p:strVal val="#ppt_y"/>
                                          </p:val>
                                        </p:tav>
                                      </p:tavLst>
                                    </p:anim>
                                    <p:animEffect transition="in" filter="fade">
                                      <p:cBhvr>
                                        <p:cTn id="112" dur="500"/>
                                        <p:tgtEl>
                                          <p:spTgt spid="31"/>
                                        </p:tgtEl>
                                      </p:cBhvr>
                                    </p:animEffect>
                                  </p:childTnLst>
                                </p:cTn>
                              </p:par>
                              <p:par>
                                <p:cTn id="118" presetID="2" presetClass="entr" presetSubtype="4" fill="hold" grpId="0" nodeType="withEffect">
                                  <p:stCondLst>
                                    <p:cond delay="6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500" fill="hold"/>
                                        <p:tgtEl>
                                          <p:spTgt spid="32"/>
                                        </p:tgtEl>
                                        <p:attrNameLst>
                                          <p:attrName>ppt_x</p:attrName>
                                        </p:attrNameLst>
                                      </p:cBhvr>
                                      <p:tavLst>
                                        <p:tav tm="0">
                                          <p:val>
                                            <p:strVal val="#ppt_x"/>
                                          </p:val>
                                        </p:tav>
                                        <p:tav tm="100000">
                                          <p:val>
                                            <p:strVal val="#ppt_x"/>
                                          </p:val>
                                        </p:tav>
                                      </p:tavLst>
                                    </p:anim>
                                    <p:anim calcmode="lin" valueType="num">
                                      <p:cBhvr additive="base">
                                        <p:cTn id="116" dur="500" fill="hold"/>
                                        <p:tgtEl>
                                          <p:spTgt spid="32"/>
                                        </p:tgtEl>
                                        <p:attrNameLst>
                                          <p:attrName>ppt_y</p:attrName>
                                        </p:attrNameLst>
                                      </p:cBhvr>
                                      <p:tavLst>
                                        <p:tav tm="0">
                                          <p:val>
                                            <p:strVal val="#ppt_y+0.1"/>
                                          </p:val>
                                        </p:tav>
                                        <p:tav tm="100000">
                                          <p:val>
                                            <p:strVal val="#ppt_y"/>
                                          </p:val>
                                        </p:tav>
                                      </p:tavLst>
                                    </p:anim>
                                    <p:animEffect transition="in" filter="fade">
                                      <p:cBhvr>
                                        <p:cTn id="117" dur="500"/>
                                        <p:tgtEl>
                                          <p:spTgt spid="32"/>
                                        </p:tgtEl>
                                      </p:cBhvr>
                                    </p:animEffect>
                                  </p:childTnLst>
                                </p:cTn>
                              </p:par>
                              <p:par>
                                <p:cTn id="123" presetID="2" presetClass="entr" presetSubtype="4" fill="hold" grpId="0" nodeType="withEffect">
                                  <p:stCondLst>
                                    <p:cond delay="90"/>
                                  </p:stCondLst>
                                  <p:childTnLst>
                                    <p:set>
                                      <p:cBhvr>
                                        <p:cTn id="119" dur="1" fill="hold">
                                          <p:stCondLst>
                                            <p:cond delay="0"/>
                                          </p:stCondLst>
                                        </p:cTn>
                                        <p:tgtEl>
                                          <p:spTgt spid="33"/>
                                        </p:tgtEl>
                                        <p:attrNameLst>
                                          <p:attrName>style.visibility</p:attrName>
                                        </p:attrNameLst>
                                      </p:cBhvr>
                                      <p:to>
                                        <p:strVal val="visible"/>
                                      </p:to>
                                    </p:set>
                                    <p:anim calcmode="lin" valueType="num">
                                      <p:cBhvr additive="base">
                                        <p:cTn id="120" dur="500" fill="hold"/>
                                        <p:tgtEl>
                                          <p:spTgt spid="33"/>
                                        </p:tgtEl>
                                        <p:attrNameLst>
                                          <p:attrName>ppt_x</p:attrName>
                                        </p:attrNameLst>
                                      </p:cBhvr>
                                      <p:tavLst>
                                        <p:tav tm="0">
                                          <p:val>
                                            <p:strVal val="#ppt_x"/>
                                          </p:val>
                                        </p:tav>
                                        <p:tav tm="100000">
                                          <p:val>
                                            <p:strVal val="#ppt_x"/>
                                          </p:val>
                                        </p:tav>
                                      </p:tavLst>
                                    </p:anim>
                                    <p:anim calcmode="lin" valueType="num">
                                      <p:cBhvr additive="base">
                                        <p:cTn id="121" dur="500" fill="hold"/>
                                        <p:tgtEl>
                                          <p:spTgt spid="33"/>
                                        </p:tgtEl>
                                        <p:attrNameLst>
                                          <p:attrName>ppt_y</p:attrName>
                                        </p:attrNameLst>
                                      </p:cBhvr>
                                      <p:tavLst>
                                        <p:tav tm="0">
                                          <p:val>
                                            <p:strVal val="#ppt_y+0.1"/>
                                          </p:val>
                                        </p:tav>
                                        <p:tav tm="100000">
                                          <p:val>
                                            <p:strVal val="#ppt_y"/>
                                          </p:val>
                                        </p:tav>
                                      </p:tavLst>
                                    </p:anim>
                                    <p:animEffect transition="in" filter="fade">
                                      <p:cBhvr>
                                        <p:cTn id="122" dur="500"/>
                                        <p:tgtEl>
                                          <p:spTgt spid="33"/>
                                        </p:tgtEl>
                                      </p:cBhvr>
                                    </p:animEffect>
                                  </p:childTnLst>
                                </p:cTn>
                              </p:par>
                              <p:par>
                                <p:cTn id="128" presetID="2" presetClass="entr" presetSubtype="4" fill="hold" grpId="0" nodeType="withEffect">
                                  <p:stCondLst>
                                    <p:cond delay="120"/>
                                  </p:stCondLst>
                                  <p:childTnLst>
                                    <p:set>
                                      <p:cBhvr>
                                        <p:cTn id="124" dur="1" fill="hold">
                                          <p:stCondLst>
                                            <p:cond delay="0"/>
                                          </p:stCondLst>
                                        </p:cTn>
                                        <p:tgtEl>
                                          <p:spTgt spid="34"/>
                                        </p:tgtEl>
                                        <p:attrNameLst>
                                          <p:attrName>style.visibility</p:attrName>
                                        </p:attrNameLst>
                                      </p:cBhvr>
                                      <p:to>
                                        <p:strVal val="visible"/>
                                      </p:to>
                                    </p:set>
                                    <p:anim calcmode="lin" valueType="num">
                                      <p:cBhvr additive="base">
                                        <p:cTn id="125" dur="500" fill="hold"/>
                                        <p:tgtEl>
                                          <p:spTgt spid="34"/>
                                        </p:tgtEl>
                                        <p:attrNameLst>
                                          <p:attrName>ppt_x</p:attrName>
                                        </p:attrNameLst>
                                      </p:cBhvr>
                                      <p:tavLst>
                                        <p:tav tm="0">
                                          <p:val>
                                            <p:strVal val="#ppt_x"/>
                                          </p:val>
                                        </p:tav>
                                        <p:tav tm="100000">
                                          <p:val>
                                            <p:strVal val="#ppt_x"/>
                                          </p:val>
                                        </p:tav>
                                      </p:tavLst>
                                    </p:anim>
                                    <p:anim calcmode="lin" valueType="num">
                                      <p:cBhvr additive="base">
                                        <p:cTn id="126" dur="500" fill="hold"/>
                                        <p:tgtEl>
                                          <p:spTgt spid="34"/>
                                        </p:tgtEl>
                                        <p:attrNameLst>
                                          <p:attrName>ppt_y</p:attrName>
                                        </p:attrNameLst>
                                      </p:cBhvr>
                                      <p:tavLst>
                                        <p:tav tm="0">
                                          <p:val>
                                            <p:strVal val="#ppt_y+0.1"/>
                                          </p:val>
                                        </p:tav>
                                        <p:tav tm="100000">
                                          <p:val>
                                            <p:strVal val="#ppt_y"/>
                                          </p:val>
                                        </p:tav>
                                      </p:tavLst>
                                    </p:anim>
                                    <p:animEffect transition="in" filter="fade">
                                      <p:cBhvr>
                                        <p:cTn id="127" dur="500"/>
                                        <p:tgtEl>
                                          <p:spTgt spid="34"/>
                                        </p:tgtEl>
                                      </p:cBhvr>
                                    </p:animEffect>
                                  </p:childTnLst>
                                </p:cTn>
                              </p:par>
                              <p:par>
                                <p:cTn id="133" presetID="2" presetClass="entr" presetSubtype="4" fill="hold" grpId="0" nodeType="withEffect">
                                  <p:stCondLst>
                                    <p:cond delay="150"/>
                                  </p:stCondLst>
                                  <p:childTnLst>
                                    <p:set>
                                      <p:cBhvr>
                                        <p:cTn id="129" dur="1" fill="hold">
                                          <p:stCondLst>
                                            <p:cond delay="0"/>
                                          </p:stCondLst>
                                        </p:cTn>
                                        <p:tgtEl>
                                          <p:spTgt spid="35"/>
                                        </p:tgtEl>
                                        <p:attrNameLst>
                                          <p:attrName>style.visibility</p:attrName>
                                        </p:attrNameLst>
                                      </p:cBhvr>
                                      <p:to>
                                        <p:strVal val="visible"/>
                                      </p:to>
                                    </p:set>
                                    <p:anim calcmode="lin" valueType="num">
                                      <p:cBhvr additive="base">
                                        <p:cTn id="130" dur="500" fill="hold"/>
                                        <p:tgtEl>
                                          <p:spTgt spid="35"/>
                                        </p:tgtEl>
                                        <p:attrNameLst>
                                          <p:attrName>ppt_x</p:attrName>
                                        </p:attrNameLst>
                                      </p:cBhvr>
                                      <p:tavLst>
                                        <p:tav tm="0">
                                          <p:val>
                                            <p:strVal val="#ppt_x"/>
                                          </p:val>
                                        </p:tav>
                                        <p:tav tm="100000">
                                          <p:val>
                                            <p:strVal val="#ppt_x"/>
                                          </p:val>
                                        </p:tav>
                                      </p:tavLst>
                                    </p:anim>
                                    <p:anim calcmode="lin" valueType="num">
                                      <p:cBhvr additive="base">
                                        <p:cTn id="131" dur="500" fill="hold"/>
                                        <p:tgtEl>
                                          <p:spTgt spid="35"/>
                                        </p:tgtEl>
                                        <p:attrNameLst>
                                          <p:attrName>ppt_y</p:attrName>
                                        </p:attrNameLst>
                                      </p:cBhvr>
                                      <p:tavLst>
                                        <p:tav tm="0">
                                          <p:val>
                                            <p:strVal val="#ppt_y+0.1"/>
                                          </p:val>
                                        </p:tav>
                                        <p:tav tm="100000">
                                          <p:val>
                                            <p:strVal val="#ppt_y"/>
                                          </p:val>
                                        </p:tav>
                                      </p:tavLst>
                                    </p:anim>
                                    <p:animEffect transition="in" filter="fade">
                                      <p:cBhvr>
                                        <p:cTn id="132" dur="500"/>
                                        <p:tgtEl>
                                          <p:spTgt spid="35"/>
                                        </p:tgtEl>
                                      </p:cBhvr>
                                    </p:animEffect>
                                  </p:childTnLst>
                                </p:cTn>
                              </p:par>
                              <p:par>
                                <p:cTn id="138" presetID="2" presetClass="entr" presetSubtype="4" fill="hold" grpId="0" nodeType="withEffect">
                                  <p:stCondLst>
                                    <p:cond delay="22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ppt_y+0.1"/>
                                          </p:val>
                                        </p:tav>
                                        <p:tav tm="100000">
                                          <p:val>
                                            <p:strVal val="#ppt_y"/>
                                          </p:val>
                                        </p:tav>
                                      </p:tavLst>
                                    </p:anim>
                                    <p:animEffect transition="in" filter="fade">
                                      <p:cBhvr>
                                        <p:cTn id="137" dur="500"/>
                                        <p:tgtEl>
                                          <p:spTgt spid="36"/>
                                        </p:tgtEl>
                                      </p:cBhvr>
                                    </p:animEffect>
                                  </p:childTnLst>
                                </p:cTn>
                              </p:par>
                              <p:par>
                                <p:cTn id="143" presetID="2" presetClass="entr" presetSubtype="4" fill="hold" grpId="0" nodeType="withEffect">
                                  <p:stCondLst>
                                    <p:cond delay="290"/>
                                  </p:stCondLst>
                                  <p:childTnLst>
                                    <p:set>
                                      <p:cBhvr>
                                        <p:cTn id="139" dur="1" fill="hold">
                                          <p:stCondLst>
                                            <p:cond delay="0"/>
                                          </p:stCondLst>
                                        </p:cTn>
                                        <p:tgtEl>
                                          <p:spTgt spid="37"/>
                                        </p:tgtEl>
                                        <p:attrNameLst>
                                          <p:attrName>style.visibility</p:attrName>
                                        </p:attrNameLst>
                                      </p:cBhvr>
                                      <p:to>
                                        <p:strVal val="visible"/>
                                      </p:to>
                                    </p:set>
                                    <p:anim calcmode="lin" valueType="num">
                                      <p:cBhvr additive="base">
                                        <p:cTn id="140" dur="500" fill="hold"/>
                                        <p:tgtEl>
                                          <p:spTgt spid="37"/>
                                        </p:tgtEl>
                                        <p:attrNameLst>
                                          <p:attrName>ppt_x</p:attrName>
                                        </p:attrNameLst>
                                      </p:cBhvr>
                                      <p:tavLst>
                                        <p:tav tm="0">
                                          <p:val>
                                            <p:strVal val="#ppt_x"/>
                                          </p:val>
                                        </p:tav>
                                        <p:tav tm="100000">
                                          <p:val>
                                            <p:strVal val="#ppt_x"/>
                                          </p:val>
                                        </p:tav>
                                      </p:tavLst>
                                    </p:anim>
                                    <p:anim calcmode="lin" valueType="num">
                                      <p:cBhvr additive="base">
                                        <p:cTn id="141" dur="500" fill="hold"/>
                                        <p:tgtEl>
                                          <p:spTgt spid="37"/>
                                        </p:tgtEl>
                                        <p:attrNameLst>
                                          <p:attrName>ppt_y</p:attrName>
                                        </p:attrNameLst>
                                      </p:cBhvr>
                                      <p:tavLst>
                                        <p:tav tm="0">
                                          <p:val>
                                            <p:strVal val="#ppt_y+0.1"/>
                                          </p:val>
                                        </p:tav>
                                        <p:tav tm="100000">
                                          <p:val>
                                            <p:strVal val="#ppt_y"/>
                                          </p:val>
                                        </p:tav>
                                      </p:tavLst>
                                    </p:anim>
                                    <p:animEffect transition="in" filter="fade">
                                      <p:cBhvr>
                                        <p:cTn id="142" dur="500"/>
                                        <p:tgtEl>
                                          <p:spTgt spid="37"/>
                                        </p:tgtEl>
                                      </p:cBhvr>
                                    </p:animEffect>
                                  </p:childTnLst>
                                </p:cTn>
                              </p:par>
                            </p:childTnLst>
                          </p:cTn>
                        </p:par>
                      </p:childTnLst>
                    </p:cTn>
                  </p:par>
                  <p:par>
                    <p:cTn id="144" fill="hold">
                      <p:stCondLst>
                        <p:cond delay="indefinite"/>
                      </p:stCondLst>
                      <p:childTnLst>
                        <p:par>
                          <p:cTn id="145" fill="hold">
                            <p:stCondLst>
                              <p:cond delay="0"/>
                            </p:stCondLst>
                            <p:childTnLst>
                              <p:par>
                                <p:cTn id="150" presetID="2" presetClass="entr" presetSubtype="4" fill="hold" grpId="0" nodeType="clickEffect">
                                  <p:stCondLst>
                                    <p:cond delay="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ppt_x</p:attrName>
                                        </p:attrNameLst>
                                      </p:cBhvr>
                                      <p:tavLst>
                                        <p:tav tm="0">
                                          <p:val>
                                            <p:strVal val="#ppt_x"/>
                                          </p:val>
                                        </p:tav>
                                        <p:tav tm="100000">
                                          <p:val>
                                            <p:strVal val="#ppt_x"/>
                                          </p:val>
                                        </p:tav>
                                      </p:tavLst>
                                    </p:anim>
                                    <p:anim calcmode="lin" valueType="num">
                                      <p:cBhvr additive="base">
                                        <p:cTn id="148" dur="500" fill="hold"/>
                                        <p:tgtEl>
                                          <p:spTgt spid="38"/>
                                        </p:tgtEl>
                                        <p:attrNameLst>
                                          <p:attrName>ppt_y</p:attrName>
                                        </p:attrNameLst>
                                      </p:cBhvr>
                                      <p:tavLst>
                                        <p:tav tm="0">
                                          <p:val>
                                            <p:strVal val="#ppt_y+0.1"/>
                                          </p:val>
                                        </p:tav>
                                        <p:tav tm="100000">
                                          <p:val>
                                            <p:strVal val="#ppt_y"/>
                                          </p:val>
                                        </p:tav>
                                      </p:tavLst>
                                    </p:anim>
                                    <p:animEffect transition="in" filter="fade">
                                      <p:cBhvr>
                                        <p:cTn id="149" dur="500"/>
                                        <p:tgtEl>
                                          <p:spTgt spid="38"/>
                                        </p:tgtEl>
                                      </p:cBhvr>
                                    </p:animEffect>
                                  </p:childTnLst>
                                </p:cTn>
                              </p:par>
                              <p:par>
                                <p:cTn id="155" presetID="2" presetClass="entr" presetSubtype="4" fill="hold" grpId="0" nodeType="withEffect">
                                  <p:stCondLst>
                                    <p:cond delay="0"/>
                                  </p:stCondLst>
                                  <p:childTnLst>
                                    <p:set>
                                      <p:cBhvr>
                                        <p:cTn id="151" dur="1" fill="hold">
                                          <p:stCondLst>
                                            <p:cond delay="0"/>
                                          </p:stCondLst>
                                        </p:cTn>
                                        <p:tgtEl>
                                          <p:spTgt spid="39"/>
                                        </p:tgtEl>
                                        <p:attrNameLst>
                                          <p:attrName>style.visibility</p:attrName>
                                        </p:attrNameLst>
                                      </p:cBhvr>
                                      <p:to>
                                        <p:strVal val="visible"/>
                                      </p:to>
                                    </p:set>
                                    <p:anim calcmode="lin" valueType="num">
                                      <p:cBhvr additive="base">
                                        <p:cTn id="152" dur="500" fill="hold"/>
                                        <p:tgtEl>
                                          <p:spTgt spid="39"/>
                                        </p:tgtEl>
                                        <p:attrNameLst>
                                          <p:attrName>ppt_x</p:attrName>
                                        </p:attrNameLst>
                                      </p:cBhvr>
                                      <p:tavLst>
                                        <p:tav tm="0">
                                          <p:val>
                                            <p:strVal val="#ppt_x"/>
                                          </p:val>
                                        </p:tav>
                                        <p:tav tm="100000">
                                          <p:val>
                                            <p:strVal val="#ppt_x"/>
                                          </p:val>
                                        </p:tav>
                                      </p:tavLst>
                                    </p:anim>
                                    <p:anim calcmode="lin" valueType="num">
                                      <p:cBhvr additive="base">
                                        <p:cTn id="153" dur="500" fill="hold"/>
                                        <p:tgtEl>
                                          <p:spTgt spid="39"/>
                                        </p:tgtEl>
                                        <p:attrNameLst>
                                          <p:attrName>ppt_y</p:attrName>
                                        </p:attrNameLst>
                                      </p:cBhvr>
                                      <p:tavLst>
                                        <p:tav tm="0">
                                          <p:val>
                                            <p:strVal val="#ppt_y+0.1"/>
                                          </p:val>
                                        </p:tav>
                                        <p:tav tm="100000">
                                          <p:val>
                                            <p:strVal val="#ppt_y"/>
                                          </p:val>
                                        </p:tav>
                                      </p:tavLst>
                                    </p:anim>
                                    <p:animEffect transition="in" filter="fade">
                                      <p:cBhvr>
                                        <p:cTn id="154" dur="500"/>
                                        <p:tgtEl>
                                          <p:spTgt spid="39"/>
                                        </p:tgtEl>
                                      </p:cBhvr>
                                    </p:animEffect>
                                  </p:childTnLst>
                                </p:cTn>
                              </p:par>
                              <p:par>
                                <p:cTn id="160" presetID="2" presetClass="entr" presetSubtype="4" fill="hold" grpId="0" nodeType="with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00" fill="hold"/>
                                        <p:tgtEl>
                                          <p:spTgt spid="40"/>
                                        </p:tgtEl>
                                        <p:attrNameLst>
                                          <p:attrName>ppt_x</p:attrName>
                                        </p:attrNameLst>
                                      </p:cBhvr>
                                      <p:tavLst>
                                        <p:tav tm="0">
                                          <p:val>
                                            <p:strVal val="#ppt_x"/>
                                          </p:val>
                                        </p:tav>
                                        <p:tav tm="100000">
                                          <p:val>
                                            <p:strVal val="#ppt_x"/>
                                          </p:val>
                                        </p:tav>
                                      </p:tavLst>
                                    </p:anim>
                                    <p:anim calcmode="lin" valueType="num">
                                      <p:cBhvr additive="base">
                                        <p:cTn id="158" dur="500" fill="hold"/>
                                        <p:tgtEl>
                                          <p:spTgt spid="40"/>
                                        </p:tgtEl>
                                        <p:attrNameLst>
                                          <p:attrName>ppt_y</p:attrName>
                                        </p:attrNameLst>
                                      </p:cBhvr>
                                      <p:tavLst>
                                        <p:tav tm="0">
                                          <p:val>
                                            <p:strVal val="#ppt_y+0.1"/>
                                          </p:val>
                                        </p:tav>
                                        <p:tav tm="100000">
                                          <p:val>
                                            <p:strVal val="#ppt_y"/>
                                          </p:val>
                                        </p:tav>
                                      </p:tavLst>
                                    </p:anim>
                                    <p:animEffect transition="in" filter="fade">
                                      <p:cBhvr>
                                        <p:cTn id="15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An Avro Schema: the .avsc File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A plain text file that describes the record - and generates the class you code against</a:t>
            </a:r>
          </a:p>
        </p:txBody>
      </p:sp>
      <p:sp>
        <p:nvSpPr>
          <p:cNvPr id="11" name="a1f_codebg10"/>
          <p:cNvSpPr/>
          <p:nvPr/>
        </p:nvSpPr>
        <p:spPr>
          <a:xfrm>
            <a:off x="457200" y="1280160"/>
            <a:ext cx="4160520" cy="2542032"/>
          </a:xfrm>
          <a:prstGeom prst="roundRect">
            <a:avLst>
              <a:gd name="adj" fmla="val 2877"/>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f_codeh11"/>
          <p:cNvSpPr txBox="1"/>
          <p:nvPr/>
        </p:nvSpPr>
        <p:spPr>
          <a:xfrm>
            <a:off x="585216" y="1335024"/>
            <a:ext cx="3904487" cy="219456"/>
          </a:xfrm>
          <a:prstGeom prst="rect">
            <a:avLst/>
          </a:prstGeom>
          <a:noFill/>
        </p:spPr>
        <p:txBody>
          <a:bodyPr wrap="square" lIns="0" tIns="0" rIns="0" bIns="0" anchor="ctr">
            <a:spAutoFit/>
          </a:bodyPr>
          <a:lstStyle/>
          <a:p>
            <a:pPr algn="l"/>
            <a:r>
              <a:rPr sz="950" b="1">
                <a:solidFill>
                  <a:srgbClr val="A8A29E"/>
                </a:solidFill>
                <a:latin typeface="Consolas"/>
              </a:rPr>
              <a:t>src/main/avro/reading.avsc</a:t>
            </a:r>
          </a:p>
        </p:txBody>
      </p:sp>
      <p:sp>
        <p:nvSpPr>
          <p:cNvPr id="13" name="a1f_codesep12"/>
          <p:cNvSpPr/>
          <p:nvPr/>
        </p:nvSpPr>
        <p:spPr>
          <a:xfrm>
            <a:off x="585216" y="1609343"/>
            <a:ext cx="3904487"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w_code13"/>
          <p:cNvSpPr txBox="1"/>
          <p:nvPr/>
        </p:nvSpPr>
        <p:spPr>
          <a:xfrm>
            <a:off x="585216" y="1682495"/>
            <a:ext cx="3904487" cy="182880"/>
          </a:xfrm>
          <a:prstGeom prst="rect">
            <a:avLst/>
          </a:prstGeom>
          <a:noFill/>
        </p:spPr>
        <p:txBody>
          <a:bodyPr wrap="none" lIns="0" tIns="0" rIns="0" bIns="0" anchor="ctr">
            <a:spAutoFit/>
          </a:bodyPr>
          <a:lstStyle/>
          <a:p>
            <a:pPr algn="l"/>
            <a:r>
              <a:rPr sz="800" b="0">
                <a:solidFill>
                  <a:srgbClr val="E7E5E4"/>
                </a:solidFill>
                <a:latin typeface="Consolas"/>
              </a:rPr>
              <a:t>{</a:t>
            </a:r>
          </a:p>
        </p:txBody>
      </p:sp>
      <p:sp>
        <p:nvSpPr>
          <p:cNvPr id="15" name="a1wd70_code14"/>
          <p:cNvSpPr txBox="1"/>
          <p:nvPr/>
        </p:nvSpPr>
        <p:spPr>
          <a:xfrm>
            <a:off x="585216" y="1865376"/>
            <a:ext cx="3904487" cy="182880"/>
          </a:xfrm>
          <a:prstGeom prst="rect">
            <a:avLst/>
          </a:prstGeom>
          <a:noFill/>
        </p:spPr>
        <p:txBody>
          <a:bodyPr wrap="none" lIns="0" tIns="0" rIns="0" bIns="0" anchor="ctr">
            <a:spAutoFit/>
          </a:bodyPr>
          <a:lstStyle/>
          <a:p>
            <a:pPr algn="l"/>
            <a:r>
              <a:rPr sz="800" b="0">
                <a:solidFill>
                  <a:srgbClr val="E7E5E4"/>
                </a:solidFill>
                <a:latin typeface="Consolas"/>
              </a:rPr>
              <a:t>  "type": "record",</a:t>
            </a:r>
          </a:p>
        </p:txBody>
      </p:sp>
      <p:sp>
        <p:nvSpPr>
          <p:cNvPr id="16" name="a1wd140_code15"/>
          <p:cNvSpPr txBox="1"/>
          <p:nvPr/>
        </p:nvSpPr>
        <p:spPr>
          <a:xfrm>
            <a:off x="585216" y="2048255"/>
            <a:ext cx="3904487" cy="182880"/>
          </a:xfrm>
          <a:prstGeom prst="rect">
            <a:avLst/>
          </a:prstGeom>
          <a:noFill/>
        </p:spPr>
        <p:txBody>
          <a:bodyPr wrap="none" lIns="0" tIns="0" rIns="0" bIns="0" anchor="ctr">
            <a:spAutoFit/>
          </a:bodyPr>
          <a:lstStyle/>
          <a:p>
            <a:pPr algn="l"/>
            <a:r>
              <a:rPr sz="800" b="1">
                <a:solidFill>
                  <a:srgbClr val="FDBA74"/>
                </a:solidFill>
                <a:latin typeface="Consolas"/>
              </a:rPr>
              <a:t>  "name": "Reading",</a:t>
            </a:r>
          </a:p>
        </p:txBody>
      </p:sp>
      <p:sp>
        <p:nvSpPr>
          <p:cNvPr id="17" name="a1wd210_code16"/>
          <p:cNvSpPr txBox="1"/>
          <p:nvPr/>
        </p:nvSpPr>
        <p:spPr>
          <a:xfrm>
            <a:off x="585216" y="2231136"/>
            <a:ext cx="3904487" cy="182880"/>
          </a:xfrm>
          <a:prstGeom prst="rect">
            <a:avLst/>
          </a:prstGeom>
          <a:noFill/>
        </p:spPr>
        <p:txBody>
          <a:bodyPr wrap="none" lIns="0" tIns="0" rIns="0" bIns="0" anchor="ctr">
            <a:spAutoFit/>
          </a:bodyPr>
          <a:lstStyle/>
          <a:p>
            <a:pPr algn="l"/>
            <a:r>
              <a:rPr sz="800" b="0">
                <a:solidFill>
                  <a:srgbClr val="E7E5E4"/>
                </a:solidFill>
                <a:latin typeface="Consolas"/>
              </a:rPr>
              <a:t>  "namespace": "io.example.thermostat",</a:t>
            </a:r>
          </a:p>
        </p:txBody>
      </p:sp>
      <p:sp>
        <p:nvSpPr>
          <p:cNvPr id="18" name="a1wd280_code17"/>
          <p:cNvSpPr txBox="1"/>
          <p:nvPr/>
        </p:nvSpPr>
        <p:spPr>
          <a:xfrm>
            <a:off x="585216" y="2414015"/>
            <a:ext cx="3904487" cy="182880"/>
          </a:xfrm>
          <a:prstGeom prst="rect">
            <a:avLst/>
          </a:prstGeom>
          <a:noFill/>
        </p:spPr>
        <p:txBody>
          <a:bodyPr wrap="none" lIns="0" tIns="0" rIns="0" bIns="0" anchor="ctr">
            <a:spAutoFit/>
          </a:bodyPr>
          <a:lstStyle/>
          <a:p>
            <a:pPr algn="l"/>
            <a:r>
              <a:rPr sz="800" b="0">
                <a:solidFill>
                  <a:srgbClr val="E7E5E4"/>
                </a:solidFill>
                <a:latin typeface="Consolas"/>
              </a:rPr>
              <a:t>  "fields": [</a:t>
            </a:r>
          </a:p>
        </p:txBody>
      </p:sp>
      <p:sp>
        <p:nvSpPr>
          <p:cNvPr id="19" name="a1wd350_code18"/>
          <p:cNvSpPr txBox="1"/>
          <p:nvPr/>
        </p:nvSpPr>
        <p:spPr>
          <a:xfrm>
            <a:off x="585216" y="2596896"/>
            <a:ext cx="3904487" cy="182880"/>
          </a:xfrm>
          <a:prstGeom prst="rect">
            <a:avLst/>
          </a:prstGeom>
          <a:noFill/>
        </p:spPr>
        <p:txBody>
          <a:bodyPr wrap="none" lIns="0" tIns="0" rIns="0" bIns="0" anchor="ctr">
            <a:spAutoFit/>
          </a:bodyPr>
          <a:lstStyle/>
          <a:p>
            <a:pPr algn="l"/>
            <a:r>
              <a:rPr sz="800" b="0">
                <a:solidFill>
                  <a:srgbClr val="E7E5E4"/>
                </a:solidFill>
                <a:latin typeface="Consolas"/>
              </a:rPr>
              <a:t>    {"name": "sensor_id", "type": "string"},</a:t>
            </a:r>
          </a:p>
        </p:txBody>
      </p:sp>
      <p:sp>
        <p:nvSpPr>
          <p:cNvPr id="20" name="a1wd420_code19"/>
          <p:cNvSpPr txBox="1"/>
          <p:nvPr/>
        </p:nvSpPr>
        <p:spPr>
          <a:xfrm>
            <a:off x="585216" y="2779776"/>
            <a:ext cx="3904487" cy="182880"/>
          </a:xfrm>
          <a:prstGeom prst="rect">
            <a:avLst/>
          </a:prstGeom>
          <a:noFill/>
        </p:spPr>
        <p:txBody>
          <a:bodyPr wrap="none" lIns="0" tIns="0" rIns="0" bIns="0" anchor="ctr">
            <a:spAutoFit/>
          </a:bodyPr>
          <a:lstStyle/>
          <a:p>
            <a:pPr algn="l"/>
            <a:r>
              <a:rPr sz="800" b="0">
                <a:solidFill>
                  <a:srgbClr val="E7E5E4"/>
                </a:solidFill>
                <a:latin typeface="Consolas"/>
              </a:rPr>
              <a:t>    {"name": "temp_c",    "type": "double"},</a:t>
            </a:r>
          </a:p>
        </p:txBody>
      </p:sp>
      <p:sp>
        <p:nvSpPr>
          <p:cNvPr id="21" name="a1wd490_code20"/>
          <p:cNvSpPr txBox="1"/>
          <p:nvPr/>
        </p:nvSpPr>
        <p:spPr>
          <a:xfrm>
            <a:off x="585216" y="2962656"/>
            <a:ext cx="3904487" cy="182880"/>
          </a:xfrm>
          <a:prstGeom prst="rect">
            <a:avLst/>
          </a:prstGeom>
          <a:noFill/>
        </p:spPr>
        <p:txBody>
          <a:bodyPr wrap="none" lIns="0" tIns="0" rIns="0" bIns="0" anchor="ctr">
            <a:spAutoFit/>
          </a:bodyPr>
          <a:lstStyle/>
          <a:p>
            <a:pPr algn="l"/>
            <a:r>
              <a:rPr sz="800" b="1">
                <a:solidFill>
                  <a:srgbClr val="FDBA74"/>
                </a:solidFill>
                <a:latin typeface="Consolas"/>
              </a:rPr>
              <a:t>    {"name": "humidity",  "type": ["null", "double"],</a:t>
            </a:r>
          </a:p>
        </p:txBody>
      </p:sp>
      <p:sp>
        <p:nvSpPr>
          <p:cNvPr id="22" name="a1wd560_code21"/>
          <p:cNvSpPr txBox="1"/>
          <p:nvPr/>
        </p:nvSpPr>
        <p:spPr>
          <a:xfrm>
            <a:off x="585216" y="3145536"/>
            <a:ext cx="3904487" cy="182880"/>
          </a:xfrm>
          <a:prstGeom prst="rect">
            <a:avLst/>
          </a:prstGeom>
          <a:noFill/>
        </p:spPr>
        <p:txBody>
          <a:bodyPr wrap="none" lIns="0" tIns="0" rIns="0" bIns="0" anchor="ctr">
            <a:spAutoFit/>
          </a:bodyPr>
          <a:lstStyle/>
          <a:p>
            <a:pPr algn="l"/>
            <a:r>
              <a:rPr sz="800" b="1">
                <a:solidFill>
                  <a:srgbClr val="FDBA74"/>
                </a:solidFill>
                <a:latin typeface="Consolas"/>
              </a:rPr>
              <a:t>     "default": null}</a:t>
            </a:r>
          </a:p>
        </p:txBody>
      </p:sp>
      <p:sp>
        <p:nvSpPr>
          <p:cNvPr id="23" name="a1wd630_code22"/>
          <p:cNvSpPr txBox="1"/>
          <p:nvPr/>
        </p:nvSpPr>
        <p:spPr>
          <a:xfrm>
            <a:off x="585216" y="3328415"/>
            <a:ext cx="3904487" cy="182880"/>
          </a:xfrm>
          <a:prstGeom prst="rect">
            <a:avLst/>
          </a:prstGeom>
          <a:noFill/>
        </p:spPr>
        <p:txBody>
          <a:bodyPr wrap="none" lIns="0" tIns="0" rIns="0" bIns="0" anchor="ctr">
            <a:spAutoFit/>
          </a:bodyPr>
          <a:lstStyle/>
          <a:p>
            <a:pPr algn="l"/>
            <a:r>
              <a:rPr sz="800" b="0">
                <a:solidFill>
                  <a:srgbClr val="E7E5E4"/>
                </a:solidFill>
                <a:latin typeface="Consolas"/>
              </a:rPr>
              <a:t>  ]</a:t>
            </a:r>
          </a:p>
        </p:txBody>
      </p:sp>
      <p:sp>
        <p:nvSpPr>
          <p:cNvPr id="24" name="a1wd700_code23"/>
          <p:cNvSpPr txBox="1"/>
          <p:nvPr/>
        </p:nvSpPr>
        <p:spPr>
          <a:xfrm>
            <a:off x="585216" y="3511296"/>
            <a:ext cx="3904487" cy="182880"/>
          </a:xfrm>
          <a:prstGeom prst="rect">
            <a:avLst/>
          </a:prstGeom>
          <a:noFill/>
        </p:spPr>
        <p:txBody>
          <a:bodyPr wrap="none" lIns="0" tIns="0" rIns="0" bIns="0" anchor="ctr">
            <a:spAutoFit/>
          </a:bodyPr>
          <a:lstStyle/>
          <a:p>
            <a:pPr algn="l"/>
            <a:r>
              <a:rPr sz="800" b="0">
                <a:solidFill>
                  <a:srgbClr val="E7E5E4"/>
                </a:solidFill>
                <a:latin typeface="Consolas"/>
              </a:rPr>
              <a:t>}</a:t>
            </a:r>
          </a:p>
        </p:txBody>
      </p:sp>
      <p:sp>
        <p:nvSpPr>
          <p:cNvPr id="25" name="a2u_nd24"/>
          <p:cNvSpPr/>
          <p:nvPr/>
        </p:nvSpPr>
        <p:spPr>
          <a:xfrm>
            <a:off x="4937760" y="1325880"/>
            <a:ext cx="3749039" cy="566928"/>
          </a:xfrm>
          <a:prstGeom prst="roundRect">
            <a:avLst>
              <a:gd name="adj" fmla="val 12903"/>
            </a:avLst>
          </a:prstGeom>
          <a:solidFill>
            <a:srgbClr val="F7F6F3"/>
          </a:solidFill>
          <a:ln w="15875">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dt25"/>
          <p:cNvSpPr txBox="1"/>
          <p:nvPr/>
        </p:nvSpPr>
        <p:spPr>
          <a:xfrm>
            <a:off x="4983480" y="1362456"/>
            <a:ext cx="3657599" cy="265176"/>
          </a:xfrm>
          <a:prstGeom prst="rect">
            <a:avLst/>
          </a:prstGeom>
          <a:noFill/>
        </p:spPr>
        <p:txBody>
          <a:bodyPr wrap="square" lIns="0" tIns="0" rIns="0" bIns="0" anchor="b">
            <a:spAutoFit/>
          </a:bodyPr>
          <a:lstStyle/>
          <a:p>
            <a:pPr algn="ctr"/>
            <a:r>
              <a:rPr sz="950" b="1">
                <a:solidFill>
                  <a:srgbClr val="1C1917"/>
                </a:solidFill>
                <a:latin typeface="Segoe UI"/>
              </a:rPr>
              <a:t>reading.avsc</a:t>
            </a:r>
          </a:p>
        </p:txBody>
      </p:sp>
      <p:sp>
        <p:nvSpPr>
          <p:cNvPr id="27" name="a2u_nds26"/>
          <p:cNvSpPr txBox="1"/>
          <p:nvPr/>
        </p:nvSpPr>
        <p:spPr>
          <a:xfrm>
            <a:off x="4983480" y="1636776"/>
            <a:ext cx="3657599" cy="219456"/>
          </a:xfrm>
          <a:prstGeom prst="rect">
            <a:avLst/>
          </a:prstGeom>
          <a:noFill/>
        </p:spPr>
        <p:txBody>
          <a:bodyPr wrap="square" lIns="0" tIns="0" rIns="0" bIns="0" anchor="t">
            <a:spAutoFit/>
          </a:bodyPr>
          <a:lstStyle/>
          <a:p>
            <a:pPr algn="ctr"/>
            <a:r>
              <a:rPr sz="800" b="0">
                <a:solidFill>
                  <a:srgbClr val="EA580C"/>
                </a:solidFill>
                <a:latin typeface="Segoe UI"/>
              </a:rPr>
              <a:t>the source of truth, in version control</a:t>
            </a:r>
          </a:p>
        </p:txBody>
      </p:sp>
      <p:sp>
        <p:nvSpPr>
          <p:cNvPr id="28" name="a3u_nd27"/>
          <p:cNvSpPr/>
          <p:nvPr/>
        </p:nvSpPr>
        <p:spPr>
          <a:xfrm>
            <a:off x="4937760" y="2112264"/>
            <a:ext cx="3749039" cy="566928"/>
          </a:xfrm>
          <a:prstGeom prst="roundRect">
            <a:avLst>
              <a:gd name="adj" fmla="val 12903"/>
            </a:avLst>
          </a:prstGeom>
          <a:solidFill>
            <a:srgbClr val="F7F6F3"/>
          </a:solidFill>
          <a:ln w="15875">
            <a:solidFill>
              <a:srgbClr val="7871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3u_ndt28"/>
          <p:cNvSpPr txBox="1"/>
          <p:nvPr/>
        </p:nvSpPr>
        <p:spPr>
          <a:xfrm>
            <a:off x="4983480" y="2148840"/>
            <a:ext cx="3657599" cy="265176"/>
          </a:xfrm>
          <a:prstGeom prst="rect">
            <a:avLst/>
          </a:prstGeom>
          <a:noFill/>
        </p:spPr>
        <p:txBody>
          <a:bodyPr wrap="square" lIns="0" tIns="0" rIns="0" bIns="0" anchor="b">
            <a:spAutoFit/>
          </a:bodyPr>
          <a:lstStyle/>
          <a:p>
            <a:pPr algn="ctr"/>
            <a:r>
              <a:rPr sz="950" b="1">
                <a:solidFill>
                  <a:srgbClr val="1C1917"/>
                </a:solidFill>
                <a:latin typeface="Segoe UI"/>
              </a:rPr>
              <a:t>Maven or Gradle plugin</a:t>
            </a:r>
          </a:p>
        </p:txBody>
      </p:sp>
      <p:sp>
        <p:nvSpPr>
          <p:cNvPr id="30" name="a3u_nds29"/>
          <p:cNvSpPr txBox="1"/>
          <p:nvPr/>
        </p:nvSpPr>
        <p:spPr>
          <a:xfrm>
            <a:off x="4983480" y="2423160"/>
            <a:ext cx="3657599" cy="219456"/>
          </a:xfrm>
          <a:prstGeom prst="rect">
            <a:avLst/>
          </a:prstGeom>
          <a:noFill/>
        </p:spPr>
        <p:txBody>
          <a:bodyPr wrap="square" lIns="0" tIns="0" rIns="0" bIns="0" anchor="t">
            <a:spAutoFit/>
          </a:bodyPr>
          <a:lstStyle/>
          <a:p>
            <a:pPr algn="ctr"/>
            <a:r>
              <a:rPr sz="800" b="0">
                <a:solidFill>
                  <a:srgbClr val="78716C"/>
                </a:solidFill>
                <a:latin typeface="Segoe UI"/>
              </a:rPr>
              <a:t>runs as part of the build</a:t>
            </a:r>
          </a:p>
        </p:txBody>
      </p:sp>
      <p:cxnSp>
        <p:nvCxnSpPr>
          <p:cNvPr id="31" name="a3u_ar30"/>
          <p:cNvCxnSpPr/>
          <p:nvPr/>
        </p:nvCxnSpPr>
        <p:spPr>
          <a:xfrm>
            <a:off x="6812280" y="1901952"/>
            <a:ext cx="0" cy="192024"/>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a4u_nd31"/>
          <p:cNvSpPr/>
          <p:nvPr/>
        </p:nvSpPr>
        <p:spPr>
          <a:xfrm>
            <a:off x="4937760" y="2898648"/>
            <a:ext cx="3749039" cy="566928"/>
          </a:xfrm>
          <a:prstGeom prst="roundRect">
            <a:avLst>
              <a:gd name="adj" fmla="val 12903"/>
            </a:avLst>
          </a:prstGeom>
          <a:solidFill>
            <a:srgbClr val="F7F6F3"/>
          </a:solidFill>
          <a:ln w="15875">
            <a:solidFill>
              <a:srgbClr val="0E749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4u_ndt32"/>
          <p:cNvSpPr txBox="1"/>
          <p:nvPr/>
        </p:nvSpPr>
        <p:spPr>
          <a:xfrm>
            <a:off x="4983480" y="2935224"/>
            <a:ext cx="3657599" cy="265176"/>
          </a:xfrm>
          <a:prstGeom prst="rect">
            <a:avLst/>
          </a:prstGeom>
          <a:noFill/>
        </p:spPr>
        <p:txBody>
          <a:bodyPr wrap="square" lIns="0" tIns="0" rIns="0" bIns="0" anchor="b">
            <a:spAutoFit/>
          </a:bodyPr>
          <a:lstStyle/>
          <a:p>
            <a:pPr algn="ctr"/>
            <a:r>
              <a:rPr sz="950" b="1">
                <a:solidFill>
                  <a:srgbClr val="1C1917"/>
                </a:solidFill>
                <a:latin typeface="Segoe UI"/>
              </a:rPr>
              <a:t>Reading.java</a:t>
            </a:r>
          </a:p>
        </p:txBody>
      </p:sp>
      <p:sp>
        <p:nvSpPr>
          <p:cNvPr id="34" name="a4u_nds33"/>
          <p:cNvSpPr txBox="1"/>
          <p:nvPr/>
        </p:nvSpPr>
        <p:spPr>
          <a:xfrm>
            <a:off x="4983480" y="3209544"/>
            <a:ext cx="3657599" cy="219456"/>
          </a:xfrm>
          <a:prstGeom prst="rect">
            <a:avLst/>
          </a:prstGeom>
          <a:noFill/>
        </p:spPr>
        <p:txBody>
          <a:bodyPr wrap="square" lIns="0" tIns="0" rIns="0" bIns="0" anchor="t">
            <a:spAutoFit/>
          </a:bodyPr>
          <a:lstStyle/>
          <a:p>
            <a:pPr algn="ctr"/>
            <a:r>
              <a:rPr sz="800" b="0">
                <a:solidFill>
                  <a:srgbClr val="0E7490"/>
                </a:solidFill>
                <a:latin typeface="Segoe UI"/>
              </a:rPr>
              <a:t>generated: getSensorId(), getTempC() ...</a:t>
            </a:r>
          </a:p>
        </p:txBody>
      </p:sp>
      <p:cxnSp>
        <p:nvCxnSpPr>
          <p:cNvPr id="35" name="a4u_ar34"/>
          <p:cNvCxnSpPr/>
          <p:nvPr/>
        </p:nvCxnSpPr>
        <p:spPr>
          <a:xfrm>
            <a:off x="6812280" y="2688336"/>
            <a:ext cx="0" cy="192024"/>
          </a:xfrm>
          <a:prstGeom prst="line">
            <a:avLst/>
          </a:prstGeom>
          <a:ln w="19050">
            <a:solidFill>
              <a:srgbClr val="78716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a4ud200_lb35"/>
          <p:cNvSpPr txBox="1"/>
          <p:nvPr/>
        </p:nvSpPr>
        <p:spPr>
          <a:xfrm>
            <a:off x="4937760" y="3566160"/>
            <a:ext cx="3749039" cy="201168"/>
          </a:xfrm>
          <a:prstGeom prst="rect">
            <a:avLst/>
          </a:prstGeom>
          <a:noFill/>
        </p:spPr>
        <p:txBody>
          <a:bodyPr wrap="square" lIns="0" tIns="0" rIns="0" bIns="0" anchor="ctr">
            <a:spAutoFit/>
          </a:bodyPr>
          <a:lstStyle/>
          <a:p>
            <a:pPr algn="ctr"/>
            <a:r>
              <a:rPr sz="850" b="1">
                <a:solidFill>
                  <a:srgbClr val="0E7490"/>
                </a:solidFill>
                <a:latin typeface="Segoe UI"/>
              </a:rPr>
              <a:t>no hand-written class to drift out of date</a:t>
            </a:r>
          </a:p>
        </p:txBody>
      </p:sp>
      <p:sp>
        <p:nvSpPr>
          <p:cNvPr id="37" name="a5u_nb36"/>
          <p:cNvSpPr/>
          <p:nvPr/>
        </p:nvSpPr>
        <p:spPr>
          <a:xfrm>
            <a:off x="457200" y="3977639"/>
            <a:ext cx="8229600" cy="512064"/>
          </a:xfrm>
          <a:prstGeom prst="roundRect">
            <a:avLst>
              <a:gd name="adj" fmla="val 14285"/>
            </a:avLst>
          </a:prstGeom>
          <a:solidFill>
            <a:srgbClr val="FEF9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a5u_nacc37"/>
          <p:cNvSpPr/>
          <p:nvPr/>
        </p:nvSpPr>
        <p:spPr>
          <a:xfrm>
            <a:off x="457200" y="3977639"/>
            <a:ext cx="54864" cy="512064"/>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a5u_nt38"/>
          <p:cNvSpPr txBox="1"/>
          <p:nvPr/>
        </p:nvSpPr>
        <p:spPr>
          <a:xfrm>
            <a:off x="658368" y="3977639"/>
            <a:ext cx="7827264" cy="512064"/>
          </a:xfrm>
          <a:prstGeom prst="rect">
            <a:avLst/>
          </a:prstGeom>
          <a:noFill/>
        </p:spPr>
        <p:txBody>
          <a:bodyPr wrap="square" lIns="0" tIns="0" rIns="0" bIns="0" anchor="ctr">
            <a:spAutoFit/>
          </a:bodyPr>
          <a:lstStyle/>
          <a:p>
            <a:pPr algn="l"/>
            <a:r>
              <a:rPr sz="950" b="1">
                <a:solidFill>
                  <a:srgbClr val="A16207"/>
                </a:solidFill>
                <a:latin typeface="Segoe UI"/>
              </a:rPr>
              <a:t>KEY  </a:t>
            </a:r>
            <a:r>
              <a:rPr sz="950" b="0">
                <a:solidFill>
                  <a:srgbClr val="44403C"/>
                </a:solidFill>
                <a:latin typeface="Segoe UI"/>
              </a:rPr>
              <a:t>humidity was added with a default - so v1 and v2 stay compatible in both directions.</a:t>
            </a:r>
          </a:p>
        </p:txBody>
      </p:sp>
      <p:sp>
        <p:nvSpPr>
          <p:cNvPr id="40" name="ft39"/>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10</a:t>
            </a:r>
          </a:p>
        </p:txBody>
      </p:sp>
      <p:sp>
        <p:nvSpPr>
          <p:cNvPr id="41" name="ft40"/>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ft41"/>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43" name="ft42"/>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500"/>
                                        <p:tgtEl>
                                          <p:spTgt spid="11"/>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500"/>
                                        <p:tgtEl>
                                          <p:spTgt spid="12"/>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9" presetID="22" presetClass="entr" presetSubtype="8" fill="hold" grpId="0" nodeType="withEffect">
                                  <p:stCondLst>
                                    <p:cond delay="7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22" presetID="22" presetClass="entr" presetSubtype="8" fill="hold" grpId="0" nodeType="withEffect">
                                  <p:stCondLst>
                                    <p:cond delay="14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par>
                                <p:cTn id="25" presetID="22" presetClass="entr" presetSubtype="8" fill="hold" grpId="0" nodeType="withEffect">
                                  <p:stCondLst>
                                    <p:cond delay="21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par>
                                <p:cTn id="28" presetID="22" presetClass="entr" presetSubtype="8" fill="hold" grpId="0" nodeType="withEffect">
                                  <p:stCondLst>
                                    <p:cond delay="28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31" presetID="22" presetClass="entr" presetSubtype="8" fill="hold" grpId="0" nodeType="withEffect">
                                  <p:stCondLst>
                                    <p:cond delay="35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par>
                                <p:cTn id="34" presetID="22" presetClass="entr" presetSubtype="8" fill="hold" grpId="0" nodeType="withEffect">
                                  <p:stCondLst>
                                    <p:cond delay="42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7" presetID="22" presetClass="entr" presetSubtype="8" fill="hold" grpId="0" nodeType="withEffect">
                                  <p:stCondLst>
                                    <p:cond delay="49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500"/>
                                        <p:tgtEl>
                                          <p:spTgt spid="21"/>
                                        </p:tgtEl>
                                      </p:cBhvr>
                                    </p:animEffect>
                                  </p:childTnLst>
                                </p:cTn>
                              </p:par>
                              <p:par>
                                <p:cTn id="40" presetID="22" presetClass="entr" presetSubtype="8" fill="hold" grpId="0" nodeType="withEffect">
                                  <p:stCondLst>
                                    <p:cond delay="56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par>
                                <p:cTn id="43" presetID="22" presetClass="entr" presetSubtype="8" fill="hold" grpId="0" nodeType="withEffect">
                                  <p:stCondLst>
                                    <p:cond delay="63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500"/>
                                        <p:tgtEl>
                                          <p:spTgt spid="23"/>
                                        </p:tgtEl>
                                      </p:cBhvr>
                                    </p:animEffect>
                                  </p:childTnLst>
                                </p:cTn>
                              </p:par>
                              <p:par>
                                <p:cTn id="46" presetID="22" presetClass="entr" presetSubtype="8" fill="hold" grpId="0" nodeType="withEffect">
                                  <p:stCondLst>
                                    <p:cond delay="70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 calcmode="lin" valueType="num">
                                      <p:cBhvr additive="base">
                                        <p:cTn id="50" dur="500" fill="hold"/>
                                        <p:tgtEl>
                                          <p:spTgt spid="25"/>
                                        </p:tgtEl>
                                        <p:attrNameLst>
                                          <p:attrName>ppt_x</p:attrName>
                                        </p:attrNameLst>
                                      </p:cBhvr>
                                      <p:tavLst>
                                        <p:tav tm="0">
                                          <p:val>
                                            <p:strVal val="#ppt_x"/>
                                          </p:val>
                                        </p:tav>
                                        <p:tav tm="100000">
                                          <p:val>
                                            <p:strVal val="#ppt_x"/>
                                          </p:val>
                                        </p:tav>
                                      </p:tavLst>
                                    </p:anim>
                                    <p:anim calcmode="lin" valueType="num">
                                      <p:cBhvr additive="base">
                                        <p:cTn id="51" dur="500" fill="hold"/>
                                        <p:tgtEl>
                                          <p:spTgt spid="25"/>
                                        </p:tgtEl>
                                        <p:attrNameLst>
                                          <p:attrName>ppt_y</p:attrName>
                                        </p:attrNameLst>
                                      </p:cBhvr>
                                      <p:tavLst>
                                        <p:tav tm="0">
                                          <p:val>
                                            <p:strVal val="#ppt_y+0.1"/>
                                          </p:val>
                                        </p:tav>
                                        <p:tav tm="100000">
                                          <p:val>
                                            <p:strVal val="#ppt_y"/>
                                          </p:val>
                                        </p:tav>
                                      </p:tavLst>
                                    </p:anim>
                                    <p:animEffect transition="in" filter="fade">
                                      <p:cBhvr>
                                        <p:cTn id="52" dur="500"/>
                                        <p:tgtEl>
                                          <p:spTgt spid="25"/>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ppt_y+0.1"/>
                                          </p:val>
                                        </p:tav>
                                        <p:tav tm="100000">
                                          <p:val>
                                            <p:strVal val="#ppt_y"/>
                                          </p:val>
                                        </p:tav>
                                      </p:tavLst>
                                    </p:anim>
                                    <p:animEffect transition="in" filter="fade">
                                      <p:cBhvr>
                                        <p:cTn id="57" dur="500"/>
                                        <p:tgtEl>
                                          <p:spTgt spid="26"/>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 calcmode="lin" valueType="num">
                                      <p:cBhvr additive="base">
                                        <p:cTn id="60" dur="500" fill="hold"/>
                                        <p:tgtEl>
                                          <p:spTgt spid="27"/>
                                        </p:tgtEl>
                                        <p:attrNameLst>
                                          <p:attrName>ppt_x</p:attrName>
                                        </p:attrNameLst>
                                      </p:cBhvr>
                                      <p:tavLst>
                                        <p:tav tm="0">
                                          <p:val>
                                            <p:strVal val="#ppt_x"/>
                                          </p:val>
                                        </p:tav>
                                        <p:tav tm="100000">
                                          <p:val>
                                            <p:strVal val="#ppt_x"/>
                                          </p:val>
                                        </p:tav>
                                      </p:tavLst>
                                    </p:anim>
                                    <p:anim calcmode="lin" valueType="num">
                                      <p:cBhvr additive="base">
                                        <p:cTn id="61" dur="500" fill="hold"/>
                                        <p:tgtEl>
                                          <p:spTgt spid="27"/>
                                        </p:tgtEl>
                                        <p:attrNameLst>
                                          <p:attrName>ppt_y</p:attrName>
                                        </p:attrNameLst>
                                      </p:cBhvr>
                                      <p:tavLst>
                                        <p:tav tm="0">
                                          <p:val>
                                            <p:strVal val="#ppt_y+0.1"/>
                                          </p:val>
                                        </p:tav>
                                        <p:tav tm="100000">
                                          <p:val>
                                            <p:strVal val="#ppt_y"/>
                                          </p:val>
                                        </p:tav>
                                      </p:tavLst>
                                    </p:anim>
                                    <p:animEffect transition="in" filter="fade">
                                      <p:cBhvr>
                                        <p:cTn id="62" dur="500"/>
                                        <p:tgtEl>
                                          <p:spTgt spid="27"/>
                                        </p:tgtEl>
                                      </p:cBhvr>
                                    </p:animEffect>
                                  </p:childTnLst>
                                </p:cTn>
                              </p:par>
                            </p:childTnLst>
                          </p:cTn>
                        </p:par>
                      </p:childTnLst>
                    </p:cTn>
                  </p:par>
                  <p:par>
                    <p:cTn id="64" fill="hold">
                      <p:stCondLst>
                        <p:cond delay="indefinite"/>
                      </p:stCondLst>
                      <p:childTnLst>
                        <p:par>
                          <p:cTn id="65" fill="hold">
                            <p:stCondLst>
                              <p:cond delay="0"/>
                            </p:stCondLst>
                            <p:childTnLst>
                              <p:par>
                                <p:cTn id="70" presetID="2" presetClass="entr" presetSubtype="4"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ppt_x"/>
                                          </p:val>
                                        </p:tav>
                                        <p:tav tm="100000">
                                          <p:val>
                                            <p:strVal val="#ppt_x"/>
                                          </p:val>
                                        </p:tav>
                                      </p:tavLst>
                                    </p:anim>
                                    <p:anim calcmode="lin" valueType="num">
                                      <p:cBhvr additive="base">
                                        <p:cTn id="68" dur="500" fill="hold"/>
                                        <p:tgtEl>
                                          <p:spTgt spid="28"/>
                                        </p:tgtEl>
                                        <p:attrNameLst>
                                          <p:attrName>ppt_y</p:attrName>
                                        </p:attrNameLst>
                                      </p:cBhvr>
                                      <p:tavLst>
                                        <p:tav tm="0">
                                          <p:val>
                                            <p:strVal val="#ppt_y+0.1"/>
                                          </p:val>
                                        </p:tav>
                                        <p:tav tm="100000">
                                          <p:val>
                                            <p:strVal val="#ppt_y"/>
                                          </p:val>
                                        </p:tav>
                                      </p:tavLst>
                                    </p:anim>
                                    <p:animEffect transition="in" filter="fade">
                                      <p:cBhvr>
                                        <p:cTn id="69" dur="500"/>
                                        <p:tgtEl>
                                          <p:spTgt spid="28"/>
                                        </p:tgtEl>
                                      </p:cBhvr>
                                    </p:animEffect>
                                  </p:childTnLst>
                                </p:cTn>
                              </p:par>
                              <p:par>
                                <p:cTn id="75" presetID="2" presetClass="entr" presetSubtype="4" fill="hold" grpId="0"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ppt_y+0.1"/>
                                          </p:val>
                                        </p:tav>
                                        <p:tav tm="100000">
                                          <p:val>
                                            <p:strVal val="#ppt_y"/>
                                          </p:val>
                                        </p:tav>
                                      </p:tavLst>
                                    </p:anim>
                                    <p:animEffect transition="in" filter="fade">
                                      <p:cBhvr>
                                        <p:cTn id="74" dur="500"/>
                                        <p:tgtEl>
                                          <p:spTgt spid="29"/>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 calcmode="lin" valueType="num">
                                      <p:cBhvr additive="base">
                                        <p:cTn id="77" dur="500" fill="hold"/>
                                        <p:tgtEl>
                                          <p:spTgt spid="30"/>
                                        </p:tgtEl>
                                        <p:attrNameLst>
                                          <p:attrName>ppt_x</p:attrName>
                                        </p:attrNameLst>
                                      </p:cBhvr>
                                      <p:tavLst>
                                        <p:tav tm="0">
                                          <p:val>
                                            <p:strVal val="#ppt_x"/>
                                          </p:val>
                                        </p:tav>
                                        <p:tav tm="100000">
                                          <p:val>
                                            <p:strVal val="#ppt_x"/>
                                          </p:val>
                                        </p:tav>
                                      </p:tavLst>
                                    </p:anim>
                                    <p:anim calcmode="lin" valueType="num">
                                      <p:cBhvr additive="base">
                                        <p:cTn id="78" dur="500" fill="hold"/>
                                        <p:tgtEl>
                                          <p:spTgt spid="30"/>
                                        </p:tgtEl>
                                        <p:attrNameLst>
                                          <p:attrName>ppt_y</p:attrName>
                                        </p:attrNameLst>
                                      </p:cBhvr>
                                      <p:tavLst>
                                        <p:tav tm="0">
                                          <p:val>
                                            <p:strVal val="#ppt_y+0.1"/>
                                          </p:val>
                                        </p:tav>
                                        <p:tav tm="100000">
                                          <p:val>
                                            <p:strVal val="#ppt_y"/>
                                          </p:val>
                                        </p:tav>
                                      </p:tavLst>
                                    </p:anim>
                                    <p:animEffect transition="in" filter="fade">
                                      <p:cBhvr>
                                        <p:cTn id="79" dur="500"/>
                                        <p:tgtEl>
                                          <p:spTgt spid="30"/>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 calcmode="lin" valueType="num">
                                      <p:cBhvr additive="base">
                                        <p:cTn id="82" dur="500" fill="hold"/>
                                        <p:tgtEl>
                                          <p:spTgt spid="31"/>
                                        </p:tgtEl>
                                        <p:attrNameLst>
                                          <p:attrName>ppt_x</p:attrName>
                                        </p:attrNameLst>
                                      </p:cBhvr>
                                      <p:tavLst>
                                        <p:tav tm="0">
                                          <p:val>
                                            <p:strVal val="#ppt_x"/>
                                          </p:val>
                                        </p:tav>
                                        <p:tav tm="100000">
                                          <p:val>
                                            <p:strVal val="#ppt_x"/>
                                          </p:val>
                                        </p:tav>
                                      </p:tavLst>
                                    </p:anim>
                                    <p:anim calcmode="lin" valueType="num">
                                      <p:cBhvr additive="base">
                                        <p:cTn id="83" dur="500" fill="hold"/>
                                        <p:tgtEl>
                                          <p:spTgt spid="31"/>
                                        </p:tgtEl>
                                        <p:attrNameLst>
                                          <p:attrName>ppt_y</p:attrName>
                                        </p:attrNameLst>
                                      </p:cBhvr>
                                      <p:tavLst>
                                        <p:tav tm="0">
                                          <p:val>
                                            <p:strVal val="#ppt_y+0.1"/>
                                          </p:val>
                                        </p:tav>
                                        <p:tav tm="100000">
                                          <p:val>
                                            <p:strVal val="#ppt_y"/>
                                          </p:val>
                                        </p:tav>
                                      </p:tavLst>
                                    </p:anim>
                                    <p:animEffect transition="in" filter="fade">
                                      <p:cBhvr>
                                        <p:cTn id="84" dur="500"/>
                                        <p:tgtEl>
                                          <p:spTgt spid="31"/>
                                        </p:tgtEl>
                                      </p:cBhvr>
                                    </p:animEffect>
                                  </p:childTnLst>
                                </p:cTn>
                              </p:par>
                            </p:childTnLst>
                          </p:cTn>
                        </p:par>
                      </p:childTnLst>
                    </p:cTn>
                  </p:par>
                  <p:par>
                    <p:cTn id="86" fill="hold">
                      <p:stCondLst>
                        <p:cond delay="indefinite"/>
                      </p:stCondLst>
                      <p:childTnLst>
                        <p:par>
                          <p:cTn id="87" fill="hold">
                            <p:stCondLst>
                              <p:cond delay="0"/>
                            </p:stCondLst>
                            <p:childTnLst>
                              <p:par>
                                <p:cTn id="92" presetID="2" presetClass="entr" presetSubtype="4" fill="hold" grpId="0" nodeType="clickEffect">
                                  <p:stCondLst>
                                    <p:cond delay="0"/>
                                  </p:stCondLst>
                                  <p:childTnLst>
                                    <p:set>
                                      <p:cBhvr>
                                        <p:cTn id="88" dur="1" fill="hold">
                                          <p:stCondLst>
                                            <p:cond delay="0"/>
                                          </p:stCondLst>
                                        </p:cTn>
                                        <p:tgtEl>
                                          <p:spTgt spid="32"/>
                                        </p:tgtEl>
                                        <p:attrNameLst>
                                          <p:attrName>style.visibility</p:attrName>
                                        </p:attrNameLst>
                                      </p:cBhvr>
                                      <p:to>
                                        <p:strVal val="visible"/>
                                      </p:to>
                                    </p:set>
                                    <p:anim calcmode="lin" valueType="num">
                                      <p:cBhvr additive="base">
                                        <p:cTn id="89" dur="500" fill="hold"/>
                                        <p:tgtEl>
                                          <p:spTgt spid="32"/>
                                        </p:tgtEl>
                                        <p:attrNameLst>
                                          <p:attrName>ppt_x</p:attrName>
                                        </p:attrNameLst>
                                      </p:cBhvr>
                                      <p:tavLst>
                                        <p:tav tm="0">
                                          <p:val>
                                            <p:strVal val="#ppt_x"/>
                                          </p:val>
                                        </p:tav>
                                        <p:tav tm="100000">
                                          <p:val>
                                            <p:strVal val="#ppt_x"/>
                                          </p:val>
                                        </p:tav>
                                      </p:tavLst>
                                    </p:anim>
                                    <p:anim calcmode="lin" valueType="num">
                                      <p:cBhvr additive="base">
                                        <p:cTn id="90" dur="500" fill="hold"/>
                                        <p:tgtEl>
                                          <p:spTgt spid="32"/>
                                        </p:tgtEl>
                                        <p:attrNameLst>
                                          <p:attrName>ppt_y</p:attrName>
                                        </p:attrNameLst>
                                      </p:cBhvr>
                                      <p:tavLst>
                                        <p:tav tm="0">
                                          <p:val>
                                            <p:strVal val="#ppt_y+0.1"/>
                                          </p:val>
                                        </p:tav>
                                        <p:tav tm="100000">
                                          <p:val>
                                            <p:strVal val="#ppt_y"/>
                                          </p:val>
                                        </p:tav>
                                      </p:tavLst>
                                    </p:anim>
                                    <p:animEffect transition="in" filter="fade">
                                      <p:cBhvr>
                                        <p:cTn id="91" dur="500"/>
                                        <p:tgtEl>
                                          <p:spTgt spid="32"/>
                                        </p:tgtEl>
                                      </p:cBhvr>
                                    </p:animEffect>
                                  </p:childTnLst>
                                </p:cTn>
                              </p:par>
                              <p:par>
                                <p:cTn id="97" presetID="2" presetClass="entr" presetSubtype="4"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 calcmode="lin" valueType="num">
                                      <p:cBhvr additive="base">
                                        <p:cTn id="94" dur="500" fill="hold"/>
                                        <p:tgtEl>
                                          <p:spTgt spid="33"/>
                                        </p:tgtEl>
                                        <p:attrNameLst>
                                          <p:attrName>ppt_x</p:attrName>
                                        </p:attrNameLst>
                                      </p:cBhvr>
                                      <p:tavLst>
                                        <p:tav tm="0">
                                          <p:val>
                                            <p:strVal val="#ppt_x"/>
                                          </p:val>
                                        </p:tav>
                                        <p:tav tm="100000">
                                          <p:val>
                                            <p:strVal val="#ppt_x"/>
                                          </p:val>
                                        </p:tav>
                                      </p:tavLst>
                                    </p:anim>
                                    <p:anim calcmode="lin" valueType="num">
                                      <p:cBhvr additive="base">
                                        <p:cTn id="95" dur="500" fill="hold"/>
                                        <p:tgtEl>
                                          <p:spTgt spid="33"/>
                                        </p:tgtEl>
                                        <p:attrNameLst>
                                          <p:attrName>ppt_y</p:attrName>
                                        </p:attrNameLst>
                                      </p:cBhvr>
                                      <p:tavLst>
                                        <p:tav tm="0">
                                          <p:val>
                                            <p:strVal val="#ppt_y+0.1"/>
                                          </p:val>
                                        </p:tav>
                                        <p:tav tm="100000">
                                          <p:val>
                                            <p:strVal val="#ppt_y"/>
                                          </p:val>
                                        </p:tav>
                                      </p:tavLst>
                                    </p:anim>
                                    <p:animEffect transition="in" filter="fade">
                                      <p:cBhvr>
                                        <p:cTn id="96" dur="500"/>
                                        <p:tgtEl>
                                          <p:spTgt spid="33"/>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 calcmode="lin" valueType="num">
                                      <p:cBhvr additive="base">
                                        <p:cTn id="99" dur="500" fill="hold"/>
                                        <p:tgtEl>
                                          <p:spTgt spid="34"/>
                                        </p:tgtEl>
                                        <p:attrNameLst>
                                          <p:attrName>ppt_x</p:attrName>
                                        </p:attrNameLst>
                                      </p:cBhvr>
                                      <p:tavLst>
                                        <p:tav tm="0">
                                          <p:val>
                                            <p:strVal val="#ppt_x"/>
                                          </p:val>
                                        </p:tav>
                                        <p:tav tm="100000">
                                          <p:val>
                                            <p:strVal val="#ppt_x"/>
                                          </p:val>
                                        </p:tav>
                                      </p:tavLst>
                                    </p:anim>
                                    <p:anim calcmode="lin" valueType="num">
                                      <p:cBhvr additive="base">
                                        <p:cTn id="100" dur="500" fill="hold"/>
                                        <p:tgtEl>
                                          <p:spTgt spid="34"/>
                                        </p:tgtEl>
                                        <p:attrNameLst>
                                          <p:attrName>ppt_y</p:attrName>
                                        </p:attrNameLst>
                                      </p:cBhvr>
                                      <p:tavLst>
                                        <p:tav tm="0">
                                          <p:val>
                                            <p:strVal val="#ppt_y+0.1"/>
                                          </p:val>
                                        </p:tav>
                                        <p:tav tm="100000">
                                          <p:val>
                                            <p:strVal val="#ppt_y"/>
                                          </p:val>
                                        </p:tav>
                                      </p:tavLst>
                                    </p:anim>
                                    <p:animEffect transition="in" filter="fade">
                                      <p:cBhvr>
                                        <p:cTn id="101" dur="500"/>
                                        <p:tgtEl>
                                          <p:spTgt spid="34"/>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35"/>
                                        </p:tgtEl>
                                        <p:attrNameLst>
                                          <p:attrName>style.visibility</p:attrName>
                                        </p:attrNameLst>
                                      </p:cBhvr>
                                      <p:to>
                                        <p:strVal val="visible"/>
                                      </p:to>
                                    </p:set>
                                    <p:anim calcmode="lin" valueType="num">
                                      <p:cBhvr additive="base">
                                        <p:cTn id="104" dur="500" fill="hold"/>
                                        <p:tgtEl>
                                          <p:spTgt spid="35"/>
                                        </p:tgtEl>
                                        <p:attrNameLst>
                                          <p:attrName>ppt_x</p:attrName>
                                        </p:attrNameLst>
                                      </p:cBhvr>
                                      <p:tavLst>
                                        <p:tav tm="0">
                                          <p:val>
                                            <p:strVal val="#ppt_x"/>
                                          </p:val>
                                        </p:tav>
                                        <p:tav tm="100000">
                                          <p:val>
                                            <p:strVal val="#ppt_x"/>
                                          </p:val>
                                        </p:tav>
                                      </p:tavLst>
                                    </p:anim>
                                    <p:anim calcmode="lin" valueType="num">
                                      <p:cBhvr additive="base">
                                        <p:cTn id="105" dur="500" fill="hold"/>
                                        <p:tgtEl>
                                          <p:spTgt spid="35"/>
                                        </p:tgtEl>
                                        <p:attrNameLst>
                                          <p:attrName>ppt_y</p:attrName>
                                        </p:attrNameLst>
                                      </p:cBhvr>
                                      <p:tavLst>
                                        <p:tav tm="0">
                                          <p:val>
                                            <p:strVal val="#ppt_y+0.1"/>
                                          </p:val>
                                        </p:tav>
                                        <p:tav tm="100000">
                                          <p:val>
                                            <p:strVal val="#ppt_y"/>
                                          </p:val>
                                        </p:tav>
                                      </p:tavLst>
                                    </p:anim>
                                    <p:animEffect transition="in" filter="fade">
                                      <p:cBhvr>
                                        <p:cTn id="106" dur="500"/>
                                        <p:tgtEl>
                                          <p:spTgt spid="35"/>
                                        </p:tgtEl>
                                      </p:cBhvr>
                                    </p:animEffect>
                                  </p:childTnLst>
                                </p:cTn>
                              </p:par>
                              <p:par>
                                <p:cTn id="112" presetID="2" presetClass="entr" presetSubtype="4" fill="hold" grpId="0" nodeType="withEffect">
                                  <p:stCondLst>
                                    <p:cond delay="200"/>
                                  </p:stCondLst>
                                  <p:childTnLst>
                                    <p:set>
                                      <p:cBhvr>
                                        <p:cTn id="108" dur="1" fill="hold">
                                          <p:stCondLst>
                                            <p:cond delay="0"/>
                                          </p:stCondLst>
                                        </p:cTn>
                                        <p:tgtEl>
                                          <p:spTgt spid="36"/>
                                        </p:tgtEl>
                                        <p:attrNameLst>
                                          <p:attrName>style.visibility</p:attrName>
                                        </p:attrNameLst>
                                      </p:cBhvr>
                                      <p:to>
                                        <p:strVal val="visible"/>
                                      </p:to>
                                    </p:set>
                                    <p:anim calcmode="lin" valueType="num">
                                      <p:cBhvr additive="base">
                                        <p:cTn id="109" dur="500" fill="hold"/>
                                        <p:tgtEl>
                                          <p:spTgt spid="36"/>
                                        </p:tgtEl>
                                        <p:attrNameLst>
                                          <p:attrName>ppt_x</p:attrName>
                                        </p:attrNameLst>
                                      </p:cBhvr>
                                      <p:tavLst>
                                        <p:tav tm="0">
                                          <p:val>
                                            <p:strVal val="#ppt_x"/>
                                          </p:val>
                                        </p:tav>
                                        <p:tav tm="100000">
                                          <p:val>
                                            <p:strVal val="#ppt_x"/>
                                          </p:val>
                                        </p:tav>
                                      </p:tavLst>
                                    </p:anim>
                                    <p:anim calcmode="lin" valueType="num">
                                      <p:cBhvr additive="base">
                                        <p:cTn id="110" dur="500" fill="hold"/>
                                        <p:tgtEl>
                                          <p:spTgt spid="36"/>
                                        </p:tgtEl>
                                        <p:attrNameLst>
                                          <p:attrName>ppt_y</p:attrName>
                                        </p:attrNameLst>
                                      </p:cBhvr>
                                      <p:tavLst>
                                        <p:tav tm="0">
                                          <p:val>
                                            <p:strVal val="#ppt_y+0.1"/>
                                          </p:val>
                                        </p:tav>
                                        <p:tav tm="100000">
                                          <p:val>
                                            <p:strVal val="#ppt_y"/>
                                          </p:val>
                                        </p:tav>
                                      </p:tavLst>
                                    </p:anim>
                                    <p:animEffect transition="in" filter="fade">
                                      <p:cBhvr>
                                        <p:cTn id="111" dur="500"/>
                                        <p:tgtEl>
                                          <p:spTgt spid="36"/>
                                        </p:tgtEl>
                                      </p:cBhvr>
                                    </p:animEffect>
                                  </p:childTnLst>
                                </p:cTn>
                              </p:par>
                            </p:childTnLst>
                          </p:cTn>
                        </p:par>
                      </p:childTnLst>
                    </p:cTn>
                  </p:par>
                  <p:par>
                    <p:cTn id="113" fill="hold">
                      <p:stCondLst>
                        <p:cond delay="indefinite"/>
                      </p:stCondLst>
                      <p:childTnLst>
                        <p:par>
                          <p:cTn id="114" fill="hold">
                            <p:stCondLst>
                              <p:cond delay="0"/>
                            </p:stCondLst>
                            <p:childTnLst>
                              <p:par>
                                <p:cTn id="119" presetID="2" presetClass="entr" presetSubtype="4" fill="hold" grpId="0" nodeType="clickEffect">
                                  <p:stCondLst>
                                    <p:cond delay="0"/>
                                  </p:stCondLst>
                                  <p:childTnLst>
                                    <p:set>
                                      <p:cBhvr>
                                        <p:cTn id="115" dur="1" fill="hold">
                                          <p:stCondLst>
                                            <p:cond delay="0"/>
                                          </p:stCondLst>
                                        </p:cTn>
                                        <p:tgtEl>
                                          <p:spTgt spid="37"/>
                                        </p:tgtEl>
                                        <p:attrNameLst>
                                          <p:attrName>style.visibility</p:attrName>
                                        </p:attrNameLst>
                                      </p:cBhvr>
                                      <p:to>
                                        <p:strVal val="visible"/>
                                      </p:to>
                                    </p:set>
                                    <p:anim calcmode="lin" valueType="num">
                                      <p:cBhvr additive="base">
                                        <p:cTn id="116" dur="500" fill="hold"/>
                                        <p:tgtEl>
                                          <p:spTgt spid="37"/>
                                        </p:tgtEl>
                                        <p:attrNameLst>
                                          <p:attrName>ppt_x</p:attrName>
                                        </p:attrNameLst>
                                      </p:cBhvr>
                                      <p:tavLst>
                                        <p:tav tm="0">
                                          <p:val>
                                            <p:strVal val="#ppt_x"/>
                                          </p:val>
                                        </p:tav>
                                        <p:tav tm="100000">
                                          <p:val>
                                            <p:strVal val="#ppt_x"/>
                                          </p:val>
                                        </p:tav>
                                      </p:tavLst>
                                    </p:anim>
                                    <p:anim calcmode="lin" valueType="num">
                                      <p:cBhvr additive="base">
                                        <p:cTn id="117" dur="500" fill="hold"/>
                                        <p:tgtEl>
                                          <p:spTgt spid="37"/>
                                        </p:tgtEl>
                                        <p:attrNameLst>
                                          <p:attrName>ppt_y</p:attrName>
                                        </p:attrNameLst>
                                      </p:cBhvr>
                                      <p:tavLst>
                                        <p:tav tm="0">
                                          <p:val>
                                            <p:strVal val="#ppt_y+0.1"/>
                                          </p:val>
                                        </p:tav>
                                        <p:tav tm="100000">
                                          <p:val>
                                            <p:strVal val="#ppt_y"/>
                                          </p:val>
                                        </p:tav>
                                      </p:tavLst>
                                    </p:anim>
                                    <p:animEffect transition="in" filter="fade">
                                      <p:cBhvr>
                                        <p:cTn id="118" dur="500"/>
                                        <p:tgtEl>
                                          <p:spTgt spid="37"/>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38"/>
                                        </p:tgtEl>
                                        <p:attrNameLst>
                                          <p:attrName>style.visibility</p:attrName>
                                        </p:attrNameLst>
                                      </p:cBhvr>
                                      <p:to>
                                        <p:strVal val="visible"/>
                                      </p:to>
                                    </p:set>
                                    <p:anim calcmode="lin" valueType="num">
                                      <p:cBhvr additive="base">
                                        <p:cTn id="121" dur="500" fill="hold"/>
                                        <p:tgtEl>
                                          <p:spTgt spid="38"/>
                                        </p:tgtEl>
                                        <p:attrNameLst>
                                          <p:attrName>ppt_x</p:attrName>
                                        </p:attrNameLst>
                                      </p:cBhvr>
                                      <p:tavLst>
                                        <p:tav tm="0">
                                          <p:val>
                                            <p:strVal val="#ppt_x"/>
                                          </p:val>
                                        </p:tav>
                                        <p:tav tm="100000">
                                          <p:val>
                                            <p:strVal val="#ppt_x"/>
                                          </p:val>
                                        </p:tav>
                                      </p:tavLst>
                                    </p:anim>
                                    <p:anim calcmode="lin" valueType="num">
                                      <p:cBhvr additive="base">
                                        <p:cTn id="122" dur="500" fill="hold"/>
                                        <p:tgtEl>
                                          <p:spTgt spid="38"/>
                                        </p:tgtEl>
                                        <p:attrNameLst>
                                          <p:attrName>ppt_y</p:attrName>
                                        </p:attrNameLst>
                                      </p:cBhvr>
                                      <p:tavLst>
                                        <p:tav tm="0">
                                          <p:val>
                                            <p:strVal val="#ppt_y+0.1"/>
                                          </p:val>
                                        </p:tav>
                                        <p:tav tm="100000">
                                          <p:val>
                                            <p:strVal val="#ppt_y"/>
                                          </p:val>
                                        </p:tav>
                                      </p:tavLst>
                                    </p:anim>
                                    <p:animEffect transition="in" filter="fade">
                                      <p:cBhvr>
                                        <p:cTn id="123" dur="500"/>
                                        <p:tgtEl>
                                          <p:spTgt spid="38"/>
                                        </p:tgtEl>
                                      </p:cBhvr>
                                    </p:animEffect>
                                  </p:childTnLst>
                                </p:cTn>
                              </p:par>
                              <p:par>
                                <p:cTn id="129" presetID="2" presetClass="entr" presetSubtype="4" fill="hold" grpId="0" nodeType="withEffect">
                                  <p:stCondLst>
                                    <p:cond delay="0"/>
                                  </p:stCondLst>
                                  <p:childTnLst>
                                    <p:set>
                                      <p:cBhvr>
                                        <p:cTn id="125" dur="1" fill="hold">
                                          <p:stCondLst>
                                            <p:cond delay="0"/>
                                          </p:stCondLst>
                                        </p:cTn>
                                        <p:tgtEl>
                                          <p:spTgt spid="39"/>
                                        </p:tgtEl>
                                        <p:attrNameLst>
                                          <p:attrName>style.visibility</p:attrName>
                                        </p:attrNameLst>
                                      </p:cBhvr>
                                      <p:to>
                                        <p:strVal val="visible"/>
                                      </p:to>
                                    </p:set>
                                    <p:anim calcmode="lin" valueType="num">
                                      <p:cBhvr additive="base">
                                        <p:cTn id="126" dur="500" fill="hold"/>
                                        <p:tgtEl>
                                          <p:spTgt spid="39"/>
                                        </p:tgtEl>
                                        <p:attrNameLst>
                                          <p:attrName>ppt_x</p:attrName>
                                        </p:attrNameLst>
                                      </p:cBhvr>
                                      <p:tavLst>
                                        <p:tav tm="0">
                                          <p:val>
                                            <p:strVal val="#ppt_x"/>
                                          </p:val>
                                        </p:tav>
                                        <p:tav tm="100000">
                                          <p:val>
                                            <p:strVal val="#ppt_x"/>
                                          </p:val>
                                        </p:tav>
                                      </p:tavLst>
                                    </p:anim>
                                    <p:anim calcmode="lin" valueType="num">
                                      <p:cBhvr additive="base">
                                        <p:cTn id="127" dur="500" fill="hold"/>
                                        <p:tgtEl>
                                          <p:spTgt spid="39"/>
                                        </p:tgtEl>
                                        <p:attrNameLst>
                                          <p:attrName>ppt_y</p:attrName>
                                        </p:attrNameLst>
                                      </p:cBhvr>
                                      <p:tavLst>
                                        <p:tav tm="0">
                                          <p:val>
                                            <p:strVal val="#ppt_y+0.1"/>
                                          </p:val>
                                        </p:tav>
                                        <p:tav tm="100000">
                                          <p:val>
                                            <p:strVal val="#ppt_y"/>
                                          </p:val>
                                        </p:tav>
                                      </p:tavLst>
                                    </p:anim>
                                    <p:animEffect transition="in" filter="fade">
                                      <p:cBhvr>
                                        <p:cTn id="12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The Schema Is the Contract</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One text file for teams to negotiate change - checked in the build, not in production</a:t>
            </a:r>
          </a:p>
        </p:txBody>
      </p:sp>
      <p:sp>
        <p:nvSpPr>
          <p:cNvPr id="11" name="a1u_card10"/>
          <p:cNvSpPr/>
          <p:nvPr/>
        </p:nvSpPr>
        <p:spPr>
          <a:xfrm>
            <a:off x="457200" y="1280160"/>
            <a:ext cx="1920240" cy="1188720"/>
          </a:xfrm>
          <a:prstGeom prst="roundRect">
            <a:avLst>
              <a:gd name="adj" fmla="val 923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192024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1645920" cy="256032"/>
          </a:xfrm>
          <a:prstGeom prst="rect">
            <a:avLst/>
          </a:prstGeom>
          <a:noFill/>
        </p:spPr>
        <p:txBody>
          <a:bodyPr wrap="square" lIns="0" tIns="0" rIns="0" bIns="0" anchor="ctr">
            <a:spAutoFit/>
          </a:bodyPr>
          <a:lstStyle/>
          <a:p>
            <a:pPr algn="l"/>
            <a:r>
              <a:rPr sz="1100" b="1">
                <a:solidFill>
                  <a:srgbClr val="1C1917"/>
                </a:solidFill>
                <a:latin typeface="Segoe UI"/>
              </a:rPr>
              <a:t>1  Propose</a:t>
            </a:r>
          </a:p>
        </p:txBody>
      </p:sp>
      <p:sp>
        <p:nvSpPr>
          <p:cNvPr id="14" name="a1ud60_tb13"/>
          <p:cNvSpPr txBox="1"/>
          <p:nvPr/>
        </p:nvSpPr>
        <p:spPr>
          <a:xfrm>
            <a:off x="603504" y="1682495"/>
            <a:ext cx="1645920" cy="731520"/>
          </a:xfrm>
          <a:prstGeom prst="rect">
            <a:avLst/>
          </a:prstGeom>
          <a:noFill/>
        </p:spPr>
        <p:txBody>
          <a:bodyPr wrap="square" lIns="0" tIns="0" rIns="0" bIns="0" anchor="t">
            <a:spAutoFit/>
          </a:bodyPr>
          <a:lstStyle/>
          <a:p>
            <a:pPr algn="l"/>
            <a:r>
              <a:rPr sz="850" b="0">
                <a:solidFill>
                  <a:srgbClr val="44403C"/>
                </a:solidFill>
                <a:latin typeface="Segoe UI"/>
              </a:rPr>
              <a:t>edit the .avsc in a pull request</a:t>
            </a:r>
          </a:p>
        </p:txBody>
      </p:sp>
      <p:sp>
        <p:nvSpPr>
          <p:cNvPr id="15" name="a2u_card14"/>
          <p:cNvSpPr/>
          <p:nvPr/>
        </p:nvSpPr>
        <p:spPr>
          <a:xfrm>
            <a:off x="2560320" y="1280160"/>
            <a:ext cx="1920240" cy="1188720"/>
          </a:xfrm>
          <a:prstGeom prst="roundRect">
            <a:avLst>
              <a:gd name="adj" fmla="val 923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2560320" y="1280160"/>
            <a:ext cx="1920240"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tt16"/>
          <p:cNvSpPr txBox="1"/>
          <p:nvPr/>
        </p:nvSpPr>
        <p:spPr>
          <a:xfrm>
            <a:off x="2706624" y="1389888"/>
            <a:ext cx="1645920" cy="256032"/>
          </a:xfrm>
          <a:prstGeom prst="rect">
            <a:avLst/>
          </a:prstGeom>
          <a:noFill/>
        </p:spPr>
        <p:txBody>
          <a:bodyPr wrap="square" lIns="0" tIns="0" rIns="0" bIns="0" anchor="ctr">
            <a:spAutoFit/>
          </a:bodyPr>
          <a:lstStyle/>
          <a:p>
            <a:pPr algn="l"/>
            <a:r>
              <a:rPr sz="1100" b="1">
                <a:solidFill>
                  <a:srgbClr val="1C1917"/>
                </a:solidFill>
                <a:latin typeface="Segoe UI"/>
              </a:rPr>
              <a:t>2  Negotiate</a:t>
            </a:r>
          </a:p>
        </p:txBody>
      </p:sp>
      <p:sp>
        <p:nvSpPr>
          <p:cNvPr id="18" name="a2ud60_tb17"/>
          <p:cNvSpPr txBox="1"/>
          <p:nvPr/>
        </p:nvSpPr>
        <p:spPr>
          <a:xfrm>
            <a:off x="2706624" y="1682495"/>
            <a:ext cx="1645920" cy="731520"/>
          </a:xfrm>
          <a:prstGeom prst="rect">
            <a:avLst/>
          </a:prstGeom>
          <a:noFill/>
        </p:spPr>
        <p:txBody>
          <a:bodyPr wrap="square" lIns="0" tIns="0" rIns="0" bIns="0" anchor="t">
            <a:spAutoFit/>
          </a:bodyPr>
          <a:lstStyle/>
          <a:p>
            <a:pPr algn="l"/>
            <a:r>
              <a:rPr sz="850" b="0">
                <a:solidFill>
                  <a:srgbClr val="44403C"/>
                </a:solidFill>
                <a:latin typeface="Segoe UI"/>
              </a:rPr>
              <a:t>teams discuss the change - in review, or in conversation</a:t>
            </a:r>
          </a:p>
        </p:txBody>
      </p:sp>
      <p:cxnSp>
        <p:nvCxnSpPr>
          <p:cNvPr id="19" name="a2u_ar18"/>
          <p:cNvCxnSpPr/>
          <p:nvPr/>
        </p:nvCxnSpPr>
        <p:spPr>
          <a:xfrm>
            <a:off x="2386584" y="1874519"/>
            <a:ext cx="146304" cy="0"/>
          </a:xfrm>
          <a:prstGeom prst="line">
            <a:avLst/>
          </a:prstGeom>
          <a:ln w="19050">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a3u_card19"/>
          <p:cNvSpPr/>
          <p:nvPr/>
        </p:nvSpPr>
        <p:spPr>
          <a:xfrm>
            <a:off x="4663440" y="1280160"/>
            <a:ext cx="1920240" cy="1188720"/>
          </a:xfrm>
          <a:prstGeom prst="roundRect">
            <a:avLst>
              <a:gd name="adj" fmla="val 923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acc20"/>
          <p:cNvSpPr/>
          <p:nvPr/>
        </p:nvSpPr>
        <p:spPr>
          <a:xfrm>
            <a:off x="4663440" y="1280160"/>
            <a:ext cx="1920240"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a3u_tt21"/>
          <p:cNvSpPr txBox="1"/>
          <p:nvPr/>
        </p:nvSpPr>
        <p:spPr>
          <a:xfrm>
            <a:off x="4809744" y="1389888"/>
            <a:ext cx="1645920" cy="256032"/>
          </a:xfrm>
          <a:prstGeom prst="rect">
            <a:avLst/>
          </a:prstGeom>
          <a:noFill/>
        </p:spPr>
        <p:txBody>
          <a:bodyPr wrap="square" lIns="0" tIns="0" rIns="0" bIns="0" anchor="ctr">
            <a:spAutoFit/>
          </a:bodyPr>
          <a:lstStyle/>
          <a:p>
            <a:pPr algn="l"/>
            <a:r>
              <a:rPr sz="1100" b="1">
                <a:solidFill>
                  <a:srgbClr val="1C1917"/>
                </a:solidFill>
                <a:latin typeface="Segoe UI"/>
              </a:rPr>
              <a:t>3  Build</a:t>
            </a:r>
          </a:p>
        </p:txBody>
      </p:sp>
      <p:sp>
        <p:nvSpPr>
          <p:cNvPr id="23" name="a3ud60_tb22"/>
          <p:cNvSpPr txBox="1"/>
          <p:nvPr/>
        </p:nvSpPr>
        <p:spPr>
          <a:xfrm>
            <a:off x="4809744" y="1682495"/>
            <a:ext cx="1645920" cy="731520"/>
          </a:xfrm>
          <a:prstGeom prst="rect">
            <a:avLst/>
          </a:prstGeom>
          <a:noFill/>
        </p:spPr>
        <p:txBody>
          <a:bodyPr wrap="square" lIns="0" tIns="0" rIns="0" bIns="0" anchor="t">
            <a:spAutoFit/>
          </a:bodyPr>
          <a:lstStyle/>
          <a:p>
            <a:pPr algn="l"/>
            <a:r>
              <a:rPr sz="850" b="0">
                <a:solidFill>
                  <a:srgbClr val="44403C"/>
                </a:solidFill>
                <a:latin typeface="Segoe UI"/>
              </a:rPr>
              <a:t>the plugin generates the classes</a:t>
            </a:r>
          </a:p>
        </p:txBody>
      </p:sp>
      <p:cxnSp>
        <p:nvCxnSpPr>
          <p:cNvPr id="24" name="a3u_ar23"/>
          <p:cNvCxnSpPr/>
          <p:nvPr/>
        </p:nvCxnSpPr>
        <p:spPr>
          <a:xfrm>
            <a:off x="4489703" y="1874519"/>
            <a:ext cx="146304" cy="0"/>
          </a:xfrm>
          <a:prstGeom prst="line">
            <a:avLst/>
          </a:prstGeom>
          <a:ln w="19050">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a4u_card24"/>
          <p:cNvSpPr/>
          <p:nvPr/>
        </p:nvSpPr>
        <p:spPr>
          <a:xfrm>
            <a:off x="6766559" y="1280160"/>
            <a:ext cx="1920240" cy="1188720"/>
          </a:xfrm>
          <a:prstGeom prst="roundRect">
            <a:avLst>
              <a:gd name="adj" fmla="val 9230"/>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4u_acc25"/>
          <p:cNvSpPr/>
          <p:nvPr/>
        </p:nvSpPr>
        <p:spPr>
          <a:xfrm>
            <a:off x="6766559" y="1280160"/>
            <a:ext cx="1920240"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a4u_tt26"/>
          <p:cNvSpPr txBox="1"/>
          <p:nvPr/>
        </p:nvSpPr>
        <p:spPr>
          <a:xfrm>
            <a:off x="6912864" y="1389888"/>
            <a:ext cx="1645920" cy="256032"/>
          </a:xfrm>
          <a:prstGeom prst="rect">
            <a:avLst/>
          </a:prstGeom>
          <a:noFill/>
        </p:spPr>
        <p:txBody>
          <a:bodyPr wrap="square" lIns="0" tIns="0" rIns="0" bIns="0" anchor="ctr">
            <a:spAutoFit/>
          </a:bodyPr>
          <a:lstStyle/>
          <a:p>
            <a:pPr algn="l"/>
            <a:r>
              <a:rPr sz="1100" b="1">
                <a:solidFill>
                  <a:srgbClr val="1C1917"/>
                </a:solidFill>
                <a:latin typeface="Segoe UI"/>
              </a:rPr>
              <a:t>4  Check</a:t>
            </a:r>
          </a:p>
        </p:txBody>
      </p:sp>
      <p:sp>
        <p:nvSpPr>
          <p:cNvPr id="28" name="a4ud60_tb27"/>
          <p:cNvSpPr txBox="1"/>
          <p:nvPr/>
        </p:nvSpPr>
        <p:spPr>
          <a:xfrm>
            <a:off x="6912864" y="1682495"/>
            <a:ext cx="1645920" cy="731520"/>
          </a:xfrm>
          <a:prstGeom prst="rect">
            <a:avLst/>
          </a:prstGeom>
          <a:noFill/>
        </p:spPr>
        <p:txBody>
          <a:bodyPr wrap="square" lIns="0" tIns="0" rIns="0" bIns="0" anchor="t">
            <a:spAutoFit/>
          </a:bodyPr>
          <a:lstStyle/>
          <a:p>
            <a:pPr algn="l"/>
            <a:r>
              <a:rPr sz="850" b="0">
                <a:solidFill>
                  <a:srgbClr val="44403C"/>
                </a:solidFill>
                <a:latin typeface="Segoe UI"/>
              </a:rPr>
              <a:t>ask the registry: would this version be accepted?</a:t>
            </a:r>
          </a:p>
        </p:txBody>
      </p:sp>
      <p:cxnSp>
        <p:nvCxnSpPr>
          <p:cNvPr id="29" name="a4u_ar28"/>
          <p:cNvCxnSpPr/>
          <p:nvPr/>
        </p:nvCxnSpPr>
        <p:spPr>
          <a:xfrm>
            <a:off x="6592823" y="1874519"/>
            <a:ext cx="146304" cy="0"/>
          </a:xfrm>
          <a:prstGeom prst="line">
            <a:avLst/>
          </a:prstGeom>
          <a:ln w="19050">
            <a:solidFill>
              <a:srgbClr val="A8A29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a5f_codebg29"/>
          <p:cNvSpPr/>
          <p:nvPr/>
        </p:nvSpPr>
        <p:spPr>
          <a:xfrm>
            <a:off x="457200" y="2697480"/>
            <a:ext cx="5120640" cy="1536192"/>
          </a:xfrm>
          <a:prstGeom prst="roundRect">
            <a:avLst>
              <a:gd name="adj" fmla="val 4761"/>
            </a:avLst>
          </a:prstGeom>
          <a:solidFill>
            <a:srgbClr val="1818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5f_codeh30"/>
          <p:cNvSpPr txBox="1"/>
          <p:nvPr/>
        </p:nvSpPr>
        <p:spPr>
          <a:xfrm>
            <a:off x="566928" y="2752344"/>
            <a:ext cx="4901183" cy="219456"/>
          </a:xfrm>
          <a:prstGeom prst="rect">
            <a:avLst/>
          </a:prstGeom>
          <a:noFill/>
        </p:spPr>
        <p:txBody>
          <a:bodyPr wrap="square" lIns="0" tIns="0" rIns="0" bIns="0" anchor="ctr">
            <a:spAutoFit/>
          </a:bodyPr>
          <a:lstStyle/>
          <a:p>
            <a:pPr algn="l"/>
            <a:r>
              <a:rPr sz="950" b="1">
                <a:solidFill>
                  <a:srgbClr val="A8A29E"/>
                </a:solidFill>
                <a:latin typeface="Consolas"/>
              </a:rPr>
              <a:t>compatibility check</a:t>
            </a:r>
          </a:p>
        </p:txBody>
      </p:sp>
      <p:sp>
        <p:nvSpPr>
          <p:cNvPr id="32" name="a5f_codesep31"/>
          <p:cNvSpPr/>
          <p:nvPr/>
        </p:nvSpPr>
        <p:spPr>
          <a:xfrm>
            <a:off x="566928" y="3026664"/>
            <a:ext cx="4901183" cy="10972"/>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a5w_code32"/>
          <p:cNvSpPr txBox="1"/>
          <p:nvPr/>
        </p:nvSpPr>
        <p:spPr>
          <a:xfrm>
            <a:off x="566928" y="3081528"/>
            <a:ext cx="4901183" cy="173736"/>
          </a:xfrm>
          <a:prstGeom prst="rect">
            <a:avLst/>
          </a:prstGeom>
          <a:noFill/>
        </p:spPr>
        <p:txBody>
          <a:bodyPr wrap="none" lIns="0" tIns="0" rIns="0" bIns="0" anchor="ctr">
            <a:spAutoFit/>
          </a:bodyPr>
          <a:lstStyle/>
          <a:p>
            <a:pPr algn="l"/>
            <a:r>
              <a:rPr sz="800" b="0">
                <a:solidFill>
                  <a:srgbClr val="8A8580"/>
                </a:solidFill>
                <a:latin typeface="Consolas"/>
              </a:rPr>
              <a:t># before deploying: will the new version be accepted?</a:t>
            </a:r>
          </a:p>
        </p:txBody>
      </p:sp>
      <p:sp>
        <p:nvSpPr>
          <p:cNvPr id="34" name="a5wd110_code33"/>
          <p:cNvSpPr txBox="1"/>
          <p:nvPr/>
        </p:nvSpPr>
        <p:spPr>
          <a:xfrm>
            <a:off x="566928" y="3255264"/>
            <a:ext cx="4901183" cy="173736"/>
          </a:xfrm>
          <a:prstGeom prst="rect">
            <a:avLst/>
          </a:prstGeom>
          <a:noFill/>
        </p:spPr>
        <p:txBody>
          <a:bodyPr wrap="none" lIns="0" tIns="0" rIns="0" bIns="0" anchor="ctr">
            <a:spAutoFit/>
          </a:bodyPr>
          <a:lstStyle/>
          <a:p>
            <a:pPr algn="l"/>
            <a:r>
              <a:rPr sz="800" b="1">
                <a:solidFill>
                  <a:srgbClr val="FDBA74"/>
                </a:solidFill>
                <a:latin typeface="Consolas"/>
              </a:rPr>
              <a:t>mvn schema-registry:test-compatibility</a:t>
            </a:r>
          </a:p>
        </p:txBody>
      </p:sp>
      <p:sp>
        <p:nvSpPr>
          <p:cNvPr id="35" name="a5wd220_code34"/>
          <p:cNvSpPr txBox="1"/>
          <p:nvPr/>
        </p:nvSpPr>
        <p:spPr>
          <a:xfrm>
            <a:off x="566928" y="3429000"/>
            <a:ext cx="4901183" cy="173736"/>
          </a:xfrm>
          <a:prstGeom prst="rect">
            <a:avLst/>
          </a:prstGeom>
          <a:noFill/>
        </p:spPr>
        <p:txBody>
          <a:bodyPr wrap="none" lIns="0" tIns="0" rIns="0" bIns="0" anchor="ctr">
            <a:spAutoFit/>
          </a:bodyPr>
          <a:lstStyle/>
          <a:p>
            <a:pPr algn="l"/>
            <a:r>
              <a:rPr sz="800" b="0">
                <a:solidFill>
                  <a:srgbClr val="E7E5E4"/>
                </a:solidFill>
                <a:latin typeface="Consolas"/>
              </a:rPr>
              <a:t/>
            </a:r>
          </a:p>
        </p:txBody>
      </p:sp>
      <p:sp>
        <p:nvSpPr>
          <p:cNvPr id="36" name="a5wd330_code35"/>
          <p:cNvSpPr txBox="1"/>
          <p:nvPr/>
        </p:nvSpPr>
        <p:spPr>
          <a:xfrm>
            <a:off x="566928" y="3602736"/>
            <a:ext cx="4901183" cy="173736"/>
          </a:xfrm>
          <a:prstGeom prst="rect">
            <a:avLst/>
          </a:prstGeom>
          <a:noFill/>
        </p:spPr>
        <p:txBody>
          <a:bodyPr wrap="none" lIns="0" tIns="0" rIns="0" bIns="0" anchor="ctr">
            <a:spAutoFit/>
          </a:bodyPr>
          <a:lstStyle/>
          <a:p>
            <a:pPr algn="l"/>
            <a:r>
              <a:rPr sz="800" b="0">
                <a:solidFill>
                  <a:srgbClr val="8A8580"/>
                </a:solidFill>
                <a:latin typeface="Consolas"/>
              </a:rPr>
              <a:t># or ask the REST API directly</a:t>
            </a:r>
          </a:p>
        </p:txBody>
      </p:sp>
      <p:sp>
        <p:nvSpPr>
          <p:cNvPr id="37" name="a5wd440_code36"/>
          <p:cNvSpPr txBox="1"/>
          <p:nvPr/>
        </p:nvSpPr>
        <p:spPr>
          <a:xfrm>
            <a:off x="566928" y="3776472"/>
            <a:ext cx="4901183" cy="173736"/>
          </a:xfrm>
          <a:prstGeom prst="rect">
            <a:avLst/>
          </a:prstGeom>
          <a:noFill/>
        </p:spPr>
        <p:txBody>
          <a:bodyPr wrap="none" lIns="0" tIns="0" rIns="0" bIns="0" anchor="ctr">
            <a:spAutoFit/>
          </a:bodyPr>
          <a:lstStyle/>
          <a:p>
            <a:pPr algn="l"/>
            <a:r>
              <a:rPr sz="800" b="0">
                <a:solidFill>
                  <a:srgbClr val="E7E5E4"/>
                </a:solidFill>
                <a:latin typeface="Consolas"/>
              </a:rPr>
              <a:t>POST /compatibility/subjects/thermostat_readings-value/versions/latest</a:t>
            </a:r>
          </a:p>
        </p:txBody>
      </p:sp>
      <p:sp>
        <p:nvSpPr>
          <p:cNvPr id="38" name="a5wd550_code37"/>
          <p:cNvSpPr txBox="1"/>
          <p:nvPr/>
        </p:nvSpPr>
        <p:spPr>
          <a:xfrm>
            <a:off x="566928" y="3950208"/>
            <a:ext cx="4901183" cy="173736"/>
          </a:xfrm>
          <a:prstGeom prst="rect">
            <a:avLst/>
          </a:prstGeom>
          <a:noFill/>
        </p:spPr>
        <p:txBody>
          <a:bodyPr wrap="none" lIns="0" tIns="0" rIns="0" bIns="0" anchor="ctr">
            <a:spAutoFit/>
          </a:bodyPr>
          <a:lstStyle/>
          <a:p>
            <a:pPr algn="l"/>
            <a:r>
              <a:rPr sz="800" b="0">
                <a:solidFill>
                  <a:srgbClr val="FDA4AF"/>
                </a:solidFill>
                <a:latin typeface="Consolas"/>
              </a:rPr>
              <a:t>-&gt; {"is_compatible": false}</a:t>
            </a:r>
          </a:p>
        </p:txBody>
      </p:sp>
      <p:sp>
        <p:nvSpPr>
          <p:cNvPr id="39" name="a6u_card38"/>
          <p:cNvSpPr/>
          <p:nvPr/>
        </p:nvSpPr>
        <p:spPr>
          <a:xfrm>
            <a:off x="5806440" y="2697480"/>
            <a:ext cx="2880360" cy="1536192"/>
          </a:xfrm>
          <a:prstGeom prst="roundRect">
            <a:avLst>
              <a:gd name="adj" fmla="val 7142"/>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a6u_acc39"/>
          <p:cNvSpPr/>
          <p:nvPr/>
        </p:nvSpPr>
        <p:spPr>
          <a:xfrm>
            <a:off x="5806440" y="2697480"/>
            <a:ext cx="50292" cy="153619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a6u_hh40"/>
          <p:cNvSpPr txBox="1"/>
          <p:nvPr/>
        </p:nvSpPr>
        <p:spPr>
          <a:xfrm>
            <a:off x="6007607" y="2807208"/>
            <a:ext cx="2514600" cy="237744"/>
          </a:xfrm>
          <a:prstGeom prst="rect">
            <a:avLst/>
          </a:prstGeom>
          <a:noFill/>
        </p:spPr>
        <p:txBody>
          <a:bodyPr wrap="square" lIns="0" tIns="0" rIns="0" bIns="0" anchor="ctr">
            <a:spAutoFit/>
          </a:bodyPr>
          <a:lstStyle/>
          <a:p>
            <a:pPr algn="l"/>
            <a:r>
              <a:rPr sz="900" b="1">
                <a:solidFill>
                  <a:srgbClr val="15803D"/>
                </a:solidFill>
                <a:latin typeface="Segoe UI"/>
              </a:rPr>
              <a:t>WHY IT MATTERS</a:t>
            </a:r>
          </a:p>
        </p:txBody>
      </p:sp>
      <p:sp>
        <p:nvSpPr>
          <p:cNvPr id="42" name="a6ud80_wm41"/>
          <p:cNvSpPr txBox="1"/>
          <p:nvPr/>
        </p:nvSpPr>
        <p:spPr>
          <a:xfrm>
            <a:off x="6007608" y="3017520"/>
            <a:ext cx="2542032" cy="1097280"/>
          </a:xfrm>
          <a:prstGeom prst="rect">
            <a:avLst/>
          </a:prstGeom>
          <a:noFill/>
        </p:spPr>
        <p:txBody>
          <a:bodyPr wrap="square" lIns="0" tIns="0" rIns="0" bIns="0" anchor="t">
            <a:spAutoFit/>
          </a:bodyPr>
          <a:lstStyle/>
          <a:p>
            <a:pPr algn="l"/>
            <a:r>
              <a:rPr sz="950" b="0">
                <a:solidFill>
                  <a:srgbClr val="44403C"/>
                </a:solidFill>
                <a:latin typeface="Segoe UI"/>
              </a:rPr>
              <a:t>Find out at compile time - not by deploying the code and waiting to see what breaks.</a:t>
            </a:r>
          </a:p>
        </p:txBody>
      </p:sp>
      <p:sp>
        <p:nvSpPr>
          <p:cNvPr id="43" name="ft4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11</a:t>
            </a:r>
          </a:p>
        </p:txBody>
      </p:sp>
      <p:sp>
        <p:nvSpPr>
          <p:cNvPr id="44" name="ft4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ft4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46" name="ft4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ppt_y+0.1"/>
                                          </p:val>
                                        </p:tav>
                                        <p:tav tm="100000">
                                          <p:val>
                                            <p:strVal val="#ppt_y"/>
                                          </p:val>
                                        </p:tav>
                                      </p:tavLst>
                                    </p:anim>
                                    <p:animEffect transition="in" filter="fade">
                                      <p:cBhvr>
                                        <p:cTn id="45" dur="500"/>
                                        <p:tgtEl>
                                          <p:spTgt spid="19"/>
                                        </p:tgtEl>
                                      </p:cBhvr>
                                    </p:animEffect>
                                  </p:childTnLst>
                                </p:cTn>
                              </p:par>
                              <p:par>
                                <p:cTn id="51" presetID="2" presetClass="entr" presetSubtype="4" fill="hold" grpId="0" nodeType="withEffect">
                                  <p:stCondLst>
                                    <p:cond delay="60"/>
                                  </p:stCondLst>
                                  <p:childTnLst>
                                    <p:set>
                                      <p:cBhvr>
                                        <p:cTn id="47" dur="1" fill="hold">
                                          <p:stCondLst>
                                            <p:cond delay="0"/>
                                          </p:stCondLst>
                                        </p:cTn>
                                        <p:tgtEl>
                                          <p:spTgt spid="18"/>
                                        </p:tgtEl>
                                        <p:attrNameLst>
                                          <p:attrName>style.visibility</p:attrName>
                                        </p:attrNameLst>
                                      </p:cBhvr>
                                      <p:to>
                                        <p:strVal val="visible"/>
                                      </p:to>
                                    </p:set>
                                    <p:anim calcmode="lin" valueType="num">
                                      <p:cBhvr additive="base">
                                        <p:cTn id="48" dur="500" fill="hold"/>
                                        <p:tgtEl>
                                          <p:spTgt spid="18"/>
                                        </p:tgtEl>
                                        <p:attrNameLst>
                                          <p:attrName>ppt_x</p:attrName>
                                        </p:attrNameLst>
                                      </p:cBhvr>
                                      <p:tavLst>
                                        <p:tav tm="0">
                                          <p:val>
                                            <p:strVal val="#ppt_x"/>
                                          </p:val>
                                        </p:tav>
                                        <p:tav tm="100000">
                                          <p:val>
                                            <p:strVal val="#ppt_x"/>
                                          </p:val>
                                        </p:tav>
                                      </p:tavLst>
                                    </p:anim>
                                    <p:anim calcmode="lin" valueType="num">
                                      <p:cBhvr additive="base">
                                        <p:cTn id="49" dur="500" fill="hold"/>
                                        <p:tgtEl>
                                          <p:spTgt spid="18"/>
                                        </p:tgtEl>
                                        <p:attrNameLst>
                                          <p:attrName>ppt_y</p:attrName>
                                        </p:attrNameLst>
                                      </p:cBhvr>
                                      <p:tavLst>
                                        <p:tav tm="0">
                                          <p:val>
                                            <p:strVal val="#ppt_y+0.1"/>
                                          </p:val>
                                        </p:tav>
                                        <p:tav tm="100000">
                                          <p:val>
                                            <p:strVal val="#ppt_y"/>
                                          </p:val>
                                        </p:tav>
                                      </p:tavLst>
                                    </p:anim>
                                    <p:animEffect transition="in" filter="fade">
                                      <p:cBhvr>
                                        <p:cTn id="50"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8" presetID="2" presetClass="entr" presetSubtype="4"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par>
                                <p:cTn id="73" presetID="2" presetClass="entr" presetSubtype="4"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500" fill="hold"/>
                                        <p:tgtEl>
                                          <p:spTgt spid="24"/>
                                        </p:tgtEl>
                                        <p:attrNameLst>
                                          <p:attrName>ppt_x</p:attrName>
                                        </p:attrNameLst>
                                      </p:cBhvr>
                                      <p:tavLst>
                                        <p:tav tm="0">
                                          <p:val>
                                            <p:strVal val="#ppt_x"/>
                                          </p:val>
                                        </p:tav>
                                        <p:tav tm="100000">
                                          <p:val>
                                            <p:strVal val="#ppt_x"/>
                                          </p:val>
                                        </p:tav>
                                      </p:tavLst>
                                    </p:anim>
                                    <p:anim calcmode="lin" valueType="num">
                                      <p:cBhvr additive="base">
                                        <p:cTn id="71" dur="500" fill="hold"/>
                                        <p:tgtEl>
                                          <p:spTgt spid="24"/>
                                        </p:tgtEl>
                                        <p:attrNameLst>
                                          <p:attrName>ppt_y</p:attrName>
                                        </p:attrNameLst>
                                      </p:cBhvr>
                                      <p:tavLst>
                                        <p:tav tm="0">
                                          <p:val>
                                            <p:strVal val="#ppt_y+0.1"/>
                                          </p:val>
                                        </p:tav>
                                        <p:tav tm="100000">
                                          <p:val>
                                            <p:strVal val="#ppt_y"/>
                                          </p:val>
                                        </p:tav>
                                      </p:tavLst>
                                    </p:anim>
                                    <p:animEffect transition="in" filter="fade">
                                      <p:cBhvr>
                                        <p:cTn id="72" dur="500"/>
                                        <p:tgtEl>
                                          <p:spTgt spid="24"/>
                                        </p:tgtEl>
                                      </p:cBhvr>
                                    </p:animEffect>
                                  </p:childTnLst>
                                </p:cTn>
                              </p:par>
                              <p:par>
                                <p:cTn id="78" presetID="2" presetClass="entr" presetSubtype="4" fill="hold" grpId="0" nodeType="withEffect">
                                  <p:stCondLst>
                                    <p:cond delay="60"/>
                                  </p:stCondLst>
                                  <p:childTnLst>
                                    <p:set>
                                      <p:cBhvr>
                                        <p:cTn id="74" dur="1" fill="hold">
                                          <p:stCondLst>
                                            <p:cond delay="0"/>
                                          </p:stCondLst>
                                        </p:cTn>
                                        <p:tgtEl>
                                          <p:spTgt spid="23"/>
                                        </p:tgtEl>
                                        <p:attrNameLst>
                                          <p:attrName>style.visibility</p:attrName>
                                        </p:attrNameLst>
                                      </p:cBhvr>
                                      <p:to>
                                        <p:strVal val="visible"/>
                                      </p:to>
                                    </p:set>
                                    <p:anim calcmode="lin" valueType="num">
                                      <p:cBhvr additive="base">
                                        <p:cTn id="75" dur="500" fill="hold"/>
                                        <p:tgtEl>
                                          <p:spTgt spid="23"/>
                                        </p:tgtEl>
                                        <p:attrNameLst>
                                          <p:attrName>ppt_x</p:attrName>
                                        </p:attrNameLst>
                                      </p:cBhvr>
                                      <p:tavLst>
                                        <p:tav tm="0">
                                          <p:val>
                                            <p:strVal val="#ppt_x"/>
                                          </p:val>
                                        </p:tav>
                                        <p:tav tm="100000">
                                          <p:val>
                                            <p:strVal val="#ppt_x"/>
                                          </p:val>
                                        </p:tav>
                                      </p:tavLst>
                                    </p:anim>
                                    <p:anim calcmode="lin" valueType="num">
                                      <p:cBhvr additive="base">
                                        <p:cTn id="76" dur="500" fill="hold"/>
                                        <p:tgtEl>
                                          <p:spTgt spid="23"/>
                                        </p:tgtEl>
                                        <p:attrNameLst>
                                          <p:attrName>ppt_y</p:attrName>
                                        </p:attrNameLst>
                                      </p:cBhvr>
                                      <p:tavLst>
                                        <p:tav tm="0">
                                          <p:val>
                                            <p:strVal val="#ppt_y+0.1"/>
                                          </p:val>
                                        </p:tav>
                                        <p:tav tm="100000">
                                          <p:val>
                                            <p:strVal val="#ppt_y"/>
                                          </p:val>
                                        </p:tav>
                                      </p:tavLst>
                                    </p:anim>
                                    <p:animEffect transition="in" filter="fade">
                                      <p:cBhvr>
                                        <p:cTn id="77" dur="5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5" presetID="2" presetClass="entr" presetSubtype="4" fill="hold" grpId="0" nodeType="click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par>
                                <p:cTn id="95" presetID="2" presetClass="entr" presetSubtype="4" fill="hold" grpId="0" nodeType="withEffect">
                                  <p:stCondLst>
                                    <p:cond delay="0"/>
                                  </p:stCondLst>
                                  <p:childTnLst>
                                    <p:set>
                                      <p:cBhvr>
                                        <p:cTn id="91" dur="1" fill="hold">
                                          <p:stCondLst>
                                            <p:cond delay="0"/>
                                          </p:stCondLst>
                                        </p:cTn>
                                        <p:tgtEl>
                                          <p:spTgt spid="27"/>
                                        </p:tgtEl>
                                        <p:attrNameLst>
                                          <p:attrName>style.visibility</p:attrName>
                                        </p:attrNameLst>
                                      </p:cBhvr>
                                      <p:to>
                                        <p:strVal val="visible"/>
                                      </p:to>
                                    </p:set>
                                    <p:anim calcmode="lin" valueType="num">
                                      <p:cBhvr additive="base">
                                        <p:cTn id="92" dur="500" fill="hold"/>
                                        <p:tgtEl>
                                          <p:spTgt spid="27"/>
                                        </p:tgtEl>
                                        <p:attrNameLst>
                                          <p:attrName>ppt_x</p:attrName>
                                        </p:attrNameLst>
                                      </p:cBhvr>
                                      <p:tavLst>
                                        <p:tav tm="0">
                                          <p:val>
                                            <p:strVal val="#ppt_x"/>
                                          </p:val>
                                        </p:tav>
                                        <p:tav tm="100000">
                                          <p:val>
                                            <p:strVal val="#ppt_x"/>
                                          </p:val>
                                        </p:tav>
                                      </p:tavLst>
                                    </p:anim>
                                    <p:anim calcmode="lin" valueType="num">
                                      <p:cBhvr additive="base">
                                        <p:cTn id="93" dur="500" fill="hold"/>
                                        <p:tgtEl>
                                          <p:spTgt spid="27"/>
                                        </p:tgtEl>
                                        <p:attrNameLst>
                                          <p:attrName>ppt_y</p:attrName>
                                        </p:attrNameLst>
                                      </p:cBhvr>
                                      <p:tavLst>
                                        <p:tav tm="0">
                                          <p:val>
                                            <p:strVal val="#ppt_y+0.1"/>
                                          </p:val>
                                        </p:tav>
                                        <p:tav tm="100000">
                                          <p:val>
                                            <p:strVal val="#ppt_y"/>
                                          </p:val>
                                        </p:tav>
                                      </p:tavLst>
                                    </p:anim>
                                    <p:animEffect transition="in" filter="fade">
                                      <p:cBhvr>
                                        <p:cTn id="94" dur="500"/>
                                        <p:tgtEl>
                                          <p:spTgt spid="27"/>
                                        </p:tgtEl>
                                      </p:cBhvr>
                                    </p:animEffect>
                                  </p:childTnLst>
                                </p:cTn>
                              </p:par>
                              <p:par>
                                <p:cTn id="100" presetID="2" presetClass="entr" presetSubtype="4"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 calcmode="lin" valueType="num">
                                      <p:cBhvr additive="base">
                                        <p:cTn id="97" dur="500" fill="hold"/>
                                        <p:tgtEl>
                                          <p:spTgt spid="29"/>
                                        </p:tgtEl>
                                        <p:attrNameLst>
                                          <p:attrName>ppt_x</p:attrName>
                                        </p:attrNameLst>
                                      </p:cBhvr>
                                      <p:tavLst>
                                        <p:tav tm="0">
                                          <p:val>
                                            <p:strVal val="#ppt_x"/>
                                          </p:val>
                                        </p:tav>
                                        <p:tav tm="100000">
                                          <p:val>
                                            <p:strVal val="#ppt_x"/>
                                          </p:val>
                                        </p:tav>
                                      </p:tavLst>
                                    </p:anim>
                                    <p:anim calcmode="lin" valueType="num">
                                      <p:cBhvr additive="base">
                                        <p:cTn id="98" dur="500" fill="hold"/>
                                        <p:tgtEl>
                                          <p:spTgt spid="29"/>
                                        </p:tgtEl>
                                        <p:attrNameLst>
                                          <p:attrName>ppt_y</p:attrName>
                                        </p:attrNameLst>
                                      </p:cBhvr>
                                      <p:tavLst>
                                        <p:tav tm="0">
                                          <p:val>
                                            <p:strVal val="#ppt_y+0.1"/>
                                          </p:val>
                                        </p:tav>
                                        <p:tav tm="100000">
                                          <p:val>
                                            <p:strVal val="#ppt_y"/>
                                          </p:val>
                                        </p:tav>
                                      </p:tavLst>
                                    </p:anim>
                                    <p:animEffect transition="in" filter="fade">
                                      <p:cBhvr>
                                        <p:cTn id="99" dur="500"/>
                                        <p:tgtEl>
                                          <p:spTgt spid="29"/>
                                        </p:tgtEl>
                                      </p:cBhvr>
                                    </p:animEffect>
                                  </p:childTnLst>
                                </p:cTn>
                              </p:par>
                              <p:par>
                                <p:cTn id="105" presetID="2" presetClass="entr" presetSubtype="4" fill="hold" grpId="0" nodeType="withEffect">
                                  <p:stCondLst>
                                    <p:cond delay="6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ppt_x"/>
                                          </p:val>
                                        </p:tav>
                                        <p:tav tm="100000">
                                          <p:val>
                                            <p:strVal val="#ppt_x"/>
                                          </p:val>
                                        </p:tav>
                                      </p:tavLst>
                                    </p:anim>
                                    <p:anim calcmode="lin" valueType="num">
                                      <p:cBhvr additive="base">
                                        <p:cTn id="103" dur="500" fill="hold"/>
                                        <p:tgtEl>
                                          <p:spTgt spid="28"/>
                                        </p:tgtEl>
                                        <p:attrNameLst>
                                          <p:attrName>ppt_y</p:attrName>
                                        </p:attrNameLst>
                                      </p:cBhvr>
                                      <p:tavLst>
                                        <p:tav tm="0">
                                          <p:val>
                                            <p:strVal val="#ppt_y+0.1"/>
                                          </p:val>
                                        </p:tav>
                                        <p:tav tm="100000">
                                          <p:val>
                                            <p:strVal val="#ppt_y"/>
                                          </p:val>
                                        </p:tav>
                                      </p:tavLst>
                                    </p:anim>
                                    <p:animEffect transition="in" filter="fade">
                                      <p:cBhvr>
                                        <p:cTn id="104" dur="500"/>
                                        <p:tgtEl>
                                          <p:spTgt spid="28"/>
                                        </p:tgtEl>
                                      </p:cBhvr>
                                    </p:animEffect>
                                  </p:childTnLst>
                                </p:cTn>
                              </p:par>
                            </p:childTnLst>
                          </p:cTn>
                        </p:par>
                      </p:childTnLst>
                    </p:cTn>
                  </p:par>
                  <p:par>
                    <p:cTn id="106" fill="hold">
                      <p:stCondLst>
                        <p:cond delay="indefinite"/>
                      </p:stCondLst>
                      <p:childTnLst>
                        <p:par>
                          <p:cTn id="107" fill="hold">
                            <p:stCondLst>
                              <p:cond delay="0"/>
                            </p:stCondLst>
                            <p:childTnLst>
                              <p:par>
                                <p:cTn id="110" presetID="10" presetClass="entr" presetSubtype="0" fill="hold" grpId="0" nodeType="click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childTnLst>
                                </p:cTn>
                              </p:par>
                              <p:par>
                                <p:cTn id="113" presetID="10" presetClass="entr" presetSubtype="0" fill="hold" grpId="0" nodeType="with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500"/>
                                        <p:tgtEl>
                                          <p:spTgt spid="31"/>
                                        </p:tgtEl>
                                      </p:cBhvr>
                                    </p:animEffect>
                                  </p:childTnLst>
                                </p:cTn>
                              </p:par>
                              <p:par>
                                <p:cTn id="116" presetID="10" presetClass="entr" presetSubtype="0"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500"/>
                                        <p:tgtEl>
                                          <p:spTgt spid="32"/>
                                        </p:tgtEl>
                                      </p:cBhvr>
                                    </p:animEffect>
                                  </p:childTnLst>
                                </p:cTn>
                              </p:par>
                              <p:par>
                                <p:cTn id="119" presetID="22" presetClass="entr" presetSubtype="8" fill="hold" grpId="0" nodeType="withEffect">
                                  <p:stCondLst>
                                    <p:cond delay="0"/>
                                  </p:stCondLst>
                                  <p:childTnLst>
                                    <p:set>
                                      <p:cBhvr>
                                        <p:cTn id="117" dur="1" fill="hold">
                                          <p:stCondLst>
                                            <p:cond delay="0"/>
                                          </p:stCondLst>
                                        </p:cTn>
                                        <p:tgtEl>
                                          <p:spTgt spid="33"/>
                                        </p:tgtEl>
                                        <p:attrNameLst>
                                          <p:attrName>style.visibility</p:attrName>
                                        </p:attrNameLst>
                                      </p:cBhvr>
                                      <p:to>
                                        <p:strVal val="visible"/>
                                      </p:to>
                                    </p:set>
                                    <p:animEffect transition="in" filter="wipe(left)">
                                      <p:cBhvr>
                                        <p:cTn id="118" dur="500"/>
                                        <p:tgtEl>
                                          <p:spTgt spid="33"/>
                                        </p:tgtEl>
                                      </p:cBhvr>
                                    </p:animEffect>
                                  </p:childTnLst>
                                </p:cTn>
                              </p:par>
                              <p:par>
                                <p:cTn id="122" presetID="22" presetClass="entr" presetSubtype="8" fill="hold" grpId="0" nodeType="withEffect">
                                  <p:stCondLst>
                                    <p:cond delay="110"/>
                                  </p:stCondLst>
                                  <p:childTnLst>
                                    <p:set>
                                      <p:cBhvr>
                                        <p:cTn id="120" dur="1" fill="hold">
                                          <p:stCondLst>
                                            <p:cond delay="0"/>
                                          </p:stCondLst>
                                        </p:cTn>
                                        <p:tgtEl>
                                          <p:spTgt spid="34"/>
                                        </p:tgtEl>
                                        <p:attrNameLst>
                                          <p:attrName>style.visibility</p:attrName>
                                        </p:attrNameLst>
                                      </p:cBhvr>
                                      <p:to>
                                        <p:strVal val="visible"/>
                                      </p:to>
                                    </p:set>
                                    <p:animEffect transition="in" filter="wipe(left)">
                                      <p:cBhvr>
                                        <p:cTn id="121" dur="500"/>
                                        <p:tgtEl>
                                          <p:spTgt spid="34"/>
                                        </p:tgtEl>
                                      </p:cBhvr>
                                    </p:animEffect>
                                  </p:childTnLst>
                                </p:cTn>
                              </p:par>
                              <p:par>
                                <p:cTn id="125" presetID="22" presetClass="entr" presetSubtype="8" fill="hold" grpId="0" nodeType="withEffect">
                                  <p:stCondLst>
                                    <p:cond delay="220"/>
                                  </p:stCondLst>
                                  <p:childTnLst>
                                    <p:set>
                                      <p:cBhvr>
                                        <p:cTn id="123" dur="1" fill="hold">
                                          <p:stCondLst>
                                            <p:cond delay="0"/>
                                          </p:stCondLst>
                                        </p:cTn>
                                        <p:tgtEl>
                                          <p:spTgt spid="35"/>
                                        </p:tgtEl>
                                        <p:attrNameLst>
                                          <p:attrName>style.visibility</p:attrName>
                                        </p:attrNameLst>
                                      </p:cBhvr>
                                      <p:to>
                                        <p:strVal val="visible"/>
                                      </p:to>
                                    </p:set>
                                    <p:animEffect transition="in" filter="wipe(left)">
                                      <p:cBhvr>
                                        <p:cTn id="124" dur="500"/>
                                        <p:tgtEl>
                                          <p:spTgt spid="35"/>
                                        </p:tgtEl>
                                      </p:cBhvr>
                                    </p:animEffect>
                                  </p:childTnLst>
                                </p:cTn>
                              </p:par>
                              <p:par>
                                <p:cTn id="128" presetID="22" presetClass="entr" presetSubtype="8" fill="hold" grpId="0" nodeType="withEffect">
                                  <p:stCondLst>
                                    <p:cond delay="330"/>
                                  </p:stCondLst>
                                  <p:childTnLst>
                                    <p:set>
                                      <p:cBhvr>
                                        <p:cTn id="126" dur="1" fill="hold">
                                          <p:stCondLst>
                                            <p:cond delay="0"/>
                                          </p:stCondLst>
                                        </p:cTn>
                                        <p:tgtEl>
                                          <p:spTgt spid="36"/>
                                        </p:tgtEl>
                                        <p:attrNameLst>
                                          <p:attrName>style.visibility</p:attrName>
                                        </p:attrNameLst>
                                      </p:cBhvr>
                                      <p:to>
                                        <p:strVal val="visible"/>
                                      </p:to>
                                    </p:set>
                                    <p:animEffect transition="in" filter="wipe(left)">
                                      <p:cBhvr>
                                        <p:cTn id="127" dur="500"/>
                                        <p:tgtEl>
                                          <p:spTgt spid="36"/>
                                        </p:tgtEl>
                                      </p:cBhvr>
                                    </p:animEffect>
                                  </p:childTnLst>
                                </p:cTn>
                              </p:par>
                              <p:par>
                                <p:cTn id="131" presetID="22" presetClass="entr" presetSubtype="8" fill="hold" grpId="0" nodeType="withEffect">
                                  <p:stCondLst>
                                    <p:cond delay="440"/>
                                  </p:stCondLst>
                                  <p:childTnLst>
                                    <p:set>
                                      <p:cBhvr>
                                        <p:cTn id="129" dur="1" fill="hold">
                                          <p:stCondLst>
                                            <p:cond delay="0"/>
                                          </p:stCondLst>
                                        </p:cTn>
                                        <p:tgtEl>
                                          <p:spTgt spid="37"/>
                                        </p:tgtEl>
                                        <p:attrNameLst>
                                          <p:attrName>style.visibility</p:attrName>
                                        </p:attrNameLst>
                                      </p:cBhvr>
                                      <p:to>
                                        <p:strVal val="visible"/>
                                      </p:to>
                                    </p:set>
                                    <p:animEffect transition="in" filter="wipe(left)">
                                      <p:cBhvr>
                                        <p:cTn id="130" dur="500"/>
                                        <p:tgtEl>
                                          <p:spTgt spid="37"/>
                                        </p:tgtEl>
                                      </p:cBhvr>
                                    </p:animEffect>
                                  </p:childTnLst>
                                </p:cTn>
                              </p:par>
                              <p:par>
                                <p:cTn id="134" presetID="22" presetClass="entr" presetSubtype="8" fill="hold" grpId="0" nodeType="withEffect">
                                  <p:stCondLst>
                                    <p:cond delay="550"/>
                                  </p:stCondLst>
                                  <p:childTnLst>
                                    <p:set>
                                      <p:cBhvr>
                                        <p:cTn id="132" dur="1" fill="hold">
                                          <p:stCondLst>
                                            <p:cond delay="0"/>
                                          </p:stCondLst>
                                        </p:cTn>
                                        <p:tgtEl>
                                          <p:spTgt spid="38"/>
                                        </p:tgtEl>
                                        <p:attrNameLst>
                                          <p:attrName>style.visibility</p:attrName>
                                        </p:attrNameLst>
                                      </p:cBhvr>
                                      <p:to>
                                        <p:strVal val="visible"/>
                                      </p:to>
                                    </p:set>
                                    <p:animEffect transition="in" filter="wipe(left)">
                                      <p:cBhvr>
                                        <p:cTn id="133" dur="500"/>
                                        <p:tgtEl>
                                          <p:spTgt spid="38"/>
                                        </p:tgtEl>
                                      </p:cBhvr>
                                    </p:animEffect>
                                  </p:childTnLst>
                                </p:cTn>
                              </p:par>
                            </p:childTnLst>
                          </p:cTn>
                        </p:par>
                      </p:childTnLst>
                    </p:cTn>
                  </p:par>
                  <p:par>
                    <p:cTn id="135" fill="hold">
                      <p:stCondLst>
                        <p:cond delay="indefinite"/>
                      </p:stCondLst>
                      <p:childTnLst>
                        <p:par>
                          <p:cTn id="136" fill="hold">
                            <p:stCondLst>
                              <p:cond delay="0"/>
                            </p:stCondLst>
                            <p:childTnLst>
                              <p:par>
                                <p:cTn id="141" presetID="2" presetClass="entr" presetSubtype="4" fill="hold" grpId="0" nodeType="clickEffect">
                                  <p:stCondLst>
                                    <p:cond delay="0"/>
                                  </p:stCondLst>
                                  <p:childTnLst>
                                    <p:set>
                                      <p:cBhvr>
                                        <p:cTn id="137" dur="1" fill="hold">
                                          <p:stCondLst>
                                            <p:cond delay="0"/>
                                          </p:stCondLst>
                                        </p:cTn>
                                        <p:tgtEl>
                                          <p:spTgt spid="39"/>
                                        </p:tgtEl>
                                        <p:attrNameLst>
                                          <p:attrName>style.visibility</p:attrName>
                                        </p:attrNameLst>
                                      </p:cBhvr>
                                      <p:to>
                                        <p:strVal val="visible"/>
                                      </p:to>
                                    </p:set>
                                    <p:anim calcmode="lin" valueType="num">
                                      <p:cBhvr additive="base">
                                        <p:cTn id="138" dur="500" fill="hold"/>
                                        <p:tgtEl>
                                          <p:spTgt spid="39"/>
                                        </p:tgtEl>
                                        <p:attrNameLst>
                                          <p:attrName>ppt_x</p:attrName>
                                        </p:attrNameLst>
                                      </p:cBhvr>
                                      <p:tavLst>
                                        <p:tav tm="0">
                                          <p:val>
                                            <p:strVal val="#ppt_x"/>
                                          </p:val>
                                        </p:tav>
                                        <p:tav tm="100000">
                                          <p:val>
                                            <p:strVal val="#ppt_x"/>
                                          </p:val>
                                        </p:tav>
                                      </p:tavLst>
                                    </p:anim>
                                    <p:anim calcmode="lin" valueType="num">
                                      <p:cBhvr additive="base">
                                        <p:cTn id="139" dur="500" fill="hold"/>
                                        <p:tgtEl>
                                          <p:spTgt spid="39"/>
                                        </p:tgtEl>
                                        <p:attrNameLst>
                                          <p:attrName>ppt_y</p:attrName>
                                        </p:attrNameLst>
                                      </p:cBhvr>
                                      <p:tavLst>
                                        <p:tav tm="0">
                                          <p:val>
                                            <p:strVal val="#ppt_y+0.1"/>
                                          </p:val>
                                        </p:tav>
                                        <p:tav tm="100000">
                                          <p:val>
                                            <p:strVal val="#ppt_y"/>
                                          </p:val>
                                        </p:tav>
                                      </p:tavLst>
                                    </p:anim>
                                    <p:animEffect transition="in" filter="fade">
                                      <p:cBhvr>
                                        <p:cTn id="140" dur="500"/>
                                        <p:tgtEl>
                                          <p:spTgt spid="39"/>
                                        </p:tgtEl>
                                      </p:cBhvr>
                                    </p:animEffect>
                                  </p:childTnLst>
                                </p:cTn>
                              </p:par>
                              <p:par>
                                <p:cTn id="146" presetID="2" presetClass="entr" presetSubtype="4" fill="hold" grpId="0" nodeType="withEffect">
                                  <p:stCondLst>
                                    <p:cond delay="0"/>
                                  </p:stCondLst>
                                  <p:childTnLst>
                                    <p:set>
                                      <p:cBhvr>
                                        <p:cTn id="142" dur="1" fill="hold">
                                          <p:stCondLst>
                                            <p:cond delay="0"/>
                                          </p:stCondLst>
                                        </p:cTn>
                                        <p:tgtEl>
                                          <p:spTgt spid="40"/>
                                        </p:tgtEl>
                                        <p:attrNameLst>
                                          <p:attrName>style.visibility</p:attrName>
                                        </p:attrNameLst>
                                      </p:cBhvr>
                                      <p:to>
                                        <p:strVal val="visible"/>
                                      </p:to>
                                    </p:set>
                                    <p:anim calcmode="lin" valueType="num">
                                      <p:cBhvr additive="base">
                                        <p:cTn id="143" dur="500" fill="hold"/>
                                        <p:tgtEl>
                                          <p:spTgt spid="40"/>
                                        </p:tgtEl>
                                        <p:attrNameLst>
                                          <p:attrName>ppt_x</p:attrName>
                                        </p:attrNameLst>
                                      </p:cBhvr>
                                      <p:tavLst>
                                        <p:tav tm="0">
                                          <p:val>
                                            <p:strVal val="#ppt_x"/>
                                          </p:val>
                                        </p:tav>
                                        <p:tav tm="100000">
                                          <p:val>
                                            <p:strVal val="#ppt_x"/>
                                          </p:val>
                                        </p:tav>
                                      </p:tavLst>
                                    </p:anim>
                                    <p:anim calcmode="lin" valueType="num">
                                      <p:cBhvr additive="base">
                                        <p:cTn id="144" dur="500" fill="hold"/>
                                        <p:tgtEl>
                                          <p:spTgt spid="40"/>
                                        </p:tgtEl>
                                        <p:attrNameLst>
                                          <p:attrName>ppt_y</p:attrName>
                                        </p:attrNameLst>
                                      </p:cBhvr>
                                      <p:tavLst>
                                        <p:tav tm="0">
                                          <p:val>
                                            <p:strVal val="#ppt_y+0.1"/>
                                          </p:val>
                                        </p:tav>
                                        <p:tav tm="100000">
                                          <p:val>
                                            <p:strVal val="#ppt_y"/>
                                          </p:val>
                                        </p:tav>
                                      </p:tavLst>
                                    </p:anim>
                                    <p:animEffect transition="in" filter="fade">
                                      <p:cBhvr>
                                        <p:cTn id="145" dur="500"/>
                                        <p:tgtEl>
                                          <p:spTgt spid="40"/>
                                        </p:tgtEl>
                                      </p:cBhvr>
                                    </p:animEffect>
                                  </p:childTnLst>
                                </p:cTn>
                              </p:par>
                              <p:par>
                                <p:cTn id="151" presetID="2" presetClass="entr" presetSubtype="4" fill="hold" grpId="0" nodeType="withEffect">
                                  <p:stCondLst>
                                    <p:cond delay="0"/>
                                  </p:stCondLst>
                                  <p:childTnLst>
                                    <p:set>
                                      <p:cBhvr>
                                        <p:cTn id="147" dur="1" fill="hold">
                                          <p:stCondLst>
                                            <p:cond delay="0"/>
                                          </p:stCondLst>
                                        </p:cTn>
                                        <p:tgtEl>
                                          <p:spTgt spid="41"/>
                                        </p:tgtEl>
                                        <p:attrNameLst>
                                          <p:attrName>style.visibility</p:attrName>
                                        </p:attrNameLst>
                                      </p:cBhvr>
                                      <p:to>
                                        <p:strVal val="visible"/>
                                      </p:to>
                                    </p:set>
                                    <p:anim calcmode="lin" valueType="num">
                                      <p:cBhvr additive="base">
                                        <p:cTn id="148" dur="500" fill="hold"/>
                                        <p:tgtEl>
                                          <p:spTgt spid="41"/>
                                        </p:tgtEl>
                                        <p:attrNameLst>
                                          <p:attrName>ppt_x</p:attrName>
                                        </p:attrNameLst>
                                      </p:cBhvr>
                                      <p:tavLst>
                                        <p:tav tm="0">
                                          <p:val>
                                            <p:strVal val="#ppt_x"/>
                                          </p:val>
                                        </p:tav>
                                        <p:tav tm="100000">
                                          <p:val>
                                            <p:strVal val="#ppt_x"/>
                                          </p:val>
                                        </p:tav>
                                      </p:tavLst>
                                    </p:anim>
                                    <p:anim calcmode="lin" valueType="num">
                                      <p:cBhvr additive="base">
                                        <p:cTn id="149" dur="500" fill="hold"/>
                                        <p:tgtEl>
                                          <p:spTgt spid="41"/>
                                        </p:tgtEl>
                                        <p:attrNameLst>
                                          <p:attrName>ppt_y</p:attrName>
                                        </p:attrNameLst>
                                      </p:cBhvr>
                                      <p:tavLst>
                                        <p:tav tm="0">
                                          <p:val>
                                            <p:strVal val="#ppt_y+0.1"/>
                                          </p:val>
                                        </p:tav>
                                        <p:tav tm="100000">
                                          <p:val>
                                            <p:strVal val="#ppt_y"/>
                                          </p:val>
                                        </p:tav>
                                      </p:tavLst>
                                    </p:anim>
                                    <p:animEffect transition="in" filter="fade">
                                      <p:cBhvr>
                                        <p:cTn id="150" dur="500"/>
                                        <p:tgtEl>
                                          <p:spTgt spid="41"/>
                                        </p:tgtEl>
                                      </p:cBhvr>
                                    </p:animEffect>
                                  </p:childTnLst>
                                </p:cTn>
                              </p:par>
                              <p:par>
                                <p:cTn id="156" presetID="2" presetClass="entr" presetSubtype="4" fill="hold" grpId="0" nodeType="withEffect">
                                  <p:stCondLst>
                                    <p:cond delay="80"/>
                                  </p:stCondLst>
                                  <p:childTnLst>
                                    <p:set>
                                      <p:cBhvr>
                                        <p:cTn id="152" dur="1" fill="hold">
                                          <p:stCondLst>
                                            <p:cond delay="0"/>
                                          </p:stCondLst>
                                        </p:cTn>
                                        <p:tgtEl>
                                          <p:spTgt spid="42"/>
                                        </p:tgtEl>
                                        <p:attrNameLst>
                                          <p:attrName>style.visibility</p:attrName>
                                        </p:attrNameLst>
                                      </p:cBhvr>
                                      <p:to>
                                        <p:strVal val="visible"/>
                                      </p:to>
                                    </p:set>
                                    <p:anim calcmode="lin" valueType="num">
                                      <p:cBhvr additive="base">
                                        <p:cTn id="153" dur="500" fill="hold"/>
                                        <p:tgtEl>
                                          <p:spTgt spid="42"/>
                                        </p:tgtEl>
                                        <p:attrNameLst>
                                          <p:attrName>ppt_x</p:attrName>
                                        </p:attrNameLst>
                                      </p:cBhvr>
                                      <p:tavLst>
                                        <p:tav tm="0">
                                          <p:val>
                                            <p:strVal val="#ppt_x"/>
                                          </p:val>
                                        </p:tav>
                                        <p:tav tm="100000">
                                          <p:val>
                                            <p:strVal val="#ppt_x"/>
                                          </p:val>
                                        </p:tav>
                                      </p:tavLst>
                                    </p:anim>
                                    <p:anim calcmode="lin" valueType="num">
                                      <p:cBhvr additive="base">
                                        <p:cTn id="154" dur="500" fill="hold"/>
                                        <p:tgtEl>
                                          <p:spTgt spid="42"/>
                                        </p:tgtEl>
                                        <p:attrNameLst>
                                          <p:attrName>ppt_y</p:attrName>
                                        </p:attrNameLst>
                                      </p:cBhvr>
                                      <p:tavLst>
                                        <p:tav tm="0">
                                          <p:val>
                                            <p:strVal val="#ppt_y+0.1"/>
                                          </p:val>
                                        </p:tav>
                                        <p:tav tm="100000">
                                          <p:val>
                                            <p:strVal val="#ppt_y"/>
                                          </p:val>
                                        </p:tav>
                                      </p:tavLst>
                                    </p:anim>
                                    <p:animEffect transition="in" filter="fade">
                                      <p:cBhvr>
                                        <p:cTn id="15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FB9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FDB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h8"/>
          <p:cNvSpPr txBox="1"/>
          <p:nvPr/>
        </p:nvSpPr>
        <p:spPr>
          <a:xfrm>
            <a:off x="457200" y="256032"/>
            <a:ext cx="8229600" cy="502920"/>
          </a:xfrm>
          <a:prstGeom prst="rect">
            <a:avLst/>
          </a:prstGeom>
          <a:noFill/>
        </p:spPr>
        <p:txBody>
          <a:bodyPr wrap="square" lIns="0" tIns="0" rIns="0" bIns="0" anchor="ctr">
            <a:spAutoFit/>
          </a:bodyPr>
          <a:lstStyle/>
          <a:p>
            <a:pPr algn="l"/>
            <a:r>
              <a:rPr sz="2550" b="0">
                <a:solidFill>
                  <a:srgbClr val="1C1917"/>
                </a:solidFill>
                <a:latin typeface="Bahnschrift SemiBold"/>
              </a:rPr>
              <a:t>Why It's Non-Negotiable</a:t>
            </a:r>
          </a:p>
        </p:txBody>
      </p:sp>
      <p:sp>
        <p:nvSpPr>
          <p:cNvPr id="10" name="sub9"/>
          <p:cNvSpPr txBox="1"/>
          <p:nvPr/>
        </p:nvSpPr>
        <p:spPr>
          <a:xfrm>
            <a:off x="457200" y="768096"/>
            <a:ext cx="8229600" cy="292608"/>
          </a:xfrm>
          <a:prstGeom prst="rect">
            <a:avLst/>
          </a:prstGeom>
          <a:noFill/>
        </p:spPr>
        <p:txBody>
          <a:bodyPr wrap="square" lIns="0" tIns="0" rIns="0" bIns="0" anchor="ctr">
            <a:spAutoFit/>
          </a:bodyPr>
          <a:lstStyle/>
          <a:p>
            <a:pPr algn="l"/>
            <a:r>
              <a:rPr sz="1150" b="0">
                <a:solidFill>
                  <a:srgbClr val="78716C"/>
                </a:solidFill>
                <a:latin typeface="Segoe UI"/>
              </a:rPr>
              <a:t>In any non-trivial system, consumers you have never met will need your schemas</a:t>
            </a:r>
          </a:p>
        </p:txBody>
      </p:sp>
      <p:sp>
        <p:nvSpPr>
          <p:cNvPr id="11" name="a1u_card10"/>
          <p:cNvSpPr/>
          <p:nvPr/>
        </p:nvSpPr>
        <p:spPr>
          <a:xfrm>
            <a:off x="457200" y="1280160"/>
            <a:ext cx="402336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a1u_acc11"/>
          <p:cNvSpPr/>
          <p:nvPr/>
        </p:nvSpPr>
        <p:spPr>
          <a:xfrm>
            <a:off x="457200" y="1280160"/>
            <a:ext cx="4023360" cy="457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a1u_tt12"/>
          <p:cNvSpPr txBox="1"/>
          <p:nvPr/>
        </p:nvSpPr>
        <p:spPr>
          <a:xfrm>
            <a:off x="603504" y="1389888"/>
            <a:ext cx="3749040" cy="256032"/>
          </a:xfrm>
          <a:prstGeom prst="rect">
            <a:avLst/>
          </a:prstGeom>
          <a:noFill/>
        </p:spPr>
        <p:txBody>
          <a:bodyPr wrap="square" lIns="0" tIns="0" rIns="0" bIns="0" anchor="ctr">
            <a:spAutoFit/>
          </a:bodyPr>
          <a:lstStyle/>
          <a:p>
            <a:pPr algn="l"/>
            <a:r>
              <a:rPr sz="1100" b="1">
                <a:solidFill>
                  <a:srgbClr val="1C1917"/>
                </a:solidFill>
                <a:latin typeface="Segoe UI"/>
              </a:rPr>
              <a:t>Centralized schemas</a:t>
            </a:r>
          </a:p>
        </p:txBody>
      </p:sp>
      <p:sp>
        <p:nvSpPr>
          <p:cNvPr id="14" name="a1ud60_tb13"/>
          <p:cNvSpPr txBox="1"/>
          <p:nvPr/>
        </p:nvSpPr>
        <p:spPr>
          <a:xfrm>
            <a:off x="603504" y="1682495"/>
            <a:ext cx="3749040" cy="411479"/>
          </a:xfrm>
          <a:prstGeom prst="rect">
            <a:avLst/>
          </a:prstGeom>
          <a:noFill/>
        </p:spPr>
        <p:txBody>
          <a:bodyPr wrap="square" lIns="0" tIns="0" rIns="0" bIns="0" anchor="t">
            <a:spAutoFit/>
          </a:bodyPr>
          <a:lstStyle/>
          <a:p>
            <a:pPr algn="l"/>
            <a:r>
              <a:rPr sz="900" b="0">
                <a:solidFill>
                  <a:srgbClr val="44403C"/>
                </a:solidFill>
                <a:latin typeface="Segoe UI"/>
              </a:rPr>
              <a:t>one shared understanding of every topic's format</a:t>
            </a:r>
          </a:p>
        </p:txBody>
      </p:sp>
      <p:sp>
        <p:nvSpPr>
          <p:cNvPr id="15" name="a2u_card14"/>
          <p:cNvSpPr/>
          <p:nvPr/>
        </p:nvSpPr>
        <p:spPr>
          <a:xfrm>
            <a:off x="4663440" y="1280160"/>
            <a:ext cx="402336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a2u_acc15"/>
          <p:cNvSpPr/>
          <p:nvPr/>
        </p:nvSpPr>
        <p:spPr>
          <a:xfrm>
            <a:off x="4663440" y="1280160"/>
            <a:ext cx="4023360" cy="45720"/>
          </a:xfrm>
          <a:prstGeom prst="rect">
            <a:avLst/>
          </a:prstGeom>
          <a:solidFill>
            <a:srgbClr val="0E749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2u_tt16"/>
          <p:cNvSpPr txBox="1"/>
          <p:nvPr/>
        </p:nvSpPr>
        <p:spPr>
          <a:xfrm>
            <a:off x="4809744" y="1389888"/>
            <a:ext cx="3749040" cy="256032"/>
          </a:xfrm>
          <a:prstGeom prst="rect">
            <a:avLst/>
          </a:prstGeom>
          <a:noFill/>
        </p:spPr>
        <p:txBody>
          <a:bodyPr wrap="square" lIns="0" tIns="0" rIns="0" bIns="0" anchor="ctr">
            <a:spAutoFit/>
          </a:bodyPr>
          <a:lstStyle/>
          <a:p>
            <a:pPr algn="l"/>
            <a:r>
              <a:rPr sz="1100" b="1">
                <a:solidFill>
                  <a:srgbClr val="1C1917"/>
                </a:solidFill>
                <a:latin typeface="Segoe UI"/>
              </a:rPr>
              <a:t>Compatibility enforced</a:t>
            </a:r>
          </a:p>
        </p:txBody>
      </p:sp>
      <p:sp>
        <p:nvSpPr>
          <p:cNvPr id="18" name="a2ud60_tb17"/>
          <p:cNvSpPr txBox="1"/>
          <p:nvPr/>
        </p:nvSpPr>
        <p:spPr>
          <a:xfrm>
            <a:off x="4809744" y="1682495"/>
            <a:ext cx="3749040" cy="411479"/>
          </a:xfrm>
          <a:prstGeom prst="rect">
            <a:avLst/>
          </a:prstGeom>
          <a:noFill/>
        </p:spPr>
        <p:txBody>
          <a:bodyPr wrap="square" lIns="0" tIns="0" rIns="0" bIns="0" anchor="t">
            <a:spAutoFit/>
          </a:bodyPr>
          <a:lstStyle/>
          <a:p>
            <a:pPr algn="l"/>
            <a:r>
              <a:rPr sz="900" b="0">
                <a:solidFill>
                  <a:srgbClr val="44403C"/>
                </a:solidFill>
                <a:latin typeface="Segoe UI"/>
              </a:rPr>
              <a:t>breaking changes are rejected before they ship</a:t>
            </a:r>
          </a:p>
        </p:txBody>
      </p:sp>
      <p:sp>
        <p:nvSpPr>
          <p:cNvPr id="19" name="a3u_card18"/>
          <p:cNvSpPr/>
          <p:nvPr/>
        </p:nvSpPr>
        <p:spPr>
          <a:xfrm>
            <a:off x="457200" y="2286000"/>
            <a:ext cx="402336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3u_acc19"/>
          <p:cNvSpPr/>
          <p:nvPr/>
        </p:nvSpPr>
        <p:spPr>
          <a:xfrm>
            <a:off x="457200" y="2286000"/>
            <a:ext cx="4023360" cy="45720"/>
          </a:xfrm>
          <a:prstGeom prst="rect">
            <a:avLst/>
          </a:prstGeom>
          <a:solidFill>
            <a:srgbClr val="A1620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a3u_tt20"/>
          <p:cNvSpPr txBox="1"/>
          <p:nvPr/>
        </p:nvSpPr>
        <p:spPr>
          <a:xfrm>
            <a:off x="603504" y="2395728"/>
            <a:ext cx="3749040" cy="256032"/>
          </a:xfrm>
          <a:prstGeom prst="rect">
            <a:avLst/>
          </a:prstGeom>
          <a:noFill/>
        </p:spPr>
        <p:txBody>
          <a:bodyPr wrap="square" lIns="0" tIns="0" rIns="0" bIns="0" anchor="ctr">
            <a:spAutoFit/>
          </a:bodyPr>
          <a:lstStyle/>
          <a:p>
            <a:pPr algn="l"/>
            <a:r>
              <a:rPr sz="1100" b="1">
                <a:solidFill>
                  <a:srgbClr val="1C1917"/>
                </a:solidFill>
                <a:latin typeface="Segoe UI"/>
              </a:rPr>
              <a:t>Governance and collaboration</a:t>
            </a:r>
          </a:p>
        </p:txBody>
      </p:sp>
      <p:sp>
        <p:nvSpPr>
          <p:cNvPr id="22" name="a3ud60_tb21"/>
          <p:cNvSpPr txBox="1"/>
          <p:nvPr/>
        </p:nvSpPr>
        <p:spPr>
          <a:xfrm>
            <a:off x="603504" y="2688336"/>
            <a:ext cx="3749040" cy="411479"/>
          </a:xfrm>
          <a:prstGeom prst="rect">
            <a:avLst/>
          </a:prstGeom>
          <a:noFill/>
        </p:spPr>
        <p:txBody>
          <a:bodyPr wrap="square" lIns="0" tIns="0" rIns="0" bIns="0" anchor="t">
            <a:spAutoFit/>
          </a:bodyPr>
          <a:lstStyle/>
          <a:p>
            <a:pPr algn="l"/>
            <a:r>
              <a:rPr sz="900" b="0">
                <a:solidFill>
                  <a:srgbClr val="44403C"/>
                </a:solidFill>
                <a:latin typeface="Segoe UI"/>
              </a:rPr>
              <a:t>the schema file is the contract teams negotiate</a:t>
            </a:r>
          </a:p>
        </p:txBody>
      </p:sp>
      <p:sp>
        <p:nvSpPr>
          <p:cNvPr id="23" name="a4u_card22"/>
          <p:cNvSpPr/>
          <p:nvPr/>
        </p:nvSpPr>
        <p:spPr>
          <a:xfrm>
            <a:off x="4663440" y="2286000"/>
            <a:ext cx="4023360" cy="868680"/>
          </a:xfrm>
          <a:prstGeom prst="roundRect">
            <a:avLst>
              <a:gd name="adj" fmla="val 12631"/>
            </a:avLst>
          </a:prstGeom>
          <a:solidFill>
            <a:srgbClr val="F7F6F3"/>
          </a:solidFill>
          <a:ln w="12700">
            <a:solidFill>
              <a:srgbClr val="E7E5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a4u_acc23"/>
          <p:cNvSpPr/>
          <p:nvPr/>
        </p:nvSpPr>
        <p:spPr>
          <a:xfrm>
            <a:off x="4663440" y="2286000"/>
            <a:ext cx="4023360" cy="457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a4u_tt24"/>
          <p:cNvSpPr txBox="1"/>
          <p:nvPr/>
        </p:nvSpPr>
        <p:spPr>
          <a:xfrm>
            <a:off x="4809744" y="2395728"/>
            <a:ext cx="3749040" cy="256032"/>
          </a:xfrm>
          <a:prstGeom prst="rect">
            <a:avLst/>
          </a:prstGeom>
          <a:noFill/>
        </p:spPr>
        <p:txBody>
          <a:bodyPr wrap="square" lIns="0" tIns="0" rIns="0" bIns="0" anchor="ctr">
            <a:spAutoFit/>
          </a:bodyPr>
          <a:lstStyle/>
          <a:p>
            <a:pPr algn="l"/>
            <a:r>
              <a:rPr sz="1100" b="1">
                <a:solidFill>
                  <a:srgbClr val="1C1917"/>
                </a:solidFill>
                <a:latin typeface="Segoe UI"/>
              </a:rPr>
              <a:t>Compile-time checks</a:t>
            </a:r>
          </a:p>
        </p:txBody>
      </p:sp>
      <p:sp>
        <p:nvSpPr>
          <p:cNvPr id="26" name="a4ud60_tb25"/>
          <p:cNvSpPr txBox="1"/>
          <p:nvPr/>
        </p:nvSpPr>
        <p:spPr>
          <a:xfrm>
            <a:off x="4809744" y="2688336"/>
            <a:ext cx="3749040" cy="411479"/>
          </a:xfrm>
          <a:prstGeom prst="rect">
            <a:avLst/>
          </a:prstGeom>
          <a:noFill/>
        </p:spPr>
        <p:txBody>
          <a:bodyPr wrap="square" lIns="0" tIns="0" rIns="0" bIns="0" anchor="t">
            <a:spAutoFit/>
          </a:bodyPr>
          <a:lstStyle/>
          <a:p>
            <a:pPr algn="l"/>
            <a:r>
              <a:rPr sz="900" b="0">
                <a:solidFill>
                  <a:srgbClr val="44403C"/>
                </a:solidFill>
                <a:latin typeface="Segoe UI"/>
              </a:rPr>
              <a:t>verify a change before deploying any code</a:t>
            </a:r>
          </a:p>
        </p:txBody>
      </p:sp>
      <p:sp>
        <p:nvSpPr>
          <p:cNvPr id="27" name="a5u_nb26"/>
          <p:cNvSpPr/>
          <p:nvPr/>
        </p:nvSpPr>
        <p:spPr>
          <a:xfrm>
            <a:off x="457200" y="3346704"/>
            <a:ext cx="8229600" cy="548640"/>
          </a:xfrm>
          <a:prstGeom prst="roundRect">
            <a:avLst>
              <a:gd name="adj" fmla="val 13333"/>
            </a:avLst>
          </a:prstGeom>
          <a:solidFill>
            <a:srgbClr val="E0E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5u_nacc27"/>
          <p:cNvSpPr/>
          <p:nvPr/>
        </p:nvSpPr>
        <p:spPr>
          <a:xfrm>
            <a:off x="457200" y="3346704"/>
            <a:ext cx="54864" cy="54864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a5u_nt28"/>
          <p:cNvSpPr txBox="1"/>
          <p:nvPr/>
        </p:nvSpPr>
        <p:spPr>
          <a:xfrm>
            <a:off x="658368" y="3346704"/>
            <a:ext cx="7827264" cy="548640"/>
          </a:xfrm>
          <a:prstGeom prst="rect">
            <a:avLst/>
          </a:prstGeom>
          <a:noFill/>
        </p:spPr>
        <p:txBody>
          <a:bodyPr wrap="square" lIns="0" tIns="0" rIns="0" bIns="0" anchor="ctr">
            <a:spAutoFit/>
          </a:bodyPr>
          <a:lstStyle/>
          <a:p>
            <a:pPr algn="l"/>
            <a:r>
              <a:rPr sz="950" b="1">
                <a:solidFill>
                  <a:srgbClr val="4F46E5"/>
                </a:solidFill>
                <a:latin typeface="Segoe UI"/>
              </a:rPr>
              <a:t>i  </a:t>
            </a:r>
            <a:r>
              <a:rPr sz="950" b="0">
                <a:solidFill>
                  <a:srgbClr val="44403C"/>
                </a:solidFill>
                <a:latin typeface="Segoe UI"/>
              </a:rPr>
              <a:t>Confluent Cloud adds governance on top: data contracts, a catalog for discovering data, and change management at scale.</a:t>
            </a:r>
          </a:p>
        </p:txBody>
      </p:sp>
      <p:sp>
        <p:nvSpPr>
          <p:cNvPr id="30" name="a6u_nb29"/>
          <p:cNvSpPr/>
          <p:nvPr/>
        </p:nvSpPr>
        <p:spPr>
          <a:xfrm>
            <a:off x="457200" y="4005072"/>
            <a:ext cx="8229600" cy="493776"/>
          </a:xfrm>
          <a:prstGeom prst="roundRect">
            <a:avLst>
              <a:gd name="adj" fmla="val 14814"/>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a6u_nacc30"/>
          <p:cNvSpPr/>
          <p:nvPr/>
        </p:nvSpPr>
        <p:spPr>
          <a:xfrm>
            <a:off x="457200" y="4005072"/>
            <a:ext cx="54864" cy="493776"/>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a6u_nt31"/>
          <p:cNvSpPr txBox="1"/>
          <p:nvPr/>
        </p:nvSpPr>
        <p:spPr>
          <a:xfrm>
            <a:off x="658368" y="4005072"/>
            <a:ext cx="7827264" cy="493776"/>
          </a:xfrm>
          <a:prstGeom prst="rect">
            <a:avLst/>
          </a:prstGeom>
          <a:noFill/>
        </p:spPr>
        <p:txBody>
          <a:bodyPr wrap="square" lIns="0" tIns="0" rIns="0" bIns="0" anchor="ctr">
            <a:spAutoFit/>
          </a:bodyPr>
          <a:lstStyle/>
          <a:p>
            <a:pPr algn="l"/>
            <a:r>
              <a:rPr sz="950" b="1">
                <a:solidFill>
                  <a:srgbClr val="C2410C"/>
                </a:solidFill>
                <a:latin typeface="Segoe UI"/>
              </a:rPr>
              <a:t>KEY  </a:t>
            </a:r>
            <a:r>
              <a:rPr sz="950" b="0">
                <a:solidFill>
                  <a:srgbClr val="44403C"/>
                </a:solidFill>
                <a:latin typeface="Segoe UI"/>
              </a:rPr>
              <a:t>No matter how well you model it up front, your schemas are going to change. Plan for it.</a:t>
            </a:r>
          </a:p>
        </p:txBody>
      </p:sp>
      <p:sp>
        <p:nvSpPr>
          <p:cNvPr id="33" name="ft32"/>
          <p:cNvSpPr txBox="1"/>
          <p:nvPr/>
        </p:nvSpPr>
        <p:spPr>
          <a:xfrm>
            <a:off x="457200" y="4736592"/>
            <a:ext cx="310896" cy="219456"/>
          </a:xfrm>
          <a:prstGeom prst="rect">
            <a:avLst/>
          </a:prstGeom>
          <a:noFill/>
        </p:spPr>
        <p:txBody>
          <a:bodyPr wrap="square" lIns="0" tIns="0" rIns="0" bIns="0" anchor="ctr">
            <a:spAutoFit/>
          </a:bodyPr>
          <a:lstStyle/>
          <a:p>
            <a:pPr algn="l"/>
            <a:r>
              <a:rPr sz="950" b="0">
                <a:solidFill>
                  <a:srgbClr val="EA580C"/>
                </a:solidFill>
                <a:latin typeface="Bahnschrift SemiBold"/>
              </a:rPr>
              <a:t>12</a:t>
            </a:r>
          </a:p>
        </p:txBody>
      </p:sp>
      <p:sp>
        <p:nvSpPr>
          <p:cNvPr id="34" name="ft33"/>
          <p:cNvSpPr/>
          <p:nvPr/>
        </p:nvSpPr>
        <p:spPr>
          <a:xfrm>
            <a:off x="768096" y="4777740"/>
            <a:ext cx="12801" cy="137160"/>
          </a:xfrm>
          <a:prstGeom prst="rect">
            <a:avLst/>
          </a:prstGeom>
          <a:solidFill>
            <a:srgbClr val="E7E5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ft34"/>
          <p:cNvSpPr txBox="1"/>
          <p:nvPr/>
        </p:nvSpPr>
        <p:spPr>
          <a:xfrm>
            <a:off x="877824" y="4736592"/>
            <a:ext cx="4754880" cy="219456"/>
          </a:xfrm>
          <a:prstGeom prst="rect">
            <a:avLst/>
          </a:prstGeom>
          <a:noFill/>
        </p:spPr>
        <p:txBody>
          <a:bodyPr wrap="square" lIns="0" tIns="0" rIns="0" bIns="0" anchor="ctr">
            <a:spAutoFit/>
          </a:bodyPr>
          <a:lstStyle/>
          <a:p>
            <a:pPr algn="l"/>
            <a:r>
              <a:rPr sz="800" b="0">
                <a:solidFill>
                  <a:srgbClr val="78716C"/>
                </a:solidFill>
                <a:latin typeface="Segoe UI"/>
              </a:rPr>
              <a:t>Apache Kafka 101  ·  Schema Registry</a:t>
            </a:r>
          </a:p>
        </p:txBody>
      </p:sp>
      <p:sp>
        <p:nvSpPr>
          <p:cNvPr id="36" name="ft35"/>
          <p:cNvSpPr txBox="1"/>
          <p:nvPr/>
        </p:nvSpPr>
        <p:spPr>
          <a:xfrm>
            <a:off x="5486400" y="4736592"/>
            <a:ext cx="3200400" cy="219456"/>
          </a:xfrm>
          <a:prstGeom prst="rect">
            <a:avLst/>
          </a:prstGeom>
          <a:noFill/>
        </p:spPr>
        <p:txBody>
          <a:bodyPr wrap="square" lIns="0" tIns="0" rIns="0" bIns="0" anchor="ctr">
            <a:spAutoFit/>
          </a:bodyPr>
          <a:lstStyle/>
          <a:p>
            <a:pPr algn="r"/>
            <a:r>
              <a:rPr sz="750" b="1" spc="140">
                <a:solidFill>
                  <a:srgbClr val="78716C"/>
                </a:solidFill>
                <a:latin typeface="Segoe UI"/>
              </a:rPr>
              <a:t>MODULE 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2" presetClass="entr" presetSubtype="4" fill="hold" grpId="0" nodeType="clickEffect">
                                  <p:stCondLst>
                                    <p:cond delay="0"/>
                                  </p:stCondLst>
                                  <p:childTnLst>
                                    <p:set>
                                      <p:cBhvr>
                                        <p:cTn id="5" dur="1" fill="hold">
                                          <p:stCondLst>
                                            <p:cond delay="0"/>
                                          </p:stCondLst>
                                        </p:cTn>
                                        <p:tgtEl>
                                          <p:spTgt spid="11"/>
                                        </p:tgtEl>
                                        <p:attrNameLst>
                                          <p:attrName>style.visibility</p:attrName>
                                        </p:attrNameLst>
                                      </p:cBhvr>
                                      <p:to>
                                        <p:strVal val="visible"/>
                                      </p:to>
                                    </p:set>
                                    <p:anim calcmode="lin" valueType="num">
                                      <p:cBhvr additive="base">
                                        <p:cTn id="6" dur="500" fill="hold"/>
                                        <p:tgtEl>
                                          <p:spTgt spid="11"/>
                                        </p:tgtEl>
                                        <p:attrNameLst>
                                          <p:attrName>ppt_x</p:attrName>
                                        </p:attrNameLst>
                                      </p:cBhvr>
                                      <p:tavLst>
                                        <p:tav tm="0">
                                          <p:val>
                                            <p:strVal val="#ppt_x"/>
                                          </p:val>
                                        </p:tav>
                                        <p:tav tm="100000">
                                          <p:val>
                                            <p:strVal val="#ppt_x"/>
                                          </p:val>
                                        </p:tav>
                                      </p:tavLst>
                                    </p:anim>
                                    <p:anim calcmode="lin" valueType="num">
                                      <p:cBhvr additive="base">
                                        <p:cTn id="7" dur="500" fill="hold"/>
                                        <p:tgtEl>
                                          <p:spTgt spid="11"/>
                                        </p:tgtEl>
                                        <p:attrNameLst>
                                          <p:attrName>ppt_y</p:attrName>
                                        </p:attrNameLst>
                                      </p:cBhvr>
                                      <p:tavLst>
                                        <p:tav tm="0">
                                          <p:val>
                                            <p:strVal val="#ppt_y+0.1"/>
                                          </p:val>
                                        </p:tav>
                                        <p:tav tm="100000">
                                          <p:val>
                                            <p:strVal val="#ppt_y"/>
                                          </p:val>
                                        </p:tav>
                                      </p:tavLst>
                                    </p:anim>
                                    <p:animEffect transition="in" filter="fade">
                                      <p:cBhvr>
                                        <p:cTn id="8" dur="500"/>
                                        <p:tgtEl>
                                          <p:spTgt spid="11"/>
                                        </p:tgtEl>
                                      </p:cBhvr>
                                    </p:animEffect>
                                  </p:childTnLst>
                                </p:cTn>
                              </p:par>
                              <p:par>
                                <p:cTn id="14"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ppt_y+0.1"/>
                                          </p:val>
                                        </p:tav>
                                        <p:tav tm="100000">
                                          <p:val>
                                            <p:strVal val="#ppt_y"/>
                                          </p:val>
                                        </p:tav>
                                      </p:tavLst>
                                    </p:anim>
                                    <p:animEffect transition="in" filter="fade">
                                      <p:cBhvr>
                                        <p:cTn id="13" dur="500"/>
                                        <p:tgtEl>
                                          <p:spTgt spid="12"/>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ppt_y+0.1"/>
                                          </p:val>
                                        </p:tav>
                                        <p:tav tm="100000">
                                          <p:val>
                                            <p:strVal val="#ppt_y"/>
                                          </p:val>
                                        </p:tav>
                                      </p:tavLst>
                                    </p:anim>
                                    <p:animEffect transition="in" filter="fade">
                                      <p:cBhvr>
                                        <p:cTn id="18" dur="500"/>
                                        <p:tgtEl>
                                          <p:spTgt spid="13"/>
                                        </p:tgtEl>
                                      </p:cBhvr>
                                    </p:animEffect>
                                  </p:childTnLst>
                                </p:cTn>
                              </p:par>
                              <p:par>
                                <p:cTn id="24" presetID="2" presetClass="entr" presetSubtype="4" fill="hold" grpId="0" nodeType="withEffect">
                                  <p:stCondLst>
                                    <p:cond delay="6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ppt_y+0.1"/>
                                          </p:val>
                                        </p:tav>
                                        <p:tav tm="100000">
                                          <p:val>
                                            <p:strVal val="#ppt_y"/>
                                          </p:val>
                                        </p:tav>
                                      </p:tavLst>
                                    </p:anim>
                                    <p:animEffect transition="in" filter="fade">
                                      <p:cBhvr>
                                        <p:cTn id="23"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31" presetID="2" presetClass="entr" presetSubtype="4"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ppt_y+0.1"/>
                                          </p:val>
                                        </p:tav>
                                        <p:tav tm="100000">
                                          <p:val>
                                            <p:strVal val="#ppt_y"/>
                                          </p:val>
                                        </p:tav>
                                      </p:tavLst>
                                    </p:anim>
                                    <p:animEffect transition="in" filter="fade">
                                      <p:cBhvr>
                                        <p:cTn id="30" dur="500"/>
                                        <p:tgtEl>
                                          <p:spTgt spid="15"/>
                                        </p:tgtEl>
                                      </p:cBhvr>
                                    </p:animEffect>
                                  </p:childTnLst>
                                </p:cTn>
                              </p:par>
                              <p:par>
                                <p:cTn id="36" presetID="2" presetClass="entr" presetSubtype="4"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ppt_y+0.1"/>
                                          </p:val>
                                        </p:tav>
                                        <p:tav tm="100000">
                                          <p:val>
                                            <p:strVal val="#ppt_y"/>
                                          </p:val>
                                        </p:tav>
                                      </p:tavLst>
                                    </p:anim>
                                    <p:animEffect transition="in" filter="fade">
                                      <p:cBhvr>
                                        <p:cTn id="35" dur="500"/>
                                        <p:tgtEl>
                                          <p:spTgt spid="16"/>
                                        </p:tgtEl>
                                      </p:cBhvr>
                                    </p:animEffect>
                                  </p:childTnLst>
                                </p:cTn>
                              </p:par>
                              <p:par>
                                <p:cTn id="41" presetID="2" presetClass="entr" presetSubtype="4"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500" fill="hold"/>
                                        <p:tgtEl>
                                          <p:spTgt spid="17"/>
                                        </p:tgtEl>
                                        <p:attrNameLst>
                                          <p:attrName>ppt_x</p:attrName>
                                        </p:attrNameLst>
                                      </p:cBhvr>
                                      <p:tavLst>
                                        <p:tav tm="0">
                                          <p:val>
                                            <p:strVal val="#ppt_x"/>
                                          </p:val>
                                        </p:tav>
                                        <p:tav tm="100000">
                                          <p:val>
                                            <p:strVal val="#ppt_x"/>
                                          </p:val>
                                        </p:tav>
                                      </p:tavLst>
                                    </p:anim>
                                    <p:anim calcmode="lin" valueType="num">
                                      <p:cBhvr additive="base">
                                        <p:cTn id="39" dur="500" fill="hold"/>
                                        <p:tgtEl>
                                          <p:spTgt spid="17"/>
                                        </p:tgtEl>
                                        <p:attrNameLst>
                                          <p:attrName>ppt_y</p:attrName>
                                        </p:attrNameLst>
                                      </p:cBhvr>
                                      <p:tavLst>
                                        <p:tav tm="0">
                                          <p:val>
                                            <p:strVal val="#ppt_y+0.1"/>
                                          </p:val>
                                        </p:tav>
                                        <p:tav tm="100000">
                                          <p:val>
                                            <p:strVal val="#ppt_y"/>
                                          </p:val>
                                        </p:tav>
                                      </p:tavLst>
                                    </p:anim>
                                    <p:animEffect transition="in" filter="fade">
                                      <p:cBhvr>
                                        <p:cTn id="40" dur="500"/>
                                        <p:tgtEl>
                                          <p:spTgt spid="17"/>
                                        </p:tgtEl>
                                      </p:cBhvr>
                                    </p:animEffect>
                                  </p:childTnLst>
                                </p:cTn>
                              </p:par>
                              <p:par>
                                <p:cTn id="46" presetID="2" presetClass="entr" presetSubtype="4" fill="hold" grpId="0" nodeType="withEffect">
                                  <p:stCondLst>
                                    <p:cond delay="6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ppt_x"/>
                                          </p:val>
                                        </p:tav>
                                        <p:tav tm="100000">
                                          <p:val>
                                            <p:strVal val="#ppt_x"/>
                                          </p:val>
                                        </p:tav>
                                      </p:tavLst>
                                    </p:anim>
                                    <p:anim calcmode="lin" valueType="num">
                                      <p:cBhvr additive="base">
                                        <p:cTn id="44" dur="500" fill="hold"/>
                                        <p:tgtEl>
                                          <p:spTgt spid="18"/>
                                        </p:tgtEl>
                                        <p:attrNameLst>
                                          <p:attrName>ppt_y</p:attrName>
                                        </p:attrNameLst>
                                      </p:cBhvr>
                                      <p:tavLst>
                                        <p:tav tm="0">
                                          <p:val>
                                            <p:strVal val="#ppt_y+0.1"/>
                                          </p:val>
                                        </p:tav>
                                        <p:tav tm="100000">
                                          <p:val>
                                            <p:strVal val="#ppt_y"/>
                                          </p:val>
                                        </p:tav>
                                      </p:tavLst>
                                    </p:anim>
                                    <p:animEffect transition="in" filter="fade">
                                      <p:cBhvr>
                                        <p:cTn id="45"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53" presetID="2" presetClass="entr" presetSubtype="4"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additive="base">
                                        <p:cTn id="50" dur="500" fill="hold"/>
                                        <p:tgtEl>
                                          <p:spTgt spid="19"/>
                                        </p:tgtEl>
                                        <p:attrNameLst>
                                          <p:attrName>ppt_x</p:attrName>
                                        </p:attrNameLst>
                                      </p:cBhvr>
                                      <p:tavLst>
                                        <p:tav tm="0">
                                          <p:val>
                                            <p:strVal val="#ppt_x"/>
                                          </p:val>
                                        </p:tav>
                                        <p:tav tm="100000">
                                          <p:val>
                                            <p:strVal val="#ppt_x"/>
                                          </p:val>
                                        </p:tav>
                                      </p:tavLst>
                                    </p:anim>
                                    <p:anim calcmode="lin" valueType="num">
                                      <p:cBhvr additive="base">
                                        <p:cTn id="51" dur="500" fill="hold"/>
                                        <p:tgtEl>
                                          <p:spTgt spid="19"/>
                                        </p:tgtEl>
                                        <p:attrNameLst>
                                          <p:attrName>ppt_y</p:attrName>
                                        </p:attrNameLst>
                                      </p:cBhvr>
                                      <p:tavLst>
                                        <p:tav tm="0">
                                          <p:val>
                                            <p:strVal val="#ppt_y+0.1"/>
                                          </p:val>
                                        </p:tav>
                                        <p:tav tm="100000">
                                          <p:val>
                                            <p:strVal val="#ppt_y"/>
                                          </p:val>
                                        </p:tav>
                                      </p:tavLst>
                                    </p:anim>
                                    <p:animEffect transition="in" filter="fade">
                                      <p:cBhvr>
                                        <p:cTn id="52" dur="500"/>
                                        <p:tgtEl>
                                          <p:spTgt spid="19"/>
                                        </p:tgtEl>
                                      </p:cBhvr>
                                    </p:animEffect>
                                  </p:childTnLst>
                                </p:cTn>
                              </p:par>
                              <p:par>
                                <p:cTn id="58" presetID="2" presetClass="entr" presetSubtype="4"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additive="base">
                                        <p:cTn id="55" dur="500" fill="hold"/>
                                        <p:tgtEl>
                                          <p:spTgt spid="20"/>
                                        </p:tgtEl>
                                        <p:attrNameLst>
                                          <p:attrName>ppt_x</p:attrName>
                                        </p:attrNameLst>
                                      </p:cBhvr>
                                      <p:tavLst>
                                        <p:tav tm="0">
                                          <p:val>
                                            <p:strVal val="#ppt_x"/>
                                          </p:val>
                                        </p:tav>
                                        <p:tav tm="100000">
                                          <p:val>
                                            <p:strVal val="#ppt_x"/>
                                          </p:val>
                                        </p:tav>
                                      </p:tavLst>
                                    </p:anim>
                                    <p:anim calcmode="lin" valueType="num">
                                      <p:cBhvr additive="base">
                                        <p:cTn id="56" dur="500" fill="hold"/>
                                        <p:tgtEl>
                                          <p:spTgt spid="20"/>
                                        </p:tgtEl>
                                        <p:attrNameLst>
                                          <p:attrName>ppt_y</p:attrName>
                                        </p:attrNameLst>
                                      </p:cBhvr>
                                      <p:tavLst>
                                        <p:tav tm="0">
                                          <p:val>
                                            <p:strVal val="#ppt_y+0.1"/>
                                          </p:val>
                                        </p:tav>
                                        <p:tav tm="100000">
                                          <p:val>
                                            <p:strVal val="#ppt_y"/>
                                          </p:val>
                                        </p:tav>
                                      </p:tavLst>
                                    </p:anim>
                                    <p:animEffect transition="in" filter="fade">
                                      <p:cBhvr>
                                        <p:cTn id="57" dur="500"/>
                                        <p:tgtEl>
                                          <p:spTgt spid="20"/>
                                        </p:tgtEl>
                                      </p:cBhvr>
                                    </p:animEffect>
                                  </p:childTnLst>
                                </p:cTn>
                              </p:par>
                              <p:par>
                                <p:cTn id="63" presetID="2" presetClass="entr" presetSubtype="4"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 calcmode="lin" valueType="num">
                                      <p:cBhvr additive="base">
                                        <p:cTn id="60" dur="500" fill="hold"/>
                                        <p:tgtEl>
                                          <p:spTgt spid="21"/>
                                        </p:tgtEl>
                                        <p:attrNameLst>
                                          <p:attrName>ppt_x</p:attrName>
                                        </p:attrNameLst>
                                      </p:cBhvr>
                                      <p:tavLst>
                                        <p:tav tm="0">
                                          <p:val>
                                            <p:strVal val="#ppt_x"/>
                                          </p:val>
                                        </p:tav>
                                        <p:tav tm="100000">
                                          <p:val>
                                            <p:strVal val="#ppt_x"/>
                                          </p:val>
                                        </p:tav>
                                      </p:tavLst>
                                    </p:anim>
                                    <p:anim calcmode="lin" valueType="num">
                                      <p:cBhvr additive="base">
                                        <p:cTn id="61" dur="500" fill="hold"/>
                                        <p:tgtEl>
                                          <p:spTgt spid="21"/>
                                        </p:tgtEl>
                                        <p:attrNameLst>
                                          <p:attrName>ppt_y</p:attrName>
                                        </p:attrNameLst>
                                      </p:cBhvr>
                                      <p:tavLst>
                                        <p:tav tm="0">
                                          <p:val>
                                            <p:strVal val="#ppt_y+0.1"/>
                                          </p:val>
                                        </p:tav>
                                        <p:tav tm="100000">
                                          <p:val>
                                            <p:strVal val="#ppt_y"/>
                                          </p:val>
                                        </p:tav>
                                      </p:tavLst>
                                    </p:anim>
                                    <p:animEffect transition="in" filter="fade">
                                      <p:cBhvr>
                                        <p:cTn id="62" dur="500"/>
                                        <p:tgtEl>
                                          <p:spTgt spid="21"/>
                                        </p:tgtEl>
                                      </p:cBhvr>
                                    </p:animEffect>
                                  </p:childTnLst>
                                </p:cTn>
                              </p:par>
                              <p:par>
                                <p:cTn id="68" presetID="2" presetClass="entr" presetSubtype="4" fill="hold" grpId="0" nodeType="withEffect">
                                  <p:stCondLst>
                                    <p:cond delay="6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500" fill="hold"/>
                                        <p:tgtEl>
                                          <p:spTgt spid="22"/>
                                        </p:tgtEl>
                                        <p:attrNameLst>
                                          <p:attrName>ppt_x</p:attrName>
                                        </p:attrNameLst>
                                      </p:cBhvr>
                                      <p:tavLst>
                                        <p:tav tm="0">
                                          <p:val>
                                            <p:strVal val="#ppt_x"/>
                                          </p:val>
                                        </p:tav>
                                        <p:tav tm="100000">
                                          <p:val>
                                            <p:strVal val="#ppt_x"/>
                                          </p:val>
                                        </p:tav>
                                      </p:tavLst>
                                    </p:anim>
                                    <p:anim calcmode="lin" valueType="num">
                                      <p:cBhvr additive="base">
                                        <p:cTn id="66" dur="500" fill="hold"/>
                                        <p:tgtEl>
                                          <p:spTgt spid="22"/>
                                        </p:tgtEl>
                                        <p:attrNameLst>
                                          <p:attrName>ppt_y</p:attrName>
                                        </p:attrNameLst>
                                      </p:cBhvr>
                                      <p:tavLst>
                                        <p:tav tm="0">
                                          <p:val>
                                            <p:strVal val="#ppt_y+0.1"/>
                                          </p:val>
                                        </p:tav>
                                        <p:tav tm="100000">
                                          <p:val>
                                            <p:strVal val="#ppt_y"/>
                                          </p:val>
                                        </p:tav>
                                      </p:tavLst>
                                    </p:anim>
                                    <p:animEffect transition="in" filter="fade">
                                      <p:cBhvr>
                                        <p:cTn id="67"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5" presetID="2" presetClass="entr" presetSubtype="4"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ppt_x"/>
                                          </p:val>
                                        </p:tav>
                                        <p:tav tm="100000">
                                          <p:val>
                                            <p:strVal val="#ppt_x"/>
                                          </p:val>
                                        </p:tav>
                                      </p:tavLst>
                                    </p:anim>
                                    <p:anim calcmode="lin" valueType="num">
                                      <p:cBhvr additive="base">
                                        <p:cTn id="73" dur="500" fill="hold"/>
                                        <p:tgtEl>
                                          <p:spTgt spid="23"/>
                                        </p:tgtEl>
                                        <p:attrNameLst>
                                          <p:attrName>ppt_y</p:attrName>
                                        </p:attrNameLst>
                                      </p:cBhvr>
                                      <p:tavLst>
                                        <p:tav tm="0">
                                          <p:val>
                                            <p:strVal val="#ppt_y+0.1"/>
                                          </p:val>
                                        </p:tav>
                                        <p:tav tm="100000">
                                          <p:val>
                                            <p:strVal val="#ppt_y"/>
                                          </p:val>
                                        </p:tav>
                                      </p:tavLst>
                                    </p:anim>
                                    <p:animEffect transition="in" filter="fade">
                                      <p:cBhvr>
                                        <p:cTn id="74" dur="500"/>
                                        <p:tgtEl>
                                          <p:spTgt spid="23"/>
                                        </p:tgtEl>
                                      </p:cBhvr>
                                    </p:animEffect>
                                  </p:childTnLst>
                                </p:cTn>
                              </p:par>
                              <p:par>
                                <p:cTn id="80" presetID="2" presetClass="entr" presetSubtype="4"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500" fill="hold"/>
                                        <p:tgtEl>
                                          <p:spTgt spid="24"/>
                                        </p:tgtEl>
                                        <p:attrNameLst>
                                          <p:attrName>ppt_x</p:attrName>
                                        </p:attrNameLst>
                                      </p:cBhvr>
                                      <p:tavLst>
                                        <p:tav tm="0">
                                          <p:val>
                                            <p:strVal val="#ppt_x"/>
                                          </p:val>
                                        </p:tav>
                                        <p:tav tm="100000">
                                          <p:val>
                                            <p:strVal val="#ppt_x"/>
                                          </p:val>
                                        </p:tav>
                                      </p:tavLst>
                                    </p:anim>
                                    <p:anim calcmode="lin" valueType="num">
                                      <p:cBhvr additive="base">
                                        <p:cTn id="78" dur="500" fill="hold"/>
                                        <p:tgtEl>
                                          <p:spTgt spid="24"/>
                                        </p:tgtEl>
                                        <p:attrNameLst>
                                          <p:attrName>ppt_y</p:attrName>
                                        </p:attrNameLst>
                                      </p:cBhvr>
                                      <p:tavLst>
                                        <p:tav tm="0">
                                          <p:val>
                                            <p:strVal val="#ppt_y+0.1"/>
                                          </p:val>
                                        </p:tav>
                                        <p:tav tm="100000">
                                          <p:val>
                                            <p:strVal val="#ppt_y"/>
                                          </p:val>
                                        </p:tav>
                                      </p:tavLst>
                                    </p:anim>
                                    <p:animEffect transition="in" filter="fade">
                                      <p:cBhvr>
                                        <p:cTn id="79" dur="500"/>
                                        <p:tgtEl>
                                          <p:spTgt spid="24"/>
                                        </p:tgtEl>
                                      </p:cBhvr>
                                    </p:animEffect>
                                  </p:childTnLst>
                                </p:cTn>
                              </p:par>
                              <p:par>
                                <p:cTn id="85" presetID="2" presetClass="entr" presetSubtype="4" fill="hold" grpId="0" nodeType="withEffect">
                                  <p:stCondLst>
                                    <p:cond delay="0"/>
                                  </p:stCondLst>
                                  <p:childTnLst>
                                    <p:set>
                                      <p:cBhvr>
                                        <p:cTn id="81" dur="1" fill="hold">
                                          <p:stCondLst>
                                            <p:cond delay="0"/>
                                          </p:stCondLst>
                                        </p:cTn>
                                        <p:tgtEl>
                                          <p:spTgt spid="25"/>
                                        </p:tgtEl>
                                        <p:attrNameLst>
                                          <p:attrName>style.visibility</p:attrName>
                                        </p:attrNameLst>
                                      </p:cBhvr>
                                      <p:to>
                                        <p:strVal val="visible"/>
                                      </p:to>
                                    </p:set>
                                    <p:anim calcmode="lin" valueType="num">
                                      <p:cBhvr additive="base">
                                        <p:cTn id="82" dur="500" fill="hold"/>
                                        <p:tgtEl>
                                          <p:spTgt spid="25"/>
                                        </p:tgtEl>
                                        <p:attrNameLst>
                                          <p:attrName>ppt_x</p:attrName>
                                        </p:attrNameLst>
                                      </p:cBhvr>
                                      <p:tavLst>
                                        <p:tav tm="0">
                                          <p:val>
                                            <p:strVal val="#ppt_x"/>
                                          </p:val>
                                        </p:tav>
                                        <p:tav tm="100000">
                                          <p:val>
                                            <p:strVal val="#ppt_x"/>
                                          </p:val>
                                        </p:tav>
                                      </p:tavLst>
                                    </p:anim>
                                    <p:anim calcmode="lin" valueType="num">
                                      <p:cBhvr additive="base">
                                        <p:cTn id="83" dur="500" fill="hold"/>
                                        <p:tgtEl>
                                          <p:spTgt spid="25"/>
                                        </p:tgtEl>
                                        <p:attrNameLst>
                                          <p:attrName>ppt_y</p:attrName>
                                        </p:attrNameLst>
                                      </p:cBhvr>
                                      <p:tavLst>
                                        <p:tav tm="0">
                                          <p:val>
                                            <p:strVal val="#ppt_y+0.1"/>
                                          </p:val>
                                        </p:tav>
                                        <p:tav tm="100000">
                                          <p:val>
                                            <p:strVal val="#ppt_y"/>
                                          </p:val>
                                        </p:tav>
                                      </p:tavLst>
                                    </p:anim>
                                    <p:animEffect transition="in" filter="fade">
                                      <p:cBhvr>
                                        <p:cTn id="84" dur="500"/>
                                        <p:tgtEl>
                                          <p:spTgt spid="25"/>
                                        </p:tgtEl>
                                      </p:cBhvr>
                                    </p:animEffect>
                                  </p:childTnLst>
                                </p:cTn>
                              </p:par>
                              <p:par>
                                <p:cTn id="90" presetID="2" presetClass="entr" presetSubtype="4" fill="hold" grpId="0" nodeType="withEffect">
                                  <p:stCondLst>
                                    <p:cond delay="60"/>
                                  </p:stCondLst>
                                  <p:childTnLst>
                                    <p:set>
                                      <p:cBhvr>
                                        <p:cTn id="86" dur="1" fill="hold">
                                          <p:stCondLst>
                                            <p:cond delay="0"/>
                                          </p:stCondLst>
                                        </p:cTn>
                                        <p:tgtEl>
                                          <p:spTgt spid="26"/>
                                        </p:tgtEl>
                                        <p:attrNameLst>
                                          <p:attrName>style.visibility</p:attrName>
                                        </p:attrNameLst>
                                      </p:cBhvr>
                                      <p:to>
                                        <p:strVal val="visible"/>
                                      </p:to>
                                    </p:set>
                                    <p:anim calcmode="lin" valueType="num">
                                      <p:cBhvr additive="base">
                                        <p:cTn id="87" dur="500" fill="hold"/>
                                        <p:tgtEl>
                                          <p:spTgt spid="26"/>
                                        </p:tgtEl>
                                        <p:attrNameLst>
                                          <p:attrName>ppt_x</p:attrName>
                                        </p:attrNameLst>
                                      </p:cBhvr>
                                      <p:tavLst>
                                        <p:tav tm="0">
                                          <p:val>
                                            <p:strVal val="#ppt_x"/>
                                          </p:val>
                                        </p:tav>
                                        <p:tav tm="100000">
                                          <p:val>
                                            <p:strVal val="#ppt_x"/>
                                          </p:val>
                                        </p:tav>
                                      </p:tavLst>
                                    </p:anim>
                                    <p:anim calcmode="lin" valueType="num">
                                      <p:cBhvr additive="base">
                                        <p:cTn id="88" dur="500" fill="hold"/>
                                        <p:tgtEl>
                                          <p:spTgt spid="26"/>
                                        </p:tgtEl>
                                        <p:attrNameLst>
                                          <p:attrName>ppt_y</p:attrName>
                                        </p:attrNameLst>
                                      </p:cBhvr>
                                      <p:tavLst>
                                        <p:tav tm="0">
                                          <p:val>
                                            <p:strVal val="#ppt_y+0.1"/>
                                          </p:val>
                                        </p:tav>
                                        <p:tav tm="100000">
                                          <p:val>
                                            <p:strVal val="#ppt_y"/>
                                          </p:val>
                                        </p:tav>
                                      </p:tavLst>
                                    </p:anim>
                                    <p:animEffect transition="in" filter="fade">
                                      <p:cBhvr>
                                        <p:cTn id="89" dur="5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7" presetID="2" presetClass="entr" presetSubtype="4"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500" fill="hold"/>
                                        <p:tgtEl>
                                          <p:spTgt spid="27"/>
                                        </p:tgtEl>
                                        <p:attrNameLst>
                                          <p:attrName>ppt_x</p:attrName>
                                        </p:attrNameLst>
                                      </p:cBhvr>
                                      <p:tavLst>
                                        <p:tav tm="0">
                                          <p:val>
                                            <p:strVal val="#ppt_x"/>
                                          </p:val>
                                        </p:tav>
                                        <p:tav tm="100000">
                                          <p:val>
                                            <p:strVal val="#ppt_x"/>
                                          </p:val>
                                        </p:tav>
                                      </p:tavLst>
                                    </p:anim>
                                    <p:anim calcmode="lin" valueType="num">
                                      <p:cBhvr additive="base">
                                        <p:cTn id="95" dur="500" fill="hold"/>
                                        <p:tgtEl>
                                          <p:spTgt spid="27"/>
                                        </p:tgtEl>
                                        <p:attrNameLst>
                                          <p:attrName>ppt_y</p:attrName>
                                        </p:attrNameLst>
                                      </p:cBhvr>
                                      <p:tavLst>
                                        <p:tav tm="0">
                                          <p:val>
                                            <p:strVal val="#ppt_y+0.1"/>
                                          </p:val>
                                        </p:tav>
                                        <p:tav tm="100000">
                                          <p:val>
                                            <p:strVal val="#ppt_y"/>
                                          </p:val>
                                        </p:tav>
                                      </p:tavLst>
                                    </p:anim>
                                    <p:animEffect transition="in" filter="fade">
                                      <p:cBhvr>
                                        <p:cTn id="96" dur="500"/>
                                        <p:tgtEl>
                                          <p:spTgt spid="27"/>
                                        </p:tgtEl>
                                      </p:cBhvr>
                                    </p:animEffect>
                                  </p:childTnLst>
                                </p:cTn>
                              </p:par>
                              <p:par>
                                <p:cTn id="102" presetID="2" presetClass="entr" presetSubtype="4"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ppt_y+0.1"/>
                                          </p:val>
                                        </p:tav>
                                        <p:tav tm="100000">
                                          <p:val>
                                            <p:strVal val="#ppt_y"/>
                                          </p:val>
                                        </p:tav>
                                      </p:tavLst>
                                    </p:anim>
                                    <p:animEffect transition="in" filter="fade">
                                      <p:cBhvr>
                                        <p:cTn id="101" dur="500"/>
                                        <p:tgtEl>
                                          <p:spTgt spid="28"/>
                                        </p:tgtEl>
                                      </p:cBhvr>
                                    </p:animEffect>
                                  </p:childTnLst>
                                </p:cTn>
                              </p:par>
                              <p:par>
                                <p:cTn id="107" presetID="2" presetClass="entr" presetSubtype="4" fill="hold" grpId="0" nodeType="withEffect">
                                  <p:stCondLst>
                                    <p:cond delay="0"/>
                                  </p:stCondLst>
                                  <p:childTnLst>
                                    <p:set>
                                      <p:cBhvr>
                                        <p:cTn id="103" dur="1" fill="hold">
                                          <p:stCondLst>
                                            <p:cond delay="0"/>
                                          </p:stCondLst>
                                        </p:cTn>
                                        <p:tgtEl>
                                          <p:spTgt spid="29"/>
                                        </p:tgtEl>
                                        <p:attrNameLst>
                                          <p:attrName>style.visibility</p:attrName>
                                        </p:attrNameLst>
                                      </p:cBhvr>
                                      <p:to>
                                        <p:strVal val="visible"/>
                                      </p:to>
                                    </p:set>
                                    <p:anim calcmode="lin" valueType="num">
                                      <p:cBhvr additive="base">
                                        <p:cTn id="104" dur="500" fill="hold"/>
                                        <p:tgtEl>
                                          <p:spTgt spid="29"/>
                                        </p:tgtEl>
                                        <p:attrNameLst>
                                          <p:attrName>ppt_x</p:attrName>
                                        </p:attrNameLst>
                                      </p:cBhvr>
                                      <p:tavLst>
                                        <p:tav tm="0">
                                          <p:val>
                                            <p:strVal val="#ppt_x"/>
                                          </p:val>
                                        </p:tav>
                                        <p:tav tm="100000">
                                          <p:val>
                                            <p:strVal val="#ppt_x"/>
                                          </p:val>
                                        </p:tav>
                                      </p:tavLst>
                                    </p:anim>
                                    <p:anim calcmode="lin" valueType="num">
                                      <p:cBhvr additive="base">
                                        <p:cTn id="105" dur="500" fill="hold"/>
                                        <p:tgtEl>
                                          <p:spTgt spid="29"/>
                                        </p:tgtEl>
                                        <p:attrNameLst>
                                          <p:attrName>ppt_y</p:attrName>
                                        </p:attrNameLst>
                                      </p:cBhvr>
                                      <p:tavLst>
                                        <p:tav tm="0">
                                          <p:val>
                                            <p:strVal val="#ppt_y+0.1"/>
                                          </p:val>
                                        </p:tav>
                                        <p:tav tm="100000">
                                          <p:val>
                                            <p:strVal val="#ppt_y"/>
                                          </p:val>
                                        </p:tav>
                                      </p:tavLst>
                                    </p:anim>
                                    <p:animEffect transition="in" filter="fade">
                                      <p:cBhvr>
                                        <p:cTn id="106" dur="500"/>
                                        <p:tgtEl>
                                          <p:spTgt spid="29"/>
                                        </p:tgtEl>
                                      </p:cBhvr>
                                    </p:animEffect>
                                  </p:childTnLst>
                                </p:cTn>
                              </p:par>
                            </p:childTnLst>
                          </p:cTn>
                        </p:par>
                      </p:childTnLst>
                    </p:cTn>
                  </p:par>
                  <p:par>
                    <p:cTn id="108" fill="hold">
                      <p:stCondLst>
                        <p:cond delay="indefinite"/>
                      </p:stCondLst>
                      <p:childTnLst>
                        <p:par>
                          <p:cTn id="109" fill="hold">
                            <p:stCondLst>
                              <p:cond delay="0"/>
                            </p:stCondLst>
                            <p:childTnLst>
                              <p:par>
                                <p:cTn id="114" presetID="2" presetClass="entr" presetSubtype="4" fill="hold" grpId="0" nodeType="click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500" fill="hold"/>
                                        <p:tgtEl>
                                          <p:spTgt spid="30"/>
                                        </p:tgtEl>
                                        <p:attrNameLst>
                                          <p:attrName>ppt_x</p:attrName>
                                        </p:attrNameLst>
                                      </p:cBhvr>
                                      <p:tavLst>
                                        <p:tav tm="0">
                                          <p:val>
                                            <p:strVal val="#ppt_x"/>
                                          </p:val>
                                        </p:tav>
                                        <p:tav tm="100000">
                                          <p:val>
                                            <p:strVal val="#ppt_x"/>
                                          </p:val>
                                        </p:tav>
                                      </p:tavLst>
                                    </p:anim>
                                    <p:anim calcmode="lin" valueType="num">
                                      <p:cBhvr additive="base">
                                        <p:cTn id="112" dur="500" fill="hold"/>
                                        <p:tgtEl>
                                          <p:spTgt spid="30"/>
                                        </p:tgtEl>
                                        <p:attrNameLst>
                                          <p:attrName>ppt_y</p:attrName>
                                        </p:attrNameLst>
                                      </p:cBhvr>
                                      <p:tavLst>
                                        <p:tav tm="0">
                                          <p:val>
                                            <p:strVal val="#ppt_y+0.1"/>
                                          </p:val>
                                        </p:tav>
                                        <p:tav tm="100000">
                                          <p:val>
                                            <p:strVal val="#ppt_y"/>
                                          </p:val>
                                        </p:tav>
                                      </p:tavLst>
                                    </p:anim>
                                    <p:animEffect transition="in" filter="fade">
                                      <p:cBhvr>
                                        <p:cTn id="113" dur="500"/>
                                        <p:tgtEl>
                                          <p:spTgt spid="30"/>
                                        </p:tgtEl>
                                      </p:cBhvr>
                                    </p:animEffect>
                                  </p:childTnLst>
                                </p:cTn>
                              </p:par>
                              <p:par>
                                <p:cTn id="119" presetID="2" presetClass="entr" presetSubtype="4" fill="hold" grpId="0" nodeType="withEffect">
                                  <p:stCondLst>
                                    <p:cond delay="0"/>
                                  </p:stCondLst>
                                  <p:childTnLst>
                                    <p:set>
                                      <p:cBhvr>
                                        <p:cTn id="115" dur="1" fill="hold">
                                          <p:stCondLst>
                                            <p:cond delay="0"/>
                                          </p:stCondLst>
                                        </p:cTn>
                                        <p:tgtEl>
                                          <p:spTgt spid="31"/>
                                        </p:tgtEl>
                                        <p:attrNameLst>
                                          <p:attrName>style.visibility</p:attrName>
                                        </p:attrNameLst>
                                      </p:cBhvr>
                                      <p:to>
                                        <p:strVal val="visible"/>
                                      </p:to>
                                    </p:set>
                                    <p:anim calcmode="lin" valueType="num">
                                      <p:cBhvr additive="base">
                                        <p:cTn id="116" dur="500" fill="hold"/>
                                        <p:tgtEl>
                                          <p:spTgt spid="31"/>
                                        </p:tgtEl>
                                        <p:attrNameLst>
                                          <p:attrName>ppt_x</p:attrName>
                                        </p:attrNameLst>
                                      </p:cBhvr>
                                      <p:tavLst>
                                        <p:tav tm="0">
                                          <p:val>
                                            <p:strVal val="#ppt_x"/>
                                          </p:val>
                                        </p:tav>
                                        <p:tav tm="100000">
                                          <p:val>
                                            <p:strVal val="#ppt_x"/>
                                          </p:val>
                                        </p:tav>
                                      </p:tavLst>
                                    </p:anim>
                                    <p:anim calcmode="lin" valueType="num">
                                      <p:cBhvr additive="base">
                                        <p:cTn id="117" dur="500" fill="hold"/>
                                        <p:tgtEl>
                                          <p:spTgt spid="31"/>
                                        </p:tgtEl>
                                        <p:attrNameLst>
                                          <p:attrName>ppt_y</p:attrName>
                                        </p:attrNameLst>
                                      </p:cBhvr>
                                      <p:tavLst>
                                        <p:tav tm="0">
                                          <p:val>
                                            <p:strVal val="#ppt_y+0.1"/>
                                          </p:val>
                                        </p:tav>
                                        <p:tav tm="100000">
                                          <p:val>
                                            <p:strVal val="#ppt_y"/>
                                          </p:val>
                                        </p:tav>
                                      </p:tavLst>
                                    </p:anim>
                                    <p:animEffect transition="in" filter="fade">
                                      <p:cBhvr>
                                        <p:cTn id="118" dur="500"/>
                                        <p:tgtEl>
                                          <p:spTgt spid="31"/>
                                        </p:tgtEl>
                                      </p:cBhvr>
                                    </p:animEffect>
                                  </p:childTnLst>
                                </p:cTn>
                              </p:par>
                              <p:par>
                                <p:cTn id="124" presetID="2" presetClass="entr" presetSubtype="4" fill="hold" grpId="0" nodeType="with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additive="base">
                                        <p:cTn id="121" dur="500" fill="hold"/>
                                        <p:tgtEl>
                                          <p:spTgt spid="32"/>
                                        </p:tgtEl>
                                        <p:attrNameLst>
                                          <p:attrName>ppt_x</p:attrName>
                                        </p:attrNameLst>
                                      </p:cBhvr>
                                      <p:tavLst>
                                        <p:tav tm="0">
                                          <p:val>
                                            <p:strVal val="#ppt_x"/>
                                          </p:val>
                                        </p:tav>
                                        <p:tav tm="100000">
                                          <p:val>
                                            <p:strVal val="#ppt_x"/>
                                          </p:val>
                                        </p:tav>
                                      </p:tavLst>
                                    </p:anim>
                                    <p:anim calcmode="lin" valueType="num">
                                      <p:cBhvr additive="base">
                                        <p:cTn id="122" dur="500" fill="hold"/>
                                        <p:tgtEl>
                                          <p:spTgt spid="32"/>
                                        </p:tgtEl>
                                        <p:attrNameLst>
                                          <p:attrName>ppt_y</p:attrName>
                                        </p:attrNameLst>
                                      </p:cBhvr>
                                      <p:tavLst>
                                        <p:tav tm="0">
                                          <p:val>
                                            <p:strVal val="#ppt_y+0.1"/>
                                          </p:val>
                                        </p:tav>
                                        <p:tav tm="100000">
                                          <p:val>
                                            <p:strVal val="#ppt_y"/>
                                          </p:val>
                                        </p:tav>
                                      </p:tavLst>
                                    </p:anim>
                                    <p:animEffect transition="in" filter="fade">
                                      <p:cBhvr>
                                        <p:cTn id="12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8181B"/>
        </a:solidFill>
        <a:effectLst/>
      </p:bgPr>
    </p:bg>
    <p:spTree>
      <p:nvGrpSpPr>
        <p:cNvPr id="1" name=""/>
        <p:cNvGrpSpPr/>
        <p:nvPr/>
      </p:nvGrpSpPr>
      <p:grpSpPr/>
      <p:sp>
        <p:nvSpPr>
          <p:cNvPr id="2" name="strp1"/>
          <p:cNvSpPr/>
          <p:nvPr/>
        </p:nvSpPr>
        <p:spPr>
          <a:xfrm>
            <a:off x="0" y="0"/>
            <a:ext cx="2103120" cy="54864"/>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strp2"/>
          <p:cNvSpPr/>
          <p:nvPr/>
        </p:nvSpPr>
        <p:spPr>
          <a:xfrm>
            <a:off x="2157984"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strp3"/>
          <p:cNvSpPr/>
          <p:nvPr/>
        </p:nvSpPr>
        <p:spPr>
          <a:xfrm>
            <a:off x="2487168" y="0"/>
            <a:ext cx="274320"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strp4"/>
          <p:cNvSpPr/>
          <p:nvPr/>
        </p:nvSpPr>
        <p:spPr>
          <a:xfrm>
            <a:off x="2816352" y="0"/>
            <a:ext cx="274320" cy="54864"/>
          </a:xfrm>
          <a:prstGeom prst="rect">
            <a:avLst/>
          </a:prstGeom>
          <a:solidFill>
            <a:srgbClr val="9A34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strp5"/>
          <p:cNvSpPr/>
          <p:nvPr/>
        </p:nvSpPr>
        <p:spPr>
          <a:xfrm>
            <a:off x="3145536" y="0"/>
            <a:ext cx="274320" cy="54864"/>
          </a:xfrm>
          <a:prstGeom prst="rect">
            <a:avLst/>
          </a:prstGeom>
          <a:solidFill>
            <a:srgbClr val="7C2D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strp6"/>
          <p:cNvSpPr/>
          <p:nvPr/>
        </p:nvSpPr>
        <p:spPr>
          <a:xfrm>
            <a:off x="3474720"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strp7"/>
          <p:cNvSpPr/>
          <p:nvPr/>
        </p:nvSpPr>
        <p:spPr>
          <a:xfrm>
            <a:off x="3803904" y="0"/>
            <a:ext cx="274320" cy="54864"/>
          </a:xfrm>
          <a:prstGeom prst="rect">
            <a:avLst/>
          </a:prstGeom>
          <a:solidFill>
            <a:srgbClr val="3F3F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a0f_h8"/>
          <p:cNvSpPr txBox="1"/>
          <p:nvPr/>
        </p:nvSpPr>
        <p:spPr>
          <a:xfrm>
            <a:off x="548640" y="384048"/>
            <a:ext cx="7315200" cy="640080"/>
          </a:xfrm>
          <a:prstGeom prst="rect">
            <a:avLst/>
          </a:prstGeom>
          <a:noFill/>
        </p:spPr>
        <p:txBody>
          <a:bodyPr wrap="square" lIns="0" tIns="0" rIns="0" bIns="0" anchor="ctr">
            <a:spAutoFit/>
          </a:bodyPr>
          <a:lstStyle/>
          <a:p>
            <a:pPr algn="l"/>
            <a:r>
              <a:rPr sz="3050" b="0">
                <a:solidFill>
                  <a:srgbClr val="FFFFFF"/>
                </a:solidFill>
                <a:latin typeface="Bahnschrift SemiBold"/>
              </a:rPr>
              <a:t>Summary</a:t>
            </a:r>
          </a:p>
        </p:txBody>
      </p:sp>
      <p:sp>
        <p:nvSpPr>
          <p:cNvPr id="10" name="a1u_n9"/>
          <p:cNvSpPr/>
          <p:nvPr/>
        </p:nvSpPr>
        <p:spPr>
          <a:xfrm>
            <a:off x="548640" y="1234440"/>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a1u_nt10"/>
          <p:cNvSpPr txBox="1"/>
          <p:nvPr/>
        </p:nvSpPr>
        <p:spPr>
          <a:xfrm>
            <a:off x="548640" y="1234440"/>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1</a:t>
            </a:r>
          </a:p>
        </p:txBody>
      </p:sp>
      <p:sp>
        <p:nvSpPr>
          <p:cNvPr id="12" name="a1u_nb11"/>
          <p:cNvSpPr txBox="1"/>
          <p:nvPr/>
        </p:nvSpPr>
        <p:spPr>
          <a:xfrm>
            <a:off x="1133856" y="1188720"/>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Schema Registry stores the schemas</a:t>
            </a:r>
          </a:p>
          <a:p>
            <a:pPr algn="l">
              <a:spcAft>
                <a:spcPts val="100"/>
              </a:spcAft>
            </a:pPr>
            <a:r>
              <a:rPr sz="1000" b="0">
                <a:solidFill>
                  <a:srgbClr val="D6D3D1"/>
                </a:solidFill>
                <a:latin typeface="Segoe UI"/>
              </a:rPr>
              <a:t>A separate server - its database is a Kafka topic</a:t>
            </a:r>
          </a:p>
        </p:txBody>
      </p:sp>
      <p:sp>
        <p:nvSpPr>
          <p:cNvPr id="13" name="a1ud200_n12"/>
          <p:cNvSpPr/>
          <p:nvPr/>
        </p:nvSpPr>
        <p:spPr>
          <a:xfrm>
            <a:off x="548640" y="1892808"/>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a1ud200_nt13"/>
          <p:cNvSpPr txBox="1"/>
          <p:nvPr/>
        </p:nvSpPr>
        <p:spPr>
          <a:xfrm>
            <a:off x="548640" y="1892808"/>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2</a:t>
            </a:r>
          </a:p>
        </p:txBody>
      </p:sp>
      <p:sp>
        <p:nvSpPr>
          <p:cNvPr id="15" name="a1ud200_nb14"/>
          <p:cNvSpPr txBox="1"/>
          <p:nvPr/>
        </p:nvSpPr>
        <p:spPr>
          <a:xfrm>
            <a:off x="1133856" y="1847088"/>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Producers register, messages carry an ID</a:t>
            </a:r>
          </a:p>
          <a:p>
            <a:pPr algn="l">
              <a:spcAft>
                <a:spcPts val="100"/>
              </a:spcAft>
            </a:pPr>
            <a:r>
              <a:rPr sz="1000" b="0">
                <a:solidFill>
                  <a:srgbClr val="D6D3D1"/>
                </a:solidFill>
                <a:latin typeface="Segoe UI"/>
              </a:rPr>
              <a:t>Consumers look the schema up by that ID</a:t>
            </a:r>
          </a:p>
        </p:txBody>
      </p:sp>
      <p:sp>
        <p:nvSpPr>
          <p:cNvPr id="16" name="a1ud400_n15"/>
          <p:cNvSpPr/>
          <p:nvPr/>
        </p:nvSpPr>
        <p:spPr>
          <a:xfrm>
            <a:off x="548640" y="2551176"/>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a1ud400_nt16"/>
          <p:cNvSpPr txBox="1"/>
          <p:nvPr/>
        </p:nvSpPr>
        <p:spPr>
          <a:xfrm>
            <a:off x="548640" y="2551176"/>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3</a:t>
            </a:r>
          </a:p>
        </p:txBody>
      </p:sp>
      <p:sp>
        <p:nvSpPr>
          <p:cNvPr id="18" name="a1ud400_nb17"/>
          <p:cNvSpPr txBox="1"/>
          <p:nvPr/>
        </p:nvSpPr>
        <p:spPr>
          <a:xfrm>
            <a:off x="1133856" y="2505456"/>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Compatibility rules guard change</a:t>
            </a:r>
          </a:p>
          <a:p>
            <a:pPr algn="l">
              <a:spcAft>
                <a:spcPts val="100"/>
              </a:spcAft>
            </a:pPr>
            <a:r>
              <a:rPr sz="1000" b="0">
                <a:solidFill>
                  <a:srgbClr val="D6D3D1"/>
                </a:solidFill>
                <a:latin typeface="Segoe UI"/>
              </a:rPr>
              <a:t>BACKWARD, FORWARD, FULL - chosen by rollout order</a:t>
            </a:r>
          </a:p>
        </p:txBody>
      </p:sp>
      <p:sp>
        <p:nvSpPr>
          <p:cNvPr id="19" name="a1ud600_n18"/>
          <p:cNvSpPr/>
          <p:nvPr/>
        </p:nvSpPr>
        <p:spPr>
          <a:xfrm>
            <a:off x="548640" y="3209544"/>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a1ud600_nt19"/>
          <p:cNvSpPr txBox="1"/>
          <p:nvPr/>
        </p:nvSpPr>
        <p:spPr>
          <a:xfrm>
            <a:off x="548640" y="3209544"/>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4</a:t>
            </a:r>
          </a:p>
        </p:txBody>
      </p:sp>
      <p:sp>
        <p:nvSpPr>
          <p:cNvPr id="21" name="a1ud600_nb20"/>
          <p:cNvSpPr txBox="1"/>
          <p:nvPr/>
        </p:nvSpPr>
        <p:spPr>
          <a:xfrm>
            <a:off x="1133856" y="3163824"/>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Avro, JSON Schema, Protobuf</a:t>
            </a:r>
          </a:p>
          <a:p>
            <a:pPr algn="l">
              <a:spcAft>
                <a:spcPts val="100"/>
              </a:spcAft>
            </a:pPr>
            <a:r>
              <a:rPr sz="1000" b="0">
                <a:solidFill>
                  <a:srgbClr val="D6D3D1"/>
                </a:solidFill>
                <a:latin typeface="Segoe UI"/>
              </a:rPr>
              <a:t>Schema files generate the classes you code against</a:t>
            </a:r>
          </a:p>
        </p:txBody>
      </p:sp>
      <p:sp>
        <p:nvSpPr>
          <p:cNvPr id="22" name="a1ud800_n21"/>
          <p:cNvSpPr/>
          <p:nvPr/>
        </p:nvSpPr>
        <p:spPr>
          <a:xfrm>
            <a:off x="548640" y="3867911"/>
            <a:ext cx="384048" cy="38404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a1ud800_nt22"/>
          <p:cNvSpPr txBox="1"/>
          <p:nvPr/>
        </p:nvSpPr>
        <p:spPr>
          <a:xfrm>
            <a:off x="548640" y="3867911"/>
            <a:ext cx="384048" cy="384048"/>
          </a:xfrm>
          <a:prstGeom prst="rect">
            <a:avLst/>
          </a:prstGeom>
          <a:noFill/>
        </p:spPr>
        <p:txBody>
          <a:bodyPr wrap="square" lIns="0" tIns="0" rIns="0" bIns="0" anchor="ctr">
            <a:spAutoFit/>
          </a:bodyPr>
          <a:lstStyle/>
          <a:p>
            <a:pPr algn="ctr"/>
            <a:r>
              <a:rPr sz="1400" b="0">
                <a:solidFill>
                  <a:srgbClr val="FFFFFF"/>
                </a:solidFill>
                <a:latin typeface="Bahnschrift SemiBold"/>
              </a:rPr>
              <a:t>5</a:t>
            </a:r>
          </a:p>
        </p:txBody>
      </p:sp>
      <p:sp>
        <p:nvSpPr>
          <p:cNvPr id="24" name="a1ud800_nb23"/>
          <p:cNvSpPr txBox="1"/>
          <p:nvPr/>
        </p:nvSpPr>
        <p:spPr>
          <a:xfrm>
            <a:off x="1133856" y="3822191"/>
            <a:ext cx="4809744" cy="475488"/>
          </a:xfrm>
          <a:prstGeom prst="rect">
            <a:avLst/>
          </a:prstGeom>
          <a:noFill/>
        </p:spPr>
        <p:txBody>
          <a:bodyPr wrap="square" lIns="0" tIns="0" rIns="0" bIns="0" anchor="ctr">
            <a:spAutoFit/>
          </a:bodyPr>
          <a:lstStyle/>
          <a:p>
            <a:pPr algn="l">
              <a:spcAft>
                <a:spcPts val="100"/>
              </a:spcAft>
            </a:pPr>
            <a:r>
              <a:rPr sz="1200" b="1">
                <a:solidFill>
                  <a:srgbClr val="FFFFFF"/>
                </a:solidFill>
                <a:latin typeface="Segoe UI"/>
              </a:rPr>
              <a:t>Fail early and predictably</a:t>
            </a:r>
          </a:p>
          <a:p>
            <a:pPr algn="l">
              <a:spcAft>
                <a:spcPts val="100"/>
              </a:spcAft>
            </a:pPr>
            <a:r>
              <a:rPr sz="1000" b="0">
                <a:solidFill>
                  <a:srgbClr val="D6D3D1"/>
                </a:solidFill>
                <a:latin typeface="Segoe UI"/>
              </a:rPr>
              <a:t>Check compatibility in the build, not in production</a:t>
            </a:r>
          </a:p>
        </p:txBody>
      </p:sp>
      <p:sp>
        <p:nvSpPr>
          <p:cNvPr id="25" name="a2u_next24"/>
          <p:cNvSpPr/>
          <p:nvPr/>
        </p:nvSpPr>
        <p:spPr>
          <a:xfrm>
            <a:off x="6263640" y="1234440"/>
            <a:ext cx="2423160" cy="1097280"/>
          </a:xfrm>
          <a:prstGeom prst="roundRect">
            <a:avLst>
              <a:gd name="adj" fmla="val 8333"/>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a2u_nextt25"/>
          <p:cNvSpPr txBox="1"/>
          <p:nvPr/>
        </p:nvSpPr>
        <p:spPr>
          <a:xfrm>
            <a:off x="6446520" y="1353312"/>
            <a:ext cx="2103120" cy="86868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UP NEXT</a:t>
            </a:r>
          </a:p>
          <a:p>
            <a:pPr algn="l">
              <a:spcAft>
                <a:spcPts val="400"/>
              </a:spcAft>
            </a:pPr>
            <a:r>
              <a:rPr sz="1050" b="0">
                <a:solidFill>
                  <a:srgbClr val="E7E5E4"/>
                </a:solidFill>
                <a:latin typeface="Segoe UI"/>
              </a:rPr>
              <a:t>Module 9 - Kafka Connect</a:t>
            </a:r>
          </a:p>
          <a:p>
            <a:pPr algn="l">
              <a:spcAft>
                <a:spcPts val="400"/>
              </a:spcAft>
            </a:pPr>
            <a:r>
              <a:rPr sz="850" b="0">
                <a:solidFill>
                  <a:srgbClr val="A8A29E"/>
                </a:solidFill>
                <a:latin typeface="Segoe UI"/>
              </a:rPr>
              <a:t>data in and out without code</a:t>
            </a:r>
          </a:p>
        </p:txBody>
      </p:sp>
      <p:sp>
        <p:nvSpPr>
          <p:cNvPr id="27" name="a3u_src26"/>
          <p:cNvSpPr/>
          <p:nvPr/>
        </p:nvSpPr>
        <p:spPr>
          <a:xfrm>
            <a:off x="6263640" y="2514600"/>
            <a:ext cx="2423160" cy="1188720"/>
          </a:xfrm>
          <a:prstGeom prst="roundRect">
            <a:avLst>
              <a:gd name="adj" fmla="val 7692"/>
            </a:avLst>
          </a:prstGeom>
          <a:solidFill>
            <a:srgbClr val="27272A"/>
          </a:solidFill>
          <a:ln w="12700">
            <a:solidFill>
              <a:srgbClr val="5252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a3u_srct27"/>
          <p:cNvSpPr txBox="1"/>
          <p:nvPr/>
        </p:nvSpPr>
        <p:spPr>
          <a:xfrm>
            <a:off x="6446520" y="2633472"/>
            <a:ext cx="2103120" cy="960120"/>
          </a:xfrm>
          <a:prstGeom prst="rect">
            <a:avLst/>
          </a:prstGeom>
          <a:noFill/>
        </p:spPr>
        <p:txBody>
          <a:bodyPr wrap="square" lIns="0" tIns="0" rIns="0" bIns="0" anchor="t">
            <a:spAutoFit/>
          </a:bodyPr>
          <a:lstStyle/>
          <a:p>
            <a:pPr algn="l">
              <a:spcAft>
                <a:spcPts val="400"/>
              </a:spcAft>
            </a:pPr>
            <a:r>
              <a:rPr sz="850" b="1" spc="220">
                <a:solidFill>
                  <a:srgbClr val="FB923C"/>
                </a:solidFill>
                <a:latin typeface="Segoe UI"/>
              </a:rPr>
              <a:t>SOURCE</a:t>
            </a:r>
          </a:p>
          <a:p>
            <a:pPr algn="l">
              <a:spcAft>
                <a:spcPts val="400"/>
              </a:spcAft>
            </a:pPr>
            <a:r>
              <a:rPr sz="850" b="0">
                <a:solidFill>
                  <a:srgbClr val="D6D3D1"/>
                </a:solidFill>
                <a:latin typeface="Segoe UI"/>
              </a:rPr>
              <a:t>Apache Kafka 101, Confluent Schema Registry - Tim Berglund and Gilles Philippart, Confluent Developer (developer.confluent.io)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4" presetID="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ppt_y+0.1"/>
                                          </p:val>
                                        </p:tav>
                                        <p:tav tm="100000">
                                          <p:val>
                                            <p:strVal val="#ppt_y"/>
                                          </p:val>
                                        </p:tav>
                                      </p:tavLst>
                                    </p:anim>
                                    <p:animEffect transition="in" filter="fade">
                                      <p:cBhvr>
                                        <p:cTn id="13" dur="500"/>
                                        <p:tgtEl>
                                          <p:spTgt spid="10"/>
                                        </p:tgtEl>
                                      </p:cBhvr>
                                    </p:animEffect>
                                  </p:childTnLst>
                                </p:cTn>
                              </p:par>
                              <p:par>
                                <p:cTn id="19"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ppt_y+0.1"/>
                                          </p:val>
                                        </p:tav>
                                        <p:tav tm="100000">
                                          <p:val>
                                            <p:strVal val="#ppt_y"/>
                                          </p:val>
                                        </p:tav>
                                      </p:tavLst>
                                    </p:anim>
                                    <p:animEffect transition="in" filter="fade">
                                      <p:cBhvr>
                                        <p:cTn id="18" dur="500"/>
                                        <p:tgtEl>
                                          <p:spTgt spid="11"/>
                                        </p:tgtEl>
                                      </p:cBhvr>
                                    </p:animEffect>
                                  </p:childTnLst>
                                </p:cTn>
                              </p:par>
                              <p:par>
                                <p:cTn id="24" presetID="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ppt_y+0.1"/>
                                          </p:val>
                                        </p:tav>
                                        <p:tav tm="100000">
                                          <p:val>
                                            <p:strVal val="#ppt_y"/>
                                          </p:val>
                                        </p:tav>
                                      </p:tavLst>
                                    </p:anim>
                                    <p:animEffect transition="in" filter="fade">
                                      <p:cBhvr>
                                        <p:cTn id="23" dur="500"/>
                                        <p:tgtEl>
                                          <p:spTgt spid="12"/>
                                        </p:tgtEl>
                                      </p:cBhvr>
                                    </p:animEffect>
                                  </p:childTnLst>
                                </p:cTn>
                              </p:par>
                              <p:par>
                                <p:cTn id="29" presetID="2" presetClass="entr" presetSubtype="4" fill="hold" grpId="0" nodeType="withEffect">
                                  <p:stCondLst>
                                    <p:cond delay="20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ppt_y+0.1"/>
                                          </p:val>
                                        </p:tav>
                                        <p:tav tm="100000">
                                          <p:val>
                                            <p:strVal val="#ppt_y"/>
                                          </p:val>
                                        </p:tav>
                                      </p:tavLst>
                                    </p:anim>
                                    <p:animEffect transition="in" filter="fade">
                                      <p:cBhvr>
                                        <p:cTn id="28" dur="500"/>
                                        <p:tgtEl>
                                          <p:spTgt spid="13"/>
                                        </p:tgtEl>
                                      </p:cBhvr>
                                    </p:animEffect>
                                  </p:childTnLst>
                                </p:cTn>
                              </p:par>
                              <p:par>
                                <p:cTn id="34" presetID="2" presetClass="entr" presetSubtype="4" fill="hold" grpId="0" nodeType="withEffect">
                                  <p:stCondLst>
                                    <p:cond delay="2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ppt_y+0.1"/>
                                          </p:val>
                                        </p:tav>
                                        <p:tav tm="100000">
                                          <p:val>
                                            <p:strVal val="#ppt_y"/>
                                          </p:val>
                                        </p:tav>
                                      </p:tavLst>
                                    </p:anim>
                                    <p:animEffect transition="in" filter="fade">
                                      <p:cBhvr>
                                        <p:cTn id="33" dur="500"/>
                                        <p:tgtEl>
                                          <p:spTgt spid="14"/>
                                        </p:tgtEl>
                                      </p:cBhvr>
                                    </p:animEffect>
                                  </p:childTnLst>
                                </p:cTn>
                              </p:par>
                              <p:par>
                                <p:cTn id="39" presetID="2" presetClass="entr" presetSubtype="4" fill="hold" grpId="0" nodeType="withEffect">
                                  <p:stCondLst>
                                    <p:cond delay="20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ppt_y+0.1"/>
                                          </p:val>
                                        </p:tav>
                                        <p:tav tm="100000">
                                          <p:val>
                                            <p:strVal val="#ppt_y"/>
                                          </p:val>
                                        </p:tav>
                                      </p:tavLst>
                                    </p:anim>
                                    <p:animEffect transition="in" filter="fade">
                                      <p:cBhvr>
                                        <p:cTn id="38" dur="500"/>
                                        <p:tgtEl>
                                          <p:spTgt spid="15"/>
                                        </p:tgtEl>
                                      </p:cBhvr>
                                    </p:animEffect>
                                  </p:childTnLst>
                                </p:cTn>
                              </p:par>
                              <p:par>
                                <p:cTn id="44" presetID="2" presetClass="entr" presetSubtype="4" fill="hold" grpId="0" nodeType="withEffect">
                                  <p:stCondLst>
                                    <p:cond delay="4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ppt_y+0.1"/>
                                          </p:val>
                                        </p:tav>
                                        <p:tav tm="100000">
                                          <p:val>
                                            <p:strVal val="#ppt_y"/>
                                          </p:val>
                                        </p:tav>
                                      </p:tavLst>
                                    </p:anim>
                                    <p:animEffect transition="in" filter="fade">
                                      <p:cBhvr>
                                        <p:cTn id="43" dur="500"/>
                                        <p:tgtEl>
                                          <p:spTgt spid="16"/>
                                        </p:tgtEl>
                                      </p:cBhvr>
                                    </p:animEffect>
                                  </p:childTnLst>
                                </p:cTn>
                              </p:par>
                              <p:par>
                                <p:cTn id="49" presetID="2" presetClass="entr" presetSubtype="4" fill="hold" grpId="0" nodeType="withEffect">
                                  <p:stCondLst>
                                    <p:cond delay="40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ppt_x"/>
                                          </p:val>
                                        </p:tav>
                                        <p:tav tm="100000">
                                          <p:val>
                                            <p:strVal val="#ppt_x"/>
                                          </p:val>
                                        </p:tav>
                                      </p:tavLst>
                                    </p:anim>
                                    <p:anim calcmode="lin" valueType="num">
                                      <p:cBhvr additive="base">
                                        <p:cTn id="47" dur="500" fill="hold"/>
                                        <p:tgtEl>
                                          <p:spTgt spid="17"/>
                                        </p:tgtEl>
                                        <p:attrNameLst>
                                          <p:attrName>ppt_y</p:attrName>
                                        </p:attrNameLst>
                                      </p:cBhvr>
                                      <p:tavLst>
                                        <p:tav tm="0">
                                          <p:val>
                                            <p:strVal val="#ppt_y+0.1"/>
                                          </p:val>
                                        </p:tav>
                                        <p:tav tm="100000">
                                          <p:val>
                                            <p:strVal val="#ppt_y"/>
                                          </p:val>
                                        </p:tav>
                                      </p:tavLst>
                                    </p:anim>
                                    <p:animEffect transition="in" filter="fade">
                                      <p:cBhvr>
                                        <p:cTn id="48" dur="500"/>
                                        <p:tgtEl>
                                          <p:spTgt spid="17"/>
                                        </p:tgtEl>
                                      </p:cBhvr>
                                    </p:animEffect>
                                  </p:childTnLst>
                                </p:cTn>
                              </p:par>
                              <p:par>
                                <p:cTn id="54" presetID="2" presetClass="entr" presetSubtype="4" fill="hold" grpId="0" nodeType="withEffect">
                                  <p:stCondLst>
                                    <p:cond delay="4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500" fill="hold"/>
                                        <p:tgtEl>
                                          <p:spTgt spid="18"/>
                                        </p:tgtEl>
                                        <p:attrNameLst>
                                          <p:attrName>ppt_x</p:attrName>
                                        </p:attrNameLst>
                                      </p:cBhvr>
                                      <p:tavLst>
                                        <p:tav tm="0">
                                          <p:val>
                                            <p:strVal val="#ppt_x"/>
                                          </p:val>
                                        </p:tav>
                                        <p:tav tm="100000">
                                          <p:val>
                                            <p:strVal val="#ppt_x"/>
                                          </p:val>
                                        </p:tav>
                                      </p:tavLst>
                                    </p:anim>
                                    <p:anim calcmode="lin" valueType="num">
                                      <p:cBhvr additive="base">
                                        <p:cTn id="52" dur="500" fill="hold"/>
                                        <p:tgtEl>
                                          <p:spTgt spid="18"/>
                                        </p:tgtEl>
                                        <p:attrNameLst>
                                          <p:attrName>ppt_y</p:attrName>
                                        </p:attrNameLst>
                                      </p:cBhvr>
                                      <p:tavLst>
                                        <p:tav tm="0">
                                          <p:val>
                                            <p:strVal val="#ppt_y+0.1"/>
                                          </p:val>
                                        </p:tav>
                                        <p:tav tm="100000">
                                          <p:val>
                                            <p:strVal val="#ppt_y"/>
                                          </p:val>
                                        </p:tav>
                                      </p:tavLst>
                                    </p:anim>
                                    <p:animEffect transition="in" filter="fade">
                                      <p:cBhvr>
                                        <p:cTn id="53" dur="500"/>
                                        <p:tgtEl>
                                          <p:spTgt spid="18"/>
                                        </p:tgtEl>
                                      </p:cBhvr>
                                    </p:animEffect>
                                  </p:childTnLst>
                                </p:cTn>
                              </p:par>
                              <p:par>
                                <p:cTn id="59" presetID="2" presetClass="entr" presetSubtype="4" fill="hold" grpId="0" nodeType="withEffect">
                                  <p:stCondLst>
                                    <p:cond delay="60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500" fill="hold"/>
                                        <p:tgtEl>
                                          <p:spTgt spid="19"/>
                                        </p:tgtEl>
                                        <p:attrNameLst>
                                          <p:attrName>ppt_x</p:attrName>
                                        </p:attrNameLst>
                                      </p:cBhvr>
                                      <p:tavLst>
                                        <p:tav tm="0">
                                          <p:val>
                                            <p:strVal val="#ppt_x"/>
                                          </p:val>
                                        </p:tav>
                                        <p:tav tm="100000">
                                          <p:val>
                                            <p:strVal val="#ppt_x"/>
                                          </p:val>
                                        </p:tav>
                                      </p:tavLst>
                                    </p:anim>
                                    <p:anim calcmode="lin" valueType="num">
                                      <p:cBhvr additive="base">
                                        <p:cTn id="57" dur="500" fill="hold"/>
                                        <p:tgtEl>
                                          <p:spTgt spid="19"/>
                                        </p:tgtEl>
                                        <p:attrNameLst>
                                          <p:attrName>ppt_y</p:attrName>
                                        </p:attrNameLst>
                                      </p:cBhvr>
                                      <p:tavLst>
                                        <p:tav tm="0">
                                          <p:val>
                                            <p:strVal val="#ppt_y+0.1"/>
                                          </p:val>
                                        </p:tav>
                                        <p:tav tm="100000">
                                          <p:val>
                                            <p:strVal val="#ppt_y"/>
                                          </p:val>
                                        </p:tav>
                                      </p:tavLst>
                                    </p:anim>
                                    <p:animEffect transition="in" filter="fade">
                                      <p:cBhvr>
                                        <p:cTn id="58" dur="500"/>
                                        <p:tgtEl>
                                          <p:spTgt spid="19"/>
                                        </p:tgtEl>
                                      </p:cBhvr>
                                    </p:animEffect>
                                  </p:childTnLst>
                                </p:cTn>
                              </p:par>
                              <p:par>
                                <p:cTn id="64" presetID="2" presetClass="entr" presetSubtype="4" fill="hold" grpId="0" nodeType="withEffect">
                                  <p:stCondLst>
                                    <p:cond delay="60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ppt_y+0.1"/>
                                          </p:val>
                                        </p:tav>
                                        <p:tav tm="100000">
                                          <p:val>
                                            <p:strVal val="#ppt_y"/>
                                          </p:val>
                                        </p:tav>
                                      </p:tavLst>
                                    </p:anim>
                                    <p:animEffect transition="in" filter="fade">
                                      <p:cBhvr>
                                        <p:cTn id="63" dur="500"/>
                                        <p:tgtEl>
                                          <p:spTgt spid="20"/>
                                        </p:tgtEl>
                                      </p:cBhvr>
                                    </p:animEffect>
                                  </p:childTnLst>
                                </p:cTn>
                              </p:par>
                              <p:par>
                                <p:cTn id="69" presetID="2" presetClass="entr" presetSubtype="4" fill="hold" grpId="0" nodeType="withEffect">
                                  <p:stCondLst>
                                    <p:cond delay="600"/>
                                  </p:stCondLst>
                                  <p:childTnLst>
                                    <p:set>
                                      <p:cBhvr>
                                        <p:cTn id="65" dur="1" fill="hold">
                                          <p:stCondLst>
                                            <p:cond delay="0"/>
                                          </p:stCondLst>
                                        </p:cTn>
                                        <p:tgtEl>
                                          <p:spTgt spid="21"/>
                                        </p:tgtEl>
                                        <p:attrNameLst>
                                          <p:attrName>style.visibility</p:attrName>
                                        </p:attrNameLst>
                                      </p:cBhvr>
                                      <p:to>
                                        <p:strVal val="visible"/>
                                      </p:to>
                                    </p:set>
                                    <p:anim calcmode="lin" valueType="num">
                                      <p:cBhvr additive="base">
                                        <p:cTn id="66" dur="500" fill="hold"/>
                                        <p:tgtEl>
                                          <p:spTgt spid="21"/>
                                        </p:tgtEl>
                                        <p:attrNameLst>
                                          <p:attrName>ppt_x</p:attrName>
                                        </p:attrNameLst>
                                      </p:cBhvr>
                                      <p:tavLst>
                                        <p:tav tm="0">
                                          <p:val>
                                            <p:strVal val="#ppt_x"/>
                                          </p:val>
                                        </p:tav>
                                        <p:tav tm="100000">
                                          <p:val>
                                            <p:strVal val="#ppt_x"/>
                                          </p:val>
                                        </p:tav>
                                      </p:tavLst>
                                    </p:anim>
                                    <p:anim calcmode="lin" valueType="num">
                                      <p:cBhvr additive="base">
                                        <p:cTn id="67" dur="500" fill="hold"/>
                                        <p:tgtEl>
                                          <p:spTgt spid="21"/>
                                        </p:tgtEl>
                                        <p:attrNameLst>
                                          <p:attrName>ppt_y</p:attrName>
                                        </p:attrNameLst>
                                      </p:cBhvr>
                                      <p:tavLst>
                                        <p:tav tm="0">
                                          <p:val>
                                            <p:strVal val="#ppt_y+0.1"/>
                                          </p:val>
                                        </p:tav>
                                        <p:tav tm="100000">
                                          <p:val>
                                            <p:strVal val="#ppt_y"/>
                                          </p:val>
                                        </p:tav>
                                      </p:tavLst>
                                    </p:anim>
                                    <p:animEffect transition="in" filter="fade">
                                      <p:cBhvr>
                                        <p:cTn id="68" dur="500"/>
                                        <p:tgtEl>
                                          <p:spTgt spid="21"/>
                                        </p:tgtEl>
                                      </p:cBhvr>
                                    </p:animEffect>
                                  </p:childTnLst>
                                </p:cTn>
                              </p:par>
                              <p:par>
                                <p:cTn id="74" presetID="2" presetClass="entr" presetSubtype="4" fill="hold" grpId="0" nodeType="withEffect">
                                  <p:stCondLst>
                                    <p:cond delay="800"/>
                                  </p:stCondLst>
                                  <p:childTnLst>
                                    <p:set>
                                      <p:cBhvr>
                                        <p:cTn id="70" dur="1" fill="hold">
                                          <p:stCondLst>
                                            <p:cond delay="0"/>
                                          </p:stCondLst>
                                        </p:cTn>
                                        <p:tgtEl>
                                          <p:spTgt spid="22"/>
                                        </p:tgtEl>
                                        <p:attrNameLst>
                                          <p:attrName>style.visibility</p:attrName>
                                        </p:attrNameLst>
                                      </p:cBhvr>
                                      <p:to>
                                        <p:strVal val="visible"/>
                                      </p:to>
                                    </p:set>
                                    <p:anim calcmode="lin" valueType="num">
                                      <p:cBhvr additive="base">
                                        <p:cTn id="71" dur="500" fill="hold"/>
                                        <p:tgtEl>
                                          <p:spTgt spid="22"/>
                                        </p:tgtEl>
                                        <p:attrNameLst>
                                          <p:attrName>ppt_x</p:attrName>
                                        </p:attrNameLst>
                                      </p:cBhvr>
                                      <p:tavLst>
                                        <p:tav tm="0">
                                          <p:val>
                                            <p:strVal val="#ppt_x"/>
                                          </p:val>
                                        </p:tav>
                                        <p:tav tm="100000">
                                          <p:val>
                                            <p:strVal val="#ppt_x"/>
                                          </p:val>
                                        </p:tav>
                                      </p:tavLst>
                                    </p:anim>
                                    <p:anim calcmode="lin" valueType="num">
                                      <p:cBhvr additive="base">
                                        <p:cTn id="72" dur="500" fill="hold"/>
                                        <p:tgtEl>
                                          <p:spTgt spid="22"/>
                                        </p:tgtEl>
                                        <p:attrNameLst>
                                          <p:attrName>ppt_y</p:attrName>
                                        </p:attrNameLst>
                                      </p:cBhvr>
                                      <p:tavLst>
                                        <p:tav tm="0">
                                          <p:val>
                                            <p:strVal val="#ppt_y+0.1"/>
                                          </p:val>
                                        </p:tav>
                                        <p:tav tm="100000">
                                          <p:val>
                                            <p:strVal val="#ppt_y"/>
                                          </p:val>
                                        </p:tav>
                                      </p:tavLst>
                                    </p:anim>
                                    <p:animEffect transition="in" filter="fade">
                                      <p:cBhvr>
                                        <p:cTn id="73" dur="500"/>
                                        <p:tgtEl>
                                          <p:spTgt spid="22"/>
                                        </p:tgtEl>
                                      </p:cBhvr>
                                    </p:animEffect>
                                  </p:childTnLst>
                                </p:cTn>
                              </p:par>
                              <p:par>
                                <p:cTn id="79" presetID="2" presetClass="entr" presetSubtype="4" fill="hold" grpId="0" nodeType="withEffect">
                                  <p:stCondLst>
                                    <p:cond delay="800"/>
                                  </p:stCondLst>
                                  <p:childTnLst>
                                    <p:set>
                                      <p:cBhvr>
                                        <p:cTn id="75" dur="1" fill="hold">
                                          <p:stCondLst>
                                            <p:cond delay="0"/>
                                          </p:stCondLst>
                                        </p:cTn>
                                        <p:tgtEl>
                                          <p:spTgt spid="23"/>
                                        </p:tgtEl>
                                        <p:attrNameLst>
                                          <p:attrName>style.visibility</p:attrName>
                                        </p:attrNameLst>
                                      </p:cBhvr>
                                      <p:to>
                                        <p:strVal val="visible"/>
                                      </p:to>
                                    </p:set>
                                    <p:anim calcmode="lin" valueType="num">
                                      <p:cBhvr additive="base">
                                        <p:cTn id="76" dur="500" fill="hold"/>
                                        <p:tgtEl>
                                          <p:spTgt spid="23"/>
                                        </p:tgtEl>
                                        <p:attrNameLst>
                                          <p:attrName>ppt_x</p:attrName>
                                        </p:attrNameLst>
                                      </p:cBhvr>
                                      <p:tavLst>
                                        <p:tav tm="0">
                                          <p:val>
                                            <p:strVal val="#ppt_x"/>
                                          </p:val>
                                        </p:tav>
                                        <p:tav tm="100000">
                                          <p:val>
                                            <p:strVal val="#ppt_x"/>
                                          </p:val>
                                        </p:tav>
                                      </p:tavLst>
                                    </p:anim>
                                    <p:anim calcmode="lin" valueType="num">
                                      <p:cBhvr additive="base">
                                        <p:cTn id="77" dur="500" fill="hold"/>
                                        <p:tgtEl>
                                          <p:spTgt spid="23"/>
                                        </p:tgtEl>
                                        <p:attrNameLst>
                                          <p:attrName>ppt_y</p:attrName>
                                        </p:attrNameLst>
                                      </p:cBhvr>
                                      <p:tavLst>
                                        <p:tav tm="0">
                                          <p:val>
                                            <p:strVal val="#ppt_y+0.1"/>
                                          </p:val>
                                        </p:tav>
                                        <p:tav tm="100000">
                                          <p:val>
                                            <p:strVal val="#ppt_y"/>
                                          </p:val>
                                        </p:tav>
                                      </p:tavLst>
                                    </p:anim>
                                    <p:animEffect transition="in" filter="fade">
                                      <p:cBhvr>
                                        <p:cTn id="78" dur="500"/>
                                        <p:tgtEl>
                                          <p:spTgt spid="23"/>
                                        </p:tgtEl>
                                      </p:cBhvr>
                                    </p:animEffect>
                                  </p:childTnLst>
                                </p:cTn>
                              </p:par>
                              <p:par>
                                <p:cTn id="84" presetID="2" presetClass="entr" presetSubtype="4" fill="hold" grpId="0" nodeType="withEffect">
                                  <p:stCondLst>
                                    <p:cond delay="800"/>
                                  </p:stCondLst>
                                  <p:childTnLst>
                                    <p:set>
                                      <p:cBhvr>
                                        <p:cTn id="80" dur="1" fill="hold">
                                          <p:stCondLst>
                                            <p:cond delay="0"/>
                                          </p:stCondLst>
                                        </p:cTn>
                                        <p:tgtEl>
                                          <p:spTgt spid="24"/>
                                        </p:tgtEl>
                                        <p:attrNameLst>
                                          <p:attrName>style.visibility</p:attrName>
                                        </p:attrNameLst>
                                      </p:cBhvr>
                                      <p:to>
                                        <p:strVal val="visible"/>
                                      </p:to>
                                    </p:set>
                                    <p:anim calcmode="lin" valueType="num">
                                      <p:cBhvr additive="base">
                                        <p:cTn id="81" dur="500" fill="hold"/>
                                        <p:tgtEl>
                                          <p:spTgt spid="24"/>
                                        </p:tgtEl>
                                        <p:attrNameLst>
                                          <p:attrName>ppt_x</p:attrName>
                                        </p:attrNameLst>
                                      </p:cBhvr>
                                      <p:tavLst>
                                        <p:tav tm="0">
                                          <p:val>
                                            <p:strVal val="#ppt_x"/>
                                          </p:val>
                                        </p:tav>
                                        <p:tav tm="100000">
                                          <p:val>
                                            <p:strVal val="#ppt_x"/>
                                          </p:val>
                                        </p:tav>
                                      </p:tavLst>
                                    </p:anim>
                                    <p:anim calcmode="lin" valueType="num">
                                      <p:cBhvr additive="base">
                                        <p:cTn id="82" dur="500" fill="hold"/>
                                        <p:tgtEl>
                                          <p:spTgt spid="24"/>
                                        </p:tgtEl>
                                        <p:attrNameLst>
                                          <p:attrName>ppt_y</p:attrName>
                                        </p:attrNameLst>
                                      </p:cBhvr>
                                      <p:tavLst>
                                        <p:tav tm="0">
                                          <p:val>
                                            <p:strVal val="#ppt_y+0.1"/>
                                          </p:val>
                                        </p:tav>
                                        <p:tav tm="100000">
                                          <p:val>
                                            <p:strVal val="#ppt_y"/>
                                          </p:val>
                                        </p:tav>
                                      </p:tavLst>
                                    </p:anim>
                                    <p:animEffect transition="in" filter="fade">
                                      <p:cBhvr>
                                        <p:cTn id="83" dur="500"/>
                                        <p:tgtEl>
                                          <p:spTgt spid="24"/>
                                        </p:tgtEl>
                                      </p:cBhvr>
                                    </p:animEffect>
                                  </p:childTnLst>
                                </p:cTn>
                              </p:par>
                            </p:childTnLst>
                          </p:cTn>
                        </p:par>
                      </p:childTnLst>
                    </p:cTn>
                  </p:par>
                  <p:par>
                    <p:cTn id="85" fill="hold">
                      <p:stCondLst>
                        <p:cond delay="indefinite"/>
                      </p:stCondLst>
                      <p:childTnLst>
                        <p:par>
                          <p:cTn id="86" fill="hold">
                            <p:stCondLst>
                              <p:cond delay="0"/>
                            </p:stCondLst>
                            <p:childTnLst>
                              <p:par>
                                <p:cTn id="91" presetID="2" presetClass="entr" presetSubtype="4" fill="hold" grpId="0" nodeType="clickEffect">
                                  <p:stCondLst>
                                    <p:cond delay="0"/>
                                  </p:stCondLst>
                                  <p:childTnLst>
                                    <p:set>
                                      <p:cBhvr>
                                        <p:cTn id="87" dur="1" fill="hold">
                                          <p:stCondLst>
                                            <p:cond delay="0"/>
                                          </p:stCondLst>
                                        </p:cTn>
                                        <p:tgtEl>
                                          <p:spTgt spid="25"/>
                                        </p:tgtEl>
                                        <p:attrNameLst>
                                          <p:attrName>style.visibility</p:attrName>
                                        </p:attrNameLst>
                                      </p:cBhvr>
                                      <p:to>
                                        <p:strVal val="visible"/>
                                      </p:to>
                                    </p:set>
                                    <p:anim calcmode="lin" valueType="num">
                                      <p:cBhvr additive="base">
                                        <p:cTn id="88" dur="500" fill="hold"/>
                                        <p:tgtEl>
                                          <p:spTgt spid="25"/>
                                        </p:tgtEl>
                                        <p:attrNameLst>
                                          <p:attrName>ppt_x</p:attrName>
                                        </p:attrNameLst>
                                      </p:cBhvr>
                                      <p:tavLst>
                                        <p:tav tm="0">
                                          <p:val>
                                            <p:strVal val="#ppt_x"/>
                                          </p:val>
                                        </p:tav>
                                        <p:tav tm="100000">
                                          <p:val>
                                            <p:strVal val="#ppt_x"/>
                                          </p:val>
                                        </p:tav>
                                      </p:tavLst>
                                    </p:anim>
                                    <p:anim calcmode="lin" valueType="num">
                                      <p:cBhvr additive="base">
                                        <p:cTn id="89" dur="500" fill="hold"/>
                                        <p:tgtEl>
                                          <p:spTgt spid="25"/>
                                        </p:tgtEl>
                                        <p:attrNameLst>
                                          <p:attrName>ppt_y</p:attrName>
                                        </p:attrNameLst>
                                      </p:cBhvr>
                                      <p:tavLst>
                                        <p:tav tm="0">
                                          <p:val>
                                            <p:strVal val="#ppt_y+0.1"/>
                                          </p:val>
                                        </p:tav>
                                        <p:tav tm="100000">
                                          <p:val>
                                            <p:strVal val="#ppt_y"/>
                                          </p:val>
                                        </p:tav>
                                      </p:tavLst>
                                    </p:anim>
                                    <p:animEffect transition="in" filter="fade">
                                      <p:cBhvr>
                                        <p:cTn id="90" dur="500"/>
                                        <p:tgtEl>
                                          <p:spTgt spid="25"/>
                                        </p:tgtEl>
                                      </p:cBhvr>
                                    </p:animEffect>
                                  </p:childTnLst>
                                </p:cTn>
                              </p:par>
                              <p:par>
                                <p:cTn id="96" presetID="2" presetClass="entr" presetSubtype="4" fill="hold" grpId="0" nodeType="with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ppt_y+0.1"/>
                                          </p:val>
                                        </p:tav>
                                        <p:tav tm="100000">
                                          <p:val>
                                            <p:strVal val="#ppt_y"/>
                                          </p:val>
                                        </p:tav>
                                      </p:tavLst>
                                    </p:anim>
                                    <p:animEffect transition="in" filter="fade">
                                      <p:cBhvr>
                                        <p:cTn id="95" dur="500"/>
                                        <p:tgtEl>
                                          <p:spTgt spid="26"/>
                                        </p:tgtEl>
                                      </p:cBhvr>
                                    </p:animEffect>
                                  </p:childTnLst>
                                </p:cTn>
                              </p:par>
                            </p:childTnLst>
                          </p:cTn>
                        </p:par>
                      </p:childTnLst>
                    </p:cTn>
                  </p:par>
                  <p:par>
                    <p:cTn id="97" fill="hold">
                      <p:stCondLst>
                        <p:cond delay="indefinite"/>
                      </p:stCondLst>
                      <p:childTnLst>
                        <p:par>
                          <p:cTn id="98" fill="hold">
                            <p:stCondLst>
                              <p:cond delay="0"/>
                            </p:stCondLst>
                            <p:childTnLst>
                              <p:par>
                                <p:cTn id="103" presetID="2" presetClass="entr" presetSubtype="4" fill="hold" grpId="0" nodeType="clickEffect">
                                  <p:stCondLst>
                                    <p:cond delay="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500" fill="hold"/>
                                        <p:tgtEl>
                                          <p:spTgt spid="27"/>
                                        </p:tgtEl>
                                        <p:attrNameLst>
                                          <p:attrName>ppt_x</p:attrName>
                                        </p:attrNameLst>
                                      </p:cBhvr>
                                      <p:tavLst>
                                        <p:tav tm="0">
                                          <p:val>
                                            <p:strVal val="#ppt_x"/>
                                          </p:val>
                                        </p:tav>
                                        <p:tav tm="100000">
                                          <p:val>
                                            <p:strVal val="#ppt_x"/>
                                          </p:val>
                                        </p:tav>
                                      </p:tavLst>
                                    </p:anim>
                                    <p:anim calcmode="lin" valueType="num">
                                      <p:cBhvr additive="base">
                                        <p:cTn id="101" dur="500" fill="hold"/>
                                        <p:tgtEl>
                                          <p:spTgt spid="27"/>
                                        </p:tgtEl>
                                        <p:attrNameLst>
                                          <p:attrName>ppt_y</p:attrName>
                                        </p:attrNameLst>
                                      </p:cBhvr>
                                      <p:tavLst>
                                        <p:tav tm="0">
                                          <p:val>
                                            <p:strVal val="#ppt_y+0.1"/>
                                          </p:val>
                                        </p:tav>
                                        <p:tav tm="100000">
                                          <p:val>
                                            <p:strVal val="#ppt_y"/>
                                          </p:val>
                                        </p:tav>
                                      </p:tavLst>
                                    </p:anim>
                                    <p:animEffect transition="in" filter="fade">
                                      <p:cBhvr>
                                        <p:cTn id="102" dur="500"/>
                                        <p:tgtEl>
                                          <p:spTgt spid="27"/>
                                        </p:tgtEl>
                                      </p:cBhvr>
                                    </p:animEffect>
                                  </p:childTnLst>
                                </p:cTn>
                              </p:par>
                              <p:par>
                                <p:cTn id="108" presetID="2" presetClass="entr" presetSubtype="4"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 calcmode="lin" valueType="num">
                                      <p:cBhvr additive="base">
                                        <p:cTn id="105" dur="500" fill="hold"/>
                                        <p:tgtEl>
                                          <p:spTgt spid="28"/>
                                        </p:tgtEl>
                                        <p:attrNameLst>
                                          <p:attrName>ppt_x</p:attrName>
                                        </p:attrNameLst>
                                      </p:cBhvr>
                                      <p:tavLst>
                                        <p:tav tm="0">
                                          <p:val>
                                            <p:strVal val="#ppt_x"/>
                                          </p:val>
                                        </p:tav>
                                        <p:tav tm="100000">
                                          <p:val>
                                            <p:strVal val="#ppt_x"/>
                                          </p:val>
                                        </p:tav>
                                      </p:tavLst>
                                    </p:anim>
                                    <p:anim calcmode="lin" valueType="num">
                                      <p:cBhvr additive="base">
                                        <p:cTn id="106" dur="500" fill="hold"/>
                                        <p:tgtEl>
                                          <p:spTgt spid="28"/>
                                        </p:tgtEl>
                                        <p:attrNameLst>
                                          <p:attrName>ppt_y</p:attrName>
                                        </p:attrNameLst>
                                      </p:cBhvr>
                                      <p:tavLst>
                                        <p:tav tm="0">
                                          <p:val>
                                            <p:strVal val="#ppt_y+0.1"/>
                                          </p:val>
                                        </p:tav>
                                        <p:tav tm="100000">
                                          <p:val>
                                            <p:strVal val="#ppt_y"/>
                                          </p:val>
                                        </p:tav>
                                      </p:tavLst>
                                    </p:anim>
                                    <p:animEffect transition="in" filter="fade">
                                      <p:cBhvr>
                                        <p:cTn id="10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