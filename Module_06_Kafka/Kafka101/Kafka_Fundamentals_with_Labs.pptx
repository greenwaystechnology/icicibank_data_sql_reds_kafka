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is the conceptual foundation for the whole Kafka course: five ideas, each ending in a lab. By the end every learner has run Kafka locally, produced and consumed events, and replayed a real-world outage with and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four and a half hours with labs. Labs 1 to 6 build on each other: keep the Kafka container running from Lab 2 to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room read the ticket. Ask: which system failed? (SMS.) Which system stopped? (Transfers.) Why? Because the transfer waited for the SMS gateway. That is the whole deck in one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1: the two parties. Click 2: the request and the waiting. Click 3: the response. Stress property 2 and 3: both must be up, and the caller is stuck while it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design Lab 1 runs. The transfer waits for the SUM of four calls. Ask: which of the four does the customer actually need before seeing Done? Arguably only the ledger, and perhaps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the availability number on the whiteboard. 1 - 0.999^4 = 0.003994, times 8,760 hours = 35. The point: the dependency count is a multiplier on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clicks walk the timeline; the sixth shows the three failure modes to name. The partial-failure row matters most for a bank: it creates duplicate transfers when the customer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this deck: request-response is not bad. It is wrong for work the caller does not need to finish. Apply the ten-minute test to each of the four systems on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in one Python process: the four downstream systems are tiny HTTP servers on port 8700. --sms-down makes the SMS endpoint sleep for 10 s, so every call to it hits the 2 s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learners compare their table with this one before revealing it. The ratio that matters: throughput falls from about 22 to about 2 transfers a second, and not one transfer completes, because of the least important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clicks: question, answer, question, answer. Question 3 is the one bank engineers remember - the duplicate-transfer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decoupling back to the four request-response properties: known address, both up at once, caller blocks. A broker removes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last click: both bottom lines appear together. Kafka does not make you choose a model per topic - the consumer group decides, which is Lab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record, read with kafka-console-consumer after Lab 4. The event_id exists so a reader can recognise a redelivery - we come back to that with offsets.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slide for understanding Kafka. Two readers at different offsets of the same log, neither affecting the other. Lab 3 proves reading twice returns the same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should leave thinking Kafka replaces IBM MQ everywhere. MQ is excellent at transactional point-to-point handoffs; Kafka is excellent at many readers and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Enough vocabulary to do Labs 2 and 3. Deck 2 goes deep on brokers, replication and KRaft; here the aim is only to name the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learners to open docker-compose.yml while the images download: it is commented line by line. The kafka container puts the Kafka CLI tools on PATH so docker exec kafka kafka-topics.sh works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listeners are the most common source of 'cannot connect' questions later. The rule: clients use the address the broker ADVERTISES for the listener they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backtick at the end of a line is PowerShell's line continuation - it must be the last character. The topic-name WARNING about '.' and '_' is harmless.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Step 6 each line is typed on its own; the slide shows three per row to save space. Kafka 4.1 deprecated --property: producers now take --reader-property, consumers --formatter-property. The old flag still works, with a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output. Tabs replaced by two spaces. Which partition the five unkeyed messages use changes run to run; that they all share one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4 sets up the key rule for Part 4: if two events must stay in order, they must share a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classify: 'BlockCard' (command), 'CardBlocked' (event), 'IsCardBlocked' (query). The grammar tells you the coupling.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slide 6 and this slide side by side. Same systems, arrows reversed: readers pull from the topic instead of the transfer pushing to each of them. Lab 4 builds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sourcing is a big topic in its own right; name it here, do not teach it. The course's events are event-carried state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use messaging. The difference is whether the messages are events (facts others react to) or commands (instructions from a coordinator). Kafka carries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the costs. Eventual consistency is the one business stakeholders notice: the SMS can arrive a few seconds after the app says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PowerShell windows side by side is the ideal layout. Stopping the readers at the end matters: Lab 6 relies on sms-notifier having been down since Lab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TXN ids and amounts are random; the key-to-partition mapping is not. That the Python producer agrees with the Java console producer is deliberate - see the partitioner slide in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ledger-feed shows the same 12 events as 'GL posted DR/CR'. The loyalty window is the one to dwell on: it did not exist when the events were published, and it still got all twelve.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is the headline of Part 3. Contrast directly with Lab 1's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3 to 6 happen on a background thread inside the client library. That is why produce() returns immediately - the root of the sync/async discussion in Part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card is a real production bug: a Java service and a Python service producing the same keys to the same topic, silently breaking per-account ordering. The lab scripts set murmur2_random for exactly this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what if we committed BEFORE sending the SMS and then crashed? The SMS is never sent - at-most-once. Commit order decides the delivery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slide 15's two models, delivered by one mechanism. Partition count caps the useful members per group - the Lab 5 challenge shows the idle fourth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describe output is real, captured at the start of Lab 6 part B when the SMS reader had been down since Lab 4. Partition 0 in the diagram is its first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and B each print their assigned partitions when they join. When B joins after A, watch A's window: revoked, then re-assigned - that is a rebalance.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briefly owned all three partitions because it joined an empty group; when A's membership settled, Kafka split them 2 + 1. Columns of the describe output trimmed.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4 is a design rule to remember: you can add partitions later, but it changes which partition each key maps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1: synchronous - point at the amber bar, the waiting. Click 2: asynchronous - the green bar keeps going. Click 3: the receiver processes later, on its own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'If the receiver fails' row twice. It is INC-4755 and its fix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confuses people: 'we use sync send, so we are synchronous'. No - the producer waits for Kafka, never for the SMS gateway. Lab 6 measures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where the line sits in their own systems. Most will find at least one synchronous call that fails the ten-minute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clicks. Run the SMS gateway through it: no to 1, yes to 2 - an event. Run the OTP check through it: yes to 1 - synchronous.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B is INC-4755 with Kafka in the middle. Have learners keep their Lab 1 numbers open for the comparison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async bar is drawn at its true scale, a sliver. Run it twice: the ratio moves between roughly 200x and 280x on the authoring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Lag numbers depend on how many transfers were published after Lab 4: here 12 + 6 in Lab 5, so 18 before Part B. The headline comparison of the deck. Same outage; transfers went from 0 of 12 to 20 of 20. The cost: SMS messages arrived late instead of on time - which is the eventual consistency from Part 3, and a trade every bank takes happily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solution: solutions/transfer_service_sync.py - one flush() after produce(). The very first transfer takes longer because it opens the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cluster running if Deck 2 follows straight on; otherwise 'docker compose down' keeps all topics for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a learner needs to redo the labs at home: Docker Desktop, Python 3.11+, and pip install confluent-kafka.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a0f_kick2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spc="300">
                <a:solidFill>
                  <a:srgbClr val="FB923C"/>
                </a:solidFill>
                <a:latin typeface="Segoe UI"/>
              </a:rPr>
              <a:t>APACHE KAFKA TRAINING</a:t>
            </a:r>
          </a:p>
        </p:txBody>
      </p:sp>
      <p:sp>
        <p:nvSpPr>
          <p:cNvPr id="4" name="a0ud200_t3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00" b="0">
                <a:solidFill>
                  <a:srgbClr val="FFFFFF"/>
                </a:solidFill>
                <a:latin typeface="Bahnschrift SemiBold"/>
              </a:rPr>
              <a:t>Kafka Fundamentals</a:t>
            </a:r>
          </a:p>
        </p:txBody>
      </p:sp>
      <p:sp>
        <p:nvSpPr>
          <p:cNvPr id="5" name="a0fd500_sub4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D6D3D1"/>
                </a:solidFill>
                <a:latin typeface="Segoe UI"/>
              </a:rPr>
              <a:t>From request-response to event streaming</a:t>
            </a:r>
          </a:p>
          <a:p>
            <a:pPr algn="l"/>
            <a:r>
              <a:rPr sz="1450" b="0">
                <a:solidFill>
                  <a:srgbClr val="D6D3D1"/>
                </a:solidFill>
                <a:latin typeface="Segoe UI"/>
              </a:rPr>
              <a:t>six hands-on labs, with solutions</a:t>
            </a:r>
          </a:p>
        </p:txBody>
      </p:sp>
      <p:sp>
        <p:nvSpPr>
          <p:cNvPr id="6" name="a0ud800_pill5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DBA74"/>
                </a:solidFill>
                <a:latin typeface="Consolas"/>
              </a:rPr>
              <a:t>REQUEST</a:t>
            </a:r>
          </a:p>
        </p:txBody>
      </p:sp>
      <p:sp>
        <p:nvSpPr>
          <p:cNvPr id="7" name="a0ud950_pill6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DBA74"/>
                </a:solidFill>
                <a:latin typeface="Consolas"/>
              </a:rPr>
              <a:t>MESSAGE</a:t>
            </a:r>
          </a:p>
        </p:txBody>
      </p:sp>
      <p:sp>
        <p:nvSpPr>
          <p:cNvPr id="8" name="a0ud1100_pill7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DBA74"/>
                </a:solidFill>
                <a:latin typeface="Consolas"/>
              </a:rPr>
              <a:t>EVENT</a:t>
            </a:r>
          </a:p>
        </p:txBody>
      </p:sp>
      <p:sp>
        <p:nvSpPr>
          <p:cNvPr id="9" name="a0ud1250_pill8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DBA74"/>
                </a:solidFill>
                <a:latin typeface="Consolas"/>
              </a:rPr>
              <a:t>ASYNC</a:t>
            </a:r>
          </a:p>
        </p:txBody>
      </p:sp>
      <p:sp>
        <p:nvSpPr>
          <p:cNvPr id="10" name="a0fd1400_nt9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8A29E"/>
                </a:solidFill>
                <a:latin typeface="Segoe UI"/>
              </a:rPr>
              <a:t>Deck 1  ·  Apache Kafka Training  ·  Horizon Bank case study</a:t>
            </a:r>
          </a:p>
        </p:txBody>
      </p:sp>
      <p:sp>
        <p:nvSpPr>
          <p:cNvPr id="11" name="a0fd1600_lc10"/>
          <p:cNvSpPr/>
          <p:nvPr/>
        </p:nvSpPr>
        <p:spPr>
          <a:xfrm>
            <a:off x="548640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0fd1600_lct11"/>
          <p:cNvSpPr txBox="1"/>
          <p:nvPr/>
        </p:nvSpPr>
        <p:spPr>
          <a:xfrm>
            <a:off x="548640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0</a:t>
            </a:r>
          </a:p>
        </p:txBody>
      </p:sp>
      <p:sp>
        <p:nvSpPr>
          <p:cNvPr id="13" name="a0fd1645_lc12"/>
          <p:cNvSpPr/>
          <p:nvPr/>
        </p:nvSpPr>
        <p:spPr>
          <a:xfrm>
            <a:off x="987552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fd1645_lct13"/>
          <p:cNvSpPr txBox="1"/>
          <p:nvPr/>
        </p:nvSpPr>
        <p:spPr>
          <a:xfrm>
            <a:off x="987552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1</a:t>
            </a:r>
          </a:p>
        </p:txBody>
      </p:sp>
      <p:sp>
        <p:nvSpPr>
          <p:cNvPr id="15" name="a0fd1690_lc14"/>
          <p:cNvSpPr/>
          <p:nvPr/>
        </p:nvSpPr>
        <p:spPr>
          <a:xfrm>
            <a:off x="1426464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0fd1690_lct15"/>
          <p:cNvSpPr txBox="1"/>
          <p:nvPr/>
        </p:nvSpPr>
        <p:spPr>
          <a:xfrm>
            <a:off x="1426464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2</a:t>
            </a:r>
          </a:p>
        </p:txBody>
      </p:sp>
      <p:sp>
        <p:nvSpPr>
          <p:cNvPr id="17" name="a0fd1735_lc16"/>
          <p:cNvSpPr/>
          <p:nvPr/>
        </p:nvSpPr>
        <p:spPr>
          <a:xfrm>
            <a:off x="1865376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0fd1735_lct17"/>
          <p:cNvSpPr txBox="1"/>
          <p:nvPr/>
        </p:nvSpPr>
        <p:spPr>
          <a:xfrm>
            <a:off x="1865376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3</a:t>
            </a:r>
          </a:p>
        </p:txBody>
      </p:sp>
      <p:sp>
        <p:nvSpPr>
          <p:cNvPr id="19" name="a0fd1780_lc18"/>
          <p:cNvSpPr/>
          <p:nvPr/>
        </p:nvSpPr>
        <p:spPr>
          <a:xfrm>
            <a:off x="2304288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fd1780_lct19"/>
          <p:cNvSpPr txBox="1"/>
          <p:nvPr/>
        </p:nvSpPr>
        <p:spPr>
          <a:xfrm>
            <a:off x="2304288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4</a:t>
            </a:r>
          </a:p>
        </p:txBody>
      </p:sp>
      <p:sp>
        <p:nvSpPr>
          <p:cNvPr id="21" name="a0fd1825_lc20"/>
          <p:cNvSpPr/>
          <p:nvPr/>
        </p:nvSpPr>
        <p:spPr>
          <a:xfrm>
            <a:off x="2743200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0fd1825_lct21"/>
          <p:cNvSpPr txBox="1"/>
          <p:nvPr/>
        </p:nvSpPr>
        <p:spPr>
          <a:xfrm>
            <a:off x="2743200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5</a:t>
            </a:r>
          </a:p>
        </p:txBody>
      </p:sp>
      <p:sp>
        <p:nvSpPr>
          <p:cNvPr id="23" name="a0fd1870_lc22"/>
          <p:cNvSpPr/>
          <p:nvPr/>
        </p:nvSpPr>
        <p:spPr>
          <a:xfrm>
            <a:off x="3182112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0fd1870_lct23"/>
          <p:cNvSpPr txBox="1"/>
          <p:nvPr/>
        </p:nvSpPr>
        <p:spPr>
          <a:xfrm>
            <a:off x="3182112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6</a:t>
            </a:r>
          </a:p>
        </p:txBody>
      </p:sp>
      <p:sp>
        <p:nvSpPr>
          <p:cNvPr id="25" name="a0fd1915_lc24"/>
          <p:cNvSpPr/>
          <p:nvPr/>
        </p:nvSpPr>
        <p:spPr>
          <a:xfrm>
            <a:off x="3621024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0fd1915_lct25"/>
          <p:cNvSpPr txBox="1"/>
          <p:nvPr/>
        </p:nvSpPr>
        <p:spPr>
          <a:xfrm>
            <a:off x="3621024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7</a:t>
            </a:r>
          </a:p>
        </p:txBody>
      </p:sp>
      <p:sp>
        <p:nvSpPr>
          <p:cNvPr id="27" name="a0fd1960_lc26"/>
          <p:cNvSpPr/>
          <p:nvPr/>
        </p:nvSpPr>
        <p:spPr>
          <a:xfrm>
            <a:off x="4059935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0fd1960_lct27"/>
          <p:cNvSpPr txBox="1"/>
          <p:nvPr/>
        </p:nvSpPr>
        <p:spPr>
          <a:xfrm>
            <a:off x="4059935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8</a:t>
            </a:r>
          </a:p>
        </p:txBody>
      </p:sp>
      <p:sp>
        <p:nvSpPr>
          <p:cNvPr id="29" name="a0fd2005_lc28"/>
          <p:cNvSpPr/>
          <p:nvPr/>
        </p:nvSpPr>
        <p:spPr>
          <a:xfrm>
            <a:off x="4498848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0fd2005_lct29"/>
          <p:cNvSpPr txBox="1"/>
          <p:nvPr/>
        </p:nvSpPr>
        <p:spPr>
          <a:xfrm>
            <a:off x="4498848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9</a:t>
            </a:r>
          </a:p>
        </p:txBody>
      </p:sp>
      <p:sp>
        <p:nvSpPr>
          <p:cNvPr id="31" name="a0fd2050_lc30"/>
          <p:cNvSpPr/>
          <p:nvPr/>
        </p:nvSpPr>
        <p:spPr>
          <a:xfrm>
            <a:off x="4937759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0fd2050_lct31"/>
          <p:cNvSpPr txBox="1"/>
          <p:nvPr/>
        </p:nvSpPr>
        <p:spPr>
          <a:xfrm>
            <a:off x="4937759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10</a:t>
            </a:r>
          </a:p>
        </p:txBody>
      </p:sp>
      <p:sp>
        <p:nvSpPr>
          <p:cNvPr id="33" name="a0fd2095_lc32"/>
          <p:cNvSpPr/>
          <p:nvPr/>
        </p:nvSpPr>
        <p:spPr>
          <a:xfrm>
            <a:off x="5376671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0fd2095_lct33"/>
          <p:cNvSpPr txBox="1"/>
          <p:nvPr/>
        </p:nvSpPr>
        <p:spPr>
          <a:xfrm>
            <a:off x="5376671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11</a:t>
            </a:r>
          </a:p>
        </p:txBody>
      </p:sp>
      <p:sp>
        <p:nvSpPr>
          <p:cNvPr id="35" name="a0fd2140_lc34"/>
          <p:cNvSpPr/>
          <p:nvPr/>
        </p:nvSpPr>
        <p:spPr>
          <a:xfrm>
            <a:off x="5815583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0fd2140_lct35"/>
          <p:cNvSpPr txBox="1"/>
          <p:nvPr/>
        </p:nvSpPr>
        <p:spPr>
          <a:xfrm>
            <a:off x="5815583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Consolas"/>
              </a:rPr>
              <a:t>12</a:t>
            </a:r>
          </a:p>
        </p:txBody>
      </p:sp>
      <p:sp>
        <p:nvSpPr>
          <p:cNvPr id="37" name="a0fd2185_lc36"/>
          <p:cNvSpPr/>
          <p:nvPr/>
        </p:nvSpPr>
        <p:spPr>
          <a:xfrm>
            <a:off x="6254496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0fd2185_lct37"/>
          <p:cNvSpPr txBox="1"/>
          <p:nvPr/>
        </p:nvSpPr>
        <p:spPr>
          <a:xfrm>
            <a:off x="6254496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Consolas"/>
              </a:rPr>
              <a:t>13</a:t>
            </a:r>
          </a:p>
        </p:txBody>
      </p:sp>
      <p:sp>
        <p:nvSpPr>
          <p:cNvPr id="39" name="a0fd2230_lc38"/>
          <p:cNvSpPr/>
          <p:nvPr/>
        </p:nvSpPr>
        <p:spPr>
          <a:xfrm>
            <a:off x="6693407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0fd2230_lct39"/>
          <p:cNvSpPr txBox="1"/>
          <p:nvPr/>
        </p:nvSpPr>
        <p:spPr>
          <a:xfrm>
            <a:off x="6693407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Consolas"/>
              </a:rPr>
              <a:t>14</a:t>
            </a:r>
          </a:p>
        </p:txBody>
      </p:sp>
      <p:sp>
        <p:nvSpPr>
          <p:cNvPr id="41" name="a0fd2275_lc40"/>
          <p:cNvSpPr/>
          <p:nvPr/>
        </p:nvSpPr>
        <p:spPr>
          <a:xfrm>
            <a:off x="7132319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0fd2275_lct41"/>
          <p:cNvSpPr txBox="1"/>
          <p:nvPr/>
        </p:nvSpPr>
        <p:spPr>
          <a:xfrm>
            <a:off x="7132319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Consolas"/>
              </a:rPr>
              <a:t>15</a:t>
            </a:r>
          </a:p>
        </p:txBody>
      </p:sp>
      <p:sp>
        <p:nvSpPr>
          <p:cNvPr id="43" name="a0fd2320_lc42"/>
          <p:cNvSpPr/>
          <p:nvPr/>
        </p:nvSpPr>
        <p:spPr>
          <a:xfrm>
            <a:off x="7571231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0fd2320_lct43"/>
          <p:cNvSpPr txBox="1"/>
          <p:nvPr/>
        </p:nvSpPr>
        <p:spPr>
          <a:xfrm>
            <a:off x="7571231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Consolas"/>
              </a:rPr>
              <a:t>16</a:t>
            </a:r>
          </a:p>
        </p:txBody>
      </p:sp>
      <p:sp>
        <p:nvSpPr>
          <p:cNvPr id="45" name="a0fd2365_lc44"/>
          <p:cNvSpPr/>
          <p:nvPr/>
        </p:nvSpPr>
        <p:spPr>
          <a:xfrm>
            <a:off x="8010144" y="4553712"/>
            <a:ext cx="384048" cy="237744"/>
          </a:xfrm>
          <a:prstGeom prst="roundRect">
            <a:avLst>
              <a:gd name="adj" fmla="val 15384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0fd2365_lct45"/>
          <p:cNvSpPr txBox="1"/>
          <p:nvPr/>
        </p:nvSpPr>
        <p:spPr>
          <a:xfrm>
            <a:off x="8010144" y="45537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Consolas"/>
              </a:rPr>
              <a:t>17</a:t>
            </a:r>
          </a:p>
        </p:txBody>
      </p:sp>
      <p:cxnSp>
        <p:nvCxnSpPr>
          <p:cNvPr id="47" name="a0fd2410_la46"/>
          <p:cNvCxnSpPr/>
          <p:nvPr/>
        </p:nvCxnSpPr>
        <p:spPr>
          <a:xfrm>
            <a:off x="8449056" y="4672584"/>
            <a:ext cx="237744" cy="0"/>
          </a:xfrm>
          <a:prstGeom prst="line">
            <a:avLst/>
          </a:prstGeom>
          <a:ln w="19050">
            <a:solidFill>
              <a:srgbClr val="FB92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a0fd900_pl47"/>
          <p:cNvSpPr txBox="1"/>
          <p:nvPr/>
        </p:nvSpPr>
        <p:spPr>
          <a:xfrm>
            <a:off x="5989320" y="1234440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onsolas"/>
              </a:rPr>
              <a:t>P0</a:t>
            </a:r>
          </a:p>
        </p:txBody>
      </p:sp>
      <p:sp>
        <p:nvSpPr>
          <p:cNvPr id="49" name="a0wd1000_lc48"/>
          <p:cNvSpPr/>
          <p:nvPr/>
        </p:nvSpPr>
        <p:spPr>
          <a:xfrm>
            <a:off x="6400800" y="1234440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0wd1000_lct49"/>
          <p:cNvSpPr txBox="1"/>
          <p:nvPr/>
        </p:nvSpPr>
        <p:spPr>
          <a:xfrm>
            <a:off x="6400800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0</a:t>
            </a:r>
          </a:p>
        </p:txBody>
      </p:sp>
      <p:sp>
        <p:nvSpPr>
          <p:cNvPr id="51" name="a0wd1040_lc50"/>
          <p:cNvSpPr/>
          <p:nvPr/>
        </p:nvSpPr>
        <p:spPr>
          <a:xfrm>
            <a:off x="6675120" y="1234440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0wd1040_lct51"/>
          <p:cNvSpPr txBox="1"/>
          <p:nvPr/>
        </p:nvSpPr>
        <p:spPr>
          <a:xfrm>
            <a:off x="6675120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1</a:t>
            </a:r>
          </a:p>
        </p:txBody>
      </p:sp>
      <p:sp>
        <p:nvSpPr>
          <p:cNvPr id="53" name="a0wd1080_lc52"/>
          <p:cNvSpPr/>
          <p:nvPr/>
        </p:nvSpPr>
        <p:spPr>
          <a:xfrm>
            <a:off x="6949440" y="1234440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0wd1080_lct53"/>
          <p:cNvSpPr txBox="1"/>
          <p:nvPr/>
        </p:nvSpPr>
        <p:spPr>
          <a:xfrm>
            <a:off x="6949440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2</a:t>
            </a:r>
          </a:p>
        </p:txBody>
      </p:sp>
      <p:sp>
        <p:nvSpPr>
          <p:cNvPr id="55" name="a0wd1120_lc54"/>
          <p:cNvSpPr/>
          <p:nvPr/>
        </p:nvSpPr>
        <p:spPr>
          <a:xfrm>
            <a:off x="7223760" y="1234440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0wd1120_lct55"/>
          <p:cNvSpPr txBox="1"/>
          <p:nvPr/>
        </p:nvSpPr>
        <p:spPr>
          <a:xfrm>
            <a:off x="7223760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3</a:t>
            </a:r>
          </a:p>
        </p:txBody>
      </p:sp>
      <p:sp>
        <p:nvSpPr>
          <p:cNvPr id="57" name="a0wd1160_lc56"/>
          <p:cNvSpPr/>
          <p:nvPr/>
        </p:nvSpPr>
        <p:spPr>
          <a:xfrm>
            <a:off x="7498079" y="1234440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0wd1160_lct57"/>
          <p:cNvSpPr txBox="1"/>
          <p:nvPr/>
        </p:nvSpPr>
        <p:spPr>
          <a:xfrm>
            <a:off x="7498079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4</a:t>
            </a:r>
          </a:p>
        </p:txBody>
      </p:sp>
      <p:sp>
        <p:nvSpPr>
          <p:cNvPr id="59" name="a0wd1200_lc58"/>
          <p:cNvSpPr/>
          <p:nvPr/>
        </p:nvSpPr>
        <p:spPr>
          <a:xfrm>
            <a:off x="7772400" y="1234440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0wd1200_lct59"/>
          <p:cNvSpPr txBox="1"/>
          <p:nvPr/>
        </p:nvSpPr>
        <p:spPr>
          <a:xfrm>
            <a:off x="7772400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5</a:t>
            </a:r>
          </a:p>
        </p:txBody>
      </p:sp>
      <p:sp>
        <p:nvSpPr>
          <p:cNvPr id="61" name="a0wd1240_lc60"/>
          <p:cNvSpPr/>
          <p:nvPr/>
        </p:nvSpPr>
        <p:spPr>
          <a:xfrm>
            <a:off x="8046720" y="1234440"/>
            <a:ext cx="256032" cy="329184"/>
          </a:xfrm>
          <a:prstGeom prst="rect">
            <a:avLst/>
          </a:prstGeom>
          <a:solidFill>
            <a:srgbClr val="C2410C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0wd1240_lct61"/>
          <p:cNvSpPr txBox="1"/>
          <p:nvPr/>
        </p:nvSpPr>
        <p:spPr>
          <a:xfrm>
            <a:off x="8046720" y="123444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63" name="a0fd1050_pl62"/>
          <p:cNvSpPr txBox="1"/>
          <p:nvPr/>
        </p:nvSpPr>
        <p:spPr>
          <a:xfrm>
            <a:off x="5989320" y="180136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onsolas"/>
              </a:rPr>
              <a:t>P1</a:t>
            </a:r>
          </a:p>
        </p:txBody>
      </p:sp>
      <p:sp>
        <p:nvSpPr>
          <p:cNvPr id="64" name="a0wd1150_lc63"/>
          <p:cNvSpPr/>
          <p:nvPr/>
        </p:nvSpPr>
        <p:spPr>
          <a:xfrm>
            <a:off x="6400800" y="1801368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0wd1150_lct64"/>
          <p:cNvSpPr txBox="1"/>
          <p:nvPr/>
        </p:nvSpPr>
        <p:spPr>
          <a:xfrm>
            <a:off x="6400800" y="180136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0</a:t>
            </a:r>
          </a:p>
        </p:txBody>
      </p:sp>
      <p:sp>
        <p:nvSpPr>
          <p:cNvPr id="66" name="a0wd1190_lc65"/>
          <p:cNvSpPr/>
          <p:nvPr/>
        </p:nvSpPr>
        <p:spPr>
          <a:xfrm>
            <a:off x="6675120" y="1801368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0wd1190_lct66"/>
          <p:cNvSpPr txBox="1"/>
          <p:nvPr/>
        </p:nvSpPr>
        <p:spPr>
          <a:xfrm>
            <a:off x="6675120" y="180136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1</a:t>
            </a:r>
          </a:p>
        </p:txBody>
      </p:sp>
      <p:sp>
        <p:nvSpPr>
          <p:cNvPr id="68" name="a0wd1230_lc67"/>
          <p:cNvSpPr/>
          <p:nvPr/>
        </p:nvSpPr>
        <p:spPr>
          <a:xfrm>
            <a:off x="6949440" y="1801368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0wd1230_lct68"/>
          <p:cNvSpPr txBox="1"/>
          <p:nvPr/>
        </p:nvSpPr>
        <p:spPr>
          <a:xfrm>
            <a:off x="6949440" y="180136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2</a:t>
            </a:r>
          </a:p>
        </p:txBody>
      </p:sp>
      <p:sp>
        <p:nvSpPr>
          <p:cNvPr id="70" name="a0wd1270_lc69"/>
          <p:cNvSpPr/>
          <p:nvPr/>
        </p:nvSpPr>
        <p:spPr>
          <a:xfrm>
            <a:off x="7223760" y="1801368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0wd1270_lct70"/>
          <p:cNvSpPr txBox="1"/>
          <p:nvPr/>
        </p:nvSpPr>
        <p:spPr>
          <a:xfrm>
            <a:off x="7223760" y="180136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3</a:t>
            </a:r>
          </a:p>
        </p:txBody>
      </p:sp>
      <p:sp>
        <p:nvSpPr>
          <p:cNvPr id="72" name="a0wd1310_lc71"/>
          <p:cNvSpPr/>
          <p:nvPr/>
        </p:nvSpPr>
        <p:spPr>
          <a:xfrm>
            <a:off x="7498079" y="1801368"/>
            <a:ext cx="256032" cy="329184"/>
          </a:xfrm>
          <a:prstGeom prst="rect">
            <a:avLst/>
          </a:prstGeom>
          <a:solidFill>
            <a:srgbClr val="C2410C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0wd1310_lct72"/>
          <p:cNvSpPr txBox="1"/>
          <p:nvPr/>
        </p:nvSpPr>
        <p:spPr>
          <a:xfrm>
            <a:off x="7498079" y="180136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74" name="a0fd1200_pl73"/>
          <p:cNvSpPr txBox="1"/>
          <p:nvPr/>
        </p:nvSpPr>
        <p:spPr>
          <a:xfrm>
            <a:off x="5989320" y="2368296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onsolas"/>
              </a:rPr>
              <a:t>P2</a:t>
            </a:r>
          </a:p>
        </p:txBody>
      </p:sp>
      <p:sp>
        <p:nvSpPr>
          <p:cNvPr id="75" name="a0wd1300_lc74"/>
          <p:cNvSpPr/>
          <p:nvPr/>
        </p:nvSpPr>
        <p:spPr>
          <a:xfrm>
            <a:off x="6400800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0wd1300_lct75"/>
          <p:cNvSpPr txBox="1"/>
          <p:nvPr/>
        </p:nvSpPr>
        <p:spPr>
          <a:xfrm>
            <a:off x="640080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0</a:t>
            </a:r>
          </a:p>
        </p:txBody>
      </p:sp>
      <p:sp>
        <p:nvSpPr>
          <p:cNvPr id="77" name="a0wd1340_lc76"/>
          <p:cNvSpPr/>
          <p:nvPr/>
        </p:nvSpPr>
        <p:spPr>
          <a:xfrm>
            <a:off x="6675120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0wd1340_lct77"/>
          <p:cNvSpPr txBox="1"/>
          <p:nvPr/>
        </p:nvSpPr>
        <p:spPr>
          <a:xfrm>
            <a:off x="667512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1</a:t>
            </a:r>
          </a:p>
        </p:txBody>
      </p:sp>
      <p:sp>
        <p:nvSpPr>
          <p:cNvPr id="79" name="a0wd1380_lc78"/>
          <p:cNvSpPr/>
          <p:nvPr/>
        </p:nvSpPr>
        <p:spPr>
          <a:xfrm>
            <a:off x="6949440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0wd1380_lct79"/>
          <p:cNvSpPr txBox="1"/>
          <p:nvPr/>
        </p:nvSpPr>
        <p:spPr>
          <a:xfrm>
            <a:off x="694944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2</a:t>
            </a:r>
          </a:p>
        </p:txBody>
      </p:sp>
      <p:sp>
        <p:nvSpPr>
          <p:cNvPr id="81" name="a0wd1420_lc80"/>
          <p:cNvSpPr/>
          <p:nvPr/>
        </p:nvSpPr>
        <p:spPr>
          <a:xfrm>
            <a:off x="7223760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0wd1420_lct81"/>
          <p:cNvSpPr txBox="1"/>
          <p:nvPr/>
        </p:nvSpPr>
        <p:spPr>
          <a:xfrm>
            <a:off x="722376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3</a:t>
            </a:r>
          </a:p>
        </p:txBody>
      </p:sp>
      <p:sp>
        <p:nvSpPr>
          <p:cNvPr id="83" name="a0wd1460_lc82"/>
          <p:cNvSpPr/>
          <p:nvPr/>
        </p:nvSpPr>
        <p:spPr>
          <a:xfrm>
            <a:off x="7498079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0wd1460_lct83"/>
          <p:cNvSpPr txBox="1"/>
          <p:nvPr/>
        </p:nvSpPr>
        <p:spPr>
          <a:xfrm>
            <a:off x="7498079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4</a:t>
            </a:r>
          </a:p>
        </p:txBody>
      </p:sp>
      <p:sp>
        <p:nvSpPr>
          <p:cNvPr id="85" name="a0wd1500_lc84"/>
          <p:cNvSpPr/>
          <p:nvPr/>
        </p:nvSpPr>
        <p:spPr>
          <a:xfrm>
            <a:off x="7772400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a0wd1500_lct85"/>
          <p:cNvSpPr txBox="1"/>
          <p:nvPr/>
        </p:nvSpPr>
        <p:spPr>
          <a:xfrm>
            <a:off x="777240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5</a:t>
            </a:r>
          </a:p>
        </p:txBody>
      </p:sp>
      <p:sp>
        <p:nvSpPr>
          <p:cNvPr id="87" name="a0wd1540_lc86"/>
          <p:cNvSpPr/>
          <p:nvPr/>
        </p:nvSpPr>
        <p:spPr>
          <a:xfrm>
            <a:off x="8046720" y="2368296"/>
            <a:ext cx="256032" cy="329184"/>
          </a:xfrm>
          <a:prstGeom prst="rect">
            <a:avLst/>
          </a:prstGeom>
          <a:solidFill>
            <a:srgbClr val="27272A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a0wd1540_lct87"/>
          <p:cNvSpPr txBox="1"/>
          <p:nvPr/>
        </p:nvSpPr>
        <p:spPr>
          <a:xfrm>
            <a:off x="804672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D6D3D1"/>
                </a:solidFill>
                <a:latin typeface="Consolas"/>
              </a:rPr>
              <a:t>6</a:t>
            </a:r>
          </a:p>
        </p:txBody>
      </p:sp>
      <p:sp>
        <p:nvSpPr>
          <p:cNvPr id="89" name="a0wd1580_lc88"/>
          <p:cNvSpPr/>
          <p:nvPr/>
        </p:nvSpPr>
        <p:spPr>
          <a:xfrm>
            <a:off x="8321040" y="2368296"/>
            <a:ext cx="256032" cy="329184"/>
          </a:xfrm>
          <a:prstGeom prst="rect">
            <a:avLst/>
          </a:prstGeom>
          <a:solidFill>
            <a:srgbClr val="C2410C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a0wd1580_lct89"/>
          <p:cNvSpPr txBox="1"/>
          <p:nvPr/>
        </p:nvSpPr>
        <p:spPr>
          <a:xfrm>
            <a:off x="8321040" y="2368296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91" name="a0fd1800_cap90"/>
          <p:cNvSpPr txBox="1"/>
          <p:nvPr/>
        </p:nvSpPr>
        <p:spPr>
          <a:xfrm>
            <a:off x="5989320" y="297180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a topic: partitions of append-only logs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73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73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1825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182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191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191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2005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2005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2095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2095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2275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2275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2365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2365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241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What This Deck Covers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Five ideas, in the order they build on each other - each one ends in a lab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170432"/>
            <a:ext cx="411480" cy="3840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170432"/>
            <a:ext cx="3017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3" name="a1wd120_td12"/>
          <p:cNvSpPr/>
          <p:nvPr/>
        </p:nvSpPr>
        <p:spPr>
          <a:xfrm>
            <a:off x="457200" y="1554480"/>
            <a:ext cx="411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20_tdt13"/>
          <p:cNvSpPr txBox="1"/>
          <p:nvPr/>
        </p:nvSpPr>
        <p:spPr>
          <a:xfrm>
            <a:off x="530352" y="1554480"/>
            <a:ext cx="3017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1</a:t>
            </a:r>
          </a:p>
        </p:txBody>
      </p:sp>
      <p:sp>
        <p:nvSpPr>
          <p:cNvPr id="15" name="a1wd240_td14"/>
          <p:cNvSpPr/>
          <p:nvPr/>
        </p:nvSpPr>
        <p:spPr>
          <a:xfrm>
            <a:off x="457200" y="1938528"/>
            <a:ext cx="4114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40_tdt15"/>
          <p:cNvSpPr txBox="1"/>
          <p:nvPr/>
        </p:nvSpPr>
        <p:spPr>
          <a:xfrm>
            <a:off x="530352" y="1938528"/>
            <a:ext cx="3017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2</a:t>
            </a:r>
          </a:p>
        </p:txBody>
      </p:sp>
      <p:sp>
        <p:nvSpPr>
          <p:cNvPr id="17" name="a1wd360_td16"/>
          <p:cNvSpPr/>
          <p:nvPr/>
        </p:nvSpPr>
        <p:spPr>
          <a:xfrm>
            <a:off x="457200" y="2322576"/>
            <a:ext cx="411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60_tdt17"/>
          <p:cNvSpPr txBox="1"/>
          <p:nvPr/>
        </p:nvSpPr>
        <p:spPr>
          <a:xfrm>
            <a:off x="530352" y="2322576"/>
            <a:ext cx="3017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3</a:t>
            </a:r>
          </a:p>
        </p:txBody>
      </p:sp>
      <p:sp>
        <p:nvSpPr>
          <p:cNvPr id="19" name="a1wd480_td18"/>
          <p:cNvSpPr/>
          <p:nvPr/>
        </p:nvSpPr>
        <p:spPr>
          <a:xfrm>
            <a:off x="457200" y="2706624"/>
            <a:ext cx="4114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80_tdt19"/>
          <p:cNvSpPr txBox="1"/>
          <p:nvPr/>
        </p:nvSpPr>
        <p:spPr>
          <a:xfrm>
            <a:off x="530352" y="2706624"/>
            <a:ext cx="3017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4</a:t>
            </a:r>
          </a:p>
        </p:txBody>
      </p:sp>
      <p:sp>
        <p:nvSpPr>
          <p:cNvPr id="21" name="a1wd600_td20"/>
          <p:cNvSpPr/>
          <p:nvPr/>
        </p:nvSpPr>
        <p:spPr>
          <a:xfrm>
            <a:off x="457200" y="3090672"/>
            <a:ext cx="411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600_tdt21"/>
          <p:cNvSpPr txBox="1"/>
          <p:nvPr/>
        </p:nvSpPr>
        <p:spPr>
          <a:xfrm>
            <a:off x="530352" y="3090672"/>
            <a:ext cx="3017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5</a:t>
            </a:r>
          </a:p>
        </p:txBody>
      </p:sp>
      <p:sp>
        <p:nvSpPr>
          <p:cNvPr id="23" name="a1f_th22"/>
          <p:cNvSpPr/>
          <p:nvPr/>
        </p:nvSpPr>
        <p:spPr>
          <a:xfrm>
            <a:off x="868680" y="1170432"/>
            <a:ext cx="2148840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f_tht23"/>
          <p:cNvSpPr txBox="1"/>
          <p:nvPr/>
        </p:nvSpPr>
        <p:spPr>
          <a:xfrm>
            <a:off x="941832" y="1170432"/>
            <a:ext cx="2039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Topic</a:t>
            </a:r>
          </a:p>
        </p:txBody>
      </p:sp>
      <p:sp>
        <p:nvSpPr>
          <p:cNvPr id="25" name="a1wd120_td24"/>
          <p:cNvSpPr/>
          <p:nvPr/>
        </p:nvSpPr>
        <p:spPr>
          <a:xfrm>
            <a:off x="868680" y="155448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120_tdt25"/>
          <p:cNvSpPr txBox="1"/>
          <p:nvPr/>
        </p:nvSpPr>
        <p:spPr>
          <a:xfrm>
            <a:off x="941832" y="1554480"/>
            <a:ext cx="2039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Request-response</a:t>
            </a:r>
          </a:p>
        </p:txBody>
      </p:sp>
      <p:sp>
        <p:nvSpPr>
          <p:cNvPr id="27" name="a1wd240_td26"/>
          <p:cNvSpPr/>
          <p:nvPr/>
        </p:nvSpPr>
        <p:spPr>
          <a:xfrm>
            <a:off x="868680" y="1938528"/>
            <a:ext cx="214884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240_tdt27"/>
          <p:cNvSpPr txBox="1"/>
          <p:nvPr/>
        </p:nvSpPr>
        <p:spPr>
          <a:xfrm>
            <a:off x="941832" y="1938528"/>
            <a:ext cx="2039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Messaging systems</a:t>
            </a:r>
          </a:p>
        </p:txBody>
      </p:sp>
      <p:sp>
        <p:nvSpPr>
          <p:cNvPr id="29" name="a1wd360_td28"/>
          <p:cNvSpPr/>
          <p:nvPr/>
        </p:nvSpPr>
        <p:spPr>
          <a:xfrm>
            <a:off x="868680" y="2322576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360_tdt29"/>
          <p:cNvSpPr txBox="1"/>
          <p:nvPr/>
        </p:nvSpPr>
        <p:spPr>
          <a:xfrm>
            <a:off x="941832" y="2322576"/>
            <a:ext cx="2039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Event-driven architecture</a:t>
            </a:r>
          </a:p>
        </p:txBody>
      </p:sp>
      <p:sp>
        <p:nvSpPr>
          <p:cNvPr id="31" name="a1wd480_td30"/>
          <p:cNvSpPr/>
          <p:nvPr/>
        </p:nvSpPr>
        <p:spPr>
          <a:xfrm>
            <a:off x="868680" y="2706624"/>
            <a:ext cx="214884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80_tdt31"/>
          <p:cNvSpPr txBox="1"/>
          <p:nvPr/>
        </p:nvSpPr>
        <p:spPr>
          <a:xfrm>
            <a:off x="941832" y="2706624"/>
            <a:ext cx="2039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Producers and consumers</a:t>
            </a:r>
          </a:p>
        </p:txBody>
      </p:sp>
      <p:sp>
        <p:nvSpPr>
          <p:cNvPr id="33" name="a1wd600_td32"/>
          <p:cNvSpPr/>
          <p:nvPr/>
        </p:nvSpPr>
        <p:spPr>
          <a:xfrm>
            <a:off x="868680" y="3090672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00_tdt33"/>
          <p:cNvSpPr txBox="1"/>
          <p:nvPr/>
        </p:nvSpPr>
        <p:spPr>
          <a:xfrm>
            <a:off x="941832" y="3090672"/>
            <a:ext cx="2039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Synchronous vs asynchronous</a:t>
            </a:r>
          </a:p>
        </p:txBody>
      </p:sp>
      <p:sp>
        <p:nvSpPr>
          <p:cNvPr id="35" name="a1f_th34"/>
          <p:cNvSpPr/>
          <p:nvPr/>
        </p:nvSpPr>
        <p:spPr>
          <a:xfrm>
            <a:off x="3017520" y="1170432"/>
            <a:ext cx="3611880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f_tht35"/>
          <p:cNvSpPr txBox="1"/>
          <p:nvPr/>
        </p:nvSpPr>
        <p:spPr>
          <a:xfrm>
            <a:off x="3090672" y="1170432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The question it answers</a:t>
            </a:r>
          </a:p>
        </p:txBody>
      </p:sp>
      <p:sp>
        <p:nvSpPr>
          <p:cNvPr id="37" name="a1wd120_td36"/>
          <p:cNvSpPr/>
          <p:nvPr/>
        </p:nvSpPr>
        <p:spPr>
          <a:xfrm>
            <a:off x="3017520" y="1554480"/>
            <a:ext cx="3611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20_tdt37"/>
          <p:cNvSpPr txBox="1"/>
          <p:nvPr/>
        </p:nvSpPr>
        <p:spPr>
          <a:xfrm>
            <a:off x="3090672" y="1554480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Why can one slow system stop the whole bank?</a:t>
            </a:r>
          </a:p>
        </p:txBody>
      </p:sp>
      <p:sp>
        <p:nvSpPr>
          <p:cNvPr id="39" name="a1wd240_td38"/>
          <p:cNvSpPr/>
          <p:nvPr/>
        </p:nvSpPr>
        <p:spPr>
          <a:xfrm>
            <a:off x="3017520" y="1938528"/>
            <a:ext cx="36118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40_tdt39"/>
          <p:cNvSpPr txBox="1"/>
          <p:nvPr/>
        </p:nvSpPr>
        <p:spPr>
          <a:xfrm>
            <a:off x="3090672" y="1938528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What changes when something sits in the middle?</a:t>
            </a:r>
          </a:p>
        </p:txBody>
      </p:sp>
      <p:sp>
        <p:nvSpPr>
          <p:cNvPr id="41" name="a1wd360_td40"/>
          <p:cNvSpPr/>
          <p:nvPr/>
        </p:nvSpPr>
        <p:spPr>
          <a:xfrm>
            <a:off x="3017520" y="2322576"/>
            <a:ext cx="3611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360_tdt41"/>
          <p:cNvSpPr txBox="1"/>
          <p:nvPr/>
        </p:nvSpPr>
        <p:spPr>
          <a:xfrm>
            <a:off x="3090672" y="2322576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How do many systems hear about a transfer without being called?</a:t>
            </a:r>
          </a:p>
        </p:txBody>
      </p:sp>
      <p:sp>
        <p:nvSpPr>
          <p:cNvPr id="43" name="a1wd480_td42"/>
          <p:cNvSpPr/>
          <p:nvPr/>
        </p:nvSpPr>
        <p:spPr>
          <a:xfrm>
            <a:off x="3017520" y="2706624"/>
            <a:ext cx="361188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480_tdt43"/>
          <p:cNvSpPr txBox="1"/>
          <p:nvPr/>
        </p:nvSpPr>
        <p:spPr>
          <a:xfrm>
            <a:off x="3090672" y="2706624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Who writes, who reads - and how is each reader's place kept?</a:t>
            </a:r>
          </a:p>
        </p:txBody>
      </p:sp>
      <p:sp>
        <p:nvSpPr>
          <p:cNvPr id="45" name="a1wd600_td44"/>
          <p:cNvSpPr/>
          <p:nvPr/>
        </p:nvSpPr>
        <p:spPr>
          <a:xfrm>
            <a:off x="3017520" y="3090672"/>
            <a:ext cx="3611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600_tdt45"/>
          <p:cNvSpPr txBox="1"/>
          <p:nvPr/>
        </p:nvSpPr>
        <p:spPr>
          <a:xfrm>
            <a:off x="3090672" y="3090672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Who waits for whom, and what does waiting cost?</a:t>
            </a:r>
          </a:p>
        </p:txBody>
      </p:sp>
      <p:sp>
        <p:nvSpPr>
          <p:cNvPr id="47" name="a1f_th46"/>
          <p:cNvSpPr/>
          <p:nvPr/>
        </p:nvSpPr>
        <p:spPr>
          <a:xfrm>
            <a:off x="6629400" y="1170432"/>
            <a:ext cx="2057400" cy="38404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f_tht47"/>
          <p:cNvSpPr txBox="1"/>
          <p:nvPr/>
        </p:nvSpPr>
        <p:spPr>
          <a:xfrm>
            <a:off x="6702552" y="1170432"/>
            <a:ext cx="19476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Lab</a:t>
            </a:r>
          </a:p>
        </p:txBody>
      </p:sp>
      <p:sp>
        <p:nvSpPr>
          <p:cNvPr id="49" name="a1wd120_td48"/>
          <p:cNvSpPr/>
          <p:nvPr/>
        </p:nvSpPr>
        <p:spPr>
          <a:xfrm>
            <a:off x="6629400" y="1554480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120_tdt49"/>
          <p:cNvSpPr txBox="1"/>
          <p:nvPr/>
        </p:nvSpPr>
        <p:spPr>
          <a:xfrm>
            <a:off x="6702552" y="1554480"/>
            <a:ext cx="19476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1 · Feel the coupling</a:t>
            </a:r>
          </a:p>
        </p:txBody>
      </p:sp>
      <p:sp>
        <p:nvSpPr>
          <p:cNvPr id="51" name="a1wd240_td50"/>
          <p:cNvSpPr/>
          <p:nvPr/>
        </p:nvSpPr>
        <p:spPr>
          <a:xfrm>
            <a:off x="6629400" y="1938528"/>
            <a:ext cx="20574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240_tdt51"/>
          <p:cNvSpPr txBox="1"/>
          <p:nvPr/>
        </p:nvSpPr>
        <p:spPr>
          <a:xfrm>
            <a:off x="6702552" y="1938528"/>
            <a:ext cx="19476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2 · Start Kafka   3 · First topic</a:t>
            </a:r>
          </a:p>
        </p:txBody>
      </p:sp>
      <p:sp>
        <p:nvSpPr>
          <p:cNvPr id="53" name="a1wd360_td52"/>
          <p:cNvSpPr/>
          <p:nvPr/>
        </p:nvSpPr>
        <p:spPr>
          <a:xfrm>
            <a:off x="6629400" y="2322576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360_tdt53"/>
          <p:cNvSpPr txBox="1"/>
          <p:nvPr/>
        </p:nvSpPr>
        <p:spPr>
          <a:xfrm>
            <a:off x="6702552" y="2322576"/>
            <a:ext cx="19476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4 · One event, many readers</a:t>
            </a:r>
          </a:p>
        </p:txBody>
      </p:sp>
      <p:sp>
        <p:nvSpPr>
          <p:cNvPr id="55" name="a1wd480_td54"/>
          <p:cNvSpPr/>
          <p:nvPr/>
        </p:nvSpPr>
        <p:spPr>
          <a:xfrm>
            <a:off x="6629400" y="2706624"/>
            <a:ext cx="2057400" cy="38404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480_tdt55"/>
          <p:cNvSpPr txBox="1"/>
          <p:nvPr/>
        </p:nvSpPr>
        <p:spPr>
          <a:xfrm>
            <a:off x="6702552" y="2706624"/>
            <a:ext cx="19476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5 · Consumer groups</a:t>
            </a:r>
          </a:p>
        </p:txBody>
      </p:sp>
      <p:sp>
        <p:nvSpPr>
          <p:cNvPr id="57" name="a1wd600_td56"/>
          <p:cNvSpPr/>
          <p:nvPr/>
        </p:nvSpPr>
        <p:spPr>
          <a:xfrm>
            <a:off x="6629400" y="3090672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600_tdt57"/>
          <p:cNvSpPr txBox="1"/>
          <p:nvPr/>
        </p:nvSpPr>
        <p:spPr>
          <a:xfrm>
            <a:off x="6702552" y="3090672"/>
            <a:ext cx="19476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6 · Replay the outage</a:t>
            </a:r>
          </a:p>
        </p:txBody>
      </p:sp>
      <p:sp>
        <p:nvSpPr>
          <p:cNvPr id="59" name="a2u_nb58"/>
          <p:cNvSpPr/>
          <p:nvPr/>
        </p:nvSpPr>
        <p:spPr>
          <a:xfrm>
            <a:off x="457200" y="3611879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u_nacc59"/>
          <p:cNvSpPr/>
          <p:nvPr/>
        </p:nvSpPr>
        <p:spPr>
          <a:xfrm>
            <a:off x="457200" y="3611879"/>
            <a:ext cx="54864" cy="5486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2u_nt60"/>
          <p:cNvSpPr txBox="1"/>
          <p:nvPr/>
        </p:nvSpPr>
        <p:spPr>
          <a:xfrm>
            <a:off x="658368" y="3611879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KIT  </a:t>
            </a:r>
            <a:r>
              <a:rPr sz="900" b="0">
                <a:solidFill>
                  <a:srgbClr val="44403C"/>
                </a:solidFill>
                <a:latin typeface="Segoe UI"/>
              </a:rPr>
              <a:t>Lab kit: fundamentals_lab/ - one docker-compose.yml (Apache Kafka 4.3.1, KRaft) and four small Python scripts. Every output on these slides was captured from a real run of that kit.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02</a:t>
            </a:r>
          </a:p>
        </p:txBody>
      </p:sp>
      <p:sp>
        <p:nvSpPr>
          <p:cNvPr id="63" name="ft62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ft63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65" name="ft6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FFFFFF"/>
                </a:solidFill>
                <a:latin typeface="Bahnschrift SemiBold"/>
              </a:rPr>
              <a:t>The Incident Behind This Course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D6D3D1"/>
                </a:solidFill>
                <a:latin typeface="Segoe UI"/>
              </a:rPr>
              <a:t>A pattern most banks have lived through: a non-critical system takes down a critical one</a:t>
            </a:r>
          </a:p>
        </p:txBody>
      </p:sp>
      <p:sp>
        <p:nvSpPr>
          <p:cNvPr id="11" name="a1f_codebg10"/>
          <p:cNvSpPr/>
          <p:nvPr/>
        </p:nvSpPr>
        <p:spPr>
          <a:xfrm>
            <a:off x="457200" y="1170432"/>
            <a:ext cx="5257800" cy="2651760"/>
          </a:xfrm>
          <a:prstGeom prst="roundRect">
            <a:avLst>
              <a:gd name="adj" fmla="val 2758"/>
            </a:avLst>
          </a:prstGeom>
          <a:solidFill>
            <a:srgbClr val="0C0C0E"/>
          </a:solidFill>
          <a:ln w="12700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_code11"/>
          <p:cNvSpPr txBox="1"/>
          <p:nvPr/>
        </p:nvSpPr>
        <p:spPr>
          <a:xfrm>
            <a:off x="603504" y="1316736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DBA74"/>
                </a:solidFill>
                <a:latin typeface="Consolas"/>
              </a:rPr>
              <a:t>INCIDENT  INC-4755                            Severity 1</a:t>
            </a:r>
          </a:p>
        </p:txBody>
      </p:sp>
      <p:sp>
        <p:nvSpPr>
          <p:cNvPr id="13" name="a1wd90_code12"/>
          <p:cNvSpPr txBox="1"/>
          <p:nvPr/>
        </p:nvSpPr>
        <p:spPr>
          <a:xfrm>
            <a:off x="603504" y="1513332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A8580"/>
                </a:solidFill>
                <a:latin typeface="Consolas"/>
              </a:rPr>
              <a:t>-------------------------------------------------------</a:t>
            </a:r>
          </a:p>
        </p:txBody>
      </p:sp>
      <p:sp>
        <p:nvSpPr>
          <p:cNvPr id="14" name="a1wd180_code13"/>
          <p:cNvSpPr txBox="1"/>
          <p:nvPr/>
        </p:nvSpPr>
        <p:spPr>
          <a:xfrm>
            <a:off x="603504" y="1709928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>Service  : Fund transfers - UPI, IMPS, NEFT</a:t>
            </a:r>
          </a:p>
        </p:txBody>
      </p:sp>
      <p:sp>
        <p:nvSpPr>
          <p:cNvPr id="15" name="a1wd270_code14"/>
          <p:cNvSpPr txBox="1"/>
          <p:nvPr/>
        </p:nvSpPr>
        <p:spPr>
          <a:xfrm>
            <a:off x="603504" y="1906524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>Summary  : SMS gateway outage stopped fund transfers</a:t>
            </a:r>
          </a:p>
        </p:txBody>
      </p:sp>
      <p:sp>
        <p:nvSpPr>
          <p:cNvPr id="16" name="a1wd360_code15"/>
          <p:cNvSpPr txBox="1"/>
          <p:nvPr/>
        </p:nvSpPr>
        <p:spPr>
          <a:xfrm>
            <a:off x="603504" y="2103120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7" name="a1wd450_code16"/>
          <p:cNvSpPr txBox="1"/>
          <p:nvPr/>
        </p:nvSpPr>
        <p:spPr>
          <a:xfrm>
            <a:off x="603504" y="2299715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>18:40  SMS vendor stops answering</a:t>
            </a:r>
          </a:p>
        </p:txBody>
      </p:sp>
      <p:sp>
        <p:nvSpPr>
          <p:cNvPr id="18" name="a1wd540_code17"/>
          <p:cNvSpPr txBox="1"/>
          <p:nvPr/>
        </p:nvSpPr>
        <p:spPr>
          <a:xfrm>
            <a:off x="603504" y="2496312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>18:40  Transfer service calls the SMS gateway after</a:t>
            </a:r>
          </a:p>
        </p:txBody>
      </p:sp>
      <p:sp>
        <p:nvSpPr>
          <p:cNvPr id="19" name="a1wd630_code18"/>
          <p:cNvSpPr txBox="1"/>
          <p:nvPr/>
        </p:nvSpPr>
        <p:spPr>
          <a:xfrm>
            <a:off x="603504" y="2692908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>       every transfer and waits up to 30 s for a reply</a:t>
            </a:r>
          </a:p>
        </p:txBody>
      </p:sp>
      <p:sp>
        <p:nvSpPr>
          <p:cNvPr id="20" name="a1wd720_code19"/>
          <p:cNvSpPr txBox="1"/>
          <p:nvPr/>
        </p:nvSpPr>
        <p:spPr>
          <a:xfrm>
            <a:off x="603504" y="2889504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DA4AF"/>
                </a:solidFill>
                <a:latin typeface="Consolas"/>
              </a:rPr>
              <a:t>18:47  Every transfer thread is waiting. UPI and NEFT stop</a:t>
            </a:r>
          </a:p>
        </p:txBody>
      </p:sp>
      <p:sp>
        <p:nvSpPr>
          <p:cNvPr id="21" name="a1wd810_code20"/>
          <p:cNvSpPr txBox="1"/>
          <p:nvPr/>
        </p:nvSpPr>
        <p:spPr>
          <a:xfrm>
            <a:off x="603504" y="3086100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DA4AF"/>
                </a:solidFill>
                <a:latin typeface="Consolas"/>
              </a:rPr>
              <a:t>19:55  Vendor recovers. 4,100 transfers failed in 75 min</a:t>
            </a:r>
          </a:p>
        </p:txBody>
      </p:sp>
      <p:sp>
        <p:nvSpPr>
          <p:cNvPr id="22" name="a1wd900_code21"/>
          <p:cNvSpPr txBox="1"/>
          <p:nvPr/>
        </p:nvSpPr>
        <p:spPr>
          <a:xfrm>
            <a:off x="603504" y="3282696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3" name="a1wd990_code22"/>
          <p:cNvSpPr txBox="1"/>
          <p:nvPr/>
        </p:nvSpPr>
        <p:spPr>
          <a:xfrm>
            <a:off x="603504" y="3479291"/>
            <a:ext cx="4965192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nsolas"/>
              </a:rPr>
              <a:t>The money was never at risk. Customers could not send it.</a:t>
            </a:r>
          </a:p>
        </p:txBody>
      </p:sp>
      <p:sp>
        <p:nvSpPr>
          <p:cNvPr id="24" name="a2u_nb23"/>
          <p:cNvSpPr/>
          <p:nvPr/>
        </p:nvSpPr>
        <p:spPr>
          <a:xfrm>
            <a:off x="5943600" y="117043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_nacc24"/>
          <p:cNvSpPr/>
          <p:nvPr/>
        </p:nvSpPr>
        <p:spPr>
          <a:xfrm>
            <a:off x="5943600" y="1170432"/>
            <a:ext cx="54864" cy="1143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nt25"/>
          <p:cNvSpPr txBox="1"/>
          <p:nvPr/>
        </p:nvSpPr>
        <p:spPr>
          <a:xfrm>
            <a:off x="6144768" y="1170432"/>
            <a:ext cx="234086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E11D48"/>
                </a:solidFill>
                <a:latin typeface="Segoe UI"/>
              </a:rPr>
              <a:t>!  </a:t>
            </a:r>
            <a:r>
              <a:rPr sz="1000" b="0">
                <a:solidFill>
                  <a:srgbClr val="E7E5E4"/>
                </a:solidFill>
                <a:latin typeface="Segoe UI"/>
              </a:rPr>
              <a:t>The SMS gateway is not a critical system. It took down one that is.</a:t>
            </a:r>
          </a:p>
        </p:txBody>
      </p:sp>
      <p:sp>
        <p:nvSpPr>
          <p:cNvPr id="27" name="a3u_nb26"/>
          <p:cNvSpPr/>
          <p:nvPr/>
        </p:nvSpPr>
        <p:spPr>
          <a:xfrm>
            <a:off x="5943600" y="2450591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nacc27"/>
          <p:cNvSpPr/>
          <p:nvPr/>
        </p:nvSpPr>
        <p:spPr>
          <a:xfrm>
            <a:off x="5943600" y="2450591"/>
            <a:ext cx="54864" cy="13716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nt28"/>
          <p:cNvSpPr txBox="1"/>
          <p:nvPr/>
        </p:nvSpPr>
        <p:spPr>
          <a:xfrm>
            <a:off x="6144768" y="2450591"/>
            <a:ext cx="2340864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+  </a:t>
            </a:r>
            <a:r>
              <a:rPr sz="950" b="0">
                <a:solidFill>
                  <a:srgbClr val="E7E5E4"/>
                </a:solidFill>
                <a:latin typeface="Segoe UI"/>
              </a:rPr>
              <a:t>Every new reader of transfer events - fraud, warehouse, loyalty - would have meant one more call inside the transfer.</a:t>
            </a:r>
          </a:p>
        </p:txBody>
      </p:sp>
      <p:sp>
        <p:nvSpPr>
          <p:cNvPr id="30" name="a4u_nb29"/>
          <p:cNvSpPr/>
          <p:nvPr/>
        </p:nvSpPr>
        <p:spPr>
          <a:xfrm>
            <a:off x="457200" y="395020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_nacc30"/>
          <p:cNvSpPr/>
          <p:nvPr/>
        </p:nvSpPr>
        <p:spPr>
          <a:xfrm>
            <a:off x="457200" y="3950207"/>
            <a:ext cx="54864" cy="5120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u_nt31"/>
          <p:cNvSpPr txBox="1"/>
          <p:nvPr/>
        </p:nvSpPr>
        <p:spPr>
          <a:xfrm>
            <a:off x="658368" y="395020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LAB  </a:t>
            </a:r>
            <a:r>
              <a:rPr sz="950" b="0">
                <a:solidFill>
                  <a:srgbClr val="E7E5E4"/>
                </a:solidFill>
                <a:latin typeface="Segoe UI"/>
              </a:rPr>
              <a:t>In Lab 6 you replay this outage twice: once wired like this, once with Kafka in the middle.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B923C"/>
                </a:solidFill>
                <a:latin typeface="Bahnschrift SemiBold"/>
              </a:rPr>
              <a:t>03</a:t>
            </a:r>
          </a:p>
        </p:txBody>
      </p:sp>
      <p:sp>
        <p:nvSpPr>
          <p:cNvPr id="34" name="ft33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52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ft34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8A29E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A8A29E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a0f_pl2"/>
          <p:cNvSpPr txBox="1"/>
          <p:nvPr/>
        </p:nvSpPr>
        <p:spPr>
          <a:xfrm>
            <a:off x="502920" y="1005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500">
                <a:solidFill>
                  <a:srgbClr val="18181B"/>
                </a:solidFill>
                <a:latin typeface="Segoe UI"/>
              </a:rPr>
              <a:t>PART</a:t>
            </a:r>
          </a:p>
        </p:txBody>
      </p:sp>
      <p:sp>
        <p:nvSpPr>
          <p:cNvPr id="4" name="a0ud100_n3"/>
          <p:cNvSpPr txBox="1"/>
          <p:nvPr/>
        </p:nvSpPr>
        <p:spPr>
          <a:xfrm>
            <a:off x="411480" y="1280160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50" b="0">
                <a:solidFill>
                  <a:srgbClr val="FFFFFF"/>
                </a:solidFill>
                <a:latin typeface="Bahnschrift SemiBold"/>
              </a:rPr>
              <a:t>01</a:t>
            </a:r>
          </a:p>
        </p:txBody>
      </p:sp>
      <p:sp>
        <p:nvSpPr>
          <p:cNvPr id="5" name="a0wd300_pb4"/>
          <p:cNvSpPr/>
          <p:nvPr/>
        </p:nvSpPr>
        <p:spPr>
          <a:xfrm>
            <a:off x="502920" y="3090672"/>
            <a:ext cx="640080" cy="4572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0fd400_pc5"/>
          <p:cNvSpPr/>
          <p:nvPr/>
        </p:nvSpPr>
        <p:spPr>
          <a:xfrm>
            <a:off x="502920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0fd400_pct6"/>
          <p:cNvSpPr txBox="1"/>
          <p:nvPr/>
        </p:nvSpPr>
        <p:spPr>
          <a:xfrm>
            <a:off x="502920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01</a:t>
            </a:r>
          </a:p>
        </p:txBody>
      </p:sp>
      <p:sp>
        <p:nvSpPr>
          <p:cNvPr id="8" name="a0ud250_h7"/>
          <p:cNvSpPr txBox="1"/>
          <p:nvPr/>
        </p:nvSpPr>
        <p:spPr>
          <a:xfrm>
            <a:off x="3429000" y="868680"/>
            <a:ext cx="5257800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50" b="0">
                <a:solidFill>
                  <a:srgbClr val="FFFFFF"/>
                </a:solidFill>
                <a:latin typeface="Bahnschrift SemiBold"/>
              </a:rPr>
              <a:t>Request-Response</a:t>
            </a:r>
          </a:p>
        </p:txBody>
      </p:sp>
      <p:sp>
        <p:nvSpPr>
          <p:cNvPr id="9" name="a0wd450_hb8"/>
          <p:cNvSpPr/>
          <p:nvPr/>
        </p:nvSpPr>
        <p:spPr>
          <a:xfrm>
            <a:off x="3429000" y="2212848"/>
            <a:ext cx="54864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0fd500_t9"/>
          <p:cNvSpPr txBox="1"/>
          <p:nvPr/>
        </p:nvSpPr>
        <p:spPr>
          <a:xfrm>
            <a:off x="3429000" y="239572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6D3D1"/>
                </a:solidFill>
                <a:latin typeface="Segoe UI"/>
              </a:rPr>
              <a:t>The model almost every system starts with - and exactly where it breaks</a:t>
            </a:r>
          </a:p>
        </p:txBody>
      </p:sp>
      <p:sp>
        <p:nvSpPr>
          <p:cNvPr id="11" name="a0ud700_dd10"/>
          <p:cNvSpPr/>
          <p:nvPr/>
        </p:nvSpPr>
        <p:spPr>
          <a:xfrm>
            <a:off x="3429000" y="3236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0ud700_di11"/>
          <p:cNvSpPr txBox="1"/>
          <p:nvPr/>
        </p:nvSpPr>
        <p:spPr>
          <a:xfrm>
            <a:off x="3666744" y="315468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Client and server</a:t>
            </a:r>
          </a:p>
        </p:txBody>
      </p:sp>
      <p:sp>
        <p:nvSpPr>
          <p:cNvPr id="13" name="a0ud820_dd12"/>
          <p:cNvSpPr/>
          <p:nvPr/>
        </p:nvSpPr>
        <p:spPr>
          <a:xfrm>
            <a:off x="3429000" y="36027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ud820_di13"/>
          <p:cNvSpPr txBox="1"/>
          <p:nvPr/>
        </p:nvSpPr>
        <p:spPr>
          <a:xfrm>
            <a:off x="3666744" y="352044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Blocking call</a:t>
            </a:r>
          </a:p>
        </p:txBody>
      </p:sp>
      <p:sp>
        <p:nvSpPr>
          <p:cNvPr id="15" name="a0ud940_dd14"/>
          <p:cNvSpPr/>
          <p:nvPr/>
        </p:nvSpPr>
        <p:spPr>
          <a:xfrm>
            <a:off x="3429000" y="396849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0ud940_di15"/>
          <p:cNvSpPr txBox="1"/>
          <p:nvPr/>
        </p:nvSpPr>
        <p:spPr>
          <a:xfrm>
            <a:off x="3666744" y="388620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Timeouts</a:t>
            </a:r>
          </a:p>
        </p:txBody>
      </p:sp>
      <p:sp>
        <p:nvSpPr>
          <p:cNvPr id="17" name="a0ud1060_dd16"/>
          <p:cNvSpPr/>
          <p:nvPr/>
        </p:nvSpPr>
        <p:spPr>
          <a:xfrm>
            <a:off x="3429000" y="433425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0ud1060_di17"/>
          <p:cNvSpPr txBox="1"/>
          <p:nvPr/>
        </p:nvSpPr>
        <p:spPr>
          <a:xfrm>
            <a:off x="3666744" y="425196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Coupling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How Request-Response Works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One caller, one receiver, one answer - and the caller waits for it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417320"/>
            <a:ext cx="1600200" cy="777240"/>
          </a:xfrm>
          <a:prstGeom prst="roundRect">
            <a:avLst>
              <a:gd name="adj" fmla="val 9411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453896"/>
            <a:ext cx="1508760" cy="3703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Transfer service</a:t>
            </a:r>
          </a:p>
        </p:txBody>
      </p:sp>
      <p:sp>
        <p:nvSpPr>
          <p:cNvPr id="13" name="a1u_nds12"/>
          <p:cNvSpPr txBox="1"/>
          <p:nvPr/>
        </p:nvSpPr>
        <p:spPr>
          <a:xfrm>
            <a:off x="502920" y="1833372"/>
            <a:ext cx="1508760" cy="3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the caller</a:t>
            </a:r>
          </a:p>
        </p:txBody>
      </p:sp>
      <p:sp>
        <p:nvSpPr>
          <p:cNvPr id="14" name="a1ud100_nd13"/>
          <p:cNvSpPr/>
          <p:nvPr/>
        </p:nvSpPr>
        <p:spPr>
          <a:xfrm>
            <a:off x="3246120" y="1417320"/>
            <a:ext cx="1600200" cy="777240"/>
          </a:xfrm>
          <a:prstGeom prst="roundRect">
            <a:avLst>
              <a:gd name="adj" fmla="val 9411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100_ndt14"/>
          <p:cNvSpPr txBox="1"/>
          <p:nvPr/>
        </p:nvSpPr>
        <p:spPr>
          <a:xfrm>
            <a:off x="3291839" y="1453896"/>
            <a:ext cx="1508760" cy="3703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Fraud engine</a:t>
            </a:r>
          </a:p>
        </p:txBody>
      </p:sp>
      <p:sp>
        <p:nvSpPr>
          <p:cNvPr id="16" name="a1ud100_nds15"/>
          <p:cNvSpPr txBox="1"/>
          <p:nvPr/>
        </p:nvSpPr>
        <p:spPr>
          <a:xfrm>
            <a:off x="3291839" y="1833372"/>
            <a:ext cx="1508760" cy="3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0E7490"/>
                </a:solidFill>
                <a:latin typeface="Segoe UI"/>
              </a:rPr>
              <a:t>the receiver</a:t>
            </a:r>
          </a:p>
        </p:txBody>
      </p:sp>
      <p:cxnSp>
        <p:nvCxnSpPr>
          <p:cNvPr id="17" name="a2f_ar16"/>
          <p:cNvCxnSpPr/>
          <p:nvPr/>
        </p:nvCxnSpPr>
        <p:spPr>
          <a:xfrm>
            <a:off x="2103120" y="1627632"/>
            <a:ext cx="1097280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2f_lb17"/>
          <p:cNvSpPr txBox="1"/>
          <p:nvPr/>
        </p:nvSpPr>
        <p:spPr>
          <a:xfrm>
            <a:off x="2057400" y="13716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1  request</a:t>
            </a:r>
          </a:p>
        </p:txBody>
      </p:sp>
      <p:cxnSp>
        <p:nvCxnSpPr>
          <p:cNvPr id="19" name="a3f_ar18"/>
          <p:cNvCxnSpPr/>
          <p:nvPr/>
        </p:nvCxnSpPr>
        <p:spPr>
          <a:xfrm flipH="1">
            <a:off x="2103120" y="1993392"/>
            <a:ext cx="1097280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3f_lb19"/>
          <p:cNvSpPr txBox="1"/>
          <p:nvPr/>
        </p:nvSpPr>
        <p:spPr>
          <a:xfrm>
            <a:off x="2057400" y="20299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Segoe UI"/>
              </a:rPr>
              <a:t>3  response</a:t>
            </a:r>
          </a:p>
        </p:txBody>
      </p:sp>
      <p:sp>
        <p:nvSpPr>
          <p:cNvPr id="21" name="a2f_lb20"/>
          <p:cNvSpPr txBox="1"/>
          <p:nvPr/>
        </p:nvSpPr>
        <p:spPr>
          <a:xfrm>
            <a:off x="457200" y="239572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403C"/>
                </a:solidFill>
                <a:latin typeface="Segoe UI"/>
              </a:rPr>
              <a:t>the caller's thread, over time</a:t>
            </a:r>
          </a:p>
        </p:txBody>
      </p:sp>
      <p:sp>
        <p:nvSpPr>
          <p:cNvPr id="22" name="a2wd100_tl21"/>
          <p:cNvSpPr/>
          <p:nvPr/>
        </p:nvSpPr>
        <p:spPr>
          <a:xfrm>
            <a:off x="457200" y="2633472"/>
            <a:ext cx="548640" cy="384048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100_lb22"/>
          <p:cNvSpPr txBox="1"/>
          <p:nvPr/>
        </p:nvSpPr>
        <p:spPr>
          <a:xfrm>
            <a:off x="457200" y="263347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send</a:t>
            </a:r>
          </a:p>
        </p:txBody>
      </p:sp>
      <p:sp>
        <p:nvSpPr>
          <p:cNvPr id="24" name="a2wd300_tl23"/>
          <p:cNvSpPr/>
          <p:nvPr/>
        </p:nvSpPr>
        <p:spPr>
          <a:xfrm>
            <a:off x="1005840" y="2633472"/>
            <a:ext cx="28346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300_lb24"/>
          <p:cNvSpPr txBox="1"/>
          <p:nvPr/>
        </p:nvSpPr>
        <p:spPr>
          <a:xfrm>
            <a:off x="1005840" y="263347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A16207"/>
                </a:solidFill>
                <a:latin typeface="Segoe UI"/>
              </a:rPr>
              <a:t>2  WAITING - thread blocked, doing nothing</a:t>
            </a:r>
          </a:p>
        </p:txBody>
      </p:sp>
      <p:sp>
        <p:nvSpPr>
          <p:cNvPr id="26" name="a3wd100_tl25"/>
          <p:cNvSpPr/>
          <p:nvPr/>
        </p:nvSpPr>
        <p:spPr>
          <a:xfrm>
            <a:off x="3840480" y="2633472"/>
            <a:ext cx="1005840" cy="384048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wd100_lb26"/>
          <p:cNvSpPr txBox="1"/>
          <p:nvPr/>
        </p:nvSpPr>
        <p:spPr>
          <a:xfrm>
            <a:off x="3840480" y="263347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5803D"/>
                </a:solidFill>
                <a:latin typeface="Segoe UI"/>
              </a:rPr>
              <a:t>continue</a:t>
            </a:r>
          </a:p>
        </p:txBody>
      </p:sp>
      <p:sp>
        <p:nvSpPr>
          <p:cNvPr id="28" name="a5f_lb27"/>
          <p:cNvSpPr txBox="1"/>
          <p:nvPr/>
        </p:nvSpPr>
        <p:spPr>
          <a:xfrm>
            <a:off x="457200" y="331012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403C"/>
                </a:solidFill>
                <a:latin typeface="Segoe UI"/>
              </a:rPr>
              <a:t>You use it every day:</a:t>
            </a:r>
          </a:p>
        </p:txBody>
      </p:sp>
      <p:sp>
        <p:nvSpPr>
          <p:cNvPr id="29" name="a5u_pill28"/>
          <p:cNvSpPr/>
          <p:nvPr/>
        </p:nvSpPr>
        <p:spPr>
          <a:xfrm>
            <a:off x="457200" y="3566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Consolas"/>
              </a:rPr>
              <a:t>HTTP / REST</a:t>
            </a:r>
          </a:p>
        </p:txBody>
      </p:sp>
      <p:sp>
        <p:nvSpPr>
          <p:cNvPr id="30" name="a5ud90_pill29"/>
          <p:cNvSpPr/>
          <p:nvPr/>
        </p:nvSpPr>
        <p:spPr>
          <a:xfrm>
            <a:off x="1554480" y="3566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Consolas"/>
              </a:rPr>
              <a:t>gRPC</a:t>
            </a:r>
          </a:p>
        </p:txBody>
      </p:sp>
      <p:sp>
        <p:nvSpPr>
          <p:cNvPr id="31" name="a5ud180_pill30"/>
          <p:cNvSpPr/>
          <p:nvPr/>
        </p:nvSpPr>
        <p:spPr>
          <a:xfrm>
            <a:off x="2651760" y="3566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Consolas"/>
              </a:rPr>
              <a:t>JDBC / SQL</a:t>
            </a:r>
          </a:p>
        </p:txBody>
      </p:sp>
      <p:sp>
        <p:nvSpPr>
          <p:cNvPr id="32" name="a5ud270_pill31"/>
          <p:cNvSpPr/>
          <p:nvPr/>
        </p:nvSpPr>
        <p:spPr>
          <a:xfrm>
            <a:off x="3749040" y="3566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Consolas"/>
              </a:rPr>
              <a:t>SOAP</a:t>
            </a:r>
          </a:p>
        </p:txBody>
      </p:sp>
      <p:sp>
        <p:nvSpPr>
          <p:cNvPr id="33" name="a4u_card32"/>
          <p:cNvSpPr/>
          <p:nvPr/>
        </p:nvSpPr>
        <p:spPr>
          <a:xfrm>
            <a:off x="5257800" y="1216152"/>
            <a:ext cx="3429000" cy="2715768"/>
          </a:xfrm>
          <a:prstGeom prst="roundRect">
            <a:avLst>
              <a:gd name="adj" fmla="val 4040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_hh33"/>
          <p:cNvSpPr txBox="1"/>
          <p:nvPr/>
        </p:nvSpPr>
        <p:spPr>
          <a:xfrm>
            <a:off x="5440680" y="1325880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Segoe UI"/>
              </a:rPr>
              <a:t>FOUR PROPERTIES</a:t>
            </a:r>
          </a:p>
        </p:txBody>
      </p:sp>
      <p:sp>
        <p:nvSpPr>
          <p:cNvPr id="35" name="a4ud80_n34"/>
          <p:cNvSpPr/>
          <p:nvPr/>
        </p:nvSpPr>
        <p:spPr>
          <a:xfrm>
            <a:off x="5440680" y="16824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4ud80_nt35"/>
          <p:cNvSpPr txBox="1"/>
          <p:nvPr/>
        </p:nvSpPr>
        <p:spPr>
          <a:xfrm>
            <a:off x="5440680" y="1682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7" name="a4ud80_pt36"/>
          <p:cNvSpPr txBox="1"/>
          <p:nvPr/>
        </p:nvSpPr>
        <p:spPr>
          <a:xfrm>
            <a:off x="5870448" y="164592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Known address</a:t>
            </a:r>
          </a:p>
        </p:txBody>
      </p:sp>
      <p:sp>
        <p:nvSpPr>
          <p:cNvPr id="38" name="a4ud80_pd37"/>
          <p:cNvSpPr txBox="1"/>
          <p:nvPr/>
        </p:nvSpPr>
        <p:spPr>
          <a:xfrm>
            <a:off x="5870448" y="186537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The caller must know where the receiver lives</a:t>
            </a:r>
          </a:p>
        </p:txBody>
      </p:sp>
      <p:sp>
        <p:nvSpPr>
          <p:cNvPr id="39" name="a4ud160_n38"/>
          <p:cNvSpPr/>
          <p:nvPr/>
        </p:nvSpPr>
        <p:spPr>
          <a:xfrm>
            <a:off x="5440680" y="223113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4ud160_nt39"/>
          <p:cNvSpPr txBox="1"/>
          <p:nvPr/>
        </p:nvSpPr>
        <p:spPr>
          <a:xfrm>
            <a:off x="5440680" y="223113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1" name="a4ud160_pt40"/>
          <p:cNvSpPr txBox="1"/>
          <p:nvPr/>
        </p:nvSpPr>
        <p:spPr>
          <a:xfrm>
            <a:off x="5870448" y="219456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Both up at once</a:t>
            </a:r>
          </a:p>
        </p:txBody>
      </p:sp>
      <p:sp>
        <p:nvSpPr>
          <p:cNvPr id="42" name="a4ud160_pd41"/>
          <p:cNvSpPr txBox="1"/>
          <p:nvPr/>
        </p:nvSpPr>
        <p:spPr>
          <a:xfrm>
            <a:off x="5870448" y="241401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If the receiver is down, the call fails now</a:t>
            </a:r>
          </a:p>
        </p:txBody>
      </p:sp>
      <p:sp>
        <p:nvSpPr>
          <p:cNvPr id="43" name="a4ud240_n42"/>
          <p:cNvSpPr/>
          <p:nvPr/>
        </p:nvSpPr>
        <p:spPr>
          <a:xfrm>
            <a:off x="5440680" y="27797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4ud240_nt43"/>
          <p:cNvSpPr txBox="1"/>
          <p:nvPr/>
        </p:nvSpPr>
        <p:spPr>
          <a:xfrm>
            <a:off x="5440680" y="27797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5" name="a4ud240_pt44"/>
          <p:cNvSpPr txBox="1"/>
          <p:nvPr/>
        </p:nvSpPr>
        <p:spPr>
          <a:xfrm>
            <a:off x="5870448" y="274320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The caller blocks</a:t>
            </a:r>
          </a:p>
        </p:txBody>
      </p:sp>
      <p:sp>
        <p:nvSpPr>
          <p:cNvPr id="46" name="a4ud240_pd45"/>
          <p:cNvSpPr txBox="1"/>
          <p:nvPr/>
        </p:nvSpPr>
        <p:spPr>
          <a:xfrm>
            <a:off x="5870448" y="296265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Nothing else happens until an answer or a timeout</a:t>
            </a:r>
          </a:p>
        </p:txBody>
      </p:sp>
      <p:sp>
        <p:nvSpPr>
          <p:cNvPr id="47" name="a4ud320_n46"/>
          <p:cNvSpPr/>
          <p:nvPr/>
        </p:nvSpPr>
        <p:spPr>
          <a:xfrm>
            <a:off x="5440680" y="33284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4ud320_nt47"/>
          <p:cNvSpPr txBox="1"/>
          <p:nvPr/>
        </p:nvSpPr>
        <p:spPr>
          <a:xfrm>
            <a:off x="5440680" y="33284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a4ud320_pt48"/>
          <p:cNvSpPr txBox="1"/>
          <p:nvPr/>
        </p:nvSpPr>
        <p:spPr>
          <a:xfrm>
            <a:off x="5870448" y="329184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One to one</a:t>
            </a:r>
          </a:p>
        </p:txBody>
      </p:sp>
      <p:sp>
        <p:nvSpPr>
          <p:cNvPr id="50" name="a4ud320_pd49"/>
          <p:cNvSpPr txBox="1"/>
          <p:nvPr/>
        </p:nvSpPr>
        <p:spPr>
          <a:xfrm>
            <a:off x="5870448" y="351129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One request, one receiver, one response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05</a:t>
            </a:r>
          </a:p>
        </p:txBody>
      </p:sp>
      <p:sp>
        <p:nvSpPr>
          <p:cNvPr id="52" name="ft5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ft5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4" name="ft5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A Fund Transfer, Wired with Request-Response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The transfer service calls every system that cares - one after another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8288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865376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Transfer service</a:t>
            </a:r>
          </a:p>
        </p:txBody>
      </p:sp>
      <p:sp>
        <p:nvSpPr>
          <p:cNvPr id="13" name="a1u_nds12"/>
          <p:cNvSpPr txBox="1"/>
          <p:nvPr/>
        </p:nvSpPr>
        <p:spPr>
          <a:xfrm>
            <a:off x="502920" y="2313432"/>
            <a:ext cx="1508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calls, then waits</a:t>
            </a:r>
          </a:p>
        </p:txBody>
      </p:sp>
      <p:sp>
        <p:nvSpPr>
          <p:cNvPr id="14" name="a2u_nd13"/>
          <p:cNvSpPr/>
          <p:nvPr/>
        </p:nvSpPr>
        <p:spPr>
          <a:xfrm>
            <a:off x="3017520" y="1280160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ndt14"/>
          <p:cNvSpPr txBox="1"/>
          <p:nvPr/>
        </p:nvSpPr>
        <p:spPr>
          <a:xfrm>
            <a:off x="3063239" y="128016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1  Fraud engine</a:t>
            </a:r>
          </a:p>
        </p:txBody>
      </p:sp>
      <p:sp>
        <p:nvSpPr>
          <p:cNvPr id="16" name="a2u_lb15"/>
          <p:cNvSpPr txBox="1"/>
          <p:nvPr/>
        </p:nvSpPr>
        <p:spPr>
          <a:xfrm>
            <a:off x="4892040" y="1399031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2410C"/>
                </a:solidFill>
                <a:latin typeface="Segoe UI"/>
              </a:rPr>
              <a:t>40 ms</a:t>
            </a:r>
          </a:p>
        </p:txBody>
      </p:sp>
      <p:cxnSp>
        <p:nvCxnSpPr>
          <p:cNvPr id="17" name="a2f_ar16"/>
          <p:cNvCxnSpPr/>
          <p:nvPr/>
        </p:nvCxnSpPr>
        <p:spPr>
          <a:xfrm flipV="1">
            <a:off x="2084831" y="1499616"/>
            <a:ext cx="905257" cy="786384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2ud250_nd17"/>
          <p:cNvSpPr/>
          <p:nvPr/>
        </p:nvSpPr>
        <p:spPr>
          <a:xfrm>
            <a:off x="3017520" y="1810512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250_ndt18"/>
          <p:cNvSpPr txBox="1"/>
          <p:nvPr/>
        </p:nvSpPr>
        <p:spPr>
          <a:xfrm>
            <a:off x="3063239" y="181051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2  Core ledger</a:t>
            </a:r>
          </a:p>
        </p:txBody>
      </p:sp>
      <p:sp>
        <p:nvSpPr>
          <p:cNvPr id="20" name="a2ud250_lb19"/>
          <p:cNvSpPr txBox="1"/>
          <p:nvPr/>
        </p:nvSpPr>
        <p:spPr>
          <a:xfrm>
            <a:off x="4892040" y="192938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0E7490"/>
                </a:solidFill>
                <a:latin typeface="Segoe UI"/>
              </a:rPr>
              <a:t>30 ms</a:t>
            </a:r>
          </a:p>
        </p:txBody>
      </p:sp>
      <p:cxnSp>
        <p:nvCxnSpPr>
          <p:cNvPr id="21" name="a2fd250_ar20"/>
          <p:cNvCxnSpPr/>
          <p:nvPr/>
        </p:nvCxnSpPr>
        <p:spPr>
          <a:xfrm flipV="1">
            <a:off x="2084831" y="2029967"/>
            <a:ext cx="905257" cy="256033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2ud500_nd21"/>
          <p:cNvSpPr/>
          <p:nvPr/>
        </p:nvSpPr>
        <p:spPr>
          <a:xfrm>
            <a:off x="3017520" y="2340863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500_ndt22"/>
          <p:cNvSpPr txBox="1"/>
          <p:nvPr/>
        </p:nvSpPr>
        <p:spPr>
          <a:xfrm>
            <a:off x="3063239" y="2340863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3  SMS gateway</a:t>
            </a:r>
          </a:p>
        </p:txBody>
      </p:sp>
      <p:sp>
        <p:nvSpPr>
          <p:cNvPr id="24" name="a2ud500_lb23"/>
          <p:cNvSpPr txBox="1"/>
          <p:nvPr/>
        </p:nvSpPr>
        <p:spPr>
          <a:xfrm>
            <a:off x="4892040" y="2459735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16207"/>
                </a:solidFill>
                <a:latin typeface="Segoe UI"/>
              </a:rPr>
              <a:t>25 ms</a:t>
            </a:r>
          </a:p>
        </p:txBody>
      </p:sp>
      <p:cxnSp>
        <p:nvCxnSpPr>
          <p:cNvPr id="25" name="a2fd500_ar24"/>
          <p:cNvCxnSpPr/>
          <p:nvPr/>
        </p:nvCxnSpPr>
        <p:spPr>
          <a:xfrm>
            <a:off x="2084831" y="2286000"/>
            <a:ext cx="905257" cy="274320"/>
          </a:xfrm>
          <a:prstGeom prst="line">
            <a:avLst/>
          </a:prstGeom>
          <a:ln w="1905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2ud750_nd25"/>
          <p:cNvSpPr/>
          <p:nvPr/>
        </p:nvSpPr>
        <p:spPr>
          <a:xfrm>
            <a:off x="3017520" y="2871215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7F6F3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750_ndt26"/>
          <p:cNvSpPr txBox="1"/>
          <p:nvPr/>
        </p:nvSpPr>
        <p:spPr>
          <a:xfrm>
            <a:off x="3063239" y="2871215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4  Data warehouse</a:t>
            </a:r>
          </a:p>
        </p:txBody>
      </p:sp>
      <p:sp>
        <p:nvSpPr>
          <p:cNvPr id="28" name="a2ud750_lb27"/>
          <p:cNvSpPr txBox="1"/>
          <p:nvPr/>
        </p:nvSpPr>
        <p:spPr>
          <a:xfrm>
            <a:off x="4892040" y="2990087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  <a:latin typeface="Segoe UI"/>
              </a:rPr>
              <a:t>60 ms</a:t>
            </a:r>
          </a:p>
        </p:txBody>
      </p:sp>
      <p:cxnSp>
        <p:nvCxnSpPr>
          <p:cNvPr id="29" name="a2fd750_ar28"/>
          <p:cNvCxnSpPr/>
          <p:nvPr/>
        </p:nvCxnSpPr>
        <p:spPr>
          <a:xfrm>
            <a:off x="2084831" y="2286000"/>
            <a:ext cx="905257" cy="804672"/>
          </a:xfrm>
          <a:prstGeom prst="line">
            <a:avLst/>
          </a:prstGeom>
          <a:ln w="1905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3u_card29"/>
          <p:cNvSpPr/>
          <p:nvPr/>
        </p:nvSpPr>
        <p:spPr>
          <a:xfrm>
            <a:off x="5669280" y="1280160"/>
            <a:ext cx="3017520" cy="2029968"/>
          </a:xfrm>
          <a:prstGeom prst="roundRect">
            <a:avLst>
              <a:gd name="adj" fmla="val 5405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_hh30"/>
          <p:cNvSpPr txBox="1"/>
          <p:nvPr/>
        </p:nvSpPr>
        <p:spPr>
          <a:xfrm>
            <a:off x="5852160" y="1389888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Segoe UI"/>
              </a:rPr>
              <a:t>THE TRANSFER NOW DEPENDS ON</a:t>
            </a:r>
          </a:p>
        </p:txBody>
      </p:sp>
      <p:sp>
        <p:nvSpPr>
          <p:cNvPr id="32" name="a3ud80_dot31"/>
          <p:cNvSpPr/>
          <p:nvPr/>
        </p:nvSpPr>
        <p:spPr>
          <a:xfrm>
            <a:off x="5852160" y="1833372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d80_b32"/>
          <p:cNvSpPr txBox="1"/>
          <p:nvPr/>
        </p:nvSpPr>
        <p:spPr>
          <a:xfrm>
            <a:off x="6071616" y="1737360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4 network calls on every transfer</a:t>
            </a:r>
          </a:p>
        </p:txBody>
      </p:sp>
      <p:sp>
        <p:nvSpPr>
          <p:cNvPr id="34" name="a3ud180_dot33"/>
          <p:cNvSpPr/>
          <p:nvPr/>
        </p:nvSpPr>
        <p:spPr>
          <a:xfrm>
            <a:off x="5852160" y="2199132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d180_b34"/>
          <p:cNvSpPr txBox="1"/>
          <p:nvPr/>
        </p:nvSpPr>
        <p:spPr>
          <a:xfrm>
            <a:off x="6071616" y="2103120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4 systems that must all be up</a:t>
            </a:r>
          </a:p>
        </p:txBody>
      </p:sp>
      <p:sp>
        <p:nvSpPr>
          <p:cNvPr id="36" name="a3ud280_dot35"/>
          <p:cNvSpPr/>
          <p:nvPr/>
        </p:nvSpPr>
        <p:spPr>
          <a:xfrm>
            <a:off x="5852160" y="2564891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d280_b36"/>
          <p:cNvSpPr txBox="1"/>
          <p:nvPr/>
        </p:nvSpPr>
        <p:spPr>
          <a:xfrm>
            <a:off x="6071616" y="2468879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4 timeouts somebody must tune</a:t>
            </a:r>
          </a:p>
        </p:txBody>
      </p:sp>
      <p:sp>
        <p:nvSpPr>
          <p:cNvPr id="38" name="a3ud380_dot37"/>
          <p:cNvSpPr/>
          <p:nvPr/>
        </p:nvSpPr>
        <p:spPr>
          <a:xfrm>
            <a:off x="5852160" y="2930651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ud380_b38"/>
          <p:cNvSpPr txBox="1"/>
          <p:nvPr/>
        </p:nvSpPr>
        <p:spPr>
          <a:xfrm>
            <a:off x="6071616" y="2834639"/>
            <a:ext cx="2478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a code change for each new reader</a:t>
            </a:r>
          </a:p>
        </p:txBody>
      </p:sp>
      <p:sp>
        <p:nvSpPr>
          <p:cNvPr id="40" name="a4f_lb39"/>
          <p:cNvSpPr txBox="1"/>
          <p:nvPr/>
        </p:nvSpPr>
        <p:spPr>
          <a:xfrm>
            <a:off x="457200" y="34747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403C"/>
                </a:solidFill>
                <a:latin typeface="Segoe UI"/>
              </a:rPr>
              <a:t>one transfer, end to end (design values)</a:t>
            </a:r>
          </a:p>
        </p:txBody>
      </p:sp>
      <p:sp>
        <p:nvSpPr>
          <p:cNvPr id="41" name="a4w_bar40"/>
          <p:cNvSpPr/>
          <p:nvPr/>
        </p:nvSpPr>
        <p:spPr>
          <a:xfrm>
            <a:off x="457200" y="3712463"/>
            <a:ext cx="1645919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7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4w_lb41"/>
          <p:cNvSpPr txBox="1"/>
          <p:nvPr/>
        </p:nvSpPr>
        <p:spPr>
          <a:xfrm>
            <a:off x="457200" y="3712463"/>
            <a:ext cx="164591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fraud 40</a:t>
            </a:r>
          </a:p>
        </p:txBody>
      </p:sp>
      <p:sp>
        <p:nvSpPr>
          <p:cNvPr id="43" name="a4wd250_bar42"/>
          <p:cNvSpPr/>
          <p:nvPr/>
        </p:nvSpPr>
        <p:spPr>
          <a:xfrm>
            <a:off x="2103120" y="3712463"/>
            <a:ext cx="1234439" cy="384048"/>
          </a:xfrm>
          <a:prstGeom prst="rect">
            <a:avLst/>
          </a:prstGeom>
          <a:solidFill>
            <a:srgbClr val="D9F2F7"/>
          </a:solidFill>
          <a:ln w="12700">
            <a:solidFill>
              <a:srgbClr val="F7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4wd250_lb43"/>
          <p:cNvSpPr txBox="1"/>
          <p:nvPr/>
        </p:nvSpPr>
        <p:spPr>
          <a:xfrm>
            <a:off x="2103120" y="3712463"/>
            <a:ext cx="123443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Segoe UI"/>
              </a:rPr>
              <a:t>ledger 30</a:t>
            </a:r>
          </a:p>
        </p:txBody>
      </p:sp>
      <p:sp>
        <p:nvSpPr>
          <p:cNvPr id="45" name="a4wd500_bar44"/>
          <p:cNvSpPr/>
          <p:nvPr/>
        </p:nvSpPr>
        <p:spPr>
          <a:xfrm>
            <a:off x="3337559" y="3712463"/>
            <a:ext cx="10287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7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4wd500_lb45"/>
          <p:cNvSpPr txBox="1"/>
          <p:nvPr/>
        </p:nvSpPr>
        <p:spPr>
          <a:xfrm>
            <a:off x="3337559" y="3712463"/>
            <a:ext cx="10287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A16207"/>
                </a:solidFill>
                <a:latin typeface="Segoe UI"/>
              </a:rPr>
              <a:t>sms 25</a:t>
            </a:r>
          </a:p>
        </p:txBody>
      </p:sp>
      <p:sp>
        <p:nvSpPr>
          <p:cNvPr id="47" name="a4wd750_bar46"/>
          <p:cNvSpPr/>
          <p:nvPr/>
        </p:nvSpPr>
        <p:spPr>
          <a:xfrm>
            <a:off x="4366259" y="3712463"/>
            <a:ext cx="2468879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F7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4wd750_lb47"/>
          <p:cNvSpPr txBox="1"/>
          <p:nvPr/>
        </p:nvSpPr>
        <p:spPr>
          <a:xfrm>
            <a:off x="4366259" y="3712463"/>
            <a:ext cx="2468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4F46E5"/>
                </a:solidFill>
                <a:latin typeface="Segoe UI"/>
              </a:rPr>
              <a:t>warehouse 60</a:t>
            </a:r>
          </a:p>
        </p:txBody>
      </p:sp>
      <p:sp>
        <p:nvSpPr>
          <p:cNvPr id="49" name="a5u_tot48"/>
          <p:cNvSpPr txBox="1"/>
          <p:nvPr/>
        </p:nvSpPr>
        <p:spPr>
          <a:xfrm>
            <a:off x="6972300" y="363931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= 155 ms</a:t>
            </a:r>
          </a:p>
        </p:txBody>
      </p:sp>
      <p:sp>
        <p:nvSpPr>
          <p:cNvPr id="50" name="a5u_tot249"/>
          <p:cNvSpPr txBox="1"/>
          <p:nvPr/>
        </p:nvSpPr>
        <p:spPr>
          <a:xfrm>
            <a:off x="6972300" y="396849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before the customer sees Done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06</a:t>
            </a:r>
          </a:p>
        </p:txBody>
      </p:sp>
      <p:sp>
        <p:nvSpPr>
          <p:cNvPr id="52" name="ft5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ft5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4" name="ft5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The Arithmetic of Coupling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Chaining synchronous calls makes three numbers worse at once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2609088" cy="2240280"/>
          </a:xfrm>
          <a:prstGeom prst="roundRect">
            <a:avLst>
              <a:gd name="adj" fmla="val 4897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2609088" cy="6400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_ic12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60_ict13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5" name="a1ud90_ct14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Latency adds up</a:t>
            </a:r>
          </a:p>
        </p:txBody>
      </p:sp>
      <p:sp>
        <p:nvSpPr>
          <p:cNvPr id="16" name="a1ud120_cs15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Consolas"/>
              </a:rPr>
              <a:t>SUM, NOT MAX</a:t>
            </a:r>
          </a:p>
        </p:txBody>
      </p:sp>
      <p:sp>
        <p:nvSpPr>
          <p:cNvPr id="17" name="a1ud150_cb16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40 + 30 + 25 + 60 = 155 ms</a:t>
            </a:r>
          </a:p>
        </p:txBody>
      </p:sp>
      <p:sp>
        <p:nvSpPr>
          <p:cNvPr id="18" name="a1ud220_cb17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Lab 1 measures 181 ms with HTTP overhead</a:t>
            </a:r>
          </a:p>
        </p:txBody>
      </p:sp>
      <p:sp>
        <p:nvSpPr>
          <p:cNvPr id="19" name="a2u_card18"/>
          <p:cNvSpPr/>
          <p:nvPr/>
        </p:nvSpPr>
        <p:spPr>
          <a:xfrm>
            <a:off x="3267456" y="1216152"/>
            <a:ext cx="2609088" cy="2240280"/>
          </a:xfrm>
          <a:prstGeom prst="roundRect">
            <a:avLst>
              <a:gd name="adj" fmla="val 4897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acc19"/>
          <p:cNvSpPr/>
          <p:nvPr/>
        </p:nvSpPr>
        <p:spPr>
          <a:xfrm>
            <a:off x="3267456" y="1216152"/>
            <a:ext cx="2609088" cy="640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60_ic20"/>
          <p:cNvSpPr/>
          <p:nvPr/>
        </p:nvSpPr>
        <p:spPr>
          <a:xfrm>
            <a:off x="3432048" y="1417320"/>
            <a:ext cx="384048" cy="38404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d60_ict21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x</a:t>
            </a:r>
          </a:p>
        </p:txBody>
      </p:sp>
      <p:sp>
        <p:nvSpPr>
          <p:cNvPr id="23" name="a2ud90_ct22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Availability multiplies</a:t>
            </a:r>
          </a:p>
        </p:txBody>
      </p:sp>
      <p:sp>
        <p:nvSpPr>
          <p:cNvPr id="24" name="a2ud120_cs23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E11D48"/>
                </a:solidFill>
                <a:latin typeface="Consolas"/>
              </a:rPr>
              <a:t>0.999 ^ 4 = 0.996</a:t>
            </a:r>
          </a:p>
        </p:txBody>
      </p:sp>
      <p:sp>
        <p:nvSpPr>
          <p:cNvPr id="25" name="a2ud150_cb24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11D48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One system at 99.9%: 8.8 h down a year</a:t>
            </a:r>
          </a:p>
        </p:txBody>
      </p:sp>
      <p:sp>
        <p:nvSpPr>
          <p:cNvPr id="26" name="a2ud220_cb25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11D48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Four in a chain: 99.6% - about 35 h</a:t>
            </a:r>
          </a:p>
        </p:txBody>
      </p:sp>
      <p:sp>
        <p:nvSpPr>
          <p:cNvPr id="27" name="a3u_card26"/>
          <p:cNvSpPr/>
          <p:nvPr/>
        </p:nvSpPr>
        <p:spPr>
          <a:xfrm>
            <a:off x="6077712" y="1216152"/>
            <a:ext cx="2609088" cy="2240280"/>
          </a:xfrm>
          <a:prstGeom prst="roundRect">
            <a:avLst>
              <a:gd name="adj" fmla="val 4897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acc27"/>
          <p:cNvSpPr/>
          <p:nvPr/>
        </p:nvSpPr>
        <p:spPr>
          <a:xfrm>
            <a:off x="6077712" y="1216152"/>
            <a:ext cx="2609088" cy="640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d60_ic28"/>
          <p:cNvSpPr/>
          <p:nvPr/>
        </p:nvSpPr>
        <p:spPr>
          <a:xfrm>
            <a:off x="6242304" y="141732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d60_ict29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31" name="a3ud90_ct30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Threads block</a:t>
            </a:r>
          </a:p>
        </p:txBody>
      </p:sp>
      <p:sp>
        <p:nvSpPr>
          <p:cNvPr id="32" name="a3ud120_cs31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onsolas"/>
              </a:rPr>
              <a:t>WAITING IS NOT FREE</a:t>
            </a:r>
          </a:p>
        </p:txBody>
      </p:sp>
      <p:sp>
        <p:nvSpPr>
          <p:cNvPr id="33" name="a3ud150_cb32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4 threads, 2 s timeout: 2 transfers a second</a:t>
            </a:r>
          </a:p>
        </p:txBody>
      </p:sp>
      <p:sp>
        <p:nvSpPr>
          <p:cNvPr id="34" name="a3ud220_cb33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pool drains, then everything queues</a:t>
            </a:r>
          </a:p>
        </p:txBody>
      </p:sp>
      <p:sp>
        <p:nvSpPr>
          <p:cNvPr id="35" name="a4u_nb34"/>
          <p:cNvSpPr/>
          <p:nvPr/>
        </p:nvSpPr>
        <p:spPr>
          <a:xfrm>
            <a:off x="457200" y="35935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4u_nacc35"/>
          <p:cNvSpPr/>
          <p:nvPr/>
        </p:nvSpPr>
        <p:spPr>
          <a:xfrm>
            <a:off x="457200" y="3593592"/>
            <a:ext cx="54864" cy="7132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4u_nt36"/>
          <p:cNvSpPr txBox="1"/>
          <p:nvPr/>
        </p:nvSpPr>
        <p:spPr>
          <a:xfrm>
            <a:off x="658368" y="3593592"/>
            <a:ext cx="782726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MATH  </a:t>
            </a:r>
            <a:r>
              <a:rPr sz="900" b="0">
                <a:solidFill>
                  <a:srgbClr val="44403C"/>
                </a:solidFill>
                <a:latin typeface="Segoe UI"/>
              </a:rPr>
              <a:t>Check it: 0.999 x 0.999 x 0.999 x 0.999 = 0.996, so the transfer path is unavailable 0.4% of the year - 35 hours. A fifth reader makes it 43.7 hours: in this design every new consumer makes transfers less available.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07</a:t>
            </a:r>
          </a:p>
        </p:txBody>
      </p:sp>
      <p:sp>
        <p:nvSpPr>
          <p:cNvPr id="39" name="ft3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ft3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How It Fails: The Cascade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INC-4755 step by step - each step follows from a reasonable design choice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8229600" cy="1417320"/>
          </a:xfrm>
          <a:prstGeom prst="roundRect">
            <a:avLst>
              <a:gd name="adj" fmla="val 7741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621792" y="1344168"/>
            <a:ext cx="1463040" cy="4572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30_sn12"/>
          <p:cNvSpPr txBox="1"/>
          <p:nvPr/>
        </p:nvSpPr>
        <p:spPr>
          <a:xfrm>
            <a:off x="621792" y="14356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18:40 · Slow</a:t>
            </a:r>
          </a:p>
        </p:txBody>
      </p:sp>
      <p:sp>
        <p:nvSpPr>
          <p:cNvPr id="14" name="a1ud60_sd13"/>
          <p:cNvSpPr txBox="1"/>
          <p:nvPr/>
        </p:nvSpPr>
        <p:spPr>
          <a:xfrm>
            <a:off x="621792" y="170992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The SMS vendor stops answering. Nothing is down - calls just hang.</a:t>
            </a:r>
          </a:p>
        </p:txBody>
      </p:sp>
      <p:sp>
        <p:nvSpPr>
          <p:cNvPr id="15" name="a2u_acc14"/>
          <p:cNvSpPr/>
          <p:nvPr/>
        </p:nvSpPr>
        <p:spPr>
          <a:xfrm>
            <a:off x="2231136" y="1344168"/>
            <a:ext cx="1463040" cy="4572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30_sn15"/>
          <p:cNvSpPr txBox="1"/>
          <p:nvPr/>
        </p:nvSpPr>
        <p:spPr>
          <a:xfrm>
            <a:off x="2231136" y="14356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Wait</a:t>
            </a:r>
          </a:p>
        </p:txBody>
      </p:sp>
      <p:sp>
        <p:nvSpPr>
          <p:cNvPr id="17" name="a2ud60_sd16"/>
          <p:cNvSpPr txBox="1"/>
          <p:nvPr/>
        </p:nvSpPr>
        <p:spPr>
          <a:xfrm>
            <a:off x="2231136" y="170992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Each transfer thread waits up to 30 s for a reply that never comes.</a:t>
            </a:r>
          </a:p>
        </p:txBody>
      </p:sp>
      <p:sp>
        <p:nvSpPr>
          <p:cNvPr id="18" name="a3u_acc17"/>
          <p:cNvSpPr/>
          <p:nvPr/>
        </p:nvSpPr>
        <p:spPr>
          <a:xfrm>
            <a:off x="3840480" y="1344168"/>
            <a:ext cx="1463040" cy="45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ud30_sn18"/>
          <p:cNvSpPr txBox="1"/>
          <p:nvPr/>
        </p:nvSpPr>
        <p:spPr>
          <a:xfrm>
            <a:off x="3840480" y="14356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18:47 · Exhaust</a:t>
            </a:r>
          </a:p>
        </p:txBody>
      </p:sp>
      <p:sp>
        <p:nvSpPr>
          <p:cNvPr id="20" name="a3ud60_sd19"/>
          <p:cNvSpPr txBox="1"/>
          <p:nvPr/>
        </p:nvSpPr>
        <p:spPr>
          <a:xfrm>
            <a:off x="3840480" y="170992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Every thread is waiting. New transfers queue, then time out.</a:t>
            </a:r>
          </a:p>
        </p:txBody>
      </p:sp>
      <p:sp>
        <p:nvSpPr>
          <p:cNvPr id="21" name="a4u_acc20"/>
          <p:cNvSpPr/>
          <p:nvPr/>
        </p:nvSpPr>
        <p:spPr>
          <a:xfrm>
            <a:off x="5449824" y="1344168"/>
            <a:ext cx="1463040" cy="45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4ud30_sn21"/>
          <p:cNvSpPr txBox="1"/>
          <p:nvPr/>
        </p:nvSpPr>
        <p:spPr>
          <a:xfrm>
            <a:off x="5449824" y="14356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Spread</a:t>
            </a:r>
          </a:p>
        </p:txBody>
      </p:sp>
      <p:sp>
        <p:nvSpPr>
          <p:cNvPr id="23" name="a4ud60_sd22"/>
          <p:cNvSpPr txBox="1"/>
          <p:nvPr/>
        </p:nvSpPr>
        <p:spPr>
          <a:xfrm>
            <a:off x="5449824" y="170992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UPI, IMPS and NEFT share the service - all of them stop.</a:t>
            </a:r>
          </a:p>
        </p:txBody>
      </p:sp>
      <p:sp>
        <p:nvSpPr>
          <p:cNvPr id="24" name="a5u_acc23"/>
          <p:cNvSpPr/>
          <p:nvPr/>
        </p:nvSpPr>
        <p:spPr>
          <a:xfrm>
            <a:off x="7059168" y="1344168"/>
            <a:ext cx="1463040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5ud30_sn24"/>
          <p:cNvSpPr txBox="1"/>
          <p:nvPr/>
        </p:nvSpPr>
        <p:spPr>
          <a:xfrm>
            <a:off x="7059168" y="14356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19:55 · Recover</a:t>
            </a:r>
          </a:p>
        </p:txBody>
      </p:sp>
      <p:sp>
        <p:nvSpPr>
          <p:cNvPr id="26" name="a5ud60_sd25"/>
          <p:cNvSpPr txBox="1"/>
          <p:nvPr/>
        </p:nvSpPr>
        <p:spPr>
          <a:xfrm>
            <a:off x="7059168" y="170992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Vendor returns. 4,100 transfers failed in 75 minutes.</a:t>
            </a:r>
          </a:p>
        </p:txBody>
      </p:sp>
      <p:sp>
        <p:nvSpPr>
          <p:cNvPr id="27" name="a6f_th26"/>
          <p:cNvSpPr/>
          <p:nvPr/>
        </p:nvSpPr>
        <p:spPr>
          <a:xfrm>
            <a:off x="457200" y="2816352"/>
            <a:ext cx="2011680" cy="3657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6f_tht27"/>
          <p:cNvSpPr txBox="1"/>
          <p:nvPr/>
        </p:nvSpPr>
        <p:spPr>
          <a:xfrm>
            <a:off x="530352" y="2816352"/>
            <a:ext cx="1901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Failure mode</a:t>
            </a:r>
          </a:p>
        </p:txBody>
      </p:sp>
      <p:sp>
        <p:nvSpPr>
          <p:cNvPr id="29" name="a6wd120_td28"/>
          <p:cNvSpPr/>
          <p:nvPr/>
        </p:nvSpPr>
        <p:spPr>
          <a:xfrm>
            <a:off x="457200" y="318211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6wd120_tdt29"/>
          <p:cNvSpPr txBox="1"/>
          <p:nvPr/>
        </p:nvSpPr>
        <p:spPr>
          <a:xfrm>
            <a:off x="530352" y="3182112"/>
            <a:ext cx="1901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Slow dependency</a:t>
            </a:r>
          </a:p>
        </p:txBody>
      </p:sp>
      <p:sp>
        <p:nvSpPr>
          <p:cNvPr id="31" name="a6wd240_td30"/>
          <p:cNvSpPr/>
          <p:nvPr/>
        </p:nvSpPr>
        <p:spPr>
          <a:xfrm>
            <a:off x="457200" y="3547872"/>
            <a:ext cx="201168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6wd240_tdt31"/>
          <p:cNvSpPr txBox="1"/>
          <p:nvPr/>
        </p:nvSpPr>
        <p:spPr>
          <a:xfrm>
            <a:off x="530352" y="3547872"/>
            <a:ext cx="1901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Retry storm</a:t>
            </a:r>
          </a:p>
        </p:txBody>
      </p:sp>
      <p:sp>
        <p:nvSpPr>
          <p:cNvPr id="33" name="a6wd360_td32"/>
          <p:cNvSpPr/>
          <p:nvPr/>
        </p:nvSpPr>
        <p:spPr>
          <a:xfrm>
            <a:off x="457200" y="391363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6wd360_tdt33"/>
          <p:cNvSpPr txBox="1"/>
          <p:nvPr/>
        </p:nvSpPr>
        <p:spPr>
          <a:xfrm>
            <a:off x="530352" y="3913632"/>
            <a:ext cx="1901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Partial failure</a:t>
            </a:r>
          </a:p>
        </p:txBody>
      </p:sp>
      <p:sp>
        <p:nvSpPr>
          <p:cNvPr id="35" name="a6f_th34"/>
          <p:cNvSpPr/>
          <p:nvPr/>
        </p:nvSpPr>
        <p:spPr>
          <a:xfrm>
            <a:off x="2468880" y="2816352"/>
            <a:ext cx="6217920" cy="36576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6f_tht35"/>
          <p:cNvSpPr txBox="1"/>
          <p:nvPr/>
        </p:nvSpPr>
        <p:spPr>
          <a:xfrm>
            <a:off x="2542032" y="2816352"/>
            <a:ext cx="6108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What it looks like at Horizon Bank</a:t>
            </a:r>
          </a:p>
        </p:txBody>
      </p:sp>
      <p:sp>
        <p:nvSpPr>
          <p:cNvPr id="37" name="a6wd120_td36"/>
          <p:cNvSpPr/>
          <p:nvPr/>
        </p:nvSpPr>
        <p:spPr>
          <a:xfrm>
            <a:off x="2468880" y="3182112"/>
            <a:ext cx="6217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6wd120_tdt37"/>
          <p:cNvSpPr txBox="1"/>
          <p:nvPr/>
        </p:nvSpPr>
        <p:spPr>
          <a:xfrm>
            <a:off x="2542032" y="3182112"/>
            <a:ext cx="6108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Worse than a dead one: a dead system fails fast, a slow one holds a thread for 30 s</a:t>
            </a:r>
          </a:p>
        </p:txBody>
      </p:sp>
      <p:sp>
        <p:nvSpPr>
          <p:cNvPr id="39" name="a6wd240_td38"/>
          <p:cNvSpPr/>
          <p:nvPr/>
        </p:nvSpPr>
        <p:spPr>
          <a:xfrm>
            <a:off x="2468880" y="3547872"/>
            <a:ext cx="621792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6wd240_tdt39"/>
          <p:cNvSpPr txBox="1"/>
          <p:nvPr/>
        </p:nvSpPr>
        <p:spPr>
          <a:xfrm>
            <a:off x="2542032" y="3547872"/>
            <a:ext cx="6108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Callers retry the struggling SMS gateway and triple its load just as it tries to recover</a:t>
            </a:r>
          </a:p>
        </p:txBody>
      </p:sp>
      <p:sp>
        <p:nvSpPr>
          <p:cNvPr id="41" name="a6wd360_td40"/>
          <p:cNvSpPr/>
          <p:nvPr/>
        </p:nvSpPr>
        <p:spPr>
          <a:xfrm>
            <a:off x="2468880" y="3913632"/>
            <a:ext cx="6217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6wd360_tdt41"/>
          <p:cNvSpPr txBox="1"/>
          <p:nvPr/>
        </p:nvSpPr>
        <p:spPr>
          <a:xfrm>
            <a:off x="2542032" y="3913632"/>
            <a:ext cx="6108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Ledger posted, then SMS timed out: the customer sees 'failed' for money that moved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08</a:t>
            </a:r>
          </a:p>
        </p:txBody>
      </p:sp>
      <p:sp>
        <p:nvSpPr>
          <p:cNvPr id="44" name="ft43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ft44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When Request-Response Is the Right Tool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Kafka does not replace it - it replaces request-response used for things that are not requests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4023360" cy="2487168"/>
          </a:xfrm>
          <a:prstGeom prst="roundRect">
            <a:avLst>
              <a:gd name="adj" fmla="val 4411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50292" cy="24871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hh12"/>
          <p:cNvSpPr txBox="1"/>
          <p:nvPr/>
        </p:nvSpPr>
        <p:spPr>
          <a:xfrm>
            <a:off x="658368" y="1344168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USE IT WHEN THE CALLER NEEDS THE ANSWER</a:t>
            </a:r>
          </a:p>
        </p:txBody>
      </p:sp>
      <p:sp>
        <p:nvSpPr>
          <p:cNvPr id="14" name="a1ud80_dot13"/>
          <p:cNvSpPr/>
          <p:nvPr/>
        </p:nvSpPr>
        <p:spPr>
          <a:xfrm>
            <a:off x="658368" y="17693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80_b14"/>
          <p:cNvSpPr txBox="1"/>
          <p:nvPr/>
        </p:nvSpPr>
        <p:spPr>
          <a:xfrm>
            <a:off x="877824" y="16733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Balance enquiry - the screen shows the number</a:t>
            </a:r>
          </a:p>
        </p:txBody>
      </p:sp>
      <p:sp>
        <p:nvSpPr>
          <p:cNvPr id="16" name="a1ud190_dot15"/>
          <p:cNvSpPr/>
          <p:nvPr/>
        </p:nvSpPr>
        <p:spPr>
          <a:xfrm>
            <a:off x="658368" y="22265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ud190_b16"/>
          <p:cNvSpPr txBox="1"/>
          <p:nvPr/>
        </p:nvSpPr>
        <p:spPr>
          <a:xfrm>
            <a:off x="877824" y="21305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OTP check - login cannot continue without it</a:t>
            </a:r>
          </a:p>
        </p:txBody>
      </p:sp>
      <p:sp>
        <p:nvSpPr>
          <p:cNvPr id="18" name="a1ud300_dot17"/>
          <p:cNvSpPr/>
          <p:nvPr/>
        </p:nvSpPr>
        <p:spPr>
          <a:xfrm>
            <a:off x="658368" y="26837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300_b18"/>
          <p:cNvSpPr txBox="1"/>
          <p:nvPr/>
        </p:nvSpPr>
        <p:spPr>
          <a:xfrm>
            <a:off x="877824" y="25877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Card authorisation - approve or decline, now</a:t>
            </a:r>
          </a:p>
        </p:txBody>
      </p:sp>
      <p:sp>
        <p:nvSpPr>
          <p:cNvPr id="20" name="a1ud410_dot19"/>
          <p:cNvSpPr/>
          <p:nvPr/>
        </p:nvSpPr>
        <p:spPr>
          <a:xfrm>
            <a:off x="658368" y="31409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ud410_b20"/>
          <p:cNvSpPr txBox="1"/>
          <p:nvPr/>
        </p:nvSpPr>
        <p:spPr>
          <a:xfrm>
            <a:off x="877824" y="30449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Fraud pre-check that can block the transfer</a:t>
            </a:r>
          </a:p>
        </p:txBody>
      </p:sp>
      <p:sp>
        <p:nvSpPr>
          <p:cNvPr id="22" name="a2u_card21"/>
          <p:cNvSpPr/>
          <p:nvPr/>
        </p:nvSpPr>
        <p:spPr>
          <a:xfrm>
            <a:off x="4663440" y="1216152"/>
            <a:ext cx="4023360" cy="2487168"/>
          </a:xfrm>
          <a:prstGeom prst="roundRect">
            <a:avLst>
              <a:gd name="adj" fmla="val 4411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_acc22"/>
          <p:cNvSpPr/>
          <p:nvPr/>
        </p:nvSpPr>
        <p:spPr>
          <a:xfrm>
            <a:off x="4663440" y="1216152"/>
            <a:ext cx="50292" cy="248716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u_hh23"/>
          <p:cNvSpPr txBox="1"/>
          <p:nvPr/>
        </p:nvSpPr>
        <p:spPr>
          <a:xfrm>
            <a:off x="4864607" y="1344168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11D48"/>
                </a:solidFill>
                <a:latin typeface="Segoe UI"/>
              </a:rPr>
              <a:t>AVOID IT WHEN THE CALLER DOES NOT</a:t>
            </a:r>
          </a:p>
        </p:txBody>
      </p:sp>
      <p:sp>
        <p:nvSpPr>
          <p:cNvPr id="25" name="a2ud80_dot24"/>
          <p:cNvSpPr/>
          <p:nvPr/>
        </p:nvSpPr>
        <p:spPr>
          <a:xfrm>
            <a:off x="4864607" y="17693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80_b25"/>
          <p:cNvSpPr txBox="1"/>
          <p:nvPr/>
        </p:nvSpPr>
        <p:spPr>
          <a:xfrm>
            <a:off x="5084064" y="16733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Sending the SMS confirmation</a:t>
            </a:r>
          </a:p>
        </p:txBody>
      </p:sp>
      <p:sp>
        <p:nvSpPr>
          <p:cNvPr id="27" name="a2ud190_dot26"/>
          <p:cNvSpPr/>
          <p:nvPr/>
        </p:nvSpPr>
        <p:spPr>
          <a:xfrm>
            <a:off x="4864607" y="22265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d190_b27"/>
          <p:cNvSpPr txBox="1"/>
          <p:nvPr/>
        </p:nvSpPr>
        <p:spPr>
          <a:xfrm>
            <a:off x="5084064" y="21305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Feeding the data warehouse</a:t>
            </a:r>
          </a:p>
        </p:txBody>
      </p:sp>
      <p:sp>
        <p:nvSpPr>
          <p:cNvPr id="29" name="a2ud300_dot28"/>
          <p:cNvSpPr/>
          <p:nvPr/>
        </p:nvSpPr>
        <p:spPr>
          <a:xfrm>
            <a:off x="4864607" y="26837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d300_b29"/>
          <p:cNvSpPr txBox="1"/>
          <p:nvPr/>
        </p:nvSpPr>
        <p:spPr>
          <a:xfrm>
            <a:off x="5084064" y="25877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Updating loyalty points</a:t>
            </a:r>
          </a:p>
        </p:txBody>
      </p:sp>
      <p:sp>
        <p:nvSpPr>
          <p:cNvPr id="31" name="a2ud410_dot30"/>
          <p:cNvSpPr/>
          <p:nvPr/>
        </p:nvSpPr>
        <p:spPr>
          <a:xfrm>
            <a:off x="4864607" y="31409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ud410_b31"/>
          <p:cNvSpPr txBox="1"/>
          <p:nvPr/>
        </p:nvSpPr>
        <p:spPr>
          <a:xfrm>
            <a:off x="5084064" y="3044952"/>
            <a:ext cx="34015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Segoe UI"/>
              </a:rPr>
              <a:t>Anything a new team wants to 'also' receive</a:t>
            </a:r>
          </a:p>
        </p:txBody>
      </p:sp>
      <p:sp>
        <p:nvSpPr>
          <p:cNvPr id="33" name="a3u_nb32"/>
          <p:cNvSpPr/>
          <p:nvPr/>
        </p:nvSpPr>
        <p:spPr>
          <a:xfrm>
            <a:off x="457200" y="384962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nacc33"/>
          <p:cNvSpPr/>
          <p:nvPr/>
        </p:nvSpPr>
        <p:spPr>
          <a:xfrm>
            <a:off x="457200" y="3849624"/>
            <a:ext cx="54864" cy="60350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t34"/>
          <p:cNvSpPr txBox="1"/>
          <p:nvPr/>
        </p:nvSpPr>
        <p:spPr>
          <a:xfrm>
            <a:off x="658368" y="3849624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2410C"/>
                </a:solidFill>
                <a:latin typeface="Segoe UI"/>
              </a:rPr>
              <a:t>TEST 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ten-minute test: if the receiver were down for ten minutes, should the caller fail? If not, the caller should not be waiting for it.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09</a:t>
            </a:r>
          </a:p>
        </p:txBody>
      </p:sp>
      <p:sp>
        <p:nvSpPr>
          <p:cNvPr id="37" name="ft36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ft37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1  ·  20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1 - Feel the Coupling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Run the transfer service with synchronous calls, then take the SMS gateway down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5029200" cy="2487168"/>
          </a:xfrm>
          <a:prstGeom prst="roundRect">
            <a:avLst>
              <a:gd name="adj" fmla="val 2941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603504" y="148132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E047"/>
                </a:solidFill>
                <a:latin typeface="Consolas"/>
              </a:rPr>
              <a:t># Step 1 - open PowerShell in the lab folder (no Kafka yet)</a:t>
            </a:r>
          </a:p>
        </p:txBody>
      </p:sp>
      <p:sp>
        <p:nvSpPr>
          <p:cNvPr id="14" name="a1wd70_code13"/>
          <p:cNvSpPr txBox="1"/>
          <p:nvPr/>
        </p:nvSpPr>
        <p:spPr>
          <a:xfrm>
            <a:off x="603504" y="1664207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BA74"/>
                </a:solidFill>
                <a:latin typeface="Consolas"/>
              </a:rPr>
              <a:t>cd fundamentals_lab</a:t>
            </a:r>
          </a:p>
        </p:txBody>
      </p:sp>
      <p:sp>
        <p:nvSpPr>
          <p:cNvPr id="15" name="a1wd140_code14"/>
          <p:cNvSpPr txBox="1"/>
          <p:nvPr/>
        </p:nvSpPr>
        <p:spPr>
          <a:xfrm>
            <a:off x="603504" y="184708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6" name="a1wd210_code15"/>
          <p:cNvSpPr txBox="1"/>
          <p:nvPr/>
        </p:nvSpPr>
        <p:spPr>
          <a:xfrm>
            <a:off x="603504" y="2029967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E047"/>
                </a:solidFill>
                <a:latin typeface="Consolas"/>
              </a:rPr>
              <a:t># Step 2 - 12 transfers, all four systems healthy</a:t>
            </a:r>
          </a:p>
        </p:txBody>
      </p:sp>
      <p:sp>
        <p:nvSpPr>
          <p:cNvPr id="17" name="a1wd280_code16"/>
          <p:cNvSpPr txBox="1"/>
          <p:nvPr/>
        </p:nvSpPr>
        <p:spPr>
          <a:xfrm>
            <a:off x="603504" y="221284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BA74"/>
                </a:solidFill>
                <a:latin typeface="Consolas"/>
              </a:rPr>
              <a:t>python lab1_request_response.py</a:t>
            </a:r>
          </a:p>
        </p:txBody>
      </p:sp>
      <p:sp>
        <p:nvSpPr>
          <p:cNvPr id="18" name="a1wd350_code17"/>
          <p:cNvSpPr txBox="1"/>
          <p:nvPr/>
        </p:nvSpPr>
        <p:spPr>
          <a:xfrm>
            <a:off x="603504" y="239572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9" name="a1wd420_code18"/>
          <p:cNvSpPr txBox="1"/>
          <p:nvPr/>
        </p:nvSpPr>
        <p:spPr>
          <a:xfrm>
            <a:off x="603504" y="257860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E047"/>
                </a:solidFill>
                <a:latin typeface="Consolas"/>
              </a:rPr>
              <a:t># Step 3 - again, with the SMS gateway not answering</a:t>
            </a:r>
          </a:p>
        </p:txBody>
      </p:sp>
      <p:sp>
        <p:nvSpPr>
          <p:cNvPr id="20" name="a1wd490_code19"/>
          <p:cNvSpPr txBox="1"/>
          <p:nvPr/>
        </p:nvSpPr>
        <p:spPr>
          <a:xfrm>
            <a:off x="603504" y="276148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BA74"/>
                </a:solidFill>
                <a:latin typeface="Consolas"/>
              </a:rPr>
              <a:t>python lab1_request_response.py --sms-down</a:t>
            </a:r>
          </a:p>
        </p:txBody>
      </p:sp>
      <p:sp>
        <p:nvSpPr>
          <p:cNvPr id="21" name="a1wd560_code20"/>
          <p:cNvSpPr txBox="1"/>
          <p:nvPr/>
        </p:nvSpPr>
        <p:spPr>
          <a:xfrm>
            <a:off x="603504" y="294436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2" name="a1wd630_code21"/>
          <p:cNvSpPr txBox="1"/>
          <p:nvPr/>
        </p:nvSpPr>
        <p:spPr>
          <a:xfrm>
            <a:off x="603504" y="312724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E047"/>
                </a:solidFill>
                <a:latin typeface="Consolas"/>
              </a:rPr>
              <a:t># Step 4 - challenge: call the four systems in parallel</a:t>
            </a:r>
          </a:p>
        </p:txBody>
      </p:sp>
      <p:sp>
        <p:nvSpPr>
          <p:cNvPr id="23" name="a1wd700_code22"/>
          <p:cNvSpPr txBox="1"/>
          <p:nvPr/>
        </p:nvSpPr>
        <p:spPr>
          <a:xfrm>
            <a:off x="603504" y="331012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BA74"/>
                </a:solidFill>
                <a:latin typeface="Consolas"/>
              </a:rPr>
              <a:t>python lab1_request_response.py --parallel</a:t>
            </a:r>
          </a:p>
        </p:txBody>
      </p:sp>
      <p:sp>
        <p:nvSpPr>
          <p:cNvPr id="24" name="a1wd770_code23"/>
          <p:cNvSpPr txBox="1"/>
          <p:nvPr/>
        </p:nvSpPr>
        <p:spPr>
          <a:xfrm>
            <a:off x="603504" y="3493008"/>
            <a:ext cx="4736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DBA74"/>
                </a:solidFill>
                <a:latin typeface="Consolas"/>
              </a:rPr>
              <a:t>python lab1_request_response.py --sms-down --parallel</a:t>
            </a:r>
          </a:p>
        </p:txBody>
      </p:sp>
      <p:sp>
        <p:nvSpPr>
          <p:cNvPr id="25" name="a2u_card24"/>
          <p:cNvSpPr/>
          <p:nvPr/>
        </p:nvSpPr>
        <p:spPr>
          <a:xfrm>
            <a:off x="5669280" y="1335024"/>
            <a:ext cx="3017520" cy="2487168"/>
          </a:xfrm>
          <a:prstGeom prst="roundRect">
            <a:avLst>
              <a:gd name="adj" fmla="val 4411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hh25"/>
          <p:cNvSpPr txBox="1"/>
          <p:nvPr/>
        </p:nvSpPr>
        <p:spPr>
          <a:xfrm>
            <a:off x="5852160" y="1444751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Segoe UI"/>
              </a:rPr>
              <a:t>WHAT THE SCRIPT DOES</a:t>
            </a:r>
          </a:p>
        </p:txBody>
      </p:sp>
      <p:sp>
        <p:nvSpPr>
          <p:cNvPr id="27" name="a2ud80_dot26"/>
          <p:cNvSpPr/>
          <p:nvPr/>
        </p:nvSpPr>
        <p:spPr>
          <a:xfrm>
            <a:off x="5852160" y="1869948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d80_b27"/>
          <p:cNvSpPr txBox="1"/>
          <p:nvPr/>
        </p:nvSpPr>
        <p:spPr>
          <a:xfrm>
            <a:off x="6071616" y="1773936"/>
            <a:ext cx="24780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Starts four fake systems on localhost:8700: fraud 40 ms, ledger 30, SMS 25, warehouse 60</a:t>
            </a:r>
          </a:p>
        </p:txBody>
      </p:sp>
      <p:sp>
        <p:nvSpPr>
          <p:cNvPr id="29" name="a2ud180_dot28"/>
          <p:cNvSpPr/>
          <p:nvPr/>
        </p:nvSpPr>
        <p:spPr>
          <a:xfrm>
            <a:off x="5852160" y="23454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d180_b29"/>
          <p:cNvSpPr txBox="1"/>
          <p:nvPr/>
        </p:nvSpPr>
        <p:spPr>
          <a:xfrm>
            <a:off x="6071616" y="2249424"/>
            <a:ext cx="24780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Runs 12 transfers on 4 request threads</a:t>
            </a:r>
          </a:p>
        </p:txBody>
      </p:sp>
      <p:sp>
        <p:nvSpPr>
          <p:cNvPr id="31" name="a2ud280_dot30"/>
          <p:cNvSpPr/>
          <p:nvPr/>
        </p:nvSpPr>
        <p:spPr>
          <a:xfrm>
            <a:off x="5852160" y="282092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ud280_b31"/>
          <p:cNvSpPr txBox="1"/>
          <p:nvPr/>
        </p:nvSpPr>
        <p:spPr>
          <a:xfrm>
            <a:off x="6071616" y="2724912"/>
            <a:ext cx="24780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Each call waits at most 2 s, then gives up</a:t>
            </a:r>
          </a:p>
        </p:txBody>
      </p:sp>
      <p:sp>
        <p:nvSpPr>
          <p:cNvPr id="33" name="a2ud380_dot32"/>
          <p:cNvSpPr/>
          <p:nvPr/>
        </p:nvSpPr>
        <p:spPr>
          <a:xfrm>
            <a:off x="5852160" y="3296412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d380_b33"/>
          <p:cNvSpPr txBox="1"/>
          <p:nvPr/>
        </p:nvSpPr>
        <p:spPr>
          <a:xfrm>
            <a:off x="6071616" y="3200400"/>
            <a:ext cx="24780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Standard library only - nothing to install</a:t>
            </a:r>
          </a:p>
        </p:txBody>
      </p:sp>
      <p:sp>
        <p:nvSpPr>
          <p:cNvPr id="35" name="a3u_taskbg34"/>
          <p:cNvSpPr/>
          <p:nvPr/>
        </p:nvSpPr>
        <p:spPr>
          <a:xfrm>
            <a:off x="457200" y="3959352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_taskacc35"/>
          <p:cNvSpPr/>
          <p:nvPr/>
        </p:nvSpPr>
        <p:spPr>
          <a:xfrm>
            <a:off x="457200" y="3959352"/>
            <a:ext cx="54864" cy="50292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_task36"/>
          <p:cNvSpPr txBox="1"/>
          <p:nvPr/>
        </p:nvSpPr>
        <p:spPr>
          <a:xfrm>
            <a:off x="640080" y="3959352"/>
            <a:ext cx="7882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80">
                <a:solidFill>
                  <a:srgbClr val="A16207"/>
                </a:solidFill>
                <a:latin typeface="Segoe UI"/>
              </a:rPr>
              <a:t>TASK   </a:t>
            </a:r>
            <a:r>
              <a:rPr sz="1100" b="0">
                <a:solidFill>
                  <a:srgbClr val="A16207"/>
                </a:solidFill>
                <a:latin typeface="Segoe UI"/>
              </a:rPr>
              <a:t>Write down transfers OK, avg latency and transfers per second for each run - Lab 6 compares against them.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10</a:t>
            </a:r>
          </a:p>
        </p:txBody>
      </p:sp>
      <p:sp>
        <p:nvSpPr>
          <p:cNvPr id="39" name="ft3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ft3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616327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1  ·  WHAT YOU SHOULD SEE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1 - Measured Output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Captured on the lab machine - your milliseconds will differ, the pattern will not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5074920" cy="1283817"/>
          </a:xfrm>
          <a:prstGeom prst="roundRect">
            <a:avLst>
              <a:gd name="adj" fmla="val 5698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48640" y="1426464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&gt; python lab1_request_response.py</a:t>
            </a:r>
          </a:p>
        </p:txBody>
      </p:sp>
      <p:sp>
        <p:nvSpPr>
          <p:cNvPr id="14" name="a1wd60_code13"/>
          <p:cNvSpPr txBox="1"/>
          <p:nvPr/>
        </p:nvSpPr>
        <p:spPr>
          <a:xfrm>
            <a:off x="548640" y="1583740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TXN-001  OK       175 ms   fraud 44 | ledger 32 | sms 27 | warehouse 71</a:t>
            </a:r>
          </a:p>
        </p:txBody>
      </p:sp>
      <p:sp>
        <p:nvSpPr>
          <p:cNvPr id="15" name="a1wd120_code14"/>
          <p:cNvSpPr txBox="1"/>
          <p:nvPr/>
        </p:nvSpPr>
        <p:spPr>
          <a:xfrm>
            <a:off x="548640" y="1741017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TXN-003  OK       177 ms   fraud 45 | ledger 32 | sms 37 | warehouse 61</a:t>
            </a:r>
          </a:p>
        </p:txBody>
      </p:sp>
      <p:sp>
        <p:nvSpPr>
          <p:cNvPr id="16" name="a1wd180_code15"/>
          <p:cNvSpPr txBox="1"/>
          <p:nvPr/>
        </p:nvSpPr>
        <p:spPr>
          <a:xfrm>
            <a:off x="548640" y="1898294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17" name="a1wd240_code16"/>
          <p:cNvSpPr txBox="1"/>
          <p:nvPr/>
        </p:nvSpPr>
        <p:spPr>
          <a:xfrm>
            <a:off x="548640" y="2055571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transfers OK : 12 / 12</a:t>
            </a:r>
          </a:p>
        </p:txBody>
      </p:sp>
      <p:sp>
        <p:nvSpPr>
          <p:cNvPr id="18" name="a1wd300_code17"/>
          <p:cNvSpPr txBox="1"/>
          <p:nvPr/>
        </p:nvSpPr>
        <p:spPr>
          <a:xfrm>
            <a:off x="548640" y="2212848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avg latency  : 181 ms per transfer</a:t>
            </a:r>
          </a:p>
        </p:txBody>
      </p:sp>
      <p:sp>
        <p:nvSpPr>
          <p:cNvPr id="19" name="a1wd360_code18"/>
          <p:cNvSpPr txBox="1"/>
          <p:nvPr/>
        </p:nvSpPr>
        <p:spPr>
          <a:xfrm>
            <a:off x="548640" y="2370124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wall clock   : 0.55 s  -&gt;  21.8 transfers per second</a:t>
            </a:r>
          </a:p>
        </p:txBody>
      </p:sp>
      <p:sp>
        <p:nvSpPr>
          <p:cNvPr id="20" name="a2f_codebg19"/>
          <p:cNvSpPr/>
          <p:nvPr/>
        </p:nvSpPr>
        <p:spPr>
          <a:xfrm>
            <a:off x="457200" y="2710281"/>
            <a:ext cx="5074920" cy="1441094"/>
          </a:xfrm>
          <a:prstGeom prst="roundRect">
            <a:avLst>
              <a:gd name="adj" fmla="val 5076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_code20"/>
          <p:cNvSpPr txBox="1"/>
          <p:nvPr/>
        </p:nvSpPr>
        <p:spPr>
          <a:xfrm>
            <a:off x="548640" y="2801721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&gt; python lab1_request_response.py --sms-down</a:t>
            </a:r>
          </a:p>
        </p:txBody>
      </p:sp>
      <p:sp>
        <p:nvSpPr>
          <p:cNvPr id="22" name="a2wd60_code21"/>
          <p:cNvSpPr txBox="1"/>
          <p:nvPr/>
        </p:nvSpPr>
        <p:spPr>
          <a:xfrm>
            <a:off x="548640" y="2958998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FDA4AF"/>
                </a:solidFill>
                <a:latin typeface="Consolas"/>
              </a:rPr>
              <a:t>TXN-001  FAILED  2081 ms   fraud 42 | ledger 35 | sms TIMEOUT</a:t>
            </a:r>
          </a:p>
        </p:txBody>
      </p:sp>
      <p:sp>
        <p:nvSpPr>
          <p:cNvPr id="23" name="a2wd120_code22"/>
          <p:cNvSpPr txBox="1"/>
          <p:nvPr/>
        </p:nvSpPr>
        <p:spPr>
          <a:xfrm>
            <a:off x="548640" y="3116275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FDA4AF"/>
                </a:solidFill>
                <a:latin typeface="Consolas"/>
              </a:rPr>
              <a:t>TXN-003  FAILED  2080 ms   fraud 45 | ledger 33 | sms TIMEOUT</a:t>
            </a:r>
          </a:p>
        </p:txBody>
      </p:sp>
      <p:sp>
        <p:nvSpPr>
          <p:cNvPr id="24" name="a2wd180_code23"/>
          <p:cNvSpPr txBox="1"/>
          <p:nvPr/>
        </p:nvSpPr>
        <p:spPr>
          <a:xfrm>
            <a:off x="548640" y="3273552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FDA4AF"/>
                </a:solidFill>
                <a:latin typeface="Consolas"/>
              </a:rPr>
              <a:t>TXN-004  FAILED  2092 ms   fraud 45 | ledger 35 | sms TIMEOUT</a:t>
            </a:r>
          </a:p>
        </p:txBody>
      </p:sp>
      <p:sp>
        <p:nvSpPr>
          <p:cNvPr id="25" name="a2wd240_code24"/>
          <p:cNvSpPr txBox="1"/>
          <p:nvPr/>
        </p:nvSpPr>
        <p:spPr>
          <a:xfrm>
            <a:off x="548640" y="3430828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26" name="a2wd300_code25"/>
          <p:cNvSpPr txBox="1"/>
          <p:nvPr/>
        </p:nvSpPr>
        <p:spPr>
          <a:xfrm>
            <a:off x="548640" y="3588105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FDA4AF"/>
                </a:solidFill>
                <a:latin typeface="Consolas"/>
              </a:rPr>
              <a:t>transfers OK : 0 / 12</a:t>
            </a:r>
          </a:p>
        </p:txBody>
      </p:sp>
      <p:sp>
        <p:nvSpPr>
          <p:cNvPr id="27" name="a2wd360_code26"/>
          <p:cNvSpPr txBox="1"/>
          <p:nvPr/>
        </p:nvSpPr>
        <p:spPr>
          <a:xfrm>
            <a:off x="548640" y="3745382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avg latency  : 2085 ms per transfer</a:t>
            </a:r>
          </a:p>
        </p:txBody>
      </p:sp>
      <p:sp>
        <p:nvSpPr>
          <p:cNvPr id="28" name="a2wd420_code27"/>
          <p:cNvSpPr txBox="1"/>
          <p:nvPr/>
        </p:nvSpPr>
        <p:spPr>
          <a:xfrm>
            <a:off x="548640" y="3902659"/>
            <a:ext cx="489204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wall clock   : 6.27 s  -&gt;  1.9 transfers per second</a:t>
            </a:r>
          </a:p>
        </p:txBody>
      </p:sp>
      <p:sp>
        <p:nvSpPr>
          <p:cNvPr id="29" name="a3f_th28"/>
          <p:cNvSpPr/>
          <p:nvPr/>
        </p:nvSpPr>
        <p:spPr>
          <a:xfrm>
            <a:off x="5715000" y="1335024"/>
            <a:ext cx="1234440" cy="32918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tht29"/>
          <p:cNvSpPr txBox="1"/>
          <p:nvPr/>
        </p:nvSpPr>
        <p:spPr>
          <a:xfrm>
            <a:off x="5788152" y="1335024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Segoe UI"/>
              </a:rPr>
              <a:t>Run</a:t>
            </a:r>
          </a:p>
        </p:txBody>
      </p:sp>
      <p:sp>
        <p:nvSpPr>
          <p:cNvPr id="31" name="a3wd120_td30"/>
          <p:cNvSpPr/>
          <p:nvPr/>
        </p:nvSpPr>
        <p:spPr>
          <a:xfrm>
            <a:off x="5715000" y="1664207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wd120_tdt31"/>
          <p:cNvSpPr txBox="1"/>
          <p:nvPr/>
        </p:nvSpPr>
        <p:spPr>
          <a:xfrm>
            <a:off x="5788152" y="1664207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Healthy · in turn</a:t>
            </a:r>
          </a:p>
        </p:txBody>
      </p:sp>
      <p:sp>
        <p:nvSpPr>
          <p:cNvPr id="33" name="a3wd240_td32"/>
          <p:cNvSpPr/>
          <p:nvPr/>
        </p:nvSpPr>
        <p:spPr>
          <a:xfrm>
            <a:off x="5715000" y="1993391"/>
            <a:ext cx="1234440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wd240_tdt33"/>
          <p:cNvSpPr txBox="1"/>
          <p:nvPr/>
        </p:nvSpPr>
        <p:spPr>
          <a:xfrm>
            <a:off x="5788152" y="1993391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SMS down · in turn</a:t>
            </a:r>
          </a:p>
        </p:txBody>
      </p:sp>
      <p:sp>
        <p:nvSpPr>
          <p:cNvPr id="35" name="a3wd360_td34"/>
          <p:cNvSpPr/>
          <p:nvPr/>
        </p:nvSpPr>
        <p:spPr>
          <a:xfrm>
            <a:off x="5715000" y="2322576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wd360_tdt35"/>
          <p:cNvSpPr txBox="1"/>
          <p:nvPr/>
        </p:nvSpPr>
        <p:spPr>
          <a:xfrm>
            <a:off x="5788152" y="2322576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Healthy · parallel</a:t>
            </a:r>
          </a:p>
        </p:txBody>
      </p:sp>
      <p:sp>
        <p:nvSpPr>
          <p:cNvPr id="37" name="a3wd480_td36"/>
          <p:cNvSpPr/>
          <p:nvPr/>
        </p:nvSpPr>
        <p:spPr>
          <a:xfrm>
            <a:off x="5715000" y="2651760"/>
            <a:ext cx="1234440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wd480_tdt37"/>
          <p:cNvSpPr txBox="1"/>
          <p:nvPr/>
        </p:nvSpPr>
        <p:spPr>
          <a:xfrm>
            <a:off x="5788152" y="2651760"/>
            <a:ext cx="1124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SMS down · parallel</a:t>
            </a:r>
          </a:p>
        </p:txBody>
      </p:sp>
      <p:sp>
        <p:nvSpPr>
          <p:cNvPr id="39" name="a3f_th38"/>
          <p:cNvSpPr/>
          <p:nvPr/>
        </p:nvSpPr>
        <p:spPr>
          <a:xfrm>
            <a:off x="6949440" y="1335024"/>
            <a:ext cx="502920" cy="32918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f_tht39"/>
          <p:cNvSpPr txBox="1"/>
          <p:nvPr/>
        </p:nvSpPr>
        <p:spPr>
          <a:xfrm>
            <a:off x="7022592" y="1335024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Segoe UI"/>
              </a:rPr>
              <a:t>OK</a:t>
            </a:r>
          </a:p>
        </p:txBody>
      </p:sp>
      <p:sp>
        <p:nvSpPr>
          <p:cNvPr id="41" name="a3wd120_td40"/>
          <p:cNvSpPr/>
          <p:nvPr/>
        </p:nvSpPr>
        <p:spPr>
          <a:xfrm>
            <a:off x="6949440" y="1664207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3wd120_tdt41"/>
          <p:cNvSpPr txBox="1"/>
          <p:nvPr/>
        </p:nvSpPr>
        <p:spPr>
          <a:xfrm>
            <a:off x="7022592" y="1664207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12/12</a:t>
            </a:r>
          </a:p>
        </p:txBody>
      </p:sp>
      <p:sp>
        <p:nvSpPr>
          <p:cNvPr id="43" name="a3wd240_td42"/>
          <p:cNvSpPr/>
          <p:nvPr/>
        </p:nvSpPr>
        <p:spPr>
          <a:xfrm>
            <a:off x="6949440" y="1993391"/>
            <a:ext cx="502920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3wd240_tdt43"/>
          <p:cNvSpPr txBox="1"/>
          <p:nvPr/>
        </p:nvSpPr>
        <p:spPr>
          <a:xfrm>
            <a:off x="7022592" y="1993391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0/12</a:t>
            </a:r>
          </a:p>
        </p:txBody>
      </p:sp>
      <p:sp>
        <p:nvSpPr>
          <p:cNvPr id="45" name="a3wd360_td44"/>
          <p:cNvSpPr/>
          <p:nvPr/>
        </p:nvSpPr>
        <p:spPr>
          <a:xfrm>
            <a:off x="6949440" y="2322576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3wd360_tdt45"/>
          <p:cNvSpPr txBox="1"/>
          <p:nvPr/>
        </p:nvSpPr>
        <p:spPr>
          <a:xfrm>
            <a:off x="7022592" y="2322576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12/12</a:t>
            </a:r>
          </a:p>
        </p:txBody>
      </p:sp>
      <p:sp>
        <p:nvSpPr>
          <p:cNvPr id="47" name="a3wd480_td46"/>
          <p:cNvSpPr/>
          <p:nvPr/>
        </p:nvSpPr>
        <p:spPr>
          <a:xfrm>
            <a:off x="6949440" y="2651760"/>
            <a:ext cx="502920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3wd480_tdt47"/>
          <p:cNvSpPr txBox="1"/>
          <p:nvPr/>
        </p:nvSpPr>
        <p:spPr>
          <a:xfrm>
            <a:off x="7022592" y="2651760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0/12</a:t>
            </a:r>
          </a:p>
        </p:txBody>
      </p:sp>
      <p:sp>
        <p:nvSpPr>
          <p:cNvPr id="49" name="a3f_th48"/>
          <p:cNvSpPr/>
          <p:nvPr/>
        </p:nvSpPr>
        <p:spPr>
          <a:xfrm>
            <a:off x="7452360" y="1335024"/>
            <a:ext cx="658368" cy="32918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3f_tht49"/>
          <p:cNvSpPr txBox="1"/>
          <p:nvPr/>
        </p:nvSpPr>
        <p:spPr>
          <a:xfrm>
            <a:off x="7525512" y="1335024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Segoe UI"/>
              </a:rPr>
              <a:t>Avg</a:t>
            </a:r>
          </a:p>
        </p:txBody>
      </p:sp>
      <p:sp>
        <p:nvSpPr>
          <p:cNvPr id="51" name="a3wd120_td50"/>
          <p:cNvSpPr/>
          <p:nvPr/>
        </p:nvSpPr>
        <p:spPr>
          <a:xfrm>
            <a:off x="7452360" y="1664207"/>
            <a:ext cx="6583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3wd120_tdt51"/>
          <p:cNvSpPr txBox="1"/>
          <p:nvPr/>
        </p:nvSpPr>
        <p:spPr>
          <a:xfrm>
            <a:off x="7525512" y="1664207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181 ms</a:t>
            </a:r>
          </a:p>
        </p:txBody>
      </p:sp>
      <p:sp>
        <p:nvSpPr>
          <p:cNvPr id="53" name="a3wd240_td52"/>
          <p:cNvSpPr/>
          <p:nvPr/>
        </p:nvSpPr>
        <p:spPr>
          <a:xfrm>
            <a:off x="7452360" y="1993391"/>
            <a:ext cx="658368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3wd240_tdt53"/>
          <p:cNvSpPr txBox="1"/>
          <p:nvPr/>
        </p:nvSpPr>
        <p:spPr>
          <a:xfrm>
            <a:off x="7525512" y="1993391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2,085 ms</a:t>
            </a:r>
          </a:p>
        </p:txBody>
      </p:sp>
      <p:sp>
        <p:nvSpPr>
          <p:cNvPr id="55" name="a3wd360_td54"/>
          <p:cNvSpPr/>
          <p:nvPr/>
        </p:nvSpPr>
        <p:spPr>
          <a:xfrm>
            <a:off x="7452360" y="2322576"/>
            <a:ext cx="6583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3wd360_tdt55"/>
          <p:cNvSpPr txBox="1"/>
          <p:nvPr/>
        </p:nvSpPr>
        <p:spPr>
          <a:xfrm>
            <a:off x="7525512" y="2322576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72 ms</a:t>
            </a:r>
          </a:p>
        </p:txBody>
      </p:sp>
      <p:sp>
        <p:nvSpPr>
          <p:cNvPr id="57" name="a3wd480_td56"/>
          <p:cNvSpPr/>
          <p:nvPr/>
        </p:nvSpPr>
        <p:spPr>
          <a:xfrm>
            <a:off x="7452360" y="2651760"/>
            <a:ext cx="658368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3wd480_tdt57"/>
          <p:cNvSpPr txBox="1"/>
          <p:nvPr/>
        </p:nvSpPr>
        <p:spPr>
          <a:xfrm>
            <a:off x="7525512" y="2651760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2,014 ms</a:t>
            </a:r>
          </a:p>
        </p:txBody>
      </p:sp>
      <p:sp>
        <p:nvSpPr>
          <p:cNvPr id="59" name="a3f_th58"/>
          <p:cNvSpPr/>
          <p:nvPr/>
        </p:nvSpPr>
        <p:spPr>
          <a:xfrm>
            <a:off x="8110728" y="1335024"/>
            <a:ext cx="576072" cy="32918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3f_tht59"/>
          <p:cNvSpPr txBox="1"/>
          <p:nvPr/>
        </p:nvSpPr>
        <p:spPr>
          <a:xfrm>
            <a:off x="8183880" y="1335024"/>
            <a:ext cx="4663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Segoe UI"/>
              </a:rPr>
              <a:t>Per s</a:t>
            </a:r>
          </a:p>
        </p:txBody>
      </p:sp>
      <p:sp>
        <p:nvSpPr>
          <p:cNvPr id="61" name="a3wd120_td60"/>
          <p:cNvSpPr/>
          <p:nvPr/>
        </p:nvSpPr>
        <p:spPr>
          <a:xfrm>
            <a:off x="8110728" y="1664207"/>
            <a:ext cx="5760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3wd120_tdt61"/>
          <p:cNvSpPr txBox="1"/>
          <p:nvPr/>
        </p:nvSpPr>
        <p:spPr>
          <a:xfrm>
            <a:off x="8183880" y="1664207"/>
            <a:ext cx="4663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21.8</a:t>
            </a:r>
          </a:p>
        </p:txBody>
      </p:sp>
      <p:sp>
        <p:nvSpPr>
          <p:cNvPr id="63" name="a3wd240_td62"/>
          <p:cNvSpPr/>
          <p:nvPr/>
        </p:nvSpPr>
        <p:spPr>
          <a:xfrm>
            <a:off x="8110728" y="1993391"/>
            <a:ext cx="576072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3wd240_tdt63"/>
          <p:cNvSpPr txBox="1"/>
          <p:nvPr/>
        </p:nvSpPr>
        <p:spPr>
          <a:xfrm>
            <a:off x="8183880" y="1993391"/>
            <a:ext cx="4663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1.9</a:t>
            </a:r>
          </a:p>
        </p:txBody>
      </p:sp>
      <p:sp>
        <p:nvSpPr>
          <p:cNvPr id="65" name="a3wd360_td64"/>
          <p:cNvSpPr/>
          <p:nvPr/>
        </p:nvSpPr>
        <p:spPr>
          <a:xfrm>
            <a:off x="8110728" y="2322576"/>
            <a:ext cx="5760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3wd360_tdt65"/>
          <p:cNvSpPr txBox="1"/>
          <p:nvPr/>
        </p:nvSpPr>
        <p:spPr>
          <a:xfrm>
            <a:off x="8183880" y="2322576"/>
            <a:ext cx="4663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53.9</a:t>
            </a:r>
          </a:p>
        </p:txBody>
      </p:sp>
      <p:sp>
        <p:nvSpPr>
          <p:cNvPr id="67" name="a3wd480_td66"/>
          <p:cNvSpPr/>
          <p:nvPr/>
        </p:nvSpPr>
        <p:spPr>
          <a:xfrm>
            <a:off x="8110728" y="2651760"/>
            <a:ext cx="576072" cy="329184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3wd480_tdt67"/>
          <p:cNvSpPr txBox="1"/>
          <p:nvPr/>
        </p:nvSpPr>
        <p:spPr>
          <a:xfrm>
            <a:off x="8183880" y="2651760"/>
            <a:ext cx="4663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2.0</a:t>
            </a:r>
          </a:p>
        </p:txBody>
      </p:sp>
      <p:sp>
        <p:nvSpPr>
          <p:cNvPr id="69" name="a4u_nb68"/>
          <p:cNvSpPr/>
          <p:nvPr/>
        </p:nvSpPr>
        <p:spPr>
          <a:xfrm>
            <a:off x="5715000" y="3108960"/>
            <a:ext cx="2971800" cy="1097280"/>
          </a:xfrm>
          <a:prstGeom prst="roundRect">
            <a:avLst>
              <a:gd name="adj" fmla="val 6666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4u_nacc69"/>
          <p:cNvSpPr/>
          <p:nvPr/>
        </p:nvSpPr>
        <p:spPr>
          <a:xfrm>
            <a:off x="5715000" y="3108960"/>
            <a:ext cx="54864" cy="109728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4u_nt70"/>
          <p:cNvSpPr txBox="1"/>
          <p:nvPr/>
        </p:nvSpPr>
        <p:spPr>
          <a:xfrm>
            <a:off x="5916168" y="3108960"/>
            <a:ext cx="256946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16207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Parallel calls cut latency from 181 to 72 ms - the slowest call instead of the sum. With SMS down they still failed 12 of 12.</a:t>
            </a:r>
          </a:p>
        </p:txBody>
      </p:sp>
      <p:sp>
        <p:nvSpPr>
          <p:cNvPr id="72" name="ft71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11</a:t>
            </a:r>
          </a:p>
        </p:txBody>
      </p:sp>
      <p:sp>
        <p:nvSpPr>
          <p:cNvPr id="73" name="ft72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ft73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5" name="ft7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748790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1  ·  SOLUTION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1 - Answers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Click once for each question, and again for its answer</a:t>
            </a:r>
          </a:p>
        </p:txBody>
      </p:sp>
      <p:sp>
        <p:nvSpPr>
          <p:cNvPr id="12" name="a1u_card11"/>
          <p:cNvSpPr/>
          <p:nvPr/>
        </p:nvSpPr>
        <p:spPr>
          <a:xfrm>
            <a:off x="45720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acc12"/>
          <p:cNvSpPr/>
          <p:nvPr/>
        </p:nvSpPr>
        <p:spPr>
          <a:xfrm>
            <a:off x="457200" y="1371600"/>
            <a:ext cx="50292" cy="15361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_q13"/>
          <p:cNvSpPr txBox="1"/>
          <p:nvPr/>
        </p:nvSpPr>
        <p:spPr>
          <a:xfrm>
            <a:off x="658368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Fraud and ledger both answered. Why did all 12 transfers fail?</a:t>
            </a:r>
          </a:p>
        </p:txBody>
      </p:sp>
      <p:sp>
        <p:nvSpPr>
          <p:cNvPr id="15" name="a2f_a14"/>
          <p:cNvSpPr txBox="1"/>
          <p:nvPr/>
        </p:nvSpPr>
        <p:spPr>
          <a:xfrm>
            <a:off x="658368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SMS call sits inside the transfer. When it times out, the whole request fails - the least important system decides the outcome.</a:t>
            </a:r>
          </a:p>
        </p:txBody>
      </p:sp>
      <p:sp>
        <p:nvSpPr>
          <p:cNvPr id="16" name="a3u_card15"/>
          <p:cNvSpPr/>
          <p:nvPr/>
        </p:nvSpPr>
        <p:spPr>
          <a:xfrm>
            <a:off x="466344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663440" y="1371600"/>
            <a:ext cx="50292" cy="15361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_q17"/>
          <p:cNvSpPr txBox="1"/>
          <p:nvPr/>
        </p:nvSpPr>
        <p:spPr>
          <a:xfrm>
            <a:off x="4864607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Did --parallel fix the outage?</a:t>
            </a:r>
          </a:p>
        </p:txBody>
      </p:sp>
      <p:sp>
        <p:nvSpPr>
          <p:cNvPr id="19" name="a4f_a18"/>
          <p:cNvSpPr txBox="1"/>
          <p:nvPr/>
        </p:nvSpPr>
        <p:spPr>
          <a:xfrm>
            <a:off x="4864607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No. Latency fell from 181 to 72 ms (the MAX of four calls, not the SUM), but with SMS down it still failed 12 of 12. Parallelism fixes speed, not dependency.</a:t>
            </a:r>
          </a:p>
        </p:txBody>
      </p:sp>
      <p:sp>
        <p:nvSpPr>
          <p:cNvPr id="20" name="a5u_card19"/>
          <p:cNvSpPr/>
          <p:nvPr/>
        </p:nvSpPr>
        <p:spPr>
          <a:xfrm>
            <a:off x="45720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acc20"/>
          <p:cNvSpPr/>
          <p:nvPr/>
        </p:nvSpPr>
        <p:spPr>
          <a:xfrm>
            <a:off x="457200" y="3035808"/>
            <a:ext cx="50292" cy="1536192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5u_q21"/>
          <p:cNvSpPr txBox="1"/>
          <p:nvPr/>
        </p:nvSpPr>
        <p:spPr>
          <a:xfrm>
            <a:off x="658368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Ledger posted, then SMS timed out. What does the customer see?</a:t>
            </a:r>
          </a:p>
        </p:txBody>
      </p:sp>
      <p:sp>
        <p:nvSpPr>
          <p:cNvPr id="23" name="a6f_a22"/>
          <p:cNvSpPr txBox="1"/>
          <p:nvPr/>
        </p:nvSpPr>
        <p:spPr>
          <a:xfrm>
            <a:off x="658368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'Transfer failed' - for money that actually moved. They retry, and now there are two transfers. Synchronous chains create partial failures.</a:t>
            </a:r>
          </a:p>
        </p:txBody>
      </p:sp>
      <p:sp>
        <p:nvSpPr>
          <p:cNvPr id="24" name="a7u_card23"/>
          <p:cNvSpPr/>
          <p:nvPr/>
        </p:nvSpPr>
        <p:spPr>
          <a:xfrm>
            <a:off x="466344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7u_acc24"/>
          <p:cNvSpPr/>
          <p:nvPr/>
        </p:nvSpPr>
        <p:spPr>
          <a:xfrm>
            <a:off x="4663440" y="3035808"/>
            <a:ext cx="50292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7u_q25"/>
          <p:cNvSpPr txBox="1"/>
          <p:nvPr/>
        </p:nvSpPr>
        <p:spPr>
          <a:xfrm>
            <a:off x="4864607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Four systems at 99.9% each. How available is the chain?</a:t>
            </a:r>
          </a:p>
        </p:txBody>
      </p:sp>
      <p:sp>
        <p:nvSpPr>
          <p:cNvPr id="27" name="a8f_a26"/>
          <p:cNvSpPr txBox="1"/>
          <p:nvPr/>
        </p:nvSpPr>
        <p:spPr>
          <a:xfrm>
            <a:off x="4864607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F46E5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0.999 ^ 4 = 99.60%: about 35 hours a year when a transfer cannot complete, against 8.8 hours for a single system.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12</a:t>
            </a:r>
          </a:p>
        </p:txBody>
      </p:sp>
      <p:sp>
        <p:nvSpPr>
          <p:cNvPr id="29" name="ft2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t2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a0f_pl2"/>
          <p:cNvSpPr txBox="1"/>
          <p:nvPr/>
        </p:nvSpPr>
        <p:spPr>
          <a:xfrm>
            <a:off x="502920" y="1005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500">
                <a:solidFill>
                  <a:srgbClr val="18181B"/>
                </a:solidFill>
                <a:latin typeface="Segoe UI"/>
              </a:rPr>
              <a:t>PART</a:t>
            </a:r>
          </a:p>
        </p:txBody>
      </p:sp>
      <p:sp>
        <p:nvSpPr>
          <p:cNvPr id="4" name="a0ud100_n3"/>
          <p:cNvSpPr txBox="1"/>
          <p:nvPr/>
        </p:nvSpPr>
        <p:spPr>
          <a:xfrm>
            <a:off x="411480" y="1280160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50" b="0">
                <a:solidFill>
                  <a:srgbClr val="FFFFFF"/>
                </a:solidFill>
                <a:latin typeface="Bahnschrift SemiBold"/>
              </a:rPr>
              <a:t>02</a:t>
            </a:r>
          </a:p>
        </p:txBody>
      </p:sp>
      <p:sp>
        <p:nvSpPr>
          <p:cNvPr id="5" name="a0wd300_pb4"/>
          <p:cNvSpPr/>
          <p:nvPr/>
        </p:nvSpPr>
        <p:spPr>
          <a:xfrm>
            <a:off x="502920" y="3090672"/>
            <a:ext cx="640080" cy="4572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0fd400_pc5"/>
          <p:cNvSpPr/>
          <p:nvPr/>
        </p:nvSpPr>
        <p:spPr>
          <a:xfrm>
            <a:off x="502920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0fd400_pct6"/>
          <p:cNvSpPr txBox="1"/>
          <p:nvPr/>
        </p:nvSpPr>
        <p:spPr>
          <a:xfrm>
            <a:off x="502920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01</a:t>
            </a:r>
          </a:p>
        </p:txBody>
      </p:sp>
      <p:sp>
        <p:nvSpPr>
          <p:cNvPr id="8" name="a0fd480_pc7"/>
          <p:cNvSpPr/>
          <p:nvPr/>
        </p:nvSpPr>
        <p:spPr>
          <a:xfrm>
            <a:off x="877824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0fd480_pct8"/>
          <p:cNvSpPr txBox="1"/>
          <p:nvPr/>
        </p:nvSpPr>
        <p:spPr>
          <a:xfrm>
            <a:off x="877824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02</a:t>
            </a:r>
          </a:p>
        </p:txBody>
      </p:sp>
      <p:sp>
        <p:nvSpPr>
          <p:cNvPr id="10" name="a0ud250_h9"/>
          <p:cNvSpPr txBox="1"/>
          <p:nvPr/>
        </p:nvSpPr>
        <p:spPr>
          <a:xfrm>
            <a:off x="3429000" y="868680"/>
            <a:ext cx="5257800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50" b="0">
                <a:solidFill>
                  <a:srgbClr val="FFFFFF"/>
                </a:solidFill>
                <a:latin typeface="Bahnschrift SemiBold"/>
              </a:rPr>
              <a:t>Messaging Systems</a:t>
            </a:r>
          </a:p>
        </p:txBody>
      </p:sp>
      <p:sp>
        <p:nvSpPr>
          <p:cNvPr id="11" name="a0wd450_hb10"/>
          <p:cNvSpPr/>
          <p:nvPr/>
        </p:nvSpPr>
        <p:spPr>
          <a:xfrm>
            <a:off x="3429000" y="2212848"/>
            <a:ext cx="54864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0fd500_t11"/>
          <p:cNvSpPr txBox="1"/>
          <p:nvPr/>
        </p:nvSpPr>
        <p:spPr>
          <a:xfrm>
            <a:off x="3429000" y="239572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6D3D1"/>
                </a:solidFill>
                <a:latin typeface="Segoe UI"/>
              </a:rPr>
              <a:t>Put something in the middle - and stop waiting for each other</a:t>
            </a:r>
          </a:p>
        </p:txBody>
      </p:sp>
      <p:sp>
        <p:nvSpPr>
          <p:cNvPr id="13" name="a0ud700_dd12"/>
          <p:cNvSpPr/>
          <p:nvPr/>
        </p:nvSpPr>
        <p:spPr>
          <a:xfrm>
            <a:off x="3429000" y="3236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ud700_di13"/>
          <p:cNvSpPr txBox="1"/>
          <p:nvPr/>
        </p:nvSpPr>
        <p:spPr>
          <a:xfrm>
            <a:off x="3666744" y="315468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Broker</a:t>
            </a:r>
          </a:p>
        </p:txBody>
      </p:sp>
      <p:sp>
        <p:nvSpPr>
          <p:cNvPr id="15" name="a0ud820_dd14"/>
          <p:cNvSpPr/>
          <p:nvPr/>
        </p:nvSpPr>
        <p:spPr>
          <a:xfrm>
            <a:off x="3429000" y="36027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0ud820_di15"/>
          <p:cNvSpPr txBox="1"/>
          <p:nvPr/>
        </p:nvSpPr>
        <p:spPr>
          <a:xfrm>
            <a:off x="3666744" y="352044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Queue</a:t>
            </a:r>
          </a:p>
        </p:txBody>
      </p:sp>
      <p:sp>
        <p:nvSpPr>
          <p:cNvPr id="17" name="a0ud940_dd16"/>
          <p:cNvSpPr/>
          <p:nvPr/>
        </p:nvSpPr>
        <p:spPr>
          <a:xfrm>
            <a:off x="3429000" y="396849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0ud940_di17"/>
          <p:cNvSpPr txBox="1"/>
          <p:nvPr/>
        </p:nvSpPr>
        <p:spPr>
          <a:xfrm>
            <a:off x="3666744" y="388620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Topic</a:t>
            </a:r>
          </a:p>
        </p:txBody>
      </p:sp>
      <p:sp>
        <p:nvSpPr>
          <p:cNvPr id="19" name="a0ud1060_dd18"/>
          <p:cNvSpPr/>
          <p:nvPr/>
        </p:nvSpPr>
        <p:spPr>
          <a:xfrm>
            <a:off x="3429000" y="433425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ud1060_di19"/>
          <p:cNvSpPr txBox="1"/>
          <p:nvPr/>
        </p:nvSpPr>
        <p:spPr>
          <a:xfrm>
            <a:off x="3666744" y="425196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Log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What a Messaging System Is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A broker between sender and receiver that stores each message until it is read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40817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Producer</a:t>
            </a:r>
          </a:p>
        </p:txBody>
      </p:sp>
      <p:sp>
        <p:nvSpPr>
          <p:cNvPr id="13" name="a1u_nds12"/>
          <p:cNvSpPr txBox="1"/>
          <p:nvPr/>
        </p:nvSpPr>
        <p:spPr>
          <a:xfrm>
            <a:off x="502920" y="1764792"/>
            <a:ext cx="1737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transfer service</a:t>
            </a:r>
          </a:p>
        </p:txBody>
      </p:sp>
      <p:sp>
        <p:nvSpPr>
          <p:cNvPr id="14" name="a1ud150_nd13"/>
          <p:cNvSpPr/>
          <p:nvPr/>
        </p:nvSpPr>
        <p:spPr>
          <a:xfrm>
            <a:off x="3520440" y="12801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150_ndt14"/>
          <p:cNvSpPr txBox="1"/>
          <p:nvPr/>
        </p:nvSpPr>
        <p:spPr>
          <a:xfrm>
            <a:off x="3566160" y="1316736"/>
            <a:ext cx="2011679" cy="43891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200" b="1">
                <a:solidFill>
                  <a:srgbClr val="1C1917"/>
                </a:solidFill>
                <a:latin typeface="Segoe UI"/>
              </a:rPr>
              <a:t>Broker</a:t>
            </a:r>
          </a:p>
        </p:txBody>
      </p:sp>
      <p:sp>
        <p:nvSpPr>
          <p:cNvPr id="16" name="a1ud150_nds15"/>
          <p:cNvSpPr txBox="1"/>
          <p:nvPr/>
        </p:nvSpPr>
        <p:spPr>
          <a:xfrm>
            <a:off x="3566160" y="1764792"/>
            <a:ext cx="2011679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0E7490"/>
                </a:solidFill>
                <a:latin typeface="Segoe UI"/>
              </a:rPr>
              <a:t>stores until read</a:t>
            </a:r>
          </a:p>
        </p:txBody>
      </p:sp>
      <p:sp>
        <p:nvSpPr>
          <p:cNvPr id="17" name="a1ud300_nd16"/>
          <p:cNvSpPr/>
          <p:nvPr/>
        </p:nvSpPr>
        <p:spPr>
          <a:xfrm>
            <a:off x="685800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ud300_ndt17"/>
          <p:cNvSpPr txBox="1"/>
          <p:nvPr/>
        </p:nvSpPr>
        <p:spPr>
          <a:xfrm>
            <a:off x="6903720" y="140817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Consumer</a:t>
            </a:r>
          </a:p>
        </p:txBody>
      </p:sp>
      <p:sp>
        <p:nvSpPr>
          <p:cNvPr id="19" name="a1ud300_nds18"/>
          <p:cNvSpPr txBox="1"/>
          <p:nvPr/>
        </p:nvSpPr>
        <p:spPr>
          <a:xfrm>
            <a:off x="6903720" y="1764792"/>
            <a:ext cx="1737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A16207"/>
                </a:solidFill>
                <a:latin typeface="Segoe UI"/>
              </a:rPr>
              <a:t>SMS notifier</a:t>
            </a:r>
          </a:p>
        </p:txBody>
      </p:sp>
      <p:cxnSp>
        <p:nvCxnSpPr>
          <p:cNvPr id="20" name="a2f_ar19"/>
          <p:cNvCxnSpPr/>
          <p:nvPr/>
        </p:nvCxnSpPr>
        <p:spPr>
          <a:xfrm>
            <a:off x="2331720" y="1737360"/>
            <a:ext cx="1143000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2f_lb20"/>
          <p:cNvSpPr txBox="1"/>
          <p:nvPr/>
        </p:nvSpPr>
        <p:spPr>
          <a:xfrm>
            <a:off x="2286000" y="14630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send, move on</a:t>
            </a:r>
          </a:p>
        </p:txBody>
      </p:sp>
      <p:cxnSp>
        <p:nvCxnSpPr>
          <p:cNvPr id="22" name="a2fd300_ar21"/>
          <p:cNvCxnSpPr/>
          <p:nvPr/>
        </p:nvCxnSpPr>
        <p:spPr>
          <a:xfrm>
            <a:off x="5669280" y="1737360"/>
            <a:ext cx="1143000" cy="0"/>
          </a:xfrm>
          <a:prstGeom prst="line">
            <a:avLst/>
          </a:prstGeom>
          <a:ln w="1905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2fd300_lb22"/>
          <p:cNvSpPr txBox="1"/>
          <p:nvPr/>
        </p:nvSpPr>
        <p:spPr>
          <a:xfrm>
            <a:off x="5623560" y="14630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A16207"/>
                </a:solidFill>
                <a:latin typeface="Segoe UI"/>
              </a:rPr>
              <a:t>read when ready</a:t>
            </a:r>
          </a:p>
        </p:txBody>
      </p:sp>
      <p:sp>
        <p:nvSpPr>
          <p:cNvPr id="24" name="a3u_card23"/>
          <p:cNvSpPr/>
          <p:nvPr/>
        </p:nvSpPr>
        <p:spPr>
          <a:xfrm>
            <a:off x="457200" y="2423160"/>
            <a:ext cx="2609088" cy="1783080"/>
          </a:xfrm>
          <a:prstGeom prst="roundRect">
            <a:avLst>
              <a:gd name="adj" fmla="val 615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acc24"/>
          <p:cNvSpPr/>
          <p:nvPr/>
        </p:nvSpPr>
        <p:spPr>
          <a:xfrm>
            <a:off x="457200" y="2423160"/>
            <a:ext cx="2609088" cy="640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90_ct25"/>
          <p:cNvSpPr txBox="1"/>
          <p:nvPr/>
        </p:nvSpPr>
        <p:spPr>
          <a:xfrm>
            <a:off x="621792" y="262432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Decoupled in space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621792" y="289864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onsolas"/>
              </a:rPr>
              <a:t>NO ADDRESSES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621792" y="315468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producer names a topic, not a consumer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621792" y="353872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Add, move or replace consumers freely</a:t>
            </a:r>
          </a:p>
        </p:txBody>
      </p:sp>
      <p:sp>
        <p:nvSpPr>
          <p:cNvPr id="30" name="a4u_card29"/>
          <p:cNvSpPr/>
          <p:nvPr/>
        </p:nvSpPr>
        <p:spPr>
          <a:xfrm>
            <a:off x="3267456" y="2423160"/>
            <a:ext cx="2609088" cy="1783080"/>
          </a:xfrm>
          <a:prstGeom prst="roundRect">
            <a:avLst>
              <a:gd name="adj" fmla="val 615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_acc30"/>
          <p:cNvSpPr/>
          <p:nvPr/>
        </p:nvSpPr>
        <p:spPr>
          <a:xfrm>
            <a:off x="3267456" y="2423160"/>
            <a:ext cx="2609088" cy="640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ud90_ct31"/>
          <p:cNvSpPr txBox="1"/>
          <p:nvPr/>
        </p:nvSpPr>
        <p:spPr>
          <a:xfrm>
            <a:off x="3432048" y="262432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Decoupled in time</a:t>
            </a:r>
          </a:p>
        </p:txBody>
      </p:sp>
      <p:sp>
        <p:nvSpPr>
          <p:cNvPr id="33" name="a4ud120_cs32"/>
          <p:cNvSpPr txBox="1"/>
          <p:nvPr/>
        </p:nvSpPr>
        <p:spPr>
          <a:xfrm>
            <a:off x="3432048" y="289864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onsolas"/>
              </a:rPr>
              <a:t>NOT UP TOGETHER</a:t>
            </a:r>
          </a:p>
        </p:txBody>
      </p:sp>
      <p:sp>
        <p:nvSpPr>
          <p:cNvPr id="34" name="a4ud150_cb33"/>
          <p:cNvSpPr txBox="1"/>
          <p:nvPr/>
        </p:nvSpPr>
        <p:spPr>
          <a:xfrm>
            <a:off x="3432048" y="315468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A consumer can be down while messages arrive</a:t>
            </a:r>
          </a:p>
        </p:txBody>
      </p:sp>
      <p:sp>
        <p:nvSpPr>
          <p:cNvPr id="35" name="a4ud220_cb34"/>
          <p:cNvSpPr txBox="1"/>
          <p:nvPr/>
        </p:nvSpPr>
        <p:spPr>
          <a:xfrm>
            <a:off x="3432048" y="353872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It catches up when it comes back</a:t>
            </a:r>
          </a:p>
        </p:txBody>
      </p:sp>
      <p:sp>
        <p:nvSpPr>
          <p:cNvPr id="36" name="a5u_card35"/>
          <p:cNvSpPr/>
          <p:nvPr/>
        </p:nvSpPr>
        <p:spPr>
          <a:xfrm>
            <a:off x="6077712" y="2423160"/>
            <a:ext cx="2609088" cy="1783080"/>
          </a:xfrm>
          <a:prstGeom prst="roundRect">
            <a:avLst>
              <a:gd name="adj" fmla="val 615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5u_acc36"/>
          <p:cNvSpPr/>
          <p:nvPr/>
        </p:nvSpPr>
        <p:spPr>
          <a:xfrm>
            <a:off x="6077712" y="2423160"/>
            <a:ext cx="2609088" cy="6400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5ud90_ct37"/>
          <p:cNvSpPr txBox="1"/>
          <p:nvPr/>
        </p:nvSpPr>
        <p:spPr>
          <a:xfrm>
            <a:off x="6242304" y="262432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Decoupled in flow</a:t>
            </a:r>
          </a:p>
        </p:txBody>
      </p:sp>
      <p:sp>
        <p:nvSpPr>
          <p:cNvPr id="39" name="a5ud120_cs38"/>
          <p:cNvSpPr txBox="1"/>
          <p:nvPr/>
        </p:nvSpPr>
        <p:spPr>
          <a:xfrm>
            <a:off x="6242304" y="289864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Consolas"/>
              </a:rPr>
              <a:t>NO WAITING</a:t>
            </a:r>
          </a:p>
        </p:txBody>
      </p:sp>
      <p:sp>
        <p:nvSpPr>
          <p:cNvPr id="40" name="a5ud150_cb39"/>
          <p:cNvSpPr txBox="1"/>
          <p:nvPr/>
        </p:nvSpPr>
        <p:spPr>
          <a:xfrm>
            <a:off x="6242304" y="315468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producer moves on once the broker has it</a:t>
            </a:r>
          </a:p>
        </p:txBody>
      </p:sp>
      <p:sp>
        <p:nvSpPr>
          <p:cNvPr id="41" name="a5ud220_cb40"/>
          <p:cNvSpPr txBox="1"/>
          <p:nvPr/>
        </p:nvSpPr>
        <p:spPr>
          <a:xfrm>
            <a:off x="6242304" y="353872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Each consumer reads at its own pace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14</a:t>
            </a:r>
          </a:p>
        </p:txBody>
      </p:sp>
      <p:sp>
        <p:nvSpPr>
          <p:cNvPr id="43" name="ft42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ft43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Two Messaging Models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Does each message go to ONE receiver, or to EVERY receiver?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50292" cy="338328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hh12"/>
          <p:cNvSpPr txBox="1"/>
          <p:nvPr/>
        </p:nvSpPr>
        <p:spPr>
          <a:xfrm>
            <a:off x="658368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A16207"/>
                </a:solidFill>
                <a:latin typeface="Segoe UI"/>
              </a:rPr>
              <a:t>POINT-TO-POINT  ·  QUEUE</a:t>
            </a:r>
          </a:p>
        </p:txBody>
      </p:sp>
      <p:sp>
        <p:nvSpPr>
          <p:cNvPr id="14" name="a1ud100_nd13"/>
          <p:cNvSpPr/>
          <p:nvPr/>
        </p:nvSpPr>
        <p:spPr>
          <a:xfrm>
            <a:off x="640080" y="207568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100_ndt14"/>
          <p:cNvSpPr txBox="1"/>
          <p:nvPr/>
        </p:nvSpPr>
        <p:spPr>
          <a:xfrm>
            <a:off x="685800" y="2075688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Producer</a:t>
            </a:r>
          </a:p>
        </p:txBody>
      </p:sp>
      <p:cxnSp>
        <p:nvCxnSpPr>
          <p:cNvPr id="16" name="a1ud150_ar15"/>
          <p:cNvCxnSpPr/>
          <p:nvPr/>
        </p:nvCxnSpPr>
        <p:spPr>
          <a:xfrm>
            <a:off x="1527048" y="2304288"/>
            <a:ext cx="210312" cy="0"/>
          </a:xfrm>
          <a:prstGeom prst="line">
            <a:avLst/>
          </a:prstGeom>
          <a:ln w="19050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1ud200_cell16"/>
          <p:cNvSpPr/>
          <p:nvPr/>
        </p:nvSpPr>
        <p:spPr>
          <a:xfrm>
            <a:off x="1755648" y="2157984"/>
            <a:ext cx="365760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ud200_cellt17"/>
          <p:cNvSpPr txBox="1"/>
          <p:nvPr/>
        </p:nvSpPr>
        <p:spPr>
          <a:xfrm>
            <a:off x="1755648" y="215798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m3</a:t>
            </a:r>
          </a:p>
        </p:txBody>
      </p:sp>
      <p:sp>
        <p:nvSpPr>
          <p:cNvPr id="19" name="a1ud200_cell18"/>
          <p:cNvSpPr/>
          <p:nvPr/>
        </p:nvSpPr>
        <p:spPr>
          <a:xfrm>
            <a:off x="2121408" y="2157984"/>
            <a:ext cx="365760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200_cellt19"/>
          <p:cNvSpPr txBox="1"/>
          <p:nvPr/>
        </p:nvSpPr>
        <p:spPr>
          <a:xfrm>
            <a:off x="2121408" y="215798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m2</a:t>
            </a:r>
          </a:p>
        </p:txBody>
      </p:sp>
      <p:sp>
        <p:nvSpPr>
          <p:cNvPr id="21" name="a1ud200_cell20"/>
          <p:cNvSpPr/>
          <p:nvPr/>
        </p:nvSpPr>
        <p:spPr>
          <a:xfrm>
            <a:off x="2487168" y="2157984"/>
            <a:ext cx="365760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ud200_cellt21"/>
          <p:cNvSpPr txBox="1"/>
          <p:nvPr/>
        </p:nvSpPr>
        <p:spPr>
          <a:xfrm>
            <a:off x="2487168" y="215798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m1</a:t>
            </a:r>
          </a:p>
        </p:txBody>
      </p:sp>
      <p:sp>
        <p:nvSpPr>
          <p:cNvPr id="23" name="a1ud300_nd22"/>
          <p:cNvSpPr/>
          <p:nvPr/>
        </p:nvSpPr>
        <p:spPr>
          <a:xfrm>
            <a:off x="3246120" y="173736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ud300_ndt23"/>
          <p:cNvSpPr txBox="1"/>
          <p:nvPr/>
        </p:nvSpPr>
        <p:spPr>
          <a:xfrm>
            <a:off x="3291839" y="1737360"/>
            <a:ext cx="10058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Worker 1 · m1</a:t>
            </a:r>
          </a:p>
        </p:txBody>
      </p:sp>
      <p:cxnSp>
        <p:nvCxnSpPr>
          <p:cNvPr id="25" name="a1ud300_ar24"/>
          <p:cNvCxnSpPr/>
          <p:nvPr/>
        </p:nvCxnSpPr>
        <p:spPr>
          <a:xfrm flipV="1">
            <a:off x="2871216" y="1901952"/>
            <a:ext cx="356616" cy="402336"/>
          </a:xfrm>
          <a:prstGeom prst="line">
            <a:avLst/>
          </a:prstGeom>
          <a:ln w="15875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1ud400_nd25"/>
          <p:cNvSpPr/>
          <p:nvPr/>
        </p:nvSpPr>
        <p:spPr>
          <a:xfrm>
            <a:off x="3246120" y="213969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ud400_ndt26"/>
          <p:cNvSpPr txBox="1"/>
          <p:nvPr/>
        </p:nvSpPr>
        <p:spPr>
          <a:xfrm>
            <a:off x="3291839" y="2139696"/>
            <a:ext cx="10058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Worker 2 · m2</a:t>
            </a:r>
          </a:p>
        </p:txBody>
      </p:sp>
      <p:cxnSp>
        <p:nvCxnSpPr>
          <p:cNvPr id="28" name="a1ud400_ar27"/>
          <p:cNvCxnSpPr/>
          <p:nvPr/>
        </p:nvCxnSpPr>
        <p:spPr>
          <a:xfrm>
            <a:off x="2871216" y="2304288"/>
            <a:ext cx="356616" cy="0"/>
          </a:xfrm>
          <a:prstGeom prst="line">
            <a:avLst/>
          </a:prstGeom>
          <a:ln w="15875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1ud500_nd28"/>
          <p:cNvSpPr/>
          <p:nvPr/>
        </p:nvSpPr>
        <p:spPr>
          <a:xfrm>
            <a:off x="3246120" y="254203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ud500_ndt29"/>
          <p:cNvSpPr txBox="1"/>
          <p:nvPr/>
        </p:nvSpPr>
        <p:spPr>
          <a:xfrm>
            <a:off x="3291839" y="2542032"/>
            <a:ext cx="10058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Worker 3 · m3</a:t>
            </a:r>
          </a:p>
        </p:txBody>
      </p:sp>
      <p:cxnSp>
        <p:nvCxnSpPr>
          <p:cNvPr id="31" name="a1ud500_ar30"/>
          <p:cNvCxnSpPr/>
          <p:nvPr/>
        </p:nvCxnSpPr>
        <p:spPr>
          <a:xfrm>
            <a:off x="2871216" y="2304288"/>
            <a:ext cx="356616" cy="402336"/>
          </a:xfrm>
          <a:prstGeom prst="line">
            <a:avLst/>
          </a:prstGeom>
          <a:ln w="15875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1ud500_dot31"/>
          <p:cNvSpPr/>
          <p:nvPr/>
        </p:nvSpPr>
        <p:spPr>
          <a:xfrm>
            <a:off x="658368" y="3095244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ud500_b32"/>
          <p:cNvSpPr txBox="1"/>
          <p:nvPr/>
        </p:nvSpPr>
        <p:spPr>
          <a:xfrm>
            <a:off x="877824" y="299923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Each message goes to exactly ONE consumer</a:t>
            </a:r>
          </a:p>
        </p:txBody>
      </p:sp>
      <p:sp>
        <p:nvSpPr>
          <p:cNvPr id="34" name="a1ud600_dot33"/>
          <p:cNvSpPr/>
          <p:nvPr/>
        </p:nvSpPr>
        <p:spPr>
          <a:xfrm>
            <a:off x="658368" y="3461003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ud600_b34"/>
          <p:cNvSpPr txBox="1"/>
          <p:nvPr/>
        </p:nvSpPr>
        <p:spPr>
          <a:xfrm>
            <a:off x="877824" y="3364991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Consumers compete - add more to go faster</a:t>
            </a:r>
          </a:p>
        </p:txBody>
      </p:sp>
      <p:sp>
        <p:nvSpPr>
          <p:cNvPr id="36" name="a1ud700_dot35"/>
          <p:cNvSpPr/>
          <p:nvPr/>
        </p:nvSpPr>
        <p:spPr>
          <a:xfrm>
            <a:off x="658368" y="3826763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ud700_b36"/>
          <p:cNvSpPr txBox="1"/>
          <p:nvPr/>
        </p:nvSpPr>
        <p:spPr>
          <a:xfrm>
            <a:off x="877824" y="373075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Use for: hand out work (print 10,000 statements)</a:t>
            </a:r>
          </a:p>
        </p:txBody>
      </p:sp>
      <p:sp>
        <p:nvSpPr>
          <p:cNvPr id="38" name="a3u_kl37"/>
          <p:cNvSpPr txBox="1"/>
          <p:nvPr/>
        </p:nvSpPr>
        <p:spPr>
          <a:xfrm>
            <a:off x="658368" y="4187952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A16207"/>
                </a:solidFill>
                <a:latin typeface="Segoe UI"/>
              </a:rPr>
              <a:t>In Kafka: consumers in the SAME group</a:t>
            </a:r>
          </a:p>
        </p:txBody>
      </p:sp>
      <p:sp>
        <p:nvSpPr>
          <p:cNvPr id="39" name="a2u_card38"/>
          <p:cNvSpPr/>
          <p:nvPr/>
        </p:nvSpPr>
        <p:spPr>
          <a:xfrm>
            <a:off x="4663440" y="1216152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u_acc39"/>
          <p:cNvSpPr/>
          <p:nvPr/>
        </p:nvSpPr>
        <p:spPr>
          <a:xfrm>
            <a:off x="4663440" y="1216152"/>
            <a:ext cx="50292" cy="3383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u_hh40"/>
          <p:cNvSpPr txBox="1"/>
          <p:nvPr/>
        </p:nvSpPr>
        <p:spPr>
          <a:xfrm>
            <a:off x="4864607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PUBLISH-SUBSCRIBE  ·  TOPIC</a:t>
            </a:r>
          </a:p>
        </p:txBody>
      </p:sp>
      <p:sp>
        <p:nvSpPr>
          <p:cNvPr id="42" name="a2ud100_nd41"/>
          <p:cNvSpPr/>
          <p:nvPr/>
        </p:nvSpPr>
        <p:spPr>
          <a:xfrm>
            <a:off x="4846320" y="207568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ud100_ndt42"/>
          <p:cNvSpPr txBox="1"/>
          <p:nvPr/>
        </p:nvSpPr>
        <p:spPr>
          <a:xfrm>
            <a:off x="4892040" y="2075688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Producer</a:t>
            </a:r>
          </a:p>
        </p:txBody>
      </p:sp>
      <p:cxnSp>
        <p:nvCxnSpPr>
          <p:cNvPr id="44" name="a2ud150_ar43"/>
          <p:cNvCxnSpPr/>
          <p:nvPr/>
        </p:nvCxnSpPr>
        <p:spPr>
          <a:xfrm>
            <a:off x="5733288" y="2304288"/>
            <a:ext cx="210312" cy="0"/>
          </a:xfrm>
          <a:prstGeom prst="line">
            <a:avLst/>
          </a:prstGeom>
          <a:ln w="19050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2ud200_cell44"/>
          <p:cNvSpPr/>
          <p:nvPr/>
        </p:nvSpPr>
        <p:spPr>
          <a:xfrm>
            <a:off x="5961888" y="2157984"/>
            <a:ext cx="365760" cy="292608"/>
          </a:xfrm>
          <a:prstGeom prst="rect">
            <a:avLst/>
          </a:prstGeom>
          <a:solidFill>
            <a:srgbClr val="D9F2F7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ud200_cellt45"/>
          <p:cNvSpPr txBox="1"/>
          <p:nvPr/>
        </p:nvSpPr>
        <p:spPr>
          <a:xfrm>
            <a:off x="5961888" y="215798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m3</a:t>
            </a:r>
          </a:p>
        </p:txBody>
      </p:sp>
      <p:sp>
        <p:nvSpPr>
          <p:cNvPr id="47" name="a2ud200_cell46"/>
          <p:cNvSpPr/>
          <p:nvPr/>
        </p:nvSpPr>
        <p:spPr>
          <a:xfrm>
            <a:off x="6327648" y="2157984"/>
            <a:ext cx="365760" cy="292608"/>
          </a:xfrm>
          <a:prstGeom prst="rect">
            <a:avLst/>
          </a:prstGeom>
          <a:solidFill>
            <a:srgbClr val="D9F2F7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d200_cellt47"/>
          <p:cNvSpPr txBox="1"/>
          <p:nvPr/>
        </p:nvSpPr>
        <p:spPr>
          <a:xfrm>
            <a:off x="6327648" y="215798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m2</a:t>
            </a:r>
          </a:p>
        </p:txBody>
      </p:sp>
      <p:sp>
        <p:nvSpPr>
          <p:cNvPr id="49" name="a2ud200_cell48"/>
          <p:cNvSpPr/>
          <p:nvPr/>
        </p:nvSpPr>
        <p:spPr>
          <a:xfrm>
            <a:off x="6693407" y="2157984"/>
            <a:ext cx="365760" cy="292608"/>
          </a:xfrm>
          <a:prstGeom prst="rect">
            <a:avLst/>
          </a:prstGeom>
          <a:solidFill>
            <a:srgbClr val="D9F2F7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ud200_cellt49"/>
          <p:cNvSpPr txBox="1"/>
          <p:nvPr/>
        </p:nvSpPr>
        <p:spPr>
          <a:xfrm>
            <a:off x="6693407" y="215798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m1</a:t>
            </a:r>
          </a:p>
        </p:txBody>
      </p:sp>
      <p:sp>
        <p:nvSpPr>
          <p:cNvPr id="51" name="a2ud300_nd50"/>
          <p:cNvSpPr/>
          <p:nvPr/>
        </p:nvSpPr>
        <p:spPr>
          <a:xfrm>
            <a:off x="7452359" y="173736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ud300_ndt51"/>
          <p:cNvSpPr txBox="1"/>
          <p:nvPr/>
        </p:nvSpPr>
        <p:spPr>
          <a:xfrm>
            <a:off x="7498079" y="1737360"/>
            <a:ext cx="10058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Fraud · m1 m2 m3</a:t>
            </a:r>
          </a:p>
        </p:txBody>
      </p:sp>
      <p:cxnSp>
        <p:nvCxnSpPr>
          <p:cNvPr id="53" name="a2ud300_ar52"/>
          <p:cNvCxnSpPr/>
          <p:nvPr/>
        </p:nvCxnSpPr>
        <p:spPr>
          <a:xfrm flipV="1">
            <a:off x="7077456" y="1901952"/>
            <a:ext cx="356615" cy="402336"/>
          </a:xfrm>
          <a:prstGeom prst="line">
            <a:avLst/>
          </a:prstGeom>
          <a:ln w="15875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2ud400_nd53"/>
          <p:cNvSpPr/>
          <p:nvPr/>
        </p:nvSpPr>
        <p:spPr>
          <a:xfrm>
            <a:off x="7452359" y="213969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ud400_ndt54"/>
          <p:cNvSpPr txBox="1"/>
          <p:nvPr/>
        </p:nvSpPr>
        <p:spPr>
          <a:xfrm>
            <a:off x="7498079" y="2139696"/>
            <a:ext cx="10058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SMS · m1 m2 m3</a:t>
            </a:r>
          </a:p>
        </p:txBody>
      </p:sp>
      <p:cxnSp>
        <p:nvCxnSpPr>
          <p:cNvPr id="56" name="a2ud400_ar55"/>
          <p:cNvCxnSpPr/>
          <p:nvPr/>
        </p:nvCxnSpPr>
        <p:spPr>
          <a:xfrm>
            <a:off x="7077456" y="2304288"/>
            <a:ext cx="356615" cy="0"/>
          </a:xfrm>
          <a:prstGeom prst="line">
            <a:avLst/>
          </a:prstGeom>
          <a:ln w="15875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a2ud500_nd56"/>
          <p:cNvSpPr/>
          <p:nvPr/>
        </p:nvSpPr>
        <p:spPr>
          <a:xfrm>
            <a:off x="7452359" y="254203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2ud500_ndt57"/>
          <p:cNvSpPr txBox="1"/>
          <p:nvPr/>
        </p:nvSpPr>
        <p:spPr>
          <a:xfrm>
            <a:off x="7498079" y="2542032"/>
            <a:ext cx="10058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Ledger · m1 m2 m3</a:t>
            </a:r>
          </a:p>
        </p:txBody>
      </p:sp>
      <p:cxnSp>
        <p:nvCxnSpPr>
          <p:cNvPr id="59" name="a2ud500_ar58"/>
          <p:cNvCxnSpPr/>
          <p:nvPr/>
        </p:nvCxnSpPr>
        <p:spPr>
          <a:xfrm>
            <a:off x="7077456" y="2304288"/>
            <a:ext cx="356615" cy="402336"/>
          </a:xfrm>
          <a:prstGeom prst="line">
            <a:avLst/>
          </a:prstGeom>
          <a:ln w="15875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a2ud500_dot59"/>
          <p:cNvSpPr/>
          <p:nvPr/>
        </p:nvSpPr>
        <p:spPr>
          <a:xfrm>
            <a:off x="4864607" y="309524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2ud500_b60"/>
          <p:cNvSpPr txBox="1"/>
          <p:nvPr/>
        </p:nvSpPr>
        <p:spPr>
          <a:xfrm>
            <a:off x="5084064" y="299923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Every subscriber gets its own copy of every message</a:t>
            </a:r>
          </a:p>
        </p:txBody>
      </p:sp>
      <p:sp>
        <p:nvSpPr>
          <p:cNvPr id="62" name="a2ud600_dot61"/>
          <p:cNvSpPr/>
          <p:nvPr/>
        </p:nvSpPr>
        <p:spPr>
          <a:xfrm>
            <a:off x="4864607" y="3461003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2ud600_b62"/>
          <p:cNvSpPr txBox="1"/>
          <p:nvPr/>
        </p:nvSpPr>
        <p:spPr>
          <a:xfrm>
            <a:off x="5084064" y="3364991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Subscribers do not know about each other</a:t>
            </a:r>
          </a:p>
        </p:txBody>
      </p:sp>
      <p:sp>
        <p:nvSpPr>
          <p:cNvPr id="64" name="a2ud700_dot63"/>
          <p:cNvSpPr/>
          <p:nvPr/>
        </p:nvSpPr>
        <p:spPr>
          <a:xfrm>
            <a:off x="4864607" y="3826763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2ud700_b64"/>
          <p:cNvSpPr txBox="1"/>
          <p:nvPr/>
        </p:nvSpPr>
        <p:spPr>
          <a:xfrm>
            <a:off x="5084064" y="373075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Use for: tell everyone who cares (TransferCompleted)</a:t>
            </a:r>
          </a:p>
        </p:txBody>
      </p:sp>
      <p:sp>
        <p:nvSpPr>
          <p:cNvPr id="66" name="a3u_kl65"/>
          <p:cNvSpPr txBox="1"/>
          <p:nvPr/>
        </p:nvSpPr>
        <p:spPr>
          <a:xfrm>
            <a:off x="4864607" y="4187952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In Kafka: consumers in DIFFERENT groups</a:t>
            </a:r>
          </a:p>
        </p:txBody>
      </p:sp>
      <p:sp>
        <p:nvSpPr>
          <p:cNvPr id="67" name="ft66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15</a:t>
            </a:r>
          </a:p>
        </p:txBody>
      </p:sp>
      <p:sp>
        <p:nvSpPr>
          <p:cNvPr id="68" name="ft67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ft68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Anatomy of a Message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What the transfer service really publishes - read back from the topic in Lab 4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216152"/>
            <a:ext cx="132588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21615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Part</a:t>
            </a:r>
          </a:p>
        </p:txBody>
      </p:sp>
      <p:sp>
        <p:nvSpPr>
          <p:cNvPr id="13" name="a1wd110_td12"/>
          <p:cNvSpPr/>
          <p:nvPr/>
        </p:nvSpPr>
        <p:spPr>
          <a:xfrm>
            <a:off x="457200" y="1581912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10_tdt13"/>
          <p:cNvSpPr txBox="1"/>
          <p:nvPr/>
        </p:nvSpPr>
        <p:spPr>
          <a:xfrm>
            <a:off x="530352" y="158191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key</a:t>
            </a:r>
          </a:p>
        </p:txBody>
      </p:sp>
      <p:sp>
        <p:nvSpPr>
          <p:cNvPr id="15" name="a1wd220_td14"/>
          <p:cNvSpPr/>
          <p:nvPr/>
        </p:nvSpPr>
        <p:spPr>
          <a:xfrm>
            <a:off x="457200" y="1947672"/>
            <a:ext cx="132588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20_tdt15"/>
          <p:cNvSpPr txBox="1"/>
          <p:nvPr/>
        </p:nvSpPr>
        <p:spPr>
          <a:xfrm>
            <a:off x="530352" y="194767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value</a:t>
            </a:r>
          </a:p>
        </p:txBody>
      </p:sp>
      <p:sp>
        <p:nvSpPr>
          <p:cNvPr id="17" name="a1wd330_td16"/>
          <p:cNvSpPr/>
          <p:nvPr/>
        </p:nvSpPr>
        <p:spPr>
          <a:xfrm>
            <a:off x="457200" y="2313432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30_tdt17"/>
          <p:cNvSpPr txBox="1"/>
          <p:nvPr/>
        </p:nvSpPr>
        <p:spPr>
          <a:xfrm>
            <a:off x="530352" y="231343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headers</a:t>
            </a:r>
          </a:p>
        </p:txBody>
      </p:sp>
      <p:sp>
        <p:nvSpPr>
          <p:cNvPr id="19" name="a1wd440_td18"/>
          <p:cNvSpPr/>
          <p:nvPr/>
        </p:nvSpPr>
        <p:spPr>
          <a:xfrm>
            <a:off x="457200" y="2679192"/>
            <a:ext cx="132588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40_tdt19"/>
          <p:cNvSpPr txBox="1"/>
          <p:nvPr/>
        </p:nvSpPr>
        <p:spPr>
          <a:xfrm>
            <a:off x="530352" y="267919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timestamp</a:t>
            </a:r>
          </a:p>
        </p:txBody>
      </p:sp>
      <p:sp>
        <p:nvSpPr>
          <p:cNvPr id="21" name="a1wd550_td20"/>
          <p:cNvSpPr/>
          <p:nvPr/>
        </p:nvSpPr>
        <p:spPr>
          <a:xfrm>
            <a:off x="457200" y="3044952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550_tdt21"/>
          <p:cNvSpPr txBox="1"/>
          <p:nvPr/>
        </p:nvSpPr>
        <p:spPr>
          <a:xfrm>
            <a:off x="530352" y="304495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partition, offset</a:t>
            </a:r>
          </a:p>
        </p:txBody>
      </p:sp>
      <p:sp>
        <p:nvSpPr>
          <p:cNvPr id="23" name="a1f_th22"/>
          <p:cNvSpPr/>
          <p:nvPr/>
        </p:nvSpPr>
        <p:spPr>
          <a:xfrm>
            <a:off x="1783080" y="1216152"/>
            <a:ext cx="2788920" cy="36576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f_tht23"/>
          <p:cNvSpPr txBox="1"/>
          <p:nvPr/>
        </p:nvSpPr>
        <p:spPr>
          <a:xfrm>
            <a:off x="1856231" y="1216152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25" name="a1wd110_td24"/>
          <p:cNvSpPr/>
          <p:nvPr/>
        </p:nvSpPr>
        <p:spPr>
          <a:xfrm>
            <a:off x="1783080" y="1581912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110_tdt25"/>
          <p:cNvSpPr txBox="1"/>
          <p:nvPr/>
        </p:nvSpPr>
        <p:spPr>
          <a:xfrm>
            <a:off x="1856231" y="1581912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"9001" - the account; decides the partition</a:t>
            </a:r>
          </a:p>
        </p:txBody>
      </p:sp>
      <p:sp>
        <p:nvSpPr>
          <p:cNvPr id="27" name="a1wd220_td26"/>
          <p:cNvSpPr/>
          <p:nvPr/>
        </p:nvSpPr>
        <p:spPr>
          <a:xfrm>
            <a:off x="1783080" y="1947672"/>
            <a:ext cx="278892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220_tdt27"/>
          <p:cNvSpPr txBox="1"/>
          <p:nvPr/>
        </p:nvSpPr>
        <p:spPr>
          <a:xfrm>
            <a:off x="1856231" y="1947672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The event itself - JSON bytes, about 1 MB max by default</a:t>
            </a:r>
          </a:p>
        </p:txBody>
      </p:sp>
      <p:sp>
        <p:nvSpPr>
          <p:cNvPr id="29" name="a1wd330_td28"/>
          <p:cNvSpPr/>
          <p:nvPr/>
        </p:nvSpPr>
        <p:spPr>
          <a:xfrm>
            <a:off x="1783080" y="2313432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330_tdt29"/>
          <p:cNvSpPr txBox="1"/>
          <p:nvPr/>
        </p:nvSpPr>
        <p:spPr>
          <a:xfrm>
            <a:off x="1856231" y="2313432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Optional metadata: trace id, schema version</a:t>
            </a:r>
          </a:p>
        </p:txBody>
      </p:sp>
      <p:sp>
        <p:nvSpPr>
          <p:cNvPr id="31" name="a1wd440_td30"/>
          <p:cNvSpPr/>
          <p:nvPr/>
        </p:nvSpPr>
        <p:spPr>
          <a:xfrm>
            <a:off x="1783080" y="2679192"/>
            <a:ext cx="278892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40_tdt31"/>
          <p:cNvSpPr txBox="1"/>
          <p:nvPr/>
        </p:nvSpPr>
        <p:spPr>
          <a:xfrm>
            <a:off x="1856231" y="2679192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When it was produced (CreateTime)</a:t>
            </a:r>
          </a:p>
        </p:txBody>
      </p:sp>
      <p:sp>
        <p:nvSpPr>
          <p:cNvPr id="33" name="a1wd550_td32"/>
          <p:cNvSpPr/>
          <p:nvPr/>
        </p:nvSpPr>
        <p:spPr>
          <a:xfrm>
            <a:off x="1783080" y="3044952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550_tdt33"/>
          <p:cNvSpPr txBox="1"/>
          <p:nvPr/>
        </p:nvSpPr>
        <p:spPr>
          <a:xfrm>
            <a:off x="1856231" y="3044952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Assigned by the broker: the message's address</a:t>
            </a:r>
          </a:p>
        </p:txBody>
      </p:sp>
      <p:sp>
        <p:nvSpPr>
          <p:cNvPr id="35" name="a3u_nb34"/>
          <p:cNvSpPr/>
          <p:nvPr/>
        </p:nvSpPr>
        <p:spPr>
          <a:xfrm>
            <a:off x="457200" y="3538728"/>
            <a:ext cx="4114800" cy="841248"/>
          </a:xfrm>
          <a:prstGeom prst="roundRect">
            <a:avLst>
              <a:gd name="adj" fmla="val 8695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_nacc35"/>
          <p:cNvSpPr/>
          <p:nvPr/>
        </p:nvSpPr>
        <p:spPr>
          <a:xfrm>
            <a:off x="457200" y="3538728"/>
            <a:ext cx="54864" cy="84124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_nt36"/>
          <p:cNvSpPr txBox="1"/>
          <p:nvPr/>
        </p:nvSpPr>
        <p:spPr>
          <a:xfrm>
            <a:off x="658368" y="3538728"/>
            <a:ext cx="37124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16207"/>
                </a:solidFill>
                <a:latin typeface="Segoe UI"/>
              </a:rPr>
              <a:t>!  </a:t>
            </a:r>
            <a:r>
              <a:rPr sz="850" b="0">
                <a:solidFill>
                  <a:srgbClr val="44403C"/>
                </a:solidFill>
                <a:latin typeface="Segoe UI"/>
              </a:rPr>
              <a:t>amount is a string on purpose: JSON numbers are binary floats, and a bank cannot live with 0.1 + 0.2 = 0.30000000000000004.</a:t>
            </a:r>
          </a:p>
        </p:txBody>
      </p:sp>
      <p:sp>
        <p:nvSpPr>
          <p:cNvPr id="38" name="a2f_codebg37"/>
          <p:cNvSpPr/>
          <p:nvPr/>
        </p:nvSpPr>
        <p:spPr>
          <a:xfrm>
            <a:off x="4754880" y="1216152"/>
            <a:ext cx="3931920" cy="2441448"/>
          </a:xfrm>
          <a:prstGeom prst="roundRect">
            <a:avLst>
              <a:gd name="adj" fmla="val 2996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f_codeh38"/>
          <p:cNvSpPr txBox="1"/>
          <p:nvPr/>
        </p:nvSpPr>
        <p:spPr>
          <a:xfrm>
            <a:off x="4882896" y="1271016"/>
            <a:ext cx="367588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bank.txn.completed · partition 0 · offset 0</a:t>
            </a:r>
          </a:p>
        </p:txBody>
      </p:sp>
      <p:sp>
        <p:nvSpPr>
          <p:cNvPr id="40" name="a2f_codesep39"/>
          <p:cNvSpPr/>
          <p:nvPr/>
        </p:nvSpPr>
        <p:spPr>
          <a:xfrm>
            <a:off x="4882896" y="1545336"/>
            <a:ext cx="3675887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_code40"/>
          <p:cNvSpPr txBox="1"/>
          <p:nvPr/>
        </p:nvSpPr>
        <p:spPr>
          <a:xfrm>
            <a:off x="4882896" y="1618488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key      9001</a:t>
            </a:r>
          </a:p>
        </p:txBody>
      </p:sp>
      <p:sp>
        <p:nvSpPr>
          <p:cNvPr id="42" name="a2wd60_code41"/>
          <p:cNvSpPr txBox="1"/>
          <p:nvPr/>
        </p:nvSpPr>
        <p:spPr>
          <a:xfrm>
            <a:off x="4882896" y="1792224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value    {</a:t>
            </a:r>
          </a:p>
        </p:txBody>
      </p:sp>
      <p:sp>
        <p:nvSpPr>
          <p:cNvPr id="43" name="a2wd120_code42"/>
          <p:cNvSpPr txBox="1"/>
          <p:nvPr/>
        </p:nvSpPr>
        <p:spPr>
          <a:xfrm>
            <a:off x="4882896" y="1965960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"event_id":    "aac09393-79a9-46cb-...",</a:t>
            </a:r>
          </a:p>
        </p:txBody>
      </p:sp>
      <p:sp>
        <p:nvSpPr>
          <p:cNvPr id="44" name="a2wd180_code43"/>
          <p:cNvSpPr txBox="1"/>
          <p:nvPr/>
        </p:nvSpPr>
        <p:spPr>
          <a:xfrm>
            <a:off x="4882896" y="2139696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"event_type":  "TransferCompleted",</a:t>
            </a:r>
          </a:p>
        </p:txBody>
      </p:sp>
      <p:sp>
        <p:nvSpPr>
          <p:cNvPr id="45" name="a2wd240_code44"/>
          <p:cNvSpPr txBox="1"/>
          <p:nvPr/>
        </p:nvSpPr>
        <p:spPr>
          <a:xfrm>
            <a:off x="4882896" y="2313432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"occurred_at": "2026-09-26T10:09:17+00:00",</a:t>
            </a:r>
          </a:p>
        </p:txBody>
      </p:sp>
      <p:sp>
        <p:nvSpPr>
          <p:cNvPr id="46" name="a2wd300_code45"/>
          <p:cNvSpPr txBox="1"/>
          <p:nvPr/>
        </p:nvSpPr>
        <p:spPr>
          <a:xfrm>
            <a:off x="4882896" y="2487168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"txn_id":      "TXN-8B9EB8",</a:t>
            </a:r>
          </a:p>
        </p:txBody>
      </p:sp>
      <p:sp>
        <p:nvSpPr>
          <p:cNvPr id="47" name="a2wd360_code46"/>
          <p:cNvSpPr txBox="1"/>
          <p:nvPr/>
        </p:nvSpPr>
        <p:spPr>
          <a:xfrm>
            <a:off x="4882896" y="2660904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"account_id":  9001,</a:t>
            </a:r>
          </a:p>
        </p:txBody>
      </p:sp>
      <p:sp>
        <p:nvSpPr>
          <p:cNvPr id="48" name="a2wd420_code47"/>
          <p:cNvSpPr txBox="1"/>
          <p:nvPr/>
        </p:nvSpPr>
        <p:spPr>
          <a:xfrm>
            <a:off x="4882896" y="2834640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"txn_type":    "CREDIT",</a:t>
            </a:r>
          </a:p>
        </p:txBody>
      </p:sp>
      <p:sp>
        <p:nvSpPr>
          <p:cNvPr id="49" name="a2wd480_code48"/>
          <p:cNvSpPr txBox="1"/>
          <p:nvPr/>
        </p:nvSpPr>
        <p:spPr>
          <a:xfrm>
            <a:off x="4882896" y="3008376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nsolas"/>
              </a:rPr>
              <a:t>  "amount":      "74200.00",</a:t>
            </a:r>
          </a:p>
        </p:txBody>
      </p:sp>
      <p:sp>
        <p:nvSpPr>
          <p:cNvPr id="50" name="a2wd540_code49"/>
          <p:cNvSpPr txBox="1"/>
          <p:nvPr/>
        </p:nvSpPr>
        <p:spPr>
          <a:xfrm>
            <a:off x="4882896" y="3182112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"channel":     "ATM"</a:t>
            </a:r>
          </a:p>
        </p:txBody>
      </p:sp>
      <p:sp>
        <p:nvSpPr>
          <p:cNvPr id="51" name="a2wd600_code50"/>
          <p:cNvSpPr txBox="1"/>
          <p:nvPr/>
        </p:nvSpPr>
        <p:spPr>
          <a:xfrm>
            <a:off x="4882896" y="3355848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}</a:t>
            </a:r>
          </a:p>
        </p:txBody>
      </p:sp>
      <p:sp>
        <p:nvSpPr>
          <p:cNvPr id="52" name="a4u_nb51"/>
          <p:cNvSpPr/>
          <p:nvPr/>
        </p:nvSpPr>
        <p:spPr>
          <a:xfrm>
            <a:off x="4754880" y="3767328"/>
            <a:ext cx="3931920" cy="640080"/>
          </a:xfrm>
          <a:prstGeom prst="roundRect">
            <a:avLst>
              <a:gd name="adj" fmla="val 11428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4u_nacc52"/>
          <p:cNvSpPr/>
          <p:nvPr/>
        </p:nvSpPr>
        <p:spPr>
          <a:xfrm>
            <a:off x="4754880" y="3767328"/>
            <a:ext cx="54864" cy="640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4u_nt53"/>
          <p:cNvSpPr txBox="1"/>
          <p:nvPr/>
        </p:nvSpPr>
        <p:spPr>
          <a:xfrm>
            <a:off x="4956048" y="3767328"/>
            <a:ext cx="35295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i  </a:t>
            </a:r>
            <a:r>
              <a:rPr sz="850" b="0">
                <a:solidFill>
                  <a:srgbClr val="44403C"/>
                </a:solidFill>
                <a:latin typeface="Segoe UI"/>
              </a:rPr>
              <a:t>Past tense and self-contained: a reader needs nothing else to act on it.</a:t>
            </a:r>
          </a:p>
        </p:txBody>
      </p:sp>
      <p:sp>
        <p:nvSpPr>
          <p:cNvPr id="55" name="ft54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16</a:t>
            </a:r>
          </a:p>
        </p:txBody>
      </p:sp>
      <p:sp>
        <p:nvSpPr>
          <p:cNvPr id="56" name="ft55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ft56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8" name="ft5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Queue vs Log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The difference that makes Kafka different: reading does not remove anything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50292" cy="338328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hh12"/>
          <p:cNvSpPr txBox="1"/>
          <p:nvPr/>
        </p:nvSpPr>
        <p:spPr>
          <a:xfrm>
            <a:off x="658368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A16207"/>
                </a:solidFill>
                <a:latin typeface="Segoe UI"/>
              </a:rPr>
              <a:t>TRADITIONAL QUEUE</a:t>
            </a:r>
          </a:p>
        </p:txBody>
      </p:sp>
      <p:sp>
        <p:nvSpPr>
          <p:cNvPr id="14" name="a1ud100_cell13"/>
          <p:cNvSpPr/>
          <p:nvPr/>
        </p:nvSpPr>
        <p:spPr>
          <a:xfrm>
            <a:off x="777240" y="1783080"/>
            <a:ext cx="566928" cy="329184"/>
          </a:xfrm>
          <a:prstGeom prst="rect">
            <a:avLst/>
          </a:prstGeom>
          <a:solidFill>
            <a:srgbClr val="E7E5E0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100_cellt14"/>
          <p:cNvSpPr txBox="1"/>
          <p:nvPr/>
        </p:nvSpPr>
        <p:spPr>
          <a:xfrm>
            <a:off x="777240" y="178308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8A29E"/>
                </a:solidFill>
                <a:latin typeface="Consolas"/>
              </a:rPr>
              <a:t>m1</a:t>
            </a:r>
          </a:p>
        </p:txBody>
      </p:sp>
      <p:sp>
        <p:nvSpPr>
          <p:cNvPr id="16" name="a1ud100_cell15"/>
          <p:cNvSpPr/>
          <p:nvPr/>
        </p:nvSpPr>
        <p:spPr>
          <a:xfrm>
            <a:off x="1344168" y="1783080"/>
            <a:ext cx="566928" cy="329184"/>
          </a:xfrm>
          <a:prstGeom prst="rect">
            <a:avLst/>
          </a:prstGeom>
          <a:solidFill>
            <a:srgbClr val="E7E5E0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ud100_cellt16"/>
          <p:cNvSpPr txBox="1"/>
          <p:nvPr/>
        </p:nvSpPr>
        <p:spPr>
          <a:xfrm>
            <a:off x="1344168" y="178308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8A29E"/>
                </a:solidFill>
                <a:latin typeface="Consolas"/>
              </a:rPr>
              <a:t>m2</a:t>
            </a:r>
          </a:p>
        </p:txBody>
      </p:sp>
      <p:sp>
        <p:nvSpPr>
          <p:cNvPr id="18" name="a1ud100_cell17"/>
          <p:cNvSpPr/>
          <p:nvPr/>
        </p:nvSpPr>
        <p:spPr>
          <a:xfrm>
            <a:off x="1911095" y="1783080"/>
            <a:ext cx="566928" cy="329184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100_cellt18"/>
          <p:cNvSpPr txBox="1"/>
          <p:nvPr/>
        </p:nvSpPr>
        <p:spPr>
          <a:xfrm>
            <a:off x="1911095" y="178308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m3</a:t>
            </a:r>
          </a:p>
        </p:txBody>
      </p:sp>
      <p:sp>
        <p:nvSpPr>
          <p:cNvPr id="20" name="a1ud100_cell19"/>
          <p:cNvSpPr/>
          <p:nvPr/>
        </p:nvSpPr>
        <p:spPr>
          <a:xfrm>
            <a:off x="2478024" y="1783080"/>
            <a:ext cx="566928" cy="329184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ud100_cellt20"/>
          <p:cNvSpPr txBox="1"/>
          <p:nvPr/>
        </p:nvSpPr>
        <p:spPr>
          <a:xfrm>
            <a:off x="2478024" y="178308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m4</a:t>
            </a:r>
          </a:p>
        </p:txBody>
      </p:sp>
      <p:sp>
        <p:nvSpPr>
          <p:cNvPr id="22" name="a1ud100_cell21"/>
          <p:cNvSpPr/>
          <p:nvPr/>
        </p:nvSpPr>
        <p:spPr>
          <a:xfrm>
            <a:off x="3044952" y="1783080"/>
            <a:ext cx="566928" cy="329184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ud100_cellt22"/>
          <p:cNvSpPr txBox="1"/>
          <p:nvPr/>
        </p:nvSpPr>
        <p:spPr>
          <a:xfrm>
            <a:off x="3044952" y="178308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m5</a:t>
            </a:r>
          </a:p>
        </p:txBody>
      </p:sp>
      <p:sp>
        <p:nvSpPr>
          <p:cNvPr id="24" name="a2f_lb23"/>
          <p:cNvSpPr txBox="1"/>
          <p:nvPr/>
        </p:nvSpPr>
        <p:spPr>
          <a:xfrm>
            <a:off x="777240" y="2157984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78716C"/>
                </a:solidFill>
                <a:latin typeface="Segoe UI"/>
              </a:rPr>
              <a:t>deleted after ack</a:t>
            </a:r>
          </a:p>
        </p:txBody>
      </p:sp>
      <p:sp>
        <p:nvSpPr>
          <p:cNvPr id="25" name="a2u_nd24"/>
          <p:cNvSpPr/>
          <p:nvPr/>
        </p:nvSpPr>
        <p:spPr>
          <a:xfrm>
            <a:off x="1600200" y="25603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ndt25"/>
          <p:cNvSpPr txBox="1"/>
          <p:nvPr/>
        </p:nvSpPr>
        <p:spPr>
          <a:xfrm>
            <a:off x="1645920" y="2560320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the consumer</a:t>
            </a:r>
          </a:p>
        </p:txBody>
      </p:sp>
      <p:cxnSp>
        <p:nvCxnSpPr>
          <p:cNvPr id="27" name="a2u_ar26"/>
          <p:cNvCxnSpPr/>
          <p:nvPr/>
        </p:nvCxnSpPr>
        <p:spPr>
          <a:xfrm flipV="1">
            <a:off x="2130552" y="2157984"/>
            <a:ext cx="0" cy="384048"/>
          </a:xfrm>
          <a:prstGeom prst="line">
            <a:avLst/>
          </a:prstGeom>
          <a:ln w="15875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2ud100_dot27"/>
          <p:cNvSpPr/>
          <p:nvPr/>
        </p:nvSpPr>
        <p:spPr>
          <a:xfrm>
            <a:off x="658368" y="31866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100_b28"/>
          <p:cNvSpPr txBox="1"/>
          <p:nvPr/>
        </p:nvSpPr>
        <p:spPr>
          <a:xfrm>
            <a:off x="877824" y="309067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A message is deleted once acknowledged</a:t>
            </a:r>
          </a:p>
        </p:txBody>
      </p:sp>
      <p:sp>
        <p:nvSpPr>
          <p:cNvPr id="30" name="a2ud200_dot29"/>
          <p:cNvSpPr/>
          <p:nvPr/>
        </p:nvSpPr>
        <p:spPr>
          <a:xfrm>
            <a:off x="658368" y="3552444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200_b30"/>
          <p:cNvSpPr txBox="1"/>
          <p:nvPr/>
        </p:nvSpPr>
        <p:spPr>
          <a:xfrm>
            <a:off x="877824" y="345643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The broker tracks each message's state</a:t>
            </a:r>
          </a:p>
        </p:txBody>
      </p:sp>
      <p:sp>
        <p:nvSpPr>
          <p:cNvPr id="32" name="a2ud300_dot31"/>
          <p:cNvSpPr/>
          <p:nvPr/>
        </p:nvSpPr>
        <p:spPr>
          <a:xfrm>
            <a:off x="658368" y="3918204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ud300_b32"/>
          <p:cNvSpPr txBox="1"/>
          <p:nvPr/>
        </p:nvSpPr>
        <p:spPr>
          <a:xfrm>
            <a:off x="877824" y="382219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A new consumer cannot see the past</a:t>
            </a:r>
          </a:p>
        </p:txBody>
      </p:sp>
      <p:sp>
        <p:nvSpPr>
          <p:cNvPr id="34" name="a3u_card33"/>
          <p:cNvSpPr/>
          <p:nvPr/>
        </p:nvSpPr>
        <p:spPr>
          <a:xfrm>
            <a:off x="4663440" y="1216152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acc34"/>
          <p:cNvSpPr/>
          <p:nvPr/>
        </p:nvSpPr>
        <p:spPr>
          <a:xfrm>
            <a:off x="4663440" y="1216152"/>
            <a:ext cx="50292" cy="3383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_hh35"/>
          <p:cNvSpPr txBox="1"/>
          <p:nvPr/>
        </p:nvSpPr>
        <p:spPr>
          <a:xfrm>
            <a:off x="4864608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LOG  ·  KAFKA</a:t>
            </a:r>
          </a:p>
        </p:txBody>
      </p:sp>
      <p:sp>
        <p:nvSpPr>
          <p:cNvPr id="37" name="a3ud100_cell36"/>
          <p:cNvSpPr/>
          <p:nvPr/>
        </p:nvSpPr>
        <p:spPr>
          <a:xfrm>
            <a:off x="4892040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ud100_cellt37"/>
          <p:cNvSpPr txBox="1"/>
          <p:nvPr/>
        </p:nvSpPr>
        <p:spPr>
          <a:xfrm>
            <a:off x="4892040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0</a:t>
            </a:r>
          </a:p>
        </p:txBody>
      </p:sp>
      <p:sp>
        <p:nvSpPr>
          <p:cNvPr id="39" name="a3ud100_cell38"/>
          <p:cNvSpPr/>
          <p:nvPr/>
        </p:nvSpPr>
        <p:spPr>
          <a:xfrm>
            <a:off x="5303520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ud100_cellt39"/>
          <p:cNvSpPr txBox="1"/>
          <p:nvPr/>
        </p:nvSpPr>
        <p:spPr>
          <a:xfrm>
            <a:off x="5303520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1</a:t>
            </a:r>
          </a:p>
        </p:txBody>
      </p:sp>
      <p:sp>
        <p:nvSpPr>
          <p:cNvPr id="41" name="a3ud100_cell40"/>
          <p:cNvSpPr/>
          <p:nvPr/>
        </p:nvSpPr>
        <p:spPr>
          <a:xfrm>
            <a:off x="5715000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3ud100_cellt41"/>
          <p:cNvSpPr txBox="1"/>
          <p:nvPr/>
        </p:nvSpPr>
        <p:spPr>
          <a:xfrm>
            <a:off x="5715000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2</a:t>
            </a:r>
          </a:p>
        </p:txBody>
      </p:sp>
      <p:sp>
        <p:nvSpPr>
          <p:cNvPr id="43" name="a3ud100_cell42"/>
          <p:cNvSpPr/>
          <p:nvPr/>
        </p:nvSpPr>
        <p:spPr>
          <a:xfrm>
            <a:off x="6126479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3ud100_cellt43"/>
          <p:cNvSpPr txBox="1"/>
          <p:nvPr/>
        </p:nvSpPr>
        <p:spPr>
          <a:xfrm>
            <a:off x="6126479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3</a:t>
            </a:r>
          </a:p>
        </p:txBody>
      </p:sp>
      <p:sp>
        <p:nvSpPr>
          <p:cNvPr id="45" name="a3ud100_cell44"/>
          <p:cNvSpPr/>
          <p:nvPr/>
        </p:nvSpPr>
        <p:spPr>
          <a:xfrm>
            <a:off x="6537959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3ud100_cellt45"/>
          <p:cNvSpPr txBox="1"/>
          <p:nvPr/>
        </p:nvSpPr>
        <p:spPr>
          <a:xfrm>
            <a:off x="6537959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4</a:t>
            </a:r>
          </a:p>
        </p:txBody>
      </p:sp>
      <p:sp>
        <p:nvSpPr>
          <p:cNvPr id="47" name="a3ud100_cell46"/>
          <p:cNvSpPr/>
          <p:nvPr/>
        </p:nvSpPr>
        <p:spPr>
          <a:xfrm>
            <a:off x="6949440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3ud100_cellt47"/>
          <p:cNvSpPr txBox="1"/>
          <p:nvPr/>
        </p:nvSpPr>
        <p:spPr>
          <a:xfrm>
            <a:off x="6949440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5</a:t>
            </a:r>
          </a:p>
        </p:txBody>
      </p:sp>
      <p:sp>
        <p:nvSpPr>
          <p:cNvPr id="49" name="a3ud100_cell48"/>
          <p:cNvSpPr/>
          <p:nvPr/>
        </p:nvSpPr>
        <p:spPr>
          <a:xfrm>
            <a:off x="7360920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3ud100_cellt49"/>
          <p:cNvSpPr txBox="1"/>
          <p:nvPr/>
        </p:nvSpPr>
        <p:spPr>
          <a:xfrm>
            <a:off x="7360920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6</a:t>
            </a:r>
          </a:p>
        </p:txBody>
      </p:sp>
      <p:sp>
        <p:nvSpPr>
          <p:cNvPr id="51" name="a3ud100_cell50"/>
          <p:cNvSpPr/>
          <p:nvPr/>
        </p:nvSpPr>
        <p:spPr>
          <a:xfrm>
            <a:off x="7772400" y="1783080"/>
            <a:ext cx="411480" cy="329184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3ud100_cellt51"/>
          <p:cNvSpPr txBox="1"/>
          <p:nvPr/>
        </p:nvSpPr>
        <p:spPr>
          <a:xfrm>
            <a:off x="7772400" y="17830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7</a:t>
            </a:r>
          </a:p>
        </p:txBody>
      </p:sp>
      <p:sp>
        <p:nvSpPr>
          <p:cNvPr id="53" name="a3ud100_lb52"/>
          <p:cNvSpPr txBox="1"/>
          <p:nvPr/>
        </p:nvSpPr>
        <p:spPr>
          <a:xfrm>
            <a:off x="4892040" y="157276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  <a:latin typeface="Segoe UI"/>
              </a:rPr>
              <a:t>offset</a:t>
            </a:r>
          </a:p>
        </p:txBody>
      </p:sp>
      <p:sp>
        <p:nvSpPr>
          <p:cNvPr id="54" name="a3ud100_lb53"/>
          <p:cNvSpPr txBox="1"/>
          <p:nvPr/>
        </p:nvSpPr>
        <p:spPr>
          <a:xfrm>
            <a:off x="6675120" y="157276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78716C"/>
                </a:solidFill>
                <a:latin typeface="Segoe UI"/>
              </a:rPr>
              <a:t>new events append here  &gt;</a:t>
            </a:r>
          </a:p>
        </p:txBody>
      </p:sp>
      <p:sp>
        <p:nvSpPr>
          <p:cNvPr id="55" name="a4u_nd54"/>
          <p:cNvSpPr/>
          <p:nvPr/>
        </p:nvSpPr>
        <p:spPr>
          <a:xfrm>
            <a:off x="5742432" y="256032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4u_ndt55"/>
          <p:cNvSpPr txBox="1"/>
          <p:nvPr/>
        </p:nvSpPr>
        <p:spPr>
          <a:xfrm>
            <a:off x="5788152" y="256032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fraud @ 3</a:t>
            </a:r>
          </a:p>
        </p:txBody>
      </p:sp>
      <p:cxnSp>
        <p:nvCxnSpPr>
          <p:cNvPr id="57" name="a4u_ar56"/>
          <p:cNvCxnSpPr/>
          <p:nvPr/>
        </p:nvCxnSpPr>
        <p:spPr>
          <a:xfrm flipV="1">
            <a:off x="6336792" y="2157984"/>
            <a:ext cx="0" cy="384048"/>
          </a:xfrm>
          <a:prstGeom prst="line">
            <a:avLst/>
          </a:prstGeom>
          <a:ln w="1587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a4ud150_nd57"/>
          <p:cNvSpPr/>
          <p:nvPr/>
        </p:nvSpPr>
        <p:spPr>
          <a:xfrm>
            <a:off x="7388352" y="256032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4ud150_ndt58"/>
          <p:cNvSpPr txBox="1"/>
          <p:nvPr/>
        </p:nvSpPr>
        <p:spPr>
          <a:xfrm>
            <a:off x="7434072" y="256032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warehouse @ 7</a:t>
            </a:r>
          </a:p>
        </p:txBody>
      </p:sp>
      <p:cxnSp>
        <p:nvCxnSpPr>
          <p:cNvPr id="60" name="a4ud150_ar59"/>
          <p:cNvCxnSpPr/>
          <p:nvPr/>
        </p:nvCxnSpPr>
        <p:spPr>
          <a:xfrm flipV="1">
            <a:off x="7982712" y="2157984"/>
            <a:ext cx="0" cy="384048"/>
          </a:xfrm>
          <a:prstGeom prst="line">
            <a:avLst/>
          </a:prstGeom>
          <a:ln w="1587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4ud250_dot60"/>
          <p:cNvSpPr/>
          <p:nvPr/>
        </p:nvSpPr>
        <p:spPr>
          <a:xfrm>
            <a:off x="4864608" y="31866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4ud250_b61"/>
          <p:cNvSpPr txBox="1"/>
          <p:nvPr/>
        </p:nvSpPr>
        <p:spPr>
          <a:xfrm>
            <a:off x="5084064" y="309067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Append-only; kept for the retention period</a:t>
            </a:r>
          </a:p>
        </p:txBody>
      </p:sp>
      <p:sp>
        <p:nvSpPr>
          <p:cNvPr id="63" name="a4ud350_dot62"/>
          <p:cNvSpPr/>
          <p:nvPr/>
        </p:nvSpPr>
        <p:spPr>
          <a:xfrm>
            <a:off x="4864608" y="355244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4ud350_b63"/>
          <p:cNvSpPr txBox="1"/>
          <p:nvPr/>
        </p:nvSpPr>
        <p:spPr>
          <a:xfrm>
            <a:off x="5084064" y="345643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Each consumer group keeps its own offset</a:t>
            </a:r>
          </a:p>
        </p:txBody>
      </p:sp>
      <p:sp>
        <p:nvSpPr>
          <p:cNvPr id="65" name="a4ud450_dot64"/>
          <p:cNvSpPr/>
          <p:nvPr/>
        </p:nvSpPr>
        <p:spPr>
          <a:xfrm>
            <a:off x="4864608" y="391820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4ud450_b65"/>
          <p:cNvSpPr txBox="1"/>
          <p:nvPr/>
        </p:nvSpPr>
        <p:spPr>
          <a:xfrm>
            <a:off x="5084064" y="3822192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Replay = move the offset back, read again</a:t>
            </a:r>
          </a:p>
        </p:txBody>
      </p:sp>
      <p:sp>
        <p:nvSpPr>
          <p:cNvPr id="67" name="ft66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17</a:t>
            </a:r>
          </a:p>
        </p:txBody>
      </p:sp>
      <p:sp>
        <p:nvSpPr>
          <p:cNvPr id="68" name="ft67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ft68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The Messaging Landscape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Same idea, different trade-offs - most banks run more than one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216152"/>
            <a:ext cx="1325880" cy="40233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216152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3" name="a1wd120_td12"/>
          <p:cNvSpPr/>
          <p:nvPr/>
        </p:nvSpPr>
        <p:spPr>
          <a:xfrm>
            <a:off x="457200" y="1618488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20_tdt13"/>
          <p:cNvSpPr txBox="1"/>
          <p:nvPr/>
        </p:nvSpPr>
        <p:spPr>
          <a:xfrm>
            <a:off x="530352" y="1618488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IBM MQ</a:t>
            </a:r>
          </a:p>
        </p:txBody>
      </p:sp>
      <p:sp>
        <p:nvSpPr>
          <p:cNvPr id="15" name="a1wd240_td14"/>
          <p:cNvSpPr/>
          <p:nvPr/>
        </p:nvSpPr>
        <p:spPr>
          <a:xfrm>
            <a:off x="457200" y="2020824"/>
            <a:ext cx="1325880" cy="402336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40_tdt15"/>
          <p:cNvSpPr txBox="1"/>
          <p:nvPr/>
        </p:nvSpPr>
        <p:spPr>
          <a:xfrm>
            <a:off x="530352" y="202082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RabbitMQ</a:t>
            </a:r>
          </a:p>
        </p:txBody>
      </p:sp>
      <p:sp>
        <p:nvSpPr>
          <p:cNvPr id="17" name="a1wd360_td16"/>
          <p:cNvSpPr/>
          <p:nvPr/>
        </p:nvSpPr>
        <p:spPr>
          <a:xfrm>
            <a:off x="457200" y="2423160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60_tdt17"/>
          <p:cNvSpPr txBox="1"/>
          <p:nvPr/>
        </p:nvSpPr>
        <p:spPr>
          <a:xfrm>
            <a:off x="530352" y="2423160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Redis Pub/Sub</a:t>
            </a:r>
          </a:p>
        </p:txBody>
      </p:sp>
      <p:sp>
        <p:nvSpPr>
          <p:cNvPr id="19" name="a1wd480_td18"/>
          <p:cNvSpPr/>
          <p:nvPr/>
        </p:nvSpPr>
        <p:spPr>
          <a:xfrm>
            <a:off x="457200" y="2825496"/>
            <a:ext cx="1325880" cy="40233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80_tdt19"/>
          <p:cNvSpPr txBox="1"/>
          <p:nvPr/>
        </p:nvSpPr>
        <p:spPr>
          <a:xfrm>
            <a:off x="530352" y="2825496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Apache Kafka</a:t>
            </a:r>
          </a:p>
        </p:txBody>
      </p:sp>
      <p:sp>
        <p:nvSpPr>
          <p:cNvPr id="21" name="a1wd600_td20"/>
          <p:cNvSpPr/>
          <p:nvPr/>
        </p:nvSpPr>
        <p:spPr>
          <a:xfrm>
            <a:off x="457200" y="3227832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600_tdt21"/>
          <p:cNvSpPr txBox="1"/>
          <p:nvPr/>
        </p:nvSpPr>
        <p:spPr>
          <a:xfrm>
            <a:off x="530352" y="3227832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Apache Pulsar</a:t>
            </a:r>
          </a:p>
        </p:txBody>
      </p:sp>
      <p:sp>
        <p:nvSpPr>
          <p:cNvPr id="23" name="a1f_th22"/>
          <p:cNvSpPr/>
          <p:nvPr/>
        </p:nvSpPr>
        <p:spPr>
          <a:xfrm>
            <a:off x="1783080" y="1216152"/>
            <a:ext cx="1691640" cy="40233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f_tht23"/>
          <p:cNvSpPr txBox="1"/>
          <p:nvPr/>
        </p:nvSpPr>
        <p:spPr>
          <a:xfrm>
            <a:off x="1856231" y="1216152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25" name="a1wd120_td24"/>
          <p:cNvSpPr/>
          <p:nvPr/>
        </p:nvSpPr>
        <p:spPr>
          <a:xfrm>
            <a:off x="1783080" y="1618488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120_tdt25"/>
          <p:cNvSpPr txBox="1"/>
          <p:nvPr/>
        </p:nvSpPr>
        <p:spPr>
          <a:xfrm>
            <a:off x="1856231" y="1618488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Queues, plus pub/sub</a:t>
            </a:r>
          </a:p>
        </p:txBody>
      </p:sp>
      <p:sp>
        <p:nvSpPr>
          <p:cNvPr id="27" name="a1wd240_td26"/>
          <p:cNvSpPr/>
          <p:nvPr/>
        </p:nvSpPr>
        <p:spPr>
          <a:xfrm>
            <a:off x="1783080" y="2020824"/>
            <a:ext cx="1691640" cy="402336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240_tdt27"/>
          <p:cNvSpPr txBox="1"/>
          <p:nvPr/>
        </p:nvSpPr>
        <p:spPr>
          <a:xfrm>
            <a:off x="1856231" y="2020824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Queues behind exchanges</a:t>
            </a:r>
          </a:p>
        </p:txBody>
      </p:sp>
      <p:sp>
        <p:nvSpPr>
          <p:cNvPr id="29" name="a1wd360_td28"/>
          <p:cNvSpPr/>
          <p:nvPr/>
        </p:nvSpPr>
        <p:spPr>
          <a:xfrm>
            <a:off x="1783080" y="2423160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360_tdt29"/>
          <p:cNvSpPr txBox="1"/>
          <p:nvPr/>
        </p:nvSpPr>
        <p:spPr>
          <a:xfrm>
            <a:off x="1856231" y="2423160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Fire-and-forget pub/sub</a:t>
            </a:r>
          </a:p>
        </p:txBody>
      </p:sp>
      <p:sp>
        <p:nvSpPr>
          <p:cNvPr id="31" name="a1wd480_td30"/>
          <p:cNvSpPr/>
          <p:nvPr/>
        </p:nvSpPr>
        <p:spPr>
          <a:xfrm>
            <a:off x="1783080" y="2825496"/>
            <a:ext cx="1691640" cy="40233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80_tdt31"/>
          <p:cNvSpPr txBox="1"/>
          <p:nvPr/>
        </p:nvSpPr>
        <p:spPr>
          <a:xfrm>
            <a:off x="1856231" y="2825496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Partitioned, replicated log</a:t>
            </a:r>
          </a:p>
        </p:txBody>
      </p:sp>
      <p:sp>
        <p:nvSpPr>
          <p:cNvPr id="33" name="a1wd600_td32"/>
          <p:cNvSpPr/>
          <p:nvPr/>
        </p:nvSpPr>
        <p:spPr>
          <a:xfrm>
            <a:off x="1783080" y="3227832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00_tdt33"/>
          <p:cNvSpPr txBox="1"/>
          <p:nvPr/>
        </p:nvSpPr>
        <p:spPr>
          <a:xfrm>
            <a:off x="1856231" y="3227832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Log with queue semantics</a:t>
            </a:r>
          </a:p>
        </p:txBody>
      </p:sp>
      <p:sp>
        <p:nvSpPr>
          <p:cNvPr id="35" name="a1f_th34"/>
          <p:cNvSpPr/>
          <p:nvPr/>
        </p:nvSpPr>
        <p:spPr>
          <a:xfrm>
            <a:off x="3474720" y="1216152"/>
            <a:ext cx="1508760" cy="40233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f_tht35"/>
          <p:cNvSpPr txBox="1"/>
          <p:nvPr/>
        </p:nvSpPr>
        <p:spPr>
          <a:xfrm>
            <a:off x="3547872" y="1216152"/>
            <a:ext cx="13990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After a read</a:t>
            </a:r>
          </a:p>
        </p:txBody>
      </p:sp>
      <p:sp>
        <p:nvSpPr>
          <p:cNvPr id="37" name="a1wd120_td36"/>
          <p:cNvSpPr/>
          <p:nvPr/>
        </p:nvSpPr>
        <p:spPr>
          <a:xfrm>
            <a:off x="3474720" y="1618488"/>
            <a:ext cx="1508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20_tdt37"/>
          <p:cNvSpPr txBox="1"/>
          <p:nvPr/>
        </p:nvSpPr>
        <p:spPr>
          <a:xfrm>
            <a:off x="3547872" y="1618488"/>
            <a:ext cx="13990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Removed</a:t>
            </a:r>
          </a:p>
        </p:txBody>
      </p:sp>
      <p:sp>
        <p:nvSpPr>
          <p:cNvPr id="39" name="a1wd240_td38"/>
          <p:cNvSpPr/>
          <p:nvPr/>
        </p:nvSpPr>
        <p:spPr>
          <a:xfrm>
            <a:off x="3474720" y="2020824"/>
            <a:ext cx="1508760" cy="402336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40_tdt39"/>
          <p:cNvSpPr txBox="1"/>
          <p:nvPr/>
        </p:nvSpPr>
        <p:spPr>
          <a:xfrm>
            <a:off x="3547872" y="2020824"/>
            <a:ext cx="13990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Removed (Streams keep)</a:t>
            </a:r>
          </a:p>
        </p:txBody>
      </p:sp>
      <p:sp>
        <p:nvSpPr>
          <p:cNvPr id="41" name="a1wd360_td40"/>
          <p:cNvSpPr/>
          <p:nvPr/>
        </p:nvSpPr>
        <p:spPr>
          <a:xfrm>
            <a:off x="3474720" y="2423160"/>
            <a:ext cx="1508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360_tdt41"/>
          <p:cNvSpPr txBox="1"/>
          <p:nvPr/>
        </p:nvSpPr>
        <p:spPr>
          <a:xfrm>
            <a:off x="3547872" y="2423160"/>
            <a:ext cx="13990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Never stored</a:t>
            </a:r>
          </a:p>
        </p:txBody>
      </p:sp>
      <p:sp>
        <p:nvSpPr>
          <p:cNvPr id="43" name="a1wd480_td42"/>
          <p:cNvSpPr/>
          <p:nvPr/>
        </p:nvSpPr>
        <p:spPr>
          <a:xfrm>
            <a:off x="3474720" y="2825496"/>
            <a:ext cx="1508760" cy="40233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480_tdt43"/>
          <p:cNvSpPr txBox="1"/>
          <p:nvPr/>
        </p:nvSpPr>
        <p:spPr>
          <a:xfrm>
            <a:off x="3547872" y="2825496"/>
            <a:ext cx="13990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Kept for retention</a:t>
            </a:r>
          </a:p>
        </p:txBody>
      </p:sp>
      <p:sp>
        <p:nvSpPr>
          <p:cNvPr id="45" name="a1wd600_td44"/>
          <p:cNvSpPr/>
          <p:nvPr/>
        </p:nvSpPr>
        <p:spPr>
          <a:xfrm>
            <a:off x="3474720" y="3227832"/>
            <a:ext cx="1508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600_tdt45"/>
          <p:cNvSpPr txBox="1"/>
          <p:nvPr/>
        </p:nvSpPr>
        <p:spPr>
          <a:xfrm>
            <a:off x="3547872" y="3227832"/>
            <a:ext cx="13990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Per retention policy</a:t>
            </a:r>
          </a:p>
        </p:txBody>
      </p:sp>
      <p:sp>
        <p:nvSpPr>
          <p:cNvPr id="47" name="a1f_th46"/>
          <p:cNvSpPr/>
          <p:nvPr/>
        </p:nvSpPr>
        <p:spPr>
          <a:xfrm>
            <a:off x="4983479" y="1216152"/>
            <a:ext cx="777240" cy="40233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f_tht47"/>
          <p:cNvSpPr txBox="1"/>
          <p:nvPr/>
        </p:nvSpPr>
        <p:spPr>
          <a:xfrm>
            <a:off x="5056631" y="1216152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Replay</a:t>
            </a:r>
          </a:p>
        </p:txBody>
      </p:sp>
      <p:sp>
        <p:nvSpPr>
          <p:cNvPr id="49" name="a1wd120_td48"/>
          <p:cNvSpPr/>
          <p:nvPr/>
        </p:nvSpPr>
        <p:spPr>
          <a:xfrm>
            <a:off x="4983479" y="1618488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120_tdt49"/>
          <p:cNvSpPr txBox="1"/>
          <p:nvPr/>
        </p:nvSpPr>
        <p:spPr>
          <a:xfrm>
            <a:off x="5056631" y="1618488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No</a:t>
            </a:r>
          </a:p>
        </p:txBody>
      </p:sp>
      <p:sp>
        <p:nvSpPr>
          <p:cNvPr id="51" name="a1wd240_td50"/>
          <p:cNvSpPr/>
          <p:nvPr/>
        </p:nvSpPr>
        <p:spPr>
          <a:xfrm>
            <a:off x="4983479" y="2020824"/>
            <a:ext cx="777240" cy="402336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240_tdt51"/>
          <p:cNvSpPr txBox="1"/>
          <p:nvPr/>
        </p:nvSpPr>
        <p:spPr>
          <a:xfrm>
            <a:off x="5056631" y="2020824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Streams</a:t>
            </a:r>
          </a:p>
        </p:txBody>
      </p:sp>
      <p:sp>
        <p:nvSpPr>
          <p:cNvPr id="53" name="a1wd360_td52"/>
          <p:cNvSpPr/>
          <p:nvPr/>
        </p:nvSpPr>
        <p:spPr>
          <a:xfrm>
            <a:off x="4983479" y="2423160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360_tdt53"/>
          <p:cNvSpPr txBox="1"/>
          <p:nvPr/>
        </p:nvSpPr>
        <p:spPr>
          <a:xfrm>
            <a:off x="5056631" y="2423160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No</a:t>
            </a:r>
          </a:p>
        </p:txBody>
      </p:sp>
      <p:sp>
        <p:nvSpPr>
          <p:cNvPr id="55" name="a1wd480_td54"/>
          <p:cNvSpPr/>
          <p:nvPr/>
        </p:nvSpPr>
        <p:spPr>
          <a:xfrm>
            <a:off x="4983479" y="2825496"/>
            <a:ext cx="777240" cy="40233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480_tdt55"/>
          <p:cNvSpPr txBox="1"/>
          <p:nvPr/>
        </p:nvSpPr>
        <p:spPr>
          <a:xfrm>
            <a:off x="5056631" y="2825496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Yes</a:t>
            </a:r>
          </a:p>
        </p:txBody>
      </p:sp>
      <p:sp>
        <p:nvSpPr>
          <p:cNvPr id="57" name="a1wd600_td56"/>
          <p:cNvSpPr/>
          <p:nvPr/>
        </p:nvSpPr>
        <p:spPr>
          <a:xfrm>
            <a:off x="4983479" y="3227832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600_tdt57"/>
          <p:cNvSpPr txBox="1"/>
          <p:nvPr/>
        </p:nvSpPr>
        <p:spPr>
          <a:xfrm>
            <a:off x="5056631" y="3227832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If retained</a:t>
            </a:r>
          </a:p>
        </p:txBody>
      </p:sp>
      <p:sp>
        <p:nvSpPr>
          <p:cNvPr id="59" name="a1f_th58"/>
          <p:cNvSpPr/>
          <p:nvPr/>
        </p:nvSpPr>
        <p:spPr>
          <a:xfrm>
            <a:off x="5760719" y="1216152"/>
            <a:ext cx="2926080" cy="40233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f_tht59"/>
          <p:cNvSpPr txBox="1"/>
          <p:nvPr/>
        </p:nvSpPr>
        <p:spPr>
          <a:xfrm>
            <a:off x="5833871" y="1216152"/>
            <a:ext cx="2816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Typical use in a bank</a:t>
            </a:r>
          </a:p>
        </p:txBody>
      </p:sp>
      <p:sp>
        <p:nvSpPr>
          <p:cNvPr id="61" name="a1wd120_td60"/>
          <p:cNvSpPr/>
          <p:nvPr/>
        </p:nvSpPr>
        <p:spPr>
          <a:xfrm>
            <a:off x="5760719" y="1618488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120_tdt61"/>
          <p:cNvSpPr txBox="1"/>
          <p:nvPr/>
        </p:nvSpPr>
        <p:spPr>
          <a:xfrm>
            <a:off x="5833871" y="1618488"/>
            <a:ext cx="2816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Core banking and payment-switch integration</a:t>
            </a:r>
          </a:p>
        </p:txBody>
      </p:sp>
      <p:sp>
        <p:nvSpPr>
          <p:cNvPr id="63" name="a1wd240_td62"/>
          <p:cNvSpPr/>
          <p:nvPr/>
        </p:nvSpPr>
        <p:spPr>
          <a:xfrm>
            <a:off x="5760719" y="2020824"/>
            <a:ext cx="2926080" cy="402336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240_tdt63"/>
          <p:cNvSpPr txBox="1"/>
          <p:nvPr/>
        </p:nvSpPr>
        <p:spPr>
          <a:xfrm>
            <a:off x="5833871" y="2020824"/>
            <a:ext cx="2816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Task queues, work distribution, RPC</a:t>
            </a:r>
          </a:p>
        </p:txBody>
      </p:sp>
      <p:sp>
        <p:nvSpPr>
          <p:cNvPr id="65" name="a1wd360_td64"/>
          <p:cNvSpPr/>
          <p:nvPr/>
        </p:nvSpPr>
        <p:spPr>
          <a:xfrm>
            <a:off x="5760719" y="2423160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1wd360_tdt65"/>
          <p:cNvSpPr txBox="1"/>
          <p:nvPr/>
        </p:nvSpPr>
        <p:spPr>
          <a:xfrm>
            <a:off x="5833871" y="2423160"/>
            <a:ext cx="2816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Live screen updates - missed means gone</a:t>
            </a:r>
          </a:p>
        </p:txBody>
      </p:sp>
      <p:sp>
        <p:nvSpPr>
          <p:cNvPr id="67" name="a1wd480_td66"/>
          <p:cNvSpPr/>
          <p:nvPr/>
        </p:nvSpPr>
        <p:spPr>
          <a:xfrm>
            <a:off x="5760719" y="2825496"/>
            <a:ext cx="2926080" cy="40233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1wd480_tdt67"/>
          <p:cNvSpPr txBox="1"/>
          <p:nvPr/>
        </p:nvSpPr>
        <p:spPr>
          <a:xfrm>
            <a:off x="5833871" y="2825496"/>
            <a:ext cx="2816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Transaction events, CDC, audit, analytics feeds</a:t>
            </a:r>
          </a:p>
        </p:txBody>
      </p:sp>
      <p:sp>
        <p:nvSpPr>
          <p:cNvPr id="69" name="a1wd600_td68"/>
          <p:cNvSpPr/>
          <p:nvPr/>
        </p:nvSpPr>
        <p:spPr>
          <a:xfrm>
            <a:off x="5760719" y="3227832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1wd600_tdt69"/>
          <p:cNvSpPr txBox="1"/>
          <p:nvPr/>
        </p:nvSpPr>
        <p:spPr>
          <a:xfrm>
            <a:off x="5833871" y="3227832"/>
            <a:ext cx="2816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Multi-tenant streaming, a Kafka alternative</a:t>
            </a:r>
          </a:p>
        </p:txBody>
      </p:sp>
      <p:sp>
        <p:nvSpPr>
          <p:cNvPr id="71" name="a2u_nb70"/>
          <p:cNvSpPr/>
          <p:nvPr/>
        </p:nvSpPr>
        <p:spPr>
          <a:xfrm>
            <a:off x="457200" y="376732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2u_nacc71"/>
          <p:cNvSpPr/>
          <p:nvPr/>
        </p:nvSpPr>
        <p:spPr>
          <a:xfrm>
            <a:off x="457200" y="3767328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2u_nt72"/>
          <p:cNvSpPr txBox="1"/>
          <p:nvPr/>
        </p:nvSpPr>
        <p:spPr>
          <a:xfrm>
            <a:off x="658368" y="3767328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KEY  </a:t>
            </a:r>
            <a:r>
              <a:rPr sz="900" b="0">
                <a:solidFill>
                  <a:srgbClr val="44403C"/>
                </a:solidFill>
                <a:latin typeface="Segoe UI"/>
              </a:rPr>
              <a:t>Redis Pub/Sub drops a message when nobody is listening. Kafka keeps it for the retention period (7 days by default) whether or not anyone has read it.</a:t>
            </a:r>
          </a:p>
        </p:txBody>
      </p:sp>
      <p:sp>
        <p:nvSpPr>
          <p:cNvPr id="74" name="ft73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18</a:t>
            </a:r>
          </a:p>
        </p:txBody>
      </p:sp>
      <p:sp>
        <p:nvSpPr>
          <p:cNvPr id="75" name="ft74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ft75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Kafka in One Slide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A distributed, append-only log that many consumers read independently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210312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2103120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Producer</a:t>
            </a:r>
          </a:p>
        </p:txBody>
      </p:sp>
      <p:sp>
        <p:nvSpPr>
          <p:cNvPr id="13" name="a1ud100_topic12"/>
          <p:cNvSpPr/>
          <p:nvPr/>
        </p:nvSpPr>
        <p:spPr>
          <a:xfrm>
            <a:off x="1645920" y="1280160"/>
            <a:ext cx="2606040" cy="2103120"/>
          </a:xfrm>
          <a:prstGeom prst="roundRect">
            <a:avLst>
              <a:gd name="adj" fmla="val 4347"/>
            </a:avLst>
          </a:prstGeom>
          <a:solidFill>
            <a:srgbClr val="FFEDD5"/>
          </a:solidFill>
          <a:ln w="12700">
            <a:solidFill>
              <a:srgbClr val="FB92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100_tn13"/>
          <p:cNvSpPr txBox="1"/>
          <p:nvPr/>
        </p:nvSpPr>
        <p:spPr>
          <a:xfrm>
            <a:off x="1755648" y="1335024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onsolas"/>
              </a:rPr>
              <a:t>topic  bank.txn.completed</a:t>
            </a:r>
          </a:p>
        </p:txBody>
      </p:sp>
      <p:sp>
        <p:nvSpPr>
          <p:cNvPr id="15" name="a2u_pl14"/>
          <p:cNvSpPr txBox="1"/>
          <p:nvPr/>
        </p:nvSpPr>
        <p:spPr>
          <a:xfrm>
            <a:off x="1755648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Consolas"/>
              </a:rPr>
              <a:t>P0</a:t>
            </a:r>
          </a:p>
        </p:txBody>
      </p:sp>
      <p:sp>
        <p:nvSpPr>
          <p:cNvPr id="16" name="a2w_cell15"/>
          <p:cNvSpPr/>
          <p:nvPr/>
        </p:nvSpPr>
        <p:spPr>
          <a:xfrm>
            <a:off x="2103120" y="169164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_cellt16"/>
          <p:cNvSpPr txBox="1"/>
          <p:nvPr/>
        </p:nvSpPr>
        <p:spPr>
          <a:xfrm>
            <a:off x="2103120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</a:t>
            </a:r>
          </a:p>
        </p:txBody>
      </p:sp>
      <p:sp>
        <p:nvSpPr>
          <p:cNvPr id="18" name="a2wd30_cell17"/>
          <p:cNvSpPr/>
          <p:nvPr/>
        </p:nvSpPr>
        <p:spPr>
          <a:xfrm>
            <a:off x="2432303" y="169164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30_cellt18"/>
          <p:cNvSpPr txBox="1"/>
          <p:nvPr/>
        </p:nvSpPr>
        <p:spPr>
          <a:xfrm>
            <a:off x="2432303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20" name="a2wd60_cell19"/>
          <p:cNvSpPr/>
          <p:nvPr/>
        </p:nvSpPr>
        <p:spPr>
          <a:xfrm>
            <a:off x="2761487" y="169164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60_cellt20"/>
          <p:cNvSpPr txBox="1"/>
          <p:nvPr/>
        </p:nvSpPr>
        <p:spPr>
          <a:xfrm>
            <a:off x="2761487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22" name="a2wd90_cell21"/>
          <p:cNvSpPr/>
          <p:nvPr/>
        </p:nvSpPr>
        <p:spPr>
          <a:xfrm>
            <a:off x="3090672" y="169164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90_cellt22"/>
          <p:cNvSpPr txBox="1"/>
          <p:nvPr/>
        </p:nvSpPr>
        <p:spPr>
          <a:xfrm>
            <a:off x="3090672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24" name="a2wd120_cell23"/>
          <p:cNvSpPr/>
          <p:nvPr/>
        </p:nvSpPr>
        <p:spPr>
          <a:xfrm>
            <a:off x="3419856" y="169164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120_cellt24"/>
          <p:cNvSpPr txBox="1"/>
          <p:nvPr/>
        </p:nvSpPr>
        <p:spPr>
          <a:xfrm>
            <a:off x="3419856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sp>
        <p:nvSpPr>
          <p:cNvPr id="26" name="a2wd150_cell25"/>
          <p:cNvSpPr/>
          <p:nvPr/>
        </p:nvSpPr>
        <p:spPr>
          <a:xfrm>
            <a:off x="3749039" y="169164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150_cellt26"/>
          <p:cNvSpPr txBox="1"/>
          <p:nvPr/>
        </p:nvSpPr>
        <p:spPr>
          <a:xfrm>
            <a:off x="3749039" y="16916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5</a:t>
            </a:r>
          </a:p>
        </p:txBody>
      </p:sp>
      <p:sp>
        <p:nvSpPr>
          <p:cNvPr id="28" name="a2ud100_pl27"/>
          <p:cNvSpPr txBox="1"/>
          <p:nvPr/>
        </p:nvSpPr>
        <p:spPr>
          <a:xfrm>
            <a:off x="1755648" y="22402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Consolas"/>
              </a:rPr>
              <a:t>P1</a:t>
            </a:r>
          </a:p>
        </p:txBody>
      </p:sp>
      <p:sp>
        <p:nvSpPr>
          <p:cNvPr id="29" name="a2wd100_cell28"/>
          <p:cNvSpPr/>
          <p:nvPr/>
        </p:nvSpPr>
        <p:spPr>
          <a:xfrm>
            <a:off x="2103120" y="224028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100_cellt29"/>
          <p:cNvSpPr txBox="1"/>
          <p:nvPr/>
        </p:nvSpPr>
        <p:spPr>
          <a:xfrm>
            <a:off x="2103120" y="22402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</a:t>
            </a:r>
          </a:p>
        </p:txBody>
      </p:sp>
      <p:sp>
        <p:nvSpPr>
          <p:cNvPr id="31" name="a2wd130_cell30"/>
          <p:cNvSpPr/>
          <p:nvPr/>
        </p:nvSpPr>
        <p:spPr>
          <a:xfrm>
            <a:off x="2432303" y="224028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130_cellt31"/>
          <p:cNvSpPr txBox="1"/>
          <p:nvPr/>
        </p:nvSpPr>
        <p:spPr>
          <a:xfrm>
            <a:off x="2432303" y="22402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33" name="a2wd160_cell32"/>
          <p:cNvSpPr/>
          <p:nvPr/>
        </p:nvSpPr>
        <p:spPr>
          <a:xfrm>
            <a:off x="2761487" y="224028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d160_cellt33"/>
          <p:cNvSpPr txBox="1"/>
          <p:nvPr/>
        </p:nvSpPr>
        <p:spPr>
          <a:xfrm>
            <a:off x="2761487" y="22402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35" name="a2wd190_cell34"/>
          <p:cNvSpPr/>
          <p:nvPr/>
        </p:nvSpPr>
        <p:spPr>
          <a:xfrm>
            <a:off x="3090672" y="224028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190_cellt35"/>
          <p:cNvSpPr txBox="1"/>
          <p:nvPr/>
        </p:nvSpPr>
        <p:spPr>
          <a:xfrm>
            <a:off x="3090672" y="22402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37" name="a2ud200_pl36"/>
          <p:cNvSpPr txBox="1"/>
          <p:nvPr/>
        </p:nvSpPr>
        <p:spPr>
          <a:xfrm>
            <a:off x="1755648" y="27889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Consolas"/>
              </a:rPr>
              <a:t>P2</a:t>
            </a:r>
          </a:p>
        </p:txBody>
      </p:sp>
      <p:sp>
        <p:nvSpPr>
          <p:cNvPr id="38" name="a2wd200_cell37"/>
          <p:cNvSpPr/>
          <p:nvPr/>
        </p:nvSpPr>
        <p:spPr>
          <a:xfrm>
            <a:off x="2103120" y="278892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200_cellt38"/>
          <p:cNvSpPr txBox="1"/>
          <p:nvPr/>
        </p:nvSpPr>
        <p:spPr>
          <a:xfrm>
            <a:off x="2103120" y="27889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</a:t>
            </a:r>
          </a:p>
        </p:txBody>
      </p:sp>
      <p:sp>
        <p:nvSpPr>
          <p:cNvPr id="40" name="a2wd230_cell39"/>
          <p:cNvSpPr/>
          <p:nvPr/>
        </p:nvSpPr>
        <p:spPr>
          <a:xfrm>
            <a:off x="2432303" y="278892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230_cellt40"/>
          <p:cNvSpPr txBox="1"/>
          <p:nvPr/>
        </p:nvSpPr>
        <p:spPr>
          <a:xfrm>
            <a:off x="2432303" y="27889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42" name="a2wd260_cell41"/>
          <p:cNvSpPr/>
          <p:nvPr/>
        </p:nvSpPr>
        <p:spPr>
          <a:xfrm>
            <a:off x="2761487" y="278892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260_cellt42"/>
          <p:cNvSpPr txBox="1"/>
          <p:nvPr/>
        </p:nvSpPr>
        <p:spPr>
          <a:xfrm>
            <a:off x="2761487" y="27889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44" name="a2wd290_cell43"/>
          <p:cNvSpPr/>
          <p:nvPr/>
        </p:nvSpPr>
        <p:spPr>
          <a:xfrm>
            <a:off x="3090672" y="278892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290_cellt44"/>
          <p:cNvSpPr txBox="1"/>
          <p:nvPr/>
        </p:nvSpPr>
        <p:spPr>
          <a:xfrm>
            <a:off x="3090672" y="27889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46" name="a2wd320_cell45"/>
          <p:cNvSpPr/>
          <p:nvPr/>
        </p:nvSpPr>
        <p:spPr>
          <a:xfrm>
            <a:off x="3419856" y="2788920"/>
            <a:ext cx="329184" cy="292608"/>
          </a:xfrm>
          <a:prstGeom prst="rect">
            <a:avLst/>
          </a:prstGeom>
          <a:solidFill>
            <a:srgbClr val="F7F6F3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320_cellt46"/>
          <p:cNvSpPr txBox="1"/>
          <p:nvPr/>
        </p:nvSpPr>
        <p:spPr>
          <a:xfrm>
            <a:off x="3419856" y="27889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cxnSp>
        <p:nvCxnSpPr>
          <p:cNvPr id="48" name="a1ud100_ar47"/>
          <p:cNvCxnSpPr/>
          <p:nvPr/>
        </p:nvCxnSpPr>
        <p:spPr>
          <a:xfrm>
            <a:off x="1435608" y="2386584"/>
            <a:ext cx="192024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3u_nd48"/>
          <p:cNvSpPr/>
          <p:nvPr/>
        </p:nvSpPr>
        <p:spPr>
          <a:xfrm>
            <a:off x="4480560" y="16916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3u_ndt49"/>
          <p:cNvSpPr txBox="1"/>
          <p:nvPr/>
        </p:nvSpPr>
        <p:spPr>
          <a:xfrm>
            <a:off x="4526280" y="16916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fraud-engine</a:t>
            </a:r>
          </a:p>
        </p:txBody>
      </p:sp>
      <p:sp>
        <p:nvSpPr>
          <p:cNvPr id="51" name="a3ud100_nd50"/>
          <p:cNvSpPr/>
          <p:nvPr/>
        </p:nvSpPr>
        <p:spPr>
          <a:xfrm>
            <a:off x="4480560" y="2697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3ud100_ndt51"/>
          <p:cNvSpPr txBox="1"/>
          <p:nvPr/>
        </p:nvSpPr>
        <p:spPr>
          <a:xfrm>
            <a:off x="4526280" y="26974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C1917"/>
                </a:solidFill>
                <a:latin typeface="Segoe UI"/>
              </a:rPr>
              <a:t>sms-notifier</a:t>
            </a:r>
          </a:p>
        </p:txBody>
      </p:sp>
      <p:cxnSp>
        <p:nvCxnSpPr>
          <p:cNvPr id="53" name="a3u_ar52"/>
          <p:cNvCxnSpPr/>
          <p:nvPr/>
        </p:nvCxnSpPr>
        <p:spPr>
          <a:xfrm>
            <a:off x="4261104" y="1920240"/>
            <a:ext cx="201168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a3ud100_ar53"/>
          <p:cNvCxnSpPr/>
          <p:nvPr/>
        </p:nvCxnSpPr>
        <p:spPr>
          <a:xfrm>
            <a:off x="4261104" y="2926080"/>
            <a:ext cx="201168" cy="0"/>
          </a:xfrm>
          <a:prstGeom prst="line">
            <a:avLst/>
          </a:prstGeom>
          <a:ln w="1905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4u_nb54"/>
          <p:cNvSpPr/>
          <p:nvPr/>
        </p:nvSpPr>
        <p:spPr>
          <a:xfrm>
            <a:off x="457200" y="3611880"/>
            <a:ext cx="4937760" cy="804672"/>
          </a:xfrm>
          <a:prstGeom prst="roundRect">
            <a:avLst>
              <a:gd name="adj" fmla="val 9090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4u_nacc55"/>
          <p:cNvSpPr/>
          <p:nvPr/>
        </p:nvSpPr>
        <p:spPr>
          <a:xfrm>
            <a:off x="457200" y="3611880"/>
            <a:ext cx="54864" cy="8046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4u_nt56"/>
          <p:cNvSpPr txBox="1"/>
          <p:nvPr/>
        </p:nvSpPr>
        <p:spPr>
          <a:xfrm>
            <a:off x="658368" y="3611880"/>
            <a:ext cx="453542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Reading is not consuming: every consumer group keeps its own position, so fraud and SMS read the same events independently.</a:t>
            </a:r>
          </a:p>
        </p:txBody>
      </p:sp>
      <p:sp>
        <p:nvSpPr>
          <p:cNvPr id="58" name="a5f_th57"/>
          <p:cNvSpPr/>
          <p:nvPr/>
        </p:nvSpPr>
        <p:spPr>
          <a:xfrm>
            <a:off x="5577840" y="1216152"/>
            <a:ext cx="1051560" cy="3931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5f_tht58"/>
          <p:cNvSpPr txBox="1"/>
          <p:nvPr/>
        </p:nvSpPr>
        <p:spPr>
          <a:xfrm>
            <a:off x="5650992" y="1216152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Segoe UI"/>
              </a:rPr>
              <a:t>Term</a:t>
            </a:r>
          </a:p>
        </p:txBody>
      </p:sp>
      <p:sp>
        <p:nvSpPr>
          <p:cNvPr id="60" name="a5wd90_td59"/>
          <p:cNvSpPr/>
          <p:nvPr/>
        </p:nvSpPr>
        <p:spPr>
          <a:xfrm>
            <a:off x="5577840" y="1609344"/>
            <a:ext cx="1051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5wd90_tdt60"/>
          <p:cNvSpPr txBox="1"/>
          <p:nvPr/>
        </p:nvSpPr>
        <p:spPr>
          <a:xfrm>
            <a:off x="5650992" y="1609344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Broker</a:t>
            </a:r>
          </a:p>
        </p:txBody>
      </p:sp>
      <p:sp>
        <p:nvSpPr>
          <p:cNvPr id="62" name="a5wd180_td61"/>
          <p:cNvSpPr/>
          <p:nvPr/>
        </p:nvSpPr>
        <p:spPr>
          <a:xfrm>
            <a:off x="5577840" y="2002536"/>
            <a:ext cx="1051560" cy="39319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5wd180_tdt62"/>
          <p:cNvSpPr txBox="1"/>
          <p:nvPr/>
        </p:nvSpPr>
        <p:spPr>
          <a:xfrm>
            <a:off x="5650992" y="2002536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Topic</a:t>
            </a:r>
          </a:p>
        </p:txBody>
      </p:sp>
      <p:sp>
        <p:nvSpPr>
          <p:cNvPr id="64" name="a5wd270_td63"/>
          <p:cNvSpPr/>
          <p:nvPr/>
        </p:nvSpPr>
        <p:spPr>
          <a:xfrm>
            <a:off x="5577840" y="2395728"/>
            <a:ext cx="1051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5wd270_tdt64"/>
          <p:cNvSpPr txBox="1"/>
          <p:nvPr/>
        </p:nvSpPr>
        <p:spPr>
          <a:xfrm>
            <a:off x="5650992" y="2395728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Partition</a:t>
            </a:r>
          </a:p>
        </p:txBody>
      </p:sp>
      <p:sp>
        <p:nvSpPr>
          <p:cNvPr id="66" name="a5wd360_td65"/>
          <p:cNvSpPr/>
          <p:nvPr/>
        </p:nvSpPr>
        <p:spPr>
          <a:xfrm>
            <a:off x="5577840" y="2788920"/>
            <a:ext cx="1051560" cy="39319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5wd360_tdt66"/>
          <p:cNvSpPr txBox="1"/>
          <p:nvPr/>
        </p:nvSpPr>
        <p:spPr>
          <a:xfrm>
            <a:off x="5650992" y="2788920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Offset</a:t>
            </a:r>
          </a:p>
        </p:txBody>
      </p:sp>
      <p:sp>
        <p:nvSpPr>
          <p:cNvPr id="68" name="a5wd450_td67"/>
          <p:cNvSpPr/>
          <p:nvPr/>
        </p:nvSpPr>
        <p:spPr>
          <a:xfrm>
            <a:off x="5577840" y="3182112"/>
            <a:ext cx="1051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5wd450_tdt68"/>
          <p:cNvSpPr txBox="1"/>
          <p:nvPr/>
        </p:nvSpPr>
        <p:spPr>
          <a:xfrm>
            <a:off x="5650992" y="3182112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Producer</a:t>
            </a:r>
          </a:p>
        </p:txBody>
      </p:sp>
      <p:sp>
        <p:nvSpPr>
          <p:cNvPr id="70" name="a5wd540_td69"/>
          <p:cNvSpPr/>
          <p:nvPr/>
        </p:nvSpPr>
        <p:spPr>
          <a:xfrm>
            <a:off x="5577840" y="3575304"/>
            <a:ext cx="1051560" cy="39319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5wd540_tdt70"/>
          <p:cNvSpPr txBox="1"/>
          <p:nvPr/>
        </p:nvSpPr>
        <p:spPr>
          <a:xfrm>
            <a:off x="5650992" y="3575304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Consumer group</a:t>
            </a:r>
          </a:p>
        </p:txBody>
      </p:sp>
      <p:sp>
        <p:nvSpPr>
          <p:cNvPr id="72" name="a5wd630_td71"/>
          <p:cNvSpPr/>
          <p:nvPr/>
        </p:nvSpPr>
        <p:spPr>
          <a:xfrm>
            <a:off x="5577840" y="3968496"/>
            <a:ext cx="1051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5wd630_tdt72"/>
          <p:cNvSpPr txBox="1"/>
          <p:nvPr/>
        </p:nvSpPr>
        <p:spPr>
          <a:xfrm>
            <a:off x="5650992" y="3968496"/>
            <a:ext cx="94183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KRaft</a:t>
            </a:r>
          </a:p>
        </p:txBody>
      </p:sp>
      <p:sp>
        <p:nvSpPr>
          <p:cNvPr id="74" name="a5f_th73"/>
          <p:cNvSpPr/>
          <p:nvPr/>
        </p:nvSpPr>
        <p:spPr>
          <a:xfrm>
            <a:off x="6629400" y="1216152"/>
            <a:ext cx="2057400" cy="39319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5f_tht74"/>
          <p:cNvSpPr txBox="1"/>
          <p:nvPr/>
        </p:nvSpPr>
        <p:spPr>
          <a:xfrm>
            <a:off x="6702552" y="1216152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Segoe UI"/>
              </a:rPr>
              <a:t>Meaning</a:t>
            </a:r>
          </a:p>
        </p:txBody>
      </p:sp>
      <p:sp>
        <p:nvSpPr>
          <p:cNvPr id="76" name="a5wd90_td75"/>
          <p:cNvSpPr/>
          <p:nvPr/>
        </p:nvSpPr>
        <p:spPr>
          <a:xfrm>
            <a:off x="6629400" y="1609344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5wd90_tdt76"/>
          <p:cNvSpPr txBox="1"/>
          <p:nvPr/>
        </p:nvSpPr>
        <p:spPr>
          <a:xfrm>
            <a:off x="6702552" y="1609344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One Kafka server; a cluster is several</a:t>
            </a:r>
          </a:p>
        </p:txBody>
      </p:sp>
      <p:sp>
        <p:nvSpPr>
          <p:cNvPr id="78" name="a5wd180_td77"/>
          <p:cNvSpPr/>
          <p:nvPr/>
        </p:nvSpPr>
        <p:spPr>
          <a:xfrm>
            <a:off x="6629400" y="2002536"/>
            <a:ext cx="2057400" cy="39319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a5wd180_tdt78"/>
          <p:cNvSpPr txBox="1"/>
          <p:nvPr/>
        </p:nvSpPr>
        <p:spPr>
          <a:xfrm>
            <a:off x="6702552" y="2002536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A named stream of events</a:t>
            </a:r>
          </a:p>
        </p:txBody>
      </p:sp>
      <p:sp>
        <p:nvSpPr>
          <p:cNvPr id="80" name="a5wd270_td79"/>
          <p:cNvSpPr/>
          <p:nvPr/>
        </p:nvSpPr>
        <p:spPr>
          <a:xfrm>
            <a:off x="6629400" y="2395728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a5wd270_tdt80"/>
          <p:cNvSpPr txBox="1"/>
          <p:nvPr/>
        </p:nvSpPr>
        <p:spPr>
          <a:xfrm>
            <a:off x="6702552" y="2395728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An ordered log - the unit of parallelism</a:t>
            </a:r>
          </a:p>
        </p:txBody>
      </p:sp>
      <p:sp>
        <p:nvSpPr>
          <p:cNvPr id="82" name="a5wd360_td81"/>
          <p:cNvSpPr/>
          <p:nvPr/>
        </p:nvSpPr>
        <p:spPr>
          <a:xfrm>
            <a:off x="6629400" y="2788920"/>
            <a:ext cx="2057400" cy="39319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a5wd360_tdt82"/>
          <p:cNvSpPr txBox="1"/>
          <p:nvPr/>
        </p:nvSpPr>
        <p:spPr>
          <a:xfrm>
            <a:off x="6702552" y="2788920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A message's position in its partition</a:t>
            </a:r>
          </a:p>
        </p:txBody>
      </p:sp>
      <p:sp>
        <p:nvSpPr>
          <p:cNvPr id="84" name="a5wd450_td83"/>
          <p:cNvSpPr/>
          <p:nvPr/>
        </p:nvSpPr>
        <p:spPr>
          <a:xfrm>
            <a:off x="6629400" y="3182112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a5wd450_tdt84"/>
          <p:cNvSpPr txBox="1"/>
          <p:nvPr/>
        </p:nvSpPr>
        <p:spPr>
          <a:xfrm>
            <a:off x="6702552" y="3182112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Writes events to a topic</a:t>
            </a:r>
          </a:p>
        </p:txBody>
      </p:sp>
      <p:sp>
        <p:nvSpPr>
          <p:cNvPr id="86" name="a5wd540_td85"/>
          <p:cNvSpPr/>
          <p:nvPr/>
        </p:nvSpPr>
        <p:spPr>
          <a:xfrm>
            <a:off x="6629400" y="3575304"/>
            <a:ext cx="2057400" cy="39319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a5wd540_tdt86"/>
          <p:cNvSpPr txBox="1"/>
          <p:nvPr/>
        </p:nvSpPr>
        <p:spPr>
          <a:xfrm>
            <a:off x="6702552" y="3575304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Readers that share a topic's work</a:t>
            </a:r>
          </a:p>
        </p:txBody>
      </p:sp>
      <p:sp>
        <p:nvSpPr>
          <p:cNvPr id="88" name="a5wd630_td87"/>
          <p:cNvSpPr/>
          <p:nvPr/>
        </p:nvSpPr>
        <p:spPr>
          <a:xfrm>
            <a:off x="6629400" y="3968496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a5wd630_tdt88"/>
          <p:cNvSpPr txBox="1"/>
          <p:nvPr/>
        </p:nvSpPr>
        <p:spPr>
          <a:xfrm>
            <a:off x="6702552" y="3968496"/>
            <a:ext cx="19476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4403C"/>
                </a:solidFill>
                <a:latin typeface="Segoe UI"/>
              </a:rPr>
              <a:t>Kafka's built-in metadata quorum - no ZooKeeper</a:t>
            </a:r>
          </a:p>
        </p:txBody>
      </p:sp>
      <p:sp>
        <p:nvSpPr>
          <p:cNvPr id="90" name="ft89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19</a:t>
            </a:r>
          </a:p>
        </p:txBody>
      </p:sp>
      <p:sp>
        <p:nvSpPr>
          <p:cNvPr id="91" name="ft90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ft91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93" name="ft9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2  ·  15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2 - Start Kafka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One Apache Kafka 4.3 node in KRaft mode, plus Kafka UI - from a single command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85216" y="146304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1 - start the cluster. The first run downloads two images (about 1.3 GB on disk)</a:t>
            </a:r>
          </a:p>
        </p:txBody>
      </p:sp>
      <p:sp>
        <p:nvSpPr>
          <p:cNvPr id="14" name="a1wd60_code13"/>
          <p:cNvSpPr txBox="1"/>
          <p:nvPr/>
        </p:nvSpPr>
        <p:spPr>
          <a:xfrm>
            <a:off x="585216" y="163677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cd fundamentals_lab</a:t>
            </a:r>
          </a:p>
        </p:txBody>
      </p:sp>
      <p:sp>
        <p:nvSpPr>
          <p:cNvPr id="15" name="a1wd120_code14"/>
          <p:cNvSpPr txBox="1"/>
          <p:nvPr/>
        </p:nvSpPr>
        <p:spPr>
          <a:xfrm>
            <a:off x="585216" y="181051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compose up -d</a:t>
            </a:r>
          </a:p>
        </p:txBody>
      </p:sp>
      <p:sp>
        <p:nvSpPr>
          <p:cNvPr id="16" name="a1wd180_code15"/>
          <p:cNvSpPr txBox="1"/>
          <p:nvPr/>
        </p:nvSpPr>
        <p:spPr>
          <a:xfrm>
            <a:off x="585216" y="198424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7" name="a1wd240_code16"/>
          <p:cNvSpPr txBox="1"/>
          <p:nvPr/>
        </p:nvSpPr>
        <p:spPr>
          <a:xfrm>
            <a:off x="585216" y="2157984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2 - repeat until kafka shows (healthy) - about 20 seconds</a:t>
            </a:r>
          </a:p>
        </p:txBody>
      </p:sp>
      <p:sp>
        <p:nvSpPr>
          <p:cNvPr id="18" name="a1wd300_code17"/>
          <p:cNvSpPr txBox="1"/>
          <p:nvPr/>
        </p:nvSpPr>
        <p:spPr>
          <a:xfrm>
            <a:off x="585216" y="233172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compose ps</a:t>
            </a:r>
          </a:p>
        </p:txBody>
      </p:sp>
      <p:sp>
        <p:nvSpPr>
          <p:cNvPr id="19" name="a1wd360_code18"/>
          <p:cNvSpPr txBox="1"/>
          <p:nvPr/>
        </p:nvSpPr>
        <p:spPr>
          <a:xfrm>
            <a:off x="585216" y="250545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0" name="a1wd420_code19"/>
          <p:cNvSpPr txBox="1"/>
          <p:nvPr/>
        </p:nvSpPr>
        <p:spPr>
          <a:xfrm>
            <a:off x="585216" y="267919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3 - which version is running, and which node is the KRaft controller?</a:t>
            </a:r>
          </a:p>
        </p:txBody>
      </p:sp>
      <p:sp>
        <p:nvSpPr>
          <p:cNvPr id="21" name="a1wd480_code20"/>
          <p:cNvSpPr txBox="1"/>
          <p:nvPr/>
        </p:nvSpPr>
        <p:spPr>
          <a:xfrm>
            <a:off x="585216" y="285292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kafka-topics.sh --version</a:t>
            </a:r>
          </a:p>
        </p:txBody>
      </p:sp>
      <p:sp>
        <p:nvSpPr>
          <p:cNvPr id="22" name="a1wd540_code21"/>
          <p:cNvSpPr txBox="1"/>
          <p:nvPr/>
        </p:nvSpPr>
        <p:spPr>
          <a:xfrm>
            <a:off x="585216" y="3026664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kafka-metadata-quorum.sh --bootstrap-server localhost:9092 describe --status</a:t>
            </a:r>
          </a:p>
        </p:txBody>
      </p:sp>
      <p:sp>
        <p:nvSpPr>
          <p:cNvPr id="23" name="a1wd600_code22"/>
          <p:cNvSpPr txBox="1"/>
          <p:nvPr/>
        </p:nvSpPr>
        <p:spPr>
          <a:xfrm>
            <a:off x="585216" y="320040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4" name="a1wd660_code23"/>
          <p:cNvSpPr txBox="1"/>
          <p:nvPr/>
        </p:nvSpPr>
        <p:spPr>
          <a:xfrm>
            <a:off x="585216" y="337413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4 - open Kafka UI and find the cluster called horizon-local</a:t>
            </a:r>
          </a:p>
        </p:txBody>
      </p:sp>
      <p:sp>
        <p:nvSpPr>
          <p:cNvPr id="25" name="a1wd720_code24"/>
          <p:cNvSpPr txBox="1"/>
          <p:nvPr/>
        </p:nvSpPr>
        <p:spPr>
          <a:xfrm>
            <a:off x="585216" y="354787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start http://localhost:8090</a:t>
            </a:r>
          </a:p>
        </p:txBody>
      </p:sp>
      <p:sp>
        <p:nvSpPr>
          <p:cNvPr id="26" name="a2u_nb25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_nacc26"/>
          <p:cNvSpPr/>
          <p:nvPr/>
        </p:nvSpPr>
        <p:spPr>
          <a:xfrm>
            <a:off x="457200" y="3959352"/>
            <a:ext cx="54864" cy="603504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_nt27"/>
          <p:cNvSpPr txBox="1"/>
          <p:nvPr/>
        </p:nvSpPr>
        <p:spPr>
          <a:xfrm>
            <a:off x="658368" y="3959352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16207"/>
                </a:solidFill>
                <a:latin typeface="Segoe UI"/>
              </a:rPr>
              <a:t>!  </a:t>
            </a:r>
            <a:r>
              <a:rPr sz="850" b="0">
                <a:solidFill>
                  <a:srgbClr val="44403C"/>
                </a:solidFill>
                <a:latin typeface="Segoe UI"/>
              </a:rPr>
              <a:t>Stuck? Docker Desktop must be running. 'port is already allocated' means another Kafka already owns 9092 - find it with docker ps, then docker stop &lt;name&gt;.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20</a:t>
            </a:r>
          </a:p>
        </p:txBody>
      </p:sp>
      <p:sp>
        <p:nvSpPr>
          <p:cNvPr id="30" name="ft29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ft30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616327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2  ·  WHAT YOU SHOULD SEE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2 - Measured Output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Columns trimmed to fit - check that STATUS says (healthy) and LeaderId is 1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2299715"/>
          </a:xfrm>
          <a:prstGeom prst="roundRect">
            <a:avLst>
              <a:gd name="adj" fmla="val 318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66928" y="144475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FDBA74"/>
                </a:solidFill>
                <a:latin typeface="Consolas"/>
              </a:rPr>
              <a:t>&gt; docker compose ps</a:t>
            </a:r>
          </a:p>
        </p:txBody>
      </p:sp>
      <p:sp>
        <p:nvSpPr>
          <p:cNvPr id="14" name="a1wd60_code13"/>
          <p:cNvSpPr txBox="1"/>
          <p:nvPr/>
        </p:nvSpPr>
        <p:spPr>
          <a:xfrm>
            <a:off x="566928" y="160477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8A8580"/>
                </a:solidFill>
                <a:latin typeface="Consolas"/>
              </a:rPr>
              <a:t>NAME       IMAGE                    STATUS</a:t>
            </a:r>
          </a:p>
        </p:txBody>
      </p:sp>
      <p:sp>
        <p:nvSpPr>
          <p:cNvPr id="15" name="a1wd120_code14"/>
          <p:cNvSpPr txBox="1"/>
          <p:nvPr/>
        </p:nvSpPr>
        <p:spPr>
          <a:xfrm>
            <a:off x="566928" y="176479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86EFAC"/>
                </a:solidFill>
                <a:latin typeface="Consolas"/>
              </a:rPr>
              <a:t>kafka      apache/kafka:4.3.1       Up 7 seconds (healthy)</a:t>
            </a:r>
          </a:p>
        </p:txBody>
      </p:sp>
      <p:sp>
        <p:nvSpPr>
          <p:cNvPr id="16" name="a1wd180_code15"/>
          <p:cNvSpPr txBox="1"/>
          <p:nvPr/>
        </p:nvSpPr>
        <p:spPr>
          <a:xfrm>
            <a:off x="566928" y="192481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kafka-ui   kafbat/kafka-ui:latest   Up Less than a second</a:t>
            </a:r>
          </a:p>
        </p:txBody>
      </p:sp>
      <p:sp>
        <p:nvSpPr>
          <p:cNvPr id="17" name="a1wd240_code16"/>
          <p:cNvSpPr txBox="1"/>
          <p:nvPr/>
        </p:nvSpPr>
        <p:spPr>
          <a:xfrm>
            <a:off x="566928" y="208483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FDBA74"/>
                </a:solidFill>
                <a:latin typeface="Consolas"/>
              </a:rPr>
              <a:t>&gt; docker exec kafka kafka-topics.sh --version</a:t>
            </a:r>
          </a:p>
        </p:txBody>
      </p:sp>
      <p:sp>
        <p:nvSpPr>
          <p:cNvPr id="18" name="a1wd300_code17"/>
          <p:cNvSpPr txBox="1"/>
          <p:nvPr/>
        </p:nvSpPr>
        <p:spPr>
          <a:xfrm>
            <a:off x="566928" y="224485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4.3.1</a:t>
            </a:r>
          </a:p>
        </p:txBody>
      </p:sp>
      <p:sp>
        <p:nvSpPr>
          <p:cNvPr id="19" name="a1wd360_code18"/>
          <p:cNvSpPr txBox="1"/>
          <p:nvPr/>
        </p:nvSpPr>
        <p:spPr>
          <a:xfrm>
            <a:off x="566928" y="240487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FDBA74"/>
                </a:solidFill>
                <a:latin typeface="Consolas"/>
              </a:rPr>
              <a:t>&gt; docker exec kafka kafka-metadata-quorum.sh --bootstrap-server localhost:9092 describe --status</a:t>
            </a:r>
          </a:p>
        </p:txBody>
      </p:sp>
      <p:sp>
        <p:nvSpPr>
          <p:cNvPr id="20" name="a1wd420_code19"/>
          <p:cNvSpPr txBox="1"/>
          <p:nvPr/>
        </p:nvSpPr>
        <p:spPr>
          <a:xfrm>
            <a:off x="566928" y="2564891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ClusterId:              5L6g3nShT-eMCtK--X86sw</a:t>
            </a:r>
          </a:p>
        </p:txBody>
      </p:sp>
      <p:sp>
        <p:nvSpPr>
          <p:cNvPr id="21" name="a1wd480_code20"/>
          <p:cNvSpPr txBox="1"/>
          <p:nvPr/>
        </p:nvSpPr>
        <p:spPr>
          <a:xfrm>
            <a:off x="566928" y="272491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86EFAC"/>
                </a:solidFill>
                <a:latin typeface="Consolas"/>
              </a:rPr>
              <a:t>LeaderId:               1</a:t>
            </a:r>
          </a:p>
        </p:txBody>
      </p:sp>
      <p:sp>
        <p:nvSpPr>
          <p:cNvPr id="22" name="a1wd540_code21"/>
          <p:cNvSpPr txBox="1"/>
          <p:nvPr/>
        </p:nvSpPr>
        <p:spPr>
          <a:xfrm>
            <a:off x="566928" y="288493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LeaderEpoch:            1</a:t>
            </a:r>
          </a:p>
        </p:txBody>
      </p:sp>
      <p:sp>
        <p:nvSpPr>
          <p:cNvPr id="23" name="a1wd600_code22"/>
          <p:cNvSpPr txBox="1"/>
          <p:nvPr/>
        </p:nvSpPr>
        <p:spPr>
          <a:xfrm>
            <a:off x="566928" y="304495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HighWatermark:          53</a:t>
            </a:r>
          </a:p>
        </p:txBody>
      </p:sp>
      <p:sp>
        <p:nvSpPr>
          <p:cNvPr id="24" name="a1wd660_code23"/>
          <p:cNvSpPr txBox="1"/>
          <p:nvPr/>
        </p:nvSpPr>
        <p:spPr>
          <a:xfrm>
            <a:off x="566928" y="3204972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CurrentVoters:          [{"id": 1, "endpoints": ["CONTROLLER://kafka:9093"]}]</a:t>
            </a:r>
          </a:p>
        </p:txBody>
      </p:sp>
      <p:sp>
        <p:nvSpPr>
          <p:cNvPr id="25" name="a1wd720_code24"/>
          <p:cNvSpPr txBox="1"/>
          <p:nvPr/>
        </p:nvSpPr>
        <p:spPr>
          <a:xfrm>
            <a:off x="566928" y="3364991"/>
            <a:ext cx="8010144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7E8F9"/>
                </a:solidFill>
                <a:latin typeface="Consolas"/>
              </a:rPr>
              <a:t>CurrentObservers:       []</a:t>
            </a:r>
          </a:p>
        </p:txBody>
      </p:sp>
      <p:sp>
        <p:nvSpPr>
          <p:cNvPr id="26" name="a2u_card25"/>
          <p:cNvSpPr/>
          <p:nvPr/>
        </p:nvSpPr>
        <p:spPr>
          <a:xfrm>
            <a:off x="457200" y="3744468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_acc26"/>
          <p:cNvSpPr/>
          <p:nvPr/>
        </p:nvSpPr>
        <p:spPr>
          <a:xfrm>
            <a:off x="457200" y="3744468"/>
            <a:ext cx="2615184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_lt27"/>
          <p:cNvSpPr txBox="1"/>
          <p:nvPr/>
        </p:nvSpPr>
        <p:spPr>
          <a:xfrm>
            <a:off x="594360" y="383590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Consolas"/>
              </a:rPr>
              <a:t>EXTERNAL  </a:t>
            </a:r>
            <a:r>
              <a:rPr sz="950" b="1">
                <a:solidFill>
                  <a:srgbClr val="1C1917"/>
                </a:solidFill>
                <a:latin typeface="Consolas"/>
              </a:rPr>
              <a:t>localhost:9092</a:t>
            </a:r>
          </a:p>
        </p:txBody>
      </p:sp>
      <p:sp>
        <p:nvSpPr>
          <p:cNvPr id="29" name="a2u_ld28"/>
          <p:cNvSpPr txBox="1"/>
          <p:nvPr/>
        </p:nvSpPr>
        <p:spPr>
          <a:xfrm>
            <a:off x="594360" y="4073652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Your laptop: the Python scripts and anything outside Docker</a:t>
            </a:r>
          </a:p>
        </p:txBody>
      </p:sp>
      <p:sp>
        <p:nvSpPr>
          <p:cNvPr id="30" name="a2ud120_card29"/>
          <p:cNvSpPr/>
          <p:nvPr/>
        </p:nvSpPr>
        <p:spPr>
          <a:xfrm>
            <a:off x="3264408" y="3744468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120_acc30"/>
          <p:cNvSpPr/>
          <p:nvPr/>
        </p:nvSpPr>
        <p:spPr>
          <a:xfrm>
            <a:off x="3264408" y="3744468"/>
            <a:ext cx="2615184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ud120_lt31"/>
          <p:cNvSpPr txBox="1"/>
          <p:nvPr/>
        </p:nvSpPr>
        <p:spPr>
          <a:xfrm>
            <a:off x="3401568" y="383590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Consolas"/>
              </a:rPr>
              <a:t>PLAINTEXT  </a:t>
            </a:r>
            <a:r>
              <a:rPr sz="950" b="1">
                <a:solidFill>
                  <a:srgbClr val="1C1917"/>
                </a:solidFill>
                <a:latin typeface="Consolas"/>
              </a:rPr>
              <a:t>kafka:19092</a:t>
            </a:r>
          </a:p>
        </p:txBody>
      </p:sp>
      <p:sp>
        <p:nvSpPr>
          <p:cNvPr id="33" name="a2ud120_ld32"/>
          <p:cNvSpPr txBox="1"/>
          <p:nvPr/>
        </p:nvSpPr>
        <p:spPr>
          <a:xfrm>
            <a:off x="3401568" y="4073652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Other containers on the compose network - e.g. Kafka UI</a:t>
            </a:r>
          </a:p>
        </p:txBody>
      </p:sp>
      <p:sp>
        <p:nvSpPr>
          <p:cNvPr id="34" name="a2ud240_card33"/>
          <p:cNvSpPr/>
          <p:nvPr/>
        </p:nvSpPr>
        <p:spPr>
          <a:xfrm>
            <a:off x="6071616" y="3744468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ud240_acc34"/>
          <p:cNvSpPr/>
          <p:nvPr/>
        </p:nvSpPr>
        <p:spPr>
          <a:xfrm>
            <a:off x="6071616" y="3744468"/>
            <a:ext cx="2615184" cy="4572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ud240_lt35"/>
          <p:cNvSpPr txBox="1"/>
          <p:nvPr/>
        </p:nvSpPr>
        <p:spPr>
          <a:xfrm>
            <a:off x="6208776" y="383590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Consolas"/>
              </a:rPr>
              <a:t>CONTROLLER  </a:t>
            </a:r>
            <a:r>
              <a:rPr sz="950" b="1">
                <a:solidFill>
                  <a:srgbClr val="1C1917"/>
                </a:solidFill>
                <a:latin typeface="Consolas"/>
              </a:rPr>
              <a:t>kafka:9093</a:t>
            </a:r>
          </a:p>
        </p:txBody>
      </p:sp>
      <p:sp>
        <p:nvSpPr>
          <p:cNvPr id="37" name="a2ud240_ld36"/>
          <p:cNvSpPr txBox="1"/>
          <p:nvPr/>
        </p:nvSpPr>
        <p:spPr>
          <a:xfrm>
            <a:off x="6208776" y="4073652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KRaft: the node votes on cluster metadata itself - no ZooKeeper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21</a:t>
            </a:r>
          </a:p>
        </p:txBody>
      </p:sp>
      <p:sp>
        <p:nvSpPr>
          <p:cNvPr id="39" name="ft3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ft3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3  ·  25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3 - Your First Topic (1 of 2)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Create a topic, write five messages, and read them back with partition and offset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2688336"/>
          </a:xfrm>
          <a:prstGeom prst="roundRect">
            <a:avLst>
              <a:gd name="adj" fmla="val 2721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85216" y="146304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1 - create a topic with three partitions, then describe it</a:t>
            </a:r>
          </a:p>
        </p:txBody>
      </p:sp>
      <p:sp>
        <p:nvSpPr>
          <p:cNvPr id="14" name="a1wd55_code13"/>
          <p:cNvSpPr txBox="1"/>
          <p:nvPr/>
        </p:nvSpPr>
        <p:spPr>
          <a:xfrm>
            <a:off x="585216" y="163677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kafka-topics.sh --bootstrap-server localhost:9092 `</a:t>
            </a:r>
          </a:p>
        </p:txBody>
      </p:sp>
      <p:sp>
        <p:nvSpPr>
          <p:cNvPr id="15" name="a1wd110_code14"/>
          <p:cNvSpPr txBox="1"/>
          <p:nvPr/>
        </p:nvSpPr>
        <p:spPr>
          <a:xfrm>
            <a:off x="585216" y="181051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--create --topic lab.hello --partitions 3 --replication-factor 1</a:t>
            </a:r>
          </a:p>
        </p:txBody>
      </p:sp>
      <p:sp>
        <p:nvSpPr>
          <p:cNvPr id="16" name="a1wd165_code15"/>
          <p:cNvSpPr txBox="1"/>
          <p:nvPr/>
        </p:nvSpPr>
        <p:spPr>
          <a:xfrm>
            <a:off x="585216" y="198424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kafka-topics.sh --bootstrap-server localhost:9092 --describe --topic lab.hello</a:t>
            </a:r>
          </a:p>
        </p:txBody>
      </p:sp>
      <p:sp>
        <p:nvSpPr>
          <p:cNvPr id="17" name="a1wd220_code16"/>
          <p:cNvSpPr txBox="1"/>
          <p:nvPr/>
        </p:nvSpPr>
        <p:spPr>
          <a:xfrm>
            <a:off x="585216" y="2157984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8" name="a1wd275_code17"/>
          <p:cNvSpPr txBox="1"/>
          <p:nvPr/>
        </p:nvSpPr>
        <p:spPr>
          <a:xfrm>
            <a:off x="585216" y="233172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2 - start the console producer. Type five lines, pressing Enter after each, then Ctrl+C</a:t>
            </a:r>
          </a:p>
        </p:txBody>
      </p:sp>
      <p:sp>
        <p:nvSpPr>
          <p:cNvPr id="19" name="a1wd330_code18"/>
          <p:cNvSpPr txBox="1"/>
          <p:nvPr/>
        </p:nvSpPr>
        <p:spPr>
          <a:xfrm>
            <a:off x="585216" y="250545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-it kafka kafka-console-producer.sh --bootstrap-server localhost:9092 --topic lab.hello</a:t>
            </a:r>
          </a:p>
        </p:txBody>
      </p:sp>
      <p:sp>
        <p:nvSpPr>
          <p:cNvPr id="20" name="a1wd385_code19"/>
          <p:cNvSpPr txBox="1"/>
          <p:nvPr/>
        </p:nvSpPr>
        <p:spPr>
          <a:xfrm>
            <a:off x="585216" y="267919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&gt;Transfer 1 completed</a:t>
            </a:r>
          </a:p>
        </p:txBody>
      </p:sp>
      <p:sp>
        <p:nvSpPr>
          <p:cNvPr id="21" name="a1wd440_code20"/>
          <p:cNvSpPr txBox="1"/>
          <p:nvPr/>
        </p:nvSpPr>
        <p:spPr>
          <a:xfrm>
            <a:off x="585216" y="285292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&gt;Transfer 2 completed          ... and so on, up to Transfer 5 completed</a:t>
            </a:r>
          </a:p>
        </p:txBody>
      </p:sp>
      <p:sp>
        <p:nvSpPr>
          <p:cNvPr id="22" name="a1wd495_code21"/>
          <p:cNvSpPr txBox="1"/>
          <p:nvPr/>
        </p:nvSpPr>
        <p:spPr>
          <a:xfrm>
            <a:off x="585216" y="3026664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3" name="a1wd550_code22"/>
          <p:cNvSpPr txBox="1"/>
          <p:nvPr/>
        </p:nvSpPr>
        <p:spPr>
          <a:xfrm>
            <a:off x="585216" y="320040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3 - read everything from the start, showing where each message was stored</a:t>
            </a:r>
          </a:p>
        </p:txBody>
      </p:sp>
      <p:sp>
        <p:nvSpPr>
          <p:cNvPr id="24" name="a1wd605_code23"/>
          <p:cNvSpPr txBox="1"/>
          <p:nvPr/>
        </p:nvSpPr>
        <p:spPr>
          <a:xfrm>
            <a:off x="585216" y="337413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-it kafka kafka-console-consumer.sh --bootstrap-server localhost:9092 --topic lab.hello `</a:t>
            </a:r>
          </a:p>
        </p:txBody>
      </p:sp>
      <p:sp>
        <p:nvSpPr>
          <p:cNvPr id="25" name="a1wd660_code24"/>
          <p:cNvSpPr txBox="1"/>
          <p:nvPr/>
        </p:nvSpPr>
        <p:spPr>
          <a:xfrm>
            <a:off x="585216" y="354787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--from-beginning --max-messages 5 `</a:t>
            </a:r>
          </a:p>
        </p:txBody>
      </p:sp>
      <p:sp>
        <p:nvSpPr>
          <p:cNvPr id="26" name="a1wd715_code25"/>
          <p:cNvSpPr txBox="1"/>
          <p:nvPr/>
        </p:nvSpPr>
        <p:spPr>
          <a:xfrm>
            <a:off x="585216" y="372160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--formatter-property print.partition=true --formatter-property print.offset=true</a:t>
            </a:r>
          </a:p>
        </p:txBody>
      </p:sp>
      <p:sp>
        <p:nvSpPr>
          <p:cNvPr id="27" name="a2u_taskbg26"/>
          <p:cNvSpPr/>
          <p:nvPr/>
        </p:nvSpPr>
        <p:spPr>
          <a:xfrm>
            <a:off x="457200" y="411480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_taskacc27"/>
          <p:cNvSpPr/>
          <p:nvPr/>
        </p:nvSpPr>
        <p:spPr>
          <a:xfrm>
            <a:off x="457200" y="4114800"/>
            <a:ext cx="54864" cy="42062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_task28"/>
          <p:cNvSpPr txBox="1"/>
          <p:nvPr/>
        </p:nvSpPr>
        <p:spPr>
          <a:xfrm>
            <a:off x="640080" y="4114800"/>
            <a:ext cx="788212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80">
                <a:solidFill>
                  <a:srgbClr val="C2410C"/>
                </a:solidFill>
                <a:latin typeface="Segoe UI"/>
              </a:rPr>
              <a:t>TASK   </a:t>
            </a:r>
            <a:r>
              <a:rPr sz="1100" b="0">
                <a:solidFill>
                  <a:srgbClr val="C2410C"/>
                </a:solidFill>
                <a:latin typeface="Segoe UI"/>
              </a:rPr>
              <a:t>Look at the Partition column. Did your five messages spread across the three partitions?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22</a:t>
            </a:r>
          </a:p>
        </p:txBody>
      </p:sp>
      <p:sp>
        <p:nvSpPr>
          <p:cNvPr id="31" name="ft30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ft31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3  ·  25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3 - Your First Topic (2 of 2)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Read it again, read only what is new, then add keys and see where they land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2775204"/>
          </a:xfrm>
          <a:prstGeom prst="roundRect">
            <a:avLst>
              <a:gd name="adj" fmla="val 2635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76072" y="1453895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4 - run the same read again. Are the five messages still there?</a:t>
            </a:r>
          </a:p>
        </p:txBody>
      </p:sp>
      <p:sp>
        <p:nvSpPr>
          <p:cNvPr id="14" name="a1wd55_code13"/>
          <p:cNvSpPr txBox="1"/>
          <p:nvPr/>
        </p:nvSpPr>
        <p:spPr>
          <a:xfrm>
            <a:off x="576072" y="1623060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-it kafka kafka-console-consumer.sh --bootstrap-server localhost:9092 --topic lab.hello `</a:t>
            </a:r>
          </a:p>
        </p:txBody>
      </p:sp>
      <p:sp>
        <p:nvSpPr>
          <p:cNvPr id="15" name="a1wd110_code14"/>
          <p:cNvSpPr txBox="1"/>
          <p:nvPr/>
        </p:nvSpPr>
        <p:spPr>
          <a:xfrm>
            <a:off x="576072" y="1792224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--from-beginning --max-messages 5</a:t>
            </a:r>
          </a:p>
        </p:txBody>
      </p:sp>
      <p:sp>
        <p:nvSpPr>
          <p:cNvPr id="16" name="a1wd165_code15"/>
          <p:cNvSpPr txBox="1"/>
          <p:nvPr/>
        </p:nvSpPr>
        <p:spPr>
          <a:xfrm>
            <a:off x="576072" y="1961387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7" name="a1wd220_code16"/>
          <p:cNvSpPr txBox="1"/>
          <p:nvPr/>
        </p:nvSpPr>
        <p:spPr>
          <a:xfrm>
            <a:off x="576072" y="2130552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5 - leave out --from-beginning. Wait 10 seconds - what do you get? Then Ctrl+C</a:t>
            </a:r>
          </a:p>
        </p:txBody>
      </p:sp>
      <p:sp>
        <p:nvSpPr>
          <p:cNvPr id="18" name="a1wd275_code17"/>
          <p:cNvSpPr txBox="1"/>
          <p:nvPr/>
        </p:nvSpPr>
        <p:spPr>
          <a:xfrm>
            <a:off x="576072" y="2299715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-it kafka kafka-console-consumer.sh --bootstrap-server localhost:9092 --topic lab.hello</a:t>
            </a:r>
          </a:p>
        </p:txBody>
      </p:sp>
      <p:sp>
        <p:nvSpPr>
          <p:cNvPr id="19" name="a1wd330_code18"/>
          <p:cNvSpPr txBox="1"/>
          <p:nvPr/>
        </p:nvSpPr>
        <p:spPr>
          <a:xfrm>
            <a:off x="576072" y="2468879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0" name="a1wd385_code19"/>
          <p:cNvSpPr txBox="1"/>
          <p:nvPr/>
        </p:nvSpPr>
        <p:spPr>
          <a:xfrm>
            <a:off x="576072" y="2638044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6 - produce WITH KEYS (key:value), type the six lines below, Ctrl+C, then read all 11</a:t>
            </a:r>
          </a:p>
        </p:txBody>
      </p:sp>
      <p:sp>
        <p:nvSpPr>
          <p:cNvPr id="21" name="a1wd440_code20"/>
          <p:cNvSpPr txBox="1"/>
          <p:nvPr/>
        </p:nvSpPr>
        <p:spPr>
          <a:xfrm>
            <a:off x="576072" y="2807208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-it kafka kafka-console-producer.sh --bootstrap-server localhost:9092 --topic lab.hello `</a:t>
            </a:r>
          </a:p>
        </p:txBody>
      </p:sp>
      <p:sp>
        <p:nvSpPr>
          <p:cNvPr id="22" name="a1wd495_code21"/>
          <p:cNvSpPr txBox="1"/>
          <p:nvPr/>
        </p:nvSpPr>
        <p:spPr>
          <a:xfrm>
            <a:off x="576072" y="2976372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--reader-property parse.key=true --reader-property key.separator=:</a:t>
            </a:r>
          </a:p>
        </p:txBody>
      </p:sp>
      <p:sp>
        <p:nvSpPr>
          <p:cNvPr id="23" name="a1wd550_code22"/>
          <p:cNvSpPr txBox="1"/>
          <p:nvPr/>
        </p:nvSpPr>
        <p:spPr>
          <a:xfrm>
            <a:off x="576072" y="3145536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&gt;9001:DEBIT 2500     &gt;9002:CREDIT 10000     &gt;9001:DEBIT 700</a:t>
            </a:r>
          </a:p>
        </p:txBody>
      </p:sp>
      <p:sp>
        <p:nvSpPr>
          <p:cNvPr id="24" name="a1wd605_code23"/>
          <p:cNvSpPr txBox="1"/>
          <p:nvPr/>
        </p:nvSpPr>
        <p:spPr>
          <a:xfrm>
            <a:off x="576072" y="3314700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&gt;9003:DEBIT 150      &gt;9002:DEBIT 4000       &gt;9001:CREDIT 300</a:t>
            </a:r>
          </a:p>
        </p:txBody>
      </p:sp>
      <p:sp>
        <p:nvSpPr>
          <p:cNvPr id="25" name="a1wd660_code24"/>
          <p:cNvSpPr txBox="1"/>
          <p:nvPr/>
        </p:nvSpPr>
        <p:spPr>
          <a:xfrm>
            <a:off x="576072" y="3483863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-it kafka kafka-console-consumer.sh --bootstrap-server localhost:9092 --topic lab.hello `</a:t>
            </a:r>
          </a:p>
        </p:txBody>
      </p:sp>
      <p:sp>
        <p:nvSpPr>
          <p:cNvPr id="26" name="a1wd715_code25"/>
          <p:cNvSpPr txBox="1"/>
          <p:nvPr/>
        </p:nvSpPr>
        <p:spPr>
          <a:xfrm>
            <a:off x="576072" y="3653027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--from-beginning --max-messages 11 --formatter-property print.key=true `</a:t>
            </a:r>
          </a:p>
        </p:txBody>
      </p:sp>
      <p:sp>
        <p:nvSpPr>
          <p:cNvPr id="27" name="a1wd770_code26"/>
          <p:cNvSpPr txBox="1"/>
          <p:nvPr/>
        </p:nvSpPr>
        <p:spPr>
          <a:xfrm>
            <a:off x="576072" y="3822191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--formatter-property print.partition=true --formatter-property print.offset=true</a:t>
            </a:r>
          </a:p>
        </p:txBody>
      </p:sp>
      <p:sp>
        <p:nvSpPr>
          <p:cNvPr id="28" name="a2u_taskbg27"/>
          <p:cNvSpPr/>
          <p:nvPr/>
        </p:nvSpPr>
        <p:spPr>
          <a:xfrm>
            <a:off x="457200" y="4183380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_taskacc28"/>
          <p:cNvSpPr/>
          <p:nvPr/>
        </p:nvSpPr>
        <p:spPr>
          <a:xfrm>
            <a:off x="457200" y="4183380"/>
            <a:ext cx="54864" cy="40233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_task29"/>
          <p:cNvSpPr txBox="1"/>
          <p:nvPr/>
        </p:nvSpPr>
        <p:spPr>
          <a:xfrm>
            <a:off x="640080" y="4183380"/>
            <a:ext cx="78821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80">
                <a:solidFill>
                  <a:srgbClr val="C2410C"/>
                </a:solidFill>
                <a:latin typeface="Segoe UI"/>
              </a:rPr>
              <a:t>TASK   </a:t>
            </a:r>
            <a:r>
              <a:rPr sz="1100" b="0">
                <a:solidFill>
                  <a:srgbClr val="C2410C"/>
                </a:solidFill>
                <a:latin typeface="Segoe UI"/>
              </a:rPr>
              <a:t>Which partition did each account land in? Did 9001's three amounts come back in the order you typed them?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23</a:t>
            </a:r>
          </a:p>
        </p:txBody>
      </p:sp>
      <p:sp>
        <p:nvSpPr>
          <p:cNvPr id="32" name="ft3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t3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616327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3  ·  WHAT YOU SHOULD SEE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3 - Measured Output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Your unkeyed messages may land in another partition - but all five in the same one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3977639" cy="2640787"/>
          </a:xfrm>
          <a:prstGeom prst="roundRect">
            <a:avLst>
              <a:gd name="adj" fmla="val 277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48640" y="1426464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# Step 3 - first read</a:t>
            </a:r>
          </a:p>
        </p:txBody>
      </p:sp>
      <p:sp>
        <p:nvSpPr>
          <p:cNvPr id="14" name="a1wd45_code13"/>
          <p:cNvSpPr txBox="1"/>
          <p:nvPr/>
        </p:nvSpPr>
        <p:spPr>
          <a:xfrm>
            <a:off x="548640" y="1580083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Offset:0  Transfer 1 completed</a:t>
            </a:r>
          </a:p>
        </p:txBody>
      </p:sp>
      <p:sp>
        <p:nvSpPr>
          <p:cNvPr id="15" name="a1wd90_code14"/>
          <p:cNvSpPr txBox="1"/>
          <p:nvPr/>
        </p:nvSpPr>
        <p:spPr>
          <a:xfrm>
            <a:off x="548640" y="1733702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Offset:1  Transfer 2 completed</a:t>
            </a:r>
          </a:p>
        </p:txBody>
      </p:sp>
      <p:sp>
        <p:nvSpPr>
          <p:cNvPr id="16" name="a1wd135_code15"/>
          <p:cNvSpPr txBox="1"/>
          <p:nvPr/>
        </p:nvSpPr>
        <p:spPr>
          <a:xfrm>
            <a:off x="548640" y="1887321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Offset:2  Transfer 3 completed</a:t>
            </a:r>
          </a:p>
        </p:txBody>
      </p:sp>
      <p:sp>
        <p:nvSpPr>
          <p:cNvPr id="17" name="a1wd180_code16"/>
          <p:cNvSpPr txBox="1"/>
          <p:nvPr/>
        </p:nvSpPr>
        <p:spPr>
          <a:xfrm>
            <a:off x="548640" y="2040940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Offset:3  Transfer 4 completed</a:t>
            </a:r>
          </a:p>
        </p:txBody>
      </p:sp>
      <p:sp>
        <p:nvSpPr>
          <p:cNvPr id="18" name="a1wd225_code17"/>
          <p:cNvSpPr txBox="1"/>
          <p:nvPr/>
        </p:nvSpPr>
        <p:spPr>
          <a:xfrm>
            <a:off x="548640" y="2194560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Offset:4  Transfer 5 completed</a:t>
            </a:r>
          </a:p>
        </p:txBody>
      </p:sp>
      <p:sp>
        <p:nvSpPr>
          <p:cNvPr id="19" name="a1wd270_code18"/>
          <p:cNvSpPr txBox="1"/>
          <p:nvPr/>
        </p:nvSpPr>
        <p:spPr>
          <a:xfrm>
            <a:off x="548640" y="2348179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Processed a total of 5 messages</a:t>
            </a:r>
          </a:p>
        </p:txBody>
      </p:sp>
      <p:sp>
        <p:nvSpPr>
          <p:cNvPr id="20" name="a1wd315_code19"/>
          <p:cNvSpPr txBox="1"/>
          <p:nvPr/>
        </p:nvSpPr>
        <p:spPr>
          <a:xfrm>
            <a:off x="548640" y="2501798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1" name="a1wd360_code20"/>
          <p:cNvSpPr txBox="1"/>
          <p:nvPr/>
        </p:nvSpPr>
        <p:spPr>
          <a:xfrm>
            <a:off x="548640" y="2655417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# Step 4 - same command, again</a:t>
            </a:r>
          </a:p>
        </p:txBody>
      </p:sp>
      <p:sp>
        <p:nvSpPr>
          <p:cNvPr id="22" name="a1wd405_code21"/>
          <p:cNvSpPr txBox="1"/>
          <p:nvPr/>
        </p:nvSpPr>
        <p:spPr>
          <a:xfrm>
            <a:off x="548640" y="2809036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Transfer 1 completed</a:t>
            </a:r>
          </a:p>
        </p:txBody>
      </p:sp>
      <p:sp>
        <p:nvSpPr>
          <p:cNvPr id="23" name="a1wd450_code22"/>
          <p:cNvSpPr txBox="1"/>
          <p:nvPr/>
        </p:nvSpPr>
        <p:spPr>
          <a:xfrm>
            <a:off x="548640" y="2962656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24" name="a1wd495_code23"/>
          <p:cNvSpPr txBox="1"/>
          <p:nvPr/>
        </p:nvSpPr>
        <p:spPr>
          <a:xfrm>
            <a:off x="548640" y="3116275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Transfer 5 completed</a:t>
            </a:r>
          </a:p>
        </p:txBody>
      </p:sp>
      <p:sp>
        <p:nvSpPr>
          <p:cNvPr id="25" name="a1wd540_code24"/>
          <p:cNvSpPr txBox="1"/>
          <p:nvPr/>
        </p:nvSpPr>
        <p:spPr>
          <a:xfrm>
            <a:off x="548640" y="3269894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Processed a total of 5 messages</a:t>
            </a:r>
          </a:p>
        </p:txBody>
      </p:sp>
      <p:sp>
        <p:nvSpPr>
          <p:cNvPr id="26" name="a1wd585_code25"/>
          <p:cNvSpPr txBox="1"/>
          <p:nvPr/>
        </p:nvSpPr>
        <p:spPr>
          <a:xfrm>
            <a:off x="548640" y="3423513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7" name="a1wd630_code26"/>
          <p:cNvSpPr txBox="1"/>
          <p:nvPr/>
        </p:nvSpPr>
        <p:spPr>
          <a:xfrm>
            <a:off x="548640" y="3577132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# Step 5 - no --from-beginning</a:t>
            </a:r>
          </a:p>
        </p:txBody>
      </p:sp>
      <p:sp>
        <p:nvSpPr>
          <p:cNvPr id="28" name="a1wd675_code27"/>
          <p:cNvSpPr txBox="1"/>
          <p:nvPr/>
        </p:nvSpPr>
        <p:spPr>
          <a:xfrm>
            <a:off x="548640" y="3730752"/>
            <a:ext cx="3794759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FDA4AF"/>
                </a:solidFill>
                <a:latin typeface="Consolas"/>
              </a:rPr>
              <a:t>(nothing - it waits for NEW messages)</a:t>
            </a:r>
          </a:p>
        </p:txBody>
      </p:sp>
      <p:sp>
        <p:nvSpPr>
          <p:cNvPr id="29" name="a2f_codebg28"/>
          <p:cNvSpPr/>
          <p:nvPr/>
        </p:nvSpPr>
        <p:spPr>
          <a:xfrm>
            <a:off x="4617720" y="1335024"/>
            <a:ext cx="4069080" cy="1872691"/>
          </a:xfrm>
          <a:prstGeom prst="roundRect">
            <a:avLst>
              <a:gd name="adj" fmla="val 3906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_code29"/>
          <p:cNvSpPr txBox="1"/>
          <p:nvPr/>
        </p:nvSpPr>
        <p:spPr>
          <a:xfrm>
            <a:off x="4709159" y="1426464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# Step 6 - keyed messages</a:t>
            </a:r>
          </a:p>
        </p:txBody>
      </p:sp>
      <p:sp>
        <p:nvSpPr>
          <p:cNvPr id="31" name="a2wd45_code30"/>
          <p:cNvSpPr txBox="1"/>
          <p:nvPr/>
        </p:nvSpPr>
        <p:spPr>
          <a:xfrm>
            <a:off x="4709159" y="1580083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Partition:0  Offset:0  9001  DEBIT 2500</a:t>
            </a:r>
          </a:p>
        </p:txBody>
      </p:sp>
      <p:sp>
        <p:nvSpPr>
          <p:cNvPr id="32" name="a2wd90_code31"/>
          <p:cNvSpPr txBox="1"/>
          <p:nvPr/>
        </p:nvSpPr>
        <p:spPr>
          <a:xfrm>
            <a:off x="4709159" y="1733702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Partition:0  Offset:1  9001  DEBIT 700</a:t>
            </a:r>
          </a:p>
        </p:txBody>
      </p:sp>
      <p:sp>
        <p:nvSpPr>
          <p:cNvPr id="33" name="a2wd135_code32"/>
          <p:cNvSpPr txBox="1"/>
          <p:nvPr/>
        </p:nvSpPr>
        <p:spPr>
          <a:xfrm>
            <a:off x="4709159" y="1887321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Partition:0  Offset:2  9001  CREDIT 300</a:t>
            </a:r>
          </a:p>
        </p:txBody>
      </p:sp>
      <p:sp>
        <p:nvSpPr>
          <p:cNvPr id="34" name="a2wd180_code33"/>
          <p:cNvSpPr txBox="1"/>
          <p:nvPr/>
        </p:nvSpPr>
        <p:spPr>
          <a:xfrm>
            <a:off x="4709159" y="2040940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Offset:0  null  Transfer 1 completed</a:t>
            </a:r>
          </a:p>
        </p:txBody>
      </p:sp>
      <p:sp>
        <p:nvSpPr>
          <p:cNvPr id="35" name="a2wd225_code34"/>
          <p:cNvSpPr txBox="1"/>
          <p:nvPr/>
        </p:nvSpPr>
        <p:spPr>
          <a:xfrm>
            <a:off x="4709159" y="2194560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36" name="a2wd270_code35"/>
          <p:cNvSpPr txBox="1"/>
          <p:nvPr/>
        </p:nvSpPr>
        <p:spPr>
          <a:xfrm>
            <a:off x="4709159" y="2348179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Partition:1  Offset:4  null  Transfer 5 completed</a:t>
            </a:r>
          </a:p>
        </p:txBody>
      </p:sp>
      <p:sp>
        <p:nvSpPr>
          <p:cNvPr id="37" name="a2wd315_code36"/>
          <p:cNvSpPr txBox="1"/>
          <p:nvPr/>
        </p:nvSpPr>
        <p:spPr>
          <a:xfrm>
            <a:off x="4709159" y="2501798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Partition:1  Offset:5  9002  CREDIT 10000</a:t>
            </a:r>
          </a:p>
        </p:txBody>
      </p:sp>
      <p:sp>
        <p:nvSpPr>
          <p:cNvPr id="38" name="a2wd360_code37"/>
          <p:cNvSpPr txBox="1"/>
          <p:nvPr/>
        </p:nvSpPr>
        <p:spPr>
          <a:xfrm>
            <a:off x="4709159" y="2655417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Partition:1  Offset:6  9002  DEBIT 4000</a:t>
            </a:r>
          </a:p>
        </p:txBody>
      </p:sp>
      <p:sp>
        <p:nvSpPr>
          <p:cNvPr id="39" name="a2wd405_code38"/>
          <p:cNvSpPr txBox="1"/>
          <p:nvPr/>
        </p:nvSpPr>
        <p:spPr>
          <a:xfrm>
            <a:off x="4709159" y="2809036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7E8F9"/>
                </a:solidFill>
                <a:latin typeface="Consolas"/>
              </a:rPr>
              <a:t>Partition:2  Offset:0  9003  DEBIT 150</a:t>
            </a:r>
          </a:p>
        </p:txBody>
      </p:sp>
      <p:sp>
        <p:nvSpPr>
          <p:cNvPr id="40" name="a2wd450_code39"/>
          <p:cNvSpPr txBox="1"/>
          <p:nvPr/>
        </p:nvSpPr>
        <p:spPr>
          <a:xfrm>
            <a:off x="4709159" y="2962656"/>
            <a:ext cx="3886200" cy="153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Processed a total of 11 messages</a:t>
            </a:r>
          </a:p>
        </p:txBody>
      </p:sp>
      <p:sp>
        <p:nvSpPr>
          <p:cNvPr id="41" name="a3u_nb40"/>
          <p:cNvSpPr/>
          <p:nvPr/>
        </p:nvSpPr>
        <p:spPr>
          <a:xfrm>
            <a:off x="4617720" y="3317443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3u_nacc41"/>
          <p:cNvSpPr/>
          <p:nvPr/>
        </p:nvSpPr>
        <p:spPr>
          <a:xfrm>
            <a:off x="4617720" y="3317443"/>
            <a:ext cx="54864" cy="73152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u_nt42"/>
          <p:cNvSpPr txBox="1"/>
          <p:nvPr/>
        </p:nvSpPr>
        <p:spPr>
          <a:xfrm>
            <a:off x="4818888" y="3317443"/>
            <a:ext cx="366674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16207"/>
                </a:solidFill>
                <a:latin typeface="Segoe UI"/>
              </a:rPr>
              <a:t>!  </a:t>
            </a:r>
            <a:r>
              <a:rPr sz="850" b="0">
                <a:solidFill>
                  <a:srgbClr val="44403C"/>
                </a:solidFill>
                <a:latin typeface="Segoe UI"/>
              </a:rPr>
              <a:t>Also expected, and harmless: a WARNING about '.' in topic names, and a consumer banner about KIP-848. Ignore both.</a:t>
            </a:r>
          </a:p>
        </p:txBody>
      </p:sp>
      <p:sp>
        <p:nvSpPr>
          <p:cNvPr id="44" name="a4u_nb43"/>
          <p:cNvSpPr/>
          <p:nvPr/>
        </p:nvSpPr>
        <p:spPr>
          <a:xfrm>
            <a:off x="457200" y="4158691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4u_nacc44"/>
          <p:cNvSpPr/>
          <p:nvPr/>
        </p:nvSpPr>
        <p:spPr>
          <a:xfrm>
            <a:off x="457200" y="4158691"/>
            <a:ext cx="54864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4u_nt45"/>
          <p:cNvSpPr txBox="1"/>
          <p:nvPr/>
        </p:nvSpPr>
        <p:spPr>
          <a:xfrm>
            <a:off x="658368" y="4158691"/>
            <a:ext cx="7827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Same key, same partition, every time: 9001 to 0, 9002 to 1, 9003 to 2 - and 9001 kept its order: 2500, 700, 300.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24</a:t>
            </a:r>
          </a:p>
        </p:txBody>
      </p:sp>
      <p:sp>
        <p:nvSpPr>
          <p:cNvPr id="48" name="ft47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ft48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748790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3  ·  SOLUTION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3 - Answers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Click once for each question, and again for its answer</a:t>
            </a:r>
          </a:p>
        </p:txBody>
      </p:sp>
      <p:sp>
        <p:nvSpPr>
          <p:cNvPr id="12" name="a1u_card11"/>
          <p:cNvSpPr/>
          <p:nvPr/>
        </p:nvSpPr>
        <p:spPr>
          <a:xfrm>
            <a:off x="45720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acc12"/>
          <p:cNvSpPr/>
          <p:nvPr/>
        </p:nvSpPr>
        <p:spPr>
          <a:xfrm>
            <a:off x="457200" y="1371600"/>
            <a:ext cx="50292" cy="15361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_q13"/>
          <p:cNvSpPr txBox="1"/>
          <p:nvPr/>
        </p:nvSpPr>
        <p:spPr>
          <a:xfrm>
            <a:off x="658368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Why did all five unkeyed messages land in ONE partition?</a:t>
            </a:r>
          </a:p>
        </p:txBody>
      </p:sp>
      <p:sp>
        <p:nvSpPr>
          <p:cNvPr id="15" name="a2f_a14"/>
          <p:cNvSpPr txBox="1"/>
          <p:nvPr/>
        </p:nvSpPr>
        <p:spPr>
          <a:xfrm>
            <a:off x="658368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No key means no hash. The sticky partitioner fills a batch for one partition before switching - it is not per-message round robin. Small bursts land together.</a:t>
            </a:r>
          </a:p>
        </p:txBody>
      </p:sp>
      <p:sp>
        <p:nvSpPr>
          <p:cNvPr id="16" name="a3u_card15"/>
          <p:cNvSpPr/>
          <p:nvPr/>
        </p:nvSpPr>
        <p:spPr>
          <a:xfrm>
            <a:off x="466344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663440" y="1371600"/>
            <a:ext cx="50292" cy="15361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_q17"/>
          <p:cNvSpPr txBox="1"/>
          <p:nvPr/>
        </p:nvSpPr>
        <p:spPr>
          <a:xfrm>
            <a:off x="4864607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Why did the second read return the same five messages?</a:t>
            </a:r>
          </a:p>
        </p:txBody>
      </p:sp>
      <p:sp>
        <p:nvSpPr>
          <p:cNvPr id="19" name="a4f_a18"/>
          <p:cNvSpPr txBox="1"/>
          <p:nvPr/>
        </p:nvSpPr>
        <p:spPr>
          <a:xfrm>
            <a:off x="4864607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A topic is a log. Reading moves the reader's position; it deletes nothing. Messages stay until the retention period ends.</a:t>
            </a:r>
          </a:p>
        </p:txBody>
      </p:sp>
      <p:sp>
        <p:nvSpPr>
          <p:cNvPr id="20" name="a5u_card19"/>
          <p:cNvSpPr/>
          <p:nvPr/>
        </p:nvSpPr>
        <p:spPr>
          <a:xfrm>
            <a:off x="45720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acc20"/>
          <p:cNvSpPr/>
          <p:nvPr/>
        </p:nvSpPr>
        <p:spPr>
          <a:xfrm>
            <a:off x="457200" y="3035808"/>
            <a:ext cx="50292" cy="1536192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5u_q21"/>
          <p:cNvSpPr txBox="1"/>
          <p:nvPr/>
        </p:nvSpPr>
        <p:spPr>
          <a:xfrm>
            <a:off x="658368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Why did Step 5 print nothing?</a:t>
            </a:r>
          </a:p>
        </p:txBody>
      </p:sp>
      <p:sp>
        <p:nvSpPr>
          <p:cNvPr id="23" name="a6f_a22"/>
          <p:cNvSpPr txBox="1"/>
          <p:nvPr/>
        </p:nvSpPr>
        <p:spPr>
          <a:xfrm>
            <a:off x="658368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A consumer with no saved position starts at the END by default (auto.offset.reset=latest). --from-beginning overrides that.</a:t>
            </a:r>
          </a:p>
        </p:txBody>
      </p:sp>
      <p:sp>
        <p:nvSpPr>
          <p:cNvPr id="24" name="a7u_card23"/>
          <p:cNvSpPr/>
          <p:nvPr/>
        </p:nvSpPr>
        <p:spPr>
          <a:xfrm>
            <a:off x="466344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7u_acc24"/>
          <p:cNvSpPr/>
          <p:nvPr/>
        </p:nvSpPr>
        <p:spPr>
          <a:xfrm>
            <a:off x="4663440" y="3035808"/>
            <a:ext cx="50292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7u_q25"/>
          <p:cNvSpPr txBox="1"/>
          <p:nvPr/>
        </p:nvSpPr>
        <p:spPr>
          <a:xfrm>
            <a:off x="4864607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Did the order of messages survive?</a:t>
            </a:r>
          </a:p>
        </p:txBody>
      </p:sp>
      <p:sp>
        <p:nvSpPr>
          <p:cNvPr id="27" name="a8f_a26"/>
          <p:cNvSpPr txBox="1"/>
          <p:nvPr/>
        </p:nvSpPr>
        <p:spPr>
          <a:xfrm>
            <a:off x="4864607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F46E5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Within a partition, yes: 9001's 2500, 700, 300 came back in order. Across partitions there is no order - the reader interleaves them.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25</a:t>
            </a:r>
          </a:p>
        </p:txBody>
      </p:sp>
      <p:sp>
        <p:nvSpPr>
          <p:cNvPr id="29" name="ft2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t2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a0f_pl2"/>
          <p:cNvSpPr txBox="1"/>
          <p:nvPr/>
        </p:nvSpPr>
        <p:spPr>
          <a:xfrm>
            <a:off x="502920" y="1005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500">
                <a:solidFill>
                  <a:srgbClr val="18181B"/>
                </a:solidFill>
                <a:latin typeface="Segoe UI"/>
              </a:rPr>
              <a:t>PART</a:t>
            </a:r>
          </a:p>
        </p:txBody>
      </p:sp>
      <p:sp>
        <p:nvSpPr>
          <p:cNvPr id="4" name="a0ud100_n3"/>
          <p:cNvSpPr txBox="1"/>
          <p:nvPr/>
        </p:nvSpPr>
        <p:spPr>
          <a:xfrm>
            <a:off x="411480" y="1280160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50" b="0">
                <a:solidFill>
                  <a:srgbClr val="FFFFFF"/>
                </a:solidFill>
                <a:latin typeface="Bahnschrift SemiBold"/>
              </a:rPr>
              <a:t>03</a:t>
            </a:r>
          </a:p>
        </p:txBody>
      </p:sp>
      <p:sp>
        <p:nvSpPr>
          <p:cNvPr id="5" name="a0wd300_pb4"/>
          <p:cNvSpPr/>
          <p:nvPr/>
        </p:nvSpPr>
        <p:spPr>
          <a:xfrm>
            <a:off x="502920" y="3090672"/>
            <a:ext cx="640080" cy="4572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0fd400_pc5"/>
          <p:cNvSpPr/>
          <p:nvPr/>
        </p:nvSpPr>
        <p:spPr>
          <a:xfrm>
            <a:off x="502920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0fd400_pct6"/>
          <p:cNvSpPr txBox="1"/>
          <p:nvPr/>
        </p:nvSpPr>
        <p:spPr>
          <a:xfrm>
            <a:off x="502920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01</a:t>
            </a:r>
          </a:p>
        </p:txBody>
      </p:sp>
      <p:sp>
        <p:nvSpPr>
          <p:cNvPr id="8" name="a0fd480_pc7"/>
          <p:cNvSpPr/>
          <p:nvPr/>
        </p:nvSpPr>
        <p:spPr>
          <a:xfrm>
            <a:off x="877824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0fd480_pct8"/>
          <p:cNvSpPr txBox="1"/>
          <p:nvPr/>
        </p:nvSpPr>
        <p:spPr>
          <a:xfrm>
            <a:off x="877824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02</a:t>
            </a:r>
          </a:p>
        </p:txBody>
      </p:sp>
      <p:sp>
        <p:nvSpPr>
          <p:cNvPr id="10" name="a0fd560_pc9"/>
          <p:cNvSpPr/>
          <p:nvPr/>
        </p:nvSpPr>
        <p:spPr>
          <a:xfrm>
            <a:off x="1252728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0fd560_pct10"/>
          <p:cNvSpPr txBox="1"/>
          <p:nvPr/>
        </p:nvSpPr>
        <p:spPr>
          <a:xfrm>
            <a:off x="1252728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03</a:t>
            </a:r>
          </a:p>
        </p:txBody>
      </p:sp>
      <p:sp>
        <p:nvSpPr>
          <p:cNvPr id="12" name="a0ud250_h11"/>
          <p:cNvSpPr txBox="1"/>
          <p:nvPr/>
        </p:nvSpPr>
        <p:spPr>
          <a:xfrm>
            <a:off x="3429000" y="868680"/>
            <a:ext cx="5257800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50" b="0">
                <a:solidFill>
                  <a:srgbClr val="FFFFFF"/>
                </a:solidFill>
                <a:latin typeface="Bahnschrift SemiBold"/>
              </a:rPr>
              <a:t>Event-Driven Architecture</a:t>
            </a:r>
          </a:p>
        </p:txBody>
      </p:sp>
      <p:sp>
        <p:nvSpPr>
          <p:cNvPr id="13" name="a0wd450_hb12"/>
          <p:cNvSpPr/>
          <p:nvPr/>
        </p:nvSpPr>
        <p:spPr>
          <a:xfrm>
            <a:off x="3429000" y="2212848"/>
            <a:ext cx="54864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fd500_t13"/>
          <p:cNvSpPr txBox="1"/>
          <p:nvPr/>
        </p:nvSpPr>
        <p:spPr>
          <a:xfrm>
            <a:off x="3429000" y="239572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6D3D1"/>
                </a:solidFill>
                <a:latin typeface="Segoe UI"/>
              </a:rPr>
              <a:t>Announce what happened - and let whoever cares react to it</a:t>
            </a:r>
          </a:p>
        </p:txBody>
      </p:sp>
      <p:sp>
        <p:nvSpPr>
          <p:cNvPr id="15" name="a0ud700_dd14"/>
          <p:cNvSpPr/>
          <p:nvPr/>
        </p:nvSpPr>
        <p:spPr>
          <a:xfrm>
            <a:off x="3429000" y="3236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0ud700_di15"/>
          <p:cNvSpPr txBox="1"/>
          <p:nvPr/>
        </p:nvSpPr>
        <p:spPr>
          <a:xfrm>
            <a:off x="3666744" y="315468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Events vs commands</a:t>
            </a:r>
          </a:p>
        </p:txBody>
      </p:sp>
      <p:sp>
        <p:nvSpPr>
          <p:cNvPr id="17" name="a0ud820_dd16"/>
          <p:cNvSpPr/>
          <p:nvPr/>
        </p:nvSpPr>
        <p:spPr>
          <a:xfrm>
            <a:off x="3429000" y="36027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0ud820_di17"/>
          <p:cNvSpPr txBox="1"/>
          <p:nvPr/>
        </p:nvSpPr>
        <p:spPr>
          <a:xfrm>
            <a:off x="3666744" y="352044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Fan-out</a:t>
            </a:r>
          </a:p>
        </p:txBody>
      </p:sp>
      <p:sp>
        <p:nvSpPr>
          <p:cNvPr id="19" name="a0ud940_dd18"/>
          <p:cNvSpPr/>
          <p:nvPr/>
        </p:nvSpPr>
        <p:spPr>
          <a:xfrm>
            <a:off x="3429000" y="396849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ud940_di19"/>
          <p:cNvSpPr txBox="1"/>
          <p:nvPr/>
        </p:nvSpPr>
        <p:spPr>
          <a:xfrm>
            <a:off x="3666744" y="388620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Choreography</a:t>
            </a:r>
          </a:p>
        </p:txBody>
      </p:sp>
      <p:sp>
        <p:nvSpPr>
          <p:cNvPr id="21" name="a0ud1060_dd20"/>
          <p:cNvSpPr/>
          <p:nvPr/>
        </p:nvSpPr>
        <p:spPr>
          <a:xfrm>
            <a:off x="3429000" y="433425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0ud1060_di21"/>
          <p:cNvSpPr txBox="1"/>
          <p:nvPr/>
        </p:nvSpPr>
        <p:spPr>
          <a:xfrm>
            <a:off x="3666744" y="425196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Trade-offs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Command, Query, Event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Three kinds of message - and only one of them leaves the sender free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216152"/>
            <a:ext cx="1463040" cy="3474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216152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3" name="a1wd110_td12"/>
          <p:cNvSpPr/>
          <p:nvPr/>
        </p:nvSpPr>
        <p:spPr>
          <a:xfrm>
            <a:off x="457200" y="1563624"/>
            <a:ext cx="1463040" cy="347472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10_tdt13"/>
          <p:cNvSpPr txBox="1"/>
          <p:nvPr/>
        </p:nvSpPr>
        <p:spPr>
          <a:xfrm>
            <a:off x="530352" y="1563624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Example</a:t>
            </a:r>
          </a:p>
        </p:txBody>
      </p:sp>
      <p:sp>
        <p:nvSpPr>
          <p:cNvPr id="15" name="a1wd220_td14"/>
          <p:cNvSpPr/>
          <p:nvPr/>
        </p:nvSpPr>
        <p:spPr>
          <a:xfrm>
            <a:off x="457200" y="1911095"/>
            <a:ext cx="146304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20_tdt15"/>
          <p:cNvSpPr txBox="1"/>
          <p:nvPr/>
        </p:nvSpPr>
        <p:spPr>
          <a:xfrm>
            <a:off x="530352" y="1911095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Grammar</a:t>
            </a:r>
          </a:p>
        </p:txBody>
      </p:sp>
      <p:sp>
        <p:nvSpPr>
          <p:cNvPr id="17" name="a1wd330_td16"/>
          <p:cNvSpPr/>
          <p:nvPr/>
        </p:nvSpPr>
        <p:spPr>
          <a:xfrm>
            <a:off x="457200" y="225856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30_tdt17"/>
          <p:cNvSpPr txBox="1"/>
          <p:nvPr/>
        </p:nvSpPr>
        <p:spPr>
          <a:xfrm>
            <a:off x="530352" y="2258568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Sender expects</a:t>
            </a:r>
          </a:p>
        </p:txBody>
      </p:sp>
      <p:sp>
        <p:nvSpPr>
          <p:cNvPr id="19" name="a1wd440_td18"/>
          <p:cNvSpPr/>
          <p:nvPr/>
        </p:nvSpPr>
        <p:spPr>
          <a:xfrm>
            <a:off x="457200" y="2606040"/>
            <a:ext cx="146304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40_tdt19"/>
          <p:cNvSpPr txBox="1"/>
          <p:nvPr/>
        </p:nvSpPr>
        <p:spPr>
          <a:xfrm>
            <a:off x="530352" y="2606040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Receivers</a:t>
            </a:r>
          </a:p>
        </p:txBody>
      </p:sp>
      <p:sp>
        <p:nvSpPr>
          <p:cNvPr id="21" name="a1wd550_td20"/>
          <p:cNvSpPr/>
          <p:nvPr/>
        </p:nvSpPr>
        <p:spPr>
          <a:xfrm>
            <a:off x="457200" y="295351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550_tdt21"/>
          <p:cNvSpPr txBox="1"/>
          <p:nvPr/>
        </p:nvSpPr>
        <p:spPr>
          <a:xfrm>
            <a:off x="530352" y="2953512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Can it be refused?</a:t>
            </a:r>
          </a:p>
        </p:txBody>
      </p:sp>
      <p:sp>
        <p:nvSpPr>
          <p:cNvPr id="23" name="a1wd660_td22"/>
          <p:cNvSpPr/>
          <p:nvPr/>
        </p:nvSpPr>
        <p:spPr>
          <a:xfrm>
            <a:off x="457200" y="3300984"/>
            <a:ext cx="146304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660_tdt23"/>
          <p:cNvSpPr txBox="1"/>
          <p:nvPr/>
        </p:nvSpPr>
        <p:spPr>
          <a:xfrm>
            <a:off x="530352" y="3300984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Usual transport</a:t>
            </a:r>
          </a:p>
        </p:txBody>
      </p:sp>
      <p:sp>
        <p:nvSpPr>
          <p:cNvPr id="25" name="a1f_th24"/>
          <p:cNvSpPr/>
          <p:nvPr/>
        </p:nvSpPr>
        <p:spPr>
          <a:xfrm>
            <a:off x="1920240" y="1216152"/>
            <a:ext cx="2240280" cy="347472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1993392" y="1216152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Command</a:t>
            </a:r>
          </a:p>
        </p:txBody>
      </p:sp>
      <p:sp>
        <p:nvSpPr>
          <p:cNvPr id="27" name="a1wd110_td26"/>
          <p:cNvSpPr/>
          <p:nvPr/>
        </p:nvSpPr>
        <p:spPr>
          <a:xfrm>
            <a:off x="1920240" y="1563624"/>
            <a:ext cx="2240280" cy="347472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10_tdt27"/>
          <p:cNvSpPr txBox="1"/>
          <p:nvPr/>
        </p:nvSpPr>
        <p:spPr>
          <a:xfrm>
            <a:off x="1993392" y="1563624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SendSms</a:t>
            </a:r>
          </a:p>
        </p:txBody>
      </p:sp>
      <p:sp>
        <p:nvSpPr>
          <p:cNvPr id="29" name="a1wd220_td28"/>
          <p:cNvSpPr/>
          <p:nvPr/>
        </p:nvSpPr>
        <p:spPr>
          <a:xfrm>
            <a:off x="1920240" y="1911095"/>
            <a:ext cx="224028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20_tdt29"/>
          <p:cNvSpPr txBox="1"/>
          <p:nvPr/>
        </p:nvSpPr>
        <p:spPr>
          <a:xfrm>
            <a:off x="1993392" y="1911095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Imperative - do this</a:t>
            </a:r>
          </a:p>
        </p:txBody>
      </p:sp>
      <p:sp>
        <p:nvSpPr>
          <p:cNvPr id="31" name="a1wd330_td30"/>
          <p:cNvSpPr/>
          <p:nvPr/>
        </p:nvSpPr>
        <p:spPr>
          <a:xfrm>
            <a:off x="1920240" y="225856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330_tdt31"/>
          <p:cNvSpPr txBox="1"/>
          <p:nvPr/>
        </p:nvSpPr>
        <p:spPr>
          <a:xfrm>
            <a:off x="1993392" y="2258568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It gets done</a:t>
            </a:r>
          </a:p>
        </p:txBody>
      </p:sp>
      <p:sp>
        <p:nvSpPr>
          <p:cNvPr id="33" name="a1wd440_td32"/>
          <p:cNvSpPr/>
          <p:nvPr/>
        </p:nvSpPr>
        <p:spPr>
          <a:xfrm>
            <a:off x="1920240" y="2606040"/>
            <a:ext cx="224028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440_tdt33"/>
          <p:cNvSpPr txBox="1"/>
          <p:nvPr/>
        </p:nvSpPr>
        <p:spPr>
          <a:xfrm>
            <a:off x="1993392" y="2606040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Exactly one</a:t>
            </a:r>
          </a:p>
        </p:txBody>
      </p:sp>
      <p:sp>
        <p:nvSpPr>
          <p:cNvPr id="35" name="a1wd550_td34"/>
          <p:cNvSpPr/>
          <p:nvPr/>
        </p:nvSpPr>
        <p:spPr>
          <a:xfrm>
            <a:off x="1920240" y="2953512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550_tdt35"/>
          <p:cNvSpPr txBox="1"/>
          <p:nvPr/>
        </p:nvSpPr>
        <p:spPr>
          <a:xfrm>
            <a:off x="1993392" y="2953512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Yes</a:t>
            </a:r>
          </a:p>
        </p:txBody>
      </p:sp>
      <p:sp>
        <p:nvSpPr>
          <p:cNvPr id="37" name="a1wd660_td36"/>
          <p:cNvSpPr/>
          <p:nvPr/>
        </p:nvSpPr>
        <p:spPr>
          <a:xfrm>
            <a:off x="1920240" y="3300984"/>
            <a:ext cx="224028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660_tdt37"/>
          <p:cNvSpPr txBox="1"/>
          <p:nvPr/>
        </p:nvSpPr>
        <p:spPr>
          <a:xfrm>
            <a:off x="1993392" y="3300984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Queue or request</a:t>
            </a:r>
          </a:p>
        </p:txBody>
      </p:sp>
      <p:sp>
        <p:nvSpPr>
          <p:cNvPr id="39" name="a1f_th38"/>
          <p:cNvSpPr/>
          <p:nvPr/>
        </p:nvSpPr>
        <p:spPr>
          <a:xfrm>
            <a:off x="4160520" y="1216152"/>
            <a:ext cx="2240280" cy="3474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f_tht39"/>
          <p:cNvSpPr txBox="1"/>
          <p:nvPr/>
        </p:nvSpPr>
        <p:spPr>
          <a:xfrm>
            <a:off x="4233672" y="1216152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Query</a:t>
            </a:r>
          </a:p>
        </p:txBody>
      </p:sp>
      <p:sp>
        <p:nvSpPr>
          <p:cNvPr id="41" name="a1wd110_td40"/>
          <p:cNvSpPr/>
          <p:nvPr/>
        </p:nvSpPr>
        <p:spPr>
          <a:xfrm>
            <a:off x="4160520" y="1563624"/>
            <a:ext cx="2240280" cy="347472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110_tdt41"/>
          <p:cNvSpPr txBox="1"/>
          <p:nvPr/>
        </p:nvSpPr>
        <p:spPr>
          <a:xfrm>
            <a:off x="4233672" y="1563624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GetBalance</a:t>
            </a:r>
          </a:p>
        </p:txBody>
      </p:sp>
      <p:sp>
        <p:nvSpPr>
          <p:cNvPr id="43" name="a1wd220_td42"/>
          <p:cNvSpPr/>
          <p:nvPr/>
        </p:nvSpPr>
        <p:spPr>
          <a:xfrm>
            <a:off x="4160520" y="1911095"/>
            <a:ext cx="224028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220_tdt43"/>
          <p:cNvSpPr txBox="1"/>
          <p:nvPr/>
        </p:nvSpPr>
        <p:spPr>
          <a:xfrm>
            <a:off x="4233672" y="1911095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Question - tell me</a:t>
            </a:r>
          </a:p>
        </p:txBody>
      </p:sp>
      <p:sp>
        <p:nvSpPr>
          <p:cNvPr id="45" name="a1wd330_td44"/>
          <p:cNvSpPr/>
          <p:nvPr/>
        </p:nvSpPr>
        <p:spPr>
          <a:xfrm>
            <a:off x="4160520" y="225856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330_tdt45"/>
          <p:cNvSpPr txBox="1"/>
          <p:nvPr/>
        </p:nvSpPr>
        <p:spPr>
          <a:xfrm>
            <a:off x="4233672" y="2258568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An answer, now</a:t>
            </a:r>
          </a:p>
        </p:txBody>
      </p:sp>
      <p:sp>
        <p:nvSpPr>
          <p:cNvPr id="47" name="a1wd440_td46"/>
          <p:cNvSpPr/>
          <p:nvPr/>
        </p:nvSpPr>
        <p:spPr>
          <a:xfrm>
            <a:off x="4160520" y="2606040"/>
            <a:ext cx="224028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440_tdt47"/>
          <p:cNvSpPr txBox="1"/>
          <p:nvPr/>
        </p:nvSpPr>
        <p:spPr>
          <a:xfrm>
            <a:off x="4233672" y="2606040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Exactly one</a:t>
            </a:r>
          </a:p>
        </p:txBody>
      </p:sp>
      <p:sp>
        <p:nvSpPr>
          <p:cNvPr id="49" name="a1wd550_td48"/>
          <p:cNvSpPr/>
          <p:nvPr/>
        </p:nvSpPr>
        <p:spPr>
          <a:xfrm>
            <a:off x="4160520" y="2953512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550_tdt49"/>
          <p:cNvSpPr txBox="1"/>
          <p:nvPr/>
        </p:nvSpPr>
        <p:spPr>
          <a:xfrm>
            <a:off x="4233672" y="2953512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-</a:t>
            </a:r>
          </a:p>
        </p:txBody>
      </p:sp>
      <p:sp>
        <p:nvSpPr>
          <p:cNvPr id="51" name="a1wd660_td50"/>
          <p:cNvSpPr/>
          <p:nvPr/>
        </p:nvSpPr>
        <p:spPr>
          <a:xfrm>
            <a:off x="4160520" y="3300984"/>
            <a:ext cx="224028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660_tdt51"/>
          <p:cNvSpPr txBox="1"/>
          <p:nvPr/>
        </p:nvSpPr>
        <p:spPr>
          <a:xfrm>
            <a:off x="4233672" y="3300984"/>
            <a:ext cx="213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Request-response</a:t>
            </a:r>
          </a:p>
        </p:txBody>
      </p:sp>
      <p:sp>
        <p:nvSpPr>
          <p:cNvPr id="53" name="a1f_th52"/>
          <p:cNvSpPr/>
          <p:nvPr/>
        </p:nvSpPr>
        <p:spPr>
          <a:xfrm>
            <a:off x="6400800" y="1216152"/>
            <a:ext cx="2286000" cy="3474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f_tht53"/>
          <p:cNvSpPr txBox="1"/>
          <p:nvPr/>
        </p:nvSpPr>
        <p:spPr>
          <a:xfrm>
            <a:off x="6473952" y="121615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Event</a:t>
            </a:r>
          </a:p>
        </p:txBody>
      </p:sp>
      <p:sp>
        <p:nvSpPr>
          <p:cNvPr id="55" name="a1wd110_td54"/>
          <p:cNvSpPr/>
          <p:nvPr/>
        </p:nvSpPr>
        <p:spPr>
          <a:xfrm>
            <a:off x="6400800" y="1563624"/>
            <a:ext cx="2286000" cy="347472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110_tdt55"/>
          <p:cNvSpPr txBox="1"/>
          <p:nvPr/>
        </p:nvSpPr>
        <p:spPr>
          <a:xfrm>
            <a:off x="6473952" y="156362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TransferCompleted</a:t>
            </a:r>
          </a:p>
        </p:txBody>
      </p:sp>
      <p:sp>
        <p:nvSpPr>
          <p:cNvPr id="57" name="a1wd220_td56"/>
          <p:cNvSpPr/>
          <p:nvPr/>
        </p:nvSpPr>
        <p:spPr>
          <a:xfrm>
            <a:off x="6400800" y="1911095"/>
            <a:ext cx="228600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220_tdt57"/>
          <p:cNvSpPr txBox="1"/>
          <p:nvPr/>
        </p:nvSpPr>
        <p:spPr>
          <a:xfrm>
            <a:off x="6473952" y="1911095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Past tense - this happened</a:t>
            </a:r>
          </a:p>
        </p:txBody>
      </p:sp>
      <p:sp>
        <p:nvSpPr>
          <p:cNvPr id="59" name="a1wd330_td58"/>
          <p:cNvSpPr/>
          <p:nvPr/>
        </p:nvSpPr>
        <p:spPr>
          <a:xfrm>
            <a:off x="6400800" y="225856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wd330_tdt59"/>
          <p:cNvSpPr txBox="1"/>
          <p:nvPr/>
        </p:nvSpPr>
        <p:spPr>
          <a:xfrm>
            <a:off x="6473952" y="225856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Nothing at all</a:t>
            </a:r>
          </a:p>
        </p:txBody>
      </p:sp>
      <p:sp>
        <p:nvSpPr>
          <p:cNvPr id="61" name="a1wd440_td60"/>
          <p:cNvSpPr/>
          <p:nvPr/>
        </p:nvSpPr>
        <p:spPr>
          <a:xfrm>
            <a:off x="6400800" y="2606040"/>
            <a:ext cx="228600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440_tdt61"/>
          <p:cNvSpPr txBox="1"/>
          <p:nvPr/>
        </p:nvSpPr>
        <p:spPr>
          <a:xfrm>
            <a:off x="6473952" y="260604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Zero, one or many</a:t>
            </a:r>
          </a:p>
        </p:txBody>
      </p:sp>
      <p:sp>
        <p:nvSpPr>
          <p:cNvPr id="63" name="a1wd550_td62"/>
          <p:cNvSpPr/>
          <p:nvPr/>
        </p:nvSpPr>
        <p:spPr>
          <a:xfrm>
            <a:off x="6400800" y="295351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550_tdt63"/>
          <p:cNvSpPr txBox="1"/>
          <p:nvPr/>
        </p:nvSpPr>
        <p:spPr>
          <a:xfrm>
            <a:off x="6473952" y="295351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No - it is a fact</a:t>
            </a:r>
          </a:p>
        </p:txBody>
      </p:sp>
      <p:sp>
        <p:nvSpPr>
          <p:cNvPr id="65" name="a1wd660_td64"/>
          <p:cNvSpPr/>
          <p:nvPr/>
        </p:nvSpPr>
        <p:spPr>
          <a:xfrm>
            <a:off x="6400800" y="3300984"/>
            <a:ext cx="2286000" cy="347472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1wd660_tdt65"/>
          <p:cNvSpPr txBox="1"/>
          <p:nvPr/>
        </p:nvSpPr>
        <p:spPr>
          <a:xfrm>
            <a:off x="6473952" y="330098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Topic (Kafka)</a:t>
            </a:r>
          </a:p>
        </p:txBody>
      </p:sp>
      <p:sp>
        <p:nvSpPr>
          <p:cNvPr id="67" name="a2u_nb66"/>
          <p:cNvSpPr/>
          <p:nvPr/>
        </p:nvSpPr>
        <p:spPr>
          <a:xfrm>
            <a:off x="457200" y="377647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2u_nacc67"/>
          <p:cNvSpPr/>
          <p:nvPr/>
        </p:nvSpPr>
        <p:spPr>
          <a:xfrm>
            <a:off x="457200" y="3776472"/>
            <a:ext cx="54864" cy="7132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2u_nt68"/>
          <p:cNvSpPr txBox="1"/>
          <p:nvPr/>
        </p:nvSpPr>
        <p:spPr>
          <a:xfrm>
            <a:off x="658368" y="3776472"/>
            <a:ext cx="782726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RULE  </a:t>
            </a:r>
            <a:r>
              <a:rPr sz="900" b="0">
                <a:solidFill>
                  <a:srgbClr val="44403C"/>
                </a:solidFill>
                <a:latin typeface="Segoe UI"/>
              </a:rPr>
              <a:t>Name events in the past tense, after the business fact: TransferCompleted, not SendTransferSms. The moment an event says what a reader should do, the producer is coupled to that reader again.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27</a:t>
            </a:r>
          </a:p>
        </p:txBody>
      </p:sp>
      <p:sp>
        <p:nvSpPr>
          <p:cNvPr id="71" name="ft70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ft71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3" name="ft7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The Transfer, Re-wired as Events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Publish once to a topic; every interested system subscribes on its own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9202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956816"/>
            <a:ext cx="1463039" cy="41605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Transfer service</a:t>
            </a:r>
          </a:p>
        </p:txBody>
      </p:sp>
      <p:sp>
        <p:nvSpPr>
          <p:cNvPr id="13" name="a1u_nds12"/>
          <p:cNvSpPr txBox="1"/>
          <p:nvPr/>
        </p:nvSpPr>
        <p:spPr>
          <a:xfrm>
            <a:off x="502920" y="2382012"/>
            <a:ext cx="1463039" cy="370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publishes once</a:t>
            </a:r>
          </a:p>
        </p:txBody>
      </p:sp>
      <p:cxnSp>
        <p:nvCxnSpPr>
          <p:cNvPr id="14" name="a1ud100_ar13"/>
          <p:cNvCxnSpPr/>
          <p:nvPr/>
        </p:nvCxnSpPr>
        <p:spPr>
          <a:xfrm>
            <a:off x="2039112" y="2359152"/>
            <a:ext cx="274320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1ud150_nd14"/>
          <p:cNvSpPr/>
          <p:nvPr/>
        </p:nvSpPr>
        <p:spPr>
          <a:xfrm>
            <a:off x="2331720" y="1874519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150_ndt15"/>
          <p:cNvSpPr txBox="1"/>
          <p:nvPr/>
        </p:nvSpPr>
        <p:spPr>
          <a:xfrm>
            <a:off x="2377439" y="1911095"/>
            <a:ext cx="2011679" cy="4617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100" b="1">
                <a:solidFill>
                  <a:srgbClr val="1C1917"/>
                </a:solidFill>
                <a:latin typeface="Segoe UI"/>
              </a:rPr>
              <a:t>Kafka topic</a:t>
            </a:r>
          </a:p>
        </p:txBody>
      </p:sp>
      <p:sp>
        <p:nvSpPr>
          <p:cNvPr id="17" name="a1ud150_nds16"/>
          <p:cNvSpPr txBox="1"/>
          <p:nvPr/>
        </p:nvSpPr>
        <p:spPr>
          <a:xfrm>
            <a:off x="2377439" y="2382011"/>
            <a:ext cx="2011679" cy="416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0E7490"/>
                </a:solidFill>
                <a:latin typeface="Segoe UI"/>
              </a:rPr>
              <a:t>bank.txn.completed</a:t>
            </a:r>
          </a:p>
        </p:txBody>
      </p:sp>
      <p:sp>
        <p:nvSpPr>
          <p:cNvPr id="18" name="a2u_nd17"/>
          <p:cNvSpPr/>
          <p:nvPr/>
        </p:nvSpPr>
        <p:spPr>
          <a:xfrm>
            <a:off x="5166360" y="1234440"/>
            <a:ext cx="173736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dt18"/>
          <p:cNvSpPr txBox="1"/>
          <p:nvPr/>
        </p:nvSpPr>
        <p:spPr>
          <a:xfrm>
            <a:off x="5212080" y="1234440"/>
            <a:ext cx="164591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fraud-engine</a:t>
            </a:r>
          </a:p>
        </p:txBody>
      </p:sp>
      <p:cxnSp>
        <p:nvCxnSpPr>
          <p:cNvPr id="20" name="a2u_ar19"/>
          <p:cNvCxnSpPr/>
          <p:nvPr/>
        </p:nvCxnSpPr>
        <p:spPr>
          <a:xfrm flipV="1">
            <a:off x="4462272" y="1435608"/>
            <a:ext cx="676656" cy="923544"/>
          </a:xfrm>
          <a:prstGeom prst="line">
            <a:avLst/>
          </a:prstGeom>
          <a:ln w="15875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2u_lb20"/>
          <p:cNvSpPr txBox="1"/>
          <p:nvPr/>
        </p:nvSpPr>
        <p:spPr>
          <a:xfrm>
            <a:off x="6967728" y="133502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holds big amounts</a:t>
            </a:r>
          </a:p>
        </p:txBody>
      </p:sp>
      <p:sp>
        <p:nvSpPr>
          <p:cNvPr id="22" name="a2ud120_nd21"/>
          <p:cNvSpPr/>
          <p:nvPr/>
        </p:nvSpPr>
        <p:spPr>
          <a:xfrm>
            <a:off x="5166360" y="1737360"/>
            <a:ext cx="173736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120_ndt22"/>
          <p:cNvSpPr txBox="1"/>
          <p:nvPr/>
        </p:nvSpPr>
        <p:spPr>
          <a:xfrm>
            <a:off x="5212080" y="1737360"/>
            <a:ext cx="164591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sms-notifier</a:t>
            </a:r>
          </a:p>
        </p:txBody>
      </p:sp>
      <p:cxnSp>
        <p:nvCxnSpPr>
          <p:cNvPr id="24" name="a2ud120_ar23"/>
          <p:cNvCxnSpPr/>
          <p:nvPr/>
        </p:nvCxnSpPr>
        <p:spPr>
          <a:xfrm flipV="1">
            <a:off x="4462272" y="1938528"/>
            <a:ext cx="676656" cy="420624"/>
          </a:xfrm>
          <a:prstGeom prst="line">
            <a:avLst/>
          </a:prstGeom>
          <a:ln w="15875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2ud120_lb24"/>
          <p:cNvSpPr txBox="1"/>
          <p:nvPr/>
        </p:nvSpPr>
        <p:spPr>
          <a:xfrm>
            <a:off x="6967728" y="183794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texts the customer</a:t>
            </a:r>
          </a:p>
        </p:txBody>
      </p:sp>
      <p:sp>
        <p:nvSpPr>
          <p:cNvPr id="26" name="a2ud240_nd25"/>
          <p:cNvSpPr/>
          <p:nvPr/>
        </p:nvSpPr>
        <p:spPr>
          <a:xfrm>
            <a:off x="5166360" y="2240280"/>
            <a:ext cx="173736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240_ndt26"/>
          <p:cNvSpPr txBox="1"/>
          <p:nvPr/>
        </p:nvSpPr>
        <p:spPr>
          <a:xfrm>
            <a:off x="5212080" y="2240280"/>
            <a:ext cx="164591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ledger-feed</a:t>
            </a:r>
          </a:p>
        </p:txBody>
      </p:sp>
      <p:cxnSp>
        <p:nvCxnSpPr>
          <p:cNvPr id="28" name="a2ud240_ar27"/>
          <p:cNvCxnSpPr/>
          <p:nvPr/>
        </p:nvCxnSpPr>
        <p:spPr>
          <a:xfrm>
            <a:off x="4462272" y="2359152"/>
            <a:ext cx="676656" cy="82296"/>
          </a:xfrm>
          <a:prstGeom prst="line">
            <a:avLst/>
          </a:prstGeom>
          <a:ln w="1587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2ud240_lb28"/>
          <p:cNvSpPr txBox="1"/>
          <p:nvPr/>
        </p:nvSpPr>
        <p:spPr>
          <a:xfrm>
            <a:off x="6967728" y="234086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posts to the GL</a:t>
            </a:r>
          </a:p>
        </p:txBody>
      </p:sp>
      <p:sp>
        <p:nvSpPr>
          <p:cNvPr id="30" name="a2ud360_nd29"/>
          <p:cNvSpPr/>
          <p:nvPr/>
        </p:nvSpPr>
        <p:spPr>
          <a:xfrm>
            <a:off x="5166360" y="2743200"/>
            <a:ext cx="173736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360_ndt30"/>
          <p:cNvSpPr txBox="1"/>
          <p:nvPr/>
        </p:nvSpPr>
        <p:spPr>
          <a:xfrm>
            <a:off x="5212080" y="2743200"/>
            <a:ext cx="164591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warehouse-sink</a:t>
            </a:r>
          </a:p>
        </p:txBody>
      </p:sp>
      <p:cxnSp>
        <p:nvCxnSpPr>
          <p:cNvPr id="32" name="a2ud360_ar31"/>
          <p:cNvCxnSpPr/>
          <p:nvPr/>
        </p:nvCxnSpPr>
        <p:spPr>
          <a:xfrm>
            <a:off x="4462272" y="2359152"/>
            <a:ext cx="676656" cy="585216"/>
          </a:xfrm>
          <a:prstGeom prst="line">
            <a:avLst/>
          </a:prstGeom>
          <a:ln w="1587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2ud360_lb32"/>
          <p:cNvSpPr txBox="1"/>
          <p:nvPr/>
        </p:nvSpPr>
        <p:spPr>
          <a:xfrm>
            <a:off x="6967728" y="284378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78716C"/>
                </a:solidFill>
                <a:latin typeface="Segoe UI"/>
              </a:rPr>
              <a:t>loads fact_txn</a:t>
            </a:r>
          </a:p>
        </p:txBody>
      </p:sp>
      <p:sp>
        <p:nvSpPr>
          <p:cNvPr id="34" name="a3ud480_nd33"/>
          <p:cNvSpPr/>
          <p:nvPr/>
        </p:nvSpPr>
        <p:spPr>
          <a:xfrm>
            <a:off x="5166360" y="3246120"/>
            <a:ext cx="173736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1580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d480_ndt34"/>
          <p:cNvSpPr txBox="1"/>
          <p:nvPr/>
        </p:nvSpPr>
        <p:spPr>
          <a:xfrm>
            <a:off x="5212080" y="3246120"/>
            <a:ext cx="164591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loyalty</a:t>
            </a:r>
          </a:p>
        </p:txBody>
      </p:sp>
      <p:cxnSp>
        <p:nvCxnSpPr>
          <p:cNvPr id="36" name="a3ud480_ar35"/>
          <p:cNvCxnSpPr/>
          <p:nvPr/>
        </p:nvCxnSpPr>
        <p:spPr>
          <a:xfrm>
            <a:off x="4462272" y="2359152"/>
            <a:ext cx="676656" cy="1088136"/>
          </a:xfrm>
          <a:prstGeom prst="line">
            <a:avLst/>
          </a:prstGeom>
          <a:ln w="15875">
            <a:solidFill>
              <a:srgbClr val="15803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3ud480_lb36"/>
          <p:cNvSpPr txBox="1"/>
          <p:nvPr/>
        </p:nvSpPr>
        <p:spPr>
          <a:xfrm>
            <a:off x="6967728" y="334670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5803D"/>
                </a:solidFill>
                <a:latin typeface="Segoe UI"/>
              </a:rPr>
              <a:t>added later - no change upstream</a:t>
            </a:r>
          </a:p>
        </p:txBody>
      </p:sp>
      <p:sp>
        <p:nvSpPr>
          <p:cNvPr id="38" name="a4u_nb37"/>
          <p:cNvSpPr/>
          <p:nvPr/>
        </p:nvSpPr>
        <p:spPr>
          <a:xfrm>
            <a:off x="457200" y="38862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4u_nacc38"/>
          <p:cNvSpPr/>
          <p:nvPr/>
        </p:nvSpPr>
        <p:spPr>
          <a:xfrm>
            <a:off x="457200" y="3886200"/>
            <a:ext cx="54864" cy="6583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4u_nt39"/>
          <p:cNvSpPr txBox="1"/>
          <p:nvPr/>
        </p:nvSpPr>
        <p:spPr>
          <a:xfrm>
            <a:off x="658368" y="3886200"/>
            <a:ext cx="362102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1  </a:t>
            </a:r>
            <a:r>
              <a:rPr sz="900" b="0">
                <a:solidFill>
                  <a:srgbClr val="44403C"/>
                </a:solidFill>
                <a:latin typeface="Segoe UI"/>
              </a:rPr>
              <a:t>The transfer service knows ONE topic - it used to know four systems.</a:t>
            </a:r>
          </a:p>
        </p:txBody>
      </p:sp>
      <p:sp>
        <p:nvSpPr>
          <p:cNvPr id="41" name="a4ud150_nb40"/>
          <p:cNvSpPr/>
          <p:nvPr/>
        </p:nvSpPr>
        <p:spPr>
          <a:xfrm>
            <a:off x="4663440" y="38862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4ud150_nacc41"/>
          <p:cNvSpPr/>
          <p:nvPr/>
        </p:nvSpPr>
        <p:spPr>
          <a:xfrm>
            <a:off x="4663440" y="3886200"/>
            <a:ext cx="54864" cy="6583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4ud150_nt42"/>
          <p:cNvSpPr txBox="1"/>
          <p:nvPr/>
        </p:nvSpPr>
        <p:spPr>
          <a:xfrm>
            <a:off x="4864607" y="3886200"/>
            <a:ext cx="362102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5803D"/>
                </a:solidFill>
                <a:latin typeface="Segoe UI"/>
              </a:rPr>
              <a:t>0  </a:t>
            </a:r>
            <a:r>
              <a:rPr sz="900" b="0">
                <a:solidFill>
                  <a:srgbClr val="44403C"/>
                </a:solidFill>
                <a:latin typeface="Segoe UI"/>
              </a:rPr>
              <a:t>Adding loyalty changed zero lines of the transfer service.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28</a:t>
            </a:r>
          </a:p>
        </p:txBody>
      </p:sp>
      <p:sp>
        <p:nvSpPr>
          <p:cNvPr id="45" name="ft44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ft45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Three Kinds of Event-Driven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How much the event carries decides how much the reader still depends on the sender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2609088" cy="2514600"/>
          </a:xfrm>
          <a:prstGeom prst="roundRect">
            <a:avLst>
              <a:gd name="adj" fmla="val 436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2609088" cy="640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_ic12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60_ict13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a1ud90_ct14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Event notification</a:t>
            </a:r>
          </a:p>
        </p:txBody>
      </p:sp>
      <p:sp>
        <p:nvSpPr>
          <p:cNvPr id="16" name="a1ud120_cs15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onsolas"/>
              </a:rPr>
              <a:t>THIN EVENT</a:t>
            </a:r>
          </a:p>
        </p:txBody>
      </p:sp>
      <p:sp>
        <p:nvSpPr>
          <p:cNvPr id="17" name="a1ud150_cb16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"TXN-8B9EB8 completed" - the id only</a:t>
            </a:r>
          </a:p>
        </p:txBody>
      </p:sp>
      <p:sp>
        <p:nvSpPr>
          <p:cNvPr id="18" name="a1ud220_cb17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Readers call back for details, so some coupling returns</a:t>
            </a:r>
          </a:p>
        </p:txBody>
      </p:sp>
      <p:sp>
        <p:nvSpPr>
          <p:cNvPr id="19" name="a2u_card18"/>
          <p:cNvSpPr/>
          <p:nvPr/>
        </p:nvSpPr>
        <p:spPr>
          <a:xfrm>
            <a:off x="3267456" y="1216152"/>
            <a:ext cx="2609088" cy="2514600"/>
          </a:xfrm>
          <a:prstGeom prst="roundRect">
            <a:avLst>
              <a:gd name="adj" fmla="val 436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acc19"/>
          <p:cNvSpPr/>
          <p:nvPr/>
        </p:nvSpPr>
        <p:spPr>
          <a:xfrm>
            <a:off x="3267456" y="1216152"/>
            <a:ext cx="2609088" cy="640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60_ic20"/>
          <p:cNvSpPr/>
          <p:nvPr/>
        </p:nvSpPr>
        <p:spPr>
          <a:xfrm>
            <a:off x="3432048" y="1417320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d60_ict21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a2ud90_ct22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Event-carried state</a:t>
            </a:r>
          </a:p>
        </p:txBody>
      </p:sp>
      <p:sp>
        <p:nvSpPr>
          <p:cNvPr id="24" name="a2ud120_cs23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onsolas"/>
              </a:rPr>
              <a:t>FAT EVENT</a:t>
            </a:r>
          </a:p>
        </p:txBody>
      </p:sp>
      <p:sp>
        <p:nvSpPr>
          <p:cNvPr id="25" name="a2ud150_cb24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Everything a reader needs is in the event</a:t>
            </a:r>
          </a:p>
        </p:txBody>
      </p:sp>
      <p:sp>
        <p:nvSpPr>
          <p:cNvPr id="26" name="a2ud220_cb25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No call-back - the Lab 4 events work this way</a:t>
            </a:r>
          </a:p>
        </p:txBody>
      </p:sp>
      <p:sp>
        <p:nvSpPr>
          <p:cNvPr id="27" name="a3u_card26"/>
          <p:cNvSpPr/>
          <p:nvPr/>
        </p:nvSpPr>
        <p:spPr>
          <a:xfrm>
            <a:off x="6077712" y="1216152"/>
            <a:ext cx="2609088" cy="2514600"/>
          </a:xfrm>
          <a:prstGeom prst="roundRect">
            <a:avLst>
              <a:gd name="adj" fmla="val 436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acc27"/>
          <p:cNvSpPr/>
          <p:nvPr/>
        </p:nvSpPr>
        <p:spPr>
          <a:xfrm>
            <a:off x="6077712" y="1216152"/>
            <a:ext cx="2609088" cy="6400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d60_ic28"/>
          <p:cNvSpPr/>
          <p:nvPr/>
        </p:nvSpPr>
        <p:spPr>
          <a:xfrm>
            <a:off x="6242304" y="1417320"/>
            <a:ext cx="384048" cy="384048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d60_ict29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a3ud90_ct30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Event sourcing</a:t>
            </a:r>
          </a:p>
        </p:txBody>
      </p:sp>
      <p:sp>
        <p:nvSpPr>
          <p:cNvPr id="32" name="a3ud120_cs31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Consolas"/>
              </a:rPr>
              <a:t>EVENTS ARE THE RECORD</a:t>
            </a:r>
          </a:p>
        </p:txBody>
      </p:sp>
      <p:sp>
        <p:nvSpPr>
          <p:cNvPr id="33" name="a3ud150_cb32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log of events IS the source of truth</a:t>
            </a:r>
          </a:p>
        </p:txBody>
      </p:sp>
      <p:sp>
        <p:nvSpPr>
          <p:cNvPr id="34" name="a3ud220_cb33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Balance = replay every debit and credit</a:t>
            </a:r>
          </a:p>
        </p:txBody>
      </p:sp>
      <p:sp>
        <p:nvSpPr>
          <p:cNvPr id="35" name="a4u_nb34"/>
          <p:cNvSpPr/>
          <p:nvPr/>
        </p:nvSpPr>
        <p:spPr>
          <a:xfrm>
            <a:off x="457200" y="3886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4u_nacc35"/>
          <p:cNvSpPr/>
          <p:nvPr/>
        </p:nvSpPr>
        <p:spPr>
          <a:xfrm>
            <a:off x="457200" y="3886200"/>
            <a:ext cx="54864" cy="6583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4u_nt36"/>
          <p:cNvSpPr txBox="1"/>
          <p:nvPr/>
        </p:nvSpPr>
        <p:spPr>
          <a:xfrm>
            <a:off x="658368" y="3886200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i  </a:t>
            </a:r>
            <a:r>
              <a:rPr sz="900" b="0">
                <a:solidFill>
                  <a:srgbClr val="44403C"/>
                </a:solidFill>
                <a:latin typeface="Segoe UI"/>
              </a:rPr>
              <a:t>Real systems mix them: event-carried state for transfers, event sourcing inside a ledger, thin notifications where payloads are large or sensitive.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29</a:t>
            </a:r>
          </a:p>
        </p:txBody>
      </p:sp>
      <p:sp>
        <p:nvSpPr>
          <p:cNvPr id="39" name="ft3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ft3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Choreography vs Orchestration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Who decides what happens next - each service, or a coordinator?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4023360" cy="2852928"/>
          </a:xfrm>
          <a:prstGeom prst="roundRect">
            <a:avLst>
              <a:gd name="adj" fmla="val 3846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50292" cy="2852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hh12"/>
          <p:cNvSpPr txBox="1"/>
          <p:nvPr/>
        </p:nvSpPr>
        <p:spPr>
          <a:xfrm>
            <a:off x="658368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CHOREOGRAPHY</a:t>
            </a:r>
          </a:p>
        </p:txBody>
      </p:sp>
      <p:sp>
        <p:nvSpPr>
          <p:cNvPr id="14" name="a1ud100_nd13"/>
          <p:cNvSpPr/>
          <p:nvPr/>
        </p:nvSpPr>
        <p:spPr>
          <a:xfrm>
            <a:off x="685800" y="2011680"/>
            <a:ext cx="96012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100_ndt14"/>
          <p:cNvSpPr txBox="1"/>
          <p:nvPr/>
        </p:nvSpPr>
        <p:spPr>
          <a:xfrm>
            <a:off x="731520" y="201168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Transfer</a:t>
            </a:r>
          </a:p>
        </p:txBody>
      </p:sp>
      <p:cxnSp>
        <p:nvCxnSpPr>
          <p:cNvPr id="16" name="a1ud150_ar15"/>
          <p:cNvCxnSpPr/>
          <p:nvPr/>
        </p:nvCxnSpPr>
        <p:spPr>
          <a:xfrm>
            <a:off x="1664208" y="2212848"/>
            <a:ext cx="210311" cy="0"/>
          </a:xfrm>
          <a:prstGeom prst="line">
            <a:avLst/>
          </a:prstGeom>
          <a:ln w="19050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1ud200_pill16"/>
          <p:cNvSpPr/>
          <p:nvPr/>
        </p:nvSpPr>
        <p:spPr>
          <a:xfrm>
            <a:off x="1892807" y="20482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00" b="1">
                <a:solidFill>
                  <a:srgbClr val="0E7490"/>
                </a:solidFill>
                <a:latin typeface="Segoe UI"/>
              </a:rPr>
              <a:t>TransferCompleted</a:t>
            </a:r>
          </a:p>
        </p:txBody>
      </p:sp>
      <p:sp>
        <p:nvSpPr>
          <p:cNvPr id="18" name="a1ud300_nd17"/>
          <p:cNvSpPr/>
          <p:nvPr/>
        </p:nvSpPr>
        <p:spPr>
          <a:xfrm>
            <a:off x="3383280" y="169164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300_ndt18"/>
          <p:cNvSpPr txBox="1"/>
          <p:nvPr/>
        </p:nvSpPr>
        <p:spPr>
          <a:xfrm>
            <a:off x="3429000" y="169164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Fraud</a:t>
            </a:r>
          </a:p>
        </p:txBody>
      </p:sp>
      <p:cxnSp>
        <p:nvCxnSpPr>
          <p:cNvPr id="20" name="a1ud300_ar19"/>
          <p:cNvCxnSpPr/>
          <p:nvPr/>
        </p:nvCxnSpPr>
        <p:spPr>
          <a:xfrm flipV="1">
            <a:off x="3145536" y="1856232"/>
            <a:ext cx="219456" cy="356616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1ud400_nd20"/>
          <p:cNvSpPr/>
          <p:nvPr/>
        </p:nvSpPr>
        <p:spPr>
          <a:xfrm>
            <a:off x="3383280" y="211226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ud400_ndt21"/>
          <p:cNvSpPr txBox="1"/>
          <p:nvPr/>
        </p:nvSpPr>
        <p:spPr>
          <a:xfrm>
            <a:off x="3429000" y="2112264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SMS</a:t>
            </a:r>
          </a:p>
        </p:txBody>
      </p:sp>
      <p:cxnSp>
        <p:nvCxnSpPr>
          <p:cNvPr id="23" name="a1ud400_ar22"/>
          <p:cNvCxnSpPr/>
          <p:nvPr/>
        </p:nvCxnSpPr>
        <p:spPr>
          <a:xfrm>
            <a:off x="3145536" y="2212848"/>
            <a:ext cx="219456" cy="64008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1ud500_nd23"/>
          <p:cNvSpPr/>
          <p:nvPr/>
        </p:nvSpPr>
        <p:spPr>
          <a:xfrm>
            <a:off x="3383280" y="253288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ud500_ndt24"/>
          <p:cNvSpPr txBox="1"/>
          <p:nvPr/>
        </p:nvSpPr>
        <p:spPr>
          <a:xfrm>
            <a:off x="3429000" y="2532888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Ledger</a:t>
            </a:r>
          </a:p>
        </p:txBody>
      </p:sp>
      <p:cxnSp>
        <p:nvCxnSpPr>
          <p:cNvPr id="26" name="a1ud500_ar25"/>
          <p:cNvCxnSpPr/>
          <p:nvPr/>
        </p:nvCxnSpPr>
        <p:spPr>
          <a:xfrm>
            <a:off x="3145536" y="2212848"/>
            <a:ext cx="219456" cy="484632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1ud600_dot26"/>
          <p:cNvSpPr/>
          <p:nvPr/>
        </p:nvSpPr>
        <p:spPr>
          <a:xfrm>
            <a:off x="658368" y="304952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ud600_b27"/>
          <p:cNvSpPr txBox="1"/>
          <p:nvPr/>
        </p:nvSpPr>
        <p:spPr>
          <a:xfrm>
            <a:off x="877824" y="2953512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No central controller - each service reacts</a:t>
            </a:r>
          </a:p>
        </p:txBody>
      </p:sp>
      <p:sp>
        <p:nvSpPr>
          <p:cNvPr id="29" name="a1ud700_dot28"/>
          <p:cNvSpPr/>
          <p:nvPr/>
        </p:nvSpPr>
        <p:spPr>
          <a:xfrm>
            <a:off x="658368" y="3378708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ud700_b29"/>
          <p:cNvSpPr txBox="1"/>
          <p:nvPr/>
        </p:nvSpPr>
        <p:spPr>
          <a:xfrm>
            <a:off x="877824" y="3282696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Easy to add readers; harder to see the whole flow</a:t>
            </a:r>
          </a:p>
        </p:txBody>
      </p:sp>
      <p:sp>
        <p:nvSpPr>
          <p:cNvPr id="31" name="a1ud800_dot30"/>
          <p:cNvSpPr/>
          <p:nvPr/>
        </p:nvSpPr>
        <p:spPr>
          <a:xfrm>
            <a:off x="658368" y="3707891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ud800_b31"/>
          <p:cNvSpPr txBox="1"/>
          <p:nvPr/>
        </p:nvSpPr>
        <p:spPr>
          <a:xfrm>
            <a:off x="877824" y="3611879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Fits: notifications, analytics, audit feeds</a:t>
            </a:r>
          </a:p>
        </p:txBody>
      </p:sp>
      <p:sp>
        <p:nvSpPr>
          <p:cNvPr id="33" name="a2u_card32"/>
          <p:cNvSpPr/>
          <p:nvPr/>
        </p:nvSpPr>
        <p:spPr>
          <a:xfrm>
            <a:off x="4663440" y="1216152"/>
            <a:ext cx="4023360" cy="2852928"/>
          </a:xfrm>
          <a:prstGeom prst="roundRect">
            <a:avLst>
              <a:gd name="adj" fmla="val 3846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_acc33"/>
          <p:cNvSpPr/>
          <p:nvPr/>
        </p:nvSpPr>
        <p:spPr>
          <a:xfrm>
            <a:off x="4663440" y="1216152"/>
            <a:ext cx="50292" cy="285292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u_hh34"/>
          <p:cNvSpPr txBox="1"/>
          <p:nvPr/>
        </p:nvSpPr>
        <p:spPr>
          <a:xfrm>
            <a:off x="4864608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A16207"/>
                </a:solidFill>
                <a:latin typeface="Segoe UI"/>
              </a:rPr>
              <a:t>ORCHESTRATION</a:t>
            </a:r>
          </a:p>
        </p:txBody>
      </p:sp>
      <p:sp>
        <p:nvSpPr>
          <p:cNvPr id="36" name="a2ud100_nd35"/>
          <p:cNvSpPr/>
          <p:nvPr/>
        </p:nvSpPr>
        <p:spPr>
          <a:xfrm>
            <a:off x="5760720" y="1691640"/>
            <a:ext cx="1828800" cy="402336"/>
          </a:xfrm>
          <a:prstGeom prst="roundRect">
            <a:avLst>
              <a:gd name="adj" fmla="val 18181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ud100_ndt36"/>
          <p:cNvSpPr txBox="1"/>
          <p:nvPr/>
        </p:nvSpPr>
        <p:spPr>
          <a:xfrm>
            <a:off x="5806440" y="1691640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Loan orchestrator</a:t>
            </a:r>
          </a:p>
        </p:txBody>
      </p:sp>
      <p:sp>
        <p:nvSpPr>
          <p:cNvPr id="38" name="a2ud250_nd37"/>
          <p:cNvSpPr/>
          <p:nvPr/>
        </p:nvSpPr>
        <p:spPr>
          <a:xfrm>
            <a:off x="4892040" y="2395728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ud250_ndt38"/>
          <p:cNvSpPr txBox="1"/>
          <p:nvPr/>
        </p:nvSpPr>
        <p:spPr>
          <a:xfrm>
            <a:off x="4937759" y="2395728"/>
            <a:ext cx="10058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KYC check</a:t>
            </a:r>
          </a:p>
        </p:txBody>
      </p:sp>
      <p:cxnSp>
        <p:nvCxnSpPr>
          <p:cNvPr id="40" name="a2ud250_ar39"/>
          <p:cNvCxnSpPr/>
          <p:nvPr/>
        </p:nvCxnSpPr>
        <p:spPr>
          <a:xfrm flipH="1">
            <a:off x="5440679" y="2112264"/>
            <a:ext cx="1234441" cy="265176"/>
          </a:xfrm>
          <a:prstGeom prst="line">
            <a:avLst/>
          </a:prstGeom>
          <a:ln w="1270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2ud350_nd40"/>
          <p:cNvSpPr/>
          <p:nvPr/>
        </p:nvSpPr>
        <p:spPr>
          <a:xfrm>
            <a:off x="6126479" y="2395728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ud350_ndt41"/>
          <p:cNvSpPr txBox="1"/>
          <p:nvPr/>
        </p:nvSpPr>
        <p:spPr>
          <a:xfrm>
            <a:off x="6172199" y="2395728"/>
            <a:ext cx="10058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Credit score</a:t>
            </a:r>
          </a:p>
        </p:txBody>
      </p:sp>
      <p:cxnSp>
        <p:nvCxnSpPr>
          <p:cNvPr id="43" name="a2ud350_ar42"/>
          <p:cNvCxnSpPr/>
          <p:nvPr/>
        </p:nvCxnSpPr>
        <p:spPr>
          <a:xfrm flipH="1">
            <a:off x="6675119" y="2112264"/>
            <a:ext cx="1" cy="265176"/>
          </a:xfrm>
          <a:prstGeom prst="line">
            <a:avLst/>
          </a:prstGeom>
          <a:ln w="1270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2ud450_nd43"/>
          <p:cNvSpPr/>
          <p:nvPr/>
        </p:nvSpPr>
        <p:spPr>
          <a:xfrm>
            <a:off x="7360920" y="2395728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ud450_ndt44"/>
          <p:cNvSpPr txBox="1"/>
          <p:nvPr/>
        </p:nvSpPr>
        <p:spPr>
          <a:xfrm>
            <a:off x="7406640" y="2395728"/>
            <a:ext cx="10058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Disbursal</a:t>
            </a:r>
          </a:p>
        </p:txBody>
      </p:sp>
      <p:cxnSp>
        <p:nvCxnSpPr>
          <p:cNvPr id="46" name="a2ud450_ar45"/>
          <p:cNvCxnSpPr/>
          <p:nvPr/>
        </p:nvCxnSpPr>
        <p:spPr>
          <a:xfrm>
            <a:off x="6675120" y="2112264"/>
            <a:ext cx="1234440" cy="265176"/>
          </a:xfrm>
          <a:prstGeom prst="line">
            <a:avLst/>
          </a:prstGeom>
          <a:ln w="1270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2ud600_dot46"/>
          <p:cNvSpPr/>
          <p:nvPr/>
        </p:nvSpPr>
        <p:spPr>
          <a:xfrm>
            <a:off x="4864608" y="3049524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d600_b47"/>
          <p:cNvSpPr txBox="1"/>
          <p:nvPr/>
        </p:nvSpPr>
        <p:spPr>
          <a:xfrm>
            <a:off x="5084064" y="2953512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 coordinator sends commands, step by step</a:t>
            </a:r>
          </a:p>
        </p:txBody>
      </p:sp>
      <p:sp>
        <p:nvSpPr>
          <p:cNvPr id="49" name="a2ud700_dot48"/>
          <p:cNvSpPr/>
          <p:nvPr/>
        </p:nvSpPr>
        <p:spPr>
          <a:xfrm>
            <a:off x="4864608" y="3378708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ud700_b49"/>
          <p:cNvSpPr txBox="1"/>
          <p:nvPr/>
        </p:nvSpPr>
        <p:spPr>
          <a:xfrm>
            <a:off x="5084064" y="3282696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The flow is visible in one place; it can compensate</a:t>
            </a:r>
          </a:p>
        </p:txBody>
      </p:sp>
      <p:sp>
        <p:nvSpPr>
          <p:cNvPr id="51" name="a2ud800_dot50"/>
          <p:cNvSpPr/>
          <p:nvPr/>
        </p:nvSpPr>
        <p:spPr>
          <a:xfrm>
            <a:off x="4864608" y="3707891"/>
            <a:ext cx="91440" cy="91440"/>
          </a:xfrm>
          <a:prstGeom prst="roundRect">
            <a:avLst>
              <a:gd name="adj" fmla="val 25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ud800_b51"/>
          <p:cNvSpPr txBox="1"/>
          <p:nvPr/>
        </p:nvSpPr>
        <p:spPr>
          <a:xfrm>
            <a:off x="5084064" y="3611879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Fits: multi-step processes - loans, onboarding</a:t>
            </a:r>
          </a:p>
        </p:txBody>
      </p:sp>
      <p:sp>
        <p:nvSpPr>
          <p:cNvPr id="53" name="a3u_nb52"/>
          <p:cNvSpPr/>
          <p:nvPr/>
        </p:nvSpPr>
        <p:spPr>
          <a:xfrm>
            <a:off x="457200" y="4187952"/>
            <a:ext cx="8229600" cy="438912"/>
          </a:xfrm>
          <a:prstGeom prst="roundRect">
            <a:avLst>
              <a:gd name="adj" fmla="val 1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3u_nacc53"/>
          <p:cNvSpPr/>
          <p:nvPr/>
        </p:nvSpPr>
        <p:spPr>
          <a:xfrm>
            <a:off x="457200" y="4187952"/>
            <a:ext cx="54864" cy="43891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3u_nt54"/>
          <p:cNvSpPr txBox="1"/>
          <p:nvPr/>
        </p:nvSpPr>
        <p:spPr>
          <a:xfrm>
            <a:off x="658368" y="4187952"/>
            <a:ext cx="78272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RULE  </a:t>
            </a:r>
            <a:r>
              <a:rPr sz="900" b="0">
                <a:solidFill>
                  <a:srgbClr val="44403C"/>
                </a:solidFill>
                <a:latin typeface="Segoe UI"/>
              </a:rPr>
              <a:t>Rule of thumb: choreograph reactions to facts; orchestrate processes that have an owner.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30</a:t>
            </a:r>
          </a:p>
        </p:txBody>
      </p:sp>
      <p:sp>
        <p:nvSpPr>
          <p:cNvPr id="57" name="ft56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ft57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9" name="ft5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What Event-Driven Gives You - and What It Costs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Every item on the right is manageable - but only if you plan for it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50292" cy="2926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hh12"/>
          <p:cNvSpPr txBox="1"/>
          <p:nvPr/>
        </p:nvSpPr>
        <p:spPr>
          <a:xfrm>
            <a:off x="658368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WHAT YOU GAIN</a:t>
            </a:r>
          </a:p>
        </p:txBody>
      </p:sp>
      <p:sp>
        <p:nvSpPr>
          <p:cNvPr id="14" name="a1ud80_dot13"/>
          <p:cNvSpPr/>
          <p:nvPr/>
        </p:nvSpPr>
        <p:spPr>
          <a:xfrm>
            <a:off x="658368" y="17693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80_b14"/>
          <p:cNvSpPr txBox="1"/>
          <p:nvPr/>
        </p:nvSpPr>
        <p:spPr>
          <a:xfrm>
            <a:off x="877824" y="1673352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Loose coupling  </a:t>
            </a:r>
            <a:r>
              <a:rPr sz="900" b="0">
                <a:solidFill>
                  <a:srgbClr val="44403C"/>
                </a:solidFill>
                <a:latin typeface="Segoe UI"/>
              </a:rPr>
              <a:t>the producer knows a topic, not its readers</a:t>
            </a:r>
          </a:p>
        </p:txBody>
      </p:sp>
      <p:sp>
        <p:nvSpPr>
          <p:cNvPr id="16" name="a1ud190_dot15"/>
          <p:cNvSpPr/>
          <p:nvPr/>
        </p:nvSpPr>
        <p:spPr>
          <a:xfrm>
            <a:off x="658368" y="2244852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ud190_b16"/>
          <p:cNvSpPr txBox="1"/>
          <p:nvPr/>
        </p:nvSpPr>
        <p:spPr>
          <a:xfrm>
            <a:off x="877824" y="2148840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Failure isolation  </a:t>
            </a:r>
            <a:r>
              <a:rPr sz="900" b="0">
                <a:solidFill>
                  <a:srgbClr val="44403C"/>
                </a:solidFill>
                <a:latin typeface="Segoe UI"/>
              </a:rPr>
              <a:t>a slow reader cannot slow the writer</a:t>
            </a:r>
          </a:p>
        </p:txBody>
      </p:sp>
      <p:sp>
        <p:nvSpPr>
          <p:cNvPr id="18" name="a1ud300_dot17"/>
          <p:cNvSpPr/>
          <p:nvPr/>
        </p:nvSpPr>
        <p:spPr>
          <a:xfrm>
            <a:off x="658368" y="2720340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300_b18"/>
          <p:cNvSpPr txBox="1"/>
          <p:nvPr/>
        </p:nvSpPr>
        <p:spPr>
          <a:xfrm>
            <a:off x="877824" y="2624328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Add readers freely  </a:t>
            </a:r>
            <a:r>
              <a:rPr sz="900" b="0">
                <a:solidFill>
                  <a:srgbClr val="44403C"/>
                </a:solidFill>
                <a:latin typeface="Segoe UI"/>
              </a:rPr>
              <a:t>no change, no redeploy of the producer</a:t>
            </a:r>
          </a:p>
        </p:txBody>
      </p:sp>
      <p:sp>
        <p:nvSpPr>
          <p:cNvPr id="20" name="a1ud410_dot19"/>
          <p:cNvSpPr/>
          <p:nvPr/>
        </p:nvSpPr>
        <p:spPr>
          <a:xfrm>
            <a:off x="658368" y="3195828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ud410_b20"/>
          <p:cNvSpPr txBox="1"/>
          <p:nvPr/>
        </p:nvSpPr>
        <p:spPr>
          <a:xfrm>
            <a:off x="877824" y="3099816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Independent scale  </a:t>
            </a:r>
            <a:r>
              <a:rPr sz="900" b="0">
                <a:solidFill>
                  <a:srgbClr val="44403C"/>
                </a:solidFill>
                <a:latin typeface="Segoe UI"/>
              </a:rPr>
              <a:t>each reader group scales on its own</a:t>
            </a:r>
          </a:p>
        </p:txBody>
      </p:sp>
      <p:sp>
        <p:nvSpPr>
          <p:cNvPr id="22" name="a1ud520_dot21"/>
          <p:cNvSpPr/>
          <p:nvPr/>
        </p:nvSpPr>
        <p:spPr>
          <a:xfrm>
            <a:off x="658368" y="3671316"/>
            <a:ext cx="91440" cy="91440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ud520_b22"/>
          <p:cNvSpPr txBox="1"/>
          <p:nvPr/>
        </p:nvSpPr>
        <p:spPr>
          <a:xfrm>
            <a:off x="877824" y="3575304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Replay  </a:t>
            </a:r>
            <a:r>
              <a:rPr sz="900" b="0">
                <a:solidFill>
                  <a:srgbClr val="44403C"/>
                </a:solidFill>
                <a:latin typeface="Segoe UI"/>
              </a:rPr>
              <a:t>rebuild a reader's state from history</a:t>
            </a:r>
          </a:p>
        </p:txBody>
      </p:sp>
      <p:sp>
        <p:nvSpPr>
          <p:cNvPr id="24" name="a2u_card23"/>
          <p:cNvSpPr/>
          <p:nvPr/>
        </p:nvSpPr>
        <p:spPr>
          <a:xfrm>
            <a:off x="4663440" y="1216152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_acc24"/>
          <p:cNvSpPr/>
          <p:nvPr/>
        </p:nvSpPr>
        <p:spPr>
          <a:xfrm>
            <a:off x="4663440" y="1216152"/>
            <a:ext cx="50292" cy="29260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hh25"/>
          <p:cNvSpPr txBox="1"/>
          <p:nvPr/>
        </p:nvSpPr>
        <p:spPr>
          <a:xfrm>
            <a:off x="4864607" y="132588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11D48"/>
                </a:solidFill>
                <a:latin typeface="Segoe UI"/>
              </a:rPr>
              <a:t>WHAT IT COSTS</a:t>
            </a:r>
          </a:p>
        </p:txBody>
      </p:sp>
      <p:sp>
        <p:nvSpPr>
          <p:cNvPr id="27" name="a2ud80_dot26"/>
          <p:cNvSpPr/>
          <p:nvPr/>
        </p:nvSpPr>
        <p:spPr>
          <a:xfrm>
            <a:off x="4864607" y="176936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d80_b27"/>
          <p:cNvSpPr txBox="1"/>
          <p:nvPr/>
        </p:nvSpPr>
        <p:spPr>
          <a:xfrm>
            <a:off x="5084064" y="1673352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Eventual consistency  </a:t>
            </a:r>
            <a:r>
              <a:rPr sz="900" b="0">
                <a:solidFill>
                  <a:srgbClr val="44403C"/>
                </a:solidFill>
                <a:latin typeface="Segoe UI"/>
              </a:rPr>
              <a:t>the SMS arrives seconds later, not now</a:t>
            </a:r>
          </a:p>
        </p:txBody>
      </p:sp>
      <p:sp>
        <p:nvSpPr>
          <p:cNvPr id="29" name="a2ud190_dot28"/>
          <p:cNvSpPr/>
          <p:nvPr/>
        </p:nvSpPr>
        <p:spPr>
          <a:xfrm>
            <a:off x="4864607" y="2244852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d190_b29"/>
          <p:cNvSpPr txBox="1"/>
          <p:nvPr/>
        </p:nvSpPr>
        <p:spPr>
          <a:xfrm>
            <a:off x="5084064" y="2148840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Harder to trace  </a:t>
            </a:r>
            <a:r>
              <a:rPr sz="900" b="0">
                <a:solidFill>
                  <a:srgbClr val="44403C"/>
                </a:solidFill>
                <a:latin typeface="Segoe UI"/>
              </a:rPr>
              <a:t>no single call stack shows the flow</a:t>
            </a:r>
          </a:p>
        </p:txBody>
      </p:sp>
      <p:sp>
        <p:nvSpPr>
          <p:cNvPr id="31" name="a2ud300_dot30"/>
          <p:cNvSpPr/>
          <p:nvPr/>
        </p:nvSpPr>
        <p:spPr>
          <a:xfrm>
            <a:off x="4864607" y="2720340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ud300_b31"/>
          <p:cNvSpPr txBox="1"/>
          <p:nvPr/>
        </p:nvSpPr>
        <p:spPr>
          <a:xfrm>
            <a:off x="5084064" y="2624328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Duplicates  </a:t>
            </a:r>
            <a:r>
              <a:rPr sz="900" b="0">
                <a:solidFill>
                  <a:srgbClr val="44403C"/>
                </a:solidFill>
                <a:latin typeface="Segoe UI"/>
              </a:rPr>
              <a:t>readers must be idempotent (event_id)</a:t>
            </a:r>
          </a:p>
        </p:txBody>
      </p:sp>
      <p:sp>
        <p:nvSpPr>
          <p:cNvPr id="33" name="a2ud410_dot32"/>
          <p:cNvSpPr/>
          <p:nvPr/>
        </p:nvSpPr>
        <p:spPr>
          <a:xfrm>
            <a:off x="4864607" y="3195828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d410_b33"/>
          <p:cNvSpPr txBox="1"/>
          <p:nvPr/>
        </p:nvSpPr>
        <p:spPr>
          <a:xfrm>
            <a:off x="5084064" y="3099816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Ordering  </a:t>
            </a:r>
            <a:r>
              <a:rPr sz="900" b="0">
                <a:solidFill>
                  <a:srgbClr val="44403C"/>
                </a:solidFill>
                <a:latin typeface="Segoe UI"/>
              </a:rPr>
              <a:t>guaranteed per partition only</a:t>
            </a:r>
          </a:p>
        </p:txBody>
      </p:sp>
      <p:sp>
        <p:nvSpPr>
          <p:cNvPr id="35" name="a2ud520_dot34"/>
          <p:cNvSpPr/>
          <p:nvPr/>
        </p:nvSpPr>
        <p:spPr>
          <a:xfrm>
            <a:off x="4864607" y="3671316"/>
            <a:ext cx="91440" cy="9144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ud520_b35"/>
          <p:cNvSpPr txBox="1"/>
          <p:nvPr/>
        </p:nvSpPr>
        <p:spPr>
          <a:xfrm>
            <a:off x="5084064" y="3575304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C1917"/>
                </a:solidFill>
                <a:latin typeface="Segoe UI"/>
              </a:rPr>
              <a:t>Contracts  </a:t>
            </a:r>
            <a:r>
              <a:rPr sz="900" b="0">
                <a:solidFill>
                  <a:srgbClr val="44403C"/>
                </a:solidFill>
                <a:latin typeface="Segoe UI"/>
              </a:rPr>
              <a:t>an event schema is an API - evolve it carefully</a:t>
            </a:r>
          </a:p>
        </p:txBody>
      </p:sp>
      <p:sp>
        <p:nvSpPr>
          <p:cNvPr id="37" name="a3u_nb36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7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u_nacc37"/>
          <p:cNvSpPr/>
          <p:nvPr/>
        </p:nvSpPr>
        <p:spPr>
          <a:xfrm>
            <a:off x="457200" y="4251960"/>
            <a:ext cx="54864" cy="4114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u_nt38"/>
          <p:cNvSpPr txBox="1"/>
          <p:nvPr/>
        </p:nvSpPr>
        <p:spPr>
          <a:xfrm>
            <a:off x="658368" y="4251960"/>
            <a:ext cx="782726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i  </a:t>
            </a:r>
            <a:r>
              <a:rPr sz="900" b="0">
                <a:solidFill>
                  <a:srgbClr val="44403C"/>
                </a:solidFill>
                <a:latin typeface="Segoe UI"/>
              </a:rPr>
              <a:t>Decks 3 and 4 of this course take the right-hand column one item at a time.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31</a:t>
            </a:r>
          </a:p>
        </p:txBody>
      </p:sp>
      <p:sp>
        <p:nvSpPr>
          <p:cNvPr id="41" name="ft40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ft41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4  ·  25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4 - One Event, Many Readers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The transfer service publishes once; fraud, SMS and ledger each react - then a fourth reader joins late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2775204"/>
          </a:xfrm>
          <a:prstGeom prst="roundRect">
            <a:avLst>
              <a:gd name="adj" fmla="val 2635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76072" y="1453895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1 - install the Kafka client (once), then create the transfer topic</a:t>
            </a:r>
          </a:p>
        </p:txBody>
      </p:sp>
      <p:sp>
        <p:nvSpPr>
          <p:cNvPr id="14" name="a1wd55_code13"/>
          <p:cNvSpPr txBox="1"/>
          <p:nvPr/>
        </p:nvSpPr>
        <p:spPr>
          <a:xfrm>
            <a:off x="576072" y="1623060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pip install confluent-kafka</a:t>
            </a:r>
          </a:p>
        </p:txBody>
      </p:sp>
      <p:sp>
        <p:nvSpPr>
          <p:cNvPr id="15" name="a1wd110_code14"/>
          <p:cNvSpPr txBox="1"/>
          <p:nvPr/>
        </p:nvSpPr>
        <p:spPr>
          <a:xfrm>
            <a:off x="576072" y="1792224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kafka-topics.sh --bootstrap-server localhost:9092 `</a:t>
            </a:r>
          </a:p>
        </p:txBody>
      </p:sp>
      <p:sp>
        <p:nvSpPr>
          <p:cNvPr id="16" name="a1wd165_code15"/>
          <p:cNvSpPr txBox="1"/>
          <p:nvPr/>
        </p:nvSpPr>
        <p:spPr>
          <a:xfrm>
            <a:off x="576072" y="1961387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    --create --topic bank.txn.completed --partitions 3 --replication-factor 1</a:t>
            </a:r>
          </a:p>
        </p:txBody>
      </p:sp>
      <p:sp>
        <p:nvSpPr>
          <p:cNvPr id="17" name="a1wd220_code16"/>
          <p:cNvSpPr txBox="1"/>
          <p:nvPr/>
        </p:nvSpPr>
        <p:spPr>
          <a:xfrm>
            <a:off x="576072" y="2130552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8" name="a1wd275_code17"/>
          <p:cNvSpPr txBox="1"/>
          <p:nvPr/>
        </p:nvSpPr>
        <p:spPr>
          <a:xfrm>
            <a:off x="576072" y="2299715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2 - open THREE more PowerShell windows in fundamentals_lab - one reader in each</a:t>
            </a:r>
          </a:p>
        </p:txBody>
      </p:sp>
      <p:sp>
        <p:nvSpPr>
          <p:cNvPr id="19" name="a1wd330_code18"/>
          <p:cNvSpPr txBox="1"/>
          <p:nvPr/>
        </p:nvSpPr>
        <p:spPr>
          <a:xfrm>
            <a:off x="576072" y="2468879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fraud-engine          # window 1</a:t>
            </a:r>
          </a:p>
        </p:txBody>
      </p:sp>
      <p:sp>
        <p:nvSpPr>
          <p:cNvPr id="20" name="a1wd385_code19"/>
          <p:cNvSpPr txBox="1"/>
          <p:nvPr/>
        </p:nvSpPr>
        <p:spPr>
          <a:xfrm>
            <a:off x="576072" y="2638044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sms-notifier          # window 2</a:t>
            </a:r>
          </a:p>
        </p:txBody>
      </p:sp>
      <p:sp>
        <p:nvSpPr>
          <p:cNvPr id="21" name="a1wd440_code20"/>
          <p:cNvSpPr txBox="1"/>
          <p:nvPr/>
        </p:nvSpPr>
        <p:spPr>
          <a:xfrm>
            <a:off x="576072" y="2807208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ledger-feed           # window 3</a:t>
            </a:r>
          </a:p>
        </p:txBody>
      </p:sp>
      <p:sp>
        <p:nvSpPr>
          <p:cNvPr id="22" name="a1wd495_code21"/>
          <p:cNvSpPr txBox="1"/>
          <p:nvPr/>
        </p:nvSpPr>
        <p:spPr>
          <a:xfrm>
            <a:off x="576072" y="2976372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3" name="a1wd550_code22"/>
          <p:cNvSpPr txBox="1"/>
          <p:nvPr/>
        </p:nvSpPr>
        <p:spPr>
          <a:xfrm>
            <a:off x="576072" y="3145536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3 - back in the first window: 12 transfers. Watch all three reader windows</a:t>
            </a:r>
          </a:p>
        </p:txBody>
      </p:sp>
      <p:sp>
        <p:nvSpPr>
          <p:cNvPr id="24" name="a1wd605_code23"/>
          <p:cNvSpPr txBox="1"/>
          <p:nvPr/>
        </p:nvSpPr>
        <p:spPr>
          <a:xfrm>
            <a:off x="576072" y="3314700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transfer_service.py 12</a:t>
            </a:r>
          </a:p>
        </p:txBody>
      </p:sp>
      <p:sp>
        <p:nvSpPr>
          <p:cNvPr id="25" name="a1wd660_code24"/>
          <p:cNvSpPr txBox="1"/>
          <p:nvPr/>
        </p:nvSpPr>
        <p:spPr>
          <a:xfrm>
            <a:off x="576072" y="3483863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6" name="a1wd715_code25"/>
          <p:cNvSpPr txBox="1"/>
          <p:nvPr/>
        </p:nvSpPr>
        <p:spPr>
          <a:xfrm>
            <a:off x="576072" y="3653027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4 - a new team wants loyalty points. Start its reader now, AFTER the transfers</a:t>
            </a:r>
          </a:p>
        </p:txBody>
      </p:sp>
      <p:sp>
        <p:nvSpPr>
          <p:cNvPr id="27" name="a1wd770_code26"/>
          <p:cNvSpPr txBox="1"/>
          <p:nvPr/>
        </p:nvSpPr>
        <p:spPr>
          <a:xfrm>
            <a:off x="576072" y="3822191"/>
            <a:ext cx="799185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loyalty --idle 5      # --idle 5: stop after 5 quiet seconds</a:t>
            </a:r>
          </a:p>
        </p:txBody>
      </p:sp>
      <p:sp>
        <p:nvSpPr>
          <p:cNvPr id="28" name="a2u_taskbg27"/>
          <p:cNvSpPr/>
          <p:nvPr/>
        </p:nvSpPr>
        <p:spPr>
          <a:xfrm>
            <a:off x="457200" y="4183380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_taskacc28"/>
          <p:cNvSpPr/>
          <p:nvPr/>
        </p:nvSpPr>
        <p:spPr>
          <a:xfrm>
            <a:off x="457200" y="4183380"/>
            <a:ext cx="54864" cy="40233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_task29"/>
          <p:cNvSpPr txBox="1"/>
          <p:nvPr/>
        </p:nvSpPr>
        <p:spPr>
          <a:xfrm>
            <a:off x="640080" y="4183380"/>
            <a:ext cx="78821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80">
                <a:solidFill>
                  <a:srgbClr val="0E7490"/>
                </a:solidFill>
                <a:latin typeface="Segoe UI"/>
              </a:rPr>
              <a:t>TASK   </a:t>
            </a:r>
            <a:r>
              <a:rPr sz="1100" b="0">
                <a:solidFill>
                  <a:srgbClr val="0E7490"/>
                </a:solidFill>
                <a:latin typeface="Segoe UI"/>
              </a:rPr>
              <a:t>When done, press Ctrl+C in the three reader windows - each prints how many events it processed.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32</a:t>
            </a:r>
          </a:p>
        </p:txBody>
      </p:sp>
      <p:sp>
        <p:nvSpPr>
          <p:cNvPr id="32" name="ft3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t3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616327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4  ·  WHAT YOU SHOULD SEE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4 - The Producer Side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12 transfers, each committed in its own 30 ms - publishing added no measurable wait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2340864"/>
          </a:xfrm>
          <a:prstGeom prst="roundRect">
            <a:avLst>
              <a:gd name="adj" fmla="val 3124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85216" y="146304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&gt; python transfer_service.py 12</a:t>
            </a:r>
          </a:p>
        </p:txBody>
      </p:sp>
      <p:sp>
        <p:nvSpPr>
          <p:cNvPr id="14" name="a1wd60_code13"/>
          <p:cNvSpPr txBox="1"/>
          <p:nvPr/>
        </p:nvSpPr>
        <p:spPr>
          <a:xfrm>
            <a:off x="585216" y="163677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TXN-8B9EB8  acct 9001  CREDIT  74,200.00  ATM   committed in 30 ms</a:t>
            </a:r>
          </a:p>
        </p:txBody>
      </p:sp>
      <p:sp>
        <p:nvSpPr>
          <p:cNvPr id="15" name="a1wd120_code14"/>
          <p:cNvSpPr txBox="1"/>
          <p:nvPr/>
        </p:nvSpPr>
        <p:spPr>
          <a:xfrm>
            <a:off x="585216" y="181051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TXN-C9E4D3  acct 9002  DEBIT   23,700.00  UPI   committed in 30 ms</a:t>
            </a:r>
          </a:p>
        </p:txBody>
      </p:sp>
      <p:sp>
        <p:nvSpPr>
          <p:cNvPr id="16" name="a1wd180_code15"/>
          <p:cNvSpPr txBox="1"/>
          <p:nvPr/>
        </p:nvSpPr>
        <p:spPr>
          <a:xfrm>
            <a:off x="585216" y="198424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TXN-9BFB04  acct 9003  DEBIT   20,800.00  POS   committed in 30 ms</a:t>
            </a:r>
          </a:p>
        </p:txBody>
      </p:sp>
      <p:sp>
        <p:nvSpPr>
          <p:cNvPr id="17" name="a1wd240_code16"/>
          <p:cNvSpPr txBox="1"/>
          <p:nvPr/>
        </p:nvSpPr>
        <p:spPr>
          <a:xfrm>
            <a:off x="585216" y="2157984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18" name="a1wd300_code17"/>
          <p:cNvSpPr txBox="1"/>
          <p:nvPr/>
        </p:nvSpPr>
        <p:spPr>
          <a:xfrm>
            <a:off x="585216" y="233172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nsolas"/>
              </a:rPr>
              <a:t>published 12 events to bank.txn.completed - broker acknowledged 12, failed 0</a:t>
            </a:r>
          </a:p>
        </p:txBody>
      </p:sp>
      <p:sp>
        <p:nvSpPr>
          <p:cNvPr id="19" name="a1wd360_code18"/>
          <p:cNvSpPr txBox="1"/>
          <p:nvPr/>
        </p:nvSpPr>
        <p:spPr>
          <a:xfrm>
            <a:off x="585216" y="250545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key 9001 -&gt; partition 0   offsets 0, 2</a:t>
            </a:r>
          </a:p>
        </p:txBody>
      </p:sp>
      <p:sp>
        <p:nvSpPr>
          <p:cNvPr id="20" name="a1wd420_code19"/>
          <p:cNvSpPr txBox="1"/>
          <p:nvPr/>
        </p:nvSpPr>
        <p:spPr>
          <a:xfrm>
            <a:off x="585216" y="2679192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key 9002 -&gt; partition 1   offsets 0, 1</a:t>
            </a:r>
          </a:p>
        </p:txBody>
      </p:sp>
      <p:sp>
        <p:nvSpPr>
          <p:cNvPr id="21" name="a1wd480_code20"/>
          <p:cNvSpPr txBox="1"/>
          <p:nvPr/>
        </p:nvSpPr>
        <p:spPr>
          <a:xfrm>
            <a:off x="585216" y="2852928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key 9003 -&gt; partition 2   offsets 0, 3</a:t>
            </a:r>
          </a:p>
        </p:txBody>
      </p:sp>
      <p:sp>
        <p:nvSpPr>
          <p:cNvPr id="22" name="a1wd540_code21"/>
          <p:cNvSpPr txBox="1"/>
          <p:nvPr/>
        </p:nvSpPr>
        <p:spPr>
          <a:xfrm>
            <a:off x="585216" y="3026664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key 9004 -&gt; partition 2   offsets 1, 4</a:t>
            </a:r>
          </a:p>
        </p:txBody>
      </p:sp>
      <p:sp>
        <p:nvSpPr>
          <p:cNvPr id="23" name="a1wd600_code22"/>
          <p:cNvSpPr txBox="1"/>
          <p:nvPr/>
        </p:nvSpPr>
        <p:spPr>
          <a:xfrm>
            <a:off x="585216" y="3200400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key 9005 -&gt; partition 0   offsets 1, 3</a:t>
            </a:r>
          </a:p>
        </p:txBody>
      </p:sp>
      <p:sp>
        <p:nvSpPr>
          <p:cNvPr id="24" name="a1wd660_code23"/>
          <p:cNvSpPr txBox="1"/>
          <p:nvPr/>
        </p:nvSpPr>
        <p:spPr>
          <a:xfrm>
            <a:off x="585216" y="3374136"/>
            <a:ext cx="79735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  key 9006 -&gt; partition 2   offsets 2, 5</a:t>
            </a:r>
          </a:p>
        </p:txBody>
      </p:sp>
      <p:sp>
        <p:nvSpPr>
          <p:cNvPr id="25" name="a2u_nb24"/>
          <p:cNvSpPr/>
          <p:nvPr/>
        </p:nvSpPr>
        <p:spPr>
          <a:xfrm>
            <a:off x="457200" y="3785616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nacc25"/>
          <p:cNvSpPr/>
          <p:nvPr/>
        </p:nvSpPr>
        <p:spPr>
          <a:xfrm>
            <a:off x="457200" y="3785616"/>
            <a:ext cx="54864" cy="8686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_nt26"/>
          <p:cNvSpPr txBox="1"/>
          <p:nvPr/>
        </p:nvSpPr>
        <p:spPr>
          <a:xfrm>
            <a:off x="658368" y="3785616"/>
            <a:ext cx="362102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i  </a:t>
            </a:r>
            <a:r>
              <a:rPr sz="850" b="0">
                <a:solidFill>
                  <a:srgbClr val="44403C"/>
                </a:solidFill>
                <a:latin typeface="Segoe UI"/>
              </a:rPr>
              <a:t>30 ms is the transfer's own work (simulated). produce() only queues the event - the broker's ack arrives later, in a callback.</a:t>
            </a:r>
          </a:p>
        </p:txBody>
      </p:sp>
      <p:sp>
        <p:nvSpPr>
          <p:cNvPr id="28" name="a3u_nb27"/>
          <p:cNvSpPr/>
          <p:nvPr/>
        </p:nvSpPr>
        <p:spPr>
          <a:xfrm>
            <a:off x="4663440" y="3785616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nacc28"/>
          <p:cNvSpPr/>
          <p:nvPr/>
        </p:nvSpPr>
        <p:spPr>
          <a:xfrm>
            <a:off x="4663440" y="3785616"/>
            <a:ext cx="54864" cy="8686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_nt29"/>
          <p:cNvSpPr txBox="1"/>
          <p:nvPr/>
        </p:nvSpPr>
        <p:spPr>
          <a:xfrm>
            <a:off x="4864607" y="3785616"/>
            <a:ext cx="362102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Same key, same partition: 9001 is in partition 0 here and in Lab 3, where the Java console producer wrote it.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33</a:t>
            </a:r>
          </a:p>
        </p:txBody>
      </p:sp>
      <p:sp>
        <p:nvSpPr>
          <p:cNvPr id="32" name="ft3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t3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616327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4  ·  WHAT YOU SHOULD SEE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4 - The Reader Side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Three windows, the same 12 events - each group does its own job with them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1031443"/>
          </a:xfrm>
          <a:prstGeom prst="roundRect">
            <a:avLst>
              <a:gd name="adj" fmla="val 7092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39496" y="1417320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&gt; python consumer.py fraud-engine</a:t>
            </a:r>
          </a:p>
        </p:txBody>
      </p:sp>
      <p:sp>
        <p:nvSpPr>
          <p:cNvPr id="14" name="a1wd50_code13"/>
          <p:cNvSpPr txBox="1"/>
          <p:nvPr/>
        </p:nvSpPr>
        <p:spPr>
          <a:xfrm>
            <a:off x="539496" y="1561795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[fraud-engine/1] assigned partitions [0, 1, 2]</a:t>
            </a:r>
          </a:p>
        </p:txBody>
      </p:sp>
      <p:sp>
        <p:nvSpPr>
          <p:cNvPr id="15" name="a1wd100_code14"/>
          <p:cNvSpPr txBox="1"/>
          <p:nvPr/>
        </p:nvSpPr>
        <p:spPr>
          <a:xfrm>
            <a:off x="539496" y="1706270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FDA4AF"/>
                </a:solidFill>
                <a:latin typeface="Consolas"/>
              </a:rPr>
              <a:t>[fraud-engine/1] p0@0   TXN-8B9EB8  ALERT  INR 74,200.00 on 9001 via ATM - hold for review</a:t>
            </a:r>
          </a:p>
        </p:txBody>
      </p:sp>
      <p:sp>
        <p:nvSpPr>
          <p:cNvPr id="16" name="a1wd150_code15"/>
          <p:cNvSpPr txBox="1"/>
          <p:nvPr/>
        </p:nvSpPr>
        <p:spPr>
          <a:xfrm>
            <a:off x="539496" y="1850745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[fraud-engine/1] p1@0   TXN-C9E4D3  clear</a:t>
            </a:r>
          </a:p>
        </p:txBody>
      </p:sp>
      <p:sp>
        <p:nvSpPr>
          <p:cNvPr id="17" name="a1wd200_code16"/>
          <p:cNvSpPr txBox="1"/>
          <p:nvPr/>
        </p:nvSpPr>
        <p:spPr>
          <a:xfrm>
            <a:off x="539496" y="1995220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[fraud-engine/1] p2@0   TXN-9BFB04  clear</a:t>
            </a:r>
          </a:p>
        </p:txBody>
      </p:sp>
      <p:sp>
        <p:nvSpPr>
          <p:cNvPr id="18" name="a1wd250_code17"/>
          <p:cNvSpPr txBox="1"/>
          <p:nvPr/>
        </p:nvSpPr>
        <p:spPr>
          <a:xfrm>
            <a:off x="539496" y="2139696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19" name="a2f_codebg18"/>
          <p:cNvSpPr/>
          <p:nvPr/>
        </p:nvSpPr>
        <p:spPr>
          <a:xfrm>
            <a:off x="457200" y="2421331"/>
            <a:ext cx="8229600" cy="598017"/>
          </a:xfrm>
          <a:prstGeom prst="roundRect">
            <a:avLst>
              <a:gd name="adj" fmla="val 12232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_code19"/>
          <p:cNvSpPr txBox="1"/>
          <p:nvPr/>
        </p:nvSpPr>
        <p:spPr>
          <a:xfrm>
            <a:off x="539496" y="2503627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&gt; python consumer.py sms-notifier</a:t>
            </a:r>
          </a:p>
        </p:txBody>
      </p:sp>
      <p:sp>
        <p:nvSpPr>
          <p:cNvPr id="21" name="a2wd50_code20"/>
          <p:cNvSpPr txBox="1"/>
          <p:nvPr/>
        </p:nvSpPr>
        <p:spPr>
          <a:xfrm>
            <a:off x="539496" y="2648102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[sms-notifier/1] p0@0   TXN-8B9EB8  SMS -&gt; acct 9001: credit of INR 74,200.00 via ATM</a:t>
            </a:r>
          </a:p>
        </p:txBody>
      </p:sp>
      <p:sp>
        <p:nvSpPr>
          <p:cNvPr id="22" name="a2wd100_code21"/>
          <p:cNvSpPr txBox="1"/>
          <p:nvPr/>
        </p:nvSpPr>
        <p:spPr>
          <a:xfrm>
            <a:off x="539496" y="2792577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[sms-notifier/1] p1@0   TXN-C9E4D3  SMS -&gt; acct 9002: debit of INR 23,700.00 via UPI</a:t>
            </a:r>
          </a:p>
        </p:txBody>
      </p:sp>
      <p:sp>
        <p:nvSpPr>
          <p:cNvPr id="23" name="a3f_codebg22"/>
          <p:cNvSpPr/>
          <p:nvPr/>
        </p:nvSpPr>
        <p:spPr>
          <a:xfrm>
            <a:off x="457200" y="3074212"/>
            <a:ext cx="8229600" cy="1031443"/>
          </a:xfrm>
          <a:prstGeom prst="roundRect">
            <a:avLst>
              <a:gd name="adj" fmla="val 7092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w_code23"/>
          <p:cNvSpPr txBox="1"/>
          <p:nvPr/>
        </p:nvSpPr>
        <p:spPr>
          <a:xfrm>
            <a:off x="539496" y="3156508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&gt; python consumer.py loyalty --idle 5            # started AFTER the transfers</a:t>
            </a:r>
          </a:p>
        </p:txBody>
      </p:sp>
      <p:sp>
        <p:nvSpPr>
          <p:cNvPr id="25" name="a3wd50_code24"/>
          <p:cNvSpPr txBox="1"/>
          <p:nvPr/>
        </p:nvSpPr>
        <p:spPr>
          <a:xfrm>
            <a:off x="539496" y="3300984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[loyalty/1] assigned partitions [0, 1, 2]</a:t>
            </a:r>
          </a:p>
        </p:txBody>
      </p:sp>
      <p:sp>
        <p:nvSpPr>
          <p:cNvPr id="26" name="a3wd100_code25"/>
          <p:cNvSpPr txBox="1"/>
          <p:nvPr/>
        </p:nvSpPr>
        <p:spPr>
          <a:xfrm>
            <a:off x="539496" y="3445459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[loyalty/1] p2@0   TXN-9BFB04  +208 points for 9003</a:t>
            </a:r>
          </a:p>
        </p:txBody>
      </p:sp>
      <p:sp>
        <p:nvSpPr>
          <p:cNvPr id="27" name="a3wd150_code26"/>
          <p:cNvSpPr txBox="1"/>
          <p:nvPr/>
        </p:nvSpPr>
        <p:spPr>
          <a:xfrm>
            <a:off x="539496" y="3589934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[loyalty/1] p2@1   TXN-2D19A7  +156 points for 9004</a:t>
            </a:r>
          </a:p>
        </p:txBody>
      </p:sp>
      <p:sp>
        <p:nvSpPr>
          <p:cNvPr id="28" name="a3wd200_code27"/>
          <p:cNvSpPr txBox="1"/>
          <p:nvPr/>
        </p:nvSpPr>
        <p:spPr>
          <a:xfrm>
            <a:off x="539496" y="3734409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29" name="a3wd250_code28"/>
          <p:cNvSpPr txBox="1"/>
          <p:nvPr/>
        </p:nvSpPr>
        <p:spPr>
          <a:xfrm>
            <a:off x="539496" y="3878884"/>
            <a:ext cx="806500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[loyalty/1] processed 12 events, left the group</a:t>
            </a:r>
          </a:p>
        </p:txBody>
      </p:sp>
      <p:sp>
        <p:nvSpPr>
          <p:cNvPr id="30" name="a4u_nb29"/>
          <p:cNvSpPr/>
          <p:nvPr/>
        </p:nvSpPr>
        <p:spPr>
          <a:xfrm>
            <a:off x="457200" y="4197096"/>
            <a:ext cx="8229600" cy="402336"/>
          </a:xfrm>
          <a:prstGeom prst="roundRect">
            <a:avLst>
              <a:gd name="adj" fmla="val 18181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_nacc30"/>
          <p:cNvSpPr/>
          <p:nvPr/>
        </p:nvSpPr>
        <p:spPr>
          <a:xfrm>
            <a:off x="457200" y="4197096"/>
            <a:ext cx="54864" cy="40233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u_nt31"/>
          <p:cNvSpPr txBox="1"/>
          <p:nvPr/>
        </p:nvSpPr>
        <p:spPr>
          <a:xfrm>
            <a:off x="658368" y="4197096"/>
            <a:ext cx="78272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i  </a:t>
            </a:r>
            <a:r>
              <a:rPr sz="850" b="0">
                <a:solidFill>
                  <a:srgbClr val="44403C"/>
                </a:solidFill>
                <a:latin typeface="Segoe UI"/>
              </a:rPr>
              <a:t>Window 3, ledger-feed, shows the same 12 events as GL posted DR / CR lines - three groups, three jobs, one publish.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34</a:t>
            </a:r>
          </a:p>
        </p:txBody>
      </p:sp>
      <p:sp>
        <p:nvSpPr>
          <p:cNvPr id="34" name="ft33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ft34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748790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4  ·  SOLUTION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4 - Answers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Click once for each question, and again for its answer</a:t>
            </a:r>
          </a:p>
        </p:txBody>
      </p:sp>
      <p:sp>
        <p:nvSpPr>
          <p:cNvPr id="12" name="a1u_card11"/>
          <p:cNvSpPr/>
          <p:nvPr/>
        </p:nvSpPr>
        <p:spPr>
          <a:xfrm>
            <a:off x="45720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acc12"/>
          <p:cNvSpPr/>
          <p:nvPr/>
        </p:nvSpPr>
        <p:spPr>
          <a:xfrm>
            <a:off x="457200" y="1371600"/>
            <a:ext cx="50292" cy="15361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_q13"/>
          <p:cNvSpPr txBox="1"/>
          <p:nvPr/>
        </p:nvSpPr>
        <p:spPr>
          <a:xfrm>
            <a:off x="658368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How many lines of transfer_service.py changed to add loyalty?</a:t>
            </a:r>
          </a:p>
        </p:txBody>
      </p:sp>
      <p:sp>
        <p:nvSpPr>
          <p:cNvPr id="15" name="a2f_a14"/>
          <p:cNvSpPr txBox="1"/>
          <p:nvPr/>
        </p:nvSpPr>
        <p:spPr>
          <a:xfrm>
            <a:off x="658368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None. Loyalty is a new consumer group; the producer never knew about fraud, SMS or ledger either. In Lab 1 a new reader means a new call inside the transfer.</a:t>
            </a:r>
          </a:p>
        </p:txBody>
      </p:sp>
      <p:sp>
        <p:nvSpPr>
          <p:cNvPr id="16" name="a3u_card15"/>
          <p:cNvSpPr/>
          <p:nvPr/>
        </p:nvSpPr>
        <p:spPr>
          <a:xfrm>
            <a:off x="466344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663440" y="1371600"/>
            <a:ext cx="50292" cy="15361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_q17"/>
          <p:cNvSpPr txBox="1"/>
          <p:nvPr/>
        </p:nvSpPr>
        <p:spPr>
          <a:xfrm>
            <a:off x="4864607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Loyalty started after the transfers. How did it see them?</a:t>
            </a:r>
          </a:p>
        </p:txBody>
      </p:sp>
      <p:sp>
        <p:nvSpPr>
          <p:cNvPr id="19" name="a4f_a18"/>
          <p:cNvSpPr txBox="1"/>
          <p:nvPr/>
        </p:nvSpPr>
        <p:spPr>
          <a:xfrm>
            <a:off x="4864607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Kafka kept them (retention), and a brand-new group with auto.offset.reset=earliest starts at the oldest event. A queue would have deleted them.</a:t>
            </a:r>
          </a:p>
        </p:txBody>
      </p:sp>
      <p:sp>
        <p:nvSpPr>
          <p:cNvPr id="20" name="a5u_card19"/>
          <p:cNvSpPr/>
          <p:nvPr/>
        </p:nvSpPr>
        <p:spPr>
          <a:xfrm>
            <a:off x="45720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acc20"/>
          <p:cNvSpPr/>
          <p:nvPr/>
        </p:nvSpPr>
        <p:spPr>
          <a:xfrm>
            <a:off x="457200" y="3035808"/>
            <a:ext cx="50292" cy="1536192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5u_q21"/>
          <p:cNvSpPr txBox="1"/>
          <p:nvPr/>
        </p:nvSpPr>
        <p:spPr>
          <a:xfrm>
            <a:off x="658368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Loyalty printed partition 2 first. Is something wrong?</a:t>
            </a:r>
          </a:p>
        </p:txBody>
      </p:sp>
      <p:sp>
        <p:nvSpPr>
          <p:cNvPr id="23" name="a6f_a22"/>
          <p:cNvSpPr txBox="1"/>
          <p:nvPr/>
        </p:nvSpPr>
        <p:spPr>
          <a:xfrm>
            <a:off x="658368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No. Partitions are read independently, so a reader interleaves them in any order. Per-account order holds because each account lives in one partition.</a:t>
            </a:r>
          </a:p>
        </p:txBody>
      </p:sp>
      <p:sp>
        <p:nvSpPr>
          <p:cNvPr id="24" name="a7u_card23"/>
          <p:cNvSpPr/>
          <p:nvPr/>
        </p:nvSpPr>
        <p:spPr>
          <a:xfrm>
            <a:off x="466344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7u_acc24"/>
          <p:cNvSpPr/>
          <p:nvPr/>
        </p:nvSpPr>
        <p:spPr>
          <a:xfrm>
            <a:off x="4663440" y="3035808"/>
            <a:ext cx="50292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7u_q25"/>
          <p:cNvSpPr txBox="1"/>
          <p:nvPr/>
        </p:nvSpPr>
        <p:spPr>
          <a:xfrm>
            <a:off x="4864607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If SMS had been down during the run, what happens to fraud and ledger?</a:t>
            </a:r>
          </a:p>
        </p:txBody>
      </p:sp>
      <p:sp>
        <p:nvSpPr>
          <p:cNvPr id="27" name="a8f_a26"/>
          <p:cNvSpPr txBox="1"/>
          <p:nvPr/>
        </p:nvSpPr>
        <p:spPr>
          <a:xfrm>
            <a:off x="4864607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F46E5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Nothing. Separate groups keep separate offsets. The SMS group just falls behind (lag) and catches up later - Lab 6 proves it.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35</a:t>
            </a:r>
          </a:p>
        </p:txBody>
      </p:sp>
      <p:sp>
        <p:nvSpPr>
          <p:cNvPr id="29" name="ft2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t2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a0f_pl2"/>
          <p:cNvSpPr txBox="1"/>
          <p:nvPr/>
        </p:nvSpPr>
        <p:spPr>
          <a:xfrm>
            <a:off x="502920" y="1005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500">
                <a:solidFill>
                  <a:srgbClr val="18181B"/>
                </a:solidFill>
                <a:latin typeface="Segoe UI"/>
              </a:rPr>
              <a:t>PART</a:t>
            </a:r>
          </a:p>
        </p:txBody>
      </p:sp>
      <p:sp>
        <p:nvSpPr>
          <p:cNvPr id="4" name="a0ud100_n3"/>
          <p:cNvSpPr txBox="1"/>
          <p:nvPr/>
        </p:nvSpPr>
        <p:spPr>
          <a:xfrm>
            <a:off x="411480" y="1280160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50" b="0">
                <a:solidFill>
                  <a:srgbClr val="FFFFFF"/>
                </a:solidFill>
                <a:latin typeface="Bahnschrift SemiBold"/>
              </a:rPr>
              <a:t>04</a:t>
            </a:r>
          </a:p>
        </p:txBody>
      </p:sp>
      <p:sp>
        <p:nvSpPr>
          <p:cNvPr id="5" name="a0wd300_pb4"/>
          <p:cNvSpPr/>
          <p:nvPr/>
        </p:nvSpPr>
        <p:spPr>
          <a:xfrm>
            <a:off x="502920" y="3090672"/>
            <a:ext cx="640080" cy="4572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0fd400_pc5"/>
          <p:cNvSpPr/>
          <p:nvPr/>
        </p:nvSpPr>
        <p:spPr>
          <a:xfrm>
            <a:off x="502920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0fd400_pct6"/>
          <p:cNvSpPr txBox="1"/>
          <p:nvPr/>
        </p:nvSpPr>
        <p:spPr>
          <a:xfrm>
            <a:off x="502920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01</a:t>
            </a:r>
          </a:p>
        </p:txBody>
      </p:sp>
      <p:sp>
        <p:nvSpPr>
          <p:cNvPr id="8" name="a0fd480_pc7"/>
          <p:cNvSpPr/>
          <p:nvPr/>
        </p:nvSpPr>
        <p:spPr>
          <a:xfrm>
            <a:off x="877824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0fd480_pct8"/>
          <p:cNvSpPr txBox="1"/>
          <p:nvPr/>
        </p:nvSpPr>
        <p:spPr>
          <a:xfrm>
            <a:off x="877824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02</a:t>
            </a:r>
          </a:p>
        </p:txBody>
      </p:sp>
      <p:sp>
        <p:nvSpPr>
          <p:cNvPr id="10" name="a0fd560_pc9"/>
          <p:cNvSpPr/>
          <p:nvPr/>
        </p:nvSpPr>
        <p:spPr>
          <a:xfrm>
            <a:off x="1252728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0fd560_pct10"/>
          <p:cNvSpPr txBox="1"/>
          <p:nvPr/>
        </p:nvSpPr>
        <p:spPr>
          <a:xfrm>
            <a:off x="1252728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03</a:t>
            </a:r>
          </a:p>
        </p:txBody>
      </p:sp>
      <p:sp>
        <p:nvSpPr>
          <p:cNvPr id="12" name="a0fd640_pc11"/>
          <p:cNvSpPr/>
          <p:nvPr/>
        </p:nvSpPr>
        <p:spPr>
          <a:xfrm>
            <a:off x="1627632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0fd640_pct12"/>
          <p:cNvSpPr txBox="1"/>
          <p:nvPr/>
        </p:nvSpPr>
        <p:spPr>
          <a:xfrm>
            <a:off x="1627632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04</a:t>
            </a:r>
          </a:p>
        </p:txBody>
      </p:sp>
      <p:sp>
        <p:nvSpPr>
          <p:cNvPr id="14" name="a0ud250_h13"/>
          <p:cNvSpPr txBox="1"/>
          <p:nvPr/>
        </p:nvSpPr>
        <p:spPr>
          <a:xfrm>
            <a:off x="3429000" y="868680"/>
            <a:ext cx="5257800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50" b="0">
                <a:solidFill>
                  <a:srgbClr val="FFFFFF"/>
                </a:solidFill>
                <a:latin typeface="Bahnschrift SemiBold"/>
              </a:rPr>
              <a:t>Producers and Consumers</a:t>
            </a:r>
          </a:p>
        </p:txBody>
      </p:sp>
      <p:sp>
        <p:nvSpPr>
          <p:cNvPr id="15" name="a0wd450_hb14"/>
          <p:cNvSpPr/>
          <p:nvPr/>
        </p:nvSpPr>
        <p:spPr>
          <a:xfrm>
            <a:off x="3429000" y="2212848"/>
            <a:ext cx="54864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0fd500_t15"/>
          <p:cNvSpPr txBox="1"/>
          <p:nvPr/>
        </p:nvSpPr>
        <p:spPr>
          <a:xfrm>
            <a:off x="3429000" y="239572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6D3D1"/>
                </a:solidFill>
                <a:latin typeface="Segoe UI"/>
              </a:rPr>
              <a:t>Who writes, who reads - and how Kafka keeps every reader's place</a:t>
            </a:r>
          </a:p>
        </p:txBody>
      </p:sp>
      <p:sp>
        <p:nvSpPr>
          <p:cNvPr id="17" name="a0ud700_dd16"/>
          <p:cNvSpPr/>
          <p:nvPr/>
        </p:nvSpPr>
        <p:spPr>
          <a:xfrm>
            <a:off x="3429000" y="3236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0ud700_di17"/>
          <p:cNvSpPr txBox="1"/>
          <p:nvPr/>
        </p:nvSpPr>
        <p:spPr>
          <a:xfrm>
            <a:off x="3666744" y="315468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Keys</a:t>
            </a:r>
          </a:p>
        </p:txBody>
      </p:sp>
      <p:sp>
        <p:nvSpPr>
          <p:cNvPr id="19" name="a0ud820_dd18"/>
          <p:cNvSpPr/>
          <p:nvPr/>
        </p:nvSpPr>
        <p:spPr>
          <a:xfrm>
            <a:off x="3429000" y="36027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ud820_di19"/>
          <p:cNvSpPr txBox="1"/>
          <p:nvPr/>
        </p:nvSpPr>
        <p:spPr>
          <a:xfrm>
            <a:off x="3666744" y="352044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Partitions</a:t>
            </a:r>
          </a:p>
        </p:txBody>
      </p:sp>
      <p:sp>
        <p:nvSpPr>
          <p:cNvPr id="21" name="a0ud940_dd20"/>
          <p:cNvSpPr/>
          <p:nvPr/>
        </p:nvSpPr>
        <p:spPr>
          <a:xfrm>
            <a:off x="3429000" y="396849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0ud940_di21"/>
          <p:cNvSpPr txBox="1"/>
          <p:nvPr/>
        </p:nvSpPr>
        <p:spPr>
          <a:xfrm>
            <a:off x="3666744" y="388620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Consumer groups</a:t>
            </a:r>
          </a:p>
        </p:txBody>
      </p:sp>
      <p:sp>
        <p:nvSpPr>
          <p:cNvPr id="23" name="a0ud1060_dd22"/>
          <p:cNvSpPr/>
          <p:nvPr/>
        </p:nvSpPr>
        <p:spPr>
          <a:xfrm>
            <a:off x="3429000" y="433425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0ud1060_di23"/>
          <p:cNvSpPr txBox="1"/>
          <p:nvPr/>
        </p:nvSpPr>
        <p:spPr>
          <a:xfrm>
            <a:off x="3666744" y="425196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Offsets and lag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What a Producer Does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Six steps between produce() and 'stored' - most of them happen in the background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280160"/>
            <a:ext cx="1261872" cy="822960"/>
          </a:xfrm>
          <a:prstGeom prst="roundRect">
            <a:avLst>
              <a:gd name="adj" fmla="val 8888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316736"/>
            <a:ext cx="1170431" cy="3931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1 · Record</a:t>
            </a:r>
          </a:p>
        </p:txBody>
      </p:sp>
      <p:sp>
        <p:nvSpPr>
          <p:cNvPr id="13" name="a1u_nds12"/>
          <p:cNvSpPr txBox="1"/>
          <p:nvPr/>
        </p:nvSpPr>
        <p:spPr>
          <a:xfrm>
            <a:off x="502920" y="17190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key + value</a:t>
            </a:r>
          </a:p>
        </p:txBody>
      </p:sp>
      <p:sp>
        <p:nvSpPr>
          <p:cNvPr id="14" name="a1ud120_nd13"/>
          <p:cNvSpPr/>
          <p:nvPr/>
        </p:nvSpPr>
        <p:spPr>
          <a:xfrm>
            <a:off x="1850745" y="1280160"/>
            <a:ext cx="1261872" cy="822960"/>
          </a:xfrm>
          <a:prstGeom prst="roundRect">
            <a:avLst>
              <a:gd name="adj" fmla="val 8888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120_ndt14"/>
          <p:cNvSpPr txBox="1"/>
          <p:nvPr/>
        </p:nvSpPr>
        <p:spPr>
          <a:xfrm>
            <a:off x="1896465" y="1316736"/>
            <a:ext cx="1170431" cy="3931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2 · Serialise</a:t>
            </a:r>
          </a:p>
        </p:txBody>
      </p:sp>
      <p:sp>
        <p:nvSpPr>
          <p:cNvPr id="16" name="a1ud120_nds15"/>
          <p:cNvSpPr txBox="1"/>
          <p:nvPr/>
        </p:nvSpPr>
        <p:spPr>
          <a:xfrm>
            <a:off x="1896465" y="17190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to bytes</a:t>
            </a:r>
          </a:p>
        </p:txBody>
      </p:sp>
      <p:cxnSp>
        <p:nvCxnSpPr>
          <p:cNvPr id="17" name="a1ud120_ar16"/>
          <p:cNvCxnSpPr/>
          <p:nvPr/>
        </p:nvCxnSpPr>
        <p:spPr>
          <a:xfrm>
            <a:off x="1722729" y="1691640"/>
            <a:ext cx="118872" cy="0"/>
          </a:xfrm>
          <a:prstGeom prst="line">
            <a:avLst/>
          </a:prstGeom>
          <a:ln w="1587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1ud240_nd17"/>
          <p:cNvSpPr/>
          <p:nvPr/>
        </p:nvSpPr>
        <p:spPr>
          <a:xfrm>
            <a:off x="3244291" y="1280160"/>
            <a:ext cx="1261872" cy="822960"/>
          </a:xfrm>
          <a:prstGeom prst="roundRect">
            <a:avLst>
              <a:gd name="adj" fmla="val 8888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240_ndt18"/>
          <p:cNvSpPr txBox="1"/>
          <p:nvPr/>
        </p:nvSpPr>
        <p:spPr>
          <a:xfrm>
            <a:off x="3290011" y="1316736"/>
            <a:ext cx="1170431" cy="3931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3 · Partition</a:t>
            </a:r>
          </a:p>
        </p:txBody>
      </p:sp>
      <p:sp>
        <p:nvSpPr>
          <p:cNvPr id="20" name="a1ud240_nds19"/>
          <p:cNvSpPr txBox="1"/>
          <p:nvPr/>
        </p:nvSpPr>
        <p:spPr>
          <a:xfrm>
            <a:off x="3290011" y="17190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0E7490"/>
                </a:solidFill>
                <a:latin typeface="Segoe UI"/>
              </a:rPr>
              <a:t>hash(key) % 3</a:t>
            </a:r>
          </a:p>
        </p:txBody>
      </p:sp>
      <p:cxnSp>
        <p:nvCxnSpPr>
          <p:cNvPr id="21" name="a1ud240_ar20"/>
          <p:cNvCxnSpPr/>
          <p:nvPr/>
        </p:nvCxnSpPr>
        <p:spPr>
          <a:xfrm>
            <a:off x="3116275" y="1691640"/>
            <a:ext cx="118872" cy="0"/>
          </a:xfrm>
          <a:prstGeom prst="line">
            <a:avLst/>
          </a:prstGeom>
          <a:ln w="1587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1ud360_nd21"/>
          <p:cNvSpPr/>
          <p:nvPr/>
        </p:nvSpPr>
        <p:spPr>
          <a:xfrm>
            <a:off x="4637836" y="1280160"/>
            <a:ext cx="1261872" cy="822960"/>
          </a:xfrm>
          <a:prstGeom prst="roundRect">
            <a:avLst>
              <a:gd name="adj" fmla="val 8888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ud360_ndt22"/>
          <p:cNvSpPr txBox="1"/>
          <p:nvPr/>
        </p:nvSpPr>
        <p:spPr>
          <a:xfrm>
            <a:off x="4683556" y="1316736"/>
            <a:ext cx="1170431" cy="3931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4 · Batch</a:t>
            </a:r>
          </a:p>
        </p:txBody>
      </p:sp>
      <p:sp>
        <p:nvSpPr>
          <p:cNvPr id="24" name="a1ud360_nds23"/>
          <p:cNvSpPr txBox="1"/>
          <p:nvPr/>
        </p:nvSpPr>
        <p:spPr>
          <a:xfrm>
            <a:off x="4683556" y="17190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0E7490"/>
                </a:solidFill>
                <a:latin typeface="Segoe UI"/>
              </a:rPr>
              <a:t>linger.ms, batch.size</a:t>
            </a:r>
          </a:p>
        </p:txBody>
      </p:sp>
      <p:cxnSp>
        <p:nvCxnSpPr>
          <p:cNvPr id="25" name="a1ud360_ar24"/>
          <p:cNvCxnSpPr/>
          <p:nvPr/>
        </p:nvCxnSpPr>
        <p:spPr>
          <a:xfrm>
            <a:off x="4509820" y="1691640"/>
            <a:ext cx="118872" cy="0"/>
          </a:xfrm>
          <a:prstGeom prst="line">
            <a:avLst/>
          </a:prstGeom>
          <a:ln w="1587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1ud480_nd25"/>
          <p:cNvSpPr/>
          <p:nvPr/>
        </p:nvSpPr>
        <p:spPr>
          <a:xfrm>
            <a:off x="6031382" y="1280160"/>
            <a:ext cx="1261872" cy="822960"/>
          </a:xfrm>
          <a:prstGeom prst="roundRect">
            <a:avLst>
              <a:gd name="adj" fmla="val 8888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ud480_ndt26"/>
          <p:cNvSpPr txBox="1"/>
          <p:nvPr/>
        </p:nvSpPr>
        <p:spPr>
          <a:xfrm>
            <a:off x="6077102" y="1316736"/>
            <a:ext cx="1170431" cy="3931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5 · Send</a:t>
            </a:r>
          </a:p>
        </p:txBody>
      </p:sp>
      <p:sp>
        <p:nvSpPr>
          <p:cNvPr id="28" name="a1ud480_nds27"/>
          <p:cNvSpPr txBox="1"/>
          <p:nvPr/>
        </p:nvSpPr>
        <p:spPr>
          <a:xfrm>
            <a:off x="6077102" y="17190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A16207"/>
                </a:solidFill>
                <a:latin typeface="Segoe UI"/>
              </a:rPr>
              <a:t>to the leader broker</a:t>
            </a:r>
          </a:p>
        </p:txBody>
      </p:sp>
      <p:cxnSp>
        <p:nvCxnSpPr>
          <p:cNvPr id="29" name="a1ud480_ar28"/>
          <p:cNvCxnSpPr/>
          <p:nvPr/>
        </p:nvCxnSpPr>
        <p:spPr>
          <a:xfrm>
            <a:off x="5903366" y="1691640"/>
            <a:ext cx="118872" cy="0"/>
          </a:xfrm>
          <a:prstGeom prst="line">
            <a:avLst/>
          </a:prstGeom>
          <a:ln w="1587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1ud600_nd29"/>
          <p:cNvSpPr/>
          <p:nvPr/>
        </p:nvSpPr>
        <p:spPr>
          <a:xfrm>
            <a:off x="7424928" y="1280160"/>
            <a:ext cx="1261872" cy="822960"/>
          </a:xfrm>
          <a:prstGeom prst="roundRect">
            <a:avLst>
              <a:gd name="adj" fmla="val 8888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ud600_ndt30"/>
          <p:cNvSpPr txBox="1"/>
          <p:nvPr/>
        </p:nvSpPr>
        <p:spPr>
          <a:xfrm>
            <a:off x="7470648" y="1316736"/>
            <a:ext cx="1170431" cy="3931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1">
                <a:solidFill>
                  <a:srgbClr val="1C1917"/>
                </a:solidFill>
                <a:latin typeface="Segoe UI"/>
              </a:rPr>
              <a:t>6 · Ack</a:t>
            </a:r>
          </a:p>
        </p:txBody>
      </p:sp>
      <p:sp>
        <p:nvSpPr>
          <p:cNvPr id="32" name="a1ud600_nds31"/>
          <p:cNvSpPr txBox="1"/>
          <p:nvPr/>
        </p:nvSpPr>
        <p:spPr>
          <a:xfrm>
            <a:off x="7470648" y="17190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A16207"/>
                </a:solidFill>
                <a:latin typeface="Segoe UI"/>
              </a:rPr>
              <a:t>acks = 0 / 1 / all</a:t>
            </a:r>
          </a:p>
        </p:txBody>
      </p:sp>
      <p:cxnSp>
        <p:nvCxnSpPr>
          <p:cNvPr id="33" name="a1ud600_ar32"/>
          <p:cNvCxnSpPr/>
          <p:nvPr/>
        </p:nvCxnSpPr>
        <p:spPr>
          <a:xfrm>
            <a:off x="7296912" y="1691640"/>
            <a:ext cx="118872" cy="0"/>
          </a:xfrm>
          <a:prstGeom prst="line">
            <a:avLst/>
          </a:prstGeom>
          <a:ln w="1587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2f_codebg33"/>
          <p:cNvSpPr/>
          <p:nvPr/>
        </p:nvSpPr>
        <p:spPr>
          <a:xfrm>
            <a:off x="457200" y="23317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f_codeh34"/>
          <p:cNvSpPr txBox="1"/>
          <p:nvPr/>
        </p:nvSpPr>
        <p:spPr>
          <a:xfrm>
            <a:off x="585216" y="2386584"/>
            <a:ext cx="45902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transfer_service.py (trimmed)</a:t>
            </a:r>
          </a:p>
        </p:txBody>
      </p:sp>
      <p:sp>
        <p:nvSpPr>
          <p:cNvPr id="36" name="a2f_codesep35"/>
          <p:cNvSpPr/>
          <p:nvPr/>
        </p:nvSpPr>
        <p:spPr>
          <a:xfrm>
            <a:off x="585216" y="2660903"/>
            <a:ext cx="4590288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_code36"/>
          <p:cNvSpPr txBox="1"/>
          <p:nvPr/>
        </p:nvSpPr>
        <p:spPr>
          <a:xfrm>
            <a:off x="585216" y="2734056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producer = Producer({</a:t>
            </a:r>
          </a:p>
        </p:txBody>
      </p:sp>
      <p:sp>
        <p:nvSpPr>
          <p:cNvPr id="38" name="a2wd60_code37"/>
          <p:cNvSpPr txBox="1"/>
          <p:nvPr/>
        </p:nvSpPr>
        <p:spPr>
          <a:xfrm>
            <a:off x="585216" y="2898648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"bootstrap.servers": "localhost:9092",</a:t>
            </a:r>
          </a:p>
        </p:txBody>
      </p:sp>
      <p:sp>
        <p:nvSpPr>
          <p:cNvPr id="39" name="a2wd120_code38"/>
          <p:cNvSpPr txBox="1"/>
          <p:nvPr/>
        </p:nvSpPr>
        <p:spPr>
          <a:xfrm>
            <a:off x="585216" y="3063239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"acks": "all",                    # wait until stored</a:t>
            </a:r>
          </a:p>
        </p:txBody>
      </p:sp>
      <p:sp>
        <p:nvSpPr>
          <p:cNvPr id="40" name="a2wd180_code39"/>
          <p:cNvSpPr txBox="1"/>
          <p:nvPr/>
        </p:nvSpPr>
        <p:spPr>
          <a:xfrm>
            <a:off x="585216" y="3227832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"enable.idempotence": True,       # retries never duplicate</a:t>
            </a:r>
          </a:p>
        </p:txBody>
      </p:sp>
      <p:sp>
        <p:nvSpPr>
          <p:cNvPr id="41" name="a2wd240_code40"/>
          <p:cNvSpPr txBox="1"/>
          <p:nvPr/>
        </p:nvSpPr>
        <p:spPr>
          <a:xfrm>
            <a:off x="585216" y="3392424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"partitioner": "murmur2_random",  # same key, same partition as Java</a:t>
            </a:r>
          </a:p>
        </p:txBody>
      </p:sp>
      <p:sp>
        <p:nvSpPr>
          <p:cNvPr id="42" name="a2wd300_code41"/>
          <p:cNvSpPr txBox="1"/>
          <p:nvPr/>
        </p:nvSpPr>
        <p:spPr>
          <a:xfrm>
            <a:off x="585216" y="3557015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})</a:t>
            </a:r>
          </a:p>
        </p:txBody>
      </p:sp>
      <p:sp>
        <p:nvSpPr>
          <p:cNvPr id="43" name="a2wd360_code42"/>
          <p:cNvSpPr txBox="1"/>
          <p:nvPr/>
        </p:nvSpPr>
        <p:spPr>
          <a:xfrm>
            <a:off x="585216" y="3721608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producer.produce(TOPIC, key=str(account), value=json.dumps(event),</a:t>
            </a:r>
          </a:p>
        </p:txBody>
      </p:sp>
      <p:sp>
        <p:nvSpPr>
          <p:cNvPr id="44" name="a2wd420_code43"/>
          <p:cNvSpPr txBox="1"/>
          <p:nvPr/>
        </p:nvSpPr>
        <p:spPr>
          <a:xfrm>
            <a:off x="585216" y="3886200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             on_delivery=on_delivery)   # returns at once</a:t>
            </a:r>
          </a:p>
        </p:txBody>
      </p:sp>
      <p:sp>
        <p:nvSpPr>
          <p:cNvPr id="45" name="a2wd480_code44"/>
          <p:cNvSpPr txBox="1"/>
          <p:nvPr/>
        </p:nvSpPr>
        <p:spPr>
          <a:xfrm>
            <a:off x="585216" y="4050791"/>
            <a:ext cx="45902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producer.flush(10)                          # before exit: wait for acks</a:t>
            </a:r>
          </a:p>
        </p:txBody>
      </p:sp>
      <p:sp>
        <p:nvSpPr>
          <p:cNvPr id="46" name="a3f_th45"/>
          <p:cNvSpPr/>
          <p:nvPr/>
        </p:nvSpPr>
        <p:spPr>
          <a:xfrm>
            <a:off x="5486400" y="2331720"/>
            <a:ext cx="685800" cy="36576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f_tht46"/>
          <p:cNvSpPr txBox="1"/>
          <p:nvPr/>
        </p:nvSpPr>
        <p:spPr>
          <a:xfrm>
            <a:off x="5559552" y="2331720"/>
            <a:ext cx="576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nsolas"/>
              </a:rPr>
              <a:t>acks</a:t>
            </a:r>
          </a:p>
        </p:txBody>
      </p:sp>
      <p:sp>
        <p:nvSpPr>
          <p:cNvPr id="48" name="a3wd110_td47"/>
          <p:cNvSpPr/>
          <p:nvPr/>
        </p:nvSpPr>
        <p:spPr>
          <a:xfrm>
            <a:off x="5486400" y="2697479"/>
            <a:ext cx="685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wd110_tdt48"/>
          <p:cNvSpPr txBox="1"/>
          <p:nvPr/>
        </p:nvSpPr>
        <p:spPr>
          <a:xfrm>
            <a:off x="5559552" y="2697479"/>
            <a:ext cx="576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0</a:t>
            </a:r>
          </a:p>
        </p:txBody>
      </p:sp>
      <p:sp>
        <p:nvSpPr>
          <p:cNvPr id="50" name="a3wd220_td49"/>
          <p:cNvSpPr/>
          <p:nvPr/>
        </p:nvSpPr>
        <p:spPr>
          <a:xfrm>
            <a:off x="5486400" y="3063239"/>
            <a:ext cx="68580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3wd220_tdt50"/>
          <p:cNvSpPr txBox="1"/>
          <p:nvPr/>
        </p:nvSpPr>
        <p:spPr>
          <a:xfrm>
            <a:off x="5559552" y="3063239"/>
            <a:ext cx="576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1</a:t>
            </a:r>
          </a:p>
        </p:txBody>
      </p:sp>
      <p:sp>
        <p:nvSpPr>
          <p:cNvPr id="52" name="a3wd330_td51"/>
          <p:cNvSpPr/>
          <p:nvPr/>
        </p:nvSpPr>
        <p:spPr>
          <a:xfrm>
            <a:off x="5486400" y="3429000"/>
            <a:ext cx="68580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3wd330_tdt52"/>
          <p:cNvSpPr txBox="1"/>
          <p:nvPr/>
        </p:nvSpPr>
        <p:spPr>
          <a:xfrm>
            <a:off x="5559552" y="3429000"/>
            <a:ext cx="576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all</a:t>
            </a:r>
          </a:p>
        </p:txBody>
      </p:sp>
      <p:sp>
        <p:nvSpPr>
          <p:cNvPr id="54" name="a3f_th53"/>
          <p:cNvSpPr/>
          <p:nvPr/>
        </p:nvSpPr>
        <p:spPr>
          <a:xfrm>
            <a:off x="6172200" y="2331720"/>
            <a:ext cx="1325880" cy="36576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3f_tht54"/>
          <p:cNvSpPr txBox="1"/>
          <p:nvPr/>
        </p:nvSpPr>
        <p:spPr>
          <a:xfrm>
            <a:off x="6245352" y="233172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Waits for</a:t>
            </a:r>
          </a:p>
        </p:txBody>
      </p:sp>
      <p:sp>
        <p:nvSpPr>
          <p:cNvPr id="56" name="a3wd110_td55"/>
          <p:cNvSpPr/>
          <p:nvPr/>
        </p:nvSpPr>
        <p:spPr>
          <a:xfrm>
            <a:off x="6172200" y="2697479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wd110_tdt56"/>
          <p:cNvSpPr txBox="1"/>
          <p:nvPr/>
        </p:nvSpPr>
        <p:spPr>
          <a:xfrm>
            <a:off x="6245352" y="2697479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nothing</a:t>
            </a:r>
          </a:p>
        </p:txBody>
      </p:sp>
      <p:sp>
        <p:nvSpPr>
          <p:cNvPr id="58" name="a3wd220_td57"/>
          <p:cNvSpPr/>
          <p:nvPr/>
        </p:nvSpPr>
        <p:spPr>
          <a:xfrm>
            <a:off x="6172200" y="3063239"/>
            <a:ext cx="132588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wd220_tdt58"/>
          <p:cNvSpPr txBox="1"/>
          <p:nvPr/>
        </p:nvSpPr>
        <p:spPr>
          <a:xfrm>
            <a:off x="6245352" y="3063239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the leader</a:t>
            </a:r>
          </a:p>
        </p:txBody>
      </p:sp>
      <p:sp>
        <p:nvSpPr>
          <p:cNvPr id="60" name="a3wd330_td59"/>
          <p:cNvSpPr/>
          <p:nvPr/>
        </p:nvSpPr>
        <p:spPr>
          <a:xfrm>
            <a:off x="6172200" y="3429000"/>
            <a:ext cx="132588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3wd330_tdt60"/>
          <p:cNvSpPr txBox="1"/>
          <p:nvPr/>
        </p:nvSpPr>
        <p:spPr>
          <a:xfrm>
            <a:off x="6245352" y="34290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all in-sync replicas</a:t>
            </a:r>
          </a:p>
        </p:txBody>
      </p:sp>
      <p:sp>
        <p:nvSpPr>
          <p:cNvPr id="62" name="a3f_th61"/>
          <p:cNvSpPr/>
          <p:nvPr/>
        </p:nvSpPr>
        <p:spPr>
          <a:xfrm>
            <a:off x="7498079" y="2331720"/>
            <a:ext cx="1188720" cy="36576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3f_tht62"/>
          <p:cNvSpPr txBox="1"/>
          <p:nvPr/>
        </p:nvSpPr>
        <p:spPr>
          <a:xfrm>
            <a:off x="7571231" y="23317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Loses data if</a:t>
            </a:r>
          </a:p>
        </p:txBody>
      </p:sp>
      <p:sp>
        <p:nvSpPr>
          <p:cNvPr id="64" name="a3wd110_td63"/>
          <p:cNvSpPr/>
          <p:nvPr/>
        </p:nvSpPr>
        <p:spPr>
          <a:xfrm>
            <a:off x="7498079" y="2697479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3wd110_tdt64"/>
          <p:cNvSpPr txBox="1"/>
          <p:nvPr/>
        </p:nvSpPr>
        <p:spPr>
          <a:xfrm>
            <a:off x="7571231" y="2697479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anything fails</a:t>
            </a:r>
          </a:p>
        </p:txBody>
      </p:sp>
      <p:sp>
        <p:nvSpPr>
          <p:cNvPr id="66" name="a3wd220_td65"/>
          <p:cNvSpPr/>
          <p:nvPr/>
        </p:nvSpPr>
        <p:spPr>
          <a:xfrm>
            <a:off x="7498079" y="3063239"/>
            <a:ext cx="1188720" cy="36576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3wd220_tdt66"/>
          <p:cNvSpPr txBox="1"/>
          <p:nvPr/>
        </p:nvSpPr>
        <p:spPr>
          <a:xfrm>
            <a:off x="7571231" y="3063239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leader dies early</a:t>
            </a:r>
          </a:p>
        </p:txBody>
      </p:sp>
      <p:sp>
        <p:nvSpPr>
          <p:cNvPr id="68" name="a3wd330_td67"/>
          <p:cNvSpPr/>
          <p:nvPr/>
        </p:nvSpPr>
        <p:spPr>
          <a:xfrm>
            <a:off x="7498079" y="3429000"/>
            <a:ext cx="118872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3wd330_tdt68"/>
          <p:cNvSpPr txBox="1"/>
          <p:nvPr/>
        </p:nvSpPr>
        <p:spPr>
          <a:xfrm>
            <a:off x="7571231" y="342900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too many brokers die</a:t>
            </a:r>
          </a:p>
        </p:txBody>
      </p:sp>
      <p:sp>
        <p:nvSpPr>
          <p:cNvPr id="70" name="a4u_nb69"/>
          <p:cNvSpPr/>
          <p:nvPr/>
        </p:nvSpPr>
        <p:spPr>
          <a:xfrm>
            <a:off x="5486400" y="39319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4u_nacc70"/>
          <p:cNvSpPr/>
          <p:nvPr/>
        </p:nvSpPr>
        <p:spPr>
          <a:xfrm>
            <a:off x="5486400" y="3931920"/>
            <a:ext cx="54864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4u_nt71"/>
          <p:cNvSpPr txBox="1"/>
          <p:nvPr/>
        </p:nvSpPr>
        <p:spPr>
          <a:xfrm>
            <a:off x="5687568" y="393192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5803D"/>
                </a:solidFill>
                <a:latin typeface="Segoe UI"/>
              </a:rPr>
              <a:t>OK  </a:t>
            </a:r>
            <a:r>
              <a:rPr sz="850" b="0">
                <a:solidFill>
                  <a:srgbClr val="44403C"/>
                </a:solidFill>
                <a:latin typeface="Segoe UI"/>
              </a:rPr>
              <a:t>Banking default: acks=all + idempotence.</a:t>
            </a:r>
          </a:p>
        </p:txBody>
      </p:sp>
      <p:sp>
        <p:nvSpPr>
          <p:cNvPr id="73" name="ft72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37</a:t>
            </a:r>
          </a:p>
        </p:txBody>
      </p:sp>
      <p:sp>
        <p:nvSpPr>
          <p:cNvPr id="74" name="ft73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ft74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Keys Decide Partitions, Partitions Decide Order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Measured in Lab 4: six accounts, three partitions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216152"/>
            <a:ext cx="137160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216152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Key (account)</a:t>
            </a:r>
          </a:p>
        </p:txBody>
      </p:sp>
      <p:sp>
        <p:nvSpPr>
          <p:cNvPr id="13" name="a1wd90_td12"/>
          <p:cNvSpPr/>
          <p:nvPr/>
        </p:nvSpPr>
        <p:spPr>
          <a:xfrm>
            <a:off x="457200" y="1527048"/>
            <a:ext cx="1371600" cy="31089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90_tdt13"/>
          <p:cNvSpPr txBox="1"/>
          <p:nvPr/>
        </p:nvSpPr>
        <p:spPr>
          <a:xfrm>
            <a:off x="530352" y="1527048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9001</a:t>
            </a:r>
          </a:p>
        </p:txBody>
      </p:sp>
      <p:sp>
        <p:nvSpPr>
          <p:cNvPr id="15" name="a1wd180_td14"/>
          <p:cNvSpPr/>
          <p:nvPr/>
        </p:nvSpPr>
        <p:spPr>
          <a:xfrm>
            <a:off x="457200" y="1837944"/>
            <a:ext cx="1371600" cy="310896"/>
          </a:xfrm>
          <a:prstGeom prst="rect">
            <a:avLst/>
          </a:prstGeom>
          <a:solidFill>
            <a:srgbClr val="D9F2F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180_tdt15"/>
          <p:cNvSpPr txBox="1"/>
          <p:nvPr/>
        </p:nvSpPr>
        <p:spPr>
          <a:xfrm>
            <a:off x="530352" y="1837944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9002</a:t>
            </a:r>
          </a:p>
        </p:txBody>
      </p:sp>
      <p:sp>
        <p:nvSpPr>
          <p:cNvPr id="17" name="a1wd270_td16"/>
          <p:cNvSpPr/>
          <p:nvPr/>
        </p:nvSpPr>
        <p:spPr>
          <a:xfrm>
            <a:off x="457200" y="2148840"/>
            <a:ext cx="137160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270_tdt17"/>
          <p:cNvSpPr txBox="1"/>
          <p:nvPr/>
        </p:nvSpPr>
        <p:spPr>
          <a:xfrm>
            <a:off x="530352" y="2148840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9003</a:t>
            </a:r>
          </a:p>
        </p:txBody>
      </p:sp>
      <p:sp>
        <p:nvSpPr>
          <p:cNvPr id="19" name="a1wd360_td18"/>
          <p:cNvSpPr/>
          <p:nvPr/>
        </p:nvSpPr>
        <p:spPr>
          <a:xfrm>
            <a:off x="457200" y="2459736"/>
            <a:ext cx="137160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360_tdt19"/>
          <p:cNvSpPr txBox="1"/>
          <p:nvPr/>
        </p:nvSpPr>
        <p:spPr>
          <a:xfrm>
            <a:off x="530352" y="2459736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9004</a:t>
            </a:r>
          </a:p>
        </p:txBody>
      </p:sp>
      <p:sp>
        <p:nvSpPr>
          <p:cNvPr id="21" name="a1wd450_td20"/>
          <p:cNvSpPr/>
          <p:nvPr/>
        </p:nvSpPr>
        <p:spPr>
          <a:xfrm>
            <a:off x="457200" y="2770632"/>
            <a:ext cx="1371600" cy="31089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50_tdt21"/>
          <p:cNvSpPr txBox="1"/>
          <p:nvPr/>
        </p:nvSpPr>
        <p:spPr>
          <a:xfrm>
            <a:off x="530352" y="2770632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9005</a:t>
            </a:r>
          </a:p>
        </p:txBody>
      </p:sp>
      <p:sp>
        <p:nvSpPr>
          <p:cNvPr id="23" name="a1wd540_td22"/>
          <p:cNvSpPr/>
          <p:nvPr/>
        </p:nvSpPr>
        <p:spPr>
          <a:xfrm>
            <a:off x="457200" y="3081528"/>
            <a:ext cx="137160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40_tdt23"/>
          <p:cNvSpPr txBox="1"/>
          <p:nvPr/>
        </p:nvSpPr>
        <p:spPr>
          <a:xfrm>
            <a:off x="530352" y="3081528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9006</a:t>
            </a:r>
          </a:p>
        </p:txBody>
      </p:sp>
      <p:sp>
        <p:nvSpPr>
          <p:cNvPr id="25" name="a1f_th24"/>
          <p:cNvSpPr/>
          <p:nvPr/>
        </p:nvSpPr>
        <p:spPr>
          <a:xfrm>
            <a:off x="1828800" y="1216152"/>
            <a:ext cx="91440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1901952" y="121615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Partition</a:t>
            </a:r>
          </a:p>
        </p:txBody>
      </p:sp>
      <p:sp>
        <p:nvSpPr>
          <p:cNvPr id="27" name="a1wd90_td26"/>
          <p:cNvSpPr/>
          <p:nvPr/>
        </p:nvSpPr>
        <p:spPr>
          <a:xfrm>
            <a:off x="1828800" y="1527048"/>
            <a:ext cx="914400" cy="31089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90_tdt27"/>
          <p:cNvSpPr txBox="1"/>
          <p:nvPr/>
        </p:nvSpPr>
        <p:spPr>
          <a:xfrm>
            <a:off x="1901952" y="1527048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0</a:t>
            </a:r>
          </a:p>
        </p:txBody>
      </p:sp>
      <p:sp>
        <p:nvSpPr>
          <p:cNvPr id="29" name="a1wd180_td28"/>
          <p:cNvSpPr/>
          <p:nvPr/>
        </p:nvSpPr>
        <p:spPr>
          <a:xfrm>
            <a:off x="1828800" y="1837944"/>
            <a:ext cx="914400" cy="310896"/>
          </a:xfrm>
          <a:prstGeom prst="rect">
            <a:avLst/>
          </a:prstGeom>
          <a:solidFill>
            <a:srgbClr val="D9F2F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180_tdt29"/>
          <p:cNvSpPr txBox="1"/>
          <p:nvPr/>
        </p:nvSpPr>
        <p:spPr>
          <a:xfrm>
            <a:off x="1901952" y="1837944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1</a:t>
            </a:r>
          </a:p>
        </p:txBody>
      </p:sp>
      <p:sp>
        <p:nvSpPr>
          <p:cNvPr id="31" name="a1wd270_td30"/>
          <p:cNvSpPr/>
          <p:nvPr/>
        </p:nvSpPr>
        <p:spPr>
          <a:xfrm>
            <a:off x="1828800" y="2148840"/>
            <a:ext cx="91440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270_tdt31"/>
          <p:cNvSpPr txBox="1"/>
          <p:nvPr/>
        </p:nvSpPr>
        <p:spPr>
          <a:xfrm>
            <a:off x="1901952" y="2148840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2</a:t>
            </a:r>
          </a:p>
        </p:txBody>
      </p:sp>
      <p:sp>
        <p:nvSpPr>
          <p:cNvPr id="33" name="a1wd360_td32"/>
          <p:cNvSpPr/>
          <p:nvPr/>
        </p:nvSpPr>
        <p:spPr>
          <a:xfrm>
            <a:off x="1828800" y="2459736"/>
            <a:ext cx="91440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360_tdt33"/>
          <p:cNvSpPr txBox="1"/>
          <p:nvPr/>
        </p:nvSpPr>
        <p:spPr>
          <a:xfrm>
            <a:off x="1901952" y="245973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2</a:t>
            </a:r>
          </a:p>
        </p:txBody>
      </p:sp>
      <p:sp>
        <p:nvSpPr>
          <p:cNvPr id="35" name="a1wd450_td34"/>
          <p:cNvSpPr/>
          <p:nvPr/>
        </p:nvSpPr>
        <p:spPr>
          <a:xfrm>
            <a:off x="1828800" y="2770632"/>
            <a:ext cx="914400" cy="31089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450_tdt35"/>
          <p:cNvSpPr txBox="1"/>
          <p:nvPr/>
        </p:nvSpPr>
        <p:spPr>
          <a:xfrm>
            <a:off x="1901952" y="277063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0</a:t>
            </a:r>
          </a:p>
        </p:txBody>
      </p:sp>
      <p:sp>
        <p:nvSpPr>
          <p:cNvPr id="37" name="a1wd540_td36"/>
          <p:cNvSpPr/>
          <p:nvPr/>
        </p:nvSpPr>
        <p:spPr>
          <a:xfrm>
            <a:off x="1828800" y="3081528"/>
            <a:ext cx="91440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540_tdt37"/>
          <p:cNvSpPr txBox="1"/>
          <p:nvPr/>
        </p:nvSpPr>
        <p:spPr>
          <a:xfrm>
            <a:off x="1901952" y="3081528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2</a:t>
            </a:r>
          </a:p>
        </p:txBody>
      </p:sp>
      <p:sp>
        <p:nvSpPr>
          <p:cNvPr id="39" name="a1f_th38"/>
          <p:cNvSpPr/>
          <p:nvPr/>
        </p:nvSpPr>
        <p:spPr>
          <a:xfrm>
            <a:off x="2743200" y="1216152"/>
            <a:ext cx="146304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f_tht39"/>
          <p:cNvSpPr txBox="1"/>
          <p:nvPr/>
        </p:nvSpPr>
        <p:spPr>
          <a:xfrm>
            <a:off x="2816352" y="1216152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Offsets in Lab 4</a:t>
            </a:r>
          </a:p>
        </p:txBody>
      </p:sp>
      <p:sp>
        <p:nvSpPr>
          <p:cNvPr id="41" name="a1wd90_td40"/>
          <p:cNvSpPr/>
          <p:nvPr/>
        </p:nvSpPr>
        <p:spPr>
          <a:xfrm>
            <a:off x="2743200" y="1527048"/>
            <a:ext cx="1463040" cy="31089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90_tdt41"/>
          <p:cNvSpPr txBox="1"/>
          <p:nvPr/>
        </p:nvSpPr>
        <p:spPr>
          <a:xfrm>
            <a:off x="2816352" y="1527048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0, 2</a:t>
            </a:r>
          </a:p>
        </p:txBody>
      </p:sp>
      <p:sp>
        <p:nvSpPr>
          <p:cNvPr id="43" name="a1wd180_td42"/>
          <p:cNvSpPr/>
          <p:nvPr/>
        </p:nvSpPr>
        <p:spPr>
          <a:xfrm>
            <a:off x="2743200" y="1837944"/>
            <a:ext cx="1463040" cy="310896"/>
          </a:xfrm>
          <a:prstGeom prst="rect">
            <a:avLst/>
          </a:prstGeom>
          <a:solidFill>
            <a:srgbClr val="D9F2F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180_tdt43"/>
          <p:cNvSpPr txBox="1"/>
          <p:nvPr/>
        </p:nvSpPr>
        <p:spPr>
          <a:xfrm>
            <a:off x="2816352" y="1837944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0, 1</a:t>
            </a:r>
          </a:p>
        </p:txBody>
      </p:sp>
      <p:sp>
        <p:nvSpPr>
          <p:cNvPr id="45" name="a1wd270_td44"/>
          <p:cNvSpPr/>
          <p:nvPr/>
        </p:nvSpPr>
        <p:spPr>
          <a:xfrm>
            <a:off x="2743200" y="2148840"/>
            <a:ext cx="146304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270_tdt45"/>
          <p:cNvSpPr txBox="1"/>
          <p:nvPr/>
        </p:nvSpPr>
        <p:spPr>
          <a:xfrm>
            <a:off x="2816352" y="2148840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0, 3</a:t>
            </a:r>
          </a:p>
        </p:txBody>
      </p:sp>
      <p:sp>
        <p:nvSpPr>
          <p:cNvPr id="47" name="a1wd360_td46"/>
          <p:cNvSpPr/>
          <p:nvPr/>
        </p:nvSpPr>
        <p:spPr>
          <a:xfrm>
            <a:off x="2743200" y="2459736"/>
            <a:ext cx="146304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360_tdt47"/>
          <p:cNvSpPr txBox="1"/>
          <p:nvPr/>
        </p:nvSpPr>
        <p:spPr>
          <a:xfrm>
            <a:off x="2816352" y="2459736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1, 4</a:t>
            </a:r>
          </a:p>
        </p:txBody>
      </p:sp>
      <p:sp>
        <p:nvSpPr>
          <p:cNvPr id="49" name="a1wd450_td48"/>
          <p:cNvSpPr/>
          <p:nvPr/>
        </p:nvSpPr>
        <p:spPr>
          <a:xfrm>
            <a:off x="2743200" y="2770632"/>
            <a:ext cx="1463040" cy="310896"/>
          </a:xfrm>
          <a:prstGeom prst="rect">
            <a:avLst/>
          </a:prstGeom>
          <a:solidFill>
            <a:srgbClr val="FFEDD5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450_tdt49"/>
          <p:cNvSpPr txBox="1"/>
          <p:nvPr/>
        </p:nvSpPr>
        <p:spPr>
          <a:xfrm>
            <a:off x="2816352" y="2770632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1, 3</a:t>
            </a:r>
          </a:p>
        </p:txBody>
      </p:sp>
      <p:sp>
        <p:nvSpPr>
          <p:cNvPr id="51" name="a1wd540_td50"/>
          <p:cNvSpPr/>
          <p:nvPr/>
        </p:nvSpPr>
        <p:spPr>
          <a:xfrm>
            <a:off x="2743200" y="3081528"/>
            <a:ext cx="146304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540_tdt51"/>
          <p:cNvSpPr txBox="1"/>
          <p:nvPr/>
        </p:nvSpPr>
        <p:spPr>
          <a:xfrm>
            <a:off x="2816352" y="3081528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4403C"/>
                </a:solidFill>
                <a:latin typeface="Consolas"/>
              </a:rPr>
              <a:t>2, 5</a:t>
            </a:r>
          </a:p>
        </p:txBody>
      </p:sp>
      <p:sp>
        <p:nvSpPr>
          <p:cNvPr id="53" name="a2u_nb52"/>
          <p:cNvSpPr/>
          <p:nvPr/>
        </p:nvSpPr>
        <p:spPr>
          <a:xfrm>
            <a:off x="457200" y="352044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u_nacc5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u_nt54"/>
          <p:cNvSpPr txBox="1"/>
          <p:nvPr/>
        </p:nvSpPr>
        <p:spPr>
          <a:xfrm>
            <a:off x="658368" y="3520440"/>
            <a:ext cx="33467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16207"/>
                </a:solidFill>
                <a:latin typeface="Segoe UI"/>
              </a:rPr>
              <a:t>!  </a:t>
            </a:r>
            <a:r>
              <a:rPr sz="850" b="0">
                <a:solidFill>
                  <a:srgbClr val="44403C"/>
                </a:solidFill>
                <a:latin typeface="Segoe UI"/>
              </a:rPr>
              <a:t>Partition 2 got three of the six accounts. With few keys, hashing is lumpy; with thousands of accounts it evens out.</a:t>
            </a:r>
          </a:p>
        </p:txBody>
      </p:sp>
      <p:sp>
        <p:nvSpPr>
          <p:cNvPr id="56" name="a3u_card55"/>
          <p:cNvSpPr/>
          <p:nvPr/>
        </p:nvSpPr>
        <p:spPr>
          <a:xfrm>
            <a:off x="4434840" y="1216152"/>
            <a:ext cx="4251960" cy="1005840"/>
          </a:xfrm>
          <a:prstGeom prst="roundRect">
            <a:avLst>
              <a:gd name="adj" fmla="val 10909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u_acc56"/>
          <p:cNvSpPr/>
          <p:nvPr/>
        </p:nvSpPr>
        <p:spPr>
          <a:xfrm>
            <a:off x="4434840" y="1216152"/>
            <a:ext cx="50292" cy="10058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3u_rt57"/>
          <p:cNvSpPr txBox="1"/>
          <p:nvPr/>
        </p:nvSpPr>
        <p:spPr>
          <a:xfrm>
            <a:off x="4636008" y="1307592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Same key, same partition, in order</a:t>
            </a:r>
          </a:p>
        </p:txBody>
      </p:sp>
      <p:sp>
        <p:nvSpPr>
          <p:cNvPr id="59" name="a3ud60_rd58"/>
          <p:cNvSpPr txBox="1"/>
          <p:nvPr/>
        </p:nvSpPr>
        <p:spPr>
          <a:xfrm>
            <a:off x="4636008" y="1563624"/>
            <a:ext cx="3886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Every event for account 9001 is in partition 0, in the order it was sent. That is the only ordering Kafka guarantees.</a:t>
            </a:r>
          </a:p>
        </p:txBody>
      </p:sp>
      <p:sp>
        <p:nvSpPr>
          <p:cNvPr id="60" name="a4u_card59"/>
          <p:cNvSpPr/>
          <p:nvPr/>
        </p:nvSpPr>
        <p:spPr>
          <a:xfrm>
            <a:off x="4434840" y="2331720"/>
            <a:ext cx="4251960" cy="1005840"/>
          </a:xfrm>
          <a:prstGeom prst="roundRect">
            <a:avLst>
              <a:gd name="adj" fmla="val 10909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4u_acc60"/>
          <p:cNvSpPr/>
          <p:nvPr/>
        </p:nvSpPr>
        <p:spPr>
          <a:xfrm>
            <a:off x="4434840" y="2331720"/>
            <a:ext cx="50292" cy="10058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4u_rt61"/>
          <p:cNvSpPr txBox="1"/>
          <p:nvPr/>
        </p:nvSpPr>
        <p:spPr>
          <a:xfrm>
            <a:off x="4636008" y="2423160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No key: the sticky partitioner</a:t>
            </a:r>
          </a:p>
        </p:txBody>
      </p:sp>
      <p:sp>
        <p:nvSpPr>
          <p:cNvPr id="63" name="a4ud60_rd62"/>
          <p:cNvSpPr txBox="1"/>
          <p:nvPr/>
        </p:nvSpPr>
        <p:spPr>
          <a:xfrm>
            <a:off x="4636008" y="2679191"/>
            <a:ext cx="3886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Events fill a batch for one partition, then move on. Even spread over time, no ordering.</a:t>
            </a:r>
          </a:p>
        </p:txBody>
      </p:sp>
      <p:sp>
        <p:nvSpPr>
          <p:cNvPr id="64" name="a5u_card63"/>
          <p:cNvSpPr/>
          <p:nvPr/>
        </p:nvSpPr>
        <p:spPr>
          <a:xfrm>
            <a:off x="4434840" y="3447288"/>
            <a:ext cx="4251960" cy="1005840"/>
          </a:xfrm>
          <a:prstGeom prst="roundRect">
            <a:avLst>
              <a:gd name="adj" fmla="val 10909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5u_acc64"/>
          <p:cNvSpPr/>
          <p:nvPr/>
        </p:nvSpPr>
        <p:spPr>
          <a:xfrm>
            <a:off x="4434840" y="3447288"/>
            <a:ext cx="50292" cy="10058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5u_rt65"/>
          <p:cNvSpPr txBox="1"/>
          <p:nvPr/>
        </p:nvSpPr>
        <p:spPr>
          <a:xfrm>
            <a:off x="4636008" y="3538728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Partitioners must agree</a:t>
            </a:r>
          </a:p>
        </p:txBody>
      </p:sp>
      <p:sp>
        <p:nvSpPr>
          <p:cNvPr id="67" name="a5ud60_rd66"/>
          <p:cNvSpPr txBox="1"/>
          <p:nvPr/>
        </p:nvSpPr>
        <p:spPr>
          <a:xfrm>
            <a:off x="4636008" y="3794760"/>
            <a:ext cx="3886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Java hashes keys with murmur2; librdkafka (Python, .NET, Go) defaults to CRC32. Set partitioner=murmur2_random or one key lands in two partitions.</a:t>
            </a:r>
          </a:p>
        </p:txBody>
      </p:sp>
      <p:sp>
        <p:nvSpPr>
          <p:cNvPr id="68" name="ft6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38</a:t>
            </a:r>
          </a:p>
        </p:txBody>
      </p:sp>
      <p:sp>
        <p:nvSpPr>
          <p:cNvPr id="69" name="ft6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ft6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1" name="ft7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What a Consumer Does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A loop: ask for new events, do the work, record how far you got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2801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316736"/>
            <a:ext cx="1463039" cy="2651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subscribe</a:t>
            </a:r>
          </a:p>
        </p:txBody>
      </p:sp>
      <p:sp>
        <p:nvSpPr>
          <p:cNvPr id="13" name="a1u_nds12"/>
          <p:cNvSpPr txBox="1"/>
          <p:nvPr/>
        </p:nvSpPr>
        <p:spPr>
          <a:xfrm>
            <a:off x="502920" y="1591056"/>
            <a:ext cx="1463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EA580C"/>
                </a:solidFill>
                <a:latin typeface="Segoe UI"/>
              </a:rPr>
              <a:t>join group, get partitions</a:t>
            </a:r>
          </a:p>
        </p:txBody>
      </p:sp>
      <p:sp>
        <p:nvSpPr>
          <p:cNvPr id="14" name="a2u_nd13"/>
          <p:cNvSpPr/>
          <p:nvPr/>
        </p:nvSpPr>
        <p:spPr>
          <a:xfrm>
            <a:off x="457200" y="21488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ndt14"/>
          <p:cNvSpPr txBox="1"/>
          <p:nvPr/>
        </p:nvSpPr>
        <p:spPr>
          <a:xfrm>
            <a:off x="502920" y="2185416"/>
            <a:ext cx="1463039" cy="2651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poll</a:t>
            </a:r>
          </a:p>
        </p:txBody>
      </p:sp>
      <p:sp>
        <p:nvSpPr>
          <p:cNvPr id="16" name="a2u_nds15"/>
          <p:cNvSpPr txBox="1"/>
          <p:nvPr/>
        </p:nvSpPr>
        <p:spPr>
          <a:xfrm>
            <a:off x="502920" y="2459736"/>
            <a:ext cx="1463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0E7490"/>
                </a:solidFill>
                <a:latin typeface="Segoe UI"/>
              </a:rPr>
              <a:t>anything new for me?</a:t>
            </a:r>
          </a:p>
        </p:txBody>
      </p:sp>
      <p:sp>
        <p:nvSpPr>
          <p:cNvPr id="17" name="a2ud150_nd16"/>
          <p:cNvSpPr/>
          <p:nvPr/>
        </p:nvSpPr>
        <p:spPr>
          <a:xfrm>
            <a:off x="2331720" y="21488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150_ndt17"/>
          <p:cNvSpPr txBox="1"/>
          <p:nvPr/>
        </p:nvSpPr>
        <p:spPr>
          <a:xfrm>
            <a:off x="2377439" y="2185416"/>
            <a:ext cx="1463039" cy="2651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process</a:t>
            </a:r>
          </a:p>
        </p:txBody>
      </p:sp>
      <p:sp>
        <p:nvSpPr>
          <p:cNvPr id="19" name="a2ud150_nds18"/>
          <p:cNvSpPr txBox="1"/>
          <p:nvPr/>
        </p:nvSpPr>
        <p:spPr>
          <a:xfrm>
            <a:off x="2377439" y="2459736"/>
            <a:ext cx="1463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0E7490"/>
                </a:solidFill>
                <a:latin typeface="Segoe UI"/>
              </a:rPr>
              <a:t>send the SMS</a:t>
            </a:r>
          </a:p>
        </p:txBody>
      </p:sp>
      <p:sp>
        <p:nvSpPr>
          <p:cNvPr id="20" name="a2ud300_nd19"/>
          <p:cNvSpPr/>
          <p:nvPr/>
        </p:nvSpPr>
        <p:spPr>
          <a:xfrm>
            <a:off x="2331720" y="30632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00_ndt20"/>
          <p:cNvSpPr txBox="1"/>
          <p:nvPr/>
        </p:nvSpPr>
        <p:spPr>
          <a:xfrm>
            <a:off x="2377439" y="3099816"/>
            <a:ext cx="1463039" cy="2651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commit</a:t>
            </a:r>
          </a:p>
        </p:txBody>
      </p:sp>
      <p:sp>
        <p:nvSpPr>
          <p:cNvPr id="22" name="a2ud300_nds21"/>
          <p:cNvSpPr txBox="1"/>
          <p:nvPr/>
        </p:nvSpPr>
        <p:spPr>
          <a:xfrm>
            <a:off x="2377439" y="3374136"/>
            <a:ext cx="1463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A16207"/>
                </a:solidFill>
                <a:latin typeface="Segoe UI"/>
              </a:rPr>
              <a:t>save: done up to here</a:t>
            </a:r>
          </a:p>
        </p:txBody>
      </p:sp>
      <p:sp>
        <p:nvSpPr>
          <p:cNvPr id="23" name="a2ud450_nd22"/>
          <p:cNvSpPr/>
          <p:nvPr/>
        </p:nvSpPr>
        <p:spPr>
          <a:xfrm>
            <a:off x="457200" y="30632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F6F3"/>
          </a:solidFill>
          <a:ln w="15875">
            <a:solidFill>
              <a:srgbClr val="78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ud450_ndt23"/>
          <p:cNvSpPr txBox="1"/>
          <p:nvPr/>
        </p:nvSpPr>
        <p:spPr>
          <a:xfrm>
            <a:off x="502920" y="3099816"/>
            <a:ext cx="1463039" cy="2651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50" b="1">
                <a:solidFill>
                  <a:srgbClr val="1C1917"/>
                </a:solidFill>
                <a:latin typeface="Segoe UI"/>
              </a:rPr>
              <a:t>repeat</a:t>
            </a:r>
          </a:p>
        </p:txBody>
      </p:sp>
      <p:sp>
        <p:nvSpPr>
          <p:cNvPr id="25" name="a2ud450_nds24"/>
          <p:cNvSpPr txBox="1"/>
          <p:nvPr/>
        </p:nvSpPr>
        <p:spPr>
          <a:xfrm>
            <a:off x="502920" y="3374136"/>
            <a:ext cx="1463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Segoe UI"/>
              </a:rPr>
              <a:t>until Ctrl+C</a:t>
            </a:r>
          </a:p>
        </p:txBody>
      </p:sp>
      <p:cxnSp>
        <p:nvCxnSpPr>
          <p:cNvPr id="26" name="a2u_ar25"/>
          <p:cNvCxnSpPr/>
          <p:nvPr/>
        </p:nvCxnSpPr>
        <p:spPr>
          <a:xfrm>
            <a:off x="1234440" y="1865376"/>
            <a:ext cx="0" cy="265176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2ud150_ar26"/>
          <p:cNvCxnSpPr/>
          <p:nvPr/>
        </p:nvCxnSpPr>
        <p:spPr>
          <a:xfrm>
            <a:off x="2029968" y="2432304"/>
            <a:ext cx="283464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2ud300_ar27"/>
          <p:cNvCxnSpPr/>
          <p:nvPr/>
        </p:nvCxnSpPr>
        <p:spPr>
          <a:xfrm>
            <a:off x="3108960" y="2734056"/>
            <a:ext cx="0" cy="310896"/>
          </a:xfrm>
          <a:prstGeom prst="line">
            <a:avLst/>
          </a:prstGeom>
          <a:ln w="1905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2ud450_ar28"/>
          <p:cNvCxnSpPr/>
          <p:nvPr/>
        </p:nvCxnSpPr>
        <p:spPr>
          <a:xfrm flipH="1">
            <a:off x="2029968" y="3346704"/>
            <a:ext cx="283464" cy="0"/>
          </a:xfrm>
          <a:prstGeom prst="line">
            <a:avLst/>
          </a:prstGeom>
          <a:ln w="19050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2ud450_ar29"/>
          <p:cNvCxnSpPr/>
          <p:nvPr/>
        </p:nvCxnSpPr>
        <p:spPr>
          <a:xfrm flipV="1">
            <a:off x="1234440" y="2734056"/>
            <a:ext cx="0" cy="310896"/>
          </a:xfrm>
          <a:prstGeom prst="line">
            <a:avLst/>
          </a:prstGeom>
          <a:ln w="19050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3f_codebg30"/>
          <p:cNvSpPr/>
          <p:nvPr/>
        </p:nvSpPr>
        <p:spPr>
          <a:xfrm>
            <a:off x="4069080" y="1216152"/>
            <a:ext cx="4617720" cy="2505456"/>
          </a:xfrm>
          <a:prstGeom prst="roundRect">
            <a:avLst>
              <a:gd name="adj" fmla="val 2919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codeh31"/>
          <p:cNvSpPr txBox="1"/>
          <p:nvPr/>
        </p:nvSpPr>
        <p:spPr>
          <a:xfrm>
            <a:off x="4197096" y="1271016"/>
            <a:ext cx="43616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consumer.py (trimmed)</a:t>
            </a:r>
          </a:p>
        </p:txBody>
      </p:sp>
      <p:sp>
        <p:nvSpPr>
          <p:cNvPr id="33" name="a3f_codesep32"/>
          <p:cNvSpPr/>
          <p:nvPr/>
        </p:nvSpPr>
        <p:spPr>
          <a:xfrm>
            <a:off x="4197096" y="1545336"/>
            <a:ext cx="4361688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w_code33"/>
          <p:cNvSpPr txBox="1"/>
          <p:nvPr/>
        </p:nvSpPr>
        <p:spPr>
          <a:xfrm>
            <a:off x="4197096" y="1618488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consumer = Consumer({</a:t>
            </a:r>
          </a:p>
        </p:txBody>
      </p:sp>
      <p:sp>
        <p:nvSpPr>
          <p:cNvPr id="35" name="a3wd60_code34"/>
          <p:cNvSpPr txBox="1"/>
          <p:nvPr/>
        </p:nvSpPr>
        <p:spPr>
          <a:xfrm>
            <a:off x="4197096" y="1783080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"bootstrap.servers": "localhost:9092",</a:t>
            </a:r>
          </a:p>
        </p:txBody>
      </p:sp>
      <p:sp>
        <p:nvSpPr>
          <p:cNvPr id="36" name="a3wd120_code35"/>
          <p:cNvSpPr txBox="1"/>
          <p:nvPr/>
        </p:nvSpPr>
        <p:spPr>
          <a:xfrm>
            <a:off x="4197096" y="1947672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"group.id": "sms-notifier",       # the group owns the position</a:t>
            </a:r>
          </a:p>
        </p:txBody>
      </p:sp>
      <p:sp>
        <p:nvSpPr>
          <p:cNvPr id="37" name="a3wd180_code36"/>
          <p:cNvSpPr txBox="1"/>
          <p:nvPr/>
        </p:nvSpPr>
        <p:spPr>
          <a:xfrm>
            <a:off x="4197096" y="2112264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"auto.offset.reset": "earliest",  # new group: start at oldest</a:t>
            </a:r>
          </a:p>
        </p:txBody>
      </p:sp>
      <p:sp>
        <p:nvSpPr>
          <p:cNvPr id="38" name="a3wd240_code37"/>
          <p:cNvSpPr txBox="1"/>
          <p:nvPr/>
        </p:nvSpPr>
        <p:spPr>
          <a:xfrm>
            <a:off x="4197096" y="2276856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"enable.auto.commit": False,      # commit after the work</a:t>
            </a:r>
          </a:p>
        </p:txBody>
      </p:sp>
      <p:sp>
        <p:nvSpPr>
          <p:cNvPr id="39" name="a3wd300_code38"/>
          <p:cNvSpPr txBox="1"/>
          <p:nvPr/>
        </p:nvSpPr>
        <p:spPr>
          <a:xfrm>
            <a:off x="4197096" y="2441448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})</a:t>
            </a:r>
          </a:p>
        </p:txBody>
      </p:sp>
      <p:sp>
        <p:nvSpPr>
          <p:cNvPr id="40" name="a3wd360_code39"/>
          <p:cNvSpPr txBox="1"/>
          <p:nvPr/>
        </p:nvSpPr>
        <p:spPr>
          <a:xfrm>
            <a:off x="4197096" y="2606040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consumer.subscribe(["bank.txn.completed"])</a:t>
            </a:r>
          </a:p>
        </p:txBody>
      </p:sp>
      <p:sp>
        <p:nvSpPr>
          <p:cNvPr id="41" name="a3wd420_code40"/>
          <p:cNvSpPr txBox="1"/>
          <p:nvPr/>
        </p:nvSpPr>
        <p:spPr>
          <a:xfrm>
            <a:off x="4197096" y="2770632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while True:</a:t>
            </a:r>
          </a:p>
        </p:txBody>
      </p:sp>
      <p:sp>
        <p:nvSpPr>
          <p:cNvPr id="42" name="a3wd480_code41"/>
          <p:cNvSpPr txBox="1"/>
          <p:nvPr/>
        </p:nvSpPr>
        <p:spPr>
          <a:xfrm>
            <a:off x="4197096" y="2935224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msg = consumer.poll(1.0)          # wait up to 1 s</a:t>
            </a:r>
          </a:p>
        </p:txBody>
      </p:sp>
      <p:sp>
        <p:nvSpPr>
          <p:cNvPr id="43" name="a3wd540_code42"/>
          <p:cNvSpPr txBox="1"/>
          <p:nvPr/>
        </p:nvSpPr>
        <p:spPr>
          <a:xfrm>
            <a:off x="4197096" y="3099815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if msg is None: continue</a:t>
            </a:r>
          </a:p>
        </p:txBody>
      </p:sp>
      <p:sp>
        <p:nvSpPr>
          <p:cNvPr id="44" name="a3wd600_code43"/>
          <p:cNvSpPr txBox="1"/>
          <p:nvPr/>
        </p:nvSpPr>
        <p:spPr>
          <a:xfrm>
            <a:off x="4197096" y="3264408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    send_sms(json.loads(msg.value()))</a:t>
            </a:r>
          </a:p>
        </p:txBody>
      </p:sp>
      <p:sp>
        <p:nvSpPr>
          <p:cNvPr id="45" name="a3wd660_code44"/>
          <p:cNvSpPr txBox="1"/>
          <p:nvPr/>
        </p:nvSpPr>
        <p:spPr>
          <a:xfrm>
            <a:off x="4197096" y="3429000"/>
            <a:ext cx="43616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6EFAC"/>
                </a:solidFill>
                <a:latin typeface="Consolas"/>
              </a:rPr>
              <a:t>    consumer.commit(message=msg, asynchronous=False)</a:t>
            </a:r>
          </a:p>
        </p:txBody>
      </p:sp>
      <p:sp>
        <p:nvSpPr>
          <p:cNvPr id="46" name="a4u_nb45"/>
          <p:cNvSpPr/>
          <p:nvPr/>
        </p:nvSpPr>
        <p:spPr>
          <a:xfrm>
            <a:off x="457200" y="391363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4u_nacc46"/>
          <p:cNvSpPr/>
          <p:nvPr/>
        </p:nvSpPr>
        <p:spPr>
          <a:xfrm>
            <a:off x="457200" y="3913632"/>
            <a:ext cx="54864" cy="60350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4u_nt47"/>
          <p:cNvSpPr txBox="1"/>
          <p:nvPr/>
        </p:nvSpPr>
        <p:spPr>
          <a:xfrm>
            <a:off x="658368" y="3913632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Commit AFTER the work: if the reader crashes mid-way it re-reads the last few events - at-least-once, never lost. That is why readers must tolerate duplicates (event_id).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39</a:t>
            </a:r>
          </a:p>
        </p:txBody>
      </p:sp>
      <p:sp>
        <p:nvSpPr>
          <p:cNvPr id="50" name="ft49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ft50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Consumer Groups: Share Within, Broadcast Across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Measured in Lab 5 - group fraud-engine has two members, sms-notifier has one</a:t>
            </a:r>
          </a:p>
        </p:txBody>
      </p:sp>
      <p:sp>
        <p:nvSpPr>
          <p:cNvPr id="11" name="a1u_lb10"/>
          <p:cNvSpPr txBox="1"/>
          <p:nvPr/>
        </p:nvSpPr>
        <p:spPr>
          <a:xfrm>
            <a:off x="457200" y="118872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44403C"/>
                </a:solidFill>
                <a:latin typeface="Consolas"/>
              </a:rPr>
              <a:t>topic bank.txn.completed</a:t>
            </a:r>
          </a:p>
        </p:txBody>
      </p:sp>
      <p:sp>
        <p:nvSpPr>
          <p:cNvPr id="12" name="a1u_pl11"/>
          <p:cNvSpPr txBox="1"/>
          <p:nvPr/>
        </p:nvSpPr>
        <p:spPr>
          <a:xfrm>
            <a:off x="457200" y="1481328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2410C"/>
                </a:solidFill>
                <a:latin typeface="Consolas"/>
              </a:rPr>
              <a:t>P0</a:t>
            </a:r>
          </a:p>
        </p:txBody>
      </p:sp>
      <p:sp>
        <p:nvSpPr>
          <p:cNvPr id="13" name="a1w_cell12"/>
          <p:cNvSpPr/>
          <p:nvPr/>
        </p:nvSpPr>
        <p:spPr>
          <a:xfrm>
            <a:off x="841248" y="1481328"/>
            <a:ext cx="329184" cy="310896"/>
          </a:xfrm>
          <a:prstGeom prst="rect">
            <a:avLst/>
          </a:prstGeom>
          <a:solidFill>
            <a:srgbClr val="FFEDD5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_cellt13"/>
          <p:cNvSpPr txBox="1"/>
          <p:nvPr/>
        </p:nvSpPr>
        <p:spPr>
          <a:xfrm>
            <a:off x="841248" y="14813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</a:t>
            </a:r>
          </a:p>
        </p:txBody>
      </p:sp>
      <p:sp>
        <p:nvSpPr>
          <p:cNvPr id="15" name="a1wd25_cell14"/>
          <p:cNvSpPr/>
          <p:nvPr/>
        </p:nvSpPr>
        <p:spPr>
          <a:xfrm>
            <a:off x="1170432" y="1481328"/>
            <a:ext cx="329184" cy="310896"/>
          </a:xfrm>
          <a:prstGeom prst="rect">
            <a:avLst/>
          </a:prstGeom>
          <a:solidFill>
            <a:srgbClr val="FFEDD5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5_cellt15"/>
          <p:cNvSpPr txBox="1"/>
          <p:nvPr/>
        </p:nvSpPr>
        <p:spPr>
          <a:xfrm>
            <a:off x="1170432" y="14813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17" name="a1wd50_cell16"/>
          <p:cNvSpPr/>
          <p:nvPr/>
        </p:nvSpPr>
        <p:spPr>
          <a:xfrm>
            <a:off x="1499616" y="1481328"/>
            <a:ext cx="329184" cy="310896"/>
          </a:xfrm>
          <a:prstGeom prst="rect">
            <a:avLst/>
          </a:prstGeom>
          <a:solidFill>
            <a:srgbClr val="FFEDD5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50_cellt17"/>
          <p:cNvSpPr txBox="1"/>
          <p:nvPr/>
        </p:nvSpPr>
        <p:spPr>
          <a:xfrm>
            <a:off x="1499616" y="14813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19" name="a1wd75_cell18"/>
          <p:cNvSpPr/>
          <p:nvPr/>
        </p:nvSpPr>
        <p:spPr>
          <a:xfrm>
            <a:off x="1828800" y="1481328"/>
            <a:ext cx="329184" cy="310896"/>
          </a:xfrm>
          <a:prstGeom prst="rect">
            <a:avLst/>
          </a:prstGeom>
          <a:solidFill>
            <a:srgbClr val="FFEDD5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75_cellt19"/>
          <p:cNvSpPr txBox="1"/>
          <p:nvPr/>
        </p:nvSpPr>
        <p:spPr>
          <a:xfrm>
            <a:off x="1828800" y="14813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21" name="a1wd100_cell20"/>
          <p:cNvSpPr/>
          <p:nvPr/>
        </p:nvSpPr>
        <p:spPr>
          <a:xfrm>
            <a:off x="2157984" y="1481328"/>
            <a:ext cx="329184" cy="310896"/>
          </a:xfrm>
          <a:prstGeom prst="rect">
            <a:avLst/>
          </a:prstGeom>
          <a:solidFill>
            <a:srgbClr val="FFEDD5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00_cellt21"/>
          <p:cNvSpPr txBox="1"/>
          <p:nvPr/>
        </p:nvSpPr>
        <p:spPr>
          <a:xfrm>
            <a:off x="2157984" y="14813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sp>
        <p:nvSpPr>
          <p:cNvPr id="23" name="a1wd125_cell22"/>
          <p:cNvSpPr/>
          <p:nvPr/>
        </p:nvSpPr>
        <p:spPr>
          <a:xfrm>
            <a:off x="2487168" y="1481328"/>
            <a:ext cx="329184" cy="310896"/>
          </a:xfrm>
          <a:prstGeom prst="rect">
            <a:avLst/>
          </a:prstGeom>
          <a:solidFill>
            <a:srgbClr val="FFEDD5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125_cellt23"/>
          <p:cNvSpPr txBox="1"/>
          <p:nvPr/>
        </p:nvSpPr>
        <p:spPr>
          <a:xfrm>
            <a:off x="2487168" y="14813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5</a:t>
            </a:r>
          </a:p>
        </p:txBody>
      </p:sp>
      <p:sp>
        <p:nvSpPr>
          <p:cNvPr id="25" name="a1ud100_pl24"/>
          <p:cNvSpPr txBox="1"/>
          <p:nvPr/>
        </p:nvSpPr>
        <p:spPr>
          <a:xfrm>
            <a:off x="457200" y="204825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Consolas"/>
              </a:rPr>
              <a:t>P1</a:t>
            </a:r>
          </a:p>
        </p:txBody>
      </p:sp>
      <p:sp>
        <p:nvSpPr>
          <p:cNvPr id="26" name="a1wd100_cell25"/>
          <p:cNvSpPr/>
          <p:nvPr/>
        </p:nvSpPr>
        <p:spPr>
          <a:xfrm>
            <a:off x="841248" y="2048256"/>
            <a:ext cx="329184" cy="310896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00_cellt26"/>
          <p:cNvSpPr txBox="1"/>
          <p:nvPr/>
        </p:nvSpPr>
        <p:spPr>
          <a:xfrm>
            <a:off x="841248" y="20482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0</a:t>
            </a:r>
          </a:p>
        </p:txBody>
      </p:sp>
      <p:sp>
        <p:nvSpPr>
          <p:cNvPr id="28" name="a1wd125_cell27"/>
          <p:cNvSpPr/>
          <p:nvPr/>
        </p:nvSpPr>
        <p:spPr>
          <a:xfrm>
            <a:off x="1170432" y="2048256"/>
            <a:ext cx="329184" cy="310896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125_cellt28"/>
          <p:cNvSpPr txBox="1"/>
          <p:nvPr/>
        </p:nvSpPr>
        <p:spPr>
          <a:xfrm>
            <a:off x="1170432" y="20482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1</a:t>
            </a:r>
          </a:p>
        </p:txBody>
      </p:sp>
      <p:sp>
        <p:nvSpPr>
          <p:cNvPr id="30" name="a1wd150_cell29"/>
          <p:cNvSpPr/>
          <p:nvPr/>
        </p:nvSpPr>
        <p:spPr>
          <a:xfrm>
            <a:off x="1499616" y="2048256"/>
            <a:ext cx="329184" cy="310896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50_cellt30"/>
          <p:cNvSpPr txBox="1"/>
          <p:nvPr/>
        </p:nvSpPr>
        <p:spPr>
          <a:xfrm>
            <a:off x="1499616" y="20482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2</a:t>
            </a:r>
          </a:p>
        </p:txBody>
      </p:sp>
      <p:sp>
        <p:nvSpPr>
          <p:cNvPr id="32" name="a1wd175_cell31"/>
          <p:cNvSpPr/>
          <p:nvPr/>
        </p:nvSpPr>
        <p:spPr>
          <a:xfrm>
            <a:off x="1828800" y="2048256"/>
            <a:ext cx="329184" cy="310896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75_cellt32"/>
          <p:cNvSpPr txBox="1"/>
          <p:nvPr/>
        </p:nvSpPr>
        <p:spPr>
          <a:xfrm>
            <a:off x="1828800" y="20482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3</a:t>
            </a:r>
          </a:p>
        </p:txBody>
      </p:sp>
      <p:sp>
        <p:nvSpPr>
          <p:cNvPr id="34" name="a1wd200_cell33"/>
          <p:cNvSpPr/>
          <p:nvPr/>
        </p:nvSpPr>
        <p:spPr>
          <a:xfrm>
            <a:off x="2157984" y="2048256"/>
            <a:ext cx="329184" cy="310896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200_cellt34"/>
          <p:cNvSpPr txBox="1"/>
          <p:nvPr/>
        </p:nvSpPr>
        <p:spPr>
          <a:xfrm>
            <a:off x="2157984" y="20482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4</a:t>
            </a:r>
          </a:p>
        </p:txBody>
      </p:sp>
      <p:sp>
        <p:nvSpPr>
          <p:cNvPr id="36" name="a1wd225_cell35"/>
          <p:cNvSpPr/>
          <p:nvPr/>
        </p:nvSpPr>
        <p:spPr>
          <a:xfrm>
            <a:off x="2487168" y="2048256"/>
            <a:ext cx="329184" cy="310896"/>
          </a:xfrm>
          <a:prstGeom prst="rect">
            <a:avLst/>
          </a:prstGeom>
          <a:solidFill>
            <a:srgbClr val="D9F2F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25_cellt36"/>
          <p:cNvSpPr txBox="1"/>
          <p:nvPr/>
        </p:nvSpPr>
        <p:spPr>
          <a:xfrm>
            <a:off x="2487168" y="20482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onsolas"/>
              </a:rPr>
              <a:t>5</a:t>
            </a:r>
          </a:p>
        </p:txBody>
      </p:sp>
      <p:sp>
        <p:nvSpPr>
          <p:cNvPr id="38" name="a1ud200_pl37"/>
          <p:cNvSpPr txBox="1"/>
          <p:nvPr/>
        </p:nvSpPr>
        <p:spPr>
          <a:xfrm>
            <a:off x="457200" y="2615184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Consolas"/>
              </a:rPr>
              <a:t>P2</a:t>
            </a:r>
          </a:p>
        </p:txBody>
      </p:sp>
      <p:sp>
        <p:nvSpPr>
          <p:cNvPr id="39" name="a1wd200_cell38"/>
          <p:cNvSpPr/>
          <p:nvPr/>
        </p:nvSpPr>
        <p:spPr>
          <a:xfrm>
            <a:off x="841248" y="2615184"/>
            <a:ext cx="329184" cy="310896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00_cellt39"/>
          <p:cNvSpPr txBox="1"/>
          <p:nvPr/>
        </p:nvSpPr>
        <p:spPr>
          <a:xfrm>
            <a:off x="841248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0</a:t>
            </a:r>
          </a:p>
        </p:txBody>
      </p:sp>
      <p:sp>
        <p:nvSpPr>
          <p:cNvPr id="41" name="a1wd225_cell40"/>
          <p:cNvSpPr/>
          <p:nvPr/>
        </p:nvSpPr>
        <p:spPr>
          <a:xfrm>
            <a:off x="1170432" y="2615184"/>
            <a:ext cx="329184" cy="310896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225_cellt41"/>
          <p:cNvSpPr txBox="1"/>
          <p:nvPr/>
        </p:nvSpPr>
        <p:spPr>
          <a:xfrm>
            <a:off x="1170432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1</a:t>
            </a:r>
          </a:p>
        </p:txBody>
      </p:sp>
      <p:sp>
        <p:nvSpPr>
          <p:cNvPr id="43" name="a1wd250_cell42"/>
          <p:cNvSpPr/>
          <p:nvPr/>
        </p:nvSpPr>
        <p:spPr>
          <a:xfrm>
            <a:off x="1499616" y="2615184"/>
            <a:ext cx="329184" cy="310896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250_cellt43"/>
          <p:cNvSpPr txBox="1"/>
          <p:nvPr/>
        </p:nvSpPr>
        <p:spPr>
          <a:xfrm>
            <a:off x="1499616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2</a:t>
            </a:r>
          </a:p>
        </p:txBody>
      </p:sp>
      <p:sp>
        <p:nvSpPr>
          <p:cNvPr id="45" name="a1wd275_cell44"/>
          <p:cNvSpPr/>
          <p:nvPr/>
        </p:nvSpPr>
        <p:spPr>
          <a:xfrm>
            <a:off x="1828800" y="2615184"/>
            <a:ext cx="329184" cy="310896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275_cellt45"/>
          <p:cNvSpPr txBox="1"/>
          <p:nvPr/>
        </p:nvSpPr>
        <p:spPr>
          <a:xfrm>
            <a:off x="1828800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3</a:t>
            </a:r>
          </a:p>
        </p:txBody>
      </p:sp>
      <p:sp>
        <p:nvSpPr>
          <p:cNvPr id="47" name="a1wd300_cell46"/>
          <p:cNvSpPr/>
          <p:nvPr/>
        </p:nvSpPr>
        <p:spPr>
          <a:xfrm>
            <a:off x="2157984" y="2615184"/>
            <a:ext cx="329184" cy="310896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300_cellt47"/>
          <p:cNvSpPr txBox="1"/>
          <p:nvPr/>
        </p:nvSpPr>
        <p:spPr>
          <a:xfrm>
            <a:off x="2157984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4</a:t>
            </a:r>
          </a:p>
        </p:txBody>
      </p:sp>
      <p:sp>
        <p:nvSpPr>
          <p:cNvPr id="49" name="a1wd325_cell48"/>
          <p:cNvSpPr/>
          <p:nvPr/>
        </p:nvSpPr>
        <p:spPr>
          <a:xfrm>
            <a:off x="2487168" y="2615184"/>
            <a:ext cx="329184" cy="310896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325_cellt49"/>
          <p:cNvSpPr txBox="1"/>
          <p:nvPr/>
        </p:nvSpPr>
        <p:spPr>
          <a:xfrm>
            <a:off x="2487168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16207"/>
                </a:solidFill>
                <a:latin typeface="Consolas"/>
              </a:rPr>
              <a:t>5</a:t>
            </a:r>
          </a:p>
        </p:txBody>
      </p:sp>
      <p:sp>
        <p:nvSpPr>
          <p:cNvPr id="51" name="a2u_grp50"/>
          <p:cNvSpPr/>
          <p:nvPr/>
        </p:nvSpPr>
        <p:spPr>
          <a:xfrm>
            <a:off x="3246120" y="1216152"/>
            <a:ext cx="5440680" cy="1417320"/>
          </a:xfrm>
          <a:prstGeom prst="roundRect">
            <a:avLst>
              <a:gd name="adj" fmla="val 6451"/>
            </a:avLst>
          </a:prstGeom>
          <a:solidFill>
            <a:srgbClr val="FFEDD5"/>
          </a:solidFill>
          <a:ln w="12700">
            <a:solidFill>
              <a:srgbClr val="FB92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u_gn51"/>
          <p:cNvSpPr txBox="1"/>
          <p:nvPr/>
        </p:nvSpPr>
        <p:spPr>
          <a:xfrm>
            <a:off x="3401568" y="1280160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Segoe UI"/>
              </a:rPr>
              <a:t>group fraud-engine  ·  two members SHARE the partitions</a:t>
            </a:r>
          </a:p>
        </p:txBody>
      </p:sp>
      <p:sp>
        <p:nvSpPr>
          <p:cNvPr id="53" name="a2ud100_card52"/>
          <p:cNvSpPr/>
          <p:nvPr/>
        </p:nvSpPr>
        <p:spPr>
          <a:xfrm>
            <a:off x="3401568" y="1764792"/>
            <a:ext cx="2468880" cy="713232"/>
          </a:xfrm>
          <a:prstGeom prst="roundRect">
            <a:avLst>
              <a:gd name="adj" fmla="val 15384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ud100_mn53"/>
          <p:cNvSpPr txBox="1"/>
          <p:nvPr/>
        </p:nvSpPr>
        <p:spPr>
          <a:xfrm>
            <a:off x="3529584" y="1837943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Consolas"/>
              </a:rPr>
              <a:t>fraud-engine/A</a:t>
            </a:r>
          </a:p>
        </p:txBody>
      </p:sp>
      <p:sp>
        <p:nvSpPr>
          <p:cNvPr id="55" name="a2ud180_pill54"/>
          <p:cNvSpPr/>
          <p:nvPr/>
        </p:nvSpPr>
        <p:spPr>
          <a:xfrm>
            <a:off x="3529584" y="2148840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C2410C"/>
                </a:solidFill>
                <a:latin typeface="Consolas"/>
              </a:rPr>
              <a:t>P0</a:t>
            </a:r>
          </a:p>
        </p:txBody>
      </p:sp>
      <p:sp>
        <p:nvSpPr>
          <p:cNvPr id="56" name="a2ud180_pill55"/>
          <p:cNvSpPr/>
          <p:nvPr/>
        </p:nvSpPr>
        <p:spPr>
          <a:xfrm>
            <a:off x="4096512" y="2148840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D9F2F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0E7490"/>
                </a:solidFill>
                <a:latin typeface="Consolas"/>
              </a:rPr>
              <a:t>P1</a:t>
            </a:r>
          </a:p>
        </p:txBody>
      </p:sp>
      <p:sp>
        <p:nvSpPr>
          <p:cNvPr id="57" name="a2ud200_card56"/>
          <p:cNvSpPr/>
          <p:nvPr/>
        </p:nvSpPr>
        <p:spPr>
          <a:xfrm>
            <a:off x="6053328" y="1764792"/>
            <a:ext cx="2468880" cy="713232"/>
          </a:xfrm>
          <a:prstGeom prst="roundRect">
            <a:avLst>
              <a:gd name="adj" fmla="val 15384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2ud200_mn57"/>
          <p:cNvSpPr txBox="1"/>
          <p:nvPr/>
        </p:nvSpPr>
        <p:spPr>
          <a:xfrm>
            <a:off x="6181344" y="1837943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Consolas"/>
              </a:rPr>
              <a:t>fraud-engine/B</a:t>
            </a:r>
          </a:p>
        </p:txBody>
      </p:sp>
      <p:sp>
        <p:nvSpPr>
          <p:cNvPr id="59" name="a2ud280_pill58"/>
          <p:cNvSpPr/>
          <p:nvPr/>
        </p:nvSpPr>
        <p:spPr>
          <a:xfrm>
            <a:off x="6181344" y="2148840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A16207"/>
                </a:solidFill>
                <a:latin typeface="Consolas"/>
              </a:rPr>
              <a:t>P2</a:t>
            </a:r>
          </a:p>
        </p:txBody>
      </p:sp>
      <p:sp>
        <p:nvSpPr>
          <p:cNvPr id="60" name="a3u_grp59"/>
          <p:cNvSpPr/>
          <p:nvPr/>
        </p:nvSpPr>
        <p:spPr>
          <a:xfrm>
            <a:off x="3246120" y="2788920"/>
            <a:ext cx="5440680" cy="1115568"/>
          </a:xfrm>
          <a:prstGeom prst="roundRect">
            <a:avLst>
              <a:gd name="adj" fmla="val 8196"/>
            </a:avLst>
          </a:prstGeom>
          <a:solidFill>
            <a:srgbClr val="D9F2F7"/>
          </a:solidFill>
          <a:ln w="12700">
            <a:solidFill>
              <a:srgbClr val="22D3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3u_gn60"/>
          <p:cNvSpPr txBox="1"/>
          <p:nvPr/>
        </p:nvSpPr>
        <p:spPr>
          <a:xfrm>
            <a:off x="3401568" y="2852928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group sms-notifier  ·  one member reads EVERYTHING</a:t>
            </a:r>
          </a:p>
        </p:txBody>
      </p:sp>
      <p:sp>
        <p:nvSpPr>
          <p:cNvPr id="62" name="a3ud100_card61"/>
          <p:cNvSpPr/>
          <p:nvPr/>
        </p:nvSpPr>
        <p:spPr>
          <a:xfrm>
            <a:off x="3401568" y="3108960"/>
            <a:ext cx="5120640" cy="713232"/>
          </a:xfrm>
          <a:prstGeom prst="roundRect">
            <a:avLst>
              <a:gd name="adj" fmla="val 15384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3ud100_mn62"/>
          <p:cNvSpPr txBox="1"/>
          <p:nvPr/>
        </p:nvSpPr>
        <p:spPr>
          <a:xfrm>
            <a:off x="3529584" y="3182112"/>
            <a:ext cx="48646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Consolas"/>
              </a:rPr>
              <a:t>sms-notifier/1</a:t>
            </a:r>
          </a:p>
        </p:txBody>
      </p:sp>
      <p:sp>
        <p:nvSpPr>
          <p:cNvPr id="64" name="a3ud180_pill63"/>
          <p:cNvSpPr/>
          <p:nvPr/>
        </p:nvSpPr>
        <p:spPr>
          <a:xfrm>
            <a:off x="3529584" y="3493008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C2410C"/>
                </a:solidFill>
                <a:latin typeface="Consolas"/>
              </a:rPr>
              <a:t>P0</a:t>
            </a:r>
          </a:p>
        </p:txBody>
      </p:sp>
      <p:sp>
        <p:nvSpPr>
          <p:cNvPr id="65" name="a3ud180_pill64"/>
          <p:cNvSpPr/>
          <p:nvPr/>
        </p:nvSpPr>
        <p:spPr>
          <a:xfrm>
            <a:off x="4096512" y="3493008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D9F2F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0E7490"/>
                </a:solidFill>
                <a:latin typeface="Consolas"/>
              </a:rPr>
              <a:t>P1</a:t>
            </a:r>
          </a:p>
        </p:txBody>
      </p:sp>
      <p:sp>
        <p:nvSpPr>
          <p:cNvPr id="66" name="a3ud180_pill65"/>
          <p:cNvSpPr/>
          <p:nvPr/>
        </p:nvSpPr>
        <p:spPr>
          <a:xfrm>
            <a:off x="4663440" y="3493008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A16207"/>
                </a:solidFill>
                <a:latin typeface="Consolas"/>
              </a:rPr>
              <a:t>P2</a:t>
            </a:r>
          </a:p>
        </p:txBody>
      </p:sp>
      <p:sp>
        <p:nvSpPr>
          <p:cNvPr id="67" name="a4u_dot66"/>
          <p:cNvSpPr/>
          <p:nvPr/>
        </p:nvSpPr>
        <p:spPr>
          <a:xfrm>
            <a:off x="457200" y="31866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4u_b67"/>
          <p:cNvSpPr txBox="1"/>
          <p:nvPr/>
        </p:nvSpPr>
        <p:spPr>
          <a:xfrm>
            <a:off x="676656" y="3090672"/>
            <a:ext cx="24323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Each partition: one member per group</a:t>
            </a:r>
          </a:p>
        </p:txBody>
      </p:sp>
      <p:sp>
        <p:nvSpPr>
          <p:cNvPr id="69" name="a4ud110_dot68"/>
          <p:cNvSpPr/>
          <p:nvPr/>
        </p:nvSpPr>
        <p:spPr>
          <a:xfrm>
            <a:off x="457200" y="34884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4ud110_b69"/>
          <p:cNvSpPr txBox="1"/>
          <p:nvPr/>
        </p:nvSpPr>
        <p:spPr>
          <a:xfrm>
            <a:off x="676656" y="3392424"/>
            <a:ext cx="24323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Extra members sit idle</a:t>
            </a:r>
          </a:p>
        </p:txBody>
      </p:sp>
      <p:sp>
        <p:nvSpPr>
          <p:cNvPr id="71" name="a4ud220_dot70"/>
          <p:cNvSpPr/>
          <p:nvPr/>
        </p:nvSpPr>
        <p:spPr>
          <a:xfrm>
            <a:off x="457200" y="3790187"/>
            <a:ext cx="91440" cy="9144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4ud220_b71"/>
          <p:cNvSpPr txBox="1"/>
          <p:nvPr/>
        </p:nvSpPr>
        <p:spPr>
          <a:xfrm>
            <a:off x="676656" y="3694176"/>
            <a:ext cx="24323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Every group gets every event</a:t>
            </a:r>
          </a:p>
        </p:txBody>
      </p:sp>
      <p:sp>
        <p:nvSpPr>
          <p:cNvPr id="73" name="a5u_nb72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5u_nacc73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5u_nt74"/>
          <p:cNvSpPr txBox="1"/>
          <p:nvPr/>
        </p:nvSpPr>
        <p:spPr>
          <a:xfrm>
            <a:off x="658368" y="4069080"/>
            <a:ext cx="7827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KEY  </a:t>
            </a:r>
            <a:r>
              <a:rPr sz="900" b="0">
                <a:solidFill>
                  <a:srgbClr val="44403C"/>
                </a:solidFill>
                <a:latin typeface="Segoe UI"/>
              </a:rPr>
              <a:t>Inside a group Kafka behaves like a queue; across groups, like publish-subscribe. One mechanism gives you both models.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40</a:t>
            </a:r>
          </a:p>
        </p:txBody>
      </p:sp>
      <p:sp>
        <p:nvSpPr>
          <p:cNvPr id="77" name="ft76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ft77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9" name="ft7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Offsets, Commits and Lag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Kafka stores, per group and per partition, where each group has got to</a:t>
            </a:r>
          </a:p>
        </p:txBody>
      </p:sp>
      <p:sp>
        <p:nvSpPr>
          <p:cNvPr id="11" name="a1u_lb10"/>
          <p:cNvSpPr txBox="1"/>
          <p:nvPr/>
        </p:nvSpPr>
        <p:spPr>
          <a:xfrm>
            <a:off x="457200" y="121615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403C"/>
                </a:solidFill>
                <a:latin typeface="Segoe UI"/>
              </a:rPr>
              <a:t>partition 0 of bank.txn.completed, as seen by group sms-notifier</a:t>
            </a:r>
          </a:p>
        </p:txBody>
      </p:sp>
      <p:sp>
        <p:nvSpPr>
          <p:cNvPr id="12" name="a1w_cell11"/>
          <p:cNvSpPr/>
          <p:nvPr/>
        </p:nvSpPr>
        <p:spPr>
          <a:xfrm>
            <a:off x="731520" y="1783080"/>
            <a:ext cx="502920" cy="365760"/>
          </a:xfrm>
          <a:prstGeom prst="rect">
            <a:avLst/>
          </a:prstGeom>
          <a:solidFill>
            <a:srgbClr val="D9F2F7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ellt12"/>
          <p:cNvSpPr txBox="1"/>
          <p:nvPr/>
        </p:nvSpPr>
        <p:spPr>
          <a:xfrm>
            <a:off x="73152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E7490"/>
                </a:solidFill>
                <a:latin typeface="Consolas"/>
              </a:rPr>
              <a:t>0</a:t>
            </a:r>
          </a:p>
        </p:txBody>
      </p:sp>
      <p:sp>
        <p:nvSpPr>
          <p:cNvPr id="14" name="a1wd40_cell13"/>
          <p:cNvSpPr/>
          <p:nvPr/>
        </p:nvSpPr>
        <p:spPr>
          <a:xfrm>
            <a:off x="1234440" y="1783080"/>
            <a:ext cx="502920" cy="365760"/>
          </a:xfrm>
          <a:prstGeom prst="rect">
            <a:avLst/>
          </a:prstGeom>
          <a:solidFill>
            <a:srgbClr val="D9F2F7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0_cellt14"/>
          <p:cNvSpPr txBox="1"/>
          <p:nvPr/>
        </p:nvSpPr>
        <p:spPr>
          <a:xfrm>
            <a:off x="123444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E7490"/>
                </a:solidFill>
                <a:latin typeface="Consolas"/>
              </a:rPr>
              <a:t>1</a:t>
            </a:r>
          </a:p>
        </p:txBody>
      </p:sp>
      <p:sp>
        <p:nvSpPr>
          <p:cNvPr id="16" name="a1wd80_cell15"/>
          <p:cNvSpPr/>
          <p:nvPr/>
        </p:nvSpPr>
        <p:spPr>
          <a:xfrm>
            <a:off x="1737360" y="1783080"/>
            <a:ext cx="502920" cy="365760"/>
          </a:xfrm>
          <a:prstGeom prst="rect">
            <a:avLst/>
          </a:prstGeom>
          <a:solidFill>
            <a:srgbClr val="D9F2F7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80_cellt16"/>
          <p:cNvSpPr txBox="1"/>
          <p:nvPr/>
        </p:nvSpPr>
        <p:spPr>
          <a:xfrm>
            <a:off x="173736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E7490"/>
                </a:solidFill>
                <a:latin typeface="Consolas"/>
              </a:rPr>
              <a:t>2</a:t>
            </a:r>
          </a:p>
        </p:txBody>
      </p:sp>
      <p:sp>
        <p:nvSpPr>
          <p:cNvPr id="18" name="a1wd120_cell17"/>
          <p:cNvSpPr/>
          <p:nvPr/>
        </p:nvSpPr>
        <p:spPr>
          <a:xfrm>
            <a:off x="2240280" y="1783080"/>
            <a:ext cx="502920" cy="365760"/>
          </a:xfrm>
          <a:prstGeom prst="rect">
            <a:avLst/>
          </a:prstGeom>
          <a:solidFill>
            <a:srgbClr val="D9F2F7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20_cellt18"/>
          <p:cNvSpPr txBox="1"/>
          <p:nvPr/>
        </p:nvSpPr>
        <p:spPr>
          <a:xfrm>
            <a:off x="224028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E7490"/>
                </a:solidFill>
                <a:latin typeface="Consolas"/>
              </a:rPr>
              <a:t>3</a:t>
            </a:r>
          </a:p>
        </p:txBody>
      </p:sp>
      <p:sp>
        <p:nvSpPr>
          <p:cNvPr id="20" name="a1wd160_cell19"/>
          <p:cNvSpPr/>
          <p:nvPr/>
        </p:nvSpPr>
        <p:spPr>
          <a:xfrm>
            <a:off x="2743200" y="1783080"/>
            <a:ext cx="502920" cy="365760"/>
          </a:xfrm>
          <a:prstGeom prst="rect">
            <a:avLst/>
          </a:prstGeom>
          <a:solidFill>
            <a:srgbClr val="FEF9C3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60_cellt20"/>
          <p:cNvSpPr txBox="1"/>
          <p:nvPr/>
        </p:nvSpPr>
        <p:spPr>
          <a:xfrm>
            <a:off x="274320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16207"/>
                </a:solidFill>
                <a:latin typeface="Consolas"/>
              </a:rPr>
              <a:t>4</a:t>
            </a:r>
          </a:p>
        </p:txBody>
      </p:sp>
      <p:sp>
        <p:nvSpPr>
          <p:cNvPr id="22" name="a1wd200_cell21"/>
          <p:cNvSpPr/>
          <p:nvPr/>
        </p:nvSpPr>
        <p:spPr>
          <a:xfrm>
            <a:off x="3246120" y="1783080"/>
            <a:ext cx="502920" cy="365760"/>
          </a:xfrm>
          <a:prstGeom prst="rect">
            <a:avLst/>
          </a:prstGeom>
          <a:solidFill>
            <a:srgbClr val="FEF9C3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00_cellt22"/>
          <p:cNvSpPr txBox="1"/>
          <p:nvPr/>
        </p:nvSpPr>
        <p:spPr>
          <a:xfrm>
            <a:off x="324612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16207"/>
                </a:solidFill>
                <a:latin typeface="Consolas"/>
              </a:rPr>
              <a:t>5</a:t>
            </a:r>
          </a:p>
        </p:txBody>
      </p:sp>
      <p:sp>
        <p:nvSpPr>
          <p:cNvPr id="24" name="a1wd240_cell23"/>
          <p:cNvSpPr/>
          <p:nvPr/>
        </p:nvSpPr>
        <p:spPr>
          <a:xfrm>
            <a:off x="3749040" y="1783080"/>
            <a:ext cx="502920" cy="365760"/>
          </a:xfrm>
          <a:prstGeom prst="rect">
            <a:avLst/>
          </a:prstGeom>
          <a:solidFill>
            <a:srgbClr val="FEF9C3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40_cellt24"/>
          <p:cNvSpPr txBox="1"/>
          <p:nvPr/>
        </p:nvSpPr>
        <p:spPr>
          <a:xfrm>
            <a:off x="374904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16207"/>
                </a:solidFill>
                <a:latin typeface="Consolas"/>
              </a:rPr>
              <a:t>6</a:t>
            </a:r>
          </a:p>
        </p:txBody>
      </p:sp>
      <p:sp>
        <p:nvSpPr>
          <p:cNvPr id="26" name="a1wd280_cell25"/>
          <p:cNvSpPr/>
          <p:nvPr/>
        </p:nvSpPr>
        <p:spPr>
          <a:xfrm>
            <a:off x="4251960" y="1783080"/>
            <a:ext cx="502920" cy="365760"/>
          </a:xfrm>
          <a:prstGeom prst="rect">
            <a:avLst/>
          </a:prstGeom>
          <a:solidFill>
            <a:srgbClr val="FEF9C3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280_cellt26"/>
          <p:cNvSpPr txBox="1"/>
          <p:nvPr/>
        </p:nvSpPr>
        <p:spPr>
          <a:xfrm>
            <a:off x="425196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16207"/>
                </a:solidFill>
                <a:latin typeface="Consolas"/>
              </a:rPr>
              <a:t>7</a:t>
            </a:r>
          </a:p>
        </p:txBody>
      </p:sp>
      <p:sp>
        <p:nvSpPr>
          <p:cNvPr id="28" name="a1wd320_cell27"/>
          <p:cNvSpPr/>
          <p:nvPr/>
        </p:nvSpPr>
        <p:spPr>
          <a:xfrm>
            <a:off x="4754880" y="1783080"/>
            <a:ext cx="502920" cy="365760"/>
          </a:xfrm>
          <a:prstGeom prst="rect">
            <a:avLst/>
          </a:prstGeom>
          <a:solidFill>
            <a:srgbClr val="FEF9C3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320_cellt28"/>
          <p:cNvSpPr txBox="1"/>
          <p:nvPr/>
        </p:nvSpPr>
        <p:spPr>
          <a:xfrm>
            <a:off x="475488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16207"/>
                </a:solidFill>
                <a:latin typeface="Consolas"/>
              </a:rPr>
              <a:t>8</a:t>
            </a:r>
          </a:p>
        </p:txBody>
      </p:sp>
      <p:sp>
        <p:nvSpPr>
          <p:cNvPr id="30" name="a1wd360_cell29"/>
          <p:cNvSpPr/>
          <p:nvPr/>
        </p:nvSpPr>
        <p:spPr>
          <a:xfrm>
            <a:off x="5257800" y="1783080"/>
            <a:ext cx="502920" cy="365760"/>
          </a:xfrm>
          <a:prstGeom prst="rect">
            <a:avLst/>
          </a:prstGeom>
          <a:solidFill>
            <a:srgbClr val="FEF9C3"/>
          </a:solidFill>
          <a:ln w="9525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60_cellt30"/>
          <p:cNvSpPr txBox="1"/>
          <p:nvPr/>
        </p:nvSpPr>
        <p:spPr>
          <a:xfrm>
            <a:off x="5257800" y="17830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16207"/>
                </a:solidFill>
                <a:latin typeface="Consolas"/>
              </a:rPr>
              <a:t>9</a:t>
            </a:r>
          </a:p>
        </p:txBody>
      </p:sp>
      <p:sp>
        <p:nvSpPr>
          <p:cNvPr id="32" name="a1u_lb31"/>
          <p:cNvSpPr txBox="1"/>
          <p:nvPr/>
        </p:nvSpPr>
        <p:spPr>
          <a:xfrm>
            <a:off x="731520" y="151790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Segoe UI"/>
              </a:rPr>
              <a:t>read and committed</a:t>
            </a:r>
          </a:p>
        </p:txBody>
      </p:sp>
      <p:sp>
        <p:nvSpPr>
          <p:cNvPr id="33" name="a2u_lb32"/>
          <p:cNvSpPr txBox="1"/>
          <p:nvPr/>
        </p:nvSpPr>
        <p:spPr>
          <a:xfrm>
            <a:off x="2743200" y="151790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A16207"/>
                </a:solidFill>
                <a:latin typeface="Segoe UI"/>
              </a:rPr>
              <a:t>not read yet  -  LAG = 10 - 4 = 6</a:t>
            </a:r>
          </a:p>
        </p:txBody>
      </p:sp>
      <p:cxnSp>
        <p:nvCxnSpPr>
          <p:cNvPr id="34" name="a2u_ar33"/>
          <p:cNvCxnSpPr/>
          <p:nvPr/>
        </p:nvCxnSpPr>
        <p:spPr>
          <a:xfrm flipV="1">
            <a:off x="2994660" y="2176272"/>
            <a:ext cx="0" cy="384048"/>
          </a:xfrm>
          <a:prstGeom prst="line">
            <a:avLst/>
          </a:prstGeom>
          <a:ln w="15875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2u_lb34"/>
          <p:cNvSpPr txBox="1"/>
          <p:nvPr/>
        </p:nvSpPr>
        <p:spPr>
          <a:xfrm>
            <a:off x="2103120" y="256032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Segoe UI"/>
              </a:rPr>
              <a:t>committed offset = 4</a:t>
            </a:r>
          </a:p>
        </p:txBody>
      </p:sp>
      <p:cxnSp>
        <p:nvCxnSpPr>
          <p:cNvPr id="36" name="a2ud150_ar35"/>
          <p:cNvCxnSpPr/>
          <p:nvPr/>
        </p:nvCxnSpPr>
        <p:spPr>
          <a:xfrm flipV="1">
            <a:off x="5806440" y="2176272"/>
            <a:ext cx="0" cy="384048"/>
          </a:xfrm>
          <a:prstGeom prst="line">
            <a:avLst/>
          </a:prstGeom>
          <a:ln w="15875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2ud150_lb36"/>
          <p:cNvSpPr txBox="1"/>
          <p:nvPr/>
        </p:nvSpPr>
        <p:spPr>
          <a:xfrm>
            <a:off x="4937760" y="256032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A16207"/>
                </a:solidFill>
                <a:latin typeface="Segoe UI"/>
              </a:rPr>
              <a:t>log-end offset = 10</a:t>
            </a:r>
          </a:p>
        </p:txBody>
      </p:sp>
      <p:sp>
        <p:nvSpPr>
          <p:cNvPr id="38" name="a3u_card37"/>
          <p:cNvSpPr/>
          <p:nvPr/>
        </p:nvSpPr>
        <p:spPr>
          <a:xfrm>
            <a:off x="6355080" y="1280160"/>
            <a:ext cx="2331720" cy="1481328"/>
          </a:xfrm>
          <a:prstGeom prst="roundRect">
            <a:avLst>
              <a:gd name="adj" fmla="val 7407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u_dk38"/>
          <p:cNvSpPr txBox="1"/>
          <p:nvPr/>
        </p:nvSpPr>
        <p:spPr>
          <a:xfrm>
            <a:off x="6492240" y="137160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C1917"/>
                </a:solidFill>
                <a:latin typeface="Consolas"/>
              </a:rPr>
              <a:t>CURRENT-OFFSET</a:t>
            </a:r>
          </a:p>
        </p:txBody>
      </p:sp>
      <p:sp>
        <p:nvSpPr>
          <p:cNvPr id="40" name="a3u_dv39"/>
          <p:cNvSpPr txBox="1"/>
          <p:nvPr/>
        </p:nvSpPr>
        <p:spPr>
          <a:xfrm>
            <a:off x="6492240" y="155448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next event the group reads</a:t>
            </a:r>
          </a:p>
        </p:txBody>
      </p:sp>
      <p:sp>
        <p:nvSpPr>
          <p:cNvPr id="41" name="a3ud80_dk40"/>
          <p:cNvSpPr txBox="1"/>
          <p:nvPr/>
        </p:nvSpPr>
        <p:spPr>
          <a:xfrm>
            <a:off x="6492240" y="182880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C1917"/>
                </a:solidFill>
                <a:latin typeface="Consolas"/>
              </a:rPr>
              <a:t>LOG-END-OFFSET</a:t>
            </a:r>
          </a:p>
        </p:txBody>
      </p:sp>
      <p:sp>
        <p:nvSpPr>
          <p:cNvPr id="42" name="a3ud80_dv41"/>
          <p:cNvSpPr txBox="1"/>
          <p:nvPr/>
        </p:nvSpPr>
        <p:spPr>
          <a:xfrm>
            <a:off x="6492240" y="201168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where the next write goes</a:t>
            </a:r>
          </a:p>
        </p:txBody>
      </p:sp>
      <p:sp>
        <p:nvSpPr>
          <p:cNvPr id="43" name="a3ud160_dk42"/>
          <p:cNvSpPr txBox="1"/>
          <p:nvPr/>
        </p:nvSpPr>
        <p:spPr>
          <a:xfrm>
            <a:off x="6492240" y="228600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C1917"/>
                </a:solidFill>
                <a:latin typeface="Consolas"/>
              </a:rPr>
              <a:t>LAG</a:t>
            </a:r>
          </a:p>
        </p:txBody>
      </p:sp>
      <p:sp>
        <p:nvSpPr>
          <p:cNvPr id="44" name="a3ud160_dv43"/>
          <p:cNvSpPr txBox="1"/>
          <p:nvPr/>
        </p:nvSpPr>
        <p:spPr>
          <a:xfrm>
            <a:off x="6492240" y="246888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how far behind the group is</a:t>
            </a:r>
          </a:p>
        </p:txBody>
      </p:sp>
      <p:sp>
        <p:nvSpPr>
          <p:cNvPr id="45" name="a4f_codebg44"/>
          <p:cNvSpPr/>
          <p:nvPr/>
        </p:nvSpPr>
        <p:spPr>
          <a:xfrm>
            <a:off x="457200" y="2926080"/>
            <a:ext cx="8229600" cy="969263"/>
          </a:xfrm>
          <a:prstGeom prst="roundRect">
            <a:avLst>
              <a:gd name="adj" fmla="val 7547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4w_code45"/>
          <p:cNvSpPr txBox="1"/>
          <p:nvPr/>
        </p:nvSpPr>
        <p:spPr>
          <a:xfrm>
            <a:off x="548640" y="3017520"/>
            <a:ext cx="804672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DBA74"/>
                </a:solidFill>
                <a:latin typeface="Consolas"/>
              </a:rPr>
              <a:t>&gt; docker exec kafka kafka-consumer-groups.sh --bootstrap-server localhost:9092 --describe --group sms-notifier</a:t>
            </a:r>
          </a:p>
        </p:txBody>
      </p:sp>
      <p:sp>
        <p:nvSpPr>
          <p:cNvPr id="47" name="a4wd70_code46"/>
          <p:cNvSpPr txBox="1"/>
          <p:nvPr/>
        </p:nvSpPr>
        <p:spPr>
          <a:xfrm>
            <a:off x="548640" y="3174796"/>
            <a:ext cx="804672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8A8580"/>
                </a:solidFill>
                <a:latin typeface="Consolas"/>
              </a:rPr>
              <a:t>GROUP         TOPIC               PARTITION  CURRENT-OFFSET  LOG-END-OFFSET  LAG   CONSUMER-ID</a:t>
            </a:r>
          </a:p>
        </p:txBody>
      </p:sp>
      <p:sp>
        <p:nvSpPr>
          <p:cNvPr id="48" name="a4wd140_code47"/>
          <p:cNvSpPr txBox="1"/>
          <p:nvPr/>
        </p:nvSpPr>
        <p:spPr>
          <a:xfrm>
            <a:off x="548640" y="3332073"/>
            <a:ext cx="804672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sms-notifier  bank.txn.completed  0          4               10              6     -</a:t>
            </a:r>
          </a:p>
        </p:txBody>
      </p:sp>
      <p:sp>
        <p:nvSpPr>
          <p:cNvPr id="49" name="a4wd210_code48"/>
          <p:cNvSpPr txBox="1"/>
          <p:nvPr/>
        </p:nvSpPr>
        <p:spPr>
          <a:xfrm>
            <a:off x="548640" y="3489350"/>
            <a:ext cx="804672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sms-notifier  bank.txn.completed  1          2               5               3     -</a:t>
            </a:r>
          </a:p>
        </p:txBody>
      </p:sp>
      <p:sp>
        <p:nvSpPr>
          <p:cNvPr id="50" name="a4wd280_code49"/>
          <p:cNvSpPr txBox="1"/>
          <p:nvPr/>
        </p:nvSpPr>
        <p:spPr>
          <a:xfrm>
            <a:off x="548640" y="3646627"/>
            <a:ext cx="8046720" cy="1572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E7E5E4"/>
                </a:solidFill>
                <a:latin typeface="Consolas"/>
              </a:rPr>
              <a:t>sms-notifier  bank.txn.completed  2          6               15              9     -</a:t>
            </a:r>
          </a:p>
        </p:txBody>
      </p:sp>
      <p:sp>
        <p:nvSpPr>
          <p:cNvPr id="51" name="a5u_nb50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5u_nacc51"/>
          <p:cNvSpPr/>
          <p:nvPr/>
        </p:nvSpPr>
        <p:spPr>
          <a:xfrm>
            <a:off x="457200" y="4005072"/>
            <a:ext cx="54864" cy="56692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5u_nt52"/>
          <p:cNvSpPr txBox="1"/>
          <p:nvPr/>
        </p:nvSpPr>
        <p:spPr>
          <a:xfrm>
            <a:off x="658368" y="400507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16207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Lag is the health metric of a consumer: rising lag means readers are slower than writers, or down. Offsets live inside Kafka, in the __consumer_offsets topic.</a:t>
            </a:r>
          </a:p>
        </p:txBody>
      </p:sp>
      <p:sp>
        <p:nvSpPr>
          <p:cNvPr id="54" name="ft53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41</a:t>
            </a:r>
          </a:p>
        </p:txBody>
      </p:sp>
      <p:sp>
        <p:nvSpPr>
          <p:cNvPr id="55" name="ft54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ft55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57" name="ft5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5  ·  30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5 - Consumer Groups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Two readers share one group, one leaves, Kafka rebalances - and a fourth reader finds nothing to do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76072" y="1453895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0 - make sure no reader from Lab 4 is still running (Ctrl+C in each window)</a:t>
            </a:r>
          </a:p>
        </p:txBody>
      </p:sp>
      <p:sp>
        <p:nvSpPr>
          <p:cNvPr id="14" name="a1wd50_code13"/>
          <p:cNvSpPr txBox="1"/>
          <p:nvPr/>
        </p:nvSpPr>
        <p:spPr>
          <a:xfrm>
            <a:off x="576072" y="1627631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5" name="a1wd100_code14"/>
          <p:cNvSpPr txBox="1"/>
          <p:nvPr/>
        </p:nvSpPr>
        <p:spPr>
          <a:xfrm>
            <a:off x="576072" y="1801367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1 - two members of the SAME group, in two windows</a:t>
            </a:r>
          </a:p>
        </p:txBody>
      </p:sp>
      <p:sp>
        <p:nvSpPr>
          <p:cNvPr id="16" name="a1wd150_code15"/>
          <p:cNvSpPr txBox="1"/>
          <p:nvPr/>
        </p:nvSpPr>
        <p:spPr>
          <a:xfrm>
            <a:off x="576072" y="1975104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fraud-engine --name A        # window 1</a:t>
            </a:r>
          </a:p>
        </p:txBody>
      </p:sp>
      <p:sp>
        <p:nvSpPr>
          <p:cNvPr id="17" name="a1wd200_code16"/>
          <p:cNvSpPr txBox="1"/>
          <p:nvPr/>
        </p:nvSpPr>
        <p:spPr>
          <a:xfrm>
            <a:off x="576072" y="2148839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fraud-engine --name B        # window 2</a:t>
            </a:r>
          </a:p>
        </p:txBody>
      </p:sp>
      <p:sp>
        <p:nvSpPr>
          <p:cNvPr id="18" name="a1wd250_code17"/>
          <p:cNvSpPr txBox="1"/>
          <p:nvPr/>
        </p:nvSpPr>
        <p:spPr>
          <a:xfrm>
            <a:off x="576072" y="2322576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9" name="a1wd300_code18"/>
          <p:cNvSpPr txBox="1"/>
          <p:nvPr/>
        </p:nvSpPr>
        <p:spPr>
          <a:xfrm>
            <a:off x="576072" y="2496312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2 - publish 12 transfers, then ask Kafka who owns which partition</a:t>
            </a:r>
          </a:p>
        </p:txBody>
      </p:sp>
      <p:sp>
        <p:nvSpPr>
          <p:cNvPr id="20" name="a1wd350_code19"/>
          <p:cNvSpPr txBox="1"/>
          <p:nvPr/>
        </p:nvSpPr>
        <p:spPr>
          <a:xfrm>
            <a:off x="576072" y="2670048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transfer_service.py 12</a:t>
            </a:r>
          </a:p>
        </p:txBody>
      </p:sp>
      <p:sp>
        <p:nvSpPr>
          <p:cNvPr id="21" name="a1wd400_code20"/>
          <p:cNvSpPr txBox="1"/>
          <p:nvPr/>
        </p:nvSpPr>
        <p:spPr>
          <a:xfrm>
            <a:off x="576072" y="2843784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kafka-consumer-groups.sh --bootstrap-server localhost:9092 --describe --group fraud-engine</a:t>
            </a:r>
          </a:p>
        </p:txBody>
      </p:sp>
      <p:sp>
        <p:nvSpPr>
          <p:cNvPr id="22" name="a1wd450_code21"/>
          <p:cNvSpPr txBox="1"/>
          <p:nvPr/>
        </p:nvSpPr>
        <p:spPr>
          <a:xfrm>
            <a:off x="576072" y="3017520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3" name="a1wd500_code22"/>
          <p:cNvSpPr txBox="1"/>
          <p:nvPr/>
        </p:nvSpPr>
        <p:spPr>
          <a:xfrm>
            <a:off x="576072" y="3191256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3 - Ctrl+C in window 2 (B leaves). Watch window 1, then publish 6 more</a:t>
            </a:r>
          </a:p>
        </p:txBody>
      </p:sp>
      <p:sp>
        <p:nvSpPr>
          <p:cNvPr id="24" name="a1wd550_code23"/>
          <p:cNvSpPr txBox="1"/>
          <p:nvPr/>
        </p:nvSpPr>
        <p:spPr>
          <a:xfrm>
            <a:off x="576072" y="3364991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transfer_service.py 6</a:t>
            </a:r>
          </a:p>
        </p:txBody>
      </p:sp>
      <p:sp>
        <p:nvSpPr>
          <p:cNvPr id="25" name="a1wd600_code24"/>
          <p:cNvSpPr txBox="1"/>
          <p:nvPr/>
        </p:nvSpPr>
        <p:spPr>
          <a:xfrm>
            <a:off x="576072" y="3538728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6" name="a1wd650_code25"/>
          <p:cNvSpPr txBox="1"/>
          <p:nvPr/>
        </p:nvSpPr>
        <p:spPr>
          <a:xfrm>
            <a:off x="576072" y="3712464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4 - challenge: a NEW group with FOUR members, for a topic with three partitions</a:t>
            </a:r>
          </a:p>
        </p:txBody>
      </p:sp>
      <p:sp>
        <p:nvSpPr>
          <p:cNvPr id="27" name="a1wd700_code26"/>
          <p:cNvSpPr txBox="1"/>
          <p:nvPr/>
        </p:nvSpPr>
        <p:spPr>
          <a:xfrm>
            <a:off x="576072" y="3886200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warehouse-sink --name W1      # then W2, W3, W4 in three more windows</a:t>
            </a:r>
          </a:p>
        </p:txBody>
      </p:sp>
      <p:sp>
        <p:nvSpPr>
          <p:cNvPr id="28" name="a1wd750_code27"/>
          <p:cNvSpPr txBox="1"/>
          <p:nvPr/>
        </p:nvSpPr>
        <p:spPr>
          <a:xfrm>
            <a:off x="576072" y="4059935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kafka-consumer-groups.sh --bootstrap-server localhost:9092 --describe --group warehouse-sink --members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42</a:t>
            </a:r>
          </a:p>
        </p:txBody>
      </p:sp>
      <p:sp>
        <p:nvSpPr>
          <p:cNvPr id="30" name="ft29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ft30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616327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5  ·  WHAT YOU SHOULD SEE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5 - Measured Output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Window 1 (A), window 2 (B), and the group as Kafka reports it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4069080" cy="1965960"/>
          </a:xfrm>
          <a:prstGeom prst="roundRect">
            <a:avLst>
              <a:gd name="adj" fmla="val 372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f_codeh12"/>
          <p:cNvSpPr txBox="1"/>
          <p:nvPr/>
        </p:nvSpPr>
        <p:spPr>
          <a:xfrm>
            <a:off x="548640" y="1389888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window 1 - A</a:t>
            </a:r>
          </a:p>
        </p:txBody>
      </p:sp>
      <p:sp>
        <p:nvSpPr>
          <p:cNvPr id="14" name="a1f_codesep13"/>
          <p:cNvSpPr/>
          <p:nvPr/>
        </p:nvSpPr>
        <p:spPr>
          <a:xfrm>
            <a:off x="548640" y="1664207"/>
            <a:ext cx="3886200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_code14"/>
          <p:cNvSpPr txBox="1"/>
          <p:nvPr/>
        </p:nvSpPr>
        <p:spPr>
          <a:xfrm>
            <a:off x="548640" y="1700784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6EFAC"/>
                </a:solidFill>
                <a:latin typeface="Consolas"/>
              </a:rPr>
              <a:t>[fraud-engine/A] assigned partitions [0, 1]</a:t>
            </a:r>
          </a:p>
        </p:txBody>
      </p:sp>
      <p:sp>
        <p:nvSpPr>
          <p:cNvPr id="16" name="a1wd50_code15"/>
          <p:cNvSpPr txBox="1"/>
          <p:nvPr/>
        </p:nvSpPr>
        <p:spPr>
          <a:xfrm>
            <a:off x="548640" y="1851660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[fraud-engine/A] p0@4   TXN-4827AA  clear</a:t>
            </a:r>
          </a:p>
        </p:txBody>
      </p:sp>
      <p:sp>
        <p:nvSpPr>
          <p:cNvPr id="17" name="a1wd100_code16"/>
          <p:cNvSpPr txBox="1"/>
          <p:nvPr/>
        </p:nvSpPr>
        <p:spPr>
          <a:xfrm>
            <a:off x="548640" y="2002536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[fraud-engine/A] p1@2   TXN-A353B1  clear</a:t>
            </a:r>
          </a:p>
        </p:txBody>
      </p:sp>
      <p:sp>
        <p:nvSpPr>
          <p:cNvPr id="18" name="a1wd150_code17"/>
          <p:cNvSpPr txBox="1"/>
          <p:nvPr/>
        </p:nvSpPr>
        <p:spPr>
          <a:xfrm>
            <a:off x="548640" y="2153412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[fraud-engine/A] p0@6   TXN-42F792  ALERT ...</a:t>
            </a:r>
          </a:p>
        </p:txBody>
      </p:sp>
      <p:sp>
        <p:nvSpPr>
          <p:cNvPr id="19" name="a1wd200_code18"/>
          <p:cNvSpPr txBox="1"/>
          <p:nvPr/>
        </p:nvSpPr>
        <p:spPr>
          <a:xfrm>
            <a:off x="548640" y="2304288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20" name="a1wd250_code19"/>
          <p:cNvSpPr txBox="1"/>
          <p:nvPr/>
        </p:nvSpPr>
        <p:spPr>
          <a:xfrm>
            <a:off x="548640" y="2455164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FDA4AF"/>
                </a:solidFill>
                <a:latin typeface="Consolas"/>
              </a:rPr>
              <a:t>[fraud-engine/A] revoked  partitions [0, 1]</a:t>
            </a:r>
          </a:p>
        </p:txBody>
      </p:sp>
      <p:sp>
        <p:nvSpPr>
          <p:cNvPr id="21" name="a1wd300_code20"/>
          <p:cNvSpPr txBox="1"/>
          <p:nvPr/>
        </p:nvSpPr>
        <p:spPr>
          <a:xfrm>
            <a:off x="548640" y="2606040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6EFAC"/>
                </a:solidFill>
                <a:latin typeface="Consolas"/>
              </a:rPr>
              <a:t>[fraud-engine/A] assigned partitions [0, 1, 2]</a:t>
            </a:r>
          </a:p>
        </p:txBody>
      </p:sp>
      <p:sp>
        <p:nvSpPr>
          <p:cNvPr id="22" name="a1wd350_code21"/>
          <p:cNvSpPr txBox="1"/>
          <p:nvPr/>
        </p:nvSpPr>
        <p:spPr>
          <a:xfrm>
            <a:off x="548640" y="2756916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[fraud-engine/A] p0@8   TXN-D2769D  clear</a:t>
            </a:r>
          </a:p>
        </p:txBody>
      </p:sp>
      <p:sp>
        <p:nvSpPr>
          <p:cNvPr id="23" name="a1wd400_code22"/>
          <p:cNvSpPr txBox="1"/>
          <p:nvPr/>
        </p:nvSpPr>
        <p:spPr>
          <a:xfrm>
            <a:off x="548640" y="2907792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[fraud-engine/A] p2@12  TXN-23E779  ALERT ...</a:t>
            </a:r>
          </a:p>
        </p:txBody>
      </p:sp>
      <p:sp>
        <p:nvSpPr>
          <p:cNvPr id="24" name="a1wd450_code23"/>
          <p:cNvSpPr txBox="1"/>
          <p:nvPr/>
        </p:nvSpPr>
        <p:spPr>
          <a:xfrm>
            <a:off x="548640" y="3058668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25" name="a2f_codebg24"/>
          <p:cNvSpPr/>
          <p:nvPr/>
        </p:nvSpPr>
        <p:spPr>
          <a:xfrm>
            <a:off x="4617720" y="1335024"/>
            <a:ext cx="4069080" cy="1664208"/>
          </a:xfrm>
          <a:prstGeom prst="roundRect">
            <a:avLst>
              <a:gd name="adj" fmla="val 4395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f_codeh25"/>
          <p:cNvSpPr txBox="1"/>
          <p:nvPr/>
        </p:nvSpPr>
        <p:spPr>
          <a:xfrm>
            <a:off x="4709159" y="1389888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window 2 - B, then Ctrl+C</a:t>
            </a:r>
          </a:p>
        </p:txBody>
      </p:sp>
      <p:sp>
        <p:nvSpPr>
          <p:cNvPr id="27" name="a2f_codesep26"/>
          <p:cNvSpPr/>
          <p:nvPr/>
        </p:nvSpPr>
        <p:spPr>
          <a:xfrm>
            <a:off x="4709159" y="1664207"/>
            <a:ext cx="3886200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_code27"/>
          <p:cNvSpPr txBox="1"/>
          <p:nvPr/>
        </p:nvSpPr>
        <p:spPr>
          <a:xfrm>
            <a:off x="4709159" y="1700784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[fraud-engine/B] assigned partitions [0, 1, 2]</a:t>
            </a:r>
          </a:p>
        </p:txBody>
      </p:sp>
      <p:sp>
        <p:nvSpPr>
          <p:cNvPr id="29" name="a2wd50_code28"/>
          <p:cNvSpPr txBox="1"/>
          <p:nvPr/>
        </p:nvSpPr>
        <p:spPr>
          <a:xfrm>
            <a:off x="4709159" y="1851660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FDA4AF"/>
                </a:solidFill>
                <a:latin typeface="Consolas"/>
              </a:rPr>
              <a:t>[fraud-engine/B] revoked  partitions [0, 1, 2]</a:t>
            </a:r>
          </a:p>
        </p:txBody>
      </p:sp>
      <p:sp>
        <p:nvSpPr>
          <p:cNvPr id="30" name="a2wd100_code29"/>
          <p:cNvSpPr txBox="1"/>
          <p:nvPr/>
        </p:nvSpPr>
        <p:spPr>
          <a:xfrm>
            <a:off x="4709159" y="2002536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6EFAC"/>
                </a:solidFill>
                <a:latin typeface="Consolas"/>
              </a:rPr>
              <a:t>[fraud-engine/B] assigned partitions [2]</a:t>
            </a:r>
          </a:p>
        </p:txBody>
      </p:sp>
      <p:sp>
        <p:nvSpPr>
          <p:cNvPr id="31" name="a2wd150_code30"/>
          <p:cNvSpPr txBox="1"/>
          <p:nvPr/>
        </p:nvSpPr>
        <p:spPr>
          <a:xfrm>
            <a:off x="4709159" y="2153412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[fraud-engine/B] p2@6   TXN-5A2B5F  clear</a:t>
            </a:r>
          </a:p>
        </p:txBody>
      </p:sp>
      <p:sp>
        <p:nvSpPr>
          <p:cNvPr id="32" name="a2wd200_code31"/>
          <p:cNvSpPr txBox="1"/>
          <p:nvPr/>
        </p:nvSpPr>
        <p:spPr>
          <a:xfrm>
            <a:off x="4709159" y="2304288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[fraud-engine/B] p2@7   TXN-2A4FAE  ALERT ...</a:t>
            </a:r>
          </a:p>
        </p:txBody>
      </p:sp>
      <p:sp>
        <p:nvSpPr>
          <p:cNvPr id="33" name="a2wd250_code32"/>
          <p:cNvSpPr txBox="1"/>
          <p:nvPr/>
        </p:nvSpPr>
        <p:spPr>
          <a:xfrm>
            <a:off x="4709159" y="2455164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A8580"/>
                </a:solidFill>
                <a:latin typeface="Consolas"/>
              </a:rPr>
              <a:t>...</a:t>
            </a:r>
          </a:p>
        </p:txBody>
      </p:sp>
      <p:sp>
        <p:nvSpPr>
          <p:cNvPr id="34" name="a2wd300_code33"/>
          <p:cNvSpPr txBox="1"/>
          <p:nvPr/>
        </p:nvSpPr>
        <p:spPr>
          <a:xfrm>
            <a:off x="4709159" y="2606040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FDA4AF"/>
                </a:solidFill>
                <a:latin typeface="Consolas"/>
              </a:rPr>
              <a:t>[fraud-engine/B] revoked  partitions [2]</a:t>
            </a:r>
          </a:p>
        </p:txBody>
      </p:sp>
      <p:sp>
        <p:nvSpPr>
          <p:cNvPr id="35" name="a2wd350_code34"/>
          <p:cNvSpPr txBox="1"/>
          <p:nvPr/>
        </p:nvSpPr>
        <p:spPr>
          <a:xfrm>
            <a:off x="4709159" y="2756916"/>
            <a:ext cx="388620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A8580"/>
                </a:solidFill>
                <a:latin typeface="Consolas"/>
              </a:rPr>
              <a:t>[fraud-engine/B] processed 6 events, left the group</a:t>
            </a:r>
          </a:p>
        </p:txBody>
      </p:sp>
      <p:sp>
        <p:nvSpPr>
          <p:cNvPr id="36" name="a3f_codebg35"/>
          <p:cNvSpPr/>
          <p:nvPr/>
        </p:nvSpPr>
        <p:spPr>
          <a:xfrm>
            <a:off x="457200" y="3392424"/>
            <a:ext cx="8229600" cy="937260"/>
          </a:xfrm>
          <a:prstGeom prst="roundRect">
            <a:avLst>
              <a:gd name="adj" fmla="val 7804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w_code36"/>
          <p:cNvSpPr txBox="1"/>
          <p:nvPr/>
        </p:nvSpPr>
        <p:spPr>
          <a:xfrm>
            <a:off x="548640" y="3483864"/>
            <a:ext cx="804672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1">
                <a:solidFill>
                  <a:srgbClr val="FDBA74"/>
                </a:solidFill>
                <a:latin typeface="Consolas"/>
              </a:rPr>
              <a:t>&gt; docker exec kafka kafka-consumer-groups.sh --bootstrap-server localhost:9092 --describe --group fraud-engine</a:t>
            </a:r>
          </a:p>
        </p:txBody>
      </p:sp>
      <p:sp>
        <p:nvSpPr>
          <p:cNvPr id="38" name="a3wd60_code37"/>
          <p:cNvSpPr txBox="1"/>
          <p:nvPr/>
        </p:nvSpPr>
        <p:spPr>
          <a:xfrm>
            <a:off x="548640" y="3634740"/>
            <a:ext cx="804672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A8580"/>
                </a:solidFill>
                <a:latin typeface="Consolas"/>
              </a:rPr>
              <a:t>GROUP         TOPIC               PARTITION  CURRENT-OFFSET  LOG-END-OFFSET  LAG  CLIENT-ID</a:t>
            </a:r>
          </a:p>
        </p:txBody>
      </p:sp>
      <p:sp>
        <p:nvSpPr>
          <p:cNvPr id="39" name="a3wd120_code38"/>
          <p:cNvSpPr txBox="1"/>
          <p:nvPr/>
        </p:nvSpPr>
        <p:spPr>
          <a:xfrm>
            <a:off x="548640" y="3785616"/>
            <a:ext cx="804672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fraud-engine  bank.txn.completed  0          8               8               0    fraud-engine/A</a:t>
            </a:r>
          </a:p>
        </p:txBody>
      </p:sp>
      <p:sp>
        <p:nvSpPr>
          <p:cNvPr id="40" name="a3wd180_code39"/>
          <p:cNvSpPr txBox="1"/>
          <p:nvPr/>
        </p:nvSpPr>
        <p:spPr>
          <a:xfrm>
            <a:off x="548640" y="3936492"/>
            <a:ext cx="804672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7E5E4"/>
                </a:solidFill>
                <a:latin typeface="Consolas"/>
              </a:rPr>
              <a:t>fraud-engine  bank.txn.completed  1          4               4               0    fraud-engine/A</a:t>
            </a:r>
          </a:p>
        </p:txBody>
      </p:sp>
      <p:sp>
        <p:nvSpPr>
          <p:cNvPr id="41" name="a3wd240_code40"/>
          <p:cNvSpPr txBox="1"/>
          <p:nvPr/>
        </p:nvSpPr>
        <p:spPr>
          <a:xfrm>
            <a:off x="548640" y="4087368"/>
            <a:ext cx="8046720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86EFAC"/>
                </a:solidFill>
                <a:latin typeface="Consolas"/>
              </a:rPr>
              <a:t>fraud-engine  bank.txn.completed  2          12              12              0    fraud-engine/B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43</a:t>
            </a:r>
          </a:p>
        </p:txBody>
      </p:sp>
      <p:sp>
        <p:nvSpPr>
          <p:cNvPr id="43" name="ft42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ft43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748790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5  ·  SOLUTION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5 - Answers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Click once for each question, and again for its answer</a:t>
            </a:r>
          </a:p>
        </p:txBody>
      </p:sp>
      <p:sp>
        <p:nvSpPr>
          <p:cNvPr id="12" name="a1u_card11"/>
          <p:cNvSpPr/>
          <p:nvPr/>
        </p:nvSpPr>
        <p:spPr>
          <a:xfrm>
            <a:off x="45720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acc12"/>
          <p:cNvSpPr/>
          <p:nvPr/>
        </p:nvSpPr>
        <p:spPr>
          <a:xfrm>
            <a:off x="457200" y="1371600"/>
            <a:ext cx="50292" cy="15361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_q13"/>
          <p:cNvSpPr txBox="1"/>
          <p:nvPr/>
        </p:nvSpPr>
        <p:spPr>
          <a:xfrm>
            <a:off x="658368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Why did A get partitions 0 and 1, and B only 2?</a:t>
            </a:r>
          </a:p>
        </p:txBody>
      </p:sp>
      <p:sp>
        <p:nvSpPr>
          <p:cNvPr id="15" name="a2f_a14"/>
          <p:cNvSpPr txBox="1"/>
          <p:nvPr/>
        </p:nvSpPr>
        <p:spPr>
          <a:xfrm>
            <a:off x="658368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group's assignor (range, by default) splits 3 partitions over 2 members as 2 + 1. A partition is never split between two members of one group.</a:t>
            </a:r>
          </a:p>
        </p:txBody>
      </p:sp>
      <p:sp>
        <p:nvSpPr>
          <p:cNvPr id="16" name="a3u_card15"/>
          <p:cNvSpPr/>
          <p:nvPr/>
        </p:nvSpPr>
        <p:spPr>
          <a:xfrm>
            <a:off x="466344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663440" y="1371600"/>
            <a:ext cx="50292" cy="15361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_q17"/>
          <p:cNvSpPr txBox="1"/>
          <p:nvPr/>
        </p:nvSpPr>
        <p:spPr>
          <a:xfrm>
            <a:off x="4864607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What happened in window 1 when B left?</a:t>
            </a:r>
          </a:p>
        </p:txBody>
      </p:sp>
      <p:sp>
        <p:nvSpPr>
          <p:cNvPr id="19" name="a4f_a18"/>
          <p:cNvSpPr txBox="1"/>
          <p:nvPr/>
        </p:nvSpPr>
        <p:spPr>
          <a:xfrm>
            <a:off x="4864607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A rebalance: A's partitions were revoked, then all three given back to A. A resumed partition 2 at offset 12 - exactly where B had committed. Nothing lost or repeated.</a:t>
            </a:r>
          </a:p>
        </p:txBody>
      </p:sp>
      <p:sp>
        <p:nvSpPr>
          <p:cNvPr id="20" name="a5u_card19"/>
          <p:cNvSpPr/>
          <p:nvPr/>
        </p:nvSpPr>
        <p:spPr>
          <a:xfrm>
            <a:off x="45720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acc20"/>
          <p:cNvSpPr/>
          <p:nvPr/>
        </p:nvSpPr>
        <p:spPr>
          <a:xfrm>
            <a:off x="457200" y="3035808"/>
            <a:ext cx="50292" cy="1536192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5u_q21"/>
          <p:cNvSpPr txBox="1"/>
          <p:nvPr/>
        </p:nvSpPr>
        <p:spPr>
          <a:xfrm>
            <a:off x="658368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Who processed each event - A, B, or both?</a:t>
            </a:r>
          </a:p>
        </p:txBody>
      </p:sp>
      <p:sp>
        <p:nvSpPr>
          <p:cNvPr id="23" name="a6f_a22"/>
          <p:cNvSpPr txBox="1"/>
          <p:nvPr/>
        </p:nvSpPr>
        <p:spPr>
          <a:xfrm>
            <a:off x="658368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Exactly one of them. Within a group Kafka acts as a queue: the first 12 events split 6 and 6 (A: partitions 0 + 1, B: partition 2).</a:t>
            </a:r>
          </a:p>
        </p:txBody>
      </p:sp>
      <p:sp>
        <p:nvSpPr>
          <p:cNvPr id="24" name="a7u_card23"/>
          <p:cNvSpPr/>
          <p:nvPr/>
        </p:nvSpPr>
        <p:spPr>
          <a:xfrm>
            <a:off x="466344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7u_acc24"/>
          <p:cNvSpPr/>
          <p:nvPr/>
        </p:nvSpPr>
        <p:spPr>
          <a:xfrm>
            <a:off x="4663440" y="3035808"/>
            <a:ext cx="50292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7u_q25"/>
          <p:cNvSpPr txBox="1"/>
          <p:nvPr/>
        </p:nvSpPr>
        <p:spPr>
          <a:xfrm>
            <a:off x="4864607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Four members, three partitions: what did W4 do?</a:t>
            </a:r>
          </a:p>
        </p:txBody>
      </p:sp>
      <p:sp>
        <p:nvSpPr>
          <p:cNvPr id="27" name="a8f_a26"/>
          <p:cNvSpPr txBox="1"/>
          <p:nvPr/>
        </p:nvSpPr>
        <p:spPr>
          <a:xfrm>
            <a:off x="4864607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F46E5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Nothing. describe --members showed W4 with 0 partitions. Partition count caps the parallelism of a group - size partitions for your peak number of readers.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44</a:t>
            </a:r>
          </a:p>
        </p:txBody>
      </p:sp>
      <p:sp>
        <p:nvSpPr>
          <p:cNvPr id="29" name="ft2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t2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a0f_pl2"/>
          <p:cNvSpPr txBox="1"/>
          <p:nvPr/>
        </p:nvSpPr>
        <p:spPr>
          <a:xfrm>
            <a:off x="502920" y="1005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500">
                <a:solidFill>
                  <a:srgbClr val="18181B"/>
                </a:solidFill>
                <a:latin typeface="Segoe UI"/>
              </a:rPr>
              <a:t>PART</a:t>
            </a:r>
          </a:p>
        </p:txBody>
      </p:sp>
      <p:sp>
        <p:nvSpPr>
          <p:cNvPr id="4" name="a0ud100_n3"/>
          <p:cNvSpPr txBox="1"/>
          <p:nvPr/>
        </p:nvSpPr>
        <p:spPr>
          <a:xfrm>
            <a:off x="411480" y="1280160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50" b="0">
                <a:solidFill>
                  <a:srgbClr val="FFFFFF"/>
                </a:solidFill>
                <a:latin typeface="Bahnschrift SemiBold"/>
              </a:rPr>
              <a:t>05</a:t>
            </a:r>
          </a:p>
        </p:txBody>
      </p:sp>
      <p:sp>
        <p:nvSpPr>
          <p:cNvPr id="5" name="a0wd300_pb4"/>
          <p:cNvSpPr/>
          <p:nvPr/>
        </p:nvSpPr>
        <p:spPr>
          <a:xfrm>
            <a:off x="502920" y="3090672"/>
            <a:ext cx="640080" cy="4572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0fd400_pc5"/>
          <p:cNvSpPr/>
          <p:nvPr/>
        </p:nvSpPr>
        <p:spPr>
          <a:xfrm>
            <a:off x="502920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0fd400_pct6"/>
          <p:cNvSpPr txBox="1"/>
          <p:nvPr/>
        </p:nvSpPr>
        <p:spPr>
          <a:xfrm>
            <a:off x="502920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01</a:t>
            </a:r>
          </a:p>
        </p:txBody>
      </p:sp>
      <p:sp>
        <p:nvSpPr>
          <p:cNvPr id="8" name="a0fd480_pc7"/>
          <p:cNvSpPr/>
          <p:nvPr/>
        </p:nvSpPr>
        <p:spPr>
          <a:xfrm>
            <a:off x="877824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0fd480_pct8"/>
          <p:cNvSpPr txBox="1"/>
          <p:nvPr/>
        </p:nvSpPr>
        <p:spPr>
          <a:xfrm>
            <a:off x="877824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02</a:t>
            </a:r>
          </a:p>
        </p:txBody>
      </p:sp>
      <p:sp>
        <p:nvSpPr>
          <p:cNvPr id="10" name="a0fd560_pc9"/>
          <p:cNvSpPr/>
          <p:nvPr/>
        </p:nvSpPr>
        <p:spPr>
          <a:xfrm>
            <a:off x="1252728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0fd560_pct10"/>
          <p:cNvSpPr txBox="1"/>
          <p:nvPr/>
        </p:nvSpPr>
        <p:spPr>
          <a:xfrm>
            <a:off x="1252728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03</a:t>
            </a:r>
          </a:p>
        </p:txBody>
      </p:sp>
      <p:sp>
        <p:nvSpPr>
          <p:cNvPr id="12" name="a0fd640_pc11"/>
          <p:cNvSpPr/>
          <p:nvPr/>
        </p:nvSpPr>
        <p:spPr>
          <a:xfrm>
            <a:off x="1627632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0fd640_pct12"/>
          <p:cNvSpPr txBox="1"/>
          <p:nvPr/>
        </p:nvSpPr>
        <p:spPr>
          <a:xfrm>
            <a:off x="1627632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DBA74"/>
                </a:solidFill>
                <a:latin typeface="Consolas"/>
              </a:rPr>
              <a:t>04</a:t>
            </a:r>
          </a:p>
        </p:txBody>
      </p:sp>
      <p:sp>
        <p:nvSpPr>
          <p:cNvPr id="14" name="a0fd720_pc13"/>
          <p:cNvSpPr/>
          <p:nvPr/>
        </p:nvSpPr>
        <p:spPr>
          <a:xfrm>
            <a:off x="2002536" y="4160520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0fd720_pct14"/>
          <p:cNvSpPr txBox="1"/>
          <p:nvPr/>
        </p:nvSpPr>
        <p:spPr>
          <a:xfrm>
            <a:off x="2002536" y="41605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C2410C"/>
                </a:solidFill>
                <a:latin typeface="Consolas"/>
              </a:rPr>
              <a:t>05</a:t>
            </a:r>
          </a:p>
        </p:txBody>
      </p:sp>
      <p:sp>
        <p:nvSpPr>
          <p:cNvPr id="16" name="a0ud250_h15"/>
          <p:cNvSpPr txBox="1"/>
          <p:nvPr/>
        </p:nvSpPr>
        <p:spPr>
          <a:xfrm>
            <a:off x="3429000" y="868680"/>
            <a:ext cx="5257800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50" b="0">
                <a:solidFill>
                  <a:srgbClr val="FFFFFF"/>
                </a:solidFill>
                <a:latin typeface="Bahnschrift SemiBold"/>
              </a:rPr>
              <a:t>Sync vs Async</a:t>
            </a:r>
          </a:p>
        </p:txBody>
      </p:sp>
      <p:sp>
        <p:nvSpPr>
          <p:cNvPr id="17" name="a0wd450_hb16"/>
          <p:cNvSpPr/>
          <p:nvPr/>
        </p:nvSpPr>
        <p:spPr>
          <a:xfrm>
            <a:off x="3429000" y="2212848"/>
            <a:ext cx="54864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0fd500_t17"/>
          <p:cNvSpPr txBox="1"/>
          <p:nvPr/>
        </p:nvSpPr>
        <p:spPr>
          <a:xfrm>
            <a:off x="3429000" y="239572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6D3D1"/>
                </a:solidFill>
                <a:latin typeface="Segoe UI"/>
              </a:rPr>
              <a:t>Who waits for whom - and what the waiting costs</a:t>
            </a:r>
          </a:p>
        </p:txBody>
      </p:sp>
      <p:sp>
        <p:nvSpPr>
          <p:cNvPr id="19" name="a0ud700_dd18"/>
          <p:cNvSpPr/>
          <p:nvPr/>
        </p:nvSpPr>
        <p:spPr>
          <a:xfrm>
            <a:off x="3429000" y="3236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ud700_di19"/>
          <p:cNvSpPr txBox="1"/>
          <p:nvPr/>
        </p:nvSpPr>
        <p:spPr>
          <a:xfrm>
            <a:off x="3666744" y="315468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Blocking</a:t>
            </a:r>
          </a:p>
        </p:txBody>
      </p:sp>
      <p:sp>
        <p:nvSpPr>
          <p:cNvPr id="21" name="a0ud820_dd20"/>
          <p:cNvSpPr/>
          <p:nvPr/>
        </p:nvSpPr>
        <p:spPr>
          <a:xfrm>
            <a:off x="3429000" y="360273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0ud820_di21"/>
          <p:cNvSpPr txBox="1"/>
          <p:nvPr/>
        </p:nvSpPr>
        <p:spPr>
          <a:xfrm>
            <a:off x="3666744" y="352044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Callbacks</a:t>
            </a:r>
          </a:p>
        </p:txBody>
      </p:sp>
      <p:sp>
        <p:nvSpPr>
          <p:cNvPr id="23" name="a0ud940_dd22"/>
          <p:cNvSpPr/>
          <p:nvPr/>
        </p:nvSpPr>
        <p:spPr>
          <a:xfrm>
            <a:off x="3429000" y="396849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0ud940_di23"/>
          <p:cNvSpPr txBox="1"/>
          <p:nvPr/>
        </p:nvSpPr>
        <p:spPr>
          <a:xfrm>
            <a:off x="3666744" y="388620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Fire-and-forget</a:t>
            </a:r>
          </a:p>
        </p:txBody>
      </p:sp>
      <p:sp>
        <p:nvSpPr>
          <p:cNvPr id="25" name="a0ud1060_dd24"/>
          <p:cNvSpPr/>
          <p:nvPr/>
        </p:nvSpPr>
        <p:spPr>
          <a:xfrm>
            <a:off x="3429000" y="433425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0ud1060_di25"/>
          <p:cNvSpPr txBox="1"/>
          <p:nvPr/>
        </p:nvSpPr>
        <p:spPr>
          <a:xfrm>
            <a:off x="3666744" y="425196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E5E4"/>
                </a:solidFill>
                <a:latin typeface="Segoe UI"/>
              </a:rPr>
              <a:t>Hybrid patterns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Two Ways to Talk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The same exchange, drawn as time flowing downwards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50292" cy="30175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hh12"/>
          <p:cNvSpPr txBox="1"/>
          <p:nvPr/>
        </p:nvSpPr>
        <p:spPr>
          <a:xfrm>
            <a:off x="658368" y="1307592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A580C"/>
                </a:solidFill>
                <a:latin typeface="Segoe UI"/>
              </a:rPr>
              <a:t>SYNCHRONOUS</a:t>
            </a:r>
          </a:p>
        </p:txBody>
      </p:sp>
      <p:sp>
        <p:nvSpPr>
          <p:cNvPr id="14" name="a1u_lb13"/>
          <p:cNvSpPr txBox="1"/>
          <p:nvPr/>
        </p:nvSpPr>
        <p:spPr>
          <a:xfrm>
            <a:off x="548640" y="15727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Caller</a:t>
            </a:r>
          </a:p>
        </p:txBody>
      </p:sp>
      <p:cxnSp>
        <p:nvCxnSpPr>
          <p:cNvPr id="15" name="a1u_ln14"/>
          <p:cNvCxnSpPr/>
          <p:nvPr/>
        </p:nvCxnSpPr>
        <p:spPr>
          <a:xfrm>
            <a:off x="1097280" y="1801368"/>
            <a:ext cx="0" cy="1901952"/>
          </a:xfrm>
          <a:prstGeom prst="line">
            <a:avLst/>
          </a:prstGeom>
          <a:ln w="12700">
            <a:solidFill>
              <a:srgbClr val="E7E5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1u_lb15"/>
          <p:cNvSpPr txBox="1"/>
          <p:nvPr/>
        </p:nvSpPr>
        <p:spPr>
          <a:xfrm>
            <a:off x="3017520" y="15727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Receiver</a:t>
            </a:r>
          </a:p>
        </p:txBody>
      </p:sp>
      <p:cxnSp>
        <p:nvCxnSpPr>
          <p:cNvPr id="17" name="a1u_ln16"/>
          <p:cNvCxnSpPr/>
          <p:nvPr/>
        </p:nvCxnSpPr>
        <p:spPr>
          <a:xfrm>
            <a:off x="3566160" y="1801368"/>
            <a:ext cx="0" cy="1901952"/>
          </a:xfrm>
          <a:prstGeom prst="line">
            <a:avLst/>
          </a:prstGeom>
          <a:ln w="12700">
            <a:solidFill>
              <a:srgbClr val="E7E5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1ud150_ar17"/>
          <p:cNvCxnSpPr/>
          <p:nvPr/>
        </p:nvCxnSpPr>
        <p:spPr>
          <a:xfrm>
            <a:off x="1143000" y="1965960"/>
            <a:ext cx="2377440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1ud150_lb18"/>
          <p:cNvSpPr txBox="1"/>
          <p:nvPr/>
        </p:nvSpPr>
        <p:spPr>
          <a:xfrm>
            <a:off x="1463040" y="177393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request</a:t>
            </a:r>
          </a:p>
        </p:txBody>
      </p:sp>
      <p:sp>
        <p:nvSpPr>
          <p:cNvPr id="20" name="a1ud250_bar19"/>
          <p:cNvSpPr/>
          <p:nvPr/>
        </p:nvSpPr>
        <p:spPr>
          <a:xfrm>
            <a:off x="3493008" y="2011680"/>
            <a:ext cx="146304" cy="914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ud250_bar20"/>
          <p:cNvSpPr/>
          <p:nvPr/>
        </p:nvSpPr>
        <p:spPr>
          <a:xfrm>
            <a:off x="1024128" y="2011680"/>
            <a:ext cx="146304" cy="100584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ud250_lb21"/>
          <p:cNvSpPr txBox="1"/>
          <p:nvPr/>
        </p:nvSpPr>
        <p:spPr>
          <a:xfrm>
            <a:off x="1234440" y="239572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16207"/>
                </a:solidFill>
                <a:latin typeface="Segoe UI"/>
              </a:rPr>
              <a:t>caller waits</a:t>
            </a:r>
          </a:p>
        </p:txBody>
      </p:sp>
      <p:cxnSp>
        <p:nvCxnSpPr>
          <p:cNvPr id="23" name="a1ud400_ar22"/>
          <p:cNvCxnSpPr/>
          <p:nvPr/>
        </p:nvCxnSpPr>
        <p:spPr>
          <a:xfrm flipH="1">
            <a:off x="1143000" y="3017520"/>
            <a:ext cx="2377440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1ud400_lb23"/>
          <p:cNvSpPr txBox="1"/>
          <p:nvPr/>
        </p:nvSpPr>
        <p:spPr>
          <a:xfrm>
            <a:off x="1463040" y="305409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Segoe UI"/>
              </a:rPr>
              <a:t>response</a:t>
            </a:r>
          </a:p>
        </p:txBody>
      </p:sp>
      <p:sp>
        <p:nvSpPr>
          <p:cNvPr id="25" name="a1ud500_lb24"/>
          <p:cNvSpPr txBox="1"/>
          <p:nvPr/>
        </p:nvSpPr>
        <p:spPr>
          <a:xfrm>
            <a:off x="640080" y="3822191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Caller's time = its work + the receiver's work</a:t>
            </a:r>
          </a:p>
        </p:txBody>
      </p:sp>
      <p:sp>
        <p:nvSpPr>
          <p:cNvPr id="26" name="a2u_card25"/>
          <p:cNvSpPr/>
          <p:nvPr/>
        </p:nvSpPr>
        <p:spPr>
          <a:xfrm>
            <a:off x="4663440" y="1216152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_acc26"/>
          <p:cNvSpPr/>
          <p:nvPr/>
        </p:nvSpPr>
        <p:spPr>
          <a:xfrm>
            <a:off x="4663440" y="1216152"/>
            <a:ext cx="50292" cy="30175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_hh27"/>
          <p:cNvSpPr txBox="1"/>
          <p:nvPr/>
        </p:nvSpPr>
        <p:spPr>
          <a:xfrm>
            <a:off x="4864608" y="1307592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ASYNCHRONOUS</a:t>
            </a:r>
          </a:p>
        </p:txBody>
      </p:sp>
      <p:sp>
        <p:nvSpPr>
          <p:cNvPr id="29" name="a2u_lb28"/>
          <p:cNvSpPr txBox="1"/>
          <p:nvPr/>
        </p:nvSpPr>
        <p:spPr>
          <a:xfrm>
            <a:off x="4709160" y="15727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Caller</a:t>
            </a:r>
          </a:p>
        </p:txBody>
      </p:sp>
      <p:cxnSp>
        <p:nvCxnSpPr>
          <p:cNvPr id="30" name="a2u_ln29"/>
          <p:cNvCxnSpPr/>
          <p:nvPr/>
        </p:nvCxnSpPr>
        <p:spPr>
          <a:xfrm>
            <a:off x="5257800" y="1801368"/>
            <a:ext cx="0" cy="1901952"/>
          </a:xfrm>
          <a:prstGeom prst="line">
            <a:avLst/>
          </a:prstGeom>
          <a:ln w="12700">
            <a:solidFill>
              <a:srgbClr val="E7E5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2u_lb30"/>
          <p:cNvSpPr txBox="1"/>
          <p:nvPr/>
        </p:nvSpPr>
        <p:spPr>
          <a:xfrm>
            <a:off x="6126480" y="15727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Broker</a:t>
            </a:r>
          </a:p>
        </p:txBody>
      </p:sp>
      <p:cxnSp>
        <p:nvCxnSpPr>
          <p:cNvPr id="32" name="a2u_ln31"/>
          <p:cNvCxnSpPr/>
          <p:nvPr/>
        </p:nvCxnSpPr>
        <p:spPr>
          <a:xfrm>
            <a:off x="6675120" y="1801368"/>
            <a:ext cx="0" cy="1901952"/>
          </a:xfrm>
          <a:prstGeom prst="line">
            <a:avLst/>
          </a:prstGeom>
          <a:ln w="12700">
            <a:solidFill>
              <a:srgbClr val="E7E5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2u_lb32"/>
          <p:cNvSpPr txBox="1"/>
          <p:nvPr/>
        </p:nvSpPr>
        <p:spPr>
          <a:xfrm>
            <a:off x="7543800" y="15727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Receiver</a:t>
            </a:r>
          </a:p>
        </p:txBody>
      </p:sp>
      <p:cxnSp>
        <p:nvCxnSpPr>
          <p:cNvPr id="34" name="a2u_ln33"/>
          <p:cNvCxnSpPr/>
          <p:nvPr/>
        </p:nvCxnSpPr>
        <p:spPr>
          <a:xfrm>
            <a:off x="8092440" y="1801368"/>
            <a:ext cx="0" cy="1901952"/>
          </a:xfrm>
          <a:prstGeom prst="line">
            <a:avLst/>
          </a:prstGeom>
          <a:ln w="12700">
            <a:solidFill>
              <a:srgbClr val="E7E5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2ud150_ar34"/>
          <p:cNvCxnSpPr/>
          <p:nvPr/>
        </p:nvCxnSpPr>
        <p:spPr>
          <a:xfrm>
            <a:off x="5303520" y="1965960"/>
            <a:ext cx="1325880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2ud150_lb35"/>
          <p:cNvSpPr txBox="1"/>
          <p:nvPr/>
        </p:nvSpPr>
        <p:spPr>
          <a:xfrm>
            <a:off x="5349240" y="1773936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event</a:t>
            </a:r>
          </a:p>
        </p:txBody>
      </p:sp>
      <p:cxnSp>
        <p:nvCxnSpPr>
          <p:cNvPr id="37" name="a2ud250_ar36"/>
          <p:cNvCxnSpPr/>
          <p:nvPr/>
        </p:nvCxnSpPr>
        <p:spPr>
          <a:xfrm flipH="1">
            <a:off x="5303520" y="2212848"/>
            <a:ext cx="1325880" cy="0"/>
          </a:xfrm>
          <a:prstGeom prst="line">
            <a:avLst/>
          </a:prstGeom>
          <a:ln w="12700">
            <a:solidFill>
              <a:srgbClr val="78716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2ud250_lb37"/>
          <p:cNvSpPr txBox="1"/>
          <p:nvPr/>
        </p:nvSpPr>
        <p:spPr>
          <a:xfrm>
            <a:off x="5349240" y="2231136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78716C"/>
                </a:solidFill>
                <a:latin typeface="Segoe UI"/>
              </a:rPr>
              <a:t>stored</a:t>
            </a:r>
          </a:p>
        </p:txBody>
      </p:sp>
      <p:sp>
        <p:nvSpPr>
          <p:cNvPr id="39" name="a2ud300_bar38"/>
          <p:cNvSpPr/>
          <p:nvPr/>
        </p:nvSpPr>
        <p:spPr>
          <a:xfrm>
            <a:off x="5184648" y="2011680"/>
            <a:ext cx="146304" cy="15544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ud300_lb39"/>
          <p:cNvSpPr txBox="1"/>
          <p:nvPr/>
        </p:nvSpPr>
        <p:spPr>
          <a:xfrm>
            <a:off x="5394960" y="2788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5803D"/>
                </a:solidFill>
                <a:latin typeface="Segoe UI"/>
              </a:rPr>
              <a:t>keeps working</a:t>
            </a:r>
          </a:p>
        </p:txBody>
      </p:sp>
      <p:cxnSp>
        <p:nvCxnSpPr>
          <p:cNvPr id="41" name="a3u_ar40"/>
          <p:cNvCxnSpPr/>
          <p:nvPr/>
        </p:nvCxnSpPr>
        <p:spPr>
          <a:xfrm>
            <a:off x="6720840" y="2926080"/>
            <a:ext cx="1325880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3u_lb41"/>
          <p:cNvSpPr txBox="1"/>
          <p:nvPr/>
        </p:nvSpPr>
        <p:spPr>
          <a:xfrm>
            <a:off x="6720840" y="272491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E7490"/>
                </a:solidFill>
                <a:latin typeface="Segoe UI"/>
              </a:rPr>
              <a:t>when it is ready</a:t>
            </a:r>
          </a:p>
        </p:txBody>
      </p:sp>
      <p:sp>
        <p:nvSpPr>
          <p:cNvPr id="43" name="a3ud100_bar42"/>
          <p:cNvSpPr/>
          <p:nvPr/>
        </p:nvSpPr>
        <p:spPr>
          <a:xfrm>
            <a:off x="8019288" y="2971800"/>
            <a:ext cx="146304" cy="5943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3ud200_lb43"/>
          <p:cNvSpPr txBox="1"/>
          <p:nvPr/>
        </p:nvSpPr>
        <p:spPr>
          <a:xfrm>
            <a:off x="4846320" y="3822191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C1917"/>
                </a:solidFill>
                <a:latin typeface="Segoe UI"/>
              </a:rPr>
              <a:t>Caller's time = its work + a hand-off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46</a:t>
            </a:r>
          </a:p>
        </p:txBody>
      </p:sp>
      <p:sp>
        <p:nvSpPr>
          <p:cNvPr id="46" name="ft45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t46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8" name="ft4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Synchronous vs Asynchronous, Side by Side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Neither is better - they answer different questions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216152"/>
            <a:ext cx="1828800" cy="338328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216152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3" name="a1wd110_td12"/>
          <p:cNvSpPr/>
          <p:nvPr/>
        </p:nvSpPr>
        <p:spPr>
          <a:xfrm>
            <a:off x="457200" y="1554480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10_tdt13"/>
          <p:cNvSpPr txBox="1"/>
          <p:nvPr/>
        </p:nvSpPr>
        <p:spPr>
          <a:xfrm>
            <a:off x="530352" y="1554480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Caller waits?</a:t>
            </a:r>
          </a:p>
        </p:txBody>
      </p:sp>
      <p:sp>
        <p:nvSpPr>
          <p:cNvPr id="15" name="a1wd220_td14"/>
          <p:cNvSpPr/>
          <p:nvPr/>
        </p:nvSpPr>
        <p:spPr>
          <a:xfrm>
            <a:off x="457200" y="1892808"/>
            <a:ext cx="18288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20_tdt15"/>
          <p:cNvSpPr txBox="1"/>
          <p:nvPr/>
        </p:nvSpPr>
        <p:spPr>
          <a:xfrm>
            <a:off x="530352" y="1892808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Both up at once?</a:t>
            </a:r>
          </a:p>
        </p:txBody>
      </p:sp>
      <p:sp>
        <p:nvSpPr>
          <p:cNvPr id="17" name="a1wd330_td16"/>
          <p:cNvSpPr/>
          <p:nvPr/>
        </p:nvSpPr>
        <p:spPr>
          <a:xfrm>
            <a:off x="457200" y="2231136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30_tdt17"/>
          <p:cNvSpPr txBox="1"/>
          <p:nvPr/>
        </p:nvSpPr>
        <p:spPr>
          <a:xfrm>
            <a:off x="530352" y="2231136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Latency the caller sees</a:t>
            </a:r>
          </a:p>
        </p:txBody>
      </p:sp>
      <p:sp>
        <p:nvSpPr>
          <p:cNvPr id="19" name="a1wd440_td18"/>
          <p:cNvSpPr/>
          <p:nvPr/>
        </p:nvSpPr>
        <p:spPr>
          <a:xfrm>
            <a:off x="457200" y="2569464"/>
            <a:ext cx="18288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40_tdt19"/>
          <p:cNvSpPr txBox="1"/>
          <p:nvPr/>
        </p:nvSpPr>
        <p:spPr>
          <a:xfrm>
            <a:off x="530352" y="2569464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If the receiver fails</a:t>
            </a:r>
          </a:p>
        </p:txBody>
      </p:sp>
      <p:sp>
        <p:nvSpPr>
          <p:cNvPr id="21" name="a1wd550_td20"/>
          <p:cNvSpPr/>
          <p:nvPr/>
        </p:nvSpPr>
        <p:spPr>
          <a:xfrm>
            <a:off x="457200" y="2907792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550_tdt21"/>
          <p:cNvSpPr txBox="1"/>
          <p:nvPr/>
        </p:nvSpPr>
        <p:spPr>
          <a:xfrm>
            <a:off x="530352" y="2907792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Throughput</a:t>
            </a:r>
          </a:p>
        </p:txBody>
      </p:sp>
      <p:sp>
        <p:nvSpPr>
          <p:cNvPr id="23" name="a1wd660_td22"/>
          <p:cNvSpPr/>
          <p:nvPr/>
        </p:nvSpPr>
        <p:spPr>
          <a:xfrm>
            <a:off x="457200" y="3246120"/>
            <a:ext cx="18288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660_tdt23"/>
          <p:cNvSpPr txBox="1"/>
          <p:nvPr/>
        </p:nvSpPr>
        <p:spPr>
          <a:xfrm>
            <a:off x="530352" y="3246120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Consistency</a:t>
            </a:r>
          </a:p>
        </p:txBody>
      </p:sp>
      <p:sp>
        <p:nvSpPr>
          <p:cNvPr id="25" name="a1wd770_td24"/>
          <p:cNvSpPr/>
          <p:nvPr/>
        </p:nvSpPr>
        <p:spPr>
          <a:xfrm>
            <a:off x="457200" y="3584448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770_tdt25"/>
          <p:cNvSpPr txBox="1"/>
          <p:nvPr/>
        </p:nvSpPr>
        <p:spPr>
          <a:xfrm>
            <a:off x="530352" y="3584448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Debugging</a:t>
            </a:r>
          </a:p>
        </p:txBody>
      </p:sp>
      <p:sp>
        <p:nvSpPr>
          <p:cNvPr id="27" name="a1wd880_td26"/>
          <p:cNvSpPr/>
          <p:nvPr/>
        </p:nvSpPr>
        <p:spPr>
          <a:xfrm>
            <a:off x="457200" y="3922776"/>
            <a:ext cx="18288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880_tdt27"/>
          <p:cNvSpPr txBox="1"/>
          <p:nvPr/>
        </p:nvSpPr>
        <p:spPr>
          <a:xfrm>
            <a:off x="530352" y="3922776"/>
            <a:ext cx="17190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Horizon Bank uses it for</a:t>
            </a:r>
          </a:p>
        </p:txBody>
      </p:sp>
      <p:sp>
        <p:nvSpPr>
          <p:cNvPr id="29" name="a1f_th28"/>
          <p:cNvSpPr/>
          <p:nvPr/>
        </p:nvSpPr>
        <p:spPr>
          <a:xfrm>
            <a:off x="2286000" y="1216152"/>
            <a:ext cx="3200400" cy="3383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f_tht29"/>
          <p:cNvSpPr txBox="1"/>
          <p:nvPr/>
        </p:nvSpPr>
        <p:spPr>
          <a:xfrm>
            <a:off x="2359152" y="1216152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Synchronous</a:t>
            </a:r>
          </a:p>
        </p:txBody>
      </p:sp>
      <p:sp>
        <p:nvSpPr>
          <p:cNvPr id="31" name="a1wd110_td30"/>
          <p:cNvSpPr/>
          <p:nvPr/>
        </p:nvSpPr>
        <p:spPr>
          <a:xfrm>
            <a:off x="2286000" y="1554480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110_tdt31"/>
          <p:cNvSpPr txBox="1"/>
          <p:nvPr/>
        </p:nvSpPr>
        <p:spPr>
          <a:xfrm>
            <a:off x="2359152" y="1554480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Yes - until an answer or a timeout</a:t>
            </a:r>
          </a:p>
        </p:txBody>
      </p:sp>
      <p:sp>
        <p:nvSpPr>
          <p:cNvPr id="33" name="a1wd220_td32"/>
          <p:cNvSpPr/>
          <p:nvPr/>
        </p:nvSpPr>
        <p:spPr>
          <a:xfrm>
            <a:off x="2286000" y="1892808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220_tdt33"/>
          <p:cNvSpPr txBox="1"/>
          <p:nvPr/>
        </p:nvSpPr>
        <p:spPr>
          <a:xfrm>
            <a:off x="2359152" y="1892808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Required</a:t>
            </a:r>
          </a:p>
        </p:txBody>
      </p:sp>
      <p:sp>
        <p:nvSpPr>
          <p:cNvPr id="35" name="a1wd330_td34"/>
          <p:cNvSpPr/>
          <p:nvPr/>
        </p:nvSpPr>
        <p:spPr>
          <a:xfrm>
            <a:off x="2286000" y="2231136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330_tdt35"/>
          <p:cNvSpPr txBox="1"/>
          <p:nvPr/>
        </p:nvSpPr>
        <p:spPr>
          <a:xfrm>
            <a:off x="2359152" y="2231136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Its work + every call it makes</a:t>
            </a:r>
          </a:p>
        </p:txBody>
      </p:sp>
      <p:sp>
        <p:nvSpPr>
          <p:cNvPr id="37" name="a1wd440_td36"/>
          <p:cNvSpPr/>
          <p:nvPr/>
        </p:nvSpPr>
        <p:spPr>
          <a:xfrm>
            <a:off x="2286000" y="2569464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440_tdt37"/>
          <p:cNvSpPr txBox="1"/>
          <p:nvPr/>
        </p:nvSpPr>
        <p:spPr>
          <a:xfrm>
            <a:off x="2359152" y="2569464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The caller fails too</a:t>
            </a:r>
          </a:p>
        </p:txBody>
      </p:sp>
      <p:sp>
        <p:nvSpPr>
          <p:cNvPr id="39" name="a1wd550_td38"/>
          <p:cNvSpPr/>
          <p:nvPr/>
        </p:nvSpPr>
        <p:spPr>
          <a:xfrm>
            <a:off x="2286000" y="2907792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550_tdt39"/>
          <p:cNvSpPr txBox="1"/>
          <p:nvPr/>
        </p:nvSpPr>
        <p:spPr>
          <a:xfrm>
            <a:off x="2359152" y="2907792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Limited by the slowest call</a:t>
            </a:r>
          </a:p>
        </p:txBody>
      </p:sp>
      <p:sp>
        <p:nvSpPr>
          <p:cNvPr id="41" name="a1wd660_td40"/>
          <p:cNvSpPr/>
          <p:nvPr/>
        </p:nvSpPr>
        <p:spPr>
          <a:xfrm>
            <a:off x="2286000" y="3246120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660_tdt41"/>
          <p:cNvSpPr txBox="1"/>
          <p:nvPr/>
        </p:nvSpPr>
        <p:spPr>
          <a:xfrm>
            <a:off x="2359152" y="3246120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Immediate</a:t>
            </a:r>
          </a:p>
        </p:txBody>
      </p:sp>
      <p:sp>
        <p:nvSpPr>
          <p:cNvPr id="43" name="a1wd770_td42"/>
          <p:cNvSpPr/>
          <p:nvPr/>
        </p:nvSpPr>
        <p:spPr>
          <a:xfrm>
            <a:off x="2286000" y="3584448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770_tdt43"/>
          <p:cNvSpPr txBox="1"/>
          <p:nvPr/>
        </p:nvSpPr>
        <p:spPr>
          <a:xfrm>
            <a:off x="2359152" y="3584448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One call stack</a:t>
            </a:r>
          </a:p>
        </p:txBody>
      </p:sp>
      <p:sp>
        <p:nvSpPr>
          <p:cNvPr id="45" name="a1wd880_td44"/>
          <p:cNvSpPr/>
          <p:nvPr/>
        </p:nvSpPr>
        <p:spPr>
          <a:xfrm>
            <a:off x="2286000" y="3922776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880_tdt45"/>
          <p:cNvSpPr txBox="1"/>
          <p:nvPr/>
        </p:nvSpPr>
        <p:spPr>
          <a:xfrm>
            <a:off x="2359152" y="3922776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Balance, OTP, card authorisation</a:t>
            </a:r>
          </a:p>
        </p:txBody>
      </p:sp>
      <p:sp>
        <p:nvSpPr>
          <p:cNvPr id="47" name="a1f_th46"/>
          <p:cNvSpPr/>
          <p:nvPr/>
        </p:nvSpPr>
        <p:spPr>
          <a:xfrm>
            <a:off x="5486400" y="1216152"/>
            <a:ext cx="3200400" cy="3383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f_tht47"/>
          <p:cNvSpPr txBox="1"/>
          <p:nvPr/>
        </p:nvSpPr>
        <p:spPr>
          <a:xfrm>
            <a:off x="5559552" y="1216152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Asynchronous</a:t>
            </a:r>
          </a:p>
        </p:txBody>
      </p:sp>
      <p:sp>
        <p:nvSpPr>
          <p:cNvPr id="49" name="a1wd110_td48"/>
          <p:cNvSpPr/>
          <p:nvPr/>
        </p:nvSpPr>
        <p:spPr>
          <a:xfrm>
            <a:off x="5486400" y="1554480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110_tdt49"/>
          <p:cNvSpPr txBox="1"/>
          <p:nvPr/>
        </p:nvSpPr>
        <p:spPr>
          <a:xfrm>
            <a:off x="5559552" y="1554480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No - hands off and continues</a:t>
            </a:r>
          </a:p>
        </p:txBody>
      </p:sp>
      <p:sp>
        <p:nvSpPr>
          <p:cNvPr id="51" name="a1wd220_td50"/>
          <p:cNvSpPr/>
          <p:nvPr/>
        </p:nvSpPr>
        <p:spPr>
          <a:xfrm>
            <a:off x="5486400" y="1892808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220_tdt51"/>
          <p:cNvSpPr txBox="1"/>
          <p:nvPr/>
        </p:nvSpPr>
        <p:spPr>
          <a:xfrm>
            <a:off x="5559552" y="1892808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Not required - the broker holds it</a:t>
            </a:r>
          </a:p>
        </p:txBody>
      </p:sp>
      <p:sp>
        <p:nvSpPr>
          <p:cNvPr id="53" name="a1wd330_td52"/>
          <p:cNvSpPr/>
          <p:nvPr/>
        </p:nvSpPr>
        <p:spPr>
          <a:xfrm>
            <a:off x="5486400" y="2231136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330_tdt53"/>
          <p:cNvSpPr txBox="1"/>
          <p:nvPr/>
        </p:nvSpPr>
        <p:spPr>
          <a:xfrm>
            <a:off x="5559552" y="2231136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Its work + a hand-off</a:t>
            </a:r>
          </a:p>
        </p:txBody>
      </p:sp>
      <p:sp>
        <p:nvSpPr>
          <p:cNvPr id="55" name="a1wd440_td54"/>
          <p:cNvSpPr/>
          <p:nvPr/>
        </p:nvSpPr>
        <p:spPr>
          <a:xfrm>
            <a:off x="5486400" y="2569464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440_tdt55"/>
          <p:cNvSpPr txBox="1"/>
          <p:nvPr/>
        </p:nvSpPr>
        <p:spPr>
          <a:xfrm>
            <a:off x="5559552" y="2569464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The receiver falls behind, then catches up</a:t>
            </a:r>
          </a:p>
        </p:txBody>
      </p:sp>
      <p:sp>
        <p:nvSpPr>
          <p:cNvPr id="57" name="a1wd550_td56"/>
          <p:cNvSpPr/>
          <p:nvPr/>
        </p:nvSpPr>
        <p:spPr>
          <a:xfrm>
            <a:off x="5486400" y="2907792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550_tdt57"/>
          <p:cNvSpPr txBox="1"/>
          <p:nvPr/>
        </p:nvSpPr>
        <p:spPr>
          <a:xfrm>
            <a:off x="5559552" y="2907792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Limited by the broker - very high</a:t>
            </a:r>
          </a:p>
        </p:txBody>
      </p:sp>
      <p:sp>
        <p:nvSpPr>
          <p:cNvPr id="59" name="a1wd660_td58"/>
          <p:cNvSpPr/>
          <p:nvPr/>
        </p:nvSpPr>
        <p:spPr>
          <a:xfrm>
            <a:off x="5486400" y="3246120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wd660_tdt59"/>
          <p:cNvSpPr txBox="1"/>
          <p:nvPr/>
        </p:nvSpPr>
        <p:spPr>
          <a:xfrm>
            <a:off x="5559552" y="3246120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Eventual - seconds, not now</a:t>
            </a:r>
          </a:p>
        </p:txBody>
      </p:sp>
      <p:sp>
        <p:nvSpPr>
          <p:cNvPr id="61" name="a1wd770_td60"/>
          <p:cNvSpPr/>
          <p:nvPr/>
        </p:nvSpPr>
        <p:spPr>
          <a:xfrm>
            <a:off x="5486400" y="3584448"/>
            <a:ext cx="3200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770_tdt61"/>
          <p:cNvSpPr txBox="1"/>
          <p:nvPr/>
        </p:nvSpPr>
        <p:spPr>
          <a:xfrm>
            <a:off x="5559552" y="3584448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Correlation ids across services</a:t>
            </a:r>
          </a:p>
        </p:txBody>
      </p:sp>
      <p:sp>
        <p:nvSpPr>
          <p:cNvPr id="63" name="a1wd880_td62"/>
          <p:cNvSpPr/>
          <p:nvPr/>
        </p:nvSpPr>
        <p:spPr>
          <a:xfrm>
            <a:off x="5486400" y="3922776"/>
            <a:ext cx="3200400" cy="338328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880_tdt63"/>
          <p:cNvSpPr txBox="1"/>
          <p:nvPr/>
        </p:nvSpPr>
        <p:spPr>
          <a:xfrm>
            <a:off x="5559552" y="3922776"/>
            <a:ext cx="30906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SMS, fraud analytics, ledger feed, warehouse</a:t>
            </a:r>
          </a:p>
        </p:txBody>
      </p:sp>
      <p:sp>
        <p:nvSpPr>
          <p:cNvPr id="65" name="ft64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47</a:t>
            </a:r>
          </a:p>
        </p:txBody>
      </p:sp>
      <p:sp>
        <p:nvSpPr>
          <p:cNvPr id="66" name="ft65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ft66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68" name="ft6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Async Inside Kafka Itself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Two separate hand-offs - and you only choose how to wait on the first</a:t>
            </a:r>
          </a:p>
        </p:txBody>
      </p:sp>
      <p:sp>
        <p:nvSpPr>
          <p:cNvPr id="11" name="a1u_nd10"/>
          <p:cNvSpPr/>
          <p:nvPr/>
        </p:nvSpPr>
        <p:spPr>
          <a:xfrm>
            <a:off x="457200" y="1298448"/>
            <a:ext cx="1554480" cy="640080"/>
          </a:xfrm>
          <a:prstGeom prst="roundRect">
            <a:avLst>
              <a:gd name="adj" fmla="val 11428"/>
            </a:avLst>
          </a:prstGeom>
          <a:solidFill>
            <a:srgbClr val="F7F6F3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dt11"/>
          <p:cNvSpPr txBox="1"/>
          <p:nvPr/>
        </p:nvSpPr>
        <p:spPr>
          <a:xfrm>
            <a:off x="502920" y="1298448"/>
            <a:ext cx="14630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Producer</a:t>
            </a:r>
          </a:p>
        </p:txBody>
      </p:sp>
      <p:sp>
        <p:nvSpPr>
          <p:cNvPr id="13" name="a1ud100_nd12"/>
          <p:cNvSpPr/>
          <p:nvPr/>
        </p:nvSpPr>
        <p:spPr>
          <a:xfrm>
            <a:off x="3794760" y="1298448"/>
            <a:ext cx="1554480" cy="640080"/>
          </a:xfrm>
          <a:prstGeom prst="roundRect">
            <a:avLst>
              <a:gd name="adj" fmla="val 11428"/>
            </a:avLst>
          </a:prstGeom>
          <a:solidFill>
            <a:srgbClr val="F7F6F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100_ndt13"/>
          <p:cNvSpPr txBox="1"/>
          <p:nvPr/>
        </p:nvSpPr>
        <p:spPr>
          <a:xfrm>
            <a:off x="3840480" y="1298448"/>
            <a:ext cx="14630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Broker</a:t>
            </a:r>
          </a:p>
        </p:txBody>
      </p:sp>
      <p:sp>
        <p:nvSpPr>
          <p:cNvPr id="15" name="a1ud200_nd14"/>
          <p:cNvSpPr/>
          <p:nvPr/>
        </p:nvSpPr>
        <p:spPr>
          <a:xfrm>
            <a:off x="7132320" y="1298448"/>
            <a:ext cx="1554480" cy="640080"/>
          </a:xfrm>
          <a:prstGeom prst="roundRect">
            <a:avLst>
              <a:gd name="adj" fmla="val 11428"/>
            </a:avLst>
          </a:prstGeom>
          <a:solidFill>
            <a:srgbClr val="F7F6F3"/>
          </a:solidFill>
          <a:ln w="15875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200_ndt15"/>
          <p:cNvSpPr txBox="1"/>
          <p:nvPr/>
        </p:nvSpPr>
        <p:spPr>
          <a:xfrm>
            <a:off x="7178040" y="1298448"/>
            <a:ext cx="14630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C1917"/>
                </a:solidFill>
                <a:latin typeface="Segoe UI"/>
              </a:rPr>
              <a:t>Consumer</a:t>
            </a:r>
          </a:p>
        </p:txBody>
      </p:sp>
      <p:cxnSp>
        <p:nvCxnSpPr>
          <p:cNvPr id="17" name="a2u_ar16"/>
          <p:cNvCxnSpPr/>
          <p:nvPr/>
        </p:nvCxnSpPr>
        <p:spPr>
          <a:xfrm>
            <a:off x="2039112" y="1618488"/>
            <a:ext cx="1728216" cy="0"/>
          </a:xfrm>
          <a:prstGeom prst="line">
            <a:avLst/>
          </a:prstGeom>
          <a:ln w="1905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2u_lb17"/>
          <p:cNvSpPr txBox="1"/>
          <p:nvPr/>
        </p:nvSpPr>
        <p:spPr>
          <a:xfrm>
            <a:off x="2039112" y="137160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2410C"/>
                </a:solidFill>
                <a:latin typeface="Segoe UI"/>
              </a:rPr>
              <a:t>sync OR async - you choose</a:t>
            </a:r>
          </a:p>
        </p:txBody>
      </p:sp>
      <p:cxnSp>
        <p:nvCxnSpPr>
          <p:cNvPr id="19" name="a3u_ar18"/>
          <p:cNvCxnSpPr/>
          <p:nvPr/>
        </p:nvCxnSpPr>
        <p:spPr>
          <a:xfrm>
            <a:off x="5376672" y="1618488"/>
            <a:ext cx="1728216" cy="0"/>
          </a:xfrm>
          <a:prstGeom prst="line">
            <a:avLst/>
          </a:prstGeom>
          <a:ln w="19050">
            <a:solidFill>
              <a:srgbClr val="A162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3u_lb19"/>
          <p:cNvSpPr txBox="1"/>
          <p:nvPr/>
        </p:nvSpPr>
        <p:spPr>
          <a:xfrm>
            <a:off x="5376672" y="137160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A16207"/>
                </a:solidFill>
                <a:latin typeface="Segoe UI"/>
              </a:rPr>
              <a:t>always async - reader polls</a:t>
            </a:r>
          </a:p>
        </p:txBody>
      </p:sp>
      <p:sp>
        <p:nvSpPr>
          <p:cNvPr id="21" name="a4f_codebg20"/>
          <p:cNvSpPr/>
          <p:nvPr/>
        </p:nvSpPr>
        <p:spPr>
          <a:xfrm>
            <a:off x="457200" y="2240280"/>
            <a:ext cx="4023360" cy="1444752"/>
          </a:xfrm>
          <a:prstGeom prst="roundRect">
            <a:avLst>
              <a:gd name="adj" fmla="val 5063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4f_codeh21"/>
          <p:cNvSpPr txBox="1"/>
          <p:nvPr/>
        </p:nvSpPr>
        <p:spPr>
          <a:xfrm>
            <a:off x="585216" y="2295144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SYNC - wait for each ack</a:t>
            </a:r>
          </a:p>
        </p:txBody>
      </p:sp>
      <p:sp>
        <p:nvSpPr>
          <p:cNvPr id="23" name="a4f_codesep22"/>
          <p:cNvSpPr/>
          <p:nvPr/>
        </p:nvSpPr>
        <p:spPr>
          <a:xfrm>
            <a:off x="585216" y="2569464"/>
            <a:ext cx="3767328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w_code23"/>
          <p:cNvSpPr txBox="1"/>
          <p:nvPr/>
        </p:nvSpPr>
        <p:spPr>
          <a:xfrm>
            <a:off x="585216" y="264261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for event in events:</a:t>
            </a:r>
          </a:p>
        </p:txBody>
      </p:sp>
      <p:sp>
        <p:nvSpPr>
          <p:cNvPr id="25" name="a4wd60_code24"/>
          <p:cNvSpPr txBox="1"/>
          <p:nvPr/>
        </p:nvSpPr>
        <p:spPr>
          <a:xfrm>
            <a:off x="585216" y="282549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  producer.produce(TOPIC, key=k, value=v)</a:t>
            </a:r>
          </a:p>
        </p:txBody>
      </p:sp>
      <p:sp>
        <p:nvSpPr>
          <p:cNvPr id="26" name="a4wd120_code25"/>
          <p:cNvSpPr txBox="1"/>
          <p:nvPr/>
        </p:nvSpPr>
        <p:spPr>
          <a:xfrm>
            <a:off x="585216" y="300837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DA4AF"/>
                </a:solidFill>
                <a:latin typeface="Consolas"/>
              </a:rPr>
              <a:t>    producer.flush()      # BLOCK until acked</a:t>
            </a:r>
          </a:p>
        </p:txBody>
      </p:sp>
      <p:sp>
        <p:nvSpPr>
          <p:cNvPr id="27" name="a4wd180_code26"/>
          <p:cNvSpPr txBox="1"/>
          <p:nvPr/>
        </p:nvSpPr>
        <p:spPr>
          <a:xfrm>
            <a:off x="585216" y="319125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8" name="a4wd240_code27"/>
          <p:cNvSpPr txBox="1"/>
          <p:nvPr/>
        </p:nvSpPr>
        <p:spPr>
          <a:xfrm>
            <a:off x="585216" y="337413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A8580"/>
                </a:solidFill>
                <a:latin typeface="Consolas"/>
              </a:rPr>
              <a:t># Java: producer.send(record).get()</a:t>
            </a:r>
          </a:p>
        </p:txBody>
      </p:sp>
      <p:sp>
        <p:nvSpPr>
          <p:cNvPr id="29" name="a5f_codebg28"/>
          <p:cNvSpPr/>
          <p:nvPr/>
        </p:nvSpPr>
        <p:spPr>
          <a:xfrm>
            <a:off x="4663440" y="224028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5f_codeh29"/>
          <p:cNvSpPr txBox="1"/>
          <p:nvPr/>
        </p:nvSpPr>
        <p:spPr>
          <a:xfrm>
            <a:off x="4791455" y="2295144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ASYNC - callback later</a:t>
            </a:r>
          </a:p>
        </p:txBody>
      </p:sp>
      <p:sp>
        <p:nvSpPr>
          <p:cNvPr id="31" name="a5f_codesep30"/>
          <p:cNvSpPr/>
          <p:nvPr/>
        </p:nvSpPr>
        <p:spPr>
          <a:xfrm>
            <a:off x="4791455" y="2569464"/>
            <a:ext cx="3767328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5w_code31"/>
          <p:cNvSpPr txBox="1"/>
          <p:nvPr/>
        </p:nvSpPr>
        <p:spPr>
          <a:xfrm>
            <a:off x="4791455" y="264261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for event in events:</a:t>
            </a:r>
          </a:p>
        </p:txBody>
      </p:sp>
      <p:sp>
        <p:nvSpPr>
          <p:cNvPr id="33" name="a5wd60_code32"/>
          <p:cNvSpPr txBox="1"/>
          <p:nvPr/>
        </p:nvSpPr>
        <p:spPr>
          <a:xfrm>
            <a:off x="4791455" y="282549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  producer.produce(TOPIC, key=k, value=v,</a:t>
            </a:r>
          </a:p>
        </p:txBody>
      </p:sp>
      <p:sp>
        <p:nvSpPr>
          <p:cNvPr id="34" name="a5wd120_code33"/>
          <p:cNvSpPr txBox="1"/>
          <p:nvPr/>
        </p:nvSpPr>
        <p:spPr>
          <a:xfrm>
            <a:off x="4791455" y="300837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                   on_delivery=callback)</a:t>
            </a:r>
          </a:p>
        </p:txBody>
      </p:sp>
      <p:sp>
        <p:nvSpPr>
          <p:cNvPr id="35" name="a5wd180_code34"/>
          <p:cNvSpPr txBox="1"/>
          <p:nvPr/>
        </p:nvSpPr>
        <p:spPr>
          <a:xfrm>
            <a:off x="4791455" y="319125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>    producer.poll(0)      # serve ready acks</a:t>
            </a:r>
          </a:p>
        </p:txBody>
      </p:sp>
      <p:sp>
        <p:nvSpPr>
          <p:cNvPr id="36" name="a5wd240_code35"/>
          <p:cNvSpPr txBox="1"/>
          <p:nvPr/>
        </p:nvSpPr>
        <p:spPr>
          <a:xfrm>
            <a:off x="4791455" y="337413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nsolas"/>
              </a:rPr>
              <a:t>producer.flush()          # ONE wait, at the end</a:t>
            </a:r>
          </a:p>
        </p:txBody>
      </p:sp>
      <p:sp>
        <p:nvSpPr>
          <p:cNvPr id="37" name="a5wd300_code36"/>
          <p:cNvSpPr txBox="1"/>
          <p:nvPr/>
        </p:nvSpPr>
        <p:spPr>
          <a:xfrm>
            <a:off x="4791455" y="3557016"/>
            <a:ext cx="376732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A8580"/>
                </a:solidFill>
                <a:latin typeface="Consolas"/>
              </a:rPr>
              <a:t># Java: producer.send(record, callback)</a:t>
            </a:r>
          </a:p>
        </p:txBody>
      </p:sp>
      <p:sp>
        <p:nvSpPr>
          <p:cNvPr id="38" name="a6u_nb37"/>
          <p:cNvSpPr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6u_nacc38"/>
          <p:cNvSpPr/>
          <p:nvPr/>
        </p:nvSpPr>
        <p:spPr>
          <a:xfrm>
            <a:off x="457200" y="3931920"/>
            <a:ext cx="54864" cy="60350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6u_nt39"/>
          <p:cNvSpPr txBox="1"/>
          <p:nvPr/>
        </p:nvSpPr>
        <p:spPr>
          <a:xfrm>
            <a:off x="658368" y="3931920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KEY  </a:t>
            </a:r>
            <a:r>
              <a:rPr sz="900" b="0">
                <a:solidFill>
                  <a:srgbClr val="44403C"/>
                </a:solidFill>
                <a:latin typeface="Segoe UI"/>
              </a:rPr>
              <a:t>Waiting for the broker's ack is synchronous with KAFKA - but still asynchronous with every consumer. That is how you get durability without coupling.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48</a:t>
            </a:r>
          </a:p>
        </p:txBody>
      </p:sp>
      <p:sp>
        <p:nvSpPr>
          <p:cNvPr id="42" name="ft4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ft4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Hybrid Patterns Banks Actually Use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Real systems mix both - the skill is deciding where the line goes</a:t>
            </a:r>
          </a:p>
        </p:txBody>
      </p:sp>
      <p:sp>
        <p:nvSpPr>
          <p:cNvPr id="11" name="a1u_card10"/>
          <p:cNvSpPr/>
          <p:nvPr/>
        </p:nvSpPr>
        <p:spPr>
          <a:xfrm>
            <a:off x="457200" y="1216152"/>
            <a:ext cx="2609088" cy="2560320"/>
          </a:xfrm>
          <a:prstGeom prst="roundRect">
            <a:avLst>
              <a:gd name="adj" fmla="val 4285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acc11"/>
          <p:cNvSpPr/>
          <p:nvPr/>
        </p:nvSpPr>
        <p:spPr>
          <a:xfrm>
            <a:off x="457200" y="1216152"/>
            <a:ext cx="2609088" cy="640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_ic12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60_ict13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5" name="a1ud90_ct14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Accept now, finish later</a:t>
            </a:r>
          </a:p>
        </p:txBody>
      </p:sp>
      <p:sp>
        <p:nvSpPr>
          <p:cNvPr id="16" name="a1ud120_cs15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Consolas"/>
              </a:rPr>
              <a:t>HTTP 202 + EVENT</a:t>
            </a:r>
          </a:p>
        </p:txBody>
      </p:sp>
      <p:sp>
        <p:nvSpPr>
          <p:cNvPr id="17" name="a1ud150_cb16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API replies "accepted, ref TXN-8B9EB8" at once</a:t>
            </a:r>
          </a:p>
        </p:txBody>
      </p:sp>
      <p:sp>
        <p:nvSpPr>
          <p:cNvPr id="18" name="a1ud220_cb17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Work completes async; status by event or polling</a:t>
            </a:r>
          </a:p>
        </p:txBody>
      </p:sp>
      <p:sp>
        <p:nvSpPr>
          <p:cNvPr id="19" name="a1ud290_cb18"/>
          <p:cNvSpPr txBox="1"/>
          <p:nvPr/>
        </p:nvSpPr>
        <p:spPr>
          <a:xfrm>
            <a:off x="621792" y="319125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e.g. NEFT batches, bulk salary uploads</a:t>
            </a:r>
          </a:p>
        </p:txBody>
      </p:sp>
      <p:sp>
        <p:nvSpPr>
          <p:cNvPr id="20" name="a2u_card19"/>
          <p:cNvSpPr/>
          <p:nvPr/>
        </p:nvSpPr>
        <p:spPr>
          <a:xfrm>
            <a:off x="3267456" y="1216152"/>
            <a:ext cx="2609088" cy="2560320"/>
          </a:xfrm>
          <a:prstGeom prst="roundRect">
            <a:avLst>
              <a:gd name="adj" fmla="val 4285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_acc20"/>
          <p:cNvSpPr/>
          <p:nvPr/>
        </p:nvSpPr>
        <p:spPr>
          <a:xfrm>
            <a:off x="3267456" y="1216152"/>
            <a:ext cx="2609088" cy="640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d60_ic21"/>
          <p:cNvSpPr/>
          <p:nvPr/>
        </p:nvSpPr>
        <p:spPr>
          <a:xfrm>
            <a:off x="3432048" y="141732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60_ict22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24" name="a2ud90_ct23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Request-reply on topics</a:t>
            </a:r>
          </a:p>
        </p:txBody>
      </p:sp>
      <p:sp>
        <p:nvSpPr>
          <p:cNvPr id="25" name="a2ud120_cs24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onsolas"/>
              </a:rPr>
              <a:t>CORRELATION ID</a:t>
            </a:r>
          </a:p>
        </p:txBody>
      </p:sp>
      <p:sp>
        <p:nvSpPr>
          <p:cNvPr id="26" name="a2ud150_cb25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Request on one topic, reply on another</a:t>
            </a:r>
          </a:p>
        </p:txBody>
      </p:sp>
      <p:sp>
        <p:nvSpPr>
          <p:cNvPr id="27" name="a2ud220_cb26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A correlation id pairs each reply with its request</a:t>
            </a:r>
          </a:p>
        </p:txBody>
      </p:sp>
      <p:sp>
        <p:nvSpPr>
          <p:cNvPr id="28" name="a2ud290_cb27"/>
          <p:cNvSpPr txBox="1"/>
          <p:nvPr/>
        </p:nvSpPr>
        <p:spPr>
          <a:xfrm>
            <a:off x="3432048" y="319125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caller waits - for a broker, not a server</a:t>
            </a:r>
          </a:p>
        </p:txBody>
      </p:sp>
      <p:sp>
        <p:nvSpPr>
          <p:cNvPr id="29" name="a3u_card28"/>
          <p:cNvSpPr/>
          <p:nvPr/>
        </p:nvSpPr>
        <p:spPr>
          <a:xfrm>
            <a:off x="6077712" y="1216152"/>
            <a:ext cx="2609088" cy="2560320"/>
          </a:xfrm>
          <a:prstGeom prst="roundRect">
            <a:avLst>
              <a:gd name="adj" fmla="val 4285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_acc29"/>
          <p:cNvSpPr/>
          <p:nvPr/>
        </p:nvSpPr>
        <p:spPr>
          <a:xfrm>
            <a:off x="6077712" y="1216152"/>
            <a:ext cx="2609088" cy="6400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d60_ic30"/>
          <p:cNvSpPr/>
          <p:nvPr/>
        </p:nvSpPr>
        <p:spPr>
          <a:xfrm>
            <a:off x="6242304" y="1417320"/>
            <a:ext cx="384048" cy="384048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d60_ict31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33" name="a3ud90_ct32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Segoe UI"/>
              </a:rPr>
              <a:t>Sync core, async edges</a:t>
            </a:r>
          </a:p>
        </p:txBody>
      </p:sp>
      <p:sp>
        <p:nvSpPr>
          <p:cNvPr id="34" name="a3ud120_cs33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Consolas"/>
              </a:rPr>
              <a:t>THE USUAL BANK SHAPE</a:t>
            </a:r>
          </a:p>
        </p:txBody>
      </p:sp>
      <p:sp>
        <p:nvSpPr>
          <p:cNvPr id="35" name="a3ud150_cb34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Debit and credit: synchronous, one transaction</a:t>
            </a:r>
          </a:p>
        </p:txBody>
      </p:sp>
      <p:sp>
        <p:nvSpPr>
          <p:cNvPr id="36" name="a3ud220_cb35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SMS, fraud analytics, warehouse: events</a:t>
            </a:r>
          </a:p>
        </p:txBody>
      </p:sp>
      <p:sp>
        <p:nvSpPr>
          <p:cNvPr id="37" name="a3ud290_cb36"/>
          <p:cNvSpPr txBox="1"/>
          <p:nvPr/>
        </p:nvSpPr>
        <p:spPr>
          <a:xfrm>
            <a:off x="6242304" y="319125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· </a:t>
            </a:r>
            <a:r>
              <a:rPr sz="950" b="0">
                <a:solidFill>
                  <a:srgbClr val="44403C"/>
                </a:solidFill>
                <a:latin typeface="Segoe UI"/>
              </a:rPr>
              <a:t>Exactly the fix for INC-4755</a:t>
            </a:r>
          </a:p>
        </p:txBody>
      </p:sp>
      <p:sp>
        <p:nvSpPr>
          <p:cNvPr id="38" name="a4u_nb37"/>
          <p:cNvSpPr/>
          <p:nvPr/>
        </p:nvSpPr>
        <p:spPr>
          <a:xfrm>
            <a:off x="457200" y="3913631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4u_nacc38"/>
          <p:cNvSpPr/>
          <p:nvPr/>
        </p:nvSpPr>
        <p:spPr>
          <a:xfrm>
            <a:off x="457200" y="3913631"/>
            <a:ext cx="54864" cy="60350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4u_nt39"/>
          <p:cNvSpPr txBox="1"/>
          <p:nvPr/>
        </p:nvSpPr>
        <p:spPr>
          <a:xfrm>
            <a:off x="658368" y="3913631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Segoe UI"/>
              </a:rPr>
              <a:t>i  </a:t>
            </a:r>
            <a:r>
              <a:rPr sz="900" b="0">
                <a:solidFill>
                  <a:srgbClr val="44403C"/>
                </a:solidFill>
                <a:latin typeface="Segoe UI"/>
              </a:rPr>
              <a:t>UPI is the classic sync core: the payer needs yes or no within seconds. Everything that happens because of that yes can be an event.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49</a:t>
            </a:r>
          </a:p>
        </p:txBody>
      </p:sp>
      <p:sp>
        <p:nvSpPr>
          <p:cNvPr id="42" name="ft4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ft4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Choosing: A Decision Guide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Ask these in order - the first yes usually decides</a:t>
            </a:r>
          </a:p>
        </p:txBody>
      </p:sp>
      <p:sp>
        <p:nvSpPr>
          <p:cNvPr id="11" name="a1u_n10"/>
          <p:cNvSpPr/>
          <p:nvPr/>
        </p:nvSpPr>
        <p:spPr>
          <a:xfrm>
            <a:off x="457200" y="13075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_nt11"/>
          <p:cNvSpPr txBox="1"/>
          <p:nvPr/>
        </p:nvSpPr>
        <p:spPr>
          <a:xfrm>
            <a:off x="457200" y="13075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a1u_q12"/>
          <p:cNvSpPr txBox="1"/>
          <p:nvPr/>
        </p:nvSpPr>
        <p:spPr>
          <a:xfrm>
            <a:off x="1005840" y="123444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C1917"/>
                </a:solidFill>
                <a:latin typeface="Segoe UI"/>
              </a:rPr>
              <a:t>Does the caller need the answer to continue?</a:t>
            </a:r>
          </a:p>
        </p:txBody>
      </p:sp>
      <p:cxnSp>
        <p:nvCxnSpPr>
          <p:cNvPr id="14" name="a1ud100_ar13"/>
          <p:cNvCxnSpPr/>
          <p:nvPr/>
        </p:nvCxnSpPr>
        <p:spPr>
          <a:xfrm>
            <a:off x="4645152" y="1508760"/>
            <a:ext cx="292608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1ud150_ab14"/>
          <p:cNvSpPr/>
          <p:nvPr/>
        </p:nvSpPr>
        <p:spPr>
          <a:xfrm>
            <a:off x="4983480" y="1252728"/>
            <a:ext cx="3703320" cy="512064"/>
          </a:xfrm>
          <a:prstGeom prst="roundRect">
            <a:avLst>
              <a:gd name="adj" fmla="val 14285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150_at15"/>
          <p:cNvSpPr txBox="1"/>
          <p:nvPr/>
        </p:nvSpPr>
        <p:spPr>
          <a:xfrm>
            <a:off x="5120640" y="1252728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Synchronous request-response - with a timeout and a fallback</a:t>
            </a:r>
          </a:p>
        </p:txBody>
      </p:sp>
      <p:sp>
        <p:nvSpPr>
          <p:cNvPr id="17" name="a2u_n16"/>
          <p:cNvSpPr/>
          <p:nvPr/>
        </p:nvSpPr>
        <p:spPr>
          <a:xfrm>
            <a:off x="457200" y="19659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t17"/>
          <p:cNvSpPr txBox="1"/>
          <p:nvPr/>
        </p:nvSpPr>
        <p:spPr>
          <a:xfrm>
            <a:off x="457200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a2u_q18"/>
          <p:cNvSpPr txBox="1"/>
          <p:nvPr/>
        </p:nvSpPr>
        <p:spPr>
          <a:xfrm>
            <a:off x="1005840" y="1892808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C1917"/>
                </a:solidFill>
                <a:latin typeface="Segoe UI"/>
              </a:rPr>
              <a:t>Is it a fact other systems may care about, now or later?</a:t>
            </a:r>
          </a:p>
        </p:txBody>
      </p:sp>
      <p:cxnSp>
        <p:nvCxnSpPr>
          <p:cNvPr id="20" name="a2ud100_ar19"/>
          <p:cNvCxnSpPr/>
          <p:nvPr/>
        </p:nvCxnSpPr>
        <p:spPr>
          <a:xfrm>
            <a:off x="4645152" y="2167128"/>
            <a:ext cx="292608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2ud150_ab20"/>
          <p:cNvSpPr/>
          <p:nvPr/>
        </p:nvSpPr>
        <p:spPr>
          <a:xfrm>
            <a:off x="4983480" y="1911096"/>
            <a:ext cx="3703320" cy="512064"/>
          </a:xfrm>
          <a:prstGeom prst="roundRect">
            <a:avLst>
              <a:gd name="adj" fmla="val 14285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d150_at21"/>
          <p:cNvSpPr txBox="1"/>
          <p:nvPr/>
        </p:nvSpPr>
        <p:spPr>
          <a:xfrm>
            <a:off x="5120640" y="1911096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Publish an event to a Kafka topic</a:t>
            </a:r>
          </a:p>
        </p:txBody>
      </p:sp>
      <p:sp>
        <p:nvSpPr>
          <p:cNvPr id="23" name="a3u_n22"/>
          <p:cNvSpPr/>
          <p:nvPr/>
        </p:nvSpPr>
        <p:spPr>
          <a:xfrm>
            <a:off x="457200" y="262432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t23"/>
          <p:cNvSpPr txBox="1"/>
          <p:nvPr/>
        </p:nvSpPr>
        <p:spPr>
          <a:xfrm>
            <a:off x="457200" y="262432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a3u_q24"/>
          <p:cNvSpPr txBox="1"/>
          <p:nvPr/>
        </p:nvSpPr>
        <p:spPr>
          <a:xfrm>
            <a:off x="1005840" y="2551176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C1917"/>
                </a:solidFill>
                <a:latin typeface="Segoe UI"/>
              </a:rPr>
              <a:t>Is it a job exactly one worker should do?</a:t>
            </a:r>
          </a:p>
        </p:txBody>
      </p:sp>
      <p:cxnSp>
        <p:nvCxnSpPr>
          <p:cNvPr id="26" name="a3ud100_ar25"/>
          <p:cNvCxnSpPr/>
          <p:nvPr/>
        </p:nvCxnSpPr>
        <p:spPr>
          <a:xfrm>
            <a:off x="4645152" y="2825496"/>
            <a:ext cx="292608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3ud150_ab26"/>
          <p:cNvSpPr/>
          <p:nvPr/>
        </p:nvSpPr>
        <p:spPr>
          <a:xfrm>
            <a:off x="4983480" y="2569464"/>
            <a:ext cx="3703320" cy="512064"/>
          </a:xfrm>
          <a:prstGeom prst="roundRect">
            <a:avLst>
              <a:gd name="adj" fmla="val 14285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d150_at27"/>
          <p:cNvSpPr txBox="1"/>
          <p:nvPr/>
        </p:nvSpPr>
        <p:spPr>
          <a:xfrm>
            <a:off x="5120640" y="2569464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A queue - in Kafka, one consumer group sharing a topic</a:t>
            </a:r>
          </a:p>
        </p:txBody>
      </p:sp>
      <p:sp>
        <p:nvSpPr>
          <p:cNvPr id="29" name="a4u_n28"/>
          <p:cNvSpPr/>
          <p:nvPr/>
        </p:nvSpPr>
        <p:spPr>
          <a:xfrm>
            <a:off x="457200" y="32826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_nt29"/>
          <p:cNvSpPr txBox="1"/>
          <p:nvPr/>
        </p:nvSpPr>
        <p:spPr>
          <a:xfrm>
            <a:off x="457200" y="32826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a4u_q30"/>
          <p:cNvSpPr txBox="1"/>
          <p:nvPr/>
        </p:nvSpPr>
        <p:spPr>
          <a:xfrm>
            <a:off x="1005840" y="3209544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C1917"/>
                </a:solidFill>
                <a:latin typeface="Segoe UI"/>
              </a:rPr>
              <a:t>Must the reader never miss it, even if it was down?</a:t>
            </a:r>
          </a:p>
        </p:txBody>
      </p:sp>
      <p:cxnSp>
        <p:nvCxnSpPr>
          <p:cNvPr id="32" name="a4ud100_ar31"/>
          <p:cNvCxnSpPr/>
          <p:nvPr/>
        </p:nvCxnSpPr>
        <p:spPr>
          <a:xfrm>
            <a:off x="4645152" y="3483864"/>
            <a:ext cx="292608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4ud150_ab32"/>
          <p:cNvSpPr/>
          <p:nvPr/>
        </p:nvSpPr>
        <p:spPr>
          <a:xfrm>
            <a:off x="4983480" y="3227832"/>
            <a:ext cx="3703320" cy="512064"/>
          </a:xfrm>
          <a:prstGeom prst="roundRect">
            <a:avLst>
              <a:gd name="adj" fmla="val 14285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150_at33"/>
          <p:cNvSpPr txBox="1"/>
          <p:nvPr/>
        </p:nvSpPr>
        <p:spPr>
          <a:xfrm>
            <a:off x="5120640" y="3227832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A durable broker with retention - not Redis Pub/Sub</a:t>
            </a:r>
          </a:p>
        </p:txBody>
      </p:sp>
      <p:sp>
        <p:nvSpPr>
          <p:cNvPr id="35" name="a5u_n34"/>
          <p:cNvSpPr/>
          <p:nvPr/>
        </p:nvSpPr>
        <p:spPr>
          <a:xfrm>
            <a:off x="457200" y="39410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5u_nt35"/>
          <p:cNvSpPr txBox="1"/>
          <p:nvPr/>
        </p:nvSpPr>
        <p:spPr>
          <a:xfrm>
            <a:off x="457200" y="39410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a5u_q36"/>
          <p:cNvSpPr txBox="1"/>
          <p:nvPr/>
        </p:nvSpPr>
        <p:spPr>
          <a:xfrm>
            <a:off x="1005840" y="3867912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C1917"/>
                </a:solidFill>
                <a:latin typeface="Segoe UI"/>
              </a:rPr>
              <a:t>Must the caller know the event is stored before replying?</a:t>
            </a:r>
          </a:p>
        </p:txBody>
      </p:sp>
      <p:cxnSp>
        <p:nvCxnSpPr>
          <p:cNvPr id="38" name="a5ud100_ar37"/>
          <p:cNvCxnSpPr/>
          <p:nvPr/>
        </p:nvCxnSpPr>
        <p:spPr>
          <a:xfrm>
            <a:off x="4645152" y="4142232"/>
            <a:ext cx="292608" cy="0"/>
          </a:xfrm>
          <a:prstGeom prst="line">
            <a:avLst/>
          </a:prstGeom>
          <a:ln w="19050">
            <a:solidFill>
              <a:srgbClr val="0E7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5ud150_ab38"/>
          <p:cNvSpPr/>
          <p:nvPr/>
        </p:nvSpPr>
        <p:spPr>
          <a:xfrm>
            <a:off x="4983480" y="3886200"/>
            <a:ext cx="3703320" cy="512064"/>
          </a:xfrm>
          <a:prstGeom prst="roundRect">
            <a:avLst>
              <a:gd name="adj" fmla="val 14285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5ud150_at39"/>
          <p:cNvSpPr txBox="1"/>
          <p:nvPr/>
        </p:nvSpPr>
        <p:spPr>
          <a:xfrm>
            <a:off x="5120640" y="3886200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Async to readers, but wait for the broker's ack (acks=all)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50</a:t>
            </a:r>
          </a:p>
        </p:txBody>
      </p:sp>
      <p:sp>
        <p:nvSpPr>
          <p:cNvPr id="42" name="ft41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ft42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59105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6  ·  30 MIN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6 - Replay the Outage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Measure a blocking send against an async one - then take SMS down and keep transferring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76072" y="1453895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Part A - the same 2,000 events sent twice: waiting for each ack, then async</a:t>
            </a:r>
          </a:p>
        </p:txBody>
      </p:sp>
      <p:sp>
        <p:nvSpPr>
          <p:cNvPr id="14" name="a1wd50_code13"/>
          <p:cNvSpPr txBox="1"/>
          <p:nvPr/>
        </p:nvSpPr>
        <p:spPr>
          <a:xfrm>
            <a:off x="576072" y="1627631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sync_vs_async.py</a:t>
            </a:r>
          </a:p>
        </p:txBody>
      </p:sp>
      <p:sp>
        <p:nvSpPr>
          <p:cNvPr id="15" name="a1wd100_code14"/>
          <p:cNvSpPr txBox="1"/>
          <p:nvPr/>
        </p:nvSpPr>
        <p:spPr>
          <a:xfrm>
            <a:off x="576072" y="1801367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6" name="a1wd150_code15"/>
          <p:cNvSpPr txBox="1"/>
          <p:nvPr/>
        </p:nvSpPr>
        <p:spPr>
          <a:xfrm>
            <a:off x="576072" y="1975104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Part B, Step 1 - the SMS reader has not run since Lab 4. How far behind is it?</a:t>
            </a:r>
          </a:p>
        </p:txBody>
      </p:sp>
      <p:sp>
        <p:nvSpPr>
          <p:cNvPr id="17" name="a1wd200_code16"/>
          <p:cNvSpPr txBox="1"/>
          <p:nvPr/>
        </p:nvSpPr>
        <p:spPr>
          <a:xfrm>
            <a:off x="576072" y="2148839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kafka-consumer-groups.sh --bootstrap-server localhost:9092 --describe --group sms-notifier</a:t>
            </a:r>
          </a:p>
        </p:txBody>
      </p:sp>
      <p:sp>
        <p:nvSpPr>
          <p:cNvPr id="18" name="a1wd250_code17"/>
          <p:cNvSpPr txBox="1"/>
          <p:nvPr/>
        </p:nvSpPr>
        <p:spPr>
          <a:xfrm>
            <a:off x="576072" y="2322576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19" name="a1wd300_code18"/>
          <p:cNvSpPr txBox="1"/>
          <p:nvPr/>
        </p:nvSpPr>
        <p:spPr>
          <a:xfrm>
            <a:off x="576072" y="2496312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2 - SMS is still 'down'. Run 20 transfers - does any fail or slow down? Check the lag again</a:t>
            </a:r>
          </a:p>
        </p:txBody>
      </p:sp>
      <p:sp>
        <p:nvSpPr>
          <p:cNvPr id="20" name="a1wd350_code19"/>
          <p:cNvSpPr txBox="1"/>
          <p:nvPr/>
        </p:nvSpPr>
        <p:spPr>
          <a:xfrm>
            <a:off x="576072" y="2670048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transfer_service.py 20</a:t>
            </a:r>
          </a:p>
        </p:txBody>
      </p:sp>
      <p:sp>
        <p:nvSpPr>
          <p:cNvPr id="21" name="a1wd400_code20"/>
          <p:cNvSpPr txBox="1"/>
          <p:nvPr/>
        </p:nvSpPr>
        <p:spPr>
          <a:xfrm>
            <a:off x="576072" y="2843784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kafka-consumer-groups.sh --bootstrap-server localhost:9092 --describe --group sms-notifier</a:t>
            </a:r>
          </a:p>
        </p:txBody>
      </p:sp>
      <p:sp>
        <p:nvSpPr>
          <p:cNvPr id="22" name="a1wd450_code21"/>
          <p:cNvSpPr txBox="1"/>
          <p:nvPr/>
        </p:nvSpPr>
        <p:spPr>
          <a:xfrm>
            <a:off x="576072" y="3017520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3" name="a1wd500_code22"/>
          <p:cNvSpPr txBox="1"/>
          <p:nvPr/>
        </p:nvSpPr>
        <p:spPr>
          <a:xfrm>
            <a:off x="576072" y="3191256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Step 3 - the SMS vendor is back. Start the reader, let it catch up, check the lag</a:t>
            </a:r>
          </a:p>
        </p:txBody>
      </p:sp>
      <p:sp>
        <p:nvSpPr>
          <p:cNvPr id="24" name="a1wd550_code23"/>
          <p:cNvSpPr txBox="1"/>
          <p:nvPr/>
        </p:nvSpPr>
        <p:spPr>
          <a:xfrm>
            <a:off x="576072" y="3364991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consumer.py sms-notifier --idle 5</a:t>
            </a:r>
          </a:p>
        </p:txBody>
      </p:sp>
      <p:sp>
        <p:nvSpPr>
          <p:cNvPr id="25" name="a1wd600_code24"/>
          <p:cNvSpPr txBox="1"/>
          <p:nvPr/>
        </p:nvSpPr>
        <p:spPr>
          <a:xfrm>
            <a:off x="576072" y="3538728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exec kafka kafka-consumer-groups.sh --bootstrap-server localhost:9092 --describe --group sms-notifier</a:t>
            </a:r>
          </a:p>
        </p:txBody>
      </p:sp>
      <p:sp>
        <p:nvSpPr>
          <p:cNvPr id="26" name="a1wd650_code25"/>
          <p:cNvSpPr txBox="1"/>
          <p:nvPr/>
        </p:nvSpPr>
        <p:spPr>
          <a:xfrm>
            <a:off x="576072" y="3712464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27" name="a1wd700_code26"/>
          <p:cNvSpPr txBox="1"/>
          <p:nvPr/>
        </p:nvSpPr>
        <p:spPr>
          <a:xfrm>
            <a:off x="576072" y="3886200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E047"/>
                </a:solidFill>
                <a:latin typeface="Consolas"/>
              </a:rPr>
              <a:t># Challenge - make the transfer service wait for the broker's ack. What does it cost per transfer?</a:t>
            </a:r>
          </a:p>
        </p:txBody>
      </p:sp>
      <p:sp>
        <p:nvSpPr>
          <p:cNvPr id="28" name="a1wd750_code27"/>
          <p:cNvSpPr txBox="1"/>
          <p:nvPr/>
        </p:nvSpPr>
        <p:spPr>
          <a:xfrm>
            <a:off x="576072" y="4059935"/>
            <a:ext cx="79918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python solutions\transfer_service_sync.py 12      # compare your version with this one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51</a:t>
            </a:r>
          </a:p>
        </p:txBody>
      </p:sp>
      <p:sp>
        <p:nvSpPr>
          <p:cNvPr id="30" name="ft29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ft30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14312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6  ·  PART A OUTPUT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6 - Sync vs Async, Measured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2,000 events each way, acks=all - every event acknowledged in both runs</a:t>
            </a:r>
          </a:p>
        </p:txBody>
      </p:sp>
      <p:sp>
        <p:nvSpPr>
          <p:cNvPr id="12" name="a1f_codebg11"/>
          <p:cNvSpPr/>
          <p:nvPr/>
        </p:nvSpPr>
        <p:spPr>
          <a:xfrm>
            <a:off x="457200" y="1335024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_code12"/>
          <p:cNvSpPr txBox="1"/>
          <p:nvPr/>
        </p:nvSpPr>
        <p:spPr>
          <a:xfrm>
            <a:off x="585216" y="1463040"/>
            <a:ext cx="797356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&gt; python sync_vs_async.py</a:t>
            </a:r>
          </a:p>
        </p:txBody>
      </p:sp>
      <p:sp>
        <p:nvSpPr>
          <p:cNvPr id="14" name="a1wd80_code13"/>
          <p:cNvSpPr txBox="1"/>
          <p:nvPr/>
        </p:nvSpPr>
        <p:spPr>
          <a:xfrm>
            <a:off x="585216" y="1645920"/>
            <a:ext cx="797356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DA4AF"/>
                </a:solidFill>
                <a:latin typeface="Consolas"/>
              </a:rPr>
              <a:t>SYNC   wait for every ack   :  2000 events in  3.116 s  -&gt;     642 events/s  (1.56 ms per event)</a:t>
            </a:r>
          </a:p>
        </p:txBody>
      </p:sp>
      <p:sp>
        <p:nvSpPr>
          <p:cNvPr id="15" name="a1wd160_code14"/>
          <p:cNvSpPr txBox="1"/>
          <p:nvPr/>
        </p:nvSpPr>
        <p:spPr>
          <a:xfrm>
            <a:off x="585216" y="1828800"/>
            <a:ext cx="797356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nsolas"/>
              </a:rPr>
              <a:t>ASYNC  callback, flush once :  2000 events in  0.015 s  -&gt; 130,470 events/s  (0.008 ms per event)</a:t>
            </a:r>
          </a:p>
        </p:txBody>
      </p:sp>
      <p:sp>
        <p:nvSpPr>
          <p:cNvPr id="16" name="a1wd240_code15"/>
          <p:cNvSpPr txBox="1"/>
          <p:nvPr/>
        </p:nvSpPr>
        <p:spPr>
          <a:xfrm>
            <a:off x="585216" y="2011680"/>
            <a:ext cx="797356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acknowledged by the broker : sync 2000 / 2000   async 2000 / 2000</a:t>
            </a:r>
          </a:p>
        </p:txBody>
      </p:sp>
      <p:sp>
        <p:nvSpPr>
          <p:cNvPr id="17" name="a1wd320_code16"/>
          <p:cNvSpPr txBox="1"/>
          <p:nvPr/>
        </p:nvSpPr>
        <p:spPr>
          <a:xfrm>
            <a:off x="585216" y="2194560"/>
            <a:ext cx="797356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7E8F9"/>
                </a:solidFill>
                <a:latin typeface="Consolas"/>
              </a:rPr>
              <a:t>async was 203x faster - and exactly as durable</a:t>
            </a:r>
          </a:p>
        </p:txBody>
      </p:sp>
      <p:sp>
        <p:nvSpPr>
          <p:cNvPr id="18" name="a2f_lb17"/>
          <p:cNvSpPr txBox="1"/>
          <p:nvPr/>
        </p:nvSpPr>
        <p:spPr>
          <a:xfrm>
            <a:off x="457200" y="264261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403C"/>
                </a:solidFill>
                <a:latin typeface="Segoe UI"/>
              </a:rPr>
              <a:t>time to send the same 2,000 events</a:t>
            </a:r>
          </a:p>
        </p:txBody>
      </p:sp>
      <p:sp>
        <p:nvSpPr>
          <p:cNvPr id="19" name="a2u_bn18"/>
          <p:cNvSpPr txBox="1"/>
          <p:nvPr/>
        </p:nvSpPr>
        <p:spPr>
          <a:xfrm>
            <a:off x="457200" y="2916936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onsolas"/>
              </a:rPr>
              <a:t>SYNC</a:t>
            </a:r>
          </a:p>
        </p:txBody>
      </p:sp>
      <p:sp>
        <p:nvSpPr>
          <p:cNvPr id="20" name="a2w_bar19"/>
          <p:cNvSpPr/>
          <p:nvPr/>
        </p:nvSpPr>
        <p:spPr>
          <a:xfrm>
            <a:off x="1325880" y="2916936"/>
            <a:ext cx="621792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200_bv20"/>
          <p:cNvSpPr txBox="1"/>
          <p:nvPr/>
        </p:nvSpPr>
        <p:spPr>
          <a:xfrm>
            <a:off x="7653527" y="291693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3.116 s</a:t>
            </a:r>
          </a:p>
        </p:txBody>
      </p:sp>
      <p:sp>
        <p:nvSpPr>
          <p:cNvPr id="22" name="a3u_bn21"/>
          <p:cNvSpPr txBox="1"/>
          <p:nvPr/>
        </p:nvSpPr>
        <p:spPr>
          <a:xfrm>
            <a:off x="457200" y="3419856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Consolas"/>
              </a:rPr>
              <a:t>ASYNC</a:t>
            </a:r>
          </a:p>
        </p:txBody>
      </p:sp>
      <p:sp>
        <p:nvSpPr>
          <p:cNvPr id="23" name="a3w_bar22"/>
          <p:cNvSpPr/>
          <p:nvPr/>
        </p:nvSpPr>
        <p:spPr>
          <a:xfrm>
            <a:off x="1325880" y="3419856"/>
            <a:ext cx="54864" cy="3840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d200_bv23"/>
          <p:cNvSpPr txBox="1"/>
          <p:nvPr/>
        </p:nvSpPr>
        <p:spPr>
          <a:xfrm>
            <a:off x="1490472" y="341985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C1917"/>
                </a:solidFill>
                <a:latin typeface="Segoe UI"/>
              </a:rPr>
              <a:t>0.015 s</a:t>
            </a:r>
          </a:p>
        </p:txBody>
      </p:sp>
      <p:sp>
        <p:nvSpPr>
          <p:cNvPr id="25" name="a4u_nb24"/>
          <p:cNvSpPr/>
          <p:nvPr/>
        </p:nvSpPr>
        <p:spPr>
          <a:xfrm>
            <a:off x="457200" y="39867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D9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4u_nacc25"/>
          <p:cNvSpPr/>
          <p:nvPr/>
        </p:nvSpPr>
        <p:spPr>
          <a:xfrm>
            <a:off x="457200" y="3986784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4u_nt26"/>
          <p:cNvSpPr txBox="1"/>
          <p:nvPr/>
        </p:nvSpPr>
        <p:spPr>
          <a:xfrm>
            <a:off x="658368" y="3986784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KEY  </a:t>
            </a:r>
            <a:r>
              <a:rPr sz="850" b="0">
                <a:solidFill>
                  <a:srgbClr val="44403C"/>
                </a:solidFill>
                <a:latin typeface="Segoe UI"/>
              </a:rPr>
              <a:t>Same durability both times. Sync pays a full round trip per event; async lets the client pack many events into each request. Your numbers will differ - the gap will not close.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52</a:t>
            </a:r>
          </a:p>
        </p:txBody>
      </p:sp>
      <p:sp>
        <p:nvSpPr>
          <p:cNvPr id="29" name="ft2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t2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2143125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6  ·  PART B OUTPUT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6 - INC-4755, Replayed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Same outage as Lab 1, with Kafka in between - your lag depends on transfers run since Lab 4</a:t>
            </a:r>
          </a:p>
        </p:txBody>
      </p:sp>
      <p:sp>
        <p:nvSpPr>
          <p:cNvPr id="12" name="a1u_card11"/>
          <p:cNvSpPr/>
          <p:nvPr/>
        </p:nvSpPr>
        <p:spPr>
          <a:xfrm>
            <a:off x="457200" y="1335024"/>
            <a:ext cx="4023360" cy="1783080"/>
          </a:xfrm>
          <a:prstGeom prst="roundRect">
            <a:avLst>
              <a:gd name="adj" fmla="val 615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acc12"/>
          <p:cNvSpPr/>
          <p:nvPr/>
        </p:nvSpPr>
        <p:spPr>
          <a:xfrm>
            <a:off x="457200" y="1335024"/>
            <a:ext cx="50292" cy="17830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_hh13"/>
          <p:cNvSpPr txBox="1"/>
          <p:nvPr/>
        </p:nvSpPr>
        <p:spPr>
          <a:xfrm>
            <a:off x="658368" y="1426463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E11D48"/>
                </a:solidFill>
                <a:latin typeface="Segoe UI"/>
              </a:rPr>
              <a:t>LAB 1 · TRANSFER CALLS SMS DIRECTLY</a:t>
            </a:r>
          </a:p>
        </p:txBody>
      </p:sp>
      <p:sp>
        <p:nvSpPr>
          <p:cNvPr id="15" name="a1ud100_big14"/>
          <p:cNvSpPr txBox="1"/>
          <p:nvPr/>
        </p:nvSpPr>
        <p:spPr>
          <a:xfrm>
            <a:off x="658368" y="1728216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0 / 12</a:t>
            </a:r>
          </a:p>
        </p:txBody>
      </p:sp>
      <p:sp>
        <p:nvSpPr>
          <p:cNvPr id="16" name="a1ud100_cap15"/>
          <p:cNvSpPr txBox="1"/>
          <p:nvPr/>
        </p:nvSpPr>
        <p:spPr>
          <a:xfrm>
            <a:off x="1938528" y="17282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transfers succeeded</a:t>
            </a:r>
          </a:p>
        </p:txBody>
      </p:sp>
      <p:sp>
        <p:nvSpPr>
          <p:cNvPr id="17" name="a1ud200_big16"/>
          <p:cNvSpPr txBox="1"/>
          <p:nvPr/>
        </p:nvSpPr>
        <p:spPr>
          <a:xfrm>
            <a:off x="658368" y="2176272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2,085 ms</a:t>
            </a:r>
          </a:p>
        </p:txBody>
      </p:sp>
      <p:sp>
        <p:nvSpPr>
          <p:cNvPr id="18" name="a1ud200_cap17"/>
          <p:cNvSpPr txBox="1"/>
          <p:nvPr/>
        </p:nvSpPr>
        <p:spPr>
          <a:xfrm>
            <a:off x="1938528" y="217627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per transfer, then failed</a:t>
            </a:r>
          </a:p>
        </p:txBody>
      </p:sp>
      <p:sp>
        <p:nvSpPr>
          <p:cNvPr id="19" name="a1ud300_big18"/>
          <p:cNvSpPr txBox="1"/>
          <p:nvPr/>
        </p:nvSpPr>
        <p:spPr>
          <a:xfrm>
            <a:off x="658368" y="262432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0</a:t>
            </a:r>
          </a:p>
        </p:txBody>
      </p:sp>
      <p:sp>
        <p:nvSpPr>
          <p:cNvPr id="20" name="a1ud300_cap19"/>
          <p:cNvSpPr txBox="1"/>
          <p:nvPr/>
        </p:nvSpPr>
        <p:spPr>
          <a:xfrm>
            <a:off x="1938528" y="262432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SMS messages sent</a:t>
            </a:r>
          </a:p>
        </p:txBody>
      </p:sp>
      <p:sp>
        <p:nvSpPr>
          <p:cNvPr id="21" name="a2u_card20"/>
          <p:cNvSpPr/>
          <p:nvPr/>
        </p:nvSpPr>
        <p:spPr>
          <a:xfrm>
            <a:off x="4663440" y="1335024"/>
            <a:ext cx="4023360" cy="1783080"/>
          </a:xfrm>
          <a:prstGeom prst="roundRect">
            <a:avLst>
              <a:gd name="adj" fmla="val 6153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_acc21"/>
          <p:cNvSpPr/>
          <p:nvPr/>
        </p:nvSpPr>
        <p:spPr>
          <a:xfrm>
            <a:off x="4663440" y="1335024"/>
            <a:ext cx="50292" cy="1783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_hh22"/>
          <p:cNvSpPr txBox="1"/>
          <p:nvPr/>
        </p:nvSpPr>
        <p:spPr>
          <a:xfrm>
            <a:off x="4864607" y="1426463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E7490"/>
                </a:solidFill>
                <a:latin typeface="Segoe UI"/>
              </a:rPr>
              <a:t>LAB 6 · SMS READS AN EVENT</a:t>
            </a:r>
          </a:p>
        </p:txBody>
      </p:sp>
      <p:sp>
        <p:nvSpPr>
          <p:cNvPr id="24" name="a2ud100_big23"/>
          <p:cNvSpPr txBox="1"/>
          <p:nvPr/>
        </p:nvSpPr>
        <p:spPr>
          <a:xfrm>
            <a:off x="4864607" y="1728216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20 / 20</a:t>
            </a:r>
          </a:p>
        </p:txBody>
      </p:sp>
      <p:sp>
        <p:nvSpPr>
          <p:cNvPr id="25" name="a2ud100_cap24"/>
          <p:cNvSpPr txBox="1"/>
          <p:nvPr/>
        </p:nvSpPr>
        <p:spPr>
          <a:xfrm>
            <a:off x="6144768" y="17282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transfers succeeded</a:t>
            </a:r>
          </a:p>
        </p:txBody>
      </p:sp>
      <p:sp>
        <p:nvSpPr>
          <p:cNvPr id="26" name="a2ud200_big25"/>
          <p:cNvSpPr txBox="1"/>
          <p:nvPr/>
        </p:nvSpPr>
        <p:spPr>
          <a:xfrm>
            <a:off x="4864607" y="2176272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30 ms</a:t>
            </a:r>
          </a:p>
        </p:txBody>
      </p:sp>
      <p:sp>
        <p:nvSpPr>
          <p:cNvPr id="27" name="a2ud200_cap26"/>
          <p:cNvSpPr txBox="1"/>
          <p:nvPr/>
        </p:nvSpPr>
        <p:spPr>
          <a:xfrm>
            <a:off x="6144768" y="217627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per transfer - its own work only</a:t>
            </a:r>
          </a:p>
        </p:txBody>
      </p:sp>
      <p:sp>
        <p:nvSpPr>
          <p:cNvPr id="28" name="a2ud300_big27"/>
          <p:cNvSpPr txBox="1"/>
          <p:nvPr/>
        </p:nvSpPr>
        <p:spPr>
          <a:xfrm>
            <a:off x="4864607" y="262432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C1917"/>
                </a:solidFill>
                <a:latin typeface="Segoe UI"/>
              </a:rPr>
              <a:t>38</a:t>
            </a:r>
          </a:p>
        </p:txBody>
      </p:sp>
      <p:sp>
        <p:nvSpPr>
          <p:cNvPr id="29" name="a2ud300_cap28"/>
          <p:cNvSpPr txBox="1"/>
          <p:nvPr/>
        </p:nvSpPr>
        <p:spPr>
          <a:xfrm>
            <a:off x="6144768" y="262432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Segoe UI"/>
              </a:rPr>
              <a:t>SMS sent when the reader came back</a:t>
            </a:r>
          </a:p>
        </p:txBody>
      </p:sp>
      <p:sp>
        <p:nvSpPr>
          <p:cNvPr id="30" name="a3f_th29"/>
          <p:cNvSpPr/>
          <p:nvPr/>
        </p:nvSpPr>
        <p:spPr>
          <a:xfrm>
            <a:off x="457200" y="3255263"/>
            <a:ext cx="329184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tht30"/>
          <p:cNvSpPr txBox="1"/>
          <p:nvPr/>
        </p:nvSpPr>
        <p:spPr>
          <a:xfrm>
            <a:off x="530352" y="3255263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sms-notifier, measured with kafka-consumer-groups</a:t>
            </a:r>
          </a:p>
        </p:txBody>
      </p:sp>
      <p:sp>
        <p:nvSpPr>
          <p:cNvPr id="32" name="a3wd150_td31"/>
          <p:cNvSpPr/>
          <p:nvPr/>
        </p:nvSpPr>
        <p:spPr>
          <a:xfrm>
            <a:off x="457200" y="3566159"/>
            <a:ext cx="329184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150_tdt32"/>
          <p:cNvSpPr txBox="1"/>
          <p:nvPr/>
        </p:nvSpPr>
        <p:spPr>
          <a:xfrm>
            <a:off x="530352" y="3566159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Reader down since Lab 4</a:t>
            </a:r>
          </a:p>
        </p:txBody>
      </p:sp>
      <p:sp>
        <p:nvSpPr>
          <p:cNvPr id="34" name="a3wd300_td33"/>
          <p:cNvSpPr/>
          <p:nvPr/>
        </p:nvSpPr>
        <p:spPr>
          <a:xfrm>
            <a:off x="457200" y="3877055"/>
            <a:ext cx="3291840" cy="310896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wd300_tdt34"/>
          <p:cNvSpPr txBox="1"/>
          <p:nvPr/>
        </p:nvSpPr>
        <p:spPr>
          <a:xfrm>
            <a:off x="530352" y="3877055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After 20 more transfers</a:t>
            </a:r>
          </a:p>
        </p:txBody>
      </p:sp>
      <p:sp>
        <p:nvSpPr>
          <p:cNvPr id="36" name="a3wd450_td35"/>
          <p:cNvSpPr/>
          <p:nvPr/>
        </p:nvSpPr>
        <p:spPr>
          <a:xfrm>
            <a:off x="457200" y="4187952"/>
            <a:ext cx="329184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wd450_tdt36"/>
          <p:cNvSpPr txBox="1"/>
          <p:nvPr/>
        </p:nvSpPr>
        <p:spPr>
          <a:xfrm>
            <a:off x="530352" y="4187952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After the reader ran for a few seconds</a:t>
            </a:r>
          </a:p>
        </p:txBody>
      </p:sp>
      <p:sp>
        <p:nvSpPr>
          <p:cNvPr id="38" name="a3f_th37"/>
          <p:cNvSpPr/>
          <p:nvPr/>
        </p:nvSpPr>
        <p:spPr>
          <a:xfrm>
            <a:off x="3749039" y="3255263"/>
            <a:ext cx="82296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f_tht38"/>
          <p:cNvSpPr txBox="1"/>
          <p:nvPr/>
        </p:nvSpPr>
        <p:spPr>
          <a:xfrm>
            <a:off x="3822191" y="3255263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40" name="a3wd150_td39"/>
          <p:cNvSpPr/>
          <p:nvPr/>
        </p:nvSpPr>
        <p:spPr>
          <a:xfrm>
            <a:off x="3749039" y="3566159"/>
            <a:ext cx="82296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wd150_tdt40"/>
          <p:cNvSpPr txBox="1"/>
          <p:nvPr/>
        </p:nvSpPr>
        <p:spPr>
          <a:xfrm>
            <a:off x="3822191" y="3566159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6</a:t>
            </a:r>
          </a:p>
        </p:txBody>
      </p:sp>
      <p:sp>
        <p:nvSpPr>
          <p:cNvPr id="42" name="a3wd300_td41"/>
          <p:cNvSpPr/>
          <p:nvPr/>
        </p:nvSpPr>
        <p:spPr>
          <a:xfrm>
            <a:off x="3749039" y="3877055"/>
            <a:ext cx="822960" cy="310896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wd300_tdt42"/>
          <p:cNvSpPr txBox="1"/>
          <p:nvPr/>
        </p:nvSpPr>
        <p:spPr>
          <a:xfrm>
            <a:off x="3822191" y="3877055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13</a:t>
            </a:r>
          </a:p>
        </p:txBody>
      </p:sp>
      <p:sp>
        <p:nvSpPr>
          <p:cNvPr id="44" name="a3wd450_td43"/>
          <p:cNvSpPr/>
          <p:nvPr/>
        </p:nvSpPr>
        <p:spPr>
          <a:xfrm>
            <a:off x="3749039" y="4187952"/>
            <a:ext cx="82296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wd450_tdt44"/>
          <p:cNvSpPr txBox="1"/>
          <p:nvPr/>
        </p:nvSpPr>
        <p:spPr>
          <a:xfrm>
            <a:off x="3822191" y="418795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0</a:t>
            </a:r>
          </a:p>
        </p:txBody>
      </p:sp>
      <p:sp>
        <p:nvSpPr>
          <p:cNvPr id="46" name="a3f_th45"/>
          <p:cNvSpPr/>
          <p:nvPr/>
        </p:nvSpPr>
        <p:spPr>
          <a:xfrm>
            <a:off x="4572000" y="3255263"/>
            <a:ext cx="82296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f_tht46"/>
          <p:cNvSpPr txBox="1"/>
          <p:nvPr/>
        </p:nvSpPr>
        <p:spPr>
          <a:xfrm>
            <a:off x="4645152" y="3255263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48" name="a3wd150_td47"/>
          <p:cNvSpPr/>
          <p:nvPr/>
        </p:nvSpPr>
        <p:spPr>
          <a:xfrm>
            <a:off x="4572000" y="3566159"/>
            <a:ext cx="82296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wd150_tdt48"/>
          <p:cNvSpPr txBox="1"/>
          <p:nvPr/>
        </p:nvSpPr>
        <p:spPr>
          <a:xfrm>
            <a:off x="4645152" y="3566159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3</a:t>
            </a:r>
          </a:p>
        </p:txBody>
      </p:sp>
      <p:sp>
        <p:nvSpPr>
          <p:cNvPr id="50" name="a3wd300_td49"/>
          <p:cNvSpPr/>
          <p:nvPr/>
        </p:nvSpPr>
        <p:spPr>
          <a:xfrm>
            <a:off x="4572000" y="3877055"/>
            <a:ext cx="822960" cy="310896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3wd300_tdt50"/>
          <p:cNvSpPr txBox="1"/>
          <p:nvPr/>
        </p:nvSpPr>
        <p:spPr>
          <a:xfrm>
            <a:off x="4645152" y="3877055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7</a:t>
            </a:r>
          </a:p>
        </p:txBody>
      </p:sp>
      <p:sp>
        <p:nvSpPr>
          <p:cNvPr id="52" name="a3wd450_td51"/>
          <p:cNvSpPr/>
          <p:nvPr/>
        </p:nvSpPr>
        <p:spPr>
          <a:xfrm>
            <a:off x="4572000" y="4187952"/>
            <a:ext cx="82296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3wd450_tdt52"/>
          <p:cNvSpPr txBox="1"/>
          <p:nvPr/>
        </p:nvSpPr>
        <p:spPr>
          <a:xfrm>
            <a:off x="4645152" y="418795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0</a:t>
            </a:r>
          </a:p>
        </p:txBody>
      </p:sp>
      <p:sp>
        <p:nvSpPr>
          <p:cNvPr id="54" name="a3f_th53"/>
          <p:cNvSpPr/>
          <p:nvPr/>
        </p:nvSpPr>
        <p:spPr>
          <a:xfrm>
            <a:off x="5394960" y="3255263"/>
            <a:ext cx="82296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3f_tht54"/>
          <p:cNvSpPr txBox="1"/>
          <p:nvPr/>
        </p:nvSpPr>
        <p:spPr>
          <a:xfrm>
            <a:off x="5468112" y="3255263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56" name="a3wd150_td55"/>
          <p:cNvSpPr/>
          <p:nvPr/>
        </p:nvSpPr>
        <p:spPr>
          <a:xfrm>
            <a:off x="5394960" y="3566159"/>
            <a:ext cx="82296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wd150_tdt56"/>
          <p:cNvSpPr txBox="1"/>
          <p:nvPr/>
        </p:nvSpPr>
        <p:spPr>
          <a:xfrm>
            <a:off x="5468112" y="3566159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9</a:t>
            </a:r>
          </a:p>
        </p:txBody>
      </p:sp>
      <p:sp>
        <p:nvSpPr>
          <p:cNvPr id="58" name="a3wd300_td57"/>
          <p:cNvSpPr/>
          <p:nvPr/>
        </p:nvSpPr>
        <p:spPr>
          <a:xfrm>
            <a:off x="5394960" y="3877055"/>
            <a:ext cx="822960" cy="310896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wd300_tdt58"/>
          <p:cNvSpPr txBox="1"/>
          <p:nvPr/>
        </p:nvSpPr>
        <p:spPr>
          <a:xfrm>
            <a:off x="5468112" y="3877055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18</a:t>
            </a:r>
          </a:p>
        </p:txBody>
      </p:sp>
      <p:sp>
        <p:nvSpPr>
          <p:cNvPr id="60" name="a3wd450_td59"/>
          <p:cNvSpPr/>
          <p:nvPr/>
        </p:nvSpPr>
        <p:spPr>
          <a:xfrm>
            <a:off x="5394960" y="4187952"/>
            <a:ext cx="82296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3wd450_tdt60"/>
          <p:cNvSpPr txBox="1"/>
          <p:nvPr/>
        </p:nvSpPr>
        <p:spPr>
          <a:xfrm>
            <a:off x="5468112" y="418795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0</a:t>
            </a:r>
          </a:p>
        </p:txBody>
      </p:sp>
      <p:sp>
        <p:nvSpPr>
          <p:cNvPr id="62" name="a3f_th61"/>
          <p:cNvSpPr/>
          <p:nvPr/>
        </p:nvSpPr>
        <p:spPr>
          <a:xfrm>
            <a:off x="6217920" y="3255263"/>
            <a:ext cx="2468880" cy="310896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3f_tht62"/>
          <p:cNvSpPr txBox="1"/>
          <p:nvPr/>
        </p:nvSpPr>
        <p:spPr>
          <a:xfrm>
            <a:off x="6291072" y="3255263"/>
            <a:ext cx="2359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Total lag</a:t>
            </a:r>
          </a:p>
        </p:txBody>
      </p:sp>
      <p:sp>
        <p:nvSpPr>
          <p:cNvPr id="64" name="a3wd150_td63"/>
          <p:cNvSpPr/>
          <p:nvPr/>
        </p:nvSpPr>
        <p:spPr>
          <a:xfrm>
            <a:off x="6217920" y="3566159"/>
            <a:ext cx="2468880" cy="310896"/>
          </a:xfrm>
          <a:prstGeom prst="rect">
            <a:avLst/>
          </a:prstGeom>
          <a:solidFill>
            <a:srgbClr val="FEF9C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3wd150_tdt64"/>
          <p:cNvSpPr txBox="1"/>
          <p:nvPr/>
        </p:nvSpPr>
        <p:spPr>
          <a:xfrm>
            <a:off x="6291072" y="3566159"/>
            <a:ext cx="2359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18</a:t>
            </a:r>
          </a:p>
        </p:txBody>
      </p:sp>
      <p:sp>
        <p:nvSpPr>
          <p:cNvPr id="66" name="a3wd300_td65"/>
          <p:cNvSpPr/>
          <p:nvPr/>
        </p:nvSpPr>
        <p:spPr>
          <a:xfrm>
            <a:off x="6217920" y="3877055"/>
            <a:ext cx="2468880" cy="310896"/>
          </a:xfrm>
          <a:prstGeom prst="rect">
            <a:avLst/>
          </a:prstGeom>
          <a:solidFill>
            <a:srgbClr val="FFE4E6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3wd300_tdt66"/>
          <p:cNvSpPr txBox="1"/>
          <p:nvPr/>
        </p:nvSpPr>
        <p:spPr>
          <a:xfrm>
            <a:off x="6291072" y="3877055"/>
            <a:ext cx="2359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38</a:t>
            </a:r>
          </a:p>
        </p:txBody>
      </p:sp>
      <p:sp>
        <p:nvSpPr>
          <p:cNvPr id="68" name="a3wd450_td67"/>
          <p:cNvSpPr/>
          <p:nvPr/>
        </p:nvSpPr>
        <p:spPr>
          <a:xfrm>
            <a:off x="6217920" y="4187952"/>
            <a:ext cx="246888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3wd450_tdt68"/>
          <p:cNvSpPr txBox="1"/>
          <p:nvPr/>
        </p:nvSpPr>
        <p:spPr>
          <a:xfrm>
            <a:off x="6291072" y="4187952"/>
            <a:ext cx="2359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0 - all 38 SMS sent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53</a:t>
            </a:r>
          </a:p>
        </p:txBody>
      </p:sp>
      <p:sp>
        <p:nvSpPr>
          <p:cNvPr id="71" name="ft70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ft71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73" name="ft7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k8"/>
          <p:cNvSpPr/>
          <p:nvPr/>
        </p:nvSpPr>
        <p:spPr>
          <a:xfrm>
            <a:off x="457200" y="155448"/>
            <a:ext cx="1748790" cy="2286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 spc="60">
                <a:solidFill>
                  <a:srgbClr val="C2410C"/>
                </a:solidFill>
                <a:latin typeface="Segoe UI"/>
              </a:rPr>
              <a:t>LAB 6  ·  SOLUTION</a:t>
            </a:r>
          </a:p>
        </p:txBody>
      </p:sp>
      <p:sp>
        <p:nvSpPr>
          <p:cNvPr id="10" name="h9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6 - Answers</a:t>
            </a:r>
          </a:p>
        </p:txBody>
      </p:sp>
      <p:sp>
        <p:nvSpPr>
          <p:cNvPr id="11" name="sub10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Click once for each question, and again for its answer</a:t>
            </a:r>
          </a:p>
        </p:txBody>
      </p:sp>
      <p:sp>
        <p:nvSpPr>
          <p:cNvPr id="12" name="a1u_card11"/>
          <p:cNvSpPr/>
          <p:nvPr/>
        </p:nvSpPr>
        <p:spPr>
          <a:xfrm>
            <a:off x="45720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_acc12"/>
          <p:cNvSpPr/>
          <p:nvPr/>
        </p:nvSpPr>
        <p:spPr>
          <a:xfrm>
            <a:off x="457200" y="1371600"/>
            <a:ext cx="50292" cy="15361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_q13"/>
          <p:cNvSpPr txBox="1"/>
          <p:nvPr/>
        </p:nvSpPr>
        <p:spPr>
          <a:xfrm>
            <a:off x="658368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Both runs used acks=all. Why was async about 200x faster?</a:t>
            </a:r>
          </a:p>
        </p:txBody>
      </p:sp>
      <p:sp>
        <p:nvSpPr>
          <p:cNvPr id="15" name="a2f_a14"/>
          <p:cNvSpPr txBox="1"/>
          <p:nvPr/>
        </p:nvSpPr>
        <p:spPr>
          <a:xfrm>
            <a:off x="658368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Sync waits one network round trip per event (1.56 ms), so it can never batch. Async keeps sending while acks come back, packing many events into each request.</a:t>
            </a:r>
          </a:p>
        </p:txBody>
      </p:sp>
      <p:sp>
        <p:nvSpPr>
          <p:cNvPr id="16" name="a3u_card15"/>
          <p:cNvSpPr/>
          <p:nvPr/>
        </p:nvSpPr>
        <p:spPr>
          <a:xfrm>
            <a:off x="4663440" y="1371600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663440" y="1371600"/>
            <a:ext cx="50292" cy="15361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_q17"/>
          <p:cNvSpPr txBox="1"/>
          <p:nvPr/>
        </p:nvSpPr>
        <p:spPr>
          <a:xfrm>
            <a:off x="4864607" y="14813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E7490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Twenty transfers ran while SMS was down. Why did none fail?</a:t>
            </a:r>
          </a:p>
        </p:txBody>
      </p:sp>
      <p:sp>
        <p:nvSpPr>
          <p:cNvPr id="19" name="a4f_a18"/>
          <p:cNvSpPr txBox="1"/>
          <p:nvPr/>
        </p:nvSpPr>
        <p:spPr>
          <a:xfrm>
            <a:off x="4864607" y="1956816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7490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The transfer service no longer calls SMS. It hands one event to Kafka and is done. SMS is a reader, and a reader is allowed to be late.</a:t>
            </a:r>
          </a:p>
        </p:txBody>
      </p:sp>
      <p:sp>
        <p:nvSpPr>
          <p:cNvPr id="20" name="a5u_card19"/>
          <p:cNvSpPr/>
          <p:nvPr/>
        </p:nvSpPr>
        <p:spPr>
          <a:xfrm>
            <a:off x="45720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acc20"/>
          <p:cNvSpPr/>
          <p:nvPr/>
        </p:nvSpPr>
        <p:spPr>
          <a:xfrm>
            <a:off x="457200" y="3035808"/>
            <a:ext cx="50292" cy="1536192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5u_q21"/>
          <p:cNvSpPr txBox="1"/>
          <p:nvPr/>
        </p:nvSpPr>
        <p:spPr>
          <a:xfrm>
            <a:off x="658368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16207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Where were the 38 SMS events while the reader was down?</a:t>
            </a:r>
          </a:p>
        </p:txBody>
      </p:sp>
      <p:sp>
        <p:nvSpPr>
          <p:cNvPr id="23" name="a6f_a22"/>
          <p:cNvSpPr txBox="1"/>
          <p:nvPr/>
        </p:nvSpPr>
        <p:spPr>
          <a:xfrm>
            <a:off x="658368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16207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In the topic, safe. Kafka keeps events for the retention period whether or not anyone read them; the group's committed offsets marked where to resume.</a:t>
            </a:r>
          </a:p>
        </p:txBody>
      </p:sp>
      <p:sp>
        <p:nvSpPr>
          <p:cNvPr id="24" name="a7u_card23"/>
          <p:cNvSpPr/>
          <p:nvPr/>
        </p:nvSpPr>
        <p:spPr>
          <a:xfrm>
            <a:off x="4663440" y="3035808"/>
            <a:ext cx="4023360" cy="1536192"/>
          </a:xfrm>
          <a:prstGeom prst="roundRect">
            <a:avLst>
              <a:gd name="adj" fmla="val 7142"/>
            </a:avLst>
          </a:prstGeom>
          <a:solidFill>
            <a:srgbClr val="F7F6F3"/>
          </a:solidFill>
          <a:ln w="1270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7u_acc24"/>
          <p:cNvSpPr/>
          <p:nvPr/>
        </p:nvSpPr>
        <p:spPr>
          <a:xfrm>
            <a:off x="4663440" y="3035808"/>
            <a:ext cx="50292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7u_q25"/>
          <p:cNvSpPr txBox="1"/>
          <p:nvPr/>
        </p:nvSpPr>
        <p:spPr>
          <a:xfrm>
            <a:off x="4864607" y="3145536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Segoe UI"/>
              </a:rPr>
              <a:t>Q  </a:t>
            </a:r>
            <a:r>
              <a:rPr sz="1000" b="1">
                <a:solidFill>
                  <a:srgbClr val="1C1917"/>
                </a:solidFill>
                <a:latin typeface="Segoe UI"/>
              </a:rPr>
              <a:t>Challenge: what did waiting for the broker's ack cost?</a:t>
            </a:r>
          </a:p>
        </p:txBody>
      </p:sp>
      <p:sp>
        <p:nvSpPr>
          <p:cNvPr id="27" name="a8f_a26"/>
          <p:cNvSpPr txBox="1"/>
          <p:nvPr/>
        </p:nvSpPr>
        <p:spPr>
          <a:xfrm>
            <a:off x="4864607" y="3621024"/>
            <a:ext cx="36576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F46E5"/>
                </a:solidFill>
                <a:latin typeface="Segoe UI"/>
              </a:rPr>
              <a:t>A  </a:t>
            </a:r>
            <a:r>
              <a:rPr sz="950" b="0">
                <a:solidFill>
                  <a:srgbClr val="44403C"/>
                </a:solidFill>
                <a:latin typeface="Segoe UI"/>
              </a:rPr>
              <a:t>About 2 ms per transfer (30 ms became about 32 ms), and the service now KNOWS each event is stored before it says Done. Synchronous with Kafka - never with SMS.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54</a:t>
            </a:r>
          </a:p>
        </p:txBody>
      </p:sp>
      <p:sp>
        <p:nvSpPr>
          <p:cNvPr id="29" name="ft28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t29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0f_h8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50" b="0">
                <a:solidFill>
                  <a:srgbClr val="FFFFFF"/>
                </a:solidFill>
                <a:latin typeface="Bahnschrift SemiBold"/>
              </a:rPr>
              <a:t>Key Takeaways</a:t>
            </a:r>
          </a:p>
        </p:txBody>
      </p:sp>
      <p:sp>
        <p:nvSpPr>
          <p:cNvPr id="10" name="a1u_n9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_nt10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Bahnschrift SemiBold"/>
              </a:rPr>
              <a:t>1</a:t>
            </a:r>
          </a:p>
        </p:txBody>
      </p:sp>
      <p:sp>
        <p:nvSpPr>
          <p:cNvPr id="12" name="a1u_nb11"/>
          <p:cNvSpPr txBox="1"/>
          <p:nvPr/>
        </p:nvSpPr>
        <p:spPr>
          <a:xfrm>
            <a:off x="1133856" y="1188720"/>
            <a:ext cx="4809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Request-response couples time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D6D3D1"/>
                </a:solidFill>
                <a:latin typeface="Segoe UI"/>
              </a:rPr>
              <a:t>Chained sync calls add latency and multiply downtime</a:t>
            </a:r>
          </a:p>
        </p:txBody>
      </p:sp>
      <p:sp>
        <p:nvSpPr>
          <p:cNvPr id="13" name="a1ud200_n12"/>
          <p:cNvSpPr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200_nt13"/>
          <p:cNvSpPr txBox="1"/>
          <p:nvPr/>
        </p:nvSpPr>
        <p:spPr>
          <a:xfrm>
            <a:off x="548640" y="1892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Bahnschrift SemiBold"/>
              </a:rPr>
              <a:t>2</a:t>
            </a:r>
          </a:p>
        </p:txBody>
      </p:sp>
      <p:sp>
        <p:nvSpPr>
          <p:cNvPr id="15" name="a1ud200_nb14"/>
          <p:cNvSpPr txBox="1"/>
          <p:nvPr/>
        </p:nvSpPr>
        <p:spPr>
          <a:xfrm>
            <a:off x="1133856" y="1847088"/>
            <a:ext cx="4809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 broker decouples space, time and flow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D6D3D1"/>
                </a:solidFill>
                <a:latin typeface="Segoe UI"/>
              </a:rPr>
              <a:t>Producers name a topic; consumers read when ready</a:t>
            </a:r>
          </a:p>
        </p:txBody>
      </p:sp>
      <p:sp>
        <p:nvSpPr>
          <p:cNvPr id="16" name="a1ud400_n15"/>
          <p:cNvSpPr/>
          <p:nvPr/>
        </p:nvSpPr>
        <p:spPr>
          <a:xfrm>
            <a:off x="548640" y="2551176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ud400_nt16"/>
          <p:cNvSpPr txBox="1"/>
          <p:nvPr/>
        </p:nvSpPr>
        <p:spPr>
          <a:xfrm>
            <a:off x="548640" y="25511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Bahnschrift SemiBold"/>
              </a:rPr>
              <a:t>3</a:t>
            </a:r>
          </a:p>
        </p:txBody>
      </p:sp>
      <p:sp>
        <p:nvSpPr>
          <p:cNvPr id="18" name="a1ud400_nb17"/>
          <p:cNvSpPr txBox="1"/>
          <p:nvPr/>
        </p:nvSpPr>
        <p:spPr>
          <a:xfrm>
            <a:off x="1133856" y="2505456"/>
            <a:ext cx="4809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Events are facts, in the past tense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D6D3D1"/>
                </a:solidFill>
                <a:latin typeface="Segoe UI"/>
              </a:rPr>
              <a:t>Publish once; add a reader without touching the producer</a:t>
            </a:r>
          </a:p>
        </p:txBody>
      </p:sp>
      <p:sp>
        <p:nvSpPr>
          <p:cNvPr id="19" name="a1ud600_n18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600_nt19"/>
          <p:cNvSpPr txBox="1"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Bahnschrift SemiBold"/>
              </a:rPr>
              <a:t>4</a:t>
            </a:r>
          </a:p>
        </p:txBody>
      </p:sp>
      <p:sp>
        <p:nvSpPr>
          <p:cNvPr id="21" name="a1ud600_nb20"/>
          <p:cNvSpPr txBox="1"/>
          <p:nvPr/>
        </p:nvSpPr>
        <p:spPr>
          <a:xfrm>
            <a:off x="1133856" y="3163824"/>
            <a:ext cx="4809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Keys give order, groups give scale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D6D3D1"/>
                </a:solidFill>
                <a:latin typeface="Segoe UI"/>
              </a:rPr>
              <a:t>One group shares the work; many groups each get it all</a:t>
            </a:r>
          </a:p>
        </p:txBody>
      </p:sp>
      <p:sp>
        <p:nvSpPr>
          <p:cNvPr id="22" name="a1ud800_n21"/>
          <p:cNvSpPr/>
          <p:nvPr/>
        </p:nvSpPr>
        <p:spPr>
          <a:xfrm>
            <a:off x="548640" y="3867911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ud800_nt22"/>
          <p:cNvSpPr txBox="1"/>
          <p:nvPr/>
        </p:nvSpPr>
        <p:spPr>
          <a:xfrm>
            <a:off x="548640" y="386791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Bahnschrift SemiBold"/>
              </a:rPr>
              <a:t>5</a:t>
            </a:r>
          </a:p>
        </p:txBody>
      </p:sp>
      <p:sp>
        <p:nvSpPr>
          <p:cNvPr id="24" name="a1ud800_nb23"/>
          <p:cNvSpPr txBox="1"/>
          <p:nvPr/>
        </p:nvSpPr>
        <p:spPr>
          <a:xfrm>
            <a:off x="1133856" y="3822191"/>
            <a:ext cx="4809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Wait for the broker, not for the readers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D6D3D1"/>
                </a:solidFill>
                <a:latin typeface="Segoe UI"/>
              </a:rPr>
              <a:t>acks=all for safety; everything downstream stays async</a:t>
            </a:r>
          </a:p>
        </p:txBody>
      </p:sp>
      <p:sp>
        <p:nvSpPr>
          <p:cNvPr id="25" name="a2u_labs24"/>
          <p:cNvSpPr/>
          <p:nvPr/>
        </p:nvSpPr>
        <p:spPr>
          <a:xfrm>
            <a:off x="6263640" y="123444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 w="12700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lh25"/>
          <p:cNvSpPr txBox="1"/>
          <p:nvPr/>
        </p:nvSpPr>
        <p:spPr>
          <a:xfrm>
            <a:off x="6446520" y="134416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B923C"/>
                </a:solidFill>
                <a:latin typeface="Segoe UI"/>
              </a:rPr>
              <a:t>LABS YOU RAN</a:t>
            </a:r>
          </a:p>
        </p:txBody>
      </p:sp>
      <p:sp>
        <p:nvSpPr>
          <p:cNvPr id="27" name="a2u_lt26"/>
          <p:cNvSpPr txBox="1"/>
          <p:nvPr/>
        </p:nvSpPr>
        <p:spPr>
          <a:xfrm>
            <a:off x="6446520" y="1609344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Segoe UI"/>
              </a:rPr>
              <a:t>1  Feel the coupling</a:t>
            </a:r>
          </a:p>
        </p:txBody>
      </p:sp>
      <p:sp>
        <p:nvSpPr>
          <p:cNvPr id="28" name="a2ud60_lt27"/>
          <p:cNvSpPr txBox="1"/>
          <p:nvPr/>
        </p:nvSpPr>
        <p:spPr>
          <a:xfrm>
            <a:off x="6446520" y="1837943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Segoe UI"/>
              </a:rPr>
              <a:t>2  Start Kafka</a:t>
            </a:r>
          </a:p>
        </p:txBody>
      </p:sp>
      <p:sp>
        <p:nvSpPr>
          <p:cNvPr id="29" name="a2ud120_lt28"/>
          <p:cNvSpPr txBox="1"/>
          <p:nvPr/>
        </p:nvSpPr>
        <p:spPr>
          <a:xfrm>
            <a:off x="6446520" y="2066543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Segoe UI"/>
              </a:rPr>
              <a:t>3  First topic</a:t>
            </a:r>
          </a:p>
        </p:txBody>
      </p:sp>
      <p:sp>
        <p:nvSpPr>
          <p:cNvPr id="30" name="a2ud180_lt29"/>
          <p:cNvSpPr txBox="1"/>
          <p:nvPr/>
        </p:nvSpPr>
        <p:spPr>
          <a:xfrm>
            <a:off x="6446520" y="2295144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Segoe UI"/>
              </a:rPr>
              <a:t>4  One event, many readers</a:t>
            </a:r>
          </a:p>
        </p:txBody>
      </p:sp>
      <p:sp>
        <p:nvSpPr>
          <p:cNvPr id="31" name="a2ud240_lt30"/>
          <p:cNvSpPr txBox="1"/>
          <p:nvPr/>
        </p:nvSpPr>
        <p:spPr>
          <a:xfrm>
            <a:off x="6446520" y="2523744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Segoe UI"/>
              </a:rPr>
              <a:t>5  Consumer groups</a:t>
            </a:r>
          </a:p>
        </p:txBody>
      </p:sp>
      <p:sp>
        <p:nvSpPr>
          <p:cNvPr id="32" name="a2ud300_lt31"/>
          <p:cNvSpPr txBox="1"/>
          <p:nvPr/>
        </p:nvSpPr>
        <p:spPr>
          <a:xfrm>
            <a:off x="6446520" y="2752344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Segoe UI"/>
              </a:rPr>
              <a:t>6  Replay the outage</a:t>
            </a:r>
          </a:p>
        </p:txBody>
      </p:sp>
      <p:sp>
        <p:nvSpPr>
          <p:cNvPr id="33" name="a3u_next32"/>
          <p:cNvSpPr/>
          <p:nvPr/>
        </p:nvSpPr>
        <p:spPr>
          <a:xfrm>
            <a:off x="6263640" y="3246120"/>
            <a:ext cx="2423160" cy="1005840"/>
          </a:xfrm>
          <a:prstGeom prst="roundRect">
            <a:avLst>
              <a:gd name="adj" fmla="val 9090"/>
            </a:avLst>
          </a:prstGeom>
          <a:solidFill>
            <a:srgbClr val="27272A"/>
          </a:solidFill>
          <a:ln w="12700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nextt33"/>
          <p:cNvSpPr txBox="1"/>
          <p:nvPr/>
        </p:nvSpPr>
        <p:spPr>
          <a:xfrm>
            <a:off x="6446520" y="336499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spc="220">
                <a:solidFill>
                  <a:srgbClr val="FB923C"/>
                </a:solidFill>
                <a:latin typeface="Segoe U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E7E5E4"/>
                </a:solidFill>
                <a:latin typeface="Segoe UI"/>
              </a:rPr>
              <a:t>Deck 2 - Kafka architecture: brokers, partitions, replication, retention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p1"/>
          <p:cNvSpPr/>
          <p:nvPr/>
        </p:nvSpPr>
        <p:spPr>
          <a:xfrm>
            <a:off x="0" y="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trp2"/>
          <p:cNvSpPr/>
          <p:nvPr/>
        </p:nvSpPr>
        <p:spPr>
          <a:xfrm>
            <a:off x="2157984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strp3"/>
          <p:cNvSpPr/>
          <p:nvPr/>
        </p:nvSpPr>
        <p:spPr>
          <a:xfrm>
            <a:off x="2487168" y="0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trp4"/>
          <p:cNvSpPr/>
          <p:nvPr/>
        </p:nvSpPr>
        <p:spPr>
          <a:xfrm>
            <a:off x="2816352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trp5"/>
          <p:cNvSpPr/>
          <p:nvPr/>
        </p:nvSpPr>
        <p:spPr>
          <a:xfrm>
            <a:off x="3145536" y="0"/>
            <a:ext cx="274320" cy="5486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trp6"/>
          <p:cNvSpPr/>
          <p:nvPr/>
        </p:nvSpPr>
        <p:spPr>
          <a:xfrm>
            <a:off x="3474720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trp7"/>
          <p:cNvSpPr/>
          <p:nvPr/>
        </p:nvSpPr>
        <p:spPr>
          <a:xfrm>
            <a:off x="3803904" y="0"/>
            <a:ext cx="274320" cy="54864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h8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>
                <a:solidFill>
                  <a:srgbClr val="1C1917"/>
                </a:solidFill>
                <a:latin typeface="Bahnschrift SemiBold"/>
              </a:rPr>
              <a:t>Lab Kit Reference</a:t>
            </a:r>
          </a:p>
        </p:txBody>
      </p:sp>
      <p:sp>
        <p:nvSpPr>
          <p:cNvPr id="10" name="sub9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78716C"/>
                </a:solidFill>
                <a:latin typeface="Segoe UI"/>
              </a:rPr>
              <a:t>Everything the labs use, and how to reset or remove it</a:t>
            </a:r>
          </a:p>
        </p:txBody>
      </p:sp>
      <p:sp>
        <p:nvSpPr>
          <p:cNvPr id="11" name="a1f_th10"/>
          <p:cNvSpPr/>
          <p:nvPr/>
        </p:nvSpPr>
        <p:spPr>
          <a:xfrm>
            <a:off x="457200" y="1216152"/>
            <a:ext cx="2103120" cy="32918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530352" y="1216152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nsolas"/>
              </a:rPr>
              <a:t>File</a:t>
            </a:r>
          </a:p>
        </p:txBody>
      </p:sp>
      <p:sp>
        <p:nvSpPr>
          <p:cNvPr id="13" name="a1wd90_td12"/>
          <p:cNvSpPr/>
          <p:nvPr/>
        </p:nvSpPr>
        <p:spPr>
          <a:xfrm>
            <a:off x="457200" y="1545336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90_tdt13"/>
          <p:cNvSpPr txBox="1"/>
          <p:nvPr/>
        </p:nvSpPr>
        <p:spPr>
          <a:xfrm>
            <a:off x="530352" y="1545336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docker-compose.yml</a:t>
            </a:r>
          </a:p>
        </p:txBody>
      </p:sp>
      <p:sp>
        <p:nvSpPr>
          <p:cNvPr id="15" name="a1wd180_td14"/>
          <p:cNvSpPr/>
          <p:nvPr/>
        </p:nvSpPr>
        <p:spPr>
          <a:xfrm>
            <a:off x="457200" y="1874519"/>
            <a:ext cx="210312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180_tdt15"/>
          <p:cNvSpPr txBox="1"/>
          <p:nvPr/>
        </p:nvSpPr>
        <p:spPr>
          <a:xfrm>
            <a:off x="530352" y="1874519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lab1_request_response.py</a:t>
            </a:r>
          </a:p>
        </p:txBody>
      </p:sp>
      <p:sp>
        <p:nvSpPr>
          <p:cNvPr id="17" name="a1wd270_td16"/>
          <p:cNvSpPr/>
          <p:nvPr/>
        </p:nvSpPr>
        <p:spPr>
          <a:xfrm>
            <a:off x="457200" y="2203704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270_tdt17"/>
          <p:cNvSpPr txBox="1"/>
          <p:nvPr/>
        </p:nvSpPr>
        <p:spPr>
          <a:xfrm>
            <a:off x="530352" y="2203704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transfer_service.py</a:t>
            </a:r>
          </a:p>
        </p:txBody>
      </p:sp>
      <p:sp>
        <p:nvSpPr>
          <p:cNvPr id="19" name="a1wd360_td18"/>
          <p:cNvSpPr/>
          <p:nvPr/>
        </p:nvSpPr>
        <p:spPr>
          <a:xfrm>
            <a:off x="457200" y="2532888"/>
            <a:ext cx="210312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360_tdt19"/>
          <p:cNvSpPr txBox="1"/>
          <p:nvPr/>
        </p:nvSpPr>
        <p:spPr>
          <a:xfrm>
            <a:off x="530352" y="2532888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consumer.py</a:t>
            </a:r>
          </a:p>
        </p:txBody>
      </p:sp>
      <p:sp>
        <p:nvSpPr>
          <p:cNvPr id="21" name="a1wd450_td20"/>
          <p:cNvSpPr/>
          <p:nvPr/>
        </p:nvSpPr>
        <p:spPr>
          <a:xfrm>
            <a:off x="457200" y="2862072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50_tdt21"/>
          <p:cNvSpPr txBox="1"/>
          <p:nvPr/>
        </p:nvSpPr>
        <p:spPr>
          <a:xfrm>
            <a:off x="530352" y="2862072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sync_vs_async.py</a:t>
            </a:r>
          </a:p>
        </p:txBody>
      </p:sp>
      <p:sp>
        <p:nvSpPr>
          <p:cNvPr id="23" name="a1wd540_td22"/>
          <p:cNvSpPr/>
          <p:nvPr/>
        </p:nvSpPr>
        <p:spPr>
          <a:xfrm>
            <a:off x="457200" y="3191256"/>
            <a:ext cx="210312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40_tdt23"/>
          <p:cNvSpPr txBox="1"/>
          <p:nvPr/>
        </p:nvSpPr>
        <p:spPr>
          <a:xfrm>
            <a:off x="530352" y="3191256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4403C"/>
                </a:solidFill>
                <a:latin typeface="Consolas"/>
              </a:rPr>
              <a:t>solutions/</a:t>
            </a:r>
          </a:p>
        </p:txBody>
      </p:sp>
      <p:sp>
        <p:nvSpPr>
          <p:cNvPr id="25" name="a1f_th24"/>
          <p:cNvSpPr/>
          <p:nvPr/>
        </p:nvSpPr>
        <p:spPr>
          <a:xfrm>
            <a:off x="2560320" y="1216152"/>
            <a:ext cx="685800" cy="32918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2633472" y="1216152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Labs</a:t>
            </a:r>
          </a:p>
        </p:txBody>
      </p:sp>
      <p:sp>
        <p:nvSpPr>
          <p:cNvPr id="27" name="a1wd90_td26"/>
          <p:cNvSpPr/>
          <p:nvPr/>
        </p:nvSpPr>
        <p:spPr>
          <a:xfrm>
            <a:off x="2560320" y="1545336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90_tdt27"/>
          <p:cNvSpPr txBox="1"/>
          <p:nvPr/>
        </p:nvSpPr>
        <p:spPr>
          <a:xfrm>
            <a:off x="2633472" y="1545336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2-6</a:t>
            </a:r>
          </a:p>
        </p:txBody>
      </p:sp>
      <p:sp>
        <p:nvSpPr>
          <p:cNvPr id="29" name="a1wd180_td28"/>
          <p:cNvSpPr/>
          <p:nvPr/>
        </p:nvSpPr>
        <p:spPr>
          <a:xfrm>
            <a:off x="2560320" y="1874519"/>
            <a:ext cx="68580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180_tdt29"/>
          <p:cNvSpPr txBox="1"/>
          <p:nvPr/>
        </p:nvSpPr>
        <p:spPr>
          <a:xfrm>
            <a:off x="2633472" y="1874519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1</a:t>
            </a:r>
          </a:p>
        </p:txBody>
      </p:sp>
      <p:sp>
        <p:nvSpPr>
          <p:cNvPr id="31" name="a1wd270_td30"/>
          <p:cNvSpPr/>
          <p:nvPr/>
        </p:nvSpPr>
        <p:spPr>
          <a:xfrm>
            <a:off x="2560320" y="220370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270_tdt31"/>
          <p:cNvSpPr txBox="1"/>
          <p:nvPr/>
        </p:nvSpPr>
        <p:spPr>
          <a:xfrm>
            <a:off x="2633472" y="2203704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4-6</a:t>
            </a:r>
          </a:p>
        </p:txBody>
      </p:sp>
      <p:sp>
        <p:nvSpPr>
          <p:cNvPr id="33" name="a1wd360_td32"/>
          <p:cNvSpPr/>
          <p:nvPr/>
        </p:nvSpPr>
        <p:spPr>
          <a:xfrm>
            <a:off x="2560320" y="2532888"/>
            <a:ext cx="68580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360_tdt33"/>
          <p:cNvSpPr txBox="1"/>
          <p:nvPr/>
        </p:nvSpPr>
        <p:spPr>
          <a:xfrm>
            <a:off x="2633472" y="2532888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4-6</a:t>
            </a:r>
          </a:p>
        </p:txBody>
      </p:sp>
      <p:sp>
        <p:nvSpPr>
          <p:cNvPr id="35" name="a1wd450_td34"/>
          <p:cNvSpPr/>
          <p:nvPr/>
        </p:nvSpPr>
        <p:spPr>
          <a:xfrm>
            <a:off x="2560320" y="286207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450_tdt35"/>
          <p:cNvSpPr txBox="1"/>
          <p:nvPr/>
        </p:nvSpPr>
        <p:spPr>
          <a:xfrm>
            <a:off x="2633472" y="2862072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6</a:t>
            </a:r>
          </a:p>
        </p:txBody>
      </p:sp>
      <p:sp>
        <p:nvSpPr>
          <p:cNvPr id="37" name="a1wd540_td36"/>
          <p:cNvSpPr/>
          <p:nvPr/>
        </p:nvSpPr>
        <p:spPr>
          <a:xfrm>
            <a:off x="2560320" y="3191256"/>
            <a:ext cx="68580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540_tdt37"/>
          <p:cNvSpPr txBox="1"/>
          <p:nvPr/>
        </p:nvSpPr>
        <p:spPr>
          <a:xfrm>
            <a:off x="2633472" y="3191256"/>
            <a:ext cx="576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6</a:t>
            </a:r>
          </a:p>
        </p:txBody>
      </p:sp>
      <p:sp>
        <p:nvSpPr>
          <p:cNvPr id="39" name="a1f_th38"/>
          <p:cNvSpPr/>
          <p:nvPr/>
        </p:nvSpPr>
        <p:spPr>
          <a:xfrm>
            <a:off x="3246120" y="1216152"/>
            <a:ext cx="2240280" cy="329184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f_tht39"/>
          <p:cNvSpPr txBox="1"/>
          <p:nvPr/>
        </p:nvSpPr>
        <p:spPr>
          <a:xfrm>
            <a:off x="3319272" y="1216152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41" name="a1wd90_td40"/>
          <p:cNvSpPr/>
          <p:nvPr/>
        </p:nvSpPr>
        <p:spPr>
          <a:xfrm>
            <a:off x="3246120" y="1545336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90_tdt41"/>
          <p:cNvSpPr txBox="1"/>
          <p:nvPr/>
        </p:nvSpPr>
        <p:spPr>
          <a:xfrm>
            <a:off x="3319272" y="1545336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Kafka 4.3.1 (KRaft) + Kafka UI</a:t>
            </a:r>
          </a:p>
        </p:txBody>
      </p:sp>
      <p:sp>
        <p:nvSpPr>
          <p:cNvPr id="43" name="a1wd180_td42"/>
          <p:cNvSpPr/>
          <p:nvPr/>
        </p:nvSpPr>
        <p:spPr>
          <a:xfrm>
            <a:off x="3246120" y="1874519"/>
            <a:ext cx="224028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180_tdt43"/>
          <p:cNvSpPr txBox="1"/>
          <p:nvPr/>
        </p:nvSpPr>
        <p:spPr>
          <a:xfrm>
            <a:off x="3319272" y="1874519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Sync chain, standard library</a:t>
            </a:r>
          </a:p>
        </p:txBody>
      </p:sp>
      <p:sp>
        <p:nvSpPr>
          <p:cNvPr id="45" name="a1wd270_td44"/>
          <p:cNvSpPr/>
          <p:nvPr/>
        </p:nvSpPr>
        <p:spPr>
          <a:xfrm>
            <a:off x="3246120" y="2203704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270_tdt45"/>
          <p:cNvSpPr txBox="1"/>
          <p:nvPr/>
        </p:nvSpPr>
        <p:spPr>
          <a:xfrm>
            <a:off x="3319272" y="2203704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Publishes TransferCompleted</a:t>
            </a:r>
          </a:p>
        </p:txBody>
      </p:sp>
      <p:sp>
        <p:nvSpPr>
          <p:cNvPr id="47" name="a1wd360_td46"/>
          <p:cNvSpPr/>
          <p:nvPr/>
        </p:nvSpPr>
        <p:spPr>
          <a:xfrm>
            <a:off x="3246120" y="2532888"/>
            <a:ext cx="224028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360_tdt47"/>
          <p:cNvSpPr txBox="1"/>
          <p:nvPr/>
        </p:nvSpPr>
        <p:spPr>
          <a:xfrm>
            <a:off x="3319272" y="2532888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One reader; group is an argument</a:t>
            </a:r>
          </a:p>
        </p:txBody>
      </p:sp>
      <p:sp>
        <p:nvSpPr>
          <p:cNvPr id="49" name="a1wd450_td48"/>
          <p:cNvSpPr/>
          <p:nvPr/>
        </p:nvSpPr>
        <p:spPr>
          <a:xfrm>
            <a:off x="3246120" y="2862072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450_tdt49"/>
          <p:cNvSpPr txBox="1"/>
          <p:nvPr/>
        </p:nvSpPr>
        <p:spPr>
          <a:xfrm>
            <a:off x="3319272" y="2862072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Blocking vs async send timing</a:t>
            </a:r>
          </a:p>
        </p:txBody>
      </p:sp>
      <p:sp>
        <p:nvSpPr>
          <p:cNvPr id="51" name="a1wd540_td50"/>
          <p:cNvSpPr/>
          <p:nvPr/>
        </p:nvSpPr>
        <p:spPr>
          <a:xfrm>
            <a:off x="3246120" y="3191256"/>
            <a:ext cx="2240280" cy="329184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540_tdt51"/>
          <p:cNvSpPr txBox="1"/>
          <p:nvPr/>
        </p:nvSpPr>
        <p:spPr>
          <a:xfrm>
            <a:off x="3319272" y="3191256"/>
            <a:ext cx="2130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Challenge solution and answers</a:t>
            </a:r>
          </a:p>
        </p:txBody>
      </p:sp>
      <p:sp>
        <p:nvSpPr>
          <p:cNvPr id="53" name="a2f_codebg52"/>
          <p:cNvSpPr/>
          <p:nvPr/>
        </p:nvSpPr>
        <p:spPr>
          <a:xfrm>
            <a:off x="5669280" y="1216152"/>
            <a:ext cx="3017520" cy="2176272"/>
          </a:xfrm>
          <a:prstGeom prst="roundRect">
            <a:avLst>
              <a:gd name="adj" fmla="val 3361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f_codeh53"/>
          <p:cNvSpPr txBox="1"/>
          <p:nvPr/>
        </p:nvSpPr>
        <p:spPr>
          <a:xfrm>
            <a:off x="5797296" y="1271016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A8A29E"/>
                </a:solidFill>
                <a:latin typeface="Consolas"/>
              </a:rPr>
              <a:t>reset and clean up</a:t>
            </a:r>
          </a:p>
        </p:txBody>
      </p:sp>
      <p:sp>
        <p:nvSpPr>
          <p:cNvPr id="55" name="a2f_codesep54"/>
          <p:cNvSpPr/>
          <p:nvPr/>
        </p:nvSpPr>
        <p:spPr>
          <a:xfrm>
            <a:off x="5797296" y="1545336"/>
            <a:ext cx="2761487" cy="1097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2w_code55"/>
          <p:cNvSpPr txBox="1"/>
          <p:nvPr/>
        </p:nvSpPr>
        <p:spPr>
          <a:xfrm>
            <a:off x="5797296" y="161848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A8580"/>
                </a:solidFill>
                <a:latin typeface="Consolas"/>
              </a:rPr>
              <a:t># stop, KEEP topics and offsets</a:t>
            </a:r>
          </a:p>
        </p:txBody>
      </p:sp>
      <p:sp>
        <p:nvSpPr>
          <p:cNvPr id="57" name="a2wd60_code56"/>
          <p:cNvSpPr txBox="1"/>
          <p:nvPr/>
        </p:nvSpPr>
        <p:spPr>
          <a:xfrm>
            <a:off x="5797296" y="180136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compose down</a:t>
            </a:r>
          </a:p>
        </p:txBody>
      </p:sp>
      <p:sp>
        <p:nvSpPr>
          <p:cNvPr id="58" name="a2wd120_code57"/>
          <p:cNvSpPr txBox="1"/>
          <p:nvPr/>
        </p:nvSpPr>
        <p:spPr>
          <a:xfrm>
            <a:off x="5797296" y="198424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59" name="a2wd180_code58"/>
          <p:cNvSpPr txBox="1"/>
          <p:nvPr/>
        </p:nvSpPr>
        <p:spPr>
          <a:xfrm>
            <a:off x="5797296" y="216712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A8580"/>
                </a:solidFill>
                <a:latin typeface="Consolas"/>
              </a:rPr>
              <a:t># stop and DELETE all data</a:t>
            </a:r>
          </a:p>
        </p:txBody>
      </p:sp>
      <p:sp>
        <p:nvSpPr>
          <p:cNvPr id="60" name="a2wd240_code59"/>
          <p:cNvSpPr txBox="1"/>
          <p:nvPr/>
        </p:nvSpPr>
        <p:spPr>
          <a:xfrm>
            <a:off x="5797296" y="235000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compose down -v</a:t>
            </a:r>
          </a:p>
        </p:txBody>
      </p:sp>
      <p:sp>
        <p:nvSpPr>
          <p:cNvPr id="61" name="a2wd300_code60"/>
          <p:cNvSpPr txBox="1"/>
          <p:nvPr/>
        </p:nvSpPr>
        <p:spPr>
          <a:xfrm>
            <a:off x="5797296" y="253288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7E5E4"/>
                </a:solidFill>
                <a:latin typeface="Consolas"/>
              </a:rPr>
              <a:t/>
            </a:r>
          </a:p>
        </p:txBody>
      </p:sp>
      <p:sp>
        <p:nvSpPr>
          <p:cNvPr id="62" name="a2wd360_code61"/>
          <p:cNvSpPr txBox="1"/>
          <p:nvPr/>
        </p:nvSpPr>
        <p:spPr>
          <a:xfrm>
            <a:off x="5797296" y="271576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A8580"/>
                </a:solidFill>
                <a:latin typeface="Consolas"/>
              </a:rPr>
              <a:t># redo the labs from a clean state</a:t>
            </a:r>
          </a:p>
        </p:txBody>
      </p:sp>
      <p:sp>
        <p:nvSpPr>
          <p:cNvPr id="63" name="a2wd420_code62"/>
          <p:cNvSpPr txBox="1"/>
          <p:nvPr/>
        </p:nvSpPr>
        <p:spPr>
          <a:xfrm>
            <a:off x="5797296" y="289864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compose down -v</a:t>
            </a:r>
          </a:p>
        </p:txBody>
      </p:sp>
      <p:sp>
        <p:nvSpPr>
          <p:cNvPr id="64" name="a2wd480_code63"/>
          <p:cNvSpPr txBox="1"/>
          <p:nvPr/>
        </p:nvSpPr>
        <p:spPr>
          <a:xfrm>
            <a:off x="5797296" y="3081528"/>
            <a:ext cx="276148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DBA74"/>
                </a:solidFill>
                <a:latin typeface="Consolas"/>
              </a:rPr>
              <a:t>docker compose up -d</a:t>
            </a:r>
          </a:p>
        </p:txBody>
      </p:sp>
      <p:sp>
        <p:nvSpPr>
          <p:cNvPr id="65" name="a3f_th64"/>
          <p:cNvSpPr/>
          <p:nvPr/>
        </p:nvSpPr>
        <p:spPr>
          <a:xfrm>
            <a:off x="457200" y="3639312"/>
            <a:ext cx="3108960" cy="27432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3f_tht65"/>
          <p:cNvSpPr txBox="1"/>
          <p:nvPr/>
        </p:nvSpPr>
        <p:spPr>
          <a:xfrm>
            <a:off x="530352" y="3639312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Symptom</a:t>
            </a:r>
          </a:p>
        </p:txBody>
      </p:sp>
      <p:sp>
        <p:nvSpPr>
          <p:cNvPr id="67" name="a3wd110_td66"/>
          <p:cNvSpPr/>
          <p:nvPr/>
        </p:nvSpPr>
        <p:spPr>
          <a:xfrm>
            <a:off x="457200" y="3913632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3wd110_tdt67"/>
          <p:cNvSpPr txBox="1"/>
          <p:nvPr/>
        </p:nvSpPr>
        <p:spPr>
          <a:xfrm>
            <a:off x="530352" y="3913632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Python: Connect to ... 9092 failed</a:t>
            </a:r>
          </a:p>
        </p:txBody>
      </p:sp>
      <p:sp>
        <p:nvSpPr>
          <p:cNvPr id="69" name="a3wd220_td68"/>
          <p:cNvSpPr/>
          <p:nvPr/>
        </p:nvSpPr>
        <p:spPr>
          <a:xfrm>
            <a:off x="457200" y="4187952"/>
            <a:ext cx="3108960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3wd220_tdt69"/>
          <p:cNvSpPr txBox="1"/>
          <p:nvPr/>
        </p:nvSpPr>
        <p:spPr>
          <a:xfrm>
            <a:off x="530352" y="4187952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ModuleNotFoundError: confluent_kafka</a:t>
            </a:r>
          </a:p>
        </p:txBody>
      </p:sp>
      <p:sp>
        <p:nvSpPr>
          <p:cNvPr id="71" name="a3f_th70"/>
          <p:cNvSpPr/>
          <p:nvPr/>
        </p:nvSpPr>
        <p:spPr>
          <a:xfrm>
            <a:off x="3566160" y="3639312"/>
            <a:ext cx="5120640" cy="27432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3f_tht71"/>
          <p:cNvSpPr txBox="1"/>
          <p:nvPr/>
        </p:nvSpPr>
        <p:spPr>
          <a:xfrm>
            <a:off x="3639312" y="3639312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Segoe UI"/>
              </a:rPr>
              <a:t>Fix</a:t>
            </a:r>
          </a:p>
        </p:txBody>
      </p:sp>
      <p:sp>
        <p:nvSpPr>
          <p:cNvPr id="73" name="a3wd110_td72"/>
          <p:cNvSpPr/>
          <p:nvPr/>
        </p:nvSpPr>
        <p:spPr>
          <a:xfrm>
            <a:off x="3566160" y="3913632"/>
            <a:ext cx="5120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3wd110_tdt73"/>
          <p:cNvSpPr txBox="1"/>
          <p:nvPr/>
        </p:nvSpPr>
        <p:spPr>
          <a:xfrm>
            <a:off x="3639312" y="3913632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Kafka is not up yet - docker compose ps, wait for (healthy)</a:t>
            </a:r>
          </a:p>
        </p:txBody>
      </p:sp>
      <p:sp>
        <p:nvSpPr>
          <p:cNvPr id="75" name="a3wd220_td74"/>
          <p:cNvSpPr/>
          <p:nvPr/>
        </p:nvSpPr>
        <p:spPr>
          <a:xfrm>
            <a:off x="3566160" y="4187952"/>
            <a:ext cx="5120640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E7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3wd220_tdt75"/>
          <p:cNvSpPr txBox="1"/>
          <p:nvPr/>
        </p:nvSpPr>
        <p:spPr>
          <a:xfrm>
            <a:off x="3639312" y="4187952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44403C"/>
                </a:solidFill>
                <a:latin typeface="Segoe UI"/>
              </a:rPr>
              <a:t>pip install confluent-kafka (Lab 4, Step 1)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457200" y="473659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A580C"/>
                </a:solidFill>
                <a:latin typeface="Bahnschrift SemiBold"/>
              </a:rPr>
              <a:t>56</a:t>
            </a:r>
          </a:p>
        </p:txBody>
      </p:sp>
      <p:sp>
        <p:nvSpPr>
          <p:cNvPr id="78" name="ft77"/>
          <p:cNvSpPr/>
          <p:nvPr/>
        </p:nvSpPr>
        <p:spPr>
          <a:xfrm>
            <a:off x="768096" y="4777740"/>
            <a:ext cx="12801" cy="13716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ft78"/>
          <p:cNvSpPr txBox="1"/>
          <p:nvPr/>
        </p:nvSpPr>
        <p:spPr>
          <a:xfrm>
            <a:off x="877824" y="473659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78716C"/>
                </a:solidFill>
                <a:latin typeface="Segoe UI"/>
              </a:rPr>
              <a:t>Apache Kafka Training  ·  Horizon Bank case study</a:t>
            </a:r>
          </a:p>
        </p:txBody>
      </p:sp>
      <p:sp>
        <p:nvSpPr>
          <p:cNvPr id="80" name="ft7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spc="140">
                <a:solidFill>
                  <a:srgbClr val="78716C"/>
                </a:solidFill>
                <a:latin typeface="Segoe UI"/>
              </a:rPr>
              <a:t>1 · FUNDAMENTALS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