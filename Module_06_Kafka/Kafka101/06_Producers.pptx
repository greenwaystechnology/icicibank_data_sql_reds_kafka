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of the Kafka 101 series: producers. We step outside the cluster and look at the applications that use Kafka - starting with the ones that write into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have been inside the cluster, with the brokers doing replication and partition management. Now step outside it and think about the applications that use Kafka - quite possibly code you write. Producers are the client applications that write into the cluster. In fact every component of the Kafka platform that is not a broker is, at the end of the day, a producer, a consumer, or both: it puts data in, gets data out, or does both. Producers are how data gets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producer library's API is small, and you are not tied to Java. Confluent officially supports clients for Python, Go, JavaScript and the .NET languages, and community clients exist for practically any language you can think of - the lesson says that if you find one without a client, the author wants to hear about it. Java is Kafka's native language: new features appear in the Java client first, and it is the one used in this module and the next. Trainer note: Confluent's Python, Go, JavaScript and .NET clients are all built on librdkafka, the C/C++ client.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producer is a thermostat app reading from a smart thermostat. In the application we use a class conveniently called KafkaProducer. It connects the application to the cluster, and it is the API we write code against. Under that API it handles the network plumbing, getting messages in and making sure they are acknowledged, batching, and the trade-offs between low latency and high throughput - all of it configurable. Trainer note: KafkaProducer is thread-safe; sharing one instance across threads is the normal pattern and usually the fastest.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producer is configured with a map of key-value settings - here loaded from a properties file with two entries, bootstrap.servers and acks=all. bootstrap.servers points the producer at the cluster: a list of just a few of its brokers, two or three. The cluster could have fifty brokers, and you would not want to list them all - they come and go. With a few listed, the producer can reach at least one: if the first is down and the second is up, that is fine. From that one connection it gets back all the metadata it needs about the cluster, and from then on the client library can build its connection pools and manage the networking itself. Security settings would usually go in this file too. Trainer note: acks=all is the default since Kafka 3.0.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example is deliberately clean - two properties. A practical one usually has five or ten. To produce, create the KafkaProducer object. Then there is a second class, ProducerRecord, which holds the key-value pair you want to send - messages are key-value pairs - plus the topic it is going to. Trainer note: send() is asynchronous and returns a Future; pass a callback, or call get() on the Future, when you need to know the result. Closing the producer (here, at the end of the try block) flushes anything still waiting to be sent.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ProducerRecord must know its topic, and it carries the key and value. There is more you can do with it: take precise control of the timestamp, choose the partition yourself if you are into that kind of thing, and add headers - key-value pairs of their own. The offset is the one part of the message structure from Module 2 that you never set: the broker assigns it on write, and the producer reports it back in RecordMetadata. Trainer note: a record with a null value is a 'tombstone', used to delete a key from a compacted topic.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really is the core API you need in order to produce. But underneath it a lot is going on: acknowledging messages, retransmitting them, enforcing idempotence, and more - batching, compression, keeping up to date with the cluster's metadata, keeping order within a partition. This is not trivial code. It looks simple because the API is simple, but whether you know it or not, you are very glad somebody else wrote this library. Trainer note: since Kafka 3.0 the Java producer defaults to enable.idempotence=true and acks=all, so retries cannot create duplicates within a partition.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note on the code: it took an object, serialized it to JSON and sent it as a string. That is a little sloppy. Kafka is agnostic about data format - on the inside the key and value are just bytes. But at the producer you do care: you have a domain object in your language's type system. Kafka ships serializers for primitive types - integer, long, double, string and a few more - and because our JSON was a string, Kafka simply thought it was dealing with a string. Usually you want a serializer that follows the actual format of your object, its schema. That is what the Confluent Schema Registry module covers: a more sophisticated approach to serialization and deserialization.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in the Partitions module we said that when you write, a partition has to be chosen - by hashing the key, or by spreading keyless messages round robin. It is the producer library that makes that decision: it does the hashing and picks the partition to send each message to - one more job this code does for you. Trainer note: the Java client hashes keys with murmur2, but librdkafka-based clients (Python, Go, .NET, JavaScript) default to a different hash (consistent_random, CRC32). If producers in different languages write keyed messages to the same topic, set partitioner=murmur2_random on the librdkafka clients so the same key lands in the same partition.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introduction to the Kafka producer. This is a good place to get your hands dirty: if you are a developer, type the code out yourself, see how the API works and watch it run - it matters. The slide uses the Python client against the lab kit in fundamentals_lab, which runs one Kafka node with automatic topic creation switched off, so the topic is created first. The console consumer keeps running - stop it with Ctrl+C. For the exercise, add --property print.partition=true to the console consumer to see where each key went.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to leave with. Quick check: why list only a few brokers in bootstrap.servers? (One reachable broker is enough - the client learns the rest from its metadata.) And who decides which partition a keyed message goes to? (The producer, by hashing the key.)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edge1"/>
          <p:cNvSpPr/>
          <p:nvPr/>
        </p:nvSpPr>
        <p:spPr>
          <a:xfrm>
            <a:off x="0" y="0"/>
            <a:ext cx="128016"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kick2"/>
          <p:cNvSpPr txBox="1"/>
          <p:nvPr/>
        </p:nvSpPr>
        <p:spPr>
          <a:xfrm>
            <a:off x="548640" y="868680"/>
            <a:ext cx="4937760" cy="292608"/>
          </a:xfrm>
          <a:prstGeom prst="rect">
            <a:avLst/>
          </a:prstGeom>
          <a:noFill/>
        </p:spPr>
        <p:txBody>
          <a:bodyPr wrap="square" lIns="0" tIns="0" rIns="0" bIns="0" anchor="ctr">
            <a:spAutoFit/>
          </a:bodyPr>
          <a:lstStyle/>
          <a:p>
            <a:pPr algn="l"/>
            <a:r>
              <a:rPr sz="1050" b="1" spc="300">
                <a:solidFill>
                  <a:srgbClr val="FB923C"/>
                </a:solidFill>
                <a:latin typeface="Segoe UI"/>
              </a:rPr>
              <a:t>APACHE KAFKA 101</a:t>
            </a:r>
          </a:p>
        </p:txBody>
      </p:sp>
      <p:sp>
        <p:nvSpPr>
          <p:cNvPr id="4" name="a0ud200_t3"/>
          <p:cNvSpPr txBox="1"/>
          <p:nvPr/>
        </p:nvSpPr>
        <p:spPr>
          <a:xfrm>
            <a:off x="548640" y="1188720"/>
            <a:ext cx="5212080" cy="1417320"/>
          </a:xfrm>
          <a:prstGeom prst="rect">
            <a:avLst/>
          </a:prstGeom>
          <a:noFill/>
        </p:spPr>
        <p:txBody>
          <a:bodyPr wrap="square" lIns="0" tIns="0" rIns="0" bIns="0" anchor="ctr">
            <a:spAutoFit/>
          </a:bodyPr>
          <a:lstStyle/>
          <a:p>
            <a:pPr algn="l"/>
            <a:r>
              <a:rPr sz="4200" b="0">
                <a:solidFill>
                  <a:srgbClr val="FFFFFF"/>
                </a:solidFill>
                <a:latin typeface="Bahnschrift SemiBold"/>
              </a:rPr>
              <a:t>Apache Kafka 101</a:t>
            </a:r>
          </a:p>
        </p:txBody>
      </p:sp>
      <p:sp>
        <p:nvSpPr>
          <p:cNvPr id="5" name="a0fd500_sub4"/>
          <p:cNvSpPr txBox="1"/>
          <p:nvPr/>
        </p:nvSpPr>
        <p:spPr>
          <a:xfrm>
            <a:off x="548640" y="2670048"/>
            <a:ext cx="5029200" cy="457200"/>
          </a:xfrm>
          <a:prstGeom prst="rect">
            <a:avLst/>
          </a:prstGeom>
          <a:noFill/>
        </p:spPr>
        <p:txBody>
          <a:bodyPr wrap="square" lIns="0" tIns="0" rIns="0" bIns="0" anchor="ctr">
            <a:spAutoFit/>
          </a:bodyPr>
          <a:lstStyle/>
          <a:p>
            <a:pPr algn="l"/>
            <a:r>
              <a:rPr sz="1450" b="0">
                <a:solidFill>
                  <a:srgbClr val="D6D3D1"/>
                </a:solidFill>
                <a:latin typeface="Segoe UI"/>
              </a:rPr>
              <a:t>Producers</a:t>
            </a:r>
          </a:p>
          <a:p>
            <a:pPr algn="l"/>
            <a:r>
              <a:rPr sz="1450" b="0">
                <a:solidFill>
                  <a:srgbClr val="D6D3D1"/>
                </a:solidFill>
                <a:latin typeface="Segoe UI"/>
              </a:rPr>
              <a:t>the client applications that write into Kafka</a:t>
            </a:r>
          </a:p>
        </p:txBody>
      </p:sp>
      <p:sp>
        <p:nvSpPr>
          <p:cNvPr id="6" name="a0ud800_pill5"/>
          <p:cNvSpPr/>
          <p:nvPr/>
        </p:nvSpPr>
        <p:spPr>
          <a:xfrm>
            <a:off x="548640"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CLIENTS</a:t>
            </a:r>
          </a:p>
        </p:txBody>
      </p:sp>
      <p:sp>
        <p:nvSpPr>
          <p:cNvPr id="7" name="a0ud950_pill6"/>
          <p:cNvSpPr/>
          <p:nvPr/>
        </p:nvSpPr>
        <p:spPr>
          <a:xfrm>
            <a:off x="1572768"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CONFIG</a:t>
            </a:r>
          </a:p>
        </p:txBody>
      </p:sp>
      <p:sp>
        <p:nvSpPr>
          <p:cNvPr id="8" name="a0ud1100_pill7"/>
          <p:cNvSpPr/>
          <p:nvPr/>
        </p:nvSpPr>
        <p:spPr>
          <a:xfrm>
            <a:off x="2596896"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RECORDS</a:t>
            </a:r>
          </a:p>
        </p:txBody>
      </p:sp>
      <p:sp>
        <p:nvSpPr>
          <p:cNvPr id="9" name="a0ud1250_pill8"/>
          <p:cNvSpPr/>
          <p:nvPr/>
        </p:nvSpPr>
        <p:spPr>
          <a:xfrm>
            <a:off x="3621024"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SERIALIZERS</a:t>
            </a:r>
          </a:p>
        </p:txBody>
      </p:sp>
      <p:sp>
        <p:nvSpPr>
          <p:cNvPr id="10" name="a0fd1400_nt9"/>
          <p:cNvSpPr txBox="1"/>
          <p:nvPr/>
        </p:nvSpPr>
        <p:spPr>
          <a:xfrm>
            <a:off x="548640" y="3950208"/>
            <a:ext cx="4937760" cy="457200"/>
          </a:xfrm>
          <a:prstGeom prst="rect">
            <a:avLst/>
          </a:prstGeom>
          <a:noFill/>
        </p:spPr>
        <p:txBody>
          <a:bodyPr wrap="square" lIns="0" tIns="0" rIns="0" bIns="0" anchor="ctr">
            <a:spAutoFit/>
          </a:bodyPr>
          <a:lstStyle/>
          <a:p>
            <a:pPr algn="l"/>
            <a:r>
              <a:rPr sz="1050" b="0">
                <a:solidFill>
                  <a:srgbClr val="A8A29E"/>
                </a:solidFill>
                <a:latin typeface="Segoe UI"/>
              </a:rPr>
              <a:t>Module 6  ·  Following the Kafka 101 Producers lesson by Tim Berglund, Confluent</a:t>
            </a:r>
          </a:p>
        </p:txBody>
      </p:sp>
      <p:sp>
        <p:nvSpPr>
          <p:cNvPr id="11" name="a0fd1600_lc10"/>
          <p:cNvSpPr/>
          <p:nvPr/>
        </p:nvSpPr>
        <p:spPr>
          <a:xfrm>
            <a:off x="54864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d1600_lct11"/>
          <p:cNvSpPr txBox="1"/>
          <p:nvPr/>
        </p:nvSpPr>
        <p:spPr>
          <a:xfrm>
            <a:off x="54864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0</a:t>
            </a:r>
          </a:p>
        </p:txBody>
      </p:sp>
      <p:sp>
        <p:nvSpPr>
          <p:cNvPr id="13" name="a0fd1645_lc12"/>
          <p:cNvSpPr/>
          <p:nvPr/>
        </p:nvSpPr>
        <p:spPr>
          <a:xfrm>
            <a:off x="98755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d1645_lct13"/>
          <p:cNvSpPr txBox="1"/>
          <p:nvPr/>
        </p:nvSpPr>
        <p:spPr>
          <a:xfrm>
            <a:off x="98755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a:t>
            </a:r>
          </a:p>
        </p:txBody>
      </p:sp>
      <p:sp>
        <p:nvSpPr>
          <p:cNvPr id="15" name="a0fd1690_lc14"/>
          <p:cNvSpPr/>
          <p:nvPr/>
        </p:nvSpPr>
        <p:spPr>
          <a:xfrm>
            <a:off x="142646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d1690_lct15"/>
          <p:cNvSpPr txBox="1"/>
          <p:nvPr/>
        </p:nvSpPr>
        <p:spPr>
          <a:xfrm>
            <a:off x="142646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2</a:t>
            </a:r>
          </a:p>
        </p:txBody>
      </p:sp>
      <p:sp>
        <p:nvSpPr>
          <p:cNvPr id="17" name="a0fd1735_lc16"/>
          <p:cNvSpPr/>
          <p:nvPr/>
        </p:nvSpPr>
        <p:spPr>
          <a:xfrm>
            <a:off x="1865376"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d1735_lct17"/>
          <p:cNvSpPr txBox="1"/>
          <p:nvPr/>
        </p:nvSpPr>
        <p:spPr>
          <a:xfrm>
            <a:off x="1865376"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3</a:t>
            </a:r>
          </a:p>
        </p:txBody>
      </p:sp>
      <p:sp>
        <p:nvSpPr>
          <p:cNvPr id="19" name="a0fd1780_lc18"/>
          <p:cNvSpPr/>
          <p:nvPr/>
        </p:nvSpPr>
        <p:spPr>
          <a:xfrm>
            <a:off x="230428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d1780_lct19"/>
          <p:cNvSpPr txBox="1"/>
          <p:nvPr/>
        </p:nvSpPr>
        <p:spPr>
          <a:xfrm>
            <a:off x="230428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4</a:t>
            </a:r>
          </a:p>
        </p:txBody>
      </p:sp>
      <p:sp>
        <p:nvSpPr>
          <p:cNvPr id="21" name="a0fd1825_lc20"/>
          <p:cNvSpPr/>
          <p:nvPr/>
        </p:nvSpPr>
        <p:spPr>
          <a:xfrm>
            <a:off x="274320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d1825_lct21"/>
          <p:cNvSpPr txBox="1"/>
          <p:nvPr/>
        </p:nvSpPr>
        <p:spPr>
          <a:xfrm>
            <a:off x="274320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5</a:t>
            </a:r>
          </a:p>
        </p:txBody>
      </p:sp>
      <p:sp>
        <p:nvSpPr>
          <p:cNvPr id="23" name="a0fd1870_lc22"/>
          <p:cNvSpPr/>
          <p:nvPr/>
        </p:nvSpPr>
        <p:spPr>
          <a:xfrm>
            <a:off x="318211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d1870_lct23"/>
          <p:cNvSpPr txBox="1"/>
          <p:nvPr/>
        </p:nvSpPr>
        <p:spPr>
          <a:xfrm>
            <a:off x="318211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6</a:t>
            </a:r>
          </a:p>
        </p:txBody>
      </p:sp>
      <p:sp>
        <p:nvSpPr>
          <p:cNvPr id="25" name="a0fd1915_lc24"/>
          <p:cNvSpPr/>
          <p:nvPr/>
        </p:nvSpPr>
        <p:spPr>
          <a:xfrm>
            <a:off x="362102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d1915_lct25"/>
          <p:cNvSpPr txBox="1"/>
          <p:nvPr/>
        </p:nvSpPr>
        <p:spPr>
          <a:xfrm>
            <a:off x="362102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7</a:t>
            </a:r>
          </a:p>
        </p:txBody>
      </p:sp>
      <p:sp>
        <p:nvSpPr>
          <p:cNvPr id="27" name="a0fd1960_lc26"/>
          <p:cNvSpPr/>
          <p:nvPr/>
        </p:nvSpPr>
        <p:spPr>
          <a:xfrm>
            <a:off x="4059935"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d1960_lct27"/>
          <p:cNvSpPr txBox="1"/>
          <p:nvPr/>
        </p:nvSpPr>
        <p:spPr>
          <a:xfrm>
            <a:off x="4059935"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8</a:t>
            </a:r>
          </a:p>
        </p:txBody>
      </p:sp>
      <p:sp>
        <p:nvSpPr>
          <p:cNvPr id="29" name="a0fd2005_lc28"/>
          <p:cNvSpPr/>
          <p:nvPr/>
        </p:nvSpPr>
        <p:spPr>
          <a:xfrm>
            <a:off x="449884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d2005_lct29"/>
          <p:cNvSpPr txBox="1"/>
          <p:nvPr/>
        </p:nvSpPr>
        <p:spPr>
          <a:xfrm>
            <a:off x="449884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9</a:t>
            </a:r>
          </a:p>
        </p:txBody>
      </p:sp>
      <p:sp>
        <p:nvSpPr>
          <p:cNvPr id="31" name="a0fd2050_lc30"/>
          <p:cNvSpPr/>
          <p:nvPr/>
        </p:nvSpPr>
        <p:spPr>
          <a:xfrm>
            <a:off x="4937759"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d2050_lct31"/>
          <p:cNvSpPr txBox="1"/>
          <p:nvPr/>
        </p:nvSpPr>
        <p:spPr>
          <a:xfrm>
            <a:off x="4937759"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10</a:t>
            </a:r>
          </a:p>
        </p:txBody>
      </p:sp>
      <p:sp>
        <p:nvSpPr>
          <p:cNvPr id="33" name="a0fd2095_lc32"/>
          <p:cNvSpPr/>
          <p:nvPr/>
        </p:nvSpPr>
        <p:spPr>
          <a:xfrm>
            <a:off x="5376671"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d2095_lct33"/>
          <p:cNvSpPr txBox="1"/>
          <p:nvPr/>
        </p:nvSpPr>
        <p:spPr>
          <a:xfrm>
            <a:off x="5376671"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11</a:t>
            </a:r>
          </a:p>
        </p:txBody>
      </p:sp>
      <p:sp>
        <p:nvSpPr>
          <p:cNvPr id="35" name="a0fd2140_lc34"/>
          <p:cNvSpPr/>
          <p:nvPr/>
        </p:nvSpPr>
        <p:spPr>
          <a:xfrm>
            <a:off x="5815583"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d2140_lct35"/>
          <p:cNvSpPr txBox="1"/>
          <p:nvPr/>
        </p:nvSpPr>
        <p:spPr>
          <a:xfrm>
            <a:off x="5815583"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12</a:t>
            </a:r>
          </a:p>
        </p:txBody>
      </p:sp>
      <p:sp>
        <p:nvSpPr>
          <p:cNvPr id="37" name="a0fd2185_lc36"/>
          <p:cNvSpPr/>
          <p:nvPr/>
        </p:nvSpPr>
        <p:spPr>
          <a:xfrm>
            <a:off x="6254496" y="4553712"/>
            <a:ext cx="384048" cy="237744"/>
          </a:xfrm>
          <a:prstGeom prst="roundRect">
            <a:avLst>
              <a:gd name="adj" fmla="val 15384"/>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d2185_lct37"/>
          <p:cNvSpPr txBox="1"/>
          <p:nvPr/>
        </p:nvSpPr>
        <p:spPr>
          <a:xfrm>
            <a:off x="6254496"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13</a:t>
            </a:r>
          </a:p>
        </p:txBody>
      </p:sp>
      <p:sp>
        <p:nvSpPr>
          <p:cNvPr id="39" name="a0fd2230_lc38"/>
          <p:cNvSpPr/>
          <p:nvPr/>
        </p:nvSpPr>
        <p:spPr>
          <a:xfrm>
            <a:off x="6693407" y="4553712"/>
            <a:ext cx="384048" cy="237744"/>
          </a:xfrm>
          <a:prstGeom prst="roundRect">
            <a:avLst>
              <a:gd name="adj" fmla="val 15384"/>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d2230_lct39"/>
          <p:cNvSpPr txBox="1"/>
          <p:nvPr/>
        </p:nvSpPr>
        <p:spPr>
          <a:xfrm>
            <a:off x="6693407"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14</a:t>
            </a:r>
          </a:p>
        </p:txBody>
      </p:sp>
      <p:sp>
        <p:nvSpPr>
          <p:cNvPr id="41" name="a0fd2275_lc40"/>
          <p:cNvSpPr/>
          <p:nvPr/>
        </p:nvSpPr>
        <p:spPr>
          <a:xfrm>
            <a:off x="7132319" y="4553712"/>
            <a:ext cx="384048" cy="237744"/>
          </a:xfrm>
          <a:prstGeom prst="roundRect">
            <a:avLst>
              <a:gd name="adj" fmla="val 1538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d2275_lct41"/>
          <p:cNvSpPr txBox="1"/>
          <p:nvPr/>
        </p:nvSpPr>
        <p:spPr>
          <a:xfrm>
            <a:off x="7132319"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15</a:t>
            </a:r>
          </a:p>
        </p:txBody>
      </p:sp>
      <p:sp>
        <p:nvSpPr>
          <p:cNvPr id="43" name="a0fd2320_lc42"/>
          <p:cNvSpPr/>
          <p:nvPr/>
        </p:nvSpPr>
        <p:spPr>
          <a:xfrm>
            <a:off x="7571231" y="4553712"/>
            <a:ext cx="384048" cy="237744"/>
          </a:xfrm>
          <a:prstGeom prst="roundRect">
            <a:avLst>
              <a:gd name="adj" fmla="val 1538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d2320_lct43"/>
          <p:cNvSpPr txBox="1"/>
          <p:nvPr/>
        </p:nvSpPr>
        <p:spPr>
          <a:xfrm>
            <a:off x="7571231"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16</a:t>
            </a:r>
          </a:p>
        </p:txBody>
      </p:sp>
      <p:sp>
        <p:nvSpPr>
          <p:cNvPr id="45" name="a0fd2365_lc44"/>
          <p:cNvSpPr/>
          <p:nvPr/>
        </p:nvSpPr>
        <p:spPr>
          <a:xfrm>
            <a:off x="8010144" y="4553712"/>
            <a:ext cx="384048" cy="237744"/>
          </a:xfrm>
          <a:prstGeom prst="roundRect">
            <a:avLst>
              <a:gd name="adj" fmla="val 15384"/>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d2365_lct45"/>
          <p:cNvSpPr txBox="1"/>
          <p:nvPr/>
        </p:nvSpPr>
        <p:spPr>
          <a:xfrm>
            <a:off x="8010144"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17</a:t>
            </a:r>
          </a:p>
        </p:txBody>
      </p:sp>
      <p:cxnSp>
        <p:nvCxnSpPr>
          <p:cNvPr id="47" name="a0fd2410_la46"/>
          <p:cNvCxnSpPr/>
          <p:nvPr/>
        </p:nvCxnSpPr>
        <p:spPr>
          <a:xfrm>
            <a:off x="8449056" y="4672584"/>
            <a:ext cx="237744" cy="0"/>
          </a:xfrm>
          <a:prstGeom prst="line">
            <a:avLst/>
          </a:prstGeom>
          <a:ln w="19050">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0fd900_lg47"/>
          <p:cNvSpPr/>
          <p:nvPr/>
        </p:nvSpPr>
        <p:spPr>
          <a:xfrm>
            <a:off x="5806440" y="1188720"/>
            <a:ext cx="2880360" cy="1783080"/>
          </a:xfrm>
          <a:prstGeom prst="roundRect">
            <a:avLst>
              <a:gd name="adj" fmla="val 410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fd900_lgt48"/>
          <p:cNvSpPr txBox="1"/>
          <p:nvPr/>
        </p:nvSpPr>
        <p:spPr>
          <a:xfrm>
            <a:off x="5961888" y="1280160"/>
            <a:ext cx="2560320" cy="219456"/>
          </a:xfrm>
          <a:prstGeom prst="rect">
            <a:avLst/>
          </a:prstGeom>
          <a:noFill/>
        </p:spPr>
        <p:txBody>
          <a:bodyPr wrap="square" lIns="0" tIns="0" rIns="0" bIns="0" anchor="ctr">
            <a:spAutoFit/>
          </a:bodyPr>
          <a:lstStyle/>
          <a:p>
            <a:pPr algn="l"/>
            <a:r>
              <a:rPr sz="900" b="1">
                <a:solidFill>
                  <a:srgbClr val="A8A29E"/>
                </a:solidFill>
                <a:latin typeface="Consolas"/>
              </a:rPr>
              <a:t>app  -&gt;  thermostat_readings</a:t>
            </a:r>
          </a:p>
        </p:txBody>
      </p:sp>
      <p:sp>
        <p:nvSpPr>
          <p:cNvPr id="50" name="a0fd1100_app49"/>
          <p:cNvSpPr/>
          <p:nvPr/>
        </p:nvSpPr>
        <p:spPr>
          <a:xfrm>
            <a:off x="5961888" y="1755648"/>
            <a:ext cx="868680" cy="731520"/>
          </a:xfrm>
          <a:prstGeom prst="roundRect">
            <a:avLst>
              <a:gd name="adj" fmla="val 75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0fd1100_appt50"/>
          <p:cNvSpPr txBox="1"/>
          <p:nvPr/>
        </p:nvSpPr>
        <p:spPr>
          <a:xfrm>
            <a:off x="5961888" y="1755648"/>
            <a:ext cx="868680" cy="731520"/>
          </a:xfrm>
          <a:prstGeom prst="rect">
            <a:avLst/>
          </a:prstGeom>
          <a:noFill/>
        </p:spPr>
        <p:txBody>
          <a:bodyPr wrap="square" lIns="0" tIns="0" rIns="0" bIns="0" anchor="ctr">
            <a:spAutoFit/>
          </a:bodyPr>
          <a:lstStyle/>
          <a:p>
            <a:pPr algn="ctr"/>
            <a:r>
              <a:rPr sz="950" b="1">
                <a:solidFill>
                  <a:srgbClr val="E7E5E4"/>
                </a:solidFill>
                <a:latin typeface="Consolas"/>
              </a:rPr>
              <a:t>app</a:t>
            </a:r>
          </a:p>
          <a:p>
            <a:pPr algn="ctr"/>
            <a:r>
              <a:rPr sz="750" b="0">
                <a:solidFill>
                  <a:srgbClr val="FDBA74"/>
                </a:solidFill>
                <a:latin typeface="Consolas"/>
              </a:rPr>
              <a:t>Kafka</a:t>
            </a:r>
          </a:p>
          <a:p>
            <a:pPr algn="ctr"/>
            <a:r>
              <a:rPr sz="750" b="0">
                <a:solidFill>
                  <a:srgbClr val="FDBA74"/>
                </a:solidFill>
                <a:latin typeface="Consolas"/>
              </a:rPr>
              <a:t>Producer</a:t>
            </a:r>
          </a:p>
        </p:txBody>
      </p:sp>
      <p:cxnSp>
        <p:nvCxnSpPr>
          <p:cNvPr id="52" name="a0fd1300_la51"/>
          <p:cNvCxnSpPr/>
          <p:nvPr/>
        </p:nvCxnSpPr>
        <p:spPr>
          <a:xfrm flipV="1">
            <a:off x="6848856" y="1773936"/>
            <a:ext cx="210312" cy="347472"/>
          </a:xfrm>
          <a:prstGeom prst="line">
            <a:avLst/>
          </a:prstGeom>
          <a:ln w="15875">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a0fd1300_pl52"/>
          <p:cNvSpPr txBox="1"/>
          <p:nvPr/>
        </p:nvSpPr>
        <p:spPr>
          <a:xfrm>
            <a:off x="7095744" y="1645920"/>
            <a:ext cx="292608" cy="256032"/>
          </a:xfrm>
          <a:prstGeom prst="rect">
            <a:avLst/>
          </a:prstGeom>
          <a:noFill/>
        </p:spPr>
        <p:txBody>
          <a:bodyPr wrap="square" lIns="0" tIns="0" rIns="0" bIns="0" anchor="ctr">
            <a:spAutoFit/>
          </a:bodyPr>
          <a:lstStyle/>
          <a:p>
            <a:pPr algn="l"/>
            <a:r>
              <a:rPr sz="850" b="1">
                <a:solidFill>
                  <a:srgbClr val="A8A29E"/>
                </a:solidFill>
                <a:latin typeface="Consolas"/>
              </a:rPr>
              <a:t>P0</a:t>
            </a:r>
          </a:p>
        </p:txBody>
      </p:sp>
      <p:sp>
        <p:nvSpPr>
          <p:cNvPr id="54" name="a0fd1300_pc53"/>
          <p:cNvSpPr/>
          <p:nvPr/>
        </p:nvSpPr>
        <p:spPr>
          <a:xfrm>
            <a:off x="7406640" y="164592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0fd1360_pc54"/>
          <p:cNvSpPr/>
          <p:nvPr/>
        </p:nvSpPr>
        <p:spPr>
          <a:xfrm>
            <a:off x="7680960" y="164592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0fd1420_pc55"/>
          <p:cNvSpPr/>
          <p:nvPr/>
        </p:nvSpPr>
        <p:spPr>
          <a:xfrm>
            <a:off x="7955279" y="164592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0fd1880_pc56"/>
          <p:cNvSpPr/>
          <p:nvPr/>
        </p:nvSpPr>
        <p:spPr>
          <a:xfrm>
            <a:off x="8229600" y="1645920"/>
            <a:ext cx="237744" cy="256032"/>
          </a:xfrm>
          <a:prstGeom prst="roundRect">
            <a:avLst>
              <a:gd name="adj" fmla="val 11538"/>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8" name="a0fd1500_la57"/>
          <p:cNvCxnSpPr/>
          <p:nvPr/>
        </p:nvCxnSpPr>
        <p:spPr>
          <a:xfrm>
            <a:off x="6848856" y="2121408"/>
            <a:ext cx="210312" cy="18288"/>
          </a:xfrm>
          <a:prstGeom prst="line">
            <a:avLst/>
          </a:prstGeom>
          <a:ln w="15875">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a0fd1500_pl58"/>
          <p:cNvSpPr txBox="1"/>
          <p:nvPr/>
        </p:nvSpPr>
        <p:spPr>
          <a:xfrm>
            <a:off x="7095744" y="2011680"/>
            <a:ext cx="292608" cy="256032"/>
          </a:xfrm>
          <a:prstGeom prst="rect">
            <a:avLst/>
          </a:prstGeom>
          <a:noFill/>
        </p:spPr>
        <p:txBody>
          <a:bodyPr wrap="square" lIns="0" tIns="0" rIns="0" bIns="0" anchor="ctr">
            <a:spAutoFit/>
          </a:bodyPr>
          <a:lstStyle/>
          <a:p>
            <a:pPr algn="l"/>
            <a:r>
              <a:rPr sz="850" b="1">
                <a:solidFill>
                  <a:srgbClr val="A8A29E"/>
                </a:solidFill>
                <a:latin typeface="Consolas"/>
              </a:rPr>
              <a:t>P1</a:t>
            </a:r>
          </a:p>
        </p:txBody>
      </p:sp>
      <p:sp>
        <p:nvSpPr>
          <p:cNvPr id="60" name="a0fd1500_pc59"/>
          <p:cNvSpPr/>
          <p:nvPr/>
        </p:nvSpPr>
        <p:spPr>
          <a:xfrm>
            <a:off x="7406640" y="201168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0fd1560_pc60"/>
          <p:cNvSpPr/>
          <p:nvPr/>
        </p:nvSpPr>
        <p:spPr>
          <a:xfrm>
            <a:off x="7680960" y="201168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0fd2020_pc61"/>
          <p:cNvSpPr/>
          <p:nvPr/>
        </p:nvSpPr>
        <p:spPr>
          <a:xfrm>
            <a:off x="7955279" y="2011680"/>
            <a:ext cx="237744" cy="256032"/>
          </a:xfrm>
          <a:prstGeom prst="roundRect">
            <a:avLst>
              <a:gd name="adj" fmla="val 11538"/>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3" name="a0fd1700_la62"/>
          <p:cNvCxnSpPr/>
          <p:nvPr/>
        </p:nvCxnSpPr>
        <p:spPr>
          <a:xfrm>
            <a:off x="6848856" y="2121408"/>
            <a:ext cx="210312" cy="384048"/>
          </a:xfrm>
          <a:prstGeom prst="line">
            <a:avLst/>
          </a:prstGeom>
          <a:ln w="15875">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a0fd1700_pl63"/>
          <p:cNvSpPr txBox="1"/>
          <p:nvPr/>
        </p:nvSpPr>
        <p:spPr>
          <a:xfrm>
            <a:off x="7095744" y="2377440"/>
            <a:ext cx="292608" cy="256032"/>
          </a:xfrm>
          <a:prstGeom prst="rect">
            <a:avLst/>
          </a:prstGeom>
          <a:noFill/>
        </p:spPr>
        <p:txBody>
          <a:bodyPr wrap="square" lIns="0" tIns="0" rIns="0" bIns="0" anchor="ctr">
            <a:spAutoFit/>
          </a:bodyPr>
          <a:lstStyle/>
          <a:p>
            <a:pPr algn="l"/>
            <a:r>
              <a:rPr sz="850" b="1">
                <a:solidFill>
                  <a:srgbClr val="A8A29E"/>
                </a:solidFill>
                <a:latin typeface="Consolas"/>
              </a:rPr>
              <a:t>P2</a:t>
            </a:r>
          </a:p>
        </p:txBody>
      </p:sp>
      <p:sp>
        <p:nvSpPr>
          <p:cNvPr id="65" name="a0fd1700_pc64"/>
          <p:cNvSpPr/>
          <p:nvPr/>
        </p:nvSpPr>
        <p:spPr>
          <a:xfrm>
            <a:off x="7406640" y="237744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0fd1760_pc65"/>
          <p:cNvSpPr/>
          <p:nvPr/>
        </p:nvSpPr>
        <p:spPr>
          <a:xfrm>
            <a:off x="7680960" y="237744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a0fd1820_pc66"/>
          <p:cNvSpPr/>
          <p:nvPr/>
        </p:nvSpPr>
        <p:spPr>
          <a:xfrm>
            <a:off x="7955279" y="237744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a0fd2280_pc67"/>
          <p:cNvSpPr/>
          <p:nvPr/>
        </p:nvSpPr>
        <p:spPr>
          <a:xfrm>
            <a:off x="8229600" y="2377440"/>
            <a:ext cx="237744" cy="256032"/>
          </a:xfrm>
          <a:prstGeom prst="roundRect">
            <a:avLst>
              <a:gd name="adj" fmla="val 11538"/>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a0fd2300_cap68"/>
          <p:cNvSpPr txBox="1"/>
          <p:nvPr/>
        </p:nvSpPr>
        <p:spPr>
          <a:xfrm>
            <a:off x="5806440" y="3090672"/>
            <a:ext cx="2880360" cy="256032"/>
          </a:xfrm>
          <a:prstGeom prst="rect">
            <a:avLst/>
          </a:prstGeom>
          <a:noFill/>
        </p:spPr>
        <p:txBody>
          <a:bodyPr wrap="square" lIns="0" tIns="0" rIns="0" bIns="0" anchor="ctr">
            <a:spAutoFit/>
          </a:bodyPr>
          <a:lstStyle/>
          <a:p>
            <a:pPr algn="l"/>
            <a:r>
              <a:rPr sz="850" b="0">
                <a:solidFill>
                  <a:srgbClr val="A8A29E"/>
                </a:solidFill>
                <a:latin typeface="Segoe UI"/>
              </a:rPr>
              <a:t>an application writing into a topic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20" presetID="2" presetClass="entr" presetSubtype="4" fill="hold" grpId="0"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3" presetID="10" presetClass="entr" presetSubtype="0" fill="hold" grpId="0" nodeType="withEffect">
                                  <p:stCondLst>
                                    <p:cond delay="90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6" presetID="10" presetClass="entr" presetSubtype="0" fill="hold" grpId="0" nodeType="withEffect">
                                  <p:stCondLst>
                                    <p:cond delay="9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31" presetID="2" presetClass="entr" presetSubtype="4" fill="hold" grpId="0" nodeType="withEffect">
                                  <p:stCondLst>
                                    <p:cond delay="95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6" presetID="2" presetClass="entr" presetSubtype="4" fill="hold" grpId="0" nodeType="withEffect">
                                  <p:stCondLst>
                                    <p:cond delay="110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ppt_y+0.1"/>
                                          </p:val>
                                        </p:tav>
                                        <p:tav tm="100000">
                                          <p:val>
                                            <p:strVal val="#ppt_y"/>
                                          </p:val>
                                        </p:tav>
                                      </p:tavLst>
                                    </p:anim>
                                    <p:animEffect transition="in" filter="fade">
                                      <p:cBhvr>
                                        <p:cTn id="35" dur="500"/>
                                        <p:tgtEl>
                                          <p:spTgt spid="8"/>
                                        </p:tgtEl>
                                      </p:cBhvr>
                                    </p:animEffect>
                                  </p:childTnLst>
                                </p:cTn>
                              </p:par>
                              <p:par>
                                <p:cTn id="39" presetID="10" presetClass="entr" presetSubtype="0" fill="hold" grpId="0" nodeType="withEffect">
                                  <p:stCondLst>
                                    <p:cond delay="110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500"/>
                                        <p:tgtEl>
                                          <p:spTgt spid="50"/>
                                        </p:tgtEl>
                                      </p:cBhvr>
                                    </p:animEffect>
                                  </p:childTnLst>
                                </p:cTn>
                              </p:par>
                              <p:par>
                                <p:cTn id="42" presetID="10" presetClass="entr" presetSubtype="0" fill="hold" grpId="0" nodeType="withEffect">
                                  <p:stCondLst>
                                    <p:cond delay="110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par>
                                <p:cTn id="47" presetID="2" presetClass="entr" presetSubtype="4" fill="hold" grpId="0" nodeType="withEffect">
                                  <p:stCondLst>
                                    <p:cond delay="125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ppt_y+0.1"/>
                                          </p:val>
                                        </p:tav>
                                        <p:tav tm="100000">
                                          <p:val>
                                            <p:strVal val="#ppt_y"/>
                                          </p:val>
                                        </p:tav>
                                      </p:tavLst>
                                    </p:anim>
                                    <p:animEffect transition="in" filter="fade">
                                      <p:cBhvr>
                                        <p:cTn id="46" dur="500"/>
                                        <p:tgtEl>
                                          <p:spTgt spid="9"/>
                                        </p:tgtEl>
                                      </p:cBhvr>
                                    </p:animEffect>
                                  </p:childTnLst>
                                </p:cTn>
                              </p:par>
                              <p:par>
                                <p:cTn id="50" presetID="10" presetClass="entr" presetSubtype="0" fill="hold" grpId="0" nodeType="withEffect">
                                  <p:stCondLst>
                                    <p:cond delay="1300"/>
                                  </p:stCondLst>
                                  <p:childTnLst>
                                    <p:set>
                                      <p:cBhvr>
                                        <p:cTn id="48" dur="1" fill="hold">
                                          <p:stCondLst>
                                            <p:cond delay="0"/>
                                          </p:stCondLst>
                                        </p:cTn>
                                        <p:tgtEl>
                                          <p:spTgt spid="52"/>
                                        </p:tgtEl>
                                        <p:attrNameLst>
                                          <p:attrName>style.visibility</p:attrName>
                                        </p:attrNameLst>
                                      </p:cBhvr>
                                      <p:to>
                                        <p:strVal val="visible"/>
                                      </p:to>
                                    </p:set>
                                    <p:animEffect transition="in" filter="fade">
                                      <p:cBhvr>
                                        <p:cTn id="49" dur="500"/>
                                        <p:tgtEl>
                                          <p:spTgt spid="52"/>
                                        </p:tgtEl>
                                      </p:cBhvr>
                                    </p:animEffect>
                                  </p:childTnLst>
                                </p:cTn>
                              </p:par>
                              <p:par>
                                <p:cTn id="53" presetID="10" presetClass="entr" presetSubtype="0" fill="hold" grpId="0" nodeType="withEffect">
                                  <p:stCondLst>
                                    <p:cond delay="130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par>
                                <p:cTn id="56" presetID="10" presetClass="entr" presetSubtype="0" fill="hold" grpId="0" nodeType="withEffect">
                                  <p:stCondLst>
                                    <p:cond delay="130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500"/>
                                        <p:tgtEl>
                                          <p:spTgt spid="54"/>
                                        </p:tgtEl>
                                      </p:cBhvr>
                                    </p:animEffect>
                                  </p:childTnLst>
                                </p:cTn>
                              </p:par>
                              <p:par>
                                <p:cTn id="59" presetID="10" presetClass="entr" presetSubtype="0" fill="hold" grpId="0" nodeType="withEffect">
                                  <p:stCondLst>
                                    <p:cond delay="1360"/>
                                  </p:stCondLst>
                                  <p:childTnLst>
                                    <p:set>
                                      <p:cBhvr>
                                        <p:cTn id="57" dur="1" fill="hold">
                                          <p:stCondLst>
                                            <p:cond delay="0"/>
                                          </p:stCondLst>
                                        </p:cTn>
                                        <p:tgtEl>
                                          <p:spTgt spid="55"/>
                                        </p:tgtEl>
                                        <p:attrNameLst>
                                          <p:attrName>style.visibility</p:attrName>
                                        </p:attrNameLst>
                                      </p:cBhvr>
                                      <p:to>
                                        <p:strVal val="visible"/>
                                      </p:to>
                                    </p:set>
                                    <p:animEffect transition="in" filter="fade">
                                      <p:cBhvr>
                                        <p:cTn id="58" dur="500"/>
                                        <p:tgtEl>
                                          <p:spTgt spid="55"/>
                                        </p:tgtEl>
                                      </p:cBhvr>
                                    </p:animEffect>
                                  </p:childTnLst>
                                </p:cTn>
                              </p:par>
                              <p:par>
                                <p:cTn id="62" presetID="10" presetClass="entr" presetSubtype="0" fill="hold" grpId="0" nodeType="withEffect">
                                  <p:stCondLst>
                                    <p:cond delay="140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par>
                                <p:cTn id="65" presetID="10" presetClass="entr" presetSubtype="0" fill="hold" grpId="0" nodeType="withEffect">
                                  <p:stCondLst>
                                    <p:cond delay="1420"/>
                                  </p:stCondLst>
                                  <p:childTnLst>
                                    <p:set>
                                      <p:cBhvr>
                                        <p:cTn id="63" dur="1" fill="hold">
                                          <p:stCondLst>
                                            <p:cond delay="0"/>
                                          </p:stCondLst>
                                        </p:cTn>
                                        <p:tgtEl>
                                          <p:spTgt spid="56"/>
                                        </p:tgtEl>
                                        <p:attrNameLst>
                                          <p:attrName>style.visibility</p:attrName>
                                        </p:attrNameLst>
                                      </p:cBhvr>
                                      <p:to>
                                        <p:strVal val="visible"/>
                                      </p:to>
                                    </p:set>
                                    <p:animEffect transition="in" filter="fade">
                                      <p:cBhvr>
                                        <p:cTn id="64" dur="500"/>
                                        <p:tgtEl>
                                          <p:spTgt spid="56"/>
                                        </p:tgtEl>
                                      </p:cBhvr>
                                    </p:animEffect>
                                  </p:childTnLst>
                                </p:cTn>
                              </p:par>
                              <p:par>
                                <p:cTn id="68" presetID="10" presetClass="entr" presetSubtype="0" fill="hold" grpId="0" nodeType="withEffect">
                                  <p:stCondLst>
                                    <p:cond delay="1500"/>
                                  </p:stCondLst>
                                  <p:childTnLst>
                                    <p:set>
                                      <p:cBhvr>
                                        <p:cTn id="66" dur="1" fill="hold">
                                          <p:stCondLst>
                                            <p:cond delay="0"/>
                                          </p:stCondLst>
                                        </p:cTn>
                                        <p:tgtEl>
                                          <p:spTgt spid="58"/>
                                        </p:tgtEl>
                                        <p:attrNameLst>
                                          <p:attrName>style.visibility</p:attrName>
                                        </p:attrNameLst>
                                      </p:cBhvr>
                                      <p:to>
                                        <p:strVal val="visible"/>
                                      </p:to>
                                    </p:set>
                                    <p:animEffect transition="in" filter="fade">
                                      <p:cBhvr>
                                        <p:cTn id="67" dur="500"/>
                                        <p:tgtEl>
                                          <p:spTgt spid="58"/>
                                        </p:tgtEl>
                                      </p:cBhvr>
                                    </p:animEffect>
                                  </p:childTnLst>
                                </p:cTn>
                              </p:par>
                              <p:par>
                                <p:cTn id="71" presetID="10" presetClass="entr" presetSubtype="0" fill="hold" grpId="0" nodeType="withEffect">
                                  <p:stCondLst>
                                    <p:cond delay="1500"/>
                                  </p:stCondLst>
                                  <p:childTnLst>
                                    <p:set>
                                      <p:cBhvr>
                                        <p:cTn id="69" dur="1" fill="hold">
                                          <p:stCondLst>
                                            <p:cond delay="0"/>
                                          </p:stCondLst>
                                        </p:cTn>
                                        <p:tgtEl>
                                          <p:spTgt spid="59"/>
                                        </p:tgtEl>
                                        <p:attrNameLst>
                                          <p:attrName>style.visibility</p:attrName>
                                        </p:attrNameLst>
                                      </p:cBhvr>
                                      <p:to>
                                        <p:strVal val="visible"/>
                                      </p:to>
                                    </p:set>
                                    <p:animEffect transition="in" filter="fade">
                                      <p:cBhvr>
                                        <p:cTn id="70" dur="500"/>
                                        <p:tgtEl>
                                          <p:spTgt spid="59"/>
                                        </p:tgtEl>
                                      </p:cBhvr>
                                    </p:animEffect>
                                  </p:childTnLst>
                                </p:cTn>
                              </p:par>
                              <p:par>
                                <p:cTn id="74" presetID="10" presetClass="entr" presetSubtype="0" fill="hold" grpId="0" nodeType="withEffect">
                                  <p:stCondLst>
                                    <p:cond delay="1500"/>
                                  </p:stCondLst>
                                  <p:childTnLst>
                                    <p:set>
                                      <p:cBhvr>
                                        <p:cTn id="72" dur="1" fill="hold">
                                          <p:stCondLst>
                                            <p:cond delay="0"/>
                                          </p:stCondLst>
                                        </p:cTn>
                                        <p:tgtEl>
                                          <p:spTgt spid="60"/>
                                        </p:tgtEl>
                                        <p:attrNameLst>
                                          <p:attrName>style.visibility</p:attrName>
                                        </p:attrNameLst>
                                      </p:cBhvr>
                                      <p:to>
                                        <p:strVal val="visible"/>
                                      </p:to>
                                    </p:set>
                                    <p:animEffect transition="in" filter="fade">
                                      <p:cBhvr>
                                        <p:cTn id="73" dur="500"/>
                                        <p:tgtEl>
                                          <p:spTgt spid="60"/>
                                        </p:tgtEl>
                                      </p:cBhvr>
                                    </p:animEffect>
                                  </p:childTnLst>
                                </p:cTn>
                              </p:par>
                              <p:par>
                                <p:cTn id="77" presetID="10" presetClass="entr" presetSubtype="0" fill="hold" grpId="0" nodeType="withEffect">
                                  <p:stCondLst>
                                    <p:cond delay="1560"/>
                                  </p:stCondLst>
                                  <p:childTnLst>
                                    <p:set>
                                      <p:cBhvr>
                                        <p:cTn id="75" dur="1" fill="hold">
                                          <p:stCondLst>
                                            <p:cond delay="0"/>
                                          </p:stCondLst>
                                        </p:cTn>
                                        <p:tgtEl>
                                          <p:spTgt spid="61"/>
                                        </p:tgtEl>
                                        <p:attrNameLst>
                                          <p:attrName>style.visibility</p:attrName>
                                        </p:attrNameLst>
                                      </p:cBhvr>
                                      <p:to>
                                        <p:strVal val="visible"/>
                                      </p:to>
                                    </p:set>
                                    <p:animEffect transition="in" filter="fade">
                                      <p:cBhvr>
                                        <p:cTn id="76" dur="500"/>
                                        <p:tgtEl>
                                          <p:spTgt spid="61"/>
                                        </p:tgtEl>
                                      </p:cBhvr>
                                    </p:animEffect>
                                  </p:childTnLst>
                                </p:cTn>
                              </p:par>
                              <p:par>
                                <p:cTn id="80" presetID="10" presetClass="entr" presetSubtype="0" fill="hold" grpId="0" nodeType="withEffect">
                                  <p:stCondLst>
                                    <p:cond delay="1600"/>
                                  </p:stCondLst>
                                  <p:childTnLst>
                                    <p:set>
                                      <p:cBhvr>
                                        <p:cTn id="78" dur="1" fill="hold">
                                          <p:stCondLst>
                                            <p:cond delay="0"/>
                                          </p:stCondLst>
                                        </p:cTn>
                                        <p:tgtEl>
                                          <p:spTgt spid="11"/>
                                        </p:tgtEl>
                                        <p:attrNameLst>
                                          <p:attrName>style.visibility</p:attrName>
                                        </p:attrNameLst>
                                      </p:cBhvr>
                                      <p:to>
                                        <p:strVal val="visible"/>
                                      </p:to>
                                    </p:set>
                                    <p:animEffect transition="in" filter="fade">
                                      <p:cBhvr>
                                        <p:cTn id="79" dur="500"/>
                                        <p:tgtEl>
                                          <p:spTgt spid="11"/>
                                        </p:tgtEl>
                                      </p:cBhvr>
                                    </p:animEffect>
                                  </p:childTnLst>
                                </p:cTn>
                              </p:par>
                              <p:par>
                                <p:cTn id="83" presetID="10" presetClass="entr" presetSubtype="0" fill="hold" grpId="0" nodeType="withEffect">
                                  <p:stCondLst>
                                    <p:cond delay="1600"/>
                                  </p:stCondLst>
                                  <p:childTnLst>
                                    <p:set>
                                      <p:cBhvr>
                                        <p:cTn id="81" dur="1" fill="hold">
                                          <p:stCondLst>
                                            <p:cond delay="0"/>
                                          </p:stCondLst>
                                        </p:cTn>
                                        <p:tgtEl>
                                          <p:spTgt spid="12"/>
                                        </p:tgtEl>
                                        <p:attrNameLst>
                                          <p:attrName>style.visibility</p:attrName>
                                        </p:attrNameLst>
                                      </p:cBhvr>
                                      <p:to>
                                        <p:strVal val="visible"/>
                                      </p:to>
                                    </p:set>
                                    <p:animEffect transition="in" filter="fade">
                                      <p:cBhvr>
                                        <p:cTn id="82" dur="500"/>
                                        <p:tgtEl>
                                          <p:spTgt spid="12"/>
                                        </p:tgtEl>
                                      </p:cBhvr>
                                    </p:animEffect>
                                  </p:childTnLst>
                                </p:cTn>
                              </p:par>
                              <p:par>
                                <p:cTn id="86" presetID="10" presetClass="entr" presetSubtype="0" fill="hold" grpId="0" nodeType="withEffect">
                                  <p:stCondLst>
                                    <p:cond delay="1645"/>
                                  </p:stCondLst>
                                  <p:childTnLst>
                                    <p:set>
                                      <p:cBhvr>
                                        <p:cTn id="84" dur="1" fill="hold">
                                          <p:stCondLst>
                                            <p:cond delay="0"/>
                                          </p:stCondLst>
                                        </p:cTn>
                                        <p:tgtEl>
                                          <p:spTgt spid="13"/>
                                        </p:tgtEl>
                                        <p:attrNameLst>
                                          <p:attrName>style.visibility</p:attrName>
                                        </p:attrNameLst>
                                      </p:cBhvr>
                                      <p:to>
                                        <p:strVal val="visible"/>
                                      </p:to>
                                    </p:set>
                                    <p:animEffect transition="in" filter="fade">
                                      <p:cBhvr>
                                        <p:cTn id="85" dur="500"/>
                                        <p:tgtEl>
                                          <p:spTgt spid="13"/>
                                        </p:tgtEl>
                                      </p:cBhvr>
                                    </p:animEffect>
                                  </p:childTnLst>
                                </p:cTn>
                              </p:par>
                              <p:par>
                                <p:cTn id="89" presetID="10" presetClass="entr" presetSubtype="0" fill="hold" grpId="0" nodeType="withEffect">
                                  <p:stCondLst>
                                    <p:cond delay="1645"/>
                                  </p:stCondLst>
                                  <p:childTnLst>
                                    <p:set>
                                      <p:cBhvr>
                                        <p:cTn id="87" dur="1" fill="hold">
                                          <p:stCondLst>
                                            <p:cond delay="0"/>
                                          </p:stCondLst>
                                        </p:cTn>
                                        <p:tgtEl>
                                          <p:spTgt spid="14"/>
                                        </p:tgtEl>
                                        <p:attrNameLst>
                                          <p:attrName>style.visibility</p:attrName>
                                        </p:attrNameLst>
                                      </p:cBhvr>
                                      <p:to>
                                        <p:strVal val="visible"/>
                                      </p:to>
                                    </p:set>
                                    <p:animEffect transition="in" filter="fade">
                                      <p:cBhvr>
                                        <p:cTn id="88" dur="500"/>
                                        <p:tgtEl>
                                          <p:spTgt spid="14"/>
                                        </p:tgtEl>
                                      </p:cBhvr>
                                    </p:animEffect>
                                  </p:childTnLst>
                                </p:cTn>
                              </p:par>
                              <p:par>
                                <p:cTn id="92" presetID="10" presetClass="entr" presetSubtype="0" fill="hold" grpId="0" nodeType="withEffect">
                                  <p:stCondLst>
                                    <p:cond delay="1690"/>
                                  </p:stCondLst>
                                  <p:childTnLst>
                                    <p:set>
                                      <p:cBhvr>
                                        <p:cTn id="90" dur="1" fill="hold">
                                          <p:stCondLst>
                                            <p:cond delay="0"/>
                                          </p:stCondLst>
                                        </p:cTn>
                                        <p:tgtEl>
                                          <p:spTgt spid="15"/>
                                        </p:tgtEl>
                                        <p:attrNameLst>
                                          <p:attrName>style.visibility</p:attrName>
                                        </p:attrNameLst>
                                      </p:cBhvr>
                                      <p:to>
                                        <p:strVal val="visible"/>
                                      </p:to>
                                    </p:set>
                                    <p:animEffect transition="in" filter="fade">
                                      <p:cBhvr>
                                        <p:cTn id="91" dur="500"/>
                                        <p:tgtEl>
                                          <p:spTgt spid="15"/>
                                        </p:tgtEl>
                                      </p:cBhvr>
                                    </p:animEffect>
                                  </p:childTnLst>
                                </p:cTn>
                              </p:par>
                              <p:par>
                                <p:cTn id="95" presetID="10" presetClass="entr" presetSubtype="0" fill="hold" grpId="0" nodeType="withEffect">
                                  <p:stCondLst>
                                    <p:cond delay="1690"/>
                                  </p:stCondLst>
                                  <p:childTnLst>
                                    <p:set>
                                      <p:cBhvr>
                                        <p:cTn id="93" dur="1" fill="hold">
                                          <p:stCondLst>
                                            <p:cond delay="0"/>
                                          </p:stCondLst>
                                        </p:cTn>
                                        <p:tgtEl>
                                          <p:spTgt spid="16"/>
                                        </p:tgtEl>
                                        <p:attrNameLst>
                                          <p:attrName>style.visibility</p:attrName>
                                        </p:attrNameLst>
                                      </p:cBhvr>
                                      <p:to>
                                        <p:strVal val="visible"/>
                                      </p:to>
                                    </p:set>
                                    <p:animEffect transition="in" filter="fade">
                                      <p:cBhvr>
                                        <p:cTn id="94" dur="500"/>
                                        <p:tgtEl>
                                          <p:spTgt spid="16"/>
                                        </p:tgtEl>
                                      </p:cBhvr>
                                    </p:animEffect>
                                  </p:childTnLst>
                                </p:cTn>
                              </p:par>
                              <p:par>
                                <p:cTn id="98" presetID="10" presetClass="entr" presetSubtype="0" fill="hold" grpId="0" nodeType="withEffect">
                                  <p:stCondLst>
                                    <p:cond delay="1700"/>
                                  </p:stCondLst>
                                  <p:childTnLst>
                                    <p:set>
                                      <p:cBhvr>
                                        <p:cTn id="96" dur="1" fill="hold">
                                          <p:stCondLst>
                                            <p:cond delay="0"/>
                                          </p:stCondLst>
                                        </p:cTn>
                                        <p:tgtEl>
                                          <p:spTgt spid="63"/>
                                        </p:tgtEl>
                                        <p:attrNameLst>
                                          <p:attrName>style.visibility</p:attrName>
                                        </p:attrNameLst>
                                      </p:cBhvr>
                                      <p:to>
                                        <p:strVal val="visible"/>
                                      </p:to>
                                    </p:set>
                                    <p:animEffect transition="in" filter="fade">
                                      <p:cBhvr>
                                        <p:cTn id="97" dur="500"/>
                                        <p:tgtEl>
                                          <p:spTgt spid="63"/>
                                        </p:tgtEl>
                                      </p:cBhvr>
                                    </p:animEffect>
                                  </p:childTnLst>
                                </p:cTn>
                              </p:par>
                              <p:par>
                                <p:cTn id="101" presetID="10" presetClass="entr" presetSubtype="0" fill="hold" grpId="0" nodeType="withEffect">
                                  <p:stCondLst>
                                    <p:cond delay="170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500"/>
                                        <p:tgtEl>
                                          <p:spTgt spid="64"/>
                                        </p:tgtEl>
                                      </p:cBhvr>
                                    </p:animEffect>
                                  </p:childTnLst>
                                </p:cTn>
                              </p:par>
                              <p:par>
                                <p:cTn id="104" presetID="10" presetClass="entr" presetSubtype="0" fill="hold" grpId="0" nodeType="withEffect">
                                  <p:stCondLst>
                                    <p:cond delay="1700"/>
                                  </p:stCondLst>
                                  <p:childTnLst>
                                    <p:set>
                                      <p:cBhvr>
                                        <p:cTn id="102" dur="1" fill="hold">
                                          <p:stCondLst>
                                            <p:cond delay="0"/>
                                          </p:stCondLst>
                                        </p:cTn>
                                        <p:tgtEl>
                                          <p:spTgt spid="65"/>
                                        </p:tgtEl>
                                        <p:attrNameLst>
                                          <p:attrName>style.visibility</p:attrName>
                                        </p:attrNameLst>
                                      </p:cBhvr>
                                      <p:to>
                                        <p:strVal val="visible"/>
                                      </p:to>
                                    </p:set>
                                    <p:animEffect transition="in" filter="fade">
                                      <p:cBhvr>
                                        <p:cTn id="103" dur="500"/>
                                        <p:tgtEl>
                                          <p:spTgt spid="65"/>
                                        </p:tgtEl>
                                      </p:cBhvr>
                                    </p:animEffect>
                                  </p:childTnLst>
                                </p:cTn>
                              </p:par>
                              <p:par>
                                <p:cTn id="107" presetID="10" presetClass="entr" presetSubtype="0" fill="hold" grpId="0" nodeType="withEffect">
                                  <p:stCondLst>
                                    <p:cond delay="1735"/>
                                  </p:stCondLst>
                                  <p:childTnLst>
                                    <p:set>
                                      <p:cBhvr>
                                        <p:cTn id="105" dur="1" fill="hold">
                                          <p:stCondLst>
                                            <p:cond delay="0"/>
                                          </p:stCondLst>
                                        </p:cTn>
                                        <p:tgtEl>
                                          <p:spTgt spid="17"/>
                                        </p:tgtEl>
                                        <p:attrNameLst>
                                          <p:attrName>style.visibility</p:attrName>
                                        </p:attrNameLst>
                                      </p:cBhvr>
                                      <p:to>
                                        <p:strVal val="visible"/>
                                      </p:to>
                                    </p:set>
                                    <p:animEffect transition="in" filter="fade">
                                      <p:cBhvr>
                                        <p:cTn id="106" dur="500"/>
                                        <p:tgtEl>
                                          <p:spTgt spid="17"/>
                                        </p:tgtEl>
                                      </p:cBhvr>
                                    </p:animEffect>
                                  </p:childTnLst>
                                </p:cTn>
                              </p:par>
                              <p:par>
                                <p:cTn id="110" presetID="10" presetClass="entr" presetSubtype="0" fill="hold" grpId="0" nodeType="withEffect">
                                  <p:stCondLst>
                                    <p:cond delay="1735"/>
                                  </p:stCondLst>
                                  <p:childTnLst>
                                    <p:set>
                                      <p:cBhvr>
                                        <p:cTn id="108" dur="1" fill="hold">
                                          <p:stCondLst>
                                            <p:cond delay="0"/>
                                          </p:stCondLst>
                                        </p:cTn>
                                        <p:tgtEl>
                                          <p:spTgt spid="18"/>
                                        </p:tgtEl>
                                        <p:attrNameLst>
                                          <p:attrName>style.visibility</p:attrName>
                                        </p:attrNameLst>
                                      </p:cBhvr>
                                      <p:to>
                                        <p:strVal val="visible"/>
                                      </p:to>
                                    </p:set>
                                    <p:animEffect transition="in" filter="fade">
                                      <p:cBhvr>
                                        <p:cTn id="109" dur="500"/>
                                        <p:tgtEl>
                                          <p:spTgt spid="18"/>
                                        </p:tgtEl>
                                      </p:cBhvr>
                                    </p:animEffect>
                                  </p:childTnLst>
                                </p:cTn>
                              </p:par>
                              <p:par>
                                <p:cTn id="113" presetID="10" presetClass="entr" presetSubtype="0" fill="hold" grpId="0" nodeType="withEffect">
                                  <p:stCondLst>
                                    <p:cond delay="1760"/>
                                  </p:stCondLst>
                                  <p:childTnLst>
                                    <p:set>
                                      <p:cBhvr>
                                        <p:cTn id="111" dur="1" fill="hold">
                                          <p:stCondLst>
                                            <p:cond delay="0"/>
                                          </p:stCondLst>
                                        </p:cTn>
                                        <p:tgtEl>
                                          <p:spTgt spid="66"/>
                                        </p:tgtEl>
                                        <p:attrNameLst>
                                          <p:attrName>style.visibility</p:attrName>
                                        </p:attrNameLst>
                                      </p:cBhvr>
                                      <p:to>
                                        <p:strVal val="visible"/>
                                      </p:to>
                                    </p:set>
                                    <p:animEffect transition="in" filter="fade">
                                      <p:cBhvr>
                                        <p:cTn id="112" dur="500"/>
                                        <p:tgtEl>
                                          <p:spTgt spid="66"/>
                                        </p:tgtEl>
                                      </p:cBhvr>
                                    </p:animEffect>
                                  </p:childTnLst>
                                </p:cTn>
                              </p:par>
                              <p:par>
                                <p:cTn id="116" presetID="10" presetClass="entr" presetSubtype="0" fill="hold" grpId="0" nodeType="withEffect">
                                  <p:stCondLst>
                                    <p:cond delay="1780"/>
                                  </p:stCondLst>
                                  <p:childTnLst>
                                    <p:set>
                                      <p:cBhvr>
                                        <p:cTn id="114" dur="1" fill="hold">
                                          <p:stCondLst>
                                            <p:cond delay="0"/>
                                          </p:stCondLst>
                                        </p:cTn>
                                        <p:tgtEl>
                                          <p:spTgt spid="19"/>
                                        </p:tgtEl>
                                        <p:attrNameLst>
                                          <p:attrName>style.visibility</p:attrName>
                                        </p:attrNameLst>
                                      </p:cBhvr>
                                      <p:to>
                                        <p:strVal val="visible"/>
                                      </p:to>
                                    </p:set>
                                    <p:animEffect transition="in" filter="fade">
                                      <p:cBhvr>
                                        <p:cTn id="115" dur="500"/>
                                        <p:tgtEl>
                                          <p:spTgt spid="19"/>
                                        </p:tgtEl>
                                      </p:cBhvr>
                                    </p:animEffect>
                                  </p:childTnLst>
                                </p:cTn>
                              </p:par>
                              <p:par>
                                <p:cTn id="119" presetID="10" presetClass="entr" presetSubtype="0" fill="hold" grpId="0" nodeType="withEffect">
                                  <p:stCondLst>
                                    <p:cond delay="1780"/>
                                  </p:stCondLst>
                                  <p:childTnLst>
                                    <p:set>
                                      <p:cBhvr>
                                        <p:cTn id="117" dur="1" fill="hold">
                                          <p:stCondLst>
                                            <p:cond delay="0"/>
                                          </p:stCondLst>
                                        </p:cTn>
                                        <p:tgtEl>
                                          <p:spTgt spid="20"/>
                                        </p:tgtEl>
                                        <p:attrNameLst>
                                          <p:attrName>style.visibility</p:attrName>
                                        </p:attrNameLst>
                                      </p:cBhvr>
                                      <p:to>
                                        <p:strVal val="visible"/>
                                      </p:to>
                                    </p:set>
                                    <p:animEffect transition="in" filter="fade">
                                      <p:cBhvr>
                                        <p:cTn id="118" dur="500"/>
                                        <p:tgtEl>
                                          <p:spTgt spid="20"/>
                                        </p:tgtEl>
                                      </p:cBhvr>
                                    </p:animEffect>
                                  </p:childTnLst>
                                </p:cTn>
                              </p:par>
                              <p:par>
                                <p:cTn id="122" presetID="10" presetClass="entr" presetSubtype="0" fill="hold" grpId="0" nodeType="withEffect">
                                  <p:stCondLst>
                                    <p:cond delay="1820"/>
                                  </p:stCondLst>
                                  <p:childTnLst>
                                    <p:set>
                                      <p:cBhvr>
                                        <p:cTn id="120" dur="1" fill="hold">
                                          <p:stCondLst>
                                            <p:cond delay="0"/>
                                          </p:stCondLst>
                                        </p:cTn>
                                        <p:tgtEl>
                                          <p:spTgt spid="67"/>
                                        </p:tgtEl>
                                        <p:attrNameLst>
                                          <p:attrName>style.visibility</p:attrName>
                                        </p:attrNameLst>
                                      </p:cBhvr>
                                      <p:to>
                                        <p:strVal val="visible"/>
                                      </p:to>
                                    </p:set>
                                    <p:animEffect transition="in" filter="fade">
                                      <p:cBhvr>
                                        <p:cTn id="121" dur="500"/>
                                        <p:tgtEl>
                                          <p:spTgt spid="67"/>
                                        </p:tgtEl>
                                      </p:cBhvr>
                                    </p:animEffect>
                                  </p:childTnLst>
                                </p:cTn>
                              </p:par>
                              <p:par>
                                <p:cTn id="125" presetID="10" presetClass="entr" presetSubtype="0" fill="hold" grpId="0" nodeType="withEffect">
                                  <p:stCondLst>
                                    <p:cond delay="1825"/>
                                  </p:stCondLst>
                                  <p:childTnLst>
                                    <p:set>
                                      <p:cBhvr>
                                        <p:cTn id="123" dur="1" fill="hold">
                                          <p:stCondLst>
                                            <p:cond delay="0"/>
                                          </p:stCondLst>
                                        </p:cTn>
                                        <p:tgtEl>
                                          <p:spTgt spid="21"/>
                                        </p:tgtEl>
                                        <p:attrNameLst>
                                          <p:attrName>style.visibility</p:attrName>
                                        </p:attrNameLst>
                                      </p:cBhvr>
                                      <p:to>
                                        <p:strVal val="visible"/>
                                      </p:to>
                                    </p:set>
                                    <p:animEffect transition="in" filter="fade">
                                      <p:cBhvr>
                                        <p:cTn id="124" dur="500"/>
                                        <p:tgtEl>
                                          <p:spTgt spid="21"/>
                                        </p:tgtEl>
                                      </p:cBhvr>
                                    </p:animEffect>
                                  </p:childTnLst>
                                </p:cTn>
                              </p:par>
                              <p:par>
                                <p:cTn id="128" presetID="10" presetClass="entr" presetSubtype="0" fill="hold" grpId="0" nodeType="withEffect">
                                  <p:stCondLst>
                                    <p:cond delay="1825"/>
                                  </p:stCondLst>
                                  <p:childTnLst>
                                    <p:set>
                                      <p:cBhvr>
                                        <p:cTn id="126" dur="1" fill="hold">
                                          <p:stCondLst>
                                            <p:cond delay="0"/>
                                          </p:stCondLst>
                                        </p:cTn>
                                        <p:tgtEl>
                                          <p:spTgt spid="22"/>
                                        </p:tgtEl>
                                        <p:attrNameLst>
                                          <p:attrName>style.visibility</p:attrName>
                                        </p:attrNameLst>
                                      </p:cBhvr>
                                      <p:to>
                                        <p:strVal val="visible"/>
                                      </p:to>
                                    </p:set>
                                    <p:animEffect transition="in" filter="fade">
                                      <p:cBhvr>
                                        <p:cTn id="127" dur="500"/>
                                        <p:tgtEl>
                                          <p:spTgt spid="22"/>
                                        </p:tgtEl>
                                      </p:cBhvr>
                                    </p:animEffect>
                                  </p:childTnLst>
                                </p:cTn>
                              </p:par>
                              <p:par>
                                <p:cTn id="131" presetID="10" presetClass="entr" presetSubtype="0" fill="hold" grpId="0" nodeType="withEffect">
                                  <p:stCondLst>
                                    <p:cond delay="1870"/>
                                  </p:stCondLst>
                                  <p:childTnLst>
                                    <p:set>
                                      <p:cBhvr>
                                        <p:cTn id="129" dur="1" fill="hold">
                                          <p:stCondLst>
                                            <p:cond delay="0"/>
                                          </p:stCondLst>
                                        </p:cTn>
                                        <p:tgtEl>
                                          <p:spTgt spid="23"/>
                                        </p:tgtEl>
                                        <p:attrNameLst>
                                          <p:attrName>style.visibility</p:attrName>
                                        </p:attrNameLst>
                                      </p:cBhvr>
                                      <p:to>
                                        <p:strVal val="visible"/>
                                      </p:to>
                                    </p:set>
                                    <p:animEffect transition="in" filter="fade">
                                      <p:cBhvr>
                                        <p:cTn id="130" dur="500"/>
                                        <p:tgtEl>
                                          <p:spTgt spid="23"/>
                                        </p:tgtEl>
                                      </p:cBhvr>
                                    </p:animEffect>
                                  </p:childTnLst>
                                </p:cTn>
                              </p:par>
                              <p:par>
                                <p:cTn id="134" presetID="10" presetClass="entr" presetSubtype="0" fill="hold" grpId="0" nodeType="withEffect">
                                  <p:stCondLst>
                                    <p:cond delay="1870"/>
                                  </p:stCondLst>
                                  <p:childTnLst>
                                    <p:set>
                                      <p:cBhvr>
                                        <p:cTn id="132" dur="1" fill="hold">
                                          <p:stCondLst>
                                            <p:cond delay="0"/>
                                          </p:stCondLst>
                                        </p:cTn>
                                        <p:tgtEl>
                                          <p:spTgt spid="24"/>
                                        </p:tgtEl>
                                        <p:attrNameLst>
                                          <p:attrName>style.visibility</p:attrName>
                                        </p:attrNameLst>
                                      </p:cBhvr>
                                      <p:to>
                                        <p:strVal val="visible"/>
                                      </p:to>
                                    </p:set>
                                    <p:animEffect transition="in" filter="fade">
                                      <p:cBhvr>
                                        <p:cTn id="133" dur="500"/>
                                        <p:tgtEl>
                                          <p:spTgt spid="24"/>
                                        </p:tgtEl>
                                      </p:cBhvr>
                                    </p:animEffect>
                                  </p:childTnLst>
                                </p:cTn>
                              </p:par>
                              <p:par>
                                <p:cTn id="137" presetID="10" presetClass="entr" presetSubtype="0" fill="hold" grpId="0" nodeType="withEffect">
                                  <p:stCondLst>
                                    <p:cond delay="1880"/>
                                  </p:stCondLst>
                                  <p:childTnLst>
                                    <p:set>
                                      <p:cBhvr>
                                        <p:cTn id="135" dur="1" fill="hold">
                                          <p:stCondLst>
                                            <p:cond delay="0"/>
                                          </p:stCondLst>
                                        </p:cTn>
                                        <p:tgtEl>
                                          <p:spTgt spid="57"/>
                                        </p:tgtEl>
                                        <p:attrNameLst>
                                          <p:attrName>style.visibility</p:attrName>
                                        </p:attrNameLst>
                                      </p:cBhvr>
                                      <p:to>
                                        <p:strVal val="visible"/>
                                      </p:to>
                                    </p:set>
                                    <p:animEffect transition="in" filter="fade">
                                      <p:cBhvr>
                                        <p:cTn id="136" dur="500"/>
                                        <p:tgtEl>
                                          <p:spTgt spid="57"/>
                                        </p:tgtEl>
                                      </p:cBhvr>
                                    </p:animEffect>
                                  </p:childTnLst>
                                </p:cTn>
                              </p:par>
                              <p:par>
                                <p:cTn id="140" presetID="10" presetClass="entr" presetSubtype="0" fill="hold" grpId="0" nodeType="withEffect">
                                  <p:stCondLst>
                                    <p:cond delay="1915"/>
                                  </p:stCondLst>
                                  <p:childTnLst>
                                    <p:set>
                                      <p:cBhvr>
                                        <p:cTn id="138" dur="1" fill="hold">
                                          <p:stCondLst>
                                            <p:cond delay="0"/>
                                          </p:stCondLst>
                                        </p:cTn>
                                        <p:tgtEl>
                                          <p:spTgt spid="25"/>
                                        </p:tgtEl>
                                        <p:attrNameLst>
                                          <p:attrName>style.visibility</p:attrName>
                                        </p:attrNameLst>
                                      </p:cBhvr>
                                      <p:to>
                                        <p:strVal val="visible"/>
                                      </p:to>
                                    </p:set>
                                    <p:animEffect transition="in" filter="fade">
                                      <p:cBhvr>
                                        <p:cTn id="139" dur="500"/>
                                        <p:tgtEl>
                                          <p:spTgt spid="25"/>
                                        </p:tgtEl>
                                      </p:cBhvr>
                                    </p:animEffect>
                                  </p:childTnLst>
                                </p:cTn>
                              </p:par>
                              <p:par>
                                <p:cTn id="143" presetID="10" presetClass="entr" presetSubtype="0" fill="hold" grpId="0" nodeType="withEffect">
                                  <p:stCondLst>
                                    <p:cond delay="1915"/>
                                  </p:stCondLst>
                                  <p:childTnLst>
                                    <p:set>
                                      <p:cBhvr>
                                        <p:cTn id="141" dur="1" fill="hold">
                                          <p:stCondLst>
                                            <p:cond delay="0"/>
                                          </p:stCondLst>
                                        </p:cTn>
                                        <p:tgtEl>
                                          <p:spTgt spid="26"/>
                                        </p:tgtEl>
                                        <p:attrNameLst>
                                          <p:attrName>style.visibility</p:attrName>
                                        </p:attrNameLst>
                                      </p:cBhvr>
                                      <p:to>
                                        <p:strVal val="visible"/>
                                      </p:to>
                                    </p:set>
                                    <p:animEffect transition="in" filter="fade">
                                      <p:cBhvr>
                                        <p:cTn id="142" dur="500"/>
                                        <p:tgtEl>
                                          <p:spTgt spid="26"/>
                                        </p:tgtEl>
                                      </p:cBhvr>
                                    </p:animEffect>
                                  </p:childTnLst>
                                </p:cTn>
                              </p:par>
                              <p:par>
                                <p:cTn id="146" presetID="10" presetClass="entr" presetSubtype="0" fill="hold" grpId="0" nodeType="withEffect">
                                  <p:stCondLst>
                                    <p:cond delay="1960"/>
                                  </p:stCondLst>
                                  <p:childTnLst>
                                    <p:set>
                                      <p:cBhvr>
                                        <p:cTn id="144" dur="1" fill="hold">
                                          <p:stCondLst>
                                            <p:cond delay="0"/>
                                          </p:stCondLst>
                                        </p:cTn>
                                        <p:tgtEl>
                                          <p:spTgt spid="27"/>
                                        </p:tgtEl>
                                        <p:attrNameLst>
                                          <p:attrName>style.visibility</p:attrName>
                                        </p:attrNameLst>
                                      </p:cBhvr>
                                      <p:to>
                                        <p:strVal val="visible"/>
                                      </p:to>
                                    </p:set>
                                    <p:animEffect transition="in" filter="fade">
                                      <p:cBhvr>
                                        <p:cTn id="145" dur="500"/>
                                        <p:tgtEl>
                                          <p:spTgt spid="27"/>
                                        </p:tgtEl>
                                      </p:cBhvr>
                                    </p:animEffect>
                                  </p:childTnLst>
                                </p:cTn>
                              </p:par>
                              <p:par>
                                <p:cTn id="149" presetID="10" presetClass="entr" presetSubtype="0" fill="hold" grpId="0" nodeType="withEffect">
                                  <p:stCondLst>
                                    <p:cond delay="1960"/>
                                  </p:stCondLst>
                                  <p:childTnLst>
                                    <p:set>
                                      <p:cBhvr>
                                        <p:cTn id="147" dur="1" fill="hold">
                                          <p:stCondLst>
                                            <p:cond delay="0"/>
                                          </p:stCondLst>
                                        </p:cTn>
                                        <p:tgtEl>
                                          <p:spTgt spid="28"/>
                                        </p:tgtEl>
                                        <p:attrNameLst>
                                          <p:attrName>style.visibility</p:attrName>
                                        </p:attrNameLst>
                                      </p:cBhvr>
                                      <p:to>
                                        <p:strVal val="visible"/>
                                      </p:to>
                                    </p:set>
                                    <p:animEffect transition="in" filter="fade">
                                      <p:cBhvr>
                                        <p:cTn id="148" dur="500"/>
                                        <p:tgtEl>
                                          <p:spTgt spid="28"/>
                                        </p:tgtEl>
                                      </p:cBhvr>
                                    </p:animEffect>
                                  </p:childTnLst>
                                </p:cTn>
                              </p:par>
                              <p:par>
                                <p:cTn id="152" presetID="10" presetClass="entr" presetSubtype="0" fill="hold" grpId="0" nodeType="withEffect">
                                  <p:stCondLst>
                                    <p:cond delay="2005"/>
                                  </p:stCondLst>
                                  <p:childTnLst>
                                    <p:set>
                                      <p:cBhvr>
                                        <p:cTn id="150" dur="1" fill="hold">
                                          <p:stCondLst>
                                            <p:cond delay="0"/>
                                          </p:stCondLst>
                                        </p:cTn>
                                        <p:tgtEl>
                                          <p:spTgt spid="29"/>
                                        </p:tgtEl>
                                        <p:attrNameLst>
                                          <p:attrName>style.visibility</p:attrName>
                                        </p:attrNameLst>
                                      </p:cBhvr>
                                      <p:to>
                                        <p:strVal val="visible"/>
                                      </p:to>
                                    </p:set>
                                    <p:animEffect transition="in" filter="fade">
                                      <p:cBhvr>
                                        <p:cTn id="151" dur="500"/>
                                        <p:tgtEl>
                                          <p:spTgt spid="29"/>
                                        </p:tgtEl>
                                      </p:cBhvr>
                                    </p:animEffect>
                                  </p:childTnLst>
                                </p:cTn>
                              </p:par>
                              <p:par>
                                <p:cTn id="155" presetID="10" presetClass="entr" presetSubtype="0" fill="hold" grpId="0" nodeType="withEffect">
                                  <p:stCondLst>
                                    <p:cond delay="2005"/>
                                  </p:stCondLst>
                                  <p:childTnLst>
                                    <p:set>
                                      <p:cBhvr>
                                        <p:cTn id="153" dur="1" fill="hold">
                                          <p:stCondLst>
                                            <p:cond delay="0"/>
                                          </p:stCondLst>
                                        </p:cTn>
                                        <p:tgtEl>
                                          <p:spTgt spid="30"/>
                                        </p:tgtEl>
                                        <p:attrNameLst>
                                          <p:attrName>style.visibility</p:attrName>
                                        </p:attrNameLst>
                                      </p:cBhvr>
                                      <p:to>
                                        <p:strVal val="visible"/>
                                      </p:to>
                                    </p:set>
                                    <p:animEffect transition="in" filter="fade">
                                      <p:cBhvr>
                                        <p:cTn id="154" dur="500"/>
                                        <p:tgtEl>
                                          <p:spTgt spid="30"/>
                                        </p:tgtEl>
                                      </p:cBhvr>
                                    </p:animEffect>
                                  </p:childTnLst>
                                </p:cTn>
                              </p:par>
                              <p:par>
                                <p:cTn id="158" presetID="10" presetClass="entr" presetSubtype="0" fill="hold" grpId="0" nodeType="withEffect">
                                  <p:stCondLst>
                                    <p:cond delay="2020"/>
                                  </p:stCondLst>
                                  <p:childTnLst>
                                    <p:set>
                                      <p:cBhvr>
                                        <p:cTn id="156" dur="1" fill="hold">
                                          <p:stCondLst>
                                            <p:cond delay="0"/>
                                          </p:stCondLst>
                                        </p:cTn>
                                        <p:tgtEl>
                                          <p:spTgt spid="62"/>
                                        </p:tgtEl>
                                        <p:attrNameLst>
                                          <p:attrName>style.visibility</p:attrName>
                                        </p:attrNameLst>
                                      </p:cBhvr>
                                      <p:to>
                                        <p:strVal val="visible"/>
                                      </p:to>
                                    </p:set>
                                    <p:animEffect transition="in" filter="fade">
                                      <p:cBhvr>
                                        <p:cTn id="157" dur="500"/>
                                        <p:tgtEl>
                                          <p:spTgt spid="62"/>
                                        </p:tgtEl>
                                      </p:cBhvr>
                                    </p:animEffect>
                                  </p:childTnLst>
                                </p:cTn>
                              </p:par>
                              <p:par>
                                <p:cTn id="161" presetID="10" presetClass="entr" presetSubtype="0" fill="hold" grpId="0" nodeType="withEffect">
                                  <p:stCondLst>
                                    <p:cond delay="2050"/>
                                  </p:stCondLst>
                                  <p:childTnLst>
                                    <p:set>
                                      <p:cBhvr>
                                        <p:cTn id="159" dur="1" fill="hold">
                                          <p:stCondLst>
                                            <p:cond delay="0"/>
                                          </p:stCondLst>
                                        </p:cTn>
                                        <p:tgtEl>
                                          <p:spTgt spid="31"/>
                                        </p:tgtEl>
                                        <p:attrNameLst>
                                          <p:attrName>style.visibility</p:attrName>
                                        </p:attrNameLst>
                                      </p:cBhvr>
                                      <p:to>
                                        <p:strVal val="visible"/>
                                      </p:to>
                                    </p:set>
                                    <p:animEffect transition="in" filter="fade">
                                      <p:cBhvr>
                                        <p:cTn id="160" dur="500"/>
                                        <p:tgtEl>
                                          <p:spTgt spid="31"/>
                                        </p:tgtEl>
                                      </p:cBhvr>
                                    </p:animEffect>
                                  </p:childTnLst>
                                </p:cTn>
                              </p:par>
                              <p:par>
                                <p:cTn id="164" presetID="10" presetClass="entr" presetSubtype="0" fill="hold" grpId="0" nodeType="withEffect">
                                  <p:stCondLst>
                                    <p:cond delay="2050"/>
                                  </p:stCondLst>
                                  <p:childTnLst>
                                    <p:set>
                                      <p:cBhvr>
                                        <p:cTn id="162" dur="1" fill="hold">
                                          <p:stCondLst>
                                            <p:cond delay="0"/>
                                          </p:stCondLst>
                                        </p:cTn>
                                        <p:tgtEl>
                                          <p:spTgt spid="32"/>
                                        </p:tgtEl>
                                        <p:attrNameLst>
                                          <p:attrName>style.visibility</p:attrName>
                                        </p:attrNameLst>
                                      </p:cBhvr>
                                      <p:to>
                                        <p:strVal val="visible"/>
                                      </p:to>
                                    </p:set>
                                    <p:animEffect transition="in" filter="fade">
                                      <p:cBhvr>
                                        <p:cTn id="163" dur="500"/>
                                        <p:tgtEl>
                                          <p:spTgt spid="32"/>
                                        </p:tgtEl>
                                      </p:cBhvr>
                                    </p:animEffect>
                                  </p:childTnLst>
                                </p:cTn>
                              </p:par>
                              <p:par>
                                <p:cTn id="167" presetID="10" presetClass="entr" presetSubtype="0" fill="hold" grpId="0" nodeType="withEffect">
                                  <p:stCondLst>
                                    <p:cond delay="2095"/>
                                  </p:stCondLst>
                                  <p:childTnLst>
                                    <p:set>
                                      <p:cBhvr>
                                        <p:cTn id="165" dur="1" fill="hold">
                                          <p:stCondLst>
                                            <p:cond delay="0"/>
                                          </p:stCondLst>
                                        </p:cTn>
                                        <p:tgtEl>
                                          <p:spTgt spid="33"/>
                                        </p:tgtEl>
                                        <p:attrNameLst>
                                          <p:attrName>style.visibility</p:attrName>
                                        </p:attrNameLst>
                                      </p:cBhvr>
                                      <p:to>
                                        <p:strVal val="visible"/>
                                      </p:to>
                                    </p:set>
                                    <p:animEffect transition="in" filter="fade">
                                      <p:cBhvr>
                                        <p:cTn id="166" dur="500"/>
                                        <p:tgtEl>
                                          <p:spTgt spid="33"/>
                                        </p:tgtEl>
                                      </p:cBhvr>
                                    </p:animEffect>
                                  </p:childTnLst>
                                </p:cTn>
                              </p:par>
                              <p:par>
                                <p:cTn id="170" presetID="10" presetClass="entr" presetSubtype="0" fill="hold" grpId="0" nodeType="withEffect">
                                  <p:stCondLst>
                                    <p:cond delay="2095"/>
                                  </p:stCondLst>
                                  <p:childTnLst>
                                    <p:set>
                                      <p:cBhvr>
                                        <p:cTn id="168" dur="1" fill="hold">
                                          <p:stCondLst>
                                            <p:cond delay="0"/>
                                          </p:stCondLst>
                                        </p:cTn>
                                        <p:tgtEl>
                                          <p:spTgt spid="34"/>
                                        </p:tgtEl>
                                        <p:attrNameLst>
                                          <p:attrName>style.visibility</p:attrName>
                                        </p:attrNameLst>
                                      </p:cBhvr>
                                      <p:to>
                                        <p:strVal val="visible"/>
                                      </p:to>
                                    </p:set>
                                    <p:animEffect transition="in" filter="fade">
                                      <p:cBhvr>
                                        <p:cTn id="169" dur="500"/>
                                        <p:tgtEl>
                                          <p:spTgt spid="34"/>
                                        </p:tgtEl>
                                      </p:cBhvr>
                                    </p:animEffect>
                                  </p:childTnLst>
                                </p:cTn>
                              </p:par>
                              <p:par>
                                <p:cTn id="173" presetID="10" presetClass="entr" presetSubtype="0" fill="hold" grpId="0" nodeType="withEffect">
                                  <p:stCondLst>
                                    <p:cond delay="2140"/>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500"/>
                                        <p:tgtEl>
                                          <p:spTgt spid="35"/>
                                        </p:tgtEl>
                                      </p:cBhvr>
                                    </p:animEffect>
                                  </p:childTnLst>
                                </p:cTn>
                              </p:par>
                              <p:par>
                                <p:cTn id="176" presetID="10" presetClass="entr" presetSubtype="0" fill="hold" grpId="0" nodeType="withEffect">
                                  <p:stCondLst>
                                    <p:cond delay="2140"/>
                                  </p:stCondLst>
                                  <p:childTnLst>
                                    <p:set>
                                      <p:cBhvr>
                                        <p:cTn id="174" dur="1" fill="hold">
                                          <p:stCondLst>
                                            <p:cond delay="0"/>
                                          </p:stCondLst>
                                        </p:cTn>
                                        <p:tgtEl>
                                          <p:spTgt spid="36"/>
                                        </p:tgtEl>
                                        <p:attrNameLst>
                                          <p:attrName>style.visibility</p:attrName>
                                        </p:attrNameLst>
                                      </p:cBhvr>
                                      <p:to>
                                        <p:strVal val="visible"/>
                                      </p:to>
                                    </p:set>
                                    <p:animEffect transition="in" filter="fade">
                                      <p:cBhvr>
                                        <p:cTn id="175" dur="500"/>
                                        <p:tgtEl>
                                          <p:spTgt spid="36"/>
                                        </p:tgtEl>
                                      </p:cBhvr>
                                    </p:animEffect>
                                  </p:childTnLst>
                                </p:cTn>
                              </p:par>
                              <p:par>
                                <p:cTn id="179" presetID="10" presetClass="entr" presetSubtype="0" fill="hold" grpId="0" nodeType="withEffect">
                                  <p:stCondLst>
                                    <p:cond delay="2185"/>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500"/>
                                        <p:tgtEl>
                                          <p:spTgt spid="37"/>
                                        </p:tgtEl>
                                      </p:cBhvr>
                                    </p:animEffect>
                                  </p:childTnLst>
                                </p:cTn>
                              </p:par>
                              <p:par>
                                <p:cTn id="182" presetID="10" presetClass="entr" presetSubtype="0" fill="hold" grpId="0" nodeType="withEffect">
                                  <p:stCondLst>
                                    <p:cond delay="2185"/>
                                  </p:stCondLst>
                                  <p:childTnLst>
                                    <p:set>
                                      <p:cBhvr>
                                        <p:cTn id="180" dur="1" fill="hold">
                                          <p:stCondLst>
                                            <p:cond delay="0"/>
                                          </p:stCondLst>
                                        </p:cTn>
                                        <p:tgtEl>
                                          <p:spTgt spid="38"/>
                                        </p:tgtEl>
                                        <p:attrNameLst>
                                          <p:attrName>style.visibility</p:attrName>
                                        </p:attrNameLst>
                                      </p:cBhvr>
                                      <p:to>
                                        <p:strVal val="visible"/>
                                      </p:to>
                                    </p:set>
                                    <p:animEffect transition="in" filter="fade">
                                      <p:cBhvr>
                                        <p:cTn id="181" dur="500"/>
                                        <p:tgtEl>
                                          <p:spTgt spid="38"/>
                                        </p:tgtEl>
                                      </p:cBhvr>
                                    </p:animEffect>
                                  </p:childTnLst>
                                </p:cTn>
                              </p:par>
                              <p:par>
                                <p:cTn id="185" presetID="10" presetClass="entr" presetSubtype="0" fill="hold" grpId="0" nodeType="withEffect">
                                  <p:stCondLst>
                                    <p:cond delay="2230"/>
                                  </p:stCondLst>
                                  <p:childTnLst>
                                    <p:set>
                                      <p:cBhvr>
                                        <p:cTn id="183" dur="1" fill="hold">
                                          <p:stCondLst>
                                            <p:cond delay="0"/>
                                          </p:stCondLst>
                                        </p:cTn>
                                        <p:tgtEl>
                                          <p:spTgt spid="39"/>
                                        </p:tgtEl>
                                        <p:attrNameLst>
                                          <p:attrName>style.visibility</p:attrName>
                                        </p:attrNameLst>
                                      </p:cBhvr>
                                      <p:to>
                                        <p:strVal val="visible"/>
                                      </p:to>
                                    </p:set>
                                    <p:animEffect transition="in" filter="fade">
                                      <p:cBhvr>
                                        <p:cTn id="184" dur="500"/>
                                        <p:tgtEl>
                                          <p:spTgt spid="39"/>
                                        </p:tgtEl>
                                      </p:cBhvr>
                                    </p:animEffect>
                                  </p:childTnLst>
                                </p:cTn>
                              </p:par>
                              <p:par>
                                <p:cTn id="188" presetID="10" presetClass="entr" presetSubtype="0" fill="hold" grpId="0" nodeType="withEffect">
                                  <p:stCondLst>
                                    <p:cond delay="223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500"/>
                                        <p:tgtEl>
                                          <p:spTgt spid="40"/>
                                        </p:tgtEl>
                                      </p:cBhvr>
                                    </p:animEffect>
                                  </p:childTnLst>
                                </p:cTn>
                              </p:par>
                              <p:par>
                                <p:cTn id="191" presetID="10" presetClass="entr" presetSubtype="0" fill="hold" grpId="0" nodeType="withEffect">
                                  <p:stCondLst>
                                    <p:cond delay="2275"/>
                                  </p:stCondLst>
                                  <p:childTnLst>
                                    <p:set>
                                      <p:cBhvr>
                                        <p:cTn id="189" dur="1" fill="hold">
                                          <p:stCondLst>
                                            <p:cond delay="0"/>
                                          </p:stCondLst>
                                        </p:cTn>
                                        <p:tgtEl>
                                          <p:spTgt spid="41"/>
                                        </p:tgtEl>
                                        <p:attrNameLst>
                                          <p:attrName>style.visibility</p:attrName>
                                        </p:attrNameLst>
                                      </p:cBhvr>
                                      <p:to>
                                        <p:strVal val="visible"/>
                                      </p:to>
                                    </p:set>
                                    <p:animEffect transition="in" filter="fade">
                                      <p:cBhvr>
                                        <p:cTn id="190" dur="500"/>
                                        <p:tgtEl>
                                          <p:spTgt spid="41"/>
                                        </p:tgtEl>
                                      </p:cBhvr>
                                    </p:animEffect>
                                  </p:childTnLst>
                                </p:cTn>
                              </p:par>
                              <p:par>
                                <p:cTn id="194" presetID="10" presetClass="entr" presetSubtype="0" fill="hold" grpId="0" nodeType="withEffect">
                                  <p:stCondLst>
                                    <p:cond delay="2275"/>
                                  </p:stCondLst>
                                  <p:childTnLst>
                                    <p:set>
                                      <p:cBhvr>
                                        <p:cTn id="192" dur="1" fill="hold">
                                          <p:stCondLst>
                                            <p:cond delay="0"/>
                                          </p:stCondLst>
                                        </p:cTn>
                                        <p:tgtEl>
                                          <p:spTgt spid="42"/>
                                        </p:tgtEl>
                                        <p:attrNameLst>
                                          <p:attrName>style.visibility</p:attrName>
                                        </p:attrNameLst>
                                      </p:cBhvr>
                                      <p:to>
                                        <p:strVal val="visible"/>
                                      </p:to>
                                    </p:set>
                                    <p:animEffect transition="in" filter="fade">
                                      <p:cBhvr>
                                        <p:cTn id="193" dur="500"/>
                                        <p:tgtEl>
                                          <p:spTgt spid="42"/>
                                        </p:tgtEl>
                                      </p:cBhvr>
                                    </p:animEffect>
                                  </p:childTnLst>
                                </p:cTn>
                              </p:par>
                              <p:par>
                                <p:cTn id="197" presetID="10" presetClass="entr" presetSubtype="0" fill="hold" grpId="0" nodeType="withEffect">
                                  <p:stCondLst>
                                    <p:cond delay="2280"/>
                                  </p:stCondLst>
                                  <p:childTnLst>
                                    <p:set>
                                      <p:cBhvr>
                                        <p:cTn id="195" dur="1" fill="hold">
                                          <p:stCondLst>
                                            <p:cond delay="0"/>
                                          </p:stCondLst>
                                        </p:cTn>
                                        <p:tgtEl>
                                          <p:spTgt spid="68"/>
                                        </p:tgtEl>
                                        <p:attrNameLst>
                                          <p:attrName>style.visibility</p:attrName>
                                        </p:attrNameLst>
                                      </p:cBhvr>
                                      <p:to>
                                        <p:strVal val="visible"/>
                                      </p:to>
                                    </p:set>
                                    <p:animEffect transition="in" filter="fade">
                                      <p:cBhvr>
                                        <p:cTn id="196" dur="500"/>
                                        <p:tgtEl>
                                          <p:spTgt spid="68"/>
                                        </p:tgtEl>
                                      </p:cBhvr>
                                    </p:animEffect>
                                  </p:childTnLst>
                                </p:cTn>
                              </p:par>
                              <p:par>
                                <p:cTn id="200" presetID="10" presetClass="entr" presetSubtype="0" fill="hold" grpId="0" nodeType="withEffect">
                                  <p:stCondLst>
                                    <p:cond delay="2300"/>
                                  </p:stCondLst>
                                  <p:childTnLst>
                                    <p:set>
                                      <p:cBhvr>
                                        <p:cTn id="198" dur="1" fill="hold">
                                          <p:stCondLst>
                                            <p:cond delay="0"/>
                                          </p:stCondLst>
                                        </p:cTn>
                                        <p:tgtEl>
                                          <p:spTgt spid="69"/>
                                        </p:tgtEl>
                                        <p:attrNameLst>
                                          <p:attrName>style.visibility</p:attrName>
                                        </p:attrNameLst>
                                      </p:cBhvr>
                                      <p:to>
                                        <p:strVal val="visible"/>
                                      </p:to>
                                    </p:set>
                                    <p:animEffect transition="in" filter="fade">
                                      <p:cBhvr>
                                        <p:cTn id="199" dur="500"/>
                                        <p:tgtEl>
                                          <p:spTgt spid="69"/>
                                        </p:tgtEl>
                                      </p:cBhvr>
                                    </p:animEffect>
                                  </p:childTnLst>
                                </p:cTn>
                              </p:par>
                              <p:par>
                                <p:cTn id="203" presetID="10" presetClass="entr" presetSubtype="0" fill="hold" grpId="0" nodeType="withEffect">
                                  <p:stCondLst>
                                    <p:cond delay="232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00"/>
                                        <p:tgtEl>
                                          <p:spTgt spid="43"/>
                                        </p:tgtEl>
                                      </p:cBhvr>
                                    </p:animEffect>
                                  </p:childTnLst>
                                </p:cTn>
                              </p:par>
                              <p:par>
                                <p:cTn id="206" presetID="10" presetClass="entr" presetSubtype="0" fill="hold" grpId="0" nodeType="withEffect">
                                  <p:stCondLst>
                                    <p:cond delay="2320"/>
                                  </p:stCondLst>
                                  <p:childTnLst>
                                    <p:set>
                                      <p:cBhvr>
                                        <p:cTn id="204" dur="1" fill="hold">
                                          <p:stCondLst>
                                            <p:cond delay="0"/>
                                          </p:stCondLst>
                                        </p:cTn>
                                        <p:tgtEl>
                                          <p:spTgt spid="44"/>
                                        </p:tgtEl>
                                        <p:attrNameLst>
                                          <p:attrName>style.visibility</p:attrName>
                                        </p:attrNameLst>
                                      </p:cBhvr>
                                      <p:to>
                                        <p:strVal val="visible"/>
                                      </p:to>
                                    </p:set>
                                    <p:animEffect transition="in" filter="fade">
                                      <p:cBhvr>
                                        <p:cTn id="205" dur="500"/>
                                        <p:tgtEl>
                                          <p:spTgt spid="44"/>
                                        </p:tgtEl>
                                      </p:cBhvr>
                                    </p:animEffect>
                                  </p:childTnLst>
                                </p:cTn>
                              </p:par>
                              <p:par>
                                <p:cTn id="209" presetID="10" presetClass="entr" presetSubtype="0" fill="hold" grpId="0" nodeType="withEffect">
                                  <p:stCondLst>
                                    <p:cond delay="2365"/>
                                  </p:stCondLst>
                                  <p:childTnLst>
                                    <p:set>
                                      <p:cBhvr>
                                        <p:cTn id="207" dur="1" fill="hold">
                                          <p:stCondLst>
                                            <p:cond delay="0"/>
                                          </p:stCondLst>
                                        </p:cTn>
                                        <p:tgtEl>
                                          <p:spTgt spid="45"/>
                                        </p:tgtEl>
                                        <p:attrNameLst>
                                          <p:attrName>style.visibility</p:attrName>
                                        </p:attrNameLst>
                                      </p:cBhvr>
                                      <p:to>
                                        <p:strVal val="visible"/>
                                      </p:to>
                                    </p:set>
                                    <p:animEffect transition="in" filter="fade">
                                      <p:cBhvr>
                                        <p:cTn id="208" dur="500"/>
                                        <p:tgtEl>
                                          <p:spTgt spid="45"/>
                                        </p:tgtEl>
                                      </p:cBhvr>
                                    </p:animEffect>
                                  </p:childTnLst>
                                </p:cTn>
                              </p:par>
                              <p:par>
                                <p:cTn id="212" presetID="10" presetClass="entr" presetSubtype="0" fill="hold" grpId="0" nodeType="withEffect">
                                  <p:stCondLst>
                                    <p:cond delay="2365"/>
                                  </p:stCondLst>
                                  <p:childTnLst>
                                    <p:set>
                                      <p:cBhvr>
                                        <p:cTn id="210" dur="1" fill="hold">
                                          <p:stCondLst>
                                            <p:cond delay="0"/>
                                          </p:stCondLst>
                                        </p:cTn>
                                        <p:tgtEl>
                                          <p:spTgt spid="46"/>
                                        </p:tgtEl>
                                        <p:attrNameLst>
                                          <p:attrName>style.visibility</p:attrName>
                                        </p:attrNameLst>
                                      </p:cBhvr>
                                      <p:to>
                                        <p:strVal val="visible"/>
                                      </p:to>
                                    </p:set>
                                    <p:animEffect transition="in" filter="fade">
                                      <p:cBhvr>
                                        <p:cTn id="211" dur="500"/>
                                        <p:tgtEl>
                                          <p:spTgt spid="46"/>
                                        </p:tgtEl>
                                      </p:cBhvr>
                                    </p:animEffect>
                                  </p:childTnLst>
                                </p:cTn>
                              </p:par>
                              <p:par>
                                <p:cTn id="215" presetID="10" presetClass="entr" presetSubtype="0" fill="hold" grpId="0" nodeType="withEffect">
                                  <p:stCondLst>
                                    <p:cond delay="2410"/>
                                  </p:stCondLst>
                                  <p:childTnLst>
                                    <p:set>
                                      <p:cBhvr>
                                        <p:cTn id="213" dur="1" fill="hold">
                                          <p:stCondLst>
                                            <p:cond delay="0"/>
                                          </p:stCondLst>
                                        </p:cTn>
                                        <p:tgtEl>
                                          <p:spTgt spid="47"/>
                                        </p:tgtEl>
                                        <p:attrNameLst>
                                          <p:attrName>style.visibility</p:attrName>
                                        </p:attrNameLst>
                                      </p:cBhvr>
                                      <p:to>
                                        <p:strVal val="visible"/>
                                      </p:to>
                                    </p:set>
                                    <p:animEffect transition="in" filter="fade">
                                      <p:cBhvr>
                                        <p:cTn id="21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Producers: How Data Gets In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Step outside the brokers - to the applications that use Kafka</a:t>
            </a:r>
          </a:p>
        </p:txBody>
      </p:sp>
      <p:sp>
        <p:nvSpPr>
          <p:cNvPr id="11" name="a0f_cl10"/>
          <p:cNvSpPr/>
          <p:nvPr/>
        </p:nvSpPr>
        <p:spPr>
          <a:xfrm>
            <a:off x="3246120" y="1280160"/>
            <a:ext cx="2651760" cy="1874519"/>
          </a:xfrm>
          <a:prstGeom prst="roundRect">
            <a:avLst>
              <a:gd name="adj" fmla="val 4878"/>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clh11"/>
          <p:cNvSpPr txBox="1"/>
          <p:nvPr/>
        </p:nvSpPr>
        <p:spPr>
          <a:xfrm>
            <a:off x="3410712" y="1371600"/>
            <a:ext cx="237744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13" name="a0f_nd12"/>
          <p:cNvSpPr/>
          <p:nvPr/>
        </p:nvSpPr>
        <p:spPr>
          <a:xfrm>
            <a:off x="3429000" y="1737360"/>
            <a:ext cx="685800" cy="1188720"/>
          </a:xfrm>
          <a:prstGeom prst="roundRect">
            <a:avLst>
              <a:gd name="adj" fmla="val 10666"/>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_ndt13"/>
          <p:cNvSpPr txBox="1"/>
          <p:nvPr/>
        </p:nvSpPr>
        <p:spPr>
          <a:xfrm>
            <a:off x="3474720" y="1773936"/>
            <a:ext cx="594360" cy="576072"/>
          </a:xfrm>
          <a:prstGeom prst="rect">
            <a:avLst/>
          </a:prstGeom>
          <a:noFill/>
        </p:spPr>
        <p:txBody>
          <a:bodyPr wrap="square" lIns="0" tIns="0" rIns="0" bIns="0" anchor="b">
            <a:spAutoFit/>
          </a:bodyPr>
          <a:lstStyle/>
          <a:p>
            <a:pPr algn="ctr"/>
            <a:r>
              <a:rPr sz="950" b="1">
                <a:solidFill>
                  <a:srgbClr val="1C1917"/>
                </a:solidFill>
                <a:latin typeface="Segoe UI"/>
              </a:rPr>
              <a:t>b1</a:t>
            </a:r>
          </a:p>
        </p:txBody>
      </p:sp>
      <p:sp>
        <p:nvSpPr>
          <p:cNvPr id="15" name="a0f_nds14"/>
          <p:cNvSpPr txBox="1"/>
          <p:nvPr/>
        </p:nvSpPr>
        <p:spPr>
          <a:xfrm>
            <a:off x="3474720" y="2359151"/>
            <a:ext cx="594360" cy="530352"/>
          </a:xfrm>
          <a:prstGeom prst="rect">
            <a:avLst/>
          </a:prstGeom>
          <a:noFill/>
        </p:spPr>
        <p:txBody>
          <a:bodyPr wrap="square" lIns="0" tIns="0" rIns="0" bIns="0" anchor="t">
            <a:spAutoFit/>
          </a:bodyPr>
          <a:lstStyle/>
          <a:p>
            <a:pPr algn="ctr"/>
            <a:r>
              <a:rPr sz="700" b="0">
                <a:solidFill>
                  <a:srgbClr val="0E7490"/>
                </a:solidFill>
                <a:latin typeface="Segoe UI"/>
              </a:rPr>
              <a:t>broker</a:t>
            </a:r>
          </a:p>
        </p:txBody>
      </p:sp>
      <p:sp>
        <p:nvSpPr>
          <p:cNvPr id="16" name="a0f_nd15"/>
          <p:cNvSpPr/>
          <p:nvPr/>
        </p:nvSpPr>
        <p:spPr>
          <a:xfrm>
            <a:off x="4224528" y="1737360"/>
            <a:ext cx="685800" cy="1188720"/>
          </a:xfrm>
          <a:prstGeom prst="roundRect">
            <a:avLst>
              <a:gd name="adj" fmla="val 10666"/>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f_ndt16"/>
          <p:cNvSpPr txBox="1"/>
          <p:nvPr/>
        </p:nvSpPr>
        <p:spPr>
          <a:xfrm>
            <a:off x="4270248" y="1773936"/>
            <a:ext cx="594360" cy="576072"/>
          </a:xfrm>
          <a:prstGeom prst="rect">
            <a:avLst/>
          </a:prstGeom>
          <a:noFill/>
        </p:spPr>
        <p:txBody>
          <a:bodyPr wrap="square" lIns="0" tIns="0" rIns="0" bIns="0" anchor="b">
            <a:spAutoFit/>
          </a:bodyPr>
          <a:lstStyle/>
          <a:p>
            <a:pPr algn="ctr"/>
            <a:r>
              <a:rPr sz="950" b="1">
                <a:solidFill>
                  <a:srgbClr val="1C1917"/>
                </a:solidFill>
                <a:latin typeface="Segoe UI"/>
              </a:rPr>
              <a:t>b2</a:t>
            </a:r>
          </a:p>
        </p:txBody>
      </p:sp>
      <p:sp>
        <p:nvSpPr>
          <p:cNvPr id="18" name="a0f_nds17"/>
          <p:cNvSpPr txBox="1"/>
          <p:nvPr/>
        </p:nvSpPr>
        <p:spPr>
          <a:xfrm>
            <a:off x="4270248" y="2359151"/>
            <a:ext cx="594360" cy="530352"/>
          </a:xfrm>
          <a:prstGeom prst="rect">
            <a:avLst/>
          </a:prstGeom>
          <a:noFill/>
        </p:spPr>
        <p:txBody>
          <a:bodyPr wrap="square" lIns="0" tIns="0" rIns="0" bIns="0" anchor="t">
            <a:spAutoFit/>
          </a:bodyPr>
          <a:lstStyle/>
          <a:p>
            <a:pPr algn="ctr"/>
            <a:r>
              <a:rPr sz="700" b="0">
                <a:solidFill>
                  <a:srgbClr val="0E7490"/>
                </a:solidFill>
                <a:latin typeface="Segoe UI"/>
              </a:rPr>
              <a:t>broker</a:t>
            </a:r>
          </a:p>
        </p:txBody>
      </p:sp>
      <p:sp>
        <p:nvSpPr>
          <p:cNvPr id="19" name="a0f_nd18"/>
          <p:cNvSpPr/>
          <p:nvPr/>
        </p:nvSpPr>
        <p:spPr>
          <a:xfrm>
            <a:off x="5020056" y="1737360"/>
            <a:ext cx="685800" cy="1188720"/>
          </a:xfrm>
          <a:prstGeom prst="roundRect">
            <a:avLst>
              <a:gd name="adj" fmla="val 10666"/>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_ndt19"/>
          <p:cNvSpPr txBox="1"/>
          <p:nvPr/>
        </p:nvSpPr>
        <p:spPr>
          <a:xfrm>
            <a:off x="5065776" y="1773936"/>
            <a:ext cx="594360" cy="576072"/>
          </a:xfrm>
          <a:prstGeom prst="rect">
            <a:avLst/>
          </a:prstGeom>
          <a:noFill/>
        </p:spPr>
        <p:txBody>
          <a:bodyPr wrap="square" lIns="0" tIns="0" rIns="0" bIns="0" anchor="b">
            <a:spAutoFit/>
          </a:bodyPr>
          <a:lstStyle/>
          <a:p>
            <a:pPr algn="ctr"/>
            <a:r>
              <a:rPr sz="950" b="1">
                <a:solidFill>
                  <a:srgbClr val="1C1917"/>
                </a:solidFill>
                <a:latin typeface="Segoe UI"/>
              </a:rPr>
              <a:t>b3</a:t>
            </a:r>
          </a:p>
        </p:txBody>
      </p:sp>
      <p:sp>
        <p:nvSpPr>
          <p:cNvPr id="21" name="a0f_nds20"/>
          <p:cNvSpPr txBox="1"/>
          <p:nvPr/>
        </p:nvSpPr>
        <p:spPr>
          <a:xfrm>
            <a:off x="5065776" y="2359151"/>
            <a:ext cx="594360" cy="530352"/>
          </a:xfrm>
          <a:prstGeom prst="rect">
            <a:avLst/>
          </a:prstGeom>
          <a:noFill/>
        </p:spPr>
        <p:txBody>
          <a:bodyPr wrap="square" lIns="0" tIns="0" rIns="0" bIns="0" anchor="t">
            <a:spAutoFit/>
          </a:bodyPr>
          <a:lstStyle/>
          <a:p>
            <a:pPr algn="ctr"/>
            <a:r>
              <a:rPr sz="700" b="0">
                <a:solidFill>
                  <a:srgbClr val="0E7490"/>
                </a:solidFill>
                <a:latin typeface="Segoe UI"/>
              </a:rPr>
              <a:t>broker</a:t>
            </a:r>
          </a:p>
        </p:txBody>
      </p:sp>
      <p:sp>
        <p:nvSpPr>
          <p:cNvPr id="22" name="a1u_ch21"/>
          <p:cNvSpPr txBox="1"/>
          <p:nvPr/>
        </p:nvSpPr>
        <p:spPr>
          <a:xfrm>
            <a:off x="457200" y="1280160"/>
            <a:ext cx="2377440" cy="237744"/>
          </a:xfrm>
          <a:prstGeom prst="rect">
            <a:avLst/>
          </a:prstGeom>
          <a:noFill/>
        </p:spPr>
        <p:txBody>
          <a:bodyPr wrap="square" lIns="0" tIns="0" rIns="0" bIns="0" anchor="ctr">
            <a:spAutoFit/>
          </a:bodyPr>
          <a:lstStyle/>
          <a:p>
            <a:pPr algn="l"/>
            <a:r>
              <a:rPr sz="850" b="1" spc="140">
                <a:solidFill>
                  <a:srgbClr val="C2410C"/>
                </a:solidFill>
                <a:latin typeface="Segoe UI"/>
              </a:rPr>
              <a:t>PRODUCERS  ·  PUT DATA IN</a:t>
            </a:r>
          </a:p>
        </p:txBody>
      </p:sp>
      <p:sp>
        <p:nvSpPr>
          <p:cNvPr id="23" name="a1ud100_nd22"/>
          <p:cNvSpPr/>
          <p:nvPr/>
        </p:nvSpPr>
        <p:spPr>
          <a:xfrm>
            <a:off x="457200" y="1645920"/>
            <a:ext cx="2240280" cy="603504"/>
          </a:xfrm>
          <a:prstGeom prst="roundRect">
            <a:avLst>
              <a:gd name="adj" fmla="val 1212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d100_ndt23"/>
          <p:cNvSpPr txBox="1"/>
          <p:nvPr/>
        </p:nvSpPr>
        <p:spPr>
          <a:xfrm>
            <a:off x="502920" y="1682496"/>
            <a:ext cx="2148840" cy="283464"/>
          </a:xfrm>
          <a:prstGeom prst="rect">
            <a:avLst/>
          </a:prstGeom>
          <a:noFill/>
        </p:spPr>
        <p:txBody>
          <a:bodyPr wrap="square" lIns="0" tIns="0" rIns="0" bIns="0" anchor="b">
            <a:spAutoFit/>
          </a:bodyPr>
          <a:lstStyle/>
          <a:p>
            <a:pPr algn="ctr"/>
            <a:r>
              <a:rPr sz="950" b="1">
                <a:solidFill>
                  <a:srgbClr val="1C1917"/>
                </a:solidFill>
                <a:latin typeface="Segoe UI"/>
              </a:rPr>
              <a:t>Thermostat app</a:t>
            </a:r>
          </a:p>
        </p:txBody>
      </p:sp>
      <p:sp>
        <p:nvSpPr>
          <p:cNvPr id="25" name="a1ud100_nds24"/>
          <p:cNvSpPr txBox="1"/>
          <p:nvPr/>
        </p:nvSpPr>
        <p:spPr>
          <a:xfrm>
            <a:off x="502920" y="1975103"/>
            <a:ext cx="2148840" cy="237744"/>
          </a:xfrm>
          <a:prstGeom prst="rect">
            <a:avLst/>
          </a:prstGeom>
          <a:noFill/>
        </p:spPr>
        <p:txBody>
          <a:bodyPr wrap="square" lIns="0" tIns="0" rIns="0" bIns="0" anchor="t">
            <a:spAutoFit/>
          </a:bodyPr>
          <a:lstStyle/>
          <a:p>
            <a:pPr algn="ctr"/>
            <a:r>
              <a:rPr sz="800" b="0">
                <a:solidFill>
                  <a:srgbClr val="EA580C"/>
                </a:solidFill>
                <a:latin typeface="Segoe UI"/>
              </a:rPr>
              <a:t>code you write</a:t>
            </a:r>
          </a:p>
        </p:txBody>
      </p:sp>
      <p:cxnSp>
        <p:nvCxnSpPr>
          <p:cNvPr id="26" name="a1ud100_ar25"/>
          <p:cNvCxnSpPr/>
          <p:nvPr/>
        </p:nvCxnSpPr>
        <p:spPr>
          <a:xfrm>
            <a:off x="2724912" y="1947672"/>
            <a:ext cx="49377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1ud200_nd26"/>
          <p:cNvSpPr/>
          <p:nvPr/>
        </p:nvSpPr>
        <p:spPr>
          <a:xfrm>
            <a:off x="457200" y="2423160"/>
            <a:ext cx="2240280" cy="603504"/>
          </a:xfrm>
          <a:prstGeom prst="roundRect">
            <a:avLst>
              <a:gd name="adj" fmla="val 1212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ud200_ndt27"/>
          <p:cNvSpPr txBox="1"/>
          <p:nvPr/>
        </p:nvSpPr>
        <p:spPr>
          <a:xfrm>
            <a:off x="502920" y="2459736"/>
            <a:ext cx="2148840" cy="283464"/>
          </a:xfrm>
          <a:prstGeom prst="rect">
            <a:avLst/>
          </a:prstGeom>
          <a:noFill/>
        </p:spPr>
        <p:txBody>
          <a:bodyPr wrap="square" lIns="0" tIns="0" rIns="0" bIns="0" anchor="b">
            <a:spAutoFit/>
          </a:bodyPr>
          <a:lstStyle/>
          <a:p>
            <a:pPr algn="ctr"/>
            <a:r>
              <a:rPr sz="950" b="1">
                <a:solidFill>
                  <a:srgbClr val="1C1917"/>
                </a:solidFill>
                <a:latin typeface="Segoe UI"/>
              </a:rPr>
              <a:t>Source connector</a:t>
            </a:r>
          </a:p>
        </p:txBody>
      </p:sp>
      <p:sp>
        <p:nvSpPr>
          <p:cNvPr id="29" name="a1ud200_nds28"/>
          <p:cNvSpPr txBox="1"/>
          <p:nvPr/>
        </p:nvSpPr>
        <p:spPr>
          <a:xfrm>
            <a:off x="502920" y="2752344"/>
            <a:ext cx="2148840" cy="237744"/>
          </a:xfrm>
          <a:prstGeom prst="rect">
            <a:avLst/>
          </a:prstGeom>
          <a:noFill/>
        </p:spPr>
        <p:txBody>
          <a:bodyPr wrap="square" lIns="0" tIns="0" rIns="0" bIns="0" anchor="t">
            <a:spAutoFit/>
          </a:bodyPr>
          <a:lstStyle/>
          <a:p>
            <a:pPr algn="ctr"/>
            <a:r>
              <a:rPr sz="800" b="0">
                <a:solidFill>
                  <a:srgbClr val="EA580C"/>
                </a:solidFill>
                <a:latin typeface="Segoe UI"/>
              </a:rPr>
              <a:t>Kafka Connect</a:t>
            </a:r>
          </a:p>
        </p:txBody>
      </p:sp>
      <p:cxnSp>
        <p:nvCxnSpPr>
          <p:cNvPr id="30" name="a1ud200_ar29"/>
          <p:cNvCxnSpPr/>
          <p:nvPr/>
        </p:nvCxnSpPr>
        <p:spPr>
          <a:xfrm>
            <a:off x="2724912" y="2724912"/>
            <a:ext cx="493776"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a2u_ch30"/>
          <p:cNvSpPr txBox="1"/>
          <p:nvPr/>
        </p:nvSpPr>
        <p:spPr>
          <a:xfrm>
            <a:off x="6446520" y="1280160"/>
            <a:ext cx="2240280" cy="237744"/>
          </a:xfrm>
          <a:prstGeom prst="rect">
            <a:avLst/>
          </a:prstGeom>
          <a:noFill/>
        </p:spPr>
        <p:txBody>
          <a:bodyPr wrap="square" lIns="0" tIns="0" rIns="0" bIns="0" anchor="ctr">
            <a:spAutoFit/>
          </a:bodyPr>
          <a:lstStyle/>
          <a:p>
            <a:pPr algn="l"/>
            <a:r>
              <a:rPr sz="850" b="1" spc="140">
                <a:solidFill>
                  <a:srgbClr val="4F46E5"/>
                </a:solidFill>
                <a:latin typeface="Segoe UI"/>
              </a:rPr>
              <a:t>CONSUMERS  ·  GET DATA OUT</a:t>
            </a:r>
          </a:p>
        </p:txBody>
      </p:sp>
      <p:sp>
        <p:nvSpPr>
          <p:cNvPr id="32" name="a2ud100_nd31"/>
          <p:cNvSpPr/>
          <p:nvPr/>
        </p:nvSpPr>
        <p:spPr>
          <a:xfrm>
            <a:off x="6446520" y="1645920"/>
            <a:ext cx="2240280" cy="603504"/>
          </a:xfrm>
          <a:prstGeom prst="roundRect">
            <a:avLst>
              <a:gd name="adj" fmla="val 12121"/>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d100_ndt32"/>
          <p:cNvSpPr txBox="1"/>
          <p:nvPr/>
        </p:nvSpPr>
        <p:spPr>
          <a:xfrm>
            <a:off x="6492240" y="1682496"/>
            <a:ext cx="2148840" cy="283464"/>
          </a:xfrm>
          <a:prstGeom prst="rect">
            <a:avLst/>
          </a:prstGeom>
          <a:noFill/>
        </p:spPr>
        <p:txBody>
          <a:bodyPr wrap="square" lIns="0" tIns="0" rIns="0" bIns="0" anchor="b">
            <a:spAutoFit/>
          </a:bodyPr>
          <a:lstStyle/>
          <a:p>
            <a:pPr algn="ctr"/>
            <a:r>
              <a:rPr sz="950" b="1">
                <a:solidFill>
                  <a:srgbClr val="1C1917"/>
                </a:solidFill>
                <a:latin typeface="Segoe UI"/>
              </a:rPr>
              <a:t>Dashboard</a:t>
            </a:r>
          </a:p>
        </p:txBody>
      </p:sp>
      <p:sp>
        <p:nvSpPr>
          <p:cNvPr id="34" name="a2ud100_nds33"/>
          <p:cNvSpPr txBox="1"/>
          <p:nvPr/>
        </p:nvSpPr>
        <p:spPr>
          <a:xfrm>
            <a:off x="6492240" y="1975103"/>
            <a:ext cx="2148840" cy="237744"/>
          </a:xfrm>
          <a:prstGeom prst="rect">
            <a:avLst/>
          </a:prstGeom>
          <a:noFill/>
        </p:spPr>
        <p:txBody>
          <a:bodyPr wrap="square" lIns="0" tIns="0" rIns="0" bIns="0" anchor="t">
            <a:spAutoFit/>
          </a:bodyPr>
          <a:lstStyle/>
          <a:p>
            <a:pPr algn="ctr"/>
            <a:r>
              <a:rPr sz="800" b="0">
                <a:solidFill>
                  <a:srgbClr val="4F46E5"/>
                </a:solidFill>
                <a:latin typeface="Segoe UI"/>
              </a:rPr>
              <a:t>code you write</a:t>
            </a:r>
          </a:p>
        </p:txBody>
      </p:sp>
      <p:cxnSp>
        <p:nvCxnSpPr>
          <p:cNvPr id="35" name="a2ud100_ar34"/>
          <p:cNvCxnSpPr/>
          <p:nvPr/>
        </p:nvCxnSpPr>
        <p:spPr>
          <a:xfrm>
            <a:off x="5925312" y="1947672"/>
            <a:ext cx="493776"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2ud200_nd35"/>
          <p:cNvSpPr/>
          <p:nvPr/>
        </p:nvSpPr>
        <p:spPr>
          <a:xfrm>
            <a:off x="6446520" y="2423160"/>
            <a:ext cx="2240280" cy="603504"/>
          </a:xfrm>
          <a:prstGeom prst="roundRect">
            <a:avLst>
              <a:gd name="adj" fmla="val 12121"/>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d200_ndt36"/>
          <p:cNvSpPr txBox="1"/>
          <p:nvPr/>
        </p:nvSpPr>
        <p:spPr>
          <a:xfrm>
            <a:off x="6492240" y="2459736"/>
            <a:ext cx="2148840" cy="283464"/>
          </a:xfrm>
          <a:prstGeom prst="rect">
            <a:avLst/>
          </a:prstGeom>
          <a:noFill/>
        </p:spPr>
        <p:txBody>
          <a:bodyPr wrap="square" lIns="0" tIns="0" rIns="0" bIns="0" anchor="b">
            <a:spAutoFit/>
          </a:bodyPr>
          <a:lstStyle/>
          <a:p>
            <a:pPr algn="ctr"/>
            <a:r>
              <a:rPr sz="950" b="1">
                <a:solidFill>
                  <a:srgbClr val="1C1917"/>
                </a:solidFill>
                <a:latin typeface="Segoe UI"/>
              </a:rPr>
              <a:t>Sink connector</a:t>
            </a:r>
          </a:p>
        </p:txBody>
      </p:sp>
      <p:sp>
        <p:nvSpPr>
          <p:cNvPr id="38" name="a2ud200_nds37"/>
          <p:cNvSpPr txBox="1"/>
          <p:nvPr/>
        </p:nvSpPr>
        <p:spPr>
          <a:xfrm>
            <a:off x="6492240" y="2752344"/>
            <a:ext cx="2148840" cy="237744"/>
          </a:xfrm>
          <a:prstGeom prst="rect">
            <a:avLst/>
          </a:prstGeom>
          <a:noFill/>
        </p:spPr>
        <p:txBody>
          <a:bodyPr wrap="square" lIns="0" tIns="0" rIns="0" bIns="0" anchor="t">
            <a:spAutoFit/>
          </a:bodyPr>
          <a:lstStyle/>
          <a:p>
            <a:pPr algn="ctr"/>
            <a:r>
              <a:rPr sz="800" b="0">
                <a:solidFill>
                  <a:srgbClr val="4F46E5"/>
                </a:solidFill>
                <a:latin typeface="Segoe UI"/>
              </a:rPr>
              <a:t>Kafka Connect</a:t>
            </a:r>
          </a:p>
        </p:txBody>
      </p:sp>
      <p:cxnSp>
        <p:nvCxnSpPr>
          <p:cNvPr id="39" name="a2ud200_ar38"/>
          <p:cNvCxnSpPr/>
          <p:nvPr/>
        </p:nvCxnSpPr>
        <p:spPr>
          <a:xfrm>
            <a:off x="5925312" y="2724912"/>
            <a:ext cx="493776"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a3u_ch39"/>
          <p:cNvSpPr txBox="1"/>
          <p:nvPr/>
        </p:nvSpPr>
        <p:spPr>
          <a:xfrm>
            <a:off x="457200" y="3310128"/>
            <a:ext cx="1188720" cy="237744"/>
          </a:xfrm>
          <a:prstGeom prst="rect">
            <a:avLst/>
          </a:prstGeom>
          <a:noFill/>
        </p:spPr>
        <p:txBody>
          <a:bodyPr wrap="square" lIns="0" tIns="0" rIns="0" bIns="0" anchor="ctr">
            <a:spAutoFit/>
          </a:bodyPr>
          <a:lstStyle/>
          <a:p>
            <a:pPr algn="l"/>
            <a:r>
              <a:rPr sz="850" b="1" spc="140">
                <a:solidFill>
                  <a:srgbClr val="0E7490"/>
                </a:solidFill>
                <a:latin typeface="Segoe UI"/>
              </a:rPr>
              <a:t>BOTH</a:t>
            </a:r>
          </a:p>
        </p:txBody>
      </p:sp>
      <p:sp>
        <p:nvSpPr>
          <p:cNvPr id="41" name="a3u_nd40"/>
          <p:cNvSpPr/>
          <p:nvPr/>
        </p:nvSpPr>
        <p:spPr>
          <a:xfrm>
            <a:off x="1234440" y="3273552"/>
            <a:ext cx="2423160" cy="548640"/>
          </a:xfrm>
          <a:prstGeom prst="roundRect">
            <a:avLst>
              <a:gd name="adj" fmla="val 13333"/>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_ndt41"/>
          <p:cNvSpPr txBox="1"/>
          <p:nvPr/>
        </p:nvSpPr>
        <p:spPr>
          <a:xfrm>
            <a:off x="1280160" y="3310128"/>
            <a:ext cx="2331720" cy="256031"/>
          </a:xfrm>
          <a:prstGeom prst="rect">
            <a:avLst/>
          </a:prstGeom>
          <a:noFill/>
        </p:spPr>
        <p:txBody>
          <a:bodyPr wrap="square" lIns="0" tIns="0" rIns="0" bIns="0" anchor="b">
            <a:spAutoFit/>
          </a:bodyPr>
          <a:lstStyle/>
          <a:p>
            <a:pPr algn="ctr"/>
            <a:r>
              <a:rPr sz="950" b="1">
                <a:solidFill>
                  <a:srgbClr val="1C1917"/>
                </a:solidFill>
                <a:latin typeface="Segoe UI"/>
              </a:rPr>
              <a:t>Stream processing</a:t>
            </a:r>
          </a:p>
        </p:txBody>
      </p:sp>
      <p:sp>
        <p:nvSpPr>
          <p:cNvPr id="43" name="a3u_nds42"/>
          <p:cNvSpPr txBox="1"/>
          <p:nvPr/>
        </p:nvSpPr>
        <p:spPr>
          <a:xfrm>
            <a:off x="1280160" y="3575303"/>
            <a:ext cx="2331720" cy="210311"/>
          </a:xfrm>
          <a:prstGeom prst="rect">
            <a:avLst/>
          </a:prstGeom>
          <a:noFill/>
        </p:spPr>
        <p:txBody>
          <a:bodyPr wrap="square" lIns="0" tIns="0" rIns="0" bIns="0" anchor="t">
            <a:spAutoFit/>
          </a:bodyPr>
          <a:lstStyle/>
          <a:p>
            <a:pPr algn="ctr"/>
            <a:r>
              <a:rPr sz="800" b="0">
                <a:solidFill>
                  <a:srgbClr val="0E7490"/>
                </a:solidFill>
                <a:latin typeface="Segoe UI"/>
              </a:rPr>
              <a:t>reads, transforms, writes</a:t>
            </a:r>
          </a:p>
        </p:txBody>
      </p:sp>
      <p:sp>
        <p:nvSpPr>
          <p:cNvPr id="44" name="a3ud100_nd43"/>
          <p:cNvSpPr/>
          <p:nvPr/>
        </p:nvSpPr>
        <p:spPr>
          <a:xfrm>
            <a:off x="3840480" y="3273552"/>
            <a:ext cx="2423160" cy="548640"/>
          </a:xfrm>
          <a:prstGeom prst="roundRect">
            <a:avLst>
              <a:gd name="adj" fmla="val 13333"/>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3ud100_ndt44"/>
          <p:cNvSpPr txBox="1"/>
          <p:nvPr/>
        </p:nvSpPr>
        <p:spPr>
          <a:xfrm>
            <a:off x="3886200" y="3310128"/>
            <a:ext cx="2331720" cy="256031"/>
          </a:xfrm>
          <a:prstGeom prst="rect">
            <a:avLst/>
          </a:prstGeom>
          <a:noFill/>
        </p:spPr>
        <p:txBody>
          <a:bodyPr wrap="square" lIns="0" tIns="0" rIns="0" bIns="0" anchor="b">
            <a:spAutoFit/>
          </a:bodyPr>
          <a:lstStyle/>
          <a:p>
            <a:pPr algn="ctr"/>
            <a:r>
              <a:rPr sz="950" b="1">
                <a:solidFill>
                  <a:srgbClr val="1C1917"/>
                </a:solidFill>
                <a:latin typeface="Segoe UI"/>
              </a:rPr>
              <a:t>Schema Registry</a:t>
            </a:r>
          </a:p>
        </p:txBody>
      </p:sp>
      <p:sp>
        <p:nvSpPr>
          <p:cNvPr id="46" name="a3ud100_nds45"/>
          <p:cNvSpPr txBox="1"/>
          <p:nvPr/>
        </p:nvSpPr>
        <p:spPr>
          <a:xfrm>
            <a:off x="3886200" y="3575303"/>
            <a:ext cx="2331720" cy="210311"/>
          </a:xfrm>
          <a:prstGeom prst="rect">
            <a:avLst/>
          </a:prstGeom>
          <a:noFill/>
        </p:spPr>
        <p:txBody>
          <a:bodyPr wrap="square" lIns="0" tIns="0" rIns="0" bIns="0" anchor="t">
            <a:spAutoFit/>
          </a:bodyPr>
          <a:lstStyle/>
          <a:p>
            <a:pPr algn="ctr"/>
            <a:r>
              <a:rPr sz="800" b="0">
                <a:solidFill>
                  <a:srgbClr val="0E7490"/>
                </a:solidFill>
                <a:latin typeface="Segoe UI"/>
              </a:rPr>
              <a:t>keeps its schemas in a topic</a:t>
            </a:r>
          </a:p>
        </p:txBody>
      </p:sp>
      <p:sp>
        <p:nvSpPr>
          <p:cNvPr id="47" name="a4u_nb46"/>
          <p:cNvSpPr/>
          <p:nvPr/>
        </p:nvSpPr>
        <p:spPr>
          <a:xfrm>
            <a:off x="457200" y="3986784"/>
            <a:ext cx="8229600" cy="530352"/>
          </a:xfrm>
          <a:prstGeom prst="roundRect">
            <a:avLst>
              <a:gd name="adj" fmla="val 1379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4u_nacc47"/>
          <p:cNvSpPr/>
          <p:nvPr/>
        </p:nvSpPr>
        <p:spPr>
          <a:xfrm>
            <a:off x="457200" y="3986784"/>
            <a:ext cx="54864" cy="53035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4u_nt48"/>
          <p:cNvSpPr txBox="1"/>
          <p:nvPr/>
        </p:nvSpPr>
        <p:spPr>
          <a:xfrm>
            <a:off x="658368" y="3986784"/>
            <a:ext cx="7827264" cy="530352"/>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Everything in the Kafka platform that is not a broker is a producer, a consumer - or both.</a:t>
            </a:r>
          </a:p>
        </p:txBody>
      </p:sp>
      <p:sp>
        <p:nvSpPr>
          <p:cNvPr id="50" name="ft4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02</a:t>
            </a:r>
          </a:p>
        </p:txBody>
      </p:sp>
      <p:sp>
        <p:nvSpPr>
          <p:cNvPr id="51" name="ft5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ft5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Producers</a:t>
            </a:r>
          </a:p>
        </p:txBody>
      </p:sp>
      <p:sp>
        <p:nvSpPr>
          <p:cNvPr id="53" name="ft5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4" presetID="2" presetClass="entr" presetSubtype="4"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ppt_y+0.1"/>
                                          </p:val>
                                        </p:tav>
                                        <p:tav tm="100000">
                                          <p:val>
                                            <p:strVal val="#ppt_y"/>
                                          </p:val>
                                        </p:tav>
                                      </p:tavLst>
                                    </p:anim>
                                    <p:animEffect transition="in" filter="fade">
                                      <p:cBhvr>
                                        <p:cTn id="43" dur="500"/>
                                        <p:tgtEl>
                                          <p:spTgt spid="22"/>
                                        </p:tgtEl>
                                      </p:cBhvr>
                                    </p:animEffect>
                                  </p:childTnLst>
                                </p:cTn>
                              </p:par>
                              <p:par>
                                <p:cTn id="49" presetID="2" presetClass="entr" presetSubtype="4" fill="hold" grpId="0" nodeType="withEffect">
                                  <p:stCondLst>
                                    <p:cond delay="10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ppt_y+0.1"/>
                                          </p:val>
                                        </p:tav>
                                        <p:tav tm="100000">
                                          <p:val>
                                            <p:strVal val="#ppt_y"/>
                                          </p:val>
                                        </p:tav>
                                      </p:tavLst>
                                    </p:anim>
                                    <p:animEffect transition="in" filter="fade">
                                      <p:cBhvr>
                                        <p:cTn id="48" dur="500"/>
                                        <p:tgtEl>
                                          <p:spTgt spid="23"/>
                                        </p:tgtEl>
                                      </p:cBhvr>
                                    </p:animEffect>
                                  </p:childTnLst>
                                </p:cTn>
                              </p:par>
                              <p:par>
                                <p:cTn id="54" presetID="2" presetClass="entr" presetSubtype="4" fill="hold" grpId="0" nodeType="withEffect">
                                  <p:stCondLst>
                                    <p:cond delay="100"/>
                                  </p:stCondLst>
                                  <p:childTnLst>
                                    <p:set>
                                      <p:cBhvr>
                                        <p:cTn id="50" dur="1" fill="hold">
                                          <p:stCondLst>
                                            <p:cond delay="0"/>
                                          </p:stCondLst>
                                        </p:cTn>
                                        <p:tgtEl>
                                          <p:spTgt spid="24"/>
                                        </p:tgtEl>
                                        <p:attrNameLst>
                                          <p:attrName>style.visibility</p:attrName>
                                        </p:attrNameLst>
                                      </p:cBhvr>
                                      <p:to>
                                        <p:strVal val="visible"/>
                                      </p:to>
                                    </p:set>
                                    <p:anim calcmode="lin" valueType="num">
                                      <p:cBhvr additive="base">
                                        <p:cTn id="51" dur="500" fill="hold"/>
                                        <p:tgtEl>
                                          <p:spTgt spid="24"/>
                                        </p:tgtEl>
                                        <p:attrNameLst>
                                          <p:attrName>ppt_x</p:attrName>
                                        </p:attrNameLst>
                                      </p:cBhvr>
                                      <p:tavLst>
                                        <p:tav tm="0">
                                          <p:val>
                                            <p:strVal val="#ppt_x"/>
                                          </p:val>
                                        </p:tav>
                                        <p:tav tm="100000">
                                          <p:val>
                                            <p:strVal val="#ppt_x"/>
                                          </p:val>
                                        </p:tav>
                                      </p:tavLst>
                                    </p:anim>
                                    <p:anim calcmode="lin" valueType="num">
                                      <p:cBhvr additive="base">
                                        <p:cTn id="52" dur="500" fill="hold"/>
                                        <p:tgtEl>
                                          <p:spTgt spid="24"/>
                                        </p:tgtEl>
                                        <p:attrNameLst>
                                          <p:attrName>ppt_y</p:attrName>
                                        </p:attrNameLst>
                                      </p:cBhvr>
                                      <p:tavLst>
                                        <p:tav tm="0">
                                          <p:val>
                                            <p:strVal val="#ppt_y+0.1"/>
                                          </p:val>
                                        </p:tav>
                                        <p:tav tm="100000">
                                          <p:val>
                                            <p:strVal val="#ppt_y"/>
                                          </p:val>
                                        </p:tav>
                                      </p:tavLst>
                                    </p:anim>
                                    <p:animEffect transition="in" filter="fade">
                                      <p:cBhvr>
                                        <p:cTn id="53" dur="500"/>
                                        <p:tgtEl>
                                          <p:spTgt spid="24"/>
                                        </p:tgtEl>
                                      </p:cBhvr>
                                    </p:animEffect>
                                  </p:childTnLst>
                                </p:cTn>
                              </p:par>
                              <p:par>
                                <p:cTn id="59" presetID="2" presetClass="entr" presetSubtype="4" fill="hold" grpId="0" nodeType="withEffect">
                                  <p:stCondLst>
                                    <p:cond delay="100"/>
                                  </p:stCondLst>
                                  <p:childTnLst>
                                    <p:set>
                                      <p:cBhvr>
                                        <p:cTn id="55" dur="1" fill="hold">
                                          <p:stCondLst>
                                            <p:cond delay="0"/>
                                          </p:stCondLst>
                                        </p:cTn>
                                        <p:tgtEl>
                                          <p:spTgt spid="25"/>
                                        </p:tgtEl>
                                        <p:attrNameLst>
                                          <p:attrName>style.visibility</p:attrName>
                                        </p:attrNameLst>
                                      </p:cBhvr>
                                      <p:to>
                                        <p:strVal val="visible"/>
                                      </p:to>
                                    </p:set>
                                    <p:anim calcmode="lin" valueType="num">
                                      <p:cBhvr additive="base">
                                        <p:cTn id="56" dur="500" fill="hold"/>
                                        <p:tgtEl>
                                          <p:spTgt spid="25"/>
                                        </p:tgtEl>
                                        <p:attrNameLst>
                                          <p:attrName>ppt_x</p:attrName>
                                        </p:attrNameLst>
                                      </p:cBhvr>
                                      <p:tavLst>
                                        <p:tav tm="0">
                                          <p:val>
                                            <p:strVal val="#ppt_x"/>
                                          </p:val>
                                        </p:tav>
                                        <p:tav tm="100000">
                                          <p:val>
                                            <p:strVal val="#ppt_x"/>
                                          </p:val>
                                        </p:tav>
                                      </p:tavLst>
                                    </p:anim>
                                    <p:anim calcmode="lin" valueType="num">
                                      <p:cBhvr additive="base">
                                        <p:cTn id="57" dur="500" fill="hold"/>
                                        <p:tgtEl>
                                          <p:spTgt spid="25"/>
                                        </p:tgtEl>
                                        <p:attrNameLst>
                                          <p:attrName>ppt_y</p:attrName>
                                        </p:attrNameLst>
                                      </p:cBhvr>
                                      <p:tavLst>
                                        <p:tav tm="0">
                                          <p:val>
                                            <p:strVal val="#ppt_y+0.1"/>
                                          </p:val>
                                        </p:tav>
                                        <p:tav tm="100000">
                                          <p:val>
                                            <p:strVal val="#ppt_y"/>
                                          </p:val>
                                        </p:tav>
                                      </p:tavLst>
                                    </p:anim>
                                    <p:animEffect transition="in" filter="fade">
                                      <p:cBhvr>
                                        <p:cTn id="58" dur="500"/>
                                        <p:tgtEl>
                                          <p:spTgt spid="25"/>
                                        </p:tgtEl>
                                      </p:cBhvr>
                                    </p:animEffect>
                                  </p:childTnLst>
                                </p:cTn>
                              </p:par>
                              <p:par>
                                <p:cTn id="64" presetID="2" presetClass="entr" presetSubtype="4" fill="hold" grpId="0" nodeType="withEffect">
                                  <p:stCondLst>
                                    <p:cond delay="100"/>
                                  </p:stCondLst>
                                  <p:childTnLst>
                                    <p:set>
                                      <p:cBhvr>
                                        <p:cTn id="60" dur="1" fill="hold">
                                          <p:stCondLst>
                                            <p:cond delay="0"/>
                                          </p:stCondLst>
                                        </p:cTn>
                                        <p:tgtEl>
                                          <p:spTgt spid="26"/>
                                        </p:tgtEl>
                                        <p:attrNameLst>
                                          <p:attrName>style.visibility</p:attrName>
                                        </p:attrNameLst>
                                      </p:cBhvr>
                                      <p:to>
                                        <p:strVal val="visible"/>
                                      </p:to>
                                    </p:set>
                                    <p:anim calcmode="lin" valueType="num">
                                      <p:cBhvr additive="base">
                                        <p:cTn id="61" dur="500" fill="hold"/>
                                        <p:tgtEl>
                                          <p:spTgt spid="26"/>
                                        </p:tgtEl>
                                        <p:attrNameLst>
                                          <p:attrName>ppt_x</p:attrName>
                                        </p:attrNameLst>
                                      </p:cBhvr>
                                      <p:tavLst>
                                        <p:tav tm="0">
                                          <p:val>
                                            <p:strVal val="#ppt_x"/>
                                          </p:val>
                                        </p:tav>
                                        <p:tav tm="100000">
                                          <p:val>
                                            <p:strVal val="#ppt_x"/>
                                          </p:val>
                                        </p:tav>
                                      </p:tavLst>
                                    </p:anim>
                                    <p:anim calcmode="lin" valueType="num">
                                      <p:cBhvr additive="base">
                                        <p:cTn id="62" dur="500" fill="hold"/>
                                        <p:tgtEl>
                                          <p:spTgt spid="26"/>
                                        </p:tgtEl>
                                        <p:attrNameLst>
                                          <p:attrName>ppt_y</p:attrName>
                                        </p:attrNameLst>
                                      </p:cBhvr>
                                      <p:tavLst>
                                        <p:tav tm="0">
                                          <p:val>
                                            <p:strVal val="#ppt_y+0.1"/>
                                          </p:val>
                                        </p:tav>
                                        <p:tav tm="100000">
                                          <p:val>
                                            <p:strVal val="#ppt_y"/>
                                          </p:val>
                                        </p:tav>
                                      </p:tavLst>
                                    </p:anim>
                                    <p:animEffect transition="in" filter="fade">
                                      <p:cBhvr>
                                        <p:cTn id="63" dur="500"/>
                                        <p:tgtEl>
                                          <p:spTgt spid="26"/>
                                        </p:tgtEl>
                                      </p:cBhvr>
                                    </p:animEffect>
                                  </p:childTnLst>
                                </p:cTn>
                              </p:par>
                              <p:par>
                                <p:cTn id="69" presetID="2" presetClass="entr" presetSubtype="4" fill="hold" grpId="0" nodeType="withEffect">
                                  <p:stCondLst>
                                    <p:cond delay="200"/>
                                  </p:stCondLst>
                                  <p:childTnLst>
                                    <p:set>
                                      <p:cBhvr>
                                        <p:cTn id="65" dur="1" fill="hold">
                                          <p:stCondLst>
                                            <p:cond delay="0"/>
                                          </p:stCondLst>
                                        </p:cTn>
                                        <p:tgtEl>
                                          <p:spTgt spid="27"/>
                                        </p:tgtEl>
                                        <p:attrNameLst>
                                          <p:attrName>style.visibility</p:attrName>
                                        </p:attrNameLst>
                                      </p:cBhvr>
                                      <p:to>
                                        <p:strVal val="visible"/>
                                      </p:to>
                                    </p:set>
                                    <p:anim calcmode="lin" valueType="num">
                                      <p:cBhvr additive="base">
                                        <p:cTn id="66" dur="500" fill="hold"/>
                                        <p:tgtEl>
                                          <p:spTgt spid="27"/>
                                        </p:tgtEl>
                                        <p:attrNameLst>
                                          <p:attrName>ppt_x</p:attrName>
                                        </p:attrNameLst>
                                      </p:cBhvr>
                                      <p:tavLst>
                                        <p:tav tm="0">
                                          <p:val>
                                            <p:strVal val="#ppt_x"/>
                                          </p:val>
                                        </p:tav>
                                        <p:tav tm="100000">
                                          <p:val>
                                            <p:strVal val="#ppt_x"/>
                                          </p:val>
                                        </p:tav>
                                      </p:tavLst>
                                    </p:anim>
                                    <p:anim calcmode="lin" valueType="num">
                                      <p:cBhvr additive="base">
                                        <p:cTn id="67" dur="500" fill="hold"/>
                                        <p:tgtEl>
                                          <p:spTgt spid="27"/>
                                        </p:tgtEl>
                                        <p:attrNameLst>
                                          <p:attrName>ppt_y</p:attrName>
                                        </p:attrNameLst>
                                      </p:cBhvr>
                                      <p:tavLst>
                                        <p:tav tm="0">
                                          <p:val>
                                            <p:strVal val="#ppt_y+0.1"/>
                                          </p:val>
                                        </p:tav>
                                        <p:tav tm="100000">
                                          <p:val>
                                            <p:strVal val="#ppt_y"/>
                                          </p:val>
                                        </p:tav>
                                      </p:tavLst>
                                    </p:anim>
                                    <p:animEffect transition="in" filter="fade">
                                      <p:cBhvr>
                                        <p:cTn id="68" dur="500"/>
                                        <p:tgtEl>
                                          <p:spTgt spid="27"/>
                                        </p:tgtEl>
                                      </p:cBhvr>
                                    </p:animEffect>
                                  </p:childTnLst>
                                </p:cTn>
                              </p:par>
                              <p:par>
                                <p:cTn id="74" presetID="2" presetClass="entr" presetSubtype="4" fill="hold" grpId="0" nodeType="withEffect">
                                  <p:stCondLst>
                                    <p:cond delay="200"/>
                                  </p:stCondLst>
                                  <p:childTnLst>
                                    <p:set>
                                      <p:cBhvr>
                                        <p:cTn id="70" dur="1" fill="hold">
                                          <p:stCondLst>
                                            <p:cond delay="0"/>
                                          </p:stCondLst>
                                        </p:cTn>
                                        <p:tgtEl>
                                          <p:spTgt spid="28"/>
                                        </p:tgtEl>
                                        <p:attrNameLst>
                                          <p:attrName>style.visibility</p:attrName>
                                        </p:attrNameLst>
                                      </p:cBhvr>
                                      <p:to>
                                        <p:strVal val="visible"/>
                                      </p:to>
                                    </p:set>
                                    <p:anim calcmode="lin" valueType="num">
                                      <p:cBhvr additive="base">
                                        <p:cTn id="71" dur="500" fill="hold"/>
                                        <p:tgtEl>
                                          <p:spTgt spid="28"/>
                                        </p:tgtEl>
                                        <p:attrNameLst>
                                          <p:attrName>ppt_x</p:attrName>
                                        </p:attrNameLst>
                                      </p:cBhvr>
                                      <p:tavLst>
                                        <p:tav tm="0">
                                          <p:val>
                                            <p:strVal val="#ppt_x"/>
                                          </p:val>
                                        </p:tav>
                                        <p:tav tm="100000">
                                          <p:val>
                                            <p:strVal val="#ppt_x"/>
                                          </p:val>
                                        </p:tav>
                                      </p:tavLst>
                                    </p:anim>
                                    <p:anim calcmode="lin" valueType="num">
                                      <p:cBhvr additive="base">
                                        <p:cTn id="72" dur="500" fill="hold"/>
                                        <p:tgtEl>
                                          <p:spTgt spid="28"/>
                                        </p:tgtEl>
                                        <p:attrNameLst>
                                          <p:attrName>ppt_y</p:attrName>
                                        </p:attrNameLst>
                                      </p:cBhvr>
                                      <p:tavLst>
                                        <p:tav tm="0">
                                          <p:val>
                                            <p:strVal val="#ppt_y+0.1"/>
                                          </p:val>
                                        </p:tav>
                                        <p:tav tm="100000">
                                          <p:val>
                                            <p:strVal val="#ppt_y"/>
                                          </p:val>
                                        </p:tav>
                                      </p:tavLst>
                                    </p:anim>
                                    <p:animEffect transition="in" filter="fade">
                                      <p:cBhvr>
                                        <p:cTn id="73" dur="500"/>
                                        <p:tgtEl>
                                          <p:spTgt spid="28"/>
                                        </p:tgtEl>
                                      </p:cBhvr>
                                    </p:animEffect>
                                  </p:childTnLst>
                                </p:cTn>
                              </p:par>
                              <p:par>
                                <p:cTn id="79" presetID="2" presetClass="entr" presetSubtype="4" fill="hold" grpId="0" nodeType="withEffect">
                                  <p:stCondLst>
                                    <p:cond delay="200"/>
                                  </p:stCondLst>
                                  <p:childTnLst>
                                    <p:set>
                                      <p:cBhvr>
                                        <p:cTn id="75" dur="1" fill="hold">
                                          <p:stCondLst>
                                            <p:cond delay="0"/>
                                          </p:stCondLst>
                                        </p:cTn>
                                        <p:tgtEl>
                                          <p:spTgt spid="29"/>
                                        </p:tgtEl>
                                        <p:attrNameLst>
                                          <p:attrName>style.visibility</p:attrName>
                                        </p:attrNameLst>
                                      </p:cBhvr>
                                      <p:to>
                                        <p:strVal val="visible"/>
                                      </p:to>
                                    </p:set>
                                    <p:anim calcmode="lin" valueType="num">
                                      <p:cBhvr additive="base">
                                        <p:cTn id="76" dur="500" fill="hold"/>
                                        <p:tgtEl>
                                          <p:spTgt spid="29"/>
                                        </p:tgtEl>
                                        <p:attrNameLst>
                                          <p:attrName>ppt_x</p:attrName>
                                        </p:attrNameLst>
                                      </p:cBhvr>
                                      <p:tavLst>
                                        <p:tav tm="0">
                                          <p:val>
                                            <p:strVal val="#ppt_x"/>
                                          </p:val>
                                        </p:tav>
                                        <p:tav tm="100000">
                                          <p:val>
                                            <p:strVal val="#ppt_x"/>
                                          </p:val>
                                        </p:tav>
                                      </p:tavLst>
                                    </p:anim>
                                    <p:anim calcmode="lin" valueType="num">
                                      <p:cBhvr additive="base">
                                        <p:cTn id="77" dur="500" fill="hold"/>
                                        <p:tgtEl>
                                          <p:spTgt spid="29"/>
                                        </p:tgtEl>
                                        <p:attrNameLst>
                                          <p:attrName>ppt_y</p:attrName>
                                        </p:attrNameLst>
                                      </p:cBhvr>
                                      <p:tavLst>
                                        <p:tav tm="0">
                                          <p:val>
                                            <p:strVal val="#ppt_y+0.1"/>
                                          </p:val>
                                        </p:tav>
                                        <p:tav tm="100000">
                                          <p:val>
                                            <p:strVal val="#ppt_y"/>
                                          </p:val>
                                        </p:tav>
                                      </p:tavLst>
                                    </p:anim>
                                    <p:animEffect transition="in" filter="fade">
                                      <p:cBhvr>
                                        <p:cTn id="78" dur="500"/>
                                        <p:tgtEl>
                                          <p:spTgt spid="29"/>
                                        </p:tgtEl>
                                      </p:cBhvr>
                                    </p:animEffect>
                                  </p:childTnLst>
                                </p:cTn>
                              </p:par>
                              <p:par>
                                <p:cTn id="84" presetID="2" presetClass="entr" presetSubtype="4" fill="hold" grpId="0" nodeType="withEffect">
                                  <p:stCondLst>
                                    <p:cond delay="200"/>
                                  </p:stCondLst>
                                  <p:childTnLst>
                                    <p:set>
                                      <p:cBhvr>
                                        <p:cTn id="80" dur="1" fill="hold">
                                          <p:stCondLst>
                                            <p:cond delay="0"/>
                                          </p:stCondLst>
                                        </p:cTn>
                                        <p:tgtEl>
                                          <p:spTgt spid="30"/>
                                        </p:tgtEl>
                                        <p:attrNameLst>
                                          <p:attrName>style.visibility</p:attrName>
                                        </p:attrNameLst>
                                      </p:cBhvr>
                                      <p:to>
                                        <p:strVal val="visible"/>
                                      </p:to>
                                    </p:set>
                                    <p:anim calcmode="lin" valueType="num">
                                      <p:cBhvr additive="base">
                                        <p:cTn id="81" dur="500" fill="hold"/>
                                        <p:tgtEl>
                                          <p:spTgt spid="30"/>
                                        </p:tgtEl>
                                        <p:attrNameLst>
                                          <p:attrName>ppt_x</p:attrName>
                                        </p:attrNameLst>
                                      </p:cBhvr>
                                      <p:tavLst>
                                        <p:tav tm="0">
                                          <p:val>
                                            <p:strVal val="#ppt_x"/>
                                          </p:val>
                                        </p:tav>
                                        <p:tav tm="100000">
                                          <p:val>
                                            <p:strVal val="#ppt_x"/>
                                          </p:val>
                                        </p:tav>
                                      </p:tavLst>
                                    </p:anim>
                                    <p:anim calcmode="lin" valueType="num">
                                      <p:cBhvr additive="base">
                                        <p:cTn id="82" dur="500" fill="hold"/>
                                        <p:tgtEl>
                                          <p:spTgt spid="30"/>
                                        </p:tgtEl>
                                        <p:attrNameLst>
                                          <p:attrName>ppt_y</p:attrName>
                                        </p:attrNameLst>
                                      </p:cBhvr>
                                      <p:tavLst>
                                        <p:tav tm="0">
                                          <p:val>
                                            <p:strVal val="#ppt_y+0.1"/>
                                          </p:val>
                                        </p:tav>
                                        <p:tav tm="100000">
                                          <p:val>
                                            <p:strVal val="#ppt_y"/>
                                          </p:val>
                                        </p:tav>
                                      </p:tavLst>
                                    </p:anim>
                                    <p:animEffect transition="in" filter="fade">
                                      <p:cBhvr>
                                        <p:cTn id="83" dur="500"/>
                                        <p:tgtEl>
                                          <p:spTgt spid="30"/>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31"/>
                                        </p:tgtEl>
                                        <p:attrNameLst>
                                          <p:attrName>style.visibility</p:attrName>
                                        </p:attrNameLst>
                                      </p:cBhvr>
                                      <p:to>
                                        <p:strVal val="visible"/>
                                      </p:to>
                                    </p:set>
                                    <p:anim calcmode="lin" valueType="num">
                                      <p:cBhvr additive="base">
                                        <p:cTn id="88" dur="500" fill="hold"/>
                                        <p:tgtEl>
                                          <p:spTgt spid="31"/>
                                        </p:tgtEl>
                                        <p:attrNameLst>
                                          <p:attrName>ppt_x</p:attrName>
                                        </p:attrNameLst>
                                      </p:cBhvr>
                                      <p:tavLst>
                                        <p:tav tm="0">
                                          <p:val>
                                            <p:strVal val="#ppt_x"/>
                                          </p:val>
                                        </p:tav>
                                        <p:tav tm="100000">
                                          <p:val>
                                            <p:strVal val="#ppt_x"/>
                                          </p:val>
                                        </p:tav>
                                      </p:tavLst>
                                    </p:anim>
                                    <p:anim calcmode="lin" valueType="num">
                                      <p:cBhvr additive="base">
                                        <p:cTn id="89" dur="500" fill="hold"/>
                                        <p:tgtEl>
                                          <p:spTgt spid="31"/>
                                        </p:tgtEl>
                                        <p:attrNameLst>
                                          <p:attrName>ppt_y</p:attrName>
                                        </p:attrNameLst>
                                      </p:cBhvr>
                                      <p:tavLst>
                                        <p:tav tm="0">
                                          <p:val>
                                            <p:strVal val="#ppt_y+0.1"/>
                                          </p:val>
                                        </p:tav>
                                        <p:tav tm="100000">
                                          <p:val>
                                            <p:strVal val="#ppt_y"/>
                                          </p:val>
                                        </p:tav>
                                      </p:tavLst>
                                    </p:anim>
                                    <p:animEffect transition="in" filter="fade">
                                      <p:cBhvr>
                                        <p:cTn id="90" dur="500"/>
                                        <p:tgtEl>
                                          <p:spTgt spid="31"/>
                                        </p:tgtEl>
                                      </p:cBhvr>
                                    </p:animEffect>
                                  </p:childTnLst>
                                </p:cTn>
                              </p:par>
                              <p:par>
                                <p:cTn id="96" presetID="2" presetClass="entr" presetSubtype="4" fill="hold" grpId="0" nodeType="withEffect">
                                  <p:stCondLst>
                                    <p:cond delay="100"/>
                                  </p:stCondLst>
                                  <p:childTnLst>
                                    <p:set>
                                      <p:cBhvr>
                                        <p:cTn id="92" dur="1" fill="hold">
                                          <p:stCondLst>
                                            <p:cond delay="0"/>
                                          </p:stCondLst>
                                        </p:cTn>
                                        <p:tgtEl>
                                          <p:spTgt spid="32"/>
                                        </p:tgtEl>
                                        <p:attrNameLst>
                                          <p:attrName>style.visibility</p:attrName>
                                        </p:attrNameLst>
                                      </p:cBhvr>
                                      <p:to>
                                        <p:strVal val="visible"/>
                                      </p:to>
                                    </p:set>
                                    <p:anim calcmode="lin" valueType="num">
                                      <p:cBhvr additive="base">
                                        <p:cTn id="93" dur="500" fill="hold"/>
                                        <p:tgtEl>
                                          <p:spTgt spid="32"/>
                                        </p:tgtEl>
                                        <p:attrNameLst>
                                          <p:attrName>ppt_x</p:attrName>
                                        </p:attrNameLst>
                                      </p:cBhvr>
                                      <p:tavLst>
                                        <p:tav tm="0">
                                          <p:val>
                                            <p:strVal val="#ppt_x"/>
                                          </p:val>
                                        </p:tav>
                                        <p:tav tm="100000">
                                          <p:val>
                                            <p:strVal val="#ppt_x"/>
                                          </p:val>
                                        </p:tav>
                                      </p:tavLst>
                                    </p:anim>
                                    <p:anim calcmode="lin" valueType="num">
                                      <p:cBhvr additive="base">
                                        <p:cTn id="94" dur="500" fill="hold"/>
                                        <p:tgtEl>
                                          <p:spTgt spid="32"/>
                                        </p:tgtEl>
                                        <p:attrNameLst>
                                          <p:attrName>ppt_y</p:attrName>
                                        </p:attrNameLst>
                                      </p:cBhvr>
                                      <p:tavLst>
                                        <p:tav tm="0">
                                          <p:val>
                                            <p:strVal val="#ppt_y+0.1"/>
                                          </p:val>
                                        </p:tav>
                                        <p:tav tm="100000">
                                          <p:val>
                                            <p:strVal val="#ppt_y"/>
                                          </p:val>
                                        </p:tav>
                                      </p:tavLst>
                                    </p:anim>
                                    <p:animEffect transition="in" filter="fade">
                                      <p:cBhvr>
                                        <p:cTn id="95" dur="500"/>
                                        <p:tgtEl>
                                          <p:spTgt spid="32"/>
                                        </p:tgtEl>
                                      </p:cBhvr>
                                    </p:animEffect>
                                  </p:childTnLst>
                                </p:cTn>
                              </p:par>
                              <p:par>
                                <p:cTn id="101" presetID="2" presetClass="entr" presetSubtype="4" fill="hold" grpId="0" nodeType="withEffect">
                                  <p:stCondLst>
                                    <p:cond delay="100"/>
                                  </p:stCondLst>
                                  <p:childTnLst>
                                    <p:set>
                                      <p:cBhvr>
                                        <p:cTn id="97" dur="1" fill="hold">
                                          <p:stCondLst>
                                            <p:cond delay="0"/>
                                          </p:stCondLst>
                                        </p:cTn>
                                        <p:tgtEl>
                                          <p:spTgt spid="33"/>
                                        </p:tgtEl>
                                        <p:attrNameLst>
                                          <p:attrName>style.visibility</p:attrName>
                                        </p:attrNameLst>
                                      </p:cBhvr>
                                      <p:to>
                                        <p:strVal val="visible"/>
                                      </p:to>
                                    </p:set>
                                    <p:anim calcmode="lin" valueType="num">
                                      <p:cBhvr additive="base">
                                        <p:cTn id="98" dur="500" fill="hold"/>
                                        <p:tgtEl>
                                          <p:spTgt spid="33"/>
                                        </p:tgtEl>
                                        <p:attrNameLst>
                                          <p:attrName>ppt_x</p:attrName>
                                        </p:attrNameLst>
                                      </p:cBhvr>
                                      <p:tavLst>
                                        <p:tav tm="0">
                                          <p:val>
                                            <p:strVal val="#ppt_x"/>
                                          </p:val>
                                        </p:tav>
                                        <p:tav tm="100000">
                                          <p:val>
                                            <p:strVal val="#ppt_x"/>
                                          </p:val>
                                        </p:tav>
                                      </p:tavLst>
                                    </p:anim>
                                    <p:anim calcmode="lin" valueType="num">
                                      <p:cBhvr additive="base">
                                        <p:cTn id="99" dur="500" fill="hold"/>
                                        <p:tgtEl>
                                          <p:spTgt spid="33"/>
                                        </p:tgtEl>
                                        <p:attrNameLst>
                                          <p:attrName>ppt_y</p:attrName>
                                        </p:attrNameLst>
                                      </p:cBhvr>
                                      <p:tavLst>
                                        <p:tav tm="0">
                                          <p:val>
                                            <p:strVal val="#ppt_y+0.1"/>
                                          </p:val>
                                        </p:tav>
                                        <p:tav tm="100000">
                                          <p:val>
                                            <p:strVal val="#ppt_y"/>
                                          </p:val>
                                        </p:tav>
                                      </p:tavLst>
                                    </p:anim>
                                    <p:animEffect transition="in" filter="fade">
                                      <p:cBhvr>
                                        <p:cTn id="100" dur="500"/>
                                        <p:tgtEl>
                                          <p:spTgt spid="33"/>
                                        </p:tgtEl>
                                      </p:cBhvr>
                                    </p:animEffect>
                                  </p:childTnLst>
                                </p:cTn>
                              </p:par>
                              <p:par>
                                <p:cTn id="106" presetID="2" presetClass="entr" presetSubtype="4" fill="hold" grpId="0" nodeType="withEffect">
                                  <p:stCondLst>
                                    <p:cond delay="100"/>
                                  </p:stCondLst>
                                  <p:childTnLst>
                                    <p:set>
                                      <p:cBhvr>
                                        <p:cTn id="102" dur="1" fill="hold">
                                          <p:stCondLst>
                                            <p:cond delay="0"/>
                                          </p:stCondLst>
                                        </p:cTn>
                                        <p:tgtEl>
                                          <p:spTgt spid="34"/>
                                        </p:tgtEl>
                                        <p:attrNameLst>
                                          <p:attrName>style.visibility</p:attrName>
                                        </p:attrNameLst>
                                      </p:cBhvr>
                                      <p:to>
                                        <p:strVal val="visible"/>
                                      </p:to>
                                    </p:set>
                                    <p:anim calcmode="lin" valueType="num">
                                      <p:cBhvr additive="base">
                                        <p:cTn id="103" dur="500" fill="hold"/>
                                        <p:tgtEl>
                                          <p:spTgt spid="34"/>
                                        </p:tgtEl>
                                        <p:attrNameLst>
                                          <p:attrName>ppt_x</p:attrName>
                                        </p:attrNameLst>
                                      </p:cBhvr>
                                      <p:tavLst>
                                        <p:tav tm="0">
                                          <p:val>
                                            <p:strVal val="#ppt_x"/>
                                          </p:val>
                                        </p:tav>
                                        <p:tav tm="100000">
                                          <p:val>
                                            <p:strVal val="#ppt_x"/>
                                          </p:val>
                                        </p:tav>
                                      </p:tavLst>
                                    </p:anim>
                                    <p:anim calcmode="lin" valueType="num">
                                      <p:cBhvr additive="base">
                                        <p:cTn id="104" dur="500" fill="hold"/>
                                        <p:tgtEl>
                                          <p:spTgt spid="34"/>
                                        </p:tgtEl>
                                        <p:attrNameLst>
                                          <p:attrName>ppt_y</p:attrName>
                                        </p:attrNameLst>
                                      </p:cBhvr>
                                      <p:tavLst>
                                        <p:tav tm="0">
                                          <p:val>
                                            <p:strVal val="#ppt_y+0.1"/>
                                          </p:val>
                                        </p:tav>
                                        <p:tav tm="100000">
                                          <p:val>
                                            <p:strVal val="#ppt_y"/>
                                          </p:val>
                                        </p:tav>
                                      </p:tavLst>
                                    </p:anim>
                                    <p:animEffect transition="in" filter="fade">
                                      <p:cBhvr>
                                        <p:cTn id="105" dur="500"/>
                                        <p:tgtEl>
                                          <p:spTgt spid="34"/>
                                        </p:tgtEl>
                                      </p:cBhvr>
                                    </p:animEffect>
                                  </p:childTnLst>
                                </p:cTn>
                              </p:par>
                              <p:par>
                                <p:cTn id="111" presetID="2" presetClass="entr" presetSubtype="4" fill="hold" grpId="0" nodeType="withEffect">
                                  <p:stCondLst>
                                    <p:cond delay="100"/>
                                  </p:stCondLst>
                                  <p:childTnLst>
                                    <p:set>
                                      <p:cBhvr>
                                        <p:cTn id="107" dur="1" fill="hold">
                                          <p:stCondLst>
                                            <p:cond delay="0"/>
                                          </p:stCondLst>
                                        </p:cTn>
                                        <p:tgtEl>
                                          <p:spTgt spid="35"/>
                                        </p:tgtEl>
                                        <p:attrNameLst>
                                          <p:attrName>style.visibility</p:attrName>
                                        </p:attrNameLst>
                                      </p:cBhvr>
                                      <p:to>
                                        <p:strVal val="visible"/>
                                      </p:to>
                                    </p:set>
                                    <p:anim calcmode="lin" valueType="num">
                                      <p:cBhvr additive="base">
                                        <p:cTn id="108" dur="500" fill="hold"/>
                                        <p:tgtEl>
                                          <p:spTgt spid="35"/>
                                        </p:tgtEl>
                                        <p:attrNameLst>
                                          <p:attrName>ppt_x</p:attrName>
                                        </p:attrNameLst>
                                      </p:cBhvr>
                                      <p:tavLst>
                                        <p:tav tm="0">
                                          <p:val>
                                            <p:strVal val="#ppt_x"/>
                                          </p:val>
                                        </p:tav>
                                        <p:tav tm="100000">
                                          <p:val>
                                            <p:strVal val="#ppt_x"/>
                                          </p:val>
                                        </p:tav>
                                      </p:tavLst>
                                    </p:anim>
                                    <p:anim calcmode="lin" valueType="num">
                                      <p:cBhvr additive="base">
                                        <p:cTn id="109" dur="500" fill="hold"/>
                                        <p:tgtEl>
                                          <p:spTgt spid="35"/>
                                        </p:tgtEl>
                                        <p:attrNameLst>
                                          <p:attrName>ppt_y</p:attrName>
                                        </p:attrNameLst>
                                      </p:cBhvr>
                                      <p:tavLst>
                                        <p:tav tm="0">
                                          <p:val>
                                            <p:strVal val="#ppt_y+0.1"/>
                                          </p:val>
                                        </p:tav>
                                        <p:tav tm="100000">
                                          <p:val>
                                            <p:strVal val="#ppt_y"/>
                                          </p:val>
                                        </p:tav>
                                      </p:tavLst>
                                    </p:anim>
                                    <p:animEffect transition="in" filter="fade">
                                      <p:cBhvr>
                                        <p:cTn id="110" dur="500"/>
                                        <p:tgtEl>
                                          <p:spTgt spid="35"/>
                                        </p:tgtEl>
                                      </p:cBhvr>
                                    </p:animEffect>
                                  </p:childTnLst>
                                </p:cTn>
                              </p:par>
                              <p:par>
                                <p:cTn id="116" presetID="2" presetClass="entr" presetSubtype="4" fill="hold" grpId="0" nodeType="withEffect">
                                  <p:stCondLst>
                                    <p:cond delay="200"/>
                                  </p:stCondLst>
                                  <p:childTnLst>
                                    <p:set>
                                      <p:cBhvr>
                                        <p:cTn id="112" dur="1" fill="hold">
                                          <p:stCondLst>
                                            <p:cond delay="0"/>
                                          </p:stCondLst>
                                        </p:cTn>
                                        <p:tgtEl>
                                          <p:spTgt spid="36"/>
                                        </p:tgtEl>
                                        <p:attrNameLst>
                                          <p:attrName>style.visibility</p:attrName>
                                        </p:attrNameLst>
                                      </p:cBhvr>
                                      <p:to>
                                        <p:strVal val="visible"/>
                                      </p:to>
                                    </p:set>
                                    <p:anim calcmode="lin" valueType="num">
                                      <p:cBhvr additive="base">
                                        <p:cTn id="113" dur="500" fill="hold"/>
                                        <p:tgtEl>
                                          <p:spTgt spid="36"/>
                                        </p:tgtEl>
                                        <p:attrNameLst>
                                          <p:attrName>ppt_x</p:attrName>
                                        </p:attrNameLst>
                                      </p:cBhvr>
                                      <p:tavLst>
                                        <p:tav tm="0">
                                          <p:val>
                                            <p:strVal val="#ppt_x"/>
                                          </p:val>
                                        </p:tav>
                                        <p:tav tm="100000">
                                          <p:val>
                                            <p:strVal val="#ppt_x"/>
                                          </p:val>
                                        </p:tav>
                                      </p:tavLst>
                                    </p:anim>
                                    <p:anim calcmode="lin" valueType="num">
                                      <p:cBhvr additive="base">
                                        <p:cTn id="114" dur="500" fill="hold"/>
                                        <p:tgtEl>
                                          <p:spTgt spid="36"/>
                                        </p:tgtEl>
                                        <p:attrNameLst>
                                          <p:attrName>ppt_y</p:attrName>
                                        </p:attrNameLst>
                                      </p:cBhvr>
                                      <p:tavLst>
                                        <p:tav tm="0">
                                          <p:val>
                                            <p:strVal val="#ppt_y+0.1"/>
                                          </p:val>
                                        </p:tav>
                                        <p:tav tm="100000">
                                          <p:val>
                                            <p:strVal val="#ppt_y"/>
                                          </p:val>
                                        </p:tav>
                                      </p:tavLst>
                                    </p:anim>
                                    <p:animEffect transition="in" filter="fade">
                                      <p:cBhvr>
                                        <p:cTn id="115" dur="500"/>
                                        <p:tgtEl>
                                          <p:spTgt spid="36"/>
                                        </p:tgtEl>
                                      </p:cBhvr>
                                    </p:animEffect>
                                  </p:childTnLst>
                                </p:cTn>
                              </p:par>
                              <p:par>
                                <p:cTn id="121" presetID="2" presetClass="entr" presetSubtype="4" fill="hold" grpId="0" nodeType="withEffect">
                                  <p:stCondLst>
                                    <p:cond delay="200"/>
                                  </p:stCondLst>
                                  <p:childTnLst>
                                    <p:set>
                                      <p:cBhvr>
                                        <p:cTn id="117" dur="1" fill="hold">
                                          <p:stCondLst>
                                            <p:cond delay="0"/>
                                          </p:stCondLst>
                                        </p:cTn>
                                        <p:tgtEl>
                                          <p:spTgt spid="37"/>
                                        </p:tgtEl>
                                        <p:attrNameLst>
                                          <p:attrName>style.visibility</p:attrName>
                                        </p:attrNameLst>
                                      </p:cBhvr>
                                      <p:to>
                                        <p:strVal val="visible"/>
                                      </p:to>
                                    </p:set>
                                    <p:anim calcmode="lin" valueType="num">
                                      <p:cBhvr additive="base">
                                        <p:cTn id="118" dur="500" fill="hold"/>
                                        <p:tgtEl>
                                          <p:spTgt spid="37"/>
                                        </p:tgtEl>
                                        <p:attrNameLst>
                                          <p:attrName>ppt_x</p:attrName>
                                        </p:attrNameLst>
                                      </p:cBhvr>
                                      <p:tavLst>
                                        <p:tav tm="0">
                                          <p:val>
                                            <p:strVal val="#ppt_x"/>
                                          </p:val>
                                        </p:tav>
                                        <p:tav tm="100000">
                                          <p:val>
                                            <p:strVal val="#ppt_x"/>
                                          </p:val>
                                        </p:tav>
                                      </p:tavLst>
                                    </p:anim>
                                    <p:anim calcmode="lin" valueType="num">
                                      <p:cBhvr additive="base">
                                        <p:cTn id="119" dur="500" fill="hold"/>
                                        <p:tgtEl>
                                          <p:spTgt spid="37"/>
                                        </p:tgtEl>
                                        <p:attrNameLst>
                                          <p:attrName>ppt_y</p:attrName>
                                        </p:attrNameLst>
                                      </p:cBhvr>
                                      <p:tavLst>
                                        <p:tav tm="0">
                                          <p:val>
                                            <p:strVal val="#ppt_y+0.1"/>
                                          </p:val>
                                        </p:tav>
                                        <p:tav tm="100000">
                                          <p:val>
                                            <p:strVal val="#ppt_y"/>
                                          </p:val>
                                        </p:tav>
                                      </p:tavLst>
                                    </p:anim>
                                    <p:animEffect transition="in" filter="fade">
                                      <p:cBhvr>
                                        <p:cTn id="120" dur="500"/>
                                        <p:tgtEl>
                                          <p:spTgt spid="37"/>
                                        </p:tgtEl>
                                      </p:cBhvr>
                                    </p:animEffect>
                                  </p:childTnLst>
                                </p:cTn>
                              </p:par>
                              <p:par>
                                <p:cTn id="126" presetID="2" presetClass="entr" presetSubtype="4" fill="hold" grpId="0" nodeType="withEffect">
                                  <p:stCondLst>
                                    <p:cond delay="200"/>
                                  </p:stCondLst>
                                  <p:childTnLst>
                                    <p:set>
                                      <p:cBhvr>
                                        <p:cTn id="122" dur="1" fill="hold">
                                          <p:stCondLst>
                                            <p:cond delay="0"/>
                                          </p:stCondLst>
                                        </p:cTn>
                                        <p:tgtEl>
                                          <p:spTgt spid="38"/>
                                        </p:tgtEl>
                                        <p:attrNameLst>
                                          <p:attrName>style.visibility</p:attrName>
                                        </p:attrNameLst>
                                      </p:cBhvr>
                                      <p:to>
                                        <p:strVal val="visible"/>
                                      </p:to>
                                    </p:set>
                                    <p:anim calcmode="lin" valueType="num">
                                      <p:cBhvr additive="base">
                                        <p:cTn id="123" dur="500" fill="hold"/>
                                        <p:tgtEl>
                                          <p:spTgt spid="38"/>
                                        </p:tgtEl>
                                        <p:attrNameLst>
                                          <p:attrName>ppt_x</p:attrName>
                                        </p:attrNameLst>
                                      </p:cBhvr>
                                      <p:tavLst>
                                        <p:tav tm="0">
                                          <p:val>
                                            <p:strVal val="#ppt_x"/>
                                          </p:val>
                                        </p:tav>
                                        <p:tav tm="100000">
                                          <p:val>
                                            <p:strVal val="#ppt_x"/>
                                          </p:val>
                                        </p:tav>
                                      </p:tavLst>
                                    </p:anim>
                                    <p:anim calcmode="lin" valueType="num">
                                      <p:cBhvr additive="base">
                                        <p:cTn id="124" dur="500" fill="hold"/>
                                        <p:tgtEl>
                                          <p:spTgt spid="38"/>
                                        </p:tgtEl>
                                        <p:attrNameLst>
                                          <p:attrName>ppt_y</p:attrName>
                                        </p:attrNameLst>
                                      </p:cBhvr>
                                      <p:tavLst>
                                        <p:tav tm="0">
                                          <p:val>
                                            <p:strVal val="#ppt_y+0.1"/>
                                          </p:val>
                                        </p:tav>
                                        <p:tav tm="100000">
                                          <p:val>
                                            <p:strVal val="#ppt_y"/>
                                          </p:val>
                                        </p:tav>
                                      </p:tavLst>
                                    </p:anim>
                                    <p:animEffect transition="in" filter="fade">
                                      <p:cBhvr>
                                        <p:cTn id="125" dur="500"/>
                                        <p:tgtEl>
                                          <p:spTgt spid="38"/>
                                        </p:tgtEl>
                                      </p:cBhvr>
                                    </p:animEffect>
                                  </p:childTnLst>
                                </p:cTn>
                              </p:par>
                              <p:par>
                                <p:cTn id="131" presetID="2" presetClass="entr" presetSubtype="4" fill="hold" grpId="0" nodeType="withEffect">
                                  <p:stCondLst>
                                    <p:cond delay="200"/>
                                  </p:stCondLst>
                                  <p:childTnLst>
                                    <p:set>
                                      <p:cBhvr>
                                        <p:cTn id="127" dur="1" fill="hold">
                                          <p:stCondLst>
                                            <p:cond delay="0"/>
                                          </p:stCondLst>
                                        </p:cTn>
                                        <p:tgtEl>
                                          <p:spTgt spid="39"/>
                                        </p:tgtEl>
                                        <p:attrNameLst>
                                          <p:attrName>style.visibility</p:attrName>
                                        </p:attrNameLst>
                                      </p:cBhvr>
                                      <p:to>
                                        <p:strVal val="visible"/>
                                      </p:to>
                                    </p:set>
                                    <p:anim calcmode="lin" valueType="num">
                                      <p:cBhvr additive="base">
                                        <p:cTn id="128" dur="500" fill="hold"/>
                                        <p:tgtEl>
                                          <p:spTgt spid="39"/>
                                        </p:tgtEl>
                                        <p:attrNameLst>
                                          <p:attrName>ppt_x</p:attrName>
                                        </p:attrNameLst>
                                      </p:cBhvr>
                                      <p:tavLst>
                                        <p:tav tm="0">
                                          <p:val>
                                            <p:strVal val="#ppt_x"/>
                                          </p:val>
                                        </p:tav>
                                        <p:tav tm="100000">
                                          <p:val>
                                            <p:strVal val="#ppt_x"/>
                                          </p:val>
                                        </p:tav>
                                      </p:tavLst>
                                    </p:anim>
                                    <p:anim calcmode="lin" valueType="num">
                                      <p:cBhvr additive="base">
                                        <p:cTn id="129" dur="500" fill="hold"/>
                                        <p:tgtEl>
                                          <p:spTgt spid="39"/>
                                        </p:tgtEl>
                                        <p:attrNameLst>
                                          <p:attrName>ppt_y</p:attrName>
                                        </p:attrNameLst>
                                      </p:cBhvr>
                                      <p:tavLst>
                                        <p:tav tm="0">
                                          <p:val>
                                            <p:strVal val="#ppt_y+0.1"/>
                                          </p:val>
                                        </p:tav>
                                        <p:tav tm="100000">
                                          <p:val>
                                            <p:strVal val="#ppt_y"/>
                                          </p:val>
                                        </p:tav>
                                      </p:tavLst>
                                    </p:anim>
                                    <p:animEffect transition="in" filter="fade">
                                      <p:cBhvr>
                                        <p:cTn id="130" dur="500"/>
                                        <p:tgtEl>
                                          <p:spTgt spid="39"/>
                                        </p:tgtEl>
                                      </p:cBhvr>
                                    </p:animEffect>
                                  </p:childTnLst>
                                </p:cTn>
                              </p:par>
                            </p:childTnLst>
                          </p:cTn>
                        </p:par>
                      </p:childTnLst>
                    </p:cTn>
                  </p:par>
                  <p:par>
                    <p:cTn id="132" fill="hold">
                      <p:stCondLst>
                        <p:cond delay="indefinite"/>
                      </p:stCondLst>
                      <p:childTnLst>
                        <p:par>
                          <p:cTn id="133" fill="hold">
                            <p:stCondLst>
                              <p:cond delay="0"/>
                            </p:stCondLst>
                            <p:childTnLst>
                              <p:par>
                                <p:cTn id="138" presetID="2" presetClass="entr" presetSubtype="4" fill="hold" grpId="0" nodeType="clickEffect">
                                  <p:stCondLst>
                                    <p:cond delay="0"/>
                                  </p:stCondLst>
                                  <p:childTnLst>
                                    <p:set>
                                      <p:cBhvr>
                                        <p:cTn id="134" dur="1" fill="hold">
                                          <p:stCondLst>
                                            <p:cond delay="0"/>
                                          </p:stCondLst>
                                        </p:cTn>
                                        <p:tgtEl>
                                          <p:spTgt spid="40"/>
                                        </p:tgtEl>
                                        <p:attrNameLst>
                                          <p:attrName>style.visibility</p:attrName>
                                        </p:attrNameLst>
                                      </p:cBhvr>
                                      <p:to>
                                        <p:strVal val="visible"/>
                                      </p:to>
                                    </p:set>
                                    <p:anim calcmode="lin" valueType="num">
                                      <p:cBhvr additive="base">
                                        <p:cTn id="135" dur="500" fill="hold"/>
                                        <p:tgtEl>
                                          <p:spTgt spid="40"/>
                                        </p:tgtEl>
                                        <p:attrNameLst>
                                          <p:attrName>ppt_x</p:attrName>
                                        </p:attrNameLst>
                                      </p:cBhvr>
                                      <p:tavLst>
                                        <p:tav tm="0">
                                          <p:val>
                                            <p:strVal val="#ppt_x"/>
                                          </p:val>
                                        </p:tav>
                                        <p:tav tm="100000">
                                          <p:val>
                                            <p:strVal val="#ppt_x"/>
                                          </p:val>
                                        </p:tav>
                                      </p:tavLst>
                                    </p:anim>
                                    <p:anim calcmode="lin" valueType="num">
                                      <p:cBhvr additive="base">
                                        <p:cTn id="136" dur="500" fill="hold"/>
                                        <p:tgtEl>
                                          <p:spTgt spid="40"/>
                                        </p:tgtEl>
                                        <p:attrNameLst>
                                          <p:attrName>ppt_y</p:attrName>
                                        </p:attrNameLst>
                                      </p:cBhvr>
                                      <p:tavLst>
                                        <p:tav tm="0">
                                          <p:val>
                                            <p:strVal val="#ppt_y+0.1"/>
                                          </p:val>
                                        </p:tav>
                                        <p:tav tm="100000">
                                          <p:val>
                                            <p:strVal val="#ppt_y"/>
                                          </p:val>
                                        </p:tav>
                                      </p:tavLst>
                                    </p:anim>
                                    <p:animEffect transition="in" filter="fade">
                                      <p:cBhvr>
                                        <p:cTn id="137" dur="500"/>
                                        <p:tgtEl>
                                          <p:spTgt spid="40"/>
                                        </p:tgtEl>
                                      </p:cBhvr>
                                    </p:animEffect>
                                  </p:childTnLst>
                                </p:cTn>
                              </p:par>
                              <p:par>
                                <p:cTn id="143" presetID="2" presetClass="entr" presetSubtype="4" fill="hold" grpId="0" nodeType="withEffect">
                                  <p:stCondLst>
                                    <p:cond delay="0"/>
                                  </p:stCondLst>
                                  <p:childTnLst>
                                    <p:set>
                                      <p:cBhvr>
                                        <p:cTn id="139" dur="1" fill="hold">
                                          <p:stCondLst>
                                            <p:cond delay="0"/>
                                          </p:stCondLst>
                                        </p:cTn>
                                        <p:tgtEl>
                                          <p:spTgt spid="41"/>
                                        </p:tgtEl>
                                        <p:attrNameLst>
                                          <p:attrName>style.visibility</p:attrName>
                                        </p:attrNameLst>
                                      </p:cBhvr>
                                      <p:to>
                                        <p:strVal val="visible"/>
                                      </p:to>
                                    </p:set>
                                    <p:anim calcmode="lin" valueType="num">
                                      <p:cBhvr additive="base">
                                        <p:cTn id="140" dur="500" fill="hold"/>
                                        <p:tgtEl>
                                          <p:spTgt spid="41"/>
                                        </p:tgtEl>
                                        <p:attrNameLst>
                                          <p:attrName>ppt_x</p:attrName>
                                        </p:attrNameLst>
                                      </p:cBhvr>
                                      <p:tavLst>
                                        <p:tav tm="0">
                                          <p:val>
                                            <p:strVal val="#ppt_x"/>
                                          </p:val>
                                        </p:tav>
                                        <p:tav tm="100000">
                                          <p:val>
                                            <p:strVal val="#ppt_x"/>
                                          </p:val>
                                        </p:tav>
                                      </p:tavLst>
                                    </p:anim>
                                    <p:anim calcmode="lin" valueType="num">
                                      <p:cBhvr additive="base">
                                        <p:cTn id="141" dur="500" fill="hold"/>
                                        <p:tgtEl>
                                          <p:spTgt spid="41"/>
                                        </p:tgtEl>
                                        <p:attrNameLst>
                                          <p:attrName>ppt_y</p:attrName>
                                        </p:attrNameLst>
                                      </p:cBhvr>
                                      <p:tavLst>
                                        <p:tav tm="0">
                                          <p:val>
                                            <p:strVal val="#ppt_y+0.1"/>
                                          </p:val>
                                        </p:tav>
                                        <p:tav tm="100000">
                                          <p:val>
                                            <p:strVal val="#ppt_y"/>
                                          </p:val>
                                        </p:tav>
                                      </p:tavLst>
                                    </p:anim>
                                    <p:animEffect transition="in" filter="fade">
                                      <p:cBhvr>
                                        <p:cTn id="142" dur="500"/>
                                        <p:tgtEl>
                                          <p:spTgt spid="41"/>
                                        </p:tgtEl>
                                      </p:cBhvr>
                                    </p:animEffect>
                                  </p:childTnLst>
                                </p:cTn>
                              </p:par>
                              <p:par>
                                <p:cTn id="148" presetID="2" presetClass="entr" presetSubtype="4" fill="hold" grpId="0" nodeType="withEffect">
                                  <p:stCondLst>
                                    <p:cond delay="0"/>
                                  </p:stCondLst>
                                  <p:childTnLst>
                                    <p:set>
                                      <p:cBhvr>
                                        <p:cTn id="144" dur="1" fill="hold">
                                          <p:stCondLst>
                                            <p:cond delay="0"/>
                                          </p:stCondLst>
                                        </p:cTn>
                                        <p:tgtEl>
                                          <p:spTgt spid="42"/>
                                        </p:tgtEl>
                                        <p:attrNameLst>
                                          <p:attrName>style.visibility</p:attrName>
                                        </p:attrNameLst>
                                      </p:cBhvr>
                                      <p:to>
                                        <p:strVal val="visible"/>
                                      </p:to>
                                    </p:set>
                                    <p:anim calcmode="lin" valueType="num">
                                      <p:cBhvr additive="base">
                                        <p:cTn id="145" dur="500" fill="hold"/>
                                        <p:tgtEl>
                                          <p:spTgt spid="42"/>
                                        </p:tgtEl>
                                        <p:attrNameLst>
                                          <p:attrName>ppt_x</p:attrName>
                                        </p:attrNameLst>
                                      </p:cBhvr>
                                      <p:tavLst>
                                        <p:tav tm="0">
                                          <p:val>
                                            <p:strVal val="#ppt_x"/>
                                          </p:val>
                                        </p:tav>
                                        <p:tav tm="100000">
                                          <p:val>
                                            <p:strVal val="#ppt_x"/>
                                          </p:val>
                                        </p:tav>
                                      </p:tavLst>
                                    </p:anim>
                                    <p:anim calcmode="lin" valueType="num">
                                      <p:cBhvr additive="base">
                                        <p:cTn id="146" dur="500" fill="hold"/>
                                        <p:tgtEl>
                                          <p:spTgt spid="42"/>
                                        </p:tgtEl>
                                        <p:attrNameLst>
                                          <p:attrName>ppt_y</p:attrName>
                                        </p:attrNameLst>
                                      </p:cBhvr>
                                      <p:tavLst>
                                        <p:tav tm="0">
                                          <p:val>
                                            <p:strVal val="#ppt_y+0.1"/>
                                          </p:val>
                                        </p:tav>
                                        <p:tav tm="100000">
                                          <p:val>
                                            <p:strVal val="#ppt_y"/>
                                          </p:val>
                                        </p:tav>
                                      </p:tavLst>
                                    </p:anim>
                                    <p:animEffect transition="in" filter="fade">
                                      <p:cBhvr>
                                        <p:cTn id="147" dur="500"/>
                                        <p:tgtEl>
                                          <p:spTgt spid="42"/>
                                        </p:tgtEl>
                                      </p:cBhvr>
                                    </p:animEffect>
                                  </p:childTnLst>
                                </p:cTn>
                              </p:par>
                              <p:par>
                                <p:cTn id="153" presetID="2" presetClass="entr" presetSubtype="4" fill="hold" grpId="0" nodeType="withEffect">
                                  <p:stCondLst>
                                    <p:cond delay="0"/>
                                  </p:stCondLst>
                                  <p:childTnLst>
                                    <p:set>
                                      <p:cBhvr>
                                        <p:cTn id="149" dur="1" fill="hold">
                                          <p:stCondLst>
                                            <p:cond delay="0"/>
                                          </p:stCondLst>
                                        </p:cTn>
                                        <p:tgtEl>
                                          <p:spTgt spid="43"/>
                                        </p:tgtEl>
                                        <p:attrNameLst>
                                          <p:attrName>style.visibility</p:attrName>
                                        </p:attrNameLst>
                                      </p:cBhvr>
                                      <p:to>
                                        <p:strVal val="visible"/>
                                      </p:to>
                                    </p:set>
                                    <p:anim calcmode="lin" valueType="num">
                                      <p:cBhvr additive="base">
                                        <p:cTn id="150" dur="500" fill="hold"/>
                                        <p:tgtEl>
                                          <p:spTgt spid="43"/>
                                        </p:tgtEl>
                                        <p:attrNameLst>
                                          <p:attrName>ppt_x</p:attrName>
                                        </p:attrNameLst>
                                      </p:cBhvr>
                                      <p:tavLst>
                                        <p:tav tm="0">
                                          <p:val>
                                            <p:strVal val="#ppt_x"/>
                                          </p:val>
                                        </p:tav>
                                        <p:tav tm="100000">
                                          <p:val>
                                            <p:strVal val="#ppt_x"/>
                                          </p:val>
                                        </p:tav>
                                      </p:tavLst>
                                    </p:anim>
                                    <p:anim calcmode="lin" valueType="num">
                                      <p:cBhvr additive="base">
                                        <p:cTn id="151" dur="500" fill="hold"/>
                                        <p:tgtEl>
                                          <p:spTgt spid="43"/>
                                        </p:tgtEl>
                                        <p:attrNameLst>
                                          <p:attrName>ppt_y</p:attrName>
                                        </p:attrNameLst>
                                      </p:cBhvr>
                                      <p:tavLst>
                                        <p:tav tm="0">
                                          <p:val>
                                            <p:strVal val="#ppt_y+0.1"/>
                                          </p:val>
                                        </p:tav>
                                        <p:tav tm="100000">
                                          <p:val>
                                            <p:strVal val="#ppt_y"/>
                                          </p:val>
                                        </p:tav>
                                      </p:tavLst>
                                    </p:anim>
                                    <p:animEffect transition="in" filter="fade">
                                      <p:cBhvr>
                                        <p:cTn id="152" dur="500"/>
                                        <p:tgtEl>
                                          <p:spTgt spid="43"/>
                                        </p:tgtEl>
                                      </p:cBhvr>
                                    </p:animEffect>
                                  </p:childTnLst>
                                </p:cTn>
                              </p:par>
                              <p:par>
                                <p:cTn id="158" presetID="2" presetClass="entr" presetSubtype="4" fill="hold" grpId="0" nodeType="withEffect">
                                  <p:stCondLst>
                                    <p:cond delay="100"/>
                                  </p:stCondLst>
                                  <p:childTnLst>
                                    <p:set>
                                      <p:cBhvr>
                                        <p:cTn id="154" dur="1" fill="hold">
                                          <p:stCondLst>
                                            <p:cond delay="0"/>
                                          </p:stCondLst>
                                        </p:cTn>
                                        <p:tgtEl>
                                          <p:spTgt spid="44"/>
                                        </p:tgtEl>
                                        <p:attrNameLst>
                                          <p:attrName>style.visibility</p:attrName>
                                        </p:attrNameLst>
                                      </p:cBhvr>
                                      <p:to>
                                        <p:strVal val="visible"/>
                                      </p:to>
                                    </p:set>
                                    <p:anim calcmode="lin" valueType="num">
                                      <p:cBhvr additive="base">
                                        <p:cTn id="155" dur="500" fill="hold"/>
                                        <p:tgtEl>
                                          <p:spTgt spid="44"/>
                                        </p:tgtEl>
                                        <p:attrNameLst>
                                          <p:attrName>ppt_x</p:attrName>
                                        </p:attrNameLst>
                                      </p:cBhvr>
                                      <p:tavLst>
                                        <p:tav tm="0">
                                          <p:val>
                                            <p:strVal val="#ppt_x"/>
                                          </p:val>
                                        </p:tav>
                                        <p:tav tm="100000">
                                          <p:val>
                                            <p:strVal val="#ppt_x"/>
                                          </p:val>
                                        </p:tav>
                                      </p:tavLst>
                                    </p:anim>
                                    <p:anim calcmode="lin" valueType="num">
                                      <p:cBhvr additive="base">
                                        <p:cTn id="156" dur="500" fill="hold"/>
                                        <p:tgtEl>
                                          <p:spTgt spid="44"/>
                                        </p:tgtEl>
                                        <p:attrNameLst>
                                          <p:attrName>ppt_y</p:attrName>
                                        </p:attrNameLst>
                                      </p:cBhvr>
                                      <p:tavLst>
                                        <p:tav tm="0">
                                          <p:val>
                                            <p:strVal val="#ppt_y+0.1"/>
                                          </p:val>
                                        </p:tav>
                                        <p:tav tm="100000">
                                          <p:val>
                                            <p:strVal val="#ppt_y"/>
                                          </p:val>
                                        </p:tav>
                                      </p:tavLst>
                                    </p:anim>
                                    <p:animEffect transition="in" filter="fade">
                                      <p:cBhvr>
                                        <p:cTn id="157" dur="500"/>
                                        <p:tgtEl>
                                          <p:spTgt spid="44"/>
                                        </p:tgtEl>
                                      </p:cBhvr>
                                    </p:animEffect>
                                  </p:childTnLst>
                                </p:cTn>
                              </p:par>
                              <p:par>
                                <p:cTn id="163" presetID="2" presetClass="entr" presetSubtype="4" fill="hold" grpId="0" nodeType="withEffect">
                                  <p:stCondLst>
                                    <p:cond delay="100"/>
                                  </p:stCondLst>
                                  <p:childTnLst>
                                    <p:set>
                                      <p:cBhvr>
                                        <p:cTn id="159" dur="1" fill="hold">
                                          <p:stCondLst>
                                            <p:cond delay="0"/>
                                          </p:stCondLst>
                                        </p:cTn>
                                        <p:tgtEl>
                                          <p:spTgt spid="45"/>
                                        </p:tgtEl>
                                        <p:attrNameLst>
                                          <p:attrName>style.visibility</p:attrName>
                                        </p:attrNameLst>
                                      </p:cBhvr>
                                      <p:to>
                                        <p:strVal val="visible"/>
                                      </p:to>
                                    </p:set>
                                    <p:anim calcmode="lin" valueType="num">
                                      <p:cBhvr additive="base">
                                        <p:cTn id="160" dur="500" fill="hold"/>
                                        <p:tgtEl>
                                          <p:spTgt spid="45"/>
                                        </p:tgtEl>
                                        <p:attrNameLst>
                                          <p:attrName>ppt_x</p:attrName>
                                        </p:attrNameLst>
                                      </p:cBhvr>
                                      <p:tavLst>
                                        <p:tav tm="0">
                                          <p:val>
                                            <p:strVal val="#ppt_x"/>
                                          </p:val>
                                        </p:tav>
                                        <p:tav tm="100000">
                                          <p:val>
                                            <p:strVal val="#ppt_x"/>
                                          </p:val>
                                        </p:tav>
                                      </p:tavLst>
                                    </p:anim>
                                    <p:anim calcmode="lin" valueType="num">
                                      <p:cBhvr additive="base">
                                        <p:cTn id="161" dur="500" fill="hold"/>
                                        <p:tgtEl>
                                          <p:spTgt spid="45"/>
                                        </p:tgtEl>
                                        <p:attrNameLst>
                                          <p:attrName>ppt_y</p:attrName>
                                        </p:attrNameLst>
                                      </p:cBhvr>
                                      <p:tavLst>
                                        <p:tav tm="0">
                                          <p:val>
                                            <p:strVal val="#ppt_y+0.1"/>
                                          </p:val>
                                        </p:tav>
                                        <p:tav tm="100000">
                                          <p:val>
                                            <p:strVal val="#ppt_y"/>
                                          </p:val>
                                        </p:tav>
                                      </p:tavLst>
                                    </p:anim>
                                    <p:animEffect transition="in" filter="fade">
                                      <p:cBhvr>
                                        <p:cTn id="162" dur="500"/>
                                        <p:tgtEl>
                                          <p:spTgt spid="45"/>
                                        </p:tgtEl>
                                      </p:cBhvr>
                                    </p:animEffect>
                                  </p:childTnLst>
                                </p:cTn>
                              </p:par>
                              <p:par>
                                <p:cTn id="168" presetID="2" presetClass="entr" presetSubtype="4" fill="hold" grpId="0" nodeType="withEffect">
                                  <p:stCondLst>
                                    <p:cond delay="100"/>
                                  </p:stCondLst>
                                  <p:childTnLst>
                                    <p:set>
                                      <p:cBhvr>
                                        <p:cTn id="164" dur="1" fill="hold">
                                          <p:stCondLst>
                                            <p:cond delay="0"/>
                                          </p:stCondLst>
                                        </p:cTn>
                                        <p:tgtEl>
                                          <p:spTgt spid="46"/>
                                        </p:tgtEl>
                                        <p:attrNameLst>
                                          <p:attrName>style.visibility</p:attrName>
                                        </p:attrNameLst>
                                      </p:cBhvr>
                                      <p:to>
                                        <p:strVal val="visible"/>
                                      </p:to>
                                    </p:set>
                                    <p:anim calcmode="lin" valueType="num">
                                      <p:cBhvr additive="base">
                                        <p:cTn id="165" dur="500" fill="hold"/>
                                        <p:tgtEl>
                                          <p:spTgt spid="46"/>
                                        </p:tgtEl>
                                        <p:attrNameLst>
                                          <p:attrName>ppt_x</p:attrName>
                                        </p:attrNameLst>
                                      </p:cBhvr>
                                      <p:tavLst>
                                        <p:tav tm="0">
                                          <p:val>
                                            <p:strVal val="#ppt_x"/>
                                          </p:val>
                                        </p:tav>
                                        <p:tav tm="100000">
                                          <p:val>
                                            <p:strVal val="#ppt_x"/>
                                          </p:val>
                                        </p:tav>
                                      </p:tavLst>
                                    </p:anim>
                                    <p:anim calcmode="lin" valueType="num">
                                      <p:cBhvr additive="base">
                                        <p:cTn id="166" dur="500" fill="hold"/>
                                        <p:tgtEl>
                                          <p:spTgt spid="46"/>
                                        </p:tgtEl>
                                        <p:attrNameLst>
                                          <p:attrName>ppt_y</p:attrName>
                                        </p:attrNameLst>
                                      </p:cBhvr>
                                      <p:tavLst>
                                        <p:tav tm="0">
                                          <p:val>
                                            <p:strVal val="#ppt_y+0.1"/>
                                          </p:val>
                                        </p:tav>
                                        <p:tav tm="100000">
                                          <p:val>
                                            <p:strVal val="#ppt_y"/>
                                          </p:val>
                                        </p:tav>
                                      </p:tavLst>
                                    </p:anim>
                                    <p:animEffect transition="in" filter="fade">
                                      <p:cBhvr>
                                        <p:cTn id="167" dur="500"/>
                                        <p:tgtEl>
                                          <p:spTgt spid="46"/>
                                        </p:tgtEl>
                                      </p:cBhvr>
                                    </p:animEffect>
                                  </p:childTnLst>
                                </p:cTn>
                              </p:par>
                            </p:childTnLst>
                          </p:cTn>
                        </p:par>
                      </p:childTnLst>
                    </p:cTn>
                  </p:par>
                  <p:par>
                    <p:cTn id="169" fill="hold">
                      <p:stCondLst>
                        <p:cond delay="indefinite"/>
                      </p:stCondLst>
                      <p:childTnLst>
                        <p:par>
                          <p:cTn id="170" fill="hold">
                            <p:stCondLst>
                              <p:cond delay="0"/>
                            </p:stCondLst>
                            <p:childTnLst>
                              <p:par>
                                <p:cTn id="175" presetID="2" presetClass="entr" presetSubtype="4" fill="hold" grpId="0" nodeType="clickEffect">
                                  <p:stCondLst>
                                    <p:cond delay="0"/>
                                  </p:stCondLst>
                                  <p:childTnLst>
                                    <p:set>
                                      <p:cBhvr>
                                        <p:cTn id="171" dur="1" fill="hold">
                                          <p:stCondLst>
                                            <p:cond delay="0"/>
                                          </p:stCondLst>
                                        </p:cTn>
                                        <p:tgtEl>
                                          <p:spTgt spid="47"/>
                                        </p:tgtEl>
                                        <p:attrNameLst>
                                          <p:attrName>style.visibility</p:attrName>
                                        </p:attrNameLst>
                                      </p:cBhvr>
                                      <p:to>
                                        <p:strVal val="visible"/>
                                      </p:to>
                                    </p:set>
                                    <p:anim calcmode="lin" valueType="num">
                                      <p:cBhvr additive="base">
                                        <p:cTn id="172" dur="500" fill="hold"/>
                                        <p:tgtEl>
                                          <p:spTgt spid="47"/>
                                        </p:tgtEl>
                                        <p:attrNameLst>
                                          <p:attrName>ppt_x</p:attrName>
                                        </p:attrNameLst>
                                      </p:cBhvr>
                                      <p:tavLst>
                                        <p:tav tm="0">
                                          <p:val>
                                            <p:strVal val="#ppt_x"/>
                                          </p:val>
                                        </p:tav>
                                        <p:tav tm="100000">
                                          <p:val>
                                            <p:strVal val="#ppt_x"/>
                                          </p:val>
                                        </p:tav>
                                      </p:tavLst>
                                    </p:anim>
                                    <p:anim calcmode="lin" valueType="num">
                                      <p:cBhvr additive="base">
                                        <p:cTn id="173" dur="500" fill="hold"/>
                                        <p:tgtEl>
                                          <p:spTgt spid="47"/>
                                        </p:tgtEl>
                                        <p:attrNameLst>
                                          <p:attrName>ppt_y</p:attrName>
                                        </p:attrNameLst>
                                      </p:cBhvr>
                                      <p:tavLst>
                                        <p:tav tm="0">
                                          <p:val>
                                            <p:strVal val="#ppt_y+0.1"/>
                                          </p:val>
                                        </p:tav>
                                        <p:tav tm="100000">
                                          <p:val>
                                            <p:strVal val="#ppt_y"/>
                                          </p:val>
                                        </p:tav>
                                      </p:tavLst>
                                    </p:anim>
                                    <p:animEffect transition="in" filter="fade">
                                      <p:cBhvr>
                                        <p:cTn id="174" dur="500"/>
                                        <p:tgtEl>
                                          <p:spTgt spid="47"/>
                                        </p:tgtEl>
                                      </p:cBhvr>
                                    </p:animEffect>
                                  </p:childTnLst>
                                </p:cTn>
                              </p:par>
                              <p:par>
                                <p:cTn id="180" presetID="2" presetClass="entr" presetSubtype="4" fill="hold" grpId="0" nodeType="withEffect">
                                  <p:stCondLst>
                                    <p:cond delay="0"/>
                                  </p:stCondLst>
                                  <p:childTnLst>
                                    <p:set>
                                      <p:cBhvr>
                                        <p:cTn id="176" dur="1" fill="hold">
                                          <p:stCondLst>
                                            <p:cond delay="0"/>
                                          </p:stCondLst>
                                        </p:cTn>
                                        <p:tgtEl>
                                          <p:spTgt spid="48"/>
                                        </p:tgtEl>
                                        <p:attrNameLst>
                                          <p:attrName>style.visibility</p:attrName>
                                        </p:attrNameLst>
                                      </p:cBhvr>
                                      <p:to>
                                        <p:strVal val="visible"/>
                                      </p:to>
                                    </p:set>
                                    <p:anim calcmode="lin" valueType="num">
                                      <p:cBhvr additive="base">
                                        <p:cTn id="177" dur="500" fill="hold"/>
                                        <p:tgtEl>
                                          <p:spTgt spid="48"/>
                                        </p:tgtEl>
                                        <p:attrNameLst>
                                          <p:attrName>ppt_x</p:attrName>
                                        </p:attrNameLst>
                                      </p:cBhvr>
                                      <p:tavLst>
                                        <p:tav tm="0">
                                          <p:val>
                                            <p:strVal val="#ppt_x"/>
                                          </p:val>
                                        </p:tav>
                                        <p:tav tm="100000">
                                          <p:val>
                                            <p:strVal val="#ppt_x"/>
                                          </p:val>
                                        </p:tav>
                                      </p:tavLst>
                                    </p:anim>
                                    <p:anim calcmode="lin" valueType="num">
                                      <p:cBhvr additive="base">
                                        <p:cTn id="178" dur="500" fill="hold"/>
                                        <p:tgtEl>
                                          <p:spTgt spid="48"/>
                                        </p:tgtEl>
                                        <p:attrNameLst>
                                          <p:attrName>ppt_y</p:attrName>
                                        </p:attrNameLst>
                                      </p:cBhvr>
                                      <p:tavLst>
                                        <p:tav tm="0">
                                          <p:val>
                                            <p:strVal val="#ppt_y+0.1"/>
                                          </p:val>
                                        </p:tav>
                                        <p:tav tm="100000">
                                          <p:val>
                                            <p:strVal val="#ppt_y"/>
                                          </p:val>
                                        </p:tav>
                                      </p:tavLst>
                                    </p:anim>
                                    <p:animEffect transition="in" filter="fade">
                                      <p:cBhvr>
                                        <p:cTn id="179" dur="500"/>
                                        <p:tgtEl>
                                          <p:spTgt spid="48"/>
                                        </p:tgtEl>
                                      </p:cBhvr>
                                    </p:animEffect>
                                  </p:childTnLst>
                                </p:cTn>
                              </p:par>
                              <p:par>
                                <p:cTn id="185" presetID="2" presetClass="entr" presetSubtype="4" fill="hold" grpId="0" nodeType="withEffect">
                                  <p:stCondLst>
                                    <p:cond delay="0"/>
                                  </p:stCondLst>
                                  <p:childTnLst>
                                    <p:set>
                                      <p:cBhvr>
                                        <p:cTn id="181" dur="1" fill="hold">
                                          <p:stCondLst>
                                            <p:cond delay="0"/>
                                          </p:stCondLst>
                                        </p:cTn>
                                        <p:tgtEl>
                                          <p:spTgt spid="49"/>
                                        </p:tgtEl>
                                        <p:attrNameLst>
                                          <p:attrName>style.visibility</p:attrName>
                                        </p:attrNameLst>
                                      </p:cBhvr>
                                      <p:to>
                                        <p:strVal val="visible"/>
                                      </p:to>
                                    </p:set>
                                    <p:anim calcmode="lin" valueType="num">
                                      <p:cBhvr additive="base">
                                        <p:cTn id="182" dur="500" fill="hold"/>
                                        <p:tgtEl>
                                          <p:spTgt spid="49"/>
                                        </p:tgtEl>
                                        <p:attrNameLst>
                                          <p:attrName>ppt_x</p:attrName>
                                        </p:attrNameLst>
                                      </p:cBhvr>
                                      <p:tavLst>
                                        <p:tav tm="0">
                                          <p:val>
                                            <p:strVal val="#ppt_x"/>
                                          </p:val>
                                        </p:tav>
                                        <p:tav tm="100000">
                                          <p:val>
                                            <p:strVal val="#ppt_x"/>
                                          </p:val>
                                        </p:tav>
                                      </p:tavLst>
                                    </p:anim>
                                    <p:anim calcmode="lin" valueType="num">
                                      <p:cBhvr additive="base">
                                        <p:cTn id="183" dur="500" fill="hold"/>
                                        <p:tgtEl>
                                          <p:spTgt spid="49"/>
                                        </p:tgtEl>
                                        <p:attrNameLst>
                                          <p:attrName>ppt_y</p:attrName>
                                        </p:attrNameLst>
                                      </p:cBhvr>
                                      <p:tavLst>
                                        <p:tav tm="0">
                                          <p:val>
                                            <p:strVal val="#ppt_y+0.1"/>
                                          </p:val>
                                        </p:tav>
                                        <p:tav tm="100000">
                                          <p:val>
                                            <p:strVal val="#ppt_y"/>
                                          </p:val>
                                        </p:tav>
                                      </p:tavLst>
                                    </p:anim>
                                    <p:animEffect transition="in" filter="fade">
                                      <p:cBhvr>
                                        <p:cTn id="18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 Producer Client for Your Language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Java is Kafka's native language - and far from the only one</a:t>
            </a:r>
          </a:p>
        </p:txBody>
      </p:sp>
      <p:sp>
        <p:nvSpPr>
          <p:cNvPr id="11" name="a1u_card10"/>
          <p:cNvSpPr/>
          <p:nvPr/>
        </p:nvSpPr>
        <p:spPr>
          <a:xfrm>
            <a:off x="457200" y="1280160"/>
            <a:ext cx="2615184" cy="896112"/>
          </a:xfrm>
          <a:prstGeom prst="roundRect">
            <a:avLst>
              <a:gd name="adj" fmla="val 1224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2615184"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t12"/>
          <p:cNvSpPr txBox="1"/>
          <p:nvPr/>
        </p:nvSpPr>
        <p:spPr>
          <a:xfrm>
            <a:off x="603504"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Java</a:t>
            </a:r>
          </a:p>
        </p:txBody>
      </p:sp>
      <p:sp>
        <p:nvSpPr>
          <p:cNvPr id="14" name="a1ud60_tb13"/>
          <p:cNvSpPr txBox="1"/>
          <p:nvPr/>
        </p:nvSpPr>
        <p:spPr>
          <a:xfrm>
            <a:off x="603504" y="1682495"/>
            <a:ext cx="2340864" cy="438912"/>
          </a:xfrm>
          <a:prstGeom prst="rect">
            <a:avLst/>
          </a:prstGeom>
          <a:noFill/>
        </p:spPr>
        <p:txBody>
          <a:bodyPr wrap="square" lIns="0" tIns="0" rIns="0" bIns="0" anchor="t">
            <a:spAutoFit/>
          </a:bodyPr>
          <a:lstStyle/>
          <a:p>
            <a:pPr algn="l"/>
            <a:r>
              <a:rPr sz="850" b="0">
                <a:solidFill>
                  <a:srgbClr val="44403C"/>
                </a:solidFill>
                <a:latin typeface="Segoe UI"/>
              </a:rPr>
              <a:t>Apache Kafka's own client - new features land here first</a:t>
            </a:r>
          </a:p>
        </p:txBody>
      </p:sp>
      <p:sp>
        <p:nvSpPr>
          <p:cNvPr id="15" name="a2u_card14"/>
          <p:cNvSpPr/>
          <p:nvPr/>
        </p:nvSpPr>
        <p:spPr>
          <a:xfrm>
            <a:off x="3264408" y="1280160"/>
            <a:ext cx="2615184" cy="896112"/>
          </a:xfrm>
          <a:prstGeom prst="roundRect">
            <a:avLst>
              <a:gd name="adj" fmla="val 1224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acc15"/>
          <p:cNvSpPr/>
          <p:nvPr/>
        </p:nvSpPr>
        <p:spPr>
          <a:xfrm>
            <a:off x="3264408" y="1280160"/>
            <a:ext cx="2615184"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tt16"/>
          <p:cNvSpPr txBox="1"/>
          <p:nvPr/>
        </p:nvSpPr>
        <p:spPr>
          <a:xfrm>
            <a:off x="3410712"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Python</a:t>
            </a:r>
          </a:p>
        </p:txBody>
      </p:sp>
      <p:sp>
        <p:nvSpPr>
          <p:cNvPr id="18" name="a2ud60_tb17"/>
          <p:cNvSpPr txBox="1"/>
          <p:nvPr/>
        </p:nvSpPr>
        <p:spPr>
          <a:xfrm>
            <a:off x="3410712" y="1682495"/>
            <a:ext cx="2340864" cy="438912"/>
          </a:xfrm>
          <a:prstGeom prst="rect">
            <a:avLst/>
          </a:prstGeom>
          <a:noFill/>
        </p:spPr>
        <p:txBody>
          <a:bodyPr wrap="square" lIns="0" tIns="0" rIns="0" bIns="0" anchor="t">
            <a:spAutoFit/>
          </a:bodyPr>
          <a:lstStyle/>
          <a:p>
            <a:pPr algn="l"/>
            <a:r>
              <a:rPr sz="850" b="0">
                <a:solidFill>
                  <a:srgbClr val="44403C"/>
                </a:solidFill>
                <a:latin typeface="Segoe UI"/>
              </a:rPr>
              <a:t>confluent-kafka</a:t>
            </a:r>
          </a:p>
        </p:txBody>
      </p:sp>
      <p:sp>
        <p:nvSpPr>
          <p:cNvPr id="19" name="a2u_card18"/>
          <p:cNvSpPr/>
          <p:nvPr/>
        </p:nvSpPr>
        <p:spPr>
          <a:xfrm>
            <a:off x="6071616" y="1280160"/>
            <a:ext cx="2615184" cy="896112"/>
          </a:xfrm>
          <a:prstGeom prst="roundRect">
            <a:avLst>
              <a:gd name="adj" fmla="val 1224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_acc19"/>
          <p:cNvSpPr/>
          <p:nvPr/>
        </p:nvSpPr>
        <p:spPr>
          <a:xfrm>
            <a:off x="6071616" y="1280160"/>
            <a:ext cx="2615184"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tt20"/>
          <p:cNvSpPr txBox="1"/>
          <p:nvPr/>
        </p:nvSpPr>
        <p:spPr>
          <a:xfrm>
            <a:off x="6217920" y="1389888"/>
            <a:ext cx="2340864" cy="256032"/>
          </a:xfrm>
          <a:prstGeom prst="rect">
            <a:avLst/>
          </a:prstGeom>
          <a:noFill/>
        </p:spPr>
        <p:txBody>
          <a:bodyPr wrap="square" lIns="0" tIns="0" rIns="0" bIns="0" anchor="ctr">
            <a:spAutoFit/>
          </a:bodyPr>
          <a:lstStyle/>
          <a:p>
            <a:pPr algn="l"/>
            <a:r>
              <a:rPr sz="1150" b="1">
                <a:solidFill>
                  <a:srgbClr val="1C1917"/>
                </a:solidFill>
                <a:latin typeface="Segoe UI"/>
              </a:rPr>
              <a:t>Go</a:t>
            </a:r>
          </a:p>
        </p:txBody>
      </p:sp>
      <p:sp>
        <p:nvSpPr>
          <p:cNvPr id="22" name="a2ud60_tb21"/>
          <p:cNvSpPr txBox="1"/>
          <p:nvPr/>
        </p:nvSpPr>
        <p:spPr>
          <a:xfrm>
            <a:off x="6217920" y="1682495"/>
            <a:ext cx="2340864" cy="438912"/>
          </a:xfrm>
          <a:prstGeom prst="rect">
            <a:avLst/>
          </a:prstGeom>
          <a:noFill/>
        </p:spPr>
        <p:txBody>
          <a:bodyPr wrap="square" lIns="0" tIns="0" rIns="0" bIns="0" anchor="t">
            <a:spAutoFit/>
          </a:bodyPr>
          <a:lstStyle/>
          <a:p>
            <a:pPr algn="l"/>
            <a:r>
              <a:rPr sz="850" b="0">
                <a:solidFill>
                  <a:srgbClr val="44403C"/>
                </a:solidFill>
                <a:latin typeface="Segoe UI"/>
              </a:rPr>
              <a:t>confluent-kafka-go</a:t>
            </a:r>
          </a:p>
        </p:txBody>
      </p:sp>
      <p:sp>
        <p:nvSpPr>
          <p:cNvPr id="23" name="a2u_card22"/>
          <p:cNvSpPr/>
          <p:nvPr/>
        </p:nvSpPr>
        <p:spPr>
          <a:xfrm>
            <a:off x="457200" y="2304288"/>
            <a:ext cx="2615184" cy="896112"/>
          </a:xfrm>
          <a:prstGeom prst="roundRect">
            <a:avLst>
              <a:gd name="adj" fmla="val 1224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acc23"/>
          <p:cNvSpPr/>
          <p:nvPr/>
        </p:nvSpPr>
        <p:spPr>
          <a:xfrm>
            <a:off x="457200" y="2304288"/>
            <a:ext cx="2615184"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tt24"/>
          <p:cNvSpPr txBox="1"/>
          <p:nvPr/>
        </p:nvSpPr>
        <p:spPr>
          <a:xfrm>
            <a:off x="603504" y="2414016"/>
            <a:ext cx="2340864" cy="256032"/>
          </a:xfrm>
          <a:prstGeom prst="rect">
            <a:avLst/>
          </a:prstGeom>
          <a:noFill/>
        </p:spPr>
        <p:txBody>
          <a:bodyPr wrap="square" lIns="0" tIns="0" rIns="0" bIns="0" anchor="ctr">
            <a:spAutoFit/>
          </a:bodyPr>
          <a:lstStyle/>
          <a:p>
            <a:pPr algn="l"/>
            <a:r>
              <a:rPr sz="1150" b="1">
                <a:solidFill>
                  <a:srgbClr val="1C1917"/>
                </a:solidFill>
                <a:latin typeface="Segoe UI"/>
              </a:rPr>
              <a:t>JavaScript</a:t>
            </a:r>
          </a:p>
        </p:txBody>
      </p:sp>
      <p:sp>
        <p:nvSpPr>
          <p:cNvPr id="26" name="a2ud60_tb25"/>
          <p:cNvSpPr txBox="1"/>
          <p:nvPr/>
        </p:nvSpPr>
        <p:spPr>
          <a:xfrm>
            <a:off x="603504" y="2706624"/>
            <a:ext cx="2340864" cy="438912"/>
          </a:xfrm>
          <a:prstGeom prst="rect">
            <a:avLst/>
          </a:prstGeom>
          <a:noFill/>
        </p:spPr>
        <p:txBody>
          <a:bodyPr wrap="square" lIns="0" tIns="0" rIns="0" bIns="0" anchor="t">
            <a:spAutoFit/>
          </a:bodyPr>
          <a:lstStyle/>
          <a:p>
            <a:pPr algn="l"/>
            <a:r>
              <a:rPr sz="850" b="0">
                <a:solidFill>
                  <a:srgbClr val="44403C"/>
                </a:solidFill>
                <a:latin typeface="Segoe UI"/>
              </a:rPr>
              <a:t>@confluentinc/kafka-javascript</a:t>
            </a:r>
          </a:p>
        </p:txBody>
      </p:sp>
      <p:sp>
        <p:nvSpPr>
          <p:cNvPr id="27" name="a2u_card26"/>
          <p:cNvSpPr/>
          <p:nvPr/>
        </p:nvSpPr>
        <p:spPr>
          <a:xfrm>
            <a:off x="3264408" y="2304288"/>
            <a:ext cx="2615184" cy="896112"/>
          </a:xfrm>
          <a:prstGeom prst="roundRect">
            <a:avLst>
              <a:gd name="adj" fmla="val 1224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acc27"/>
          <p:cNvSpPr/>
          <p:nvPr/>
        </p:nvSpPr>
        <p:spPr>
          <a:xfrm>
            <a:off x="3264408" y="2304288"/>
            <a:ext cx="2615184"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_tt28"/>
          <p:cNvSpPr txBox="1"/>
          <p:nvPr/>
        </p:nvSpPr>
        <p:spPr>
          <a:xfrm>
            <a:off x="3410712" y="2414016"/>
            <a:ext cx="2340864" cy="256032"/>
          </a:xfrm>
          <a:prstGeom prst="rect">
            <a:avLst/>
          </a:prstGeom>
          <a:noFill/>
        </p:spPr>
        <p:txBody>
          <a:bodyPr wrap="square" lIns="0" tIns="0" rIns="0" bIns="0" anchor="ctr">
            <a:spAutoFit/>
          </a:bodyPr>
          <a:lstStyle/>
          <a:p>
            <a:pPr algn="l"/>
            <a:r>
              <a:rPr sz="1150" b="1">
                <a:solidFill>
                  <a:srgbClr val="1C1917"/>
                </a:solidFill>
                <a:latin typeface="Segoe UI"/>
              </a:rPr>
              <a:t>.NET</a:t>
            </a:r>
          </a:p>
        </p:txBody>
      </p:sp>
      <p:sp>
        <p:nvSpPr>
          <p:cNvPr id="30" name="a2ud60_tb29"/>
          <p:cNvSpPr txBox="1"/>
          <p:nvPr/>
        </p:nvSpPr>
        <p:spPr>
          <a:xfrm>
            <a:off x="3410712" y="2706624"/>
            <a:ext cx="2340864" cy="438912"/>
          </a:xfrm>
          <a:prstGeom prst="rect">
            <a:avLst/>
          </a:prstGeom>
          <a:noFill/>
        </p:spPr>
        <p:txBody>
          <a:bodyPr wrap="square" lIns="0" tIns="0" rIns="0" bIns="0" anchor="t">
            <a:spAutoFit/>
          </a:bodyPr>
          <a:lstStyle/>
          <a:p>
            <a:pPr algn="l"/>
            <a:r>
              <a:rPr sz="850" b="0">
                <a:solidFill>
                  <a:srgbClr val="44403C"/>
                </a:solidFill>
                <a:latin typeface="Segoe UI"/>
              </a:rPr>
              <a:t>Confluent.Kafka - C#, F#, VB</a:t>
            </a:r>
          </a:p>
        </p:txBody>
      </p:sp>
      <p:sp>
        <p:nvSpPr>
          <p:cNvPr id="31" name="a2u_card30"/>
          <p:cNvSpPr/>
          <p:nvPr/>
        </p:nvSpPr>
        <p:spPr>
          <a:xfrm>
            <a:off x="6071616" y="2304288"/>
            <a:ext cx="2615184" cy="896112"/>
          </a:xfrm>
          <a:prstGeom prst="roundRect">
            <a:avLst>
              <a:gd name="adj" fmla="val 1224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_acc31"/>
          <p:cNvSpPr/>
          <p:nvPr/>
        </p:nvSpPr>
        <p:spPr>
          <a:xfrm>
            <a:off x="6071616" y="2304288"/>
            <a:ext cx="261518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_tt32"/>
          <p:cNvSpPr txBox="1"/>
          <p:nvPr/>
        </p:nvSpPr>
        <p:spPr>
          <a:xfrm>
            <a:off x="6217920" y="2414016"/>
            <a:ext cx="2340864" cy="256032"/>
          </a:xfrm>
          <a:prstGeom prst="rect">
            <a:avLst/>
          </a:prstGeom>
          <a:noFill/>
        </p:spPr>
        <p:txBody>
          <a:bodyPr wrap="square" lIns="0" tIns="0" rIns="0" bIns="0" anchor="ctr">
            <a:spAutoFit/>
          </a:bodyPr>
          <a:lstStyle/>
          <a:p>
            <a:pPr algn="l"/>
            <a:r>
              <a:rPr sz="1150" b="1">
                <a:solidFill>
                  <a:srgbClr val="1C1917"/>
                </a:solidFill>
                <a:latin typeface="Segoe UI"/>
              </a:rPr>
              <a:t>C / C++</a:t>
            </a:r>
          </a:p>
        </p:txBody>
      </p:sp>
      <p:sp>
        <p:nvSpPr>
          <p:cNvPr id="34" name="a2ud60_tb33"/>
          <p:cNvSpPr txBox="1"/>
          <p:nvPr/>
        </p:nvSpPr>
        <p:spPr>
          <a:xfrm>
            <a:off x="6217920" y="2706624"/>
            <a:ext cx="2340864" cy="438912"/>
          </a:xfrm>
          <a:prstGeom prst="rect">
            <a:avLst/>
          </a:prstGeom>
          <a:noFill/>
        </p:spPr>
        <p:txBody>
          <a:bodyPr wrap="square" lIns="0" tIns="0" rIns="0" bIns="0" anchor="t">
            <a:spAutoFit/>
          </a:bodyPr>
          <a:lstStyle/>
          <a:p>
            <a:pPr algn="l"/>
            <a:r>
              <a:rPr sz="850" b="0">
                <a:solidFill>
                  <a:srgbClr val="44403C"/>
                </a:solidFill>
                <a:latin typeface="Segoe UI"/>
              </a:rPr>
              <a:t>librdkafka - the engine under the four above</a:t>
            </a:r>
          </a:p>
        </p:txBody>
      </p:sp>
      <p:sp>
        <p:nvSpPr>
          <p:cNvPr id="35" name="a3u_ch34"/>
          <p:cNvSpPr txBox="1"/>
          <p:nvPr/>
        </p:nvSpPr>
        <p:spPr>
          <a:xfrm>
            <a:off x="457200" y="3456432"/>
            <a:ext cx="2194560" cy="237744"/>
          </a:xfrm>
          <a:prstGeom prst="rect">
            <a:avLst/>
          </a:prstGeom>
          <a:noFill/>
        </p:spPr>
        <p:txBody>
          <a:bodyPr wrap="square" lIns="0" tIns="0" rIns="0" bIns="0" anchor="ctr">
            <a:spAutoFit/>
          </a:bodyPr>
          <a:lstStyle/>
          <a:p>
            <a:pPr algn="l"/>
            <a:r>
              <a:rPr sz="850" b="1" spc="140">
                <a:solidFill>
                  <a:srgbClr val="78716C"/>
                </a:solidFill>
                <a:latin typeface="Segoe UI"/>
              </a:rPr>
              <a:t>COMMUNITY CLIENTS</a:t>
            </a:r>
          </a:p>
        </p:txBody>
      </p:sp>
      <p:sp>
        <p:nvSpPr>
          <p:cNvPr id="36" name="a3u_pill35"/>
          <p:cNvSpPr/>
          <p:nvPr/>
        </p:nvSpPr>
        <p:spPr>
          <a:xfrm>
            <a:off x="2468880" y="3438144"/>
            <a:ext cx="987552" cy="274320"/>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44403C"/>
                </a:solidFill>
                <a:latin typeface="Consolas"/>
              </a:rPr>
              <a:t>Rust</a:t>
            </a:r>
          </a:p>
        </p:txBody>
      </p:sp>
      <p:sp>
        <p:nvSpPr>
          <p:cNvPr id="37" name="a3ud80_pill36"/>
          <p:cNvSpPr/>
          <p:nvPr/>
        </p:nvSpPr>
        <p:spPr>
          <a:xfrm>
            <a:off x="3566160" y="3438144"/>
            <a:ext cx="987552" cy="274320"/>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44403C"/>
                </a:solidFill>
                <a:latin typeface="Consolas"/>
              </a:rPr>
              <a:t>Ruby</a:t>
            </a:r>
          </a:p>
        </p:txBody>
      </p:sp>
      <p:sp>
        <p:nvSpPr>
          <p:cNvPr id="38" name="a3ud160_pill37"/>
          <p:cNvSpPr/>
          <p:nvPr/>
        </p:nvSpPr>
        <p:spPr>
          <a:xfrm>
            <a:off x="4663440" y="3438144"/>
            <a:ext cx="987552" cy="274320"/>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44403C"/>
                </a:solidFill>
                <a:latin typeface="Consolas"/>
              </a:rPr>
              <a:t>PHP</a:t>
            </a:r>
          </a:p>
        </p:txBody>
      </p:sp>
      <p:sp>
        <p:nvSpPr>
          <p:cNvPr id="39" name="a3ud240_pill38"/>
          <p:cNvSpPr/>
          <p:nvPr/>
        </p:nvSpPr>
        <p:spPr>
          <a:xfrm>
            <a:off x="5760720" y="3438144"/>
            <a:ext cx="987552" cy="274320"/>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44403C"/>
                </a:solidFill>
                <a:latin typeface="Consolas"/>
              </a:rPr>
              <a:t>Elixir</a:t>
            </a:r>
          </a:p>
        </p:txBody>
      </p:sp>
      <p:sp>
        <p:nvSpPr>
          <p:cNvPr id="40" name="a3ud320_pill39"/>
          <p:cNvSpPr/>
          <p:nvPr/>
        </p:nvSpPr>
        <p:spPr>
          <a:xfrm>
            <a:off x="6858000" y="3438144"/>
            <a:ext cx="987552" cy="274320"/>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44403C"/>
                </a:solidFill>
                <a:latin typeface="Consolas"/>
              </a:rPr>
              <a:t>... and more</a:t>
            </a:r>
          </a:p>
        </p:txBody>
      </p:sp>
      <p:sp>
        <p:nvSpPr>
          <p:cNvPr id="41" name="a4u_nb40"/>
          <p:cNvSpPr/>
          <p:nvPr/>
        </p:nvSpPr>
        <p:spPr>
          <a:xfrm>
            <a:off x="457200" y="3986784"/>
            <a:ext cx="8229600" cy="530352"/>
          </a:xfrm>
          <a:prstGeom prst="roundRect">
            <a:avLst>
              <a:gd name="adj" fmla="val 1379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4u_nacc41"/>
          <p:cNvSpPr/>
          <p:nvPr/>
        </p:nvSpPr>
        <p:spPr>
          <a:xfrm>
            <a:off x="457200" y="3986784"/>
            <a:ext cx="54864" cy="5303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4u_nt42"/>
          <p:cNvSpPr txBox="1"/>
          <p:nvPr/>
        </p:nvSpPr>
        <p:spPr>
          <a:xfrm>
            <a:off x="658368" y="3986784"/>
            <a:ext cx="7827264" cy="530352"/>
          </a:xfrm>
          <a:prstGeom prst="rect">
            <a:avLst/>
          </a:prstGeom>
          <a:noFill/>
        </p:spPr>
        <p:txBody>
          <a:bodyPr wrap="square" lIns="0" tIns="0" rIns="0" bIns="0" anchor="ctr">
            <a:spAutoFit/>
          </a:bodyPr>
          <a:lstStyle/>
          <a:p>
            <a:pPr algn="l"/>
            <a:r>
              <a:rPr sz="900" b="1">
                <a:solidFill>
                  <a:srgbClr val="4F46E5"/>
                </a:solidFill>
                <a:latin typeface="Segoe UI"/>
              </a:rPr>
              <a:t>LAB  </a:t>
            </a:r>
            <a:r>
              <a:rPr sz="900" b="0">
                <a:solidFill>
                  <a:srgbClr val="44403C"/>
                </a:solidFill>
                <a:latin typeface="Segoe UI"/>
              </a:rPr>
              <a:t>This module uses Java, like the lesson; the lab kit's scripts use the Python client.</a:t>
            </a:r>
          </a:p>
        </p:txBody>
      </p:sp>
      <p:sp>
        <p:nvSpPr>
          <p:cNvPr id="44" name="ft4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03</a:t>
            </a:r>
          </a:p>
        </p:txBody>
      </p:sp>
      <p:sp>
        <p:nvSpPr>
          <p:cNvPr id="45" name="ft4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ft4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Producers</a:t>
            </a:r>
          </a:p>
        </p:txBody>
      </p:sp>
      <p:sp>
        <p:nvSpPr>
          <p:cNvPr id="47" name="ft4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ppt_y+0.1"/>
                                          </p:val>
                                        </p:tav>
                                        <p:tav tm="100000">
                                          <p:val>
                                            <p:strVal val="#ppt_y"/>
                                          </p:val>
                                        </p:tav>
                                      </p:tavLst>
                                    </p:anim>
                                    <p:animEffect transition="in" filter="fade">
                                      <p:cBhvr>
                                        <p:cTn id="45" dur="500"/>
                                        <p:tgtEl>
                                          <p:spTgt spid="19"/>
                                        </p:tgtEl>
                                      </p:cBhvr>
                                    </p:animEffect>
                                  </p:childTnLst>
                                </p:cTn>
                              </p:par>
                              <p:par>
                                <p:cTn id="51" presetID="2" presetClass="entr" presetSubtype="4"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 calcmode="lin" valueType="num">
                                      <p:cBhvr additive="base">
                                        <p:cTn id="48" dur="500" fill="hold"/>
                                        <p:tgtEl>
                                          <p:spTgt spid="20"/>
                                        </p:tgtEl>
                                        <p:attrNameLst>
                                          <p:attrName>ppt_x</p:attrName>
                                        </p:attrNameLst>
                                      </p:cBhvr>
                                      <p:tavLst>
                                        <p:tav tm="0">
                                          <p:val>
                                            <p:strVal val="#ppt_x"/>
                                          </p:val>
                                        </p:tav>
                                        <p:tav tm="100000">
                                          <p:val>
                                            <p:strVal val="#ppt_x"/>
                                          </p:val>
                                        </p:tav>
                                      </p:tavLst>
                                    </p:anim>
                                    <p:anim calcmode="lin" valueType="num">
                                      <p:cBhvr additive="base">
                                        <p:cTn id="49" dur="500" fill="hold"/>
                                        <p:tgtEl>
                                          <p:spTgt spid="20"/>
                                        </p:tgtEl>
                                        <p:attrNameLst>
                                          <p:attrName>ppt_y</p:attrName>
                                        </p:attrNameLst>
                                      </p:cBhvr>
                                      <p:tavLst>
                                        <p:tav tm="0">
                                          <p:val>
                                            <p:strVal val="#ppt_y+0.1"/>
                                          </p:val>
                                        </p:tav>
                                        <p:tav tm="100000">
                                          <p:val>
                                            <p:strVal val="#ppt_y"/>
                                          </p:val>
                                        </p:tav>
                                      </p:tavLst>
                                    </p:anim>
                                    <p:animEffect transition="in" filter="fade">
                                      <p:cBhvr>
                                        <p:cTn id="50" dur="500"/>
                                        <p:tgtEl>
                                          <p:spTgt spid="20"/>
                                        </p:tgtEl>
                                      </p:cBhvr>
                                    </p:animEffect>
                                  </p:childTnLst>
                                </p:cTn>
                              </p:par>
                              <p:par>
                                <p:cTn id="56" presetID="2" presetClass="entr" presetSubtype="4"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ppt_x"/>
                                          </p:val>
                                        </p:tav>
                                        <p:tav tm="100000">
                                          <p:val>
                                            <p:strVal val="#ppt_x"/>
                                          </p:val>
                                        </p:tav>
                                      </p:tavLst>
                                    </p:anim>
                                    <p:anim calcmode="lin" valueType="num">
                                      <p:cBhvr additive="base">
                                        <p:cTn id="54" dur="500" fill="hold"/>
                                        <p:tgtEl>
                                          <p:spTgt spid="21"/>
                                        </p:tgtEl>
                                        <p:attrNameLst>
                                          <p:attrName>ppt_y</p:attrName>
                                        </p:attrNameLst>
                                      </p:cBhvr>
                                      <p:tavLst>
                                        <p:tav tm="0">
                                          <p:val>
                                            <p:strVal val="#ppt_y+0.1"/>
                                          </p:val>
                                        </p:tav>
                                        <p:tav tm="100000">
                                          <p:val>
                                            <p:strVal val="#ppt_y"/>
                                          </p:val>
                                        </p:tav>
                                      </p:tavLst>
                                    </p:anim>
                                    <p:animEffect transition="in" filter="fade">
                                      <p:cBhvr>
                                        <p:cTn id="55" dur="500"/>
                                        <p:tgtEl>
                                          <p:spTgt spid="21"/>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 calcmode="lin" valueType="num">
                                      <p:cBhvr additive="base">
                                        <p:cTn id="58" dur="500" fill="hold"/>
                                        <p:tgtEl>
                                          <p:spTgt spid="23"/>
                                        </p:tgtEl>
                                        <p:attrNameLst>
                                          <p:attrName>ppt_x</p:attrName>
                                        </p:attrNameLst>
                                      </p:cBhvr>
                                      <p:tavLst>
                                        <p:tav tm="0">
                                          <p:val>
                                            <p:strVal val="#ppt_x"/>
                                          </p:val>
                                        </p:tav>
                                        <p:tav tm="100000">
                                          <p:val>
                                            <p:strVal val="#ppt_x"/>
                                          </p:val>
                                        </p:tav>
                                      </p:tavLst>
                                    </p:anim>
                                    <p:anim calcmode="lin" valueType="num">
                                      <p:cBhvr additive="base">
                                        <p:cTn id="59" dur="500" fill="hold"/>
                                        <p:tgtEl>
                                          <p:spTgt spid="23"/>
                                        </p:tgtEl>
                                        <p:attrNameLst>
                                          <p:attrName>ppt_y</p:attrName>
                                        </p:attrNameLst>
                                      </p:cBhvr>
                                      <p:tavLst>
                                        <p:tav tm="0">
                                          <p:val>
                                            <p:strVal val="#ppt_y+0.1"/>
                                          </p:val>
                                        </p:tav>
                                        <p:tav tm="100000">
                                          <p:val>
                                            <p:strVal val="#ppt_y"/>
                                          </p:val>
                                        </p:tav>
                                      </p:tavLst>
                                    </p:anim>
                                    <p:animEffect transition="in" filter="fade">
                                      <p:cBhvr>
                                        <p:cTn id="60" dur="500"/>
                                        <p:tgtEl>
                                          <p:spTgt spid="23"/>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 calcmode="lin" valueType="num">
                                      <p:cBhvr additive="base">
                                        <p:cTn id="63" dur="500" fill="hold"/>
                                        <p:tgtEl>
                                          <p:spTgt spid="24"/>
                                        </p:tgtEl>
                                        <p:attrNameLst>
                                          <p:attrName>ppt_x</p:attrName>
                                        </p:attrNameLst>
                                      </p:cBhvr>
                                      <p:tavLst>
                                        <p:tav tm="0">
                                          <p:val>
                                            <p:strVal val="#ppt_x"/>
                                          </p:val>
                                        </p:tav>
                                        <p:tav tm="100000">
                                          <p:val>
                                            <p:strVal val="#ppt_x"/>
                                          </p:val>
                                        </p:tav>
                                      </p:tavLst>
                                    </p:anim>
                                    <p:anim calcmode="lin" valueType="num">
                                      <p:cBhvr additive="base">
                                        <p:cTn id="64" dur="500" fill="hold"/>
                                        <p:tgtEl>
                                          <p:spTgt spid="24"/>
                                        </p:tgtEl>
                                        <p:attrNameLst>
                                          <p:attrName>ppt_y</p:attrName>
                                        </p:attrNameLst>
                                      </p:cBhvr>
                                      <p:tavLst>
                                        <p:tav tm="0">
                                          <p:val>
                                            <p:strVal val="#ppt_y+0.1"/>
                                          </p:val>
                                        </p:tav>
                                        <p:tav tm="100000">
                                          <p:val>
                                            <p:strVal val="#ppt_y"/>
                                          </p:val>
                                        </p:tav>
                                      </p:tavLst>
                                    </p:anim>
                                    <p:animEffect transition="in" filter="fade">
                                      <p:cBhvr>
                                        <p:cTn id="65" dur="500"/>
                                        <p:tgtEl>
                                          <p:spTgt spid="24"/>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 calcmode="lin" valueType="num">
                                      <p:cBhvr additive="base">
                                        <p:cTn id="68" dur="500" fill="hold"/>
                                        <p:tgtEl>
                                          <p:spTgt spid="25"/>
                                        </p:tgtEl>
                                        <p:attrNameLst>
                                          <p:attrName>ppt_x</p:attrName>
                                        </p:attrNameLst>
                                      </p:cBhvr>
                                      <p:tavLst>
                                        <p:tav tm="0">
                                          <p:val>
                                            <p:strVal val="#ppt_x"/>
                                          </p:val>
                                        </p:tav>
                                        <p:tav tm="100000">
                                          <p:val>
                                            <p:strVal val="#ppt_x"/>
                                          </p:val>
                                        </p:tav>
                                      </p:tavLst>
                                    </p:anim>
                                    <p:anim calcmode="lin" valueType="num">
                                      <p:cBhvr additive="base">
                                        <p:cTn id="69" dur="500" fill="hold"/>
                                        <p:tgtEl>
                                          <p:spTgt spid="25"/>
                                        </p:tgtEl>
                                        <p:attrNameLst>
                                          <p:attrName>ppt_y</p:attrName>
                                        </p:attrNameLst>
                                      </p:cBhvr>
                                      <p:tavLst>
                                        <p:tav tm="0">
                                          <p:val>
                                            <p:strVal val="#ppt_y+0.1"/>
                                          </p:val>
                                        </p:tav>
                                        <p:tav tm="100000">
                                          <p:val>
                                            <p:strVal val="#ppt_y"/>
                                          </p:val>
                                        </p:tav>
                                      </p:tavLst>
                                    </p:anim>
                                    <p:animEffect transition="in" filter="fade">
                                      <p:cBhvr>
                                        <p:cTn id="70" dur="500"/>
                                        <p:tgtEl>
                                          <p:spTgt spid="25"/>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 calcmode="lin" valueType="num">
                                      <p:cBhvr additive="base">
                                        <p:cTn id="73" dur="500" fill="hold"/>
                                        <p:tgtEl>
                                          <p:spTgt spid="27"/>
                                        </p:tgtEl>
                                        <p:attrNameLst>
                                          <p:attrName>ppt_x</p:attrName>
                                        </p:attrNameLst>
                                      </p:cBhvr>
                                      <p:tavLst>
                                        <p:tav tm="0">
                                          <p:val>
                                            <p:strVal val="#ppt_x"/>
                                          </p:val>
                                        </p:tav>
                                        <p:tav tm="100000">
                                          <p:val>
                                            <p:strVal val="#ppt_x"/>
                                          </p:val>
                                        </p:tav>
                                      </p:tavLst>
                                    </p:anim>
                                    <p:anim calcmode="lin" valueType="num">
                                      <p:cBhvr additive="base">
                                        <p:cTn id="74" dur="500" fill="hold"/>
                                        <p:tgtEl>
                                          <p:spTgt spid="27"/>
                                        </p:tgtEl>
                                        <p:attrNameLst>
                                          <p:attrName>ppt_y</p:attrName>
                                        </p:attrNameLst>
                                      </p:cBhvr>
                                      <p:tavLst>
                                        <p:tav tm="0">
                                          <p:val>
                                            <p:strVal val="#ppt_y+0.1"/>
                                          </p:val>
                                        </p:tav>
                                        <p:tav tm="100000">
                                          <p:val>
                                            <p:strVal val="#ppt_y"/>
                                          </p:val>
                                        </p:tav>
                                      </p:tavLst>
                                    </p:anim>
                                    <p:animEffect transition="in" filter="fade">
                                      <p:cBhvr>
                                        <p:cTn id="75" dur="500"/>
                                        <p:tgtEl>
                                          <p:spTgt spid="27"/>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 calcmode="lin" valueType="num">
                                      <p:cBhvr additive="base">
                                        <p:cTn id="78" dur="500" fill="hold"/>
                                        <p:tgtEl>
                                          <p:spTgt spid="28"/>
                                        </p:tgtEl>
                                        <p:attrNameLst>
                                          <p:attrName>ppt_x</p:attrName>
                                        </p:attrNameLst>
                                      </p:cBhvr>
                                      <p:tavLst>
                                        <p:tav tm="0">
                                          <p:val>
                                            <p:strVal val="#ppt_x"/>
                                          </p:val>
                                        </p:tav>
                                        <p:tav tm="100000">
                                          <p:val>
                                            <p:strVal val="#ppt_x"/>
                                          </p:val>
                                        </p:tav>
                                      </p:tavLst>
                                    </p:anim>
                                    <p:anim calcmode="lin" valueType="num">
                                      <p:cBhvr additive="base">
                                        <p:cTn id="79" dur="500" fill="hold"/>
                                        <p:tgtEl>
                                          <p:spTgt spid="28"/>
                                        </p:tgtEl>
                                        <p:attrNameLst>
                                          <p:attrName>ppt_y</p:attrName>
                                        </p:attrNameLst>
                                      </p:cBhvr>
                                      <p:tavLst>
                                        <p:tav tm="0">
                                          <p:val>
                                            <p:strVal val="#ppt_y+0.1"/>
                                          </p:val>
                                        </p:tav>
                                        <p:tav tm="100000">
                                          <p:val>
                                            <p:strVal val="#ppt_y"/>
                                          </p:val>
                                        </p:tav>
                                      </p:tavLst>
                                    </p:anim>
                                    <p:animEffect transition="in" filter="fade">
                                      <p:cBhvr>
                                        <p:cTn id="80" dur="500"/>
                                        <p:tgtEl>
                                          <p:spTgt spid="28"/>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 calcmode="lin" valueType="num">
                                      <p:cBhvr additive="base">
                                        <p:cTn id="83" dur="500" fill="hold"/>
                                        <p:tgtEl>
                                          <p:spTgt spid="29"/>
                                        </p:tgtEl>
                                        <p:attrNameLst>
                                          <p:attrName>ppt_x</p:attrName>
                                        </p:attrNameLst>
                                      </p:cBhvr>
                                      <p:tavLst>
                                        <p:tav tm="0">
                                          <p:val>
                                            <p:strVal val="#ppt_x"/>
                                          </p:val>
                                        </p:tav>
                                        <p:tav tm="100000">
                                          <p:val>
                                            <p:strVal val="#ppt_x"/>
                                          </p:val>
                                        </p:tav>
                                      </p:tavLst>
                                    </p:anim>
                                    <p:anim calcmode="lin" valueType="num">
                                      <p:cBhvr additive="base">
                                        <p:cTn id="84" dur="500" fill="hold"/>
                                        <p:tgtEl>
                                          <p:spTgt spid="29"/>
                                        </p:tgtEl>
                                        <p:attrNameLst>
                                          <p:attrName>ppt_y</p:attrName>
                                        </p:attrNameLst>
                                      </p:cBhvr>
                                      <p:tavLst>
                                        <p:tav tm="0">
                                          <p:val>
                                            <p:strVal val="#ppt_y+0.1"/>
                                          </p:val>
                                        </p:tav>
                                        <p:tav tm="100000">
                                          <p:val>
                                            <p:strVal val="#ppt_y"/>
                                          </p:val>
                                        </p:tav>
                                      </p:tavLst>
                                    </p:anim>
                                    <p:animEffect transition="in" filter="fade">
                                      <p:cBhvr>
                                        <p:cTn id="85" dur="500"/>
                                        <p:tgtEl>
                                          <p:spTgt spid="29"/>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 calcmode="lin" valueType="num">
                                      <p:cBhvr additive="base">
                                        <p:cTn id="88" dur="500" fill="hold"/>
                                        <p:tgtEl>
                                          <p:spTgt spid="31"/>
                                        </p:tgtEl>
                                        <p:attrNameLst>
                                          <p:attrName>ppt_x</p:attrName>
                                        </p:attrNameLst>
                                      </p:cBhvr>
                                      <p:tavLst>
                                        <p:tav tm="0">
                                          <p:val>
                                            <p:strVal val="#ppt_x"/>
                                          </p:val>
                                        </p:tav>
                                        <p:tav tm="100000">
                                          <p:val>
                                            <p:strVal val="#ppt_x"/>
                                          </p:val>
                                        </p:tav>
                                      </p:tavLst>
                                    </p:anim>
                                    <p:anim calcmode="lin" valueType="num">
                                      <p:cBhvr additive="base">
                                        <p:cTn id="89" dur="500" fill="hold"/>
                                        <p:tgtEl>
                                          <p:spTgt spid="31"/>
                                        </p:tgtEl>
                                        <p:attrNameLst>
                                          <p:attrName>ppt_y</p:attrName>
                                        </p:attrNameLst>
                                      </p:cBhvr>
                                      <p:tavLst>
                                        <p:tav tm="0">
                                          <p:val>
                                            <p:strVal val="#ppt_y+0.1"/>
                                          </p:val>
                                        </p:tav>
                                        <p:tav tm="100000">
                                          <p:val>
                                            <p:strVal val="#ppt_y"/>
                                          </p:val>
                                        </p:tav>
                                      </p:tavLst>
                                    </p:anim>
                                    <p:animEffect transition="in" filter="fade">
                                      <p:cBhvr>
                                        <p:cTn id="90" dur="500"/>
                                        <p:tgtEl>
                                          <p:spTgt spid="31"/>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 calcmode="lin" valueType="num">
                                      <p:cBhvr additive="base">
                                        <p:cTn id="93" dur="500" fill="hold"/>
                                        <p:tgtEl>
                                          <p:spTgt spid="32"/>
                                        </p:tgtEl>
                                        <p:attrNameLst>
                                          <p:attrName>ppt_x</p:attrName>
                                        </p:attrNameLst>
                                      </p:cBhvr>
                                      <p:tavLst>
                                        <p:tav tm="0">
                                          <p:val>
                                            <p:strVal val="#ppt_x"/>
                                          </p:val>
                                        </p:tav>
                                        <p:tav tm="100000">
                                          <p:val>
                                            <p:strVal val="#ppt_x"/>
                                          </p:val>
                                        </p:tav>
                                      </p:tavLst>
                                    </p:anim>
                                    <p:anim calcmode="lin" valueType="num">
                                      <p:cBhvr additive="base">
                                        <p:cTn id="94" dur="500" fill="hold"/>
                                        <p:tgtEl>
                                          <p:spTgt spid="32"/>
                                        </p:tgtEl>
                                        <p:attrNameLst>
                                          <p:attrName>ppt_y</p:attrName>
                                        </p:attrNameLst>
                                      </p:cBhvr>
                                      <p:tavLst>
                                        <p:tav tm="0">
                                          <p:val>
                                            <p:strVal val="#ppt_y+0.1"/>
                                          </p:val>
                                        </p:tav>
                                        <p:tav tm="100000">
                                          <p:val>
                                            <p:strVal val="#ppt_y"/>
                                          </p:val>
                                        </p:tav>
                                      </p:tavLst>
                                    </p:anim>
                                    <p:animEffect transition="in" filter="fade">
                                      <p:cBhvr>
                                        <p:cTn id="95" dur="500"/>
                                        <p:tgtEl>
                                          <p:spTgt spid="32"/>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 calcmode="lin" valueType="num">
                                      <p:cBhvr additive="base">
                                        <p:cTn id="98" dur="500" fill="hold"/>
                                        <p:tgtEl>
                                          <p:spTgt spid="33"/>
                                        </p:tgtEl>
                                        <p:attrNameLst>
                                          <p:attrName>ppt_x</p:attrName>
                                        </p:attrNameLst>
                                      </p:cBhvr>
                                      <p:tavLst>
                                        <p:tav tm="0">
                                          <p:val>
                                            <p:strVal val="#ppt_x"/>
                                          </p:val>
                                        </p:tav>
                                        <p:tav tm="100000">
                                          <p:val>
                                            <p:strVal val="#ppt_x"/>
                                          </p:val>
                                        </p:tav>
                                      </p:tavLst>
                                    </p:anim>
                                    <p:anim calcmode="lin" valueType="num">
                                      <p:cBhvr additive="base">
                                        <p:cTn id="99" dur="500" fill="hold"/>
                                        <p:tgtEl>
                                          <p:spTgt spid="33"/>
                                        </p:tgtEl>
                                        <p:attrNameLst>
                                          <p:attrName>ppt_y</p:attrName>
                                        </p:attrNameLst>
                                      </p:cBhvr>
                                      <p:tavLst>
                                        <p:tav tm="0">
                                          <p:val>
                                            <p:strVal val="#ppt_y+0.1"/>
                                          </p:val>
                                        </p:tav>
                                        <p:tav tm="100000">
                                          <p:val>
                                            <p:strVal val="#ppt_y"/>
                                          </p:val>
                                        </p:tav>
                                      </p:tavLst>
                                    </p:anim>
                                    <p:animEffect transition="in" filter="fade">
                                      <p:cBhvr>
                                        <p:cTn id="100" dur="500"/>
                                        <p:tgtEl>
                                          <p:spTgt spid="33"/>
                                        </p:tgtEl>
                                      </p:cBhvr>
                                    </p:animEffect>
                                  </p:childTnLst>
                                </p:cTn>
                              </p:par>
                              <p:par>
                                <p:cTn id="106" presetID="2" presetClass="entr" presetSubtype="4" fill="hold" grpId="0" nodeType="withEffect">
                                  <p:stCondLst>
                                    <p:cond delay="60"/>
                                  </p:stCondLst>
                                  <p:childTnLst>
                                    <p:set>
                                      <p:cBhvr>
                                        <p:cTn id="102" dur="1" fill="hold">
                                          <p:stCondLst>
                                            <p:cond delay="0"/>
                                          </p:stCondLst>
                                        </p:cTn>
                                        <p:tgtEl>
                                          <p:spTgt spid="18"/>
                                        </p:tgtEl>
                                        <p:attrNameLst>
                                          <p:attrName>style.visibility</p:attrName>
                                        </p:attrNameLst>
                                      </p:cBhvr>
                                      <p:to>
                                        <p:strVal val="visible"/>
                                      </p:to>
                                    </p:set>
                                    <p:anim calcmode="lin" valueType="num">
                                      <p:cBhvr additive="base">
                                        <p:cTn id="103" dur="500" fill="hold"/>
                                        <p:tgtEl>
                                          <p:spTgt spid="18"/>
                                        </p:tgtEl>
                                        <p:attrNameLst>
                                          <p:attrName>ppt_x</p:attrName>
                                        </p:attrNameLst>
                                      </p:cBhvr>
                                      <p:tavLst>
                                        <p:tav tm="0">
                                          <p:val>
                                            <p:strVal val="#ppt_x"/>
                                          </p:val>
                                        </p:tav>
                                        <p:tav tm="100000">
                                          <p:val>
                                            <p:strVal val="#ppt_x"/>
                                          </p:val>
                                        </p:tav>
                                      </p:tavLst>
                                    </p:anim>
                                    <p:anim calcmode="lin" valueType="num">
                                      <p:cBhvr additive="base">
                                        <p:cTn id="104" dur="500" fill="hold"/>
                                        <p:tgtEl>
                                          <p:spTgt spid="18"/>
                                        </p:tgtEl>
                                        <p:attrNameLst>
                                          <p:attrName>ppt_y</p:attrName>
                                        </p:attrNameLst>
                                      </p:cBhvr>
                                      <p:tavLst>
                                        <p:tav tm="0">
                                          <p:val>
                                            <p:strVal val="#ppt_y+0.1"/>
                                          </p:val>
                                        </p:tav>
                                        <p:tav tm="100000">
                                          <p:val>
                                            <p:strVal val="#ppt_y"/>
                                          </p:val>
                                        </p:tav>
                                      </p:tavLst>
                                    </p:anim>
                                    <p:animEffect transition="in" filter="fade">
                                      <p:cBhvr>
                                        <p:cTn id="105" dur="500"/>
                                        <p:tgtEl>
                                          <p:spTgt spid="18"/>
                                        </p:tgtEl>
                                      </p:cBhvr>
                                    </p:animEffect>
                                  </p:childTnLst>
                                </p:cTn>
                              </p:par>
                              <p:par>
                                <p:cTn id="111" presetID="2" presetClass="entr" presetSubtype="4" fill="hold" grpId="0" nodeType="withEffect">
                                  <p:stCondLst>
                                    <p:cond delay="60"/>
                                  </p:stCondLst>
                                  <p:childTnLst>
                                    <p:set>
                                      <p:cBhvr>
                                        <p:cTn id="107" dur="1" fill="hold">
                                          <p:stCondLst>
                                            <p:cond delay="0"/>
                                          </p:stCondLst>
                                        </p:cTn>
                                        <p:tgtEl>
                                          <p:spTgt spid="22"/>
                                        </p:tgtEl>
                                        <p:attrNameLst>
                                          <p:attrName>style.visibility</p:attrName>
                                        </p:attrNameLst>
                                      </p:cBhvr>
                                      <p:to>
                                        <p:strVal val="visible"/>
                                      </p:to>
                                    </p:set>
                                    <p:anim calcmode="lin" valueType="num">
                                      <p:cBhvr additive="base">
                                        <p:cTn id="108" dur="500" fill="hold"/>
                                        <p:tgtEl>
                                          <p:spTgt spid="22"/>
                                        </p:tgtEl>
                                        <p:attrNameLst>
                                          <p:attrName>ppt_x</p:attrName>
                                        </p:attrNameLst>
                                      </p:cBhvr>
                                      <p:tavLst>
                                        <p:tav tm="0">
                                          <p:val>
                                            <p:strVal val="#ppt_x"/>
                                          </p:val>
                                        </p:tav>
                                        <p:tav tm="100000">
                                          <p:val>
                                            <p:strVal val="#ppt_x"/>
                                          </p:val>
                                        </p:tav>
                                      </p:tavLst>
                                    </p:anim>
                                    <p:anim calcmode="lin" valueType="num">
                                      <p:cBhvr additive="base">
                                        <p:cTn id="109" dur="500" fill="hold"/>
                                        <p:tgtEl>
                                          <p:spTgt spid="22"/>
                                        </p:tgtEl>
                                        <p:attrNameLst>
                                          <p:attrName>ppt_y</p:attrName>
                                        </p:attrNameLst>
                                      </p:cBhvr>
                                      <p:tavLst>
                                        <p:tav tm="0">
                                          <p:val>
                                            <p:strVal val="#ppt_y+0.1"/>
                                          </p:val>
                                        </p:tav>
                                        <p:tav tm="100000">
                                          <p:val>
                                            <p:strVal val="#ppt_y"/>
                                          </p:val>
                                        </p:tav>
                                      </p:tavLst>
                                    </p:anim>
                                    <p:animEffect transition="in" filter="fade">
                                      <p:cBhvr>
                                        <p:cTn id="110" dur="500"/>
                                        <p:tgtEl>
                                          <p:spTgt spid="22"/>
                                        </p:tgtEl>
                                      </p:cBhvr>
                                    </p:animEffect>
                                  </p:childTnLst>
                                </p:cTn>
                              </p:par>
                              <p:par>
                                <p:cTn id="116" presetID="2" presetClass="entr" presetSubtype="4" fill="hold" grpId="0" nodeType="withEffect">
                                  <p:stCondLst>
                                    <p:cond delay="60"/>
                                  </p:stCondLst>
                                  <p:childTnLst>
                                    <p:set>
                                      <p:cBhvr>
                                        <p:cTn id="112" dur="1" fill="hold">
                                          <p:stCondLst>
                                            <p:cond delay="0"/>
                                          </p:stCondLst>
                                        </p:cTn>
                                        <p:tgtEl>
                                          <p:spTgt spid="26"/>
                                        </p:tgtEl>
                                        <p:attrNameLst>
                                          <p:attrName>style.visibility</p:attrName>
                                        </p:attrNameLst>
                                      </p:cBhvr>
                                      <p:to>
                                        <p:strVal val="visible"/>
                                      </p:to>
                                    </p:set>
                                    <p:anim calcmode="lin" valueType="num">
                                      <p:cBhvr additive="base">
                                        <p:cTn id="113" dur="500" fill="hold"/>
                                        <p:tgtEl>
                                          <p:spTgt spid="26"/>
                                        </p:tgtEl>
                                        <p:attrNameLst>
                                          <p:attrName>ppt_x</p:attrName>
                                        </p:attrNameLst>
                                      </p:cBhvr>
                                      <p:tavLst>
                                        <p:tav tm="0">
                                          <p:val>
                                            <p:strVal val="#ppt_x"/>
                                          </p:val>
                                        </p:tav>
                                        <p:tav tm="100000">
                                          <p:val>
                                            <p:strVal val="#ppt_x"/>
                                          </p:val>
                                        </p:tav>
                                      </p:tavLst>
                                    </p:anim>
                                    <p:anim calcmode="lin" valueType="num">
                                      <p:cBhvr additive="base">
                                        <p:cTn id="114" dur="500" fill="hold"/>
                                        <p:tgtEl>
                                          <p:spTgt spid="26"/>
                                        </p:tgtEl>
                                        <p:attrNameLst>
                                          <p:attrName>ppt_y</p:attrName>
                                        </p:attrNameLst>
                                      </p:cBhvr>
                                      <p:tavLst>
                                        <p:tav tm="0">
                                          <p:val>
                                            <p:strVal val="#ppt_y+0.1"/>
                                          </p:val>
                                        </p:tav>
                                        <p:tav tm="100000">
                                          <p:val>
                                            <p:strVal val="#ppt_y"/>
                                          </p:val>
                                        </p:tav>
                                      </p:tavLst>
                                    </p:anim>
                                    <p:animEffect transition="in" filter="fade">
                                      <p:cBhvr>
                                        <p:cTn id="115" dur="500"/>
                                        <p:tgtEl>
                                          <p:spTgt spid="26"/>
                                        </p:tgtEl>
                                      </p:cBhvr>
                                    </p:animEffect>
                                  </p:childTnLst>
                                </p:cTn>
                              </p:par>
                              <p:par>
                                <p:cTn id="121" presetID="2" presetClass="entr" presetSubtype="4" fill="hold" grpId="0" nodeType="withEffect">
                                  <p:stCondLst>
                                    <p:cond delay="60"/>
                                  </p:stCondLst>
                                  <p:childTnLst>
                                    <p:set>
                                      <p:cBhvr>
                                        <p:cTn id="117" dur="1" fill="hold">
                                          <p:stCondLst>
                                            <p:cond delay="0"/>
                                          </p:stCondLst>
                                        </p:cTn>
                                        <p:tgtEl>
                                          <p:spTgt spid="30"/>
                                        </p:tgtEl>
                                        <p:attrNameLst>
                                          <p:attrName>style.visibility</p:attrName>
                                        </p:attrNameLst>
                                      </p:cBhvr>
                                      <p:to>
                                        <p:strVal val="visible"/>
                                      </p:to>
                                    </p:set>
                                    <p:anim calcmode="lin" valueType="num">
                                      <p:cBhvr additive="base">
                                        <p:cTn id="118" dur="500" fill="hold"/>
                                        <p:tgtEl>
                                          <p:spTgt spid="30"/>
                                        </p:tgtEl>
                                        <p:attrNameLst>
                                          <p:attrName>ppt_x</p:attrName>
                                        </p:attrNameLst>
                                      </p:cBhvr>
                                      <p:tavLst>
                                        <p:tav tm="0">
                                          <p:val>
                                            <p:strVal val="#ppt_x"/>
                                          </p:val>
                                        </p:tav>
                                        <p:tav tm="100000">
                                          <p:val>
                                            <p:strVal val="#ppt_x"/>
                                          </p:val>
                                        </p:tav>
                                      </p:tavLst>
                                    </p:anim>
                                    <p:anim calcmode="lin" valueType="num">
                                      <p:cBhvr additive="base">
                                        <p:cTn id="119" dur="500" fill="hold"/>
                                        <p:tgtEl>
                                          <p:spTgt spid="30"/>
                                        </p:tgtEl>
                                        <p:attrNameLst>
                                          <p:attrName>ppt_y</p:attrName>
                                        </p:attrNameLst>
                                      </p:cBhvr>
                                      <p:tavLst>
                                        <p:tav tm="0">
                                          <p:val>
                                            <p:strVal val="#ppt_y+0.1"/>
                                          </p:val>
                                        </p:tav>
                                        <p:tav tm="100000">
                                          <p:val>
                                            <p:strVal val="#ppt_y"/>
                                          </p:val>
                                        </p:tav>
                                      </p:tavLst>
                                    </p:anim>
                                    <p:animEffect transition="in" filter="fade">
                                      <p:cBhvr>
                                        <p:cTn id="120" dur="500"/>
                                        <p:tgtEl>
                                          <p:spTgt spid="30"/>
                                        </p:tgtEl>
                                      </p:cBhvr>
                                    </p:animEffect>
                                  </p:childTnLst>
                                </p:cTn>
                              </p:par>
                              <p:par>
                                <p:cTn id="126" presetID="2" presetClass="entr" presetSubtype="4" fill="hold" grpId="0" nodeType="withEffect">
                                  <p:stCondLst>
                                    <p:cond delay="6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childTnLst>
                          </p:cTn>
                        </p:par>
                      </p:childTnLst>
                    </p:cTn>
                  </p:par>
                  <p:par>
                    <p:cTn id="127" fill="hold">
                      <p:stCondLst>
                        <p:cond delay="indefinite"/>
                      </p:stCondLst>
                      <p:childTnLst>
                        <p:par>
                          <p:cTn id="128" fill="hold">
                            <p:stCondLst>
                              <p:cond delay="0"/>
                            </p:stCondLst>
                            <p:childTnLst>
                              <p:par>
                                <p:cTn id="133" presetID="2" presetClass="entr" presetSubtype="4" fill="hold" grpId="0" nodeType="clickEffect">
                                  <p:stCondLst>
                                    <p:cond delay="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8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16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240"/>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00" fill="hold"/>
                                        <p:tgtEl>
                                          <p:spTgt spid="39"/>
                                        </p:tgtEl>
                                        <p:attrNameLst>
                                          <p:attrName>ppt_x</p:attrName>
                                        </p:attrNameLst>
                                      </p:cBhvr>
                                      <p:tavLst>
                                        <p:tav tm="0">
                                          <p:val>
                                            <p:strVal val="#ppt_x"/>
                                          </p:val>
                                        </p:tav>
                                        <p:tav tm="100000">
                                          <p:val>
                                            <p:strVal val="#ppt_x"/>
                                          </p:val>
                                        </p:tav>
                                      </p:tavLst>
                                    </p:anim>
                                    <p:anim calcmode="lin" valueType="num">
                                      <p:cBhvr additive="base">
                                        <p:cTn id="151" dur="500" fill="hold"/>
                                        <p:tgtEl>
                                          <p:spTgt spid="39"/>
                                        </p:tgtEl>
                                        <p:attrNameLst>
                                          <p:attrName>ppt_y</p:attrName>
                                        </p:attrNameLst>
                                      </p:cBhvr>
                                      <p:tavLst>
                                        <p:tav tm="0">
                                          <p:val>
                                            <p:strVal val="#ppt_y+0.1"/>
                                          </p:val>
                                        </p:tav>
                                        <p:tav tm="100000">
                                          <p:val>
                                            <p:strVal val="#ppt_y"/>
                                          </p:val>
                                        </p:tav>
                                      </p:tavLst>
                                    </p:anim>
                                    <p:animEffect transition="in" filter="fade">
                                      <p:cBhvr>
                                        <p:cTn id="152" dur="500"/>
                                        <p:tgtEl>
                                          <p:spTgt spid="39"/>
                                        </p:tgtEl>
                                      </p:cBhvr>
                                    </p:animEffect>
                                  </p:childTnLst>
                                </p:cTn>
                              </p:par>
                              <p:par>
                                <p:cTn id="158" presetID="2" presetClass="entr" presetSubtype="4" fill="hold" grpId="0" nodeType="withEffect">
                                  <p:stCondLst>
                                    <p:cond delay="32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ppt_x</p:attrName>
                                        </p:attrNameLst>
                                      </p:cBhvr>
                                      <p:tavLst>
                                        <p:tav tm="0">
                                          <p:val>
                                            <p:strVal val="#ppt_x"/>
                                          </p:val>
                                        </p:tav>
                                        <p:tav tm="100000">
                                          <p:val>
                                            <p:strVal val="#ppt_x"/>
                                          </p:val>
                                        </p:tav>
                                      </p:tavLst>
                                    </p:anim>
                                    <p:anim calcmode="lin" valueType="num">
                                      <p:cBhvr additive="base">
                                        <p:cTn id="156" dur="500" fill="hold"/>
                                        <p:tgtEl>
                                          <p:spTgt spid="40"/>
                                        </p:tgtEl>
                                        <p:attrNameLst>
                                          <p:attrName>ppt_y</p:attrName>
                                        </p:attrNameLst>
                                      </p:cBhvr>
                                      <p:tavLst>
                                        <p:tav tm="0">
                                          <p:val>
                                            <p:strVal val="#ppt_y+0.1"/>
                                          </p:val>
                                        </p:tav>
                                        <p:tav tm="100000">
                                          <p:val>
                                            <p:strVal val="#ppt_y"/>
                                          </p:val>
                                        </p:tav>
                                      </p:tavLst>
                                    </p:anim>
                                    <p:animEffect transition="in" filter="fade">
                                      <p:cBhvr>
                                        <p:cTn id="157" dur="500"/>
                                        <p:tgtEl>
                                          <p:spTgt spid="40"/>
                                        </p:tgtEl>
                                      </p:cBhvr>
                                    </p:animEffect>
                                  </p:childTnLst>
                                </p:cTn>
                              </p:par>
                            </p:childTnLst>
                          </p:cTn>
                        </p:par>
                      </p:childTnLst>
                    </p:cTn>
                  </p:par>
                  <p:par>
                    <p:cTn id="159" fill="hold">
                      <p:stCondLst>
                        <p:cond delay="indefinite"/>
                      </p:stCondLst>
                      <p:childTnLst>
                        <p:par>
                          <p:cTn id="160" fill="hold">
                            <p:stCondLst>
                              <p:cond delay="0"/>
                            </p:stCondLst>
                            <p:childTnLst>
                              <p:par>
                                <p:cTn id="165" presetID="2" presetClass="entr" presetSubtype="4" fill="hold" grpId="0" nodeType="clickEffect">
                                  <p:stCondLst>
                                    <p:cond delay="0"/>
                                  </p:stCondLst>
                                  <p:childTnLst>
                                    <p:set>
                                      <p:cBhvr>
                                        <p:cTn id="161" dur="1" fill="hold">
                                          <p:stCondLst>
                                            <p:cond delay="0"/>
                                          </p:stCondLst>
                                        </p:cTn>
                                        <p:tgtEl>
                                          <p:spTgt spid="41"/>
                                        </p:tgtEl>
                                        <p:attrNameLst>
                                          <p:attrName>style.visibility</p:attrName>
                                        </p:attrNameLst>
                                      </p:cBhvr>
                                      <p:to>
                                        <p:strVal val="visible"/>
                                      </p:to>
                                    </p:set>
                                    <p:anim calcmode="lin" valueType="num">
                                      <p:cBhvr additive="base">
                                        <p:cTn id="162" dur="500" fill="hold"/>
                                        <p:tgtEl>
                                          <p:spTgt spid="41"/>
                                        </p:tgtEl>
                                        <p:attrNameLst>
                                          <p:attrName>ppt_x</p:attrName>
                                        </p:attrNameLst>
                                      </p:cBhvr>
                                      <p:tavLst>
                                        <p:tav tm="0">
                                          <p:val>
                                            <p:strVal val="#ppt_x"/>
                                          </p:val>
                                        </p:tav>
                                        <p:tav tm="100000">
                                          <p:val>
                                            <p:strVal val="#ppt_x"/>
                                          </p:val>
                                        </p:tav>
                                      </p:tavLst>
                                    </p:anim>
                                    <p:anim calcmode="lin" valueType="num">
                                      <p:cBhvr additive="base">
                                        <p:cTn id="163" dur="500" fill="hold"/>
                                        <p:tgtEl>
                                          <p:spTgt spid="41"/>
                                        </p:tgtEl>
                                        <p:attrNameLst>
                                          <p:attrName>ppt_y</p:attrName>
                                        </p:attrNameLst>
                                      </p:cBhvr>
                                      <p:tavLst>
                                        <p:tav tm="0">
                                          <p:val>
                                            <p:strVal val="#ppt_y+0.1"/>
                                          </p:val>
                                        </p:tav>
                                        <p:tav tm="100000">
                                          <p:val>
                                            <p:strVal val="#ppt_y"/>
                                          </p:val>
                                        </p:tav>
                                      </p:tavLst>
                                    </p:anim>
                                    <p:animEffect transition="in" filter="fade">
                                      <p:cBhvr>
                                        <p:cTn id="164" dur="500"/>
                                        <p:tgtEl>
                                          <p:spTgt spid="41"/>
                                        </p:tgtEl>
                                      </p:cBhvr>
                                    </p:animEffect>
                                  </p:childTnLst>
                                </p:cTn>
                              </p:par>
                              <p:par>
                                <p:cTn id="170" presetID="2" presetClass="entr" presetSubtype="4" fill="hold" grpId="0" nodeType="withEffect">
                                  <p:stCondLst>
                                    <p:cond delay="0"/>
                                  </p:stCondLst>
                                  <p:childTnLst>
                                    <p:set>
                                      <p:cBhvr>
                                        <p:cTn id="166" dur="1" fill="hold">
                                          <p:stCondLst>
                                            <p:cond delay="0"/>
                                          </p:stCondLst>
                                        </p:cTn>
                                        <p:tgtEl>
                                          <p:spTgt spid="42"/>
                                        </p:tgtEl>
                                        <p:attrNameLst>
                                          <p:attrName>style.visibility</p:attrName>
                                        </p:attrNameLst>
                                      </p:cBhvr>
                                      <p:to>
                                        <p:strVal val="visible"/>
                                      </p:to>
                                    </p:set>
                                    <p:anim calcmode="lin" valueType="num">
                                      <p:cBhvr additive="base">
                                        <p:cTn id="167" dur="500" fill="hold"/>
                                        <p:tgtEl>
                                          <p:spTgt spid="42"/>
                                        </p:tgtEl>
                                        <p:attrNameLst>
                                          <p:attrName>ppt_x</p:attrName>
                                        </p:attrNameLst>
                                      </p:cBhvr>
                                      <p:tavLst>
                                        <p:tav tm="0">
                                          <p:val>
                                            <p:strVal val="#ppt_x"/>
                                          </p:val>
                                        </p:tav>
                                        <p:tav tm="100000">
                                          <p:val>
                                            <p:strVal val="#ppt_x"/>
                                          </p:val>
                                        </p:tav>
                                      </p:tavLst>
                                    </p:anim>
                                    <p:anim calcmode="lin" valueType="num">
                                      <p:cBhvr additive="base">
                                        <p:cTn id="168" dur="500" fill="hold"/>
                                        <p:tgtEl>
                                          <p:spTgt spid="42"/>
                                        </p:tgtEl>
                                        <p:attrNameLst>
                                          <p:attrName>ppt_y</p:attrName>
                                        </p:attrNameLst>
                                      </p:cBhvr>
                                      <p:tavLst>
                                        <p:tav tm="0">
                                          <p:val>
                                            <p:strVal val="#ppt_y+0.1"/>
                                          </p:val>
                                        </p:tav>
                                        <p:tav tm="100000">
                                          <p:val>
                                            <p:strVal val="#ppt_y"/>
                                          </p:val>
                                        </p:tav>
                                      </p:tavLst>
                                    </p:anim>
                                    <p:animEffect transition="in" filter="fade">
                                      <p:cBhvr>
                                        <p:cTn id="169" dur="500"/>
                                        <p:tgtEl>
                                          <p:spTgt spid="42"/>
                                        </p:tgtEl>
                                      </p:cBhvr>
                                    </p:animEffect>
                                  </p:childTnLst>
                                </p:cTn>
                              </p:par>
                              <p:par>
                                <p:cTn id="175" presetID="2" presetClass="entr" presetSubtype="4" fill="hold" grpId="0" nodeType="withEffect">
                                  <p:stCondLst>
                                    <p:cond delay="0"/>
                                  </p:stCondLst>
                                  <p:childTnLst>
                                    <p:set>
                                      <p:cBhvr>
                                        <p:cTn id="171" dur="1" fill="hold">
                                          <p:stCondLst>
                                            <p:cond delay="0"/>
                                          </p:stCondLst>
                                        </p:cTn>
                                        <p:tgtEl>
                                          <p:spTgt spid="43"/>
                                        </p:tgtEl>
                                        <p:attrNameLst>
                                          <p:attrName>style.visibility</p:attrName>
                                        </p:attrNameLst>
                                      </p:cBhvr>
                                      <p:to>
                                        <p:strVal val="visible"/>
                                      </p:to>
                                    </p:set>
                                    <p:anim calcmode="lin" valueType="num">
                                      <p:cBhvr additive="base">
                                        <p:cTn id="172" dur="500" fill="hold"/>
                                        <p:tgtEl>
                                          <p:spTgt spid="43"/>
                                        </p:tgtEl>
                                        <p:attrNameLst>
                                          <p:attrName>ppt_x</p:attrName>
                                        </p:attrNameLst>
                                      </p:cBhvr>
                                      <p:tavLst>
                                        <p:tav tm="0">
                                          <p:val>
                                            <p:strVal val="#ppt_x"/>
                                          </p:val>
                                        </p:tav>
                                        <p:tav tm="100000">
                                          <p:val>
                                            <p:strVal val="#ppt_x"/>
                                          </p:val>
                                        </p:tav>
                                      </p:tavLst>
                                    </p:anim>
                                    <p:anim calcmode="lin" valueType="num">
                                      <p:cBhvr additive="base">
                                        <p:cTn id="173" dur="500" fill="hold"/>
                                        <p:tgtEl>
                                          <p:spTgt spid="43"/>
                                        </p:tgtEl>
                                        <p:attrNameLst>
                                          <p:attrName>ppt_y</p:attrName>
                                        </p:attrNameLst>
                                      </p:cBhvr>
                                      <p:tavLst>
                                        <p:tav tm="0">
                                          <p:val>
                                            <p:strVal val="#ppt_y+0.1"/>
                                          </p:val>
                                        </p:tav>
                                        <p:tav tm="100000">
                                          <p:val>
                                            <p:strVal val="#ppt_y"/>
                                          </p:val>
                                        </p:tav>
                                      </p:tavLst>
                                    </p:anim>
                                    <p:animEffect transition="in" filter="fade">
                                      <p:cBhvr>
                                        <p:cTn id="17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KafkaProducer: Your App's Way In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thermostat app reads a smart thermostat - and writes each reading to Kafka</a:t>
            </a:r>
          </a:p>
        </p:txBody>
      </p:sp>
      <p:sp>
        <p:nvSpPr>
          <p:cNvPr id="11" name="a1u_app10"/>
          <p:cNvSpPr/>
          <p:nvPr/>
        </p:nvSpPr>
        <p:spPr>
          <a:xfrm>
            <a:off x="2057400" y="1234440"/>
            <a:ext cx="4206240" cy="1143000"/>
          </a:xfrm>
          <a:prstGeom prst="roundRect">
            <a:avLst>
              <a:gd name="adj" fmla="val 6400"/>
            </a:avLst>
          </a:prstGeom>
          <a:noFill/>
          <a:ln w="12700">
            <a:solidFill>
              <a:srgbClr val="FB92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lb11"/>
          <p:cNvSpPr txBox="1"/>
          <p:nvPr/>
        </p:nvSpPr>
        <p:spPr>
          <a:xfrm>
            <a:off x="2194560" y="1271016"/>
            <a:ext cx="2743200" cy="201168"/>
          </a:xfrm>
          <a:prstGeom prst="rect">
            <a:avLst/>
          </a:prstGeom>
          <a:noFill/>
        </p:spPr>
        <p:txBody>
          <a:bodyPr wrap="square" lIns="0" tIns="0" rIns="0" bIns="0" anchor="ctr">
            <a:spAutoFit/>
          </a:bodyPr>
          <a:lstStyle/>
          <a:p>
            <a:pPr algn="l"/>
            <a:r>
              <a:rPr sz="800" b="1">
                <a:solidFill>
                  <a:srgbClr val="C2410C"/>
                </a:solidFill>
                <a:latin typeface="Segoe UI"/>
              </a:rPr>
              <a:t>THERMOSTAT APP</a:t>
            </a:r>
          </a:p>
        </p:txBody>
      </p:sp>
      <p:sp>
        <p:nvSpPr>
          <p:cNvPr id="13" name="a1u_nd12"/>
          <p:cNvSpPr/>
          <p:nvPr/>
        </p:nvSpPr>
        <p:spPr>
          <a:xfrm>
            <a:off x="457200" y="1554480"/>
            <a:ext cx="1325880" cy="658368"/>
          </a:xfrm>
          <a:prstGeom prst="roundRect">
            <a:avLst>
              <a:gd name="adj" fmla="val 11111"/>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_ndt13"/>
          <p:cNvSpPr txBox="1"/>
          <p:nvPr/>
        </p:nvSpPr>
        <p:spPr>
          <a:xfrm>
            <a:off x="502920" y="1591056"/>
            <a:ext cx="1234439" cy="310896"/>
          </a:xfrm>
          <a:prstGeom prst="rect">
            <a:avLst/>
          </a:prstGeom>
          <a:noFill/>
        </p:spPr>
        <p:txBody>
          <a:bodyPr wrap="square" lIns="0" tIns="0" rIns="0" bIns="0" anchor="b">
            <a:spAutoFit/>
          </a:bodyPr>
          <a:lstStyle/>
          <a:p>
            <a:pPr algn="ctr"/>
            <a:r>
              <a:rPr sz="900" b="1">
                <a:solidFill>
                  <a:srgbClr val="1C1917"/>
                </a:solidFill>
                <a:latin typeface="Segoe UI"/>
              </a:rPr>
              <a:t>Smart thermostat</a:t>
            </a:r>
          </a:p>
        </p:txBody>
      </p:sp>
      <p:sp>
        <p:nvSpPr>
          <p:cNvPr id="15" name="a1u_nds14"/>
          <p:cNvSpPr txBox="1"/>
          <p:nvPr/>
        </p:nvSpPr>
        <p:spPr>
          <a:xfrm>
            <a:off x="502920" y="1911095"/>
            <a:ext cx="1234439" cy="265176"/>
          </a:xfrm>
          <a:prstGeom prst="rect">
            <a:avLst/>
          </a:prstGeom>
          <a:noFill/>
        </p:spPr>
        <p:txBody>
          <a:bodyPr wrap="square" lIns="0" tIns="0" rIns="0" bIns="0" anchor="t">
            <a:spAutoFit/>
          </a:bodyPr>
          <a:lstStyle/>
          <a:p>
            <a:pPr algn="ctr"/>
            <a:r>
              <a:rPr sz="750" b="0">
                <a:solidFill>
                  <a:srgbClr val="A16207"/>
                </a:solidFill>
                <a:latin typeface="Segoe UI"/>
              </a:rPr>
              <a:t>reading every minute</a:t>
            </a:r>
          </a:p>
        </p:txBody>
      </p:sp>
      <p:cxnSp>
        <p:nvCxnSpPr>
          <p:cNvPr id="16" name="a1u_ar15"/>
          <p:cNvCxnSpPr/>
          <p:nvPr/>
        </p:nvCxnSpPr>
        <p:spPr>
          <a:xfrm>
            <a:off x="1801368" y="1883664"/>
            <a:ext cx="420624" cy="0"/>
          </a:xfrm>
          <a:prstGeom prst="line">
            <a:avLst/>
          </a:prstGeom>
          <a:ln w="1905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a1ud100_nd16"/>
          <p:cNvSpPr/>
          <p:nvPr/>
        </p:nvSpPr>
        <p:spPr>
          <a:xfrm>
            <a:off x="2240280" y="1554480"/>
            <a:ext cx="1691640" cy="658368"/>
          </a:xfrm>
          <a:prstGeom prst="roundRect">
            <a:avLst>
              <a:gd name="adj" fmla="val 11111"/>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ud100_ndt17"/>
          <p:cNvSpPr txBox="1"/>
          <p:nvPr/>
        </p:nvSpPr>
        <p:spPr>
          <a:xfrm>
            <a:off x="2286000" y="1591056"/>
            <a:ext cx="1600200" cy="310896"/>
          </a:xfrm>
          <a:prstGeom prst="rect">
            <a:avLst/>
          </a:prstGeom>
          <a:noFill/>
        </p:spPr>
        <p:txBody>
          <a:bodyPr wrap="square" lIns="0" tIns="0" rIns="0" bIns="0" anchor="b">
            <a:spAutoFit/>
          </a:bodyPr>
          <a:lstStyle/>
          <a:p>
            <a:pPr algn="ctr"/>
            <a:r>
              <a:rPr sz="950" b="1">
                <a:solidFill>
                  <a:srgbClr val="1C1917"/>
                </a:solidFill>
                <a:latin typeface="Segoe UI"/>
              </a:rPr>
              <a:t>Your code</a:t>
            </a:r>
          </a:p>
        </p:txBody>
      </p:sp>
      <p:sp>
        <p:nvSpPr>
          <p:cNvPr id="19" name="a1ud100_nds18"/>
          <p:cNvSpPr txBox="1"/>
          <p:nvPr/>
        </p:nvSpPr>
        <p:spPr>
          <a:xfrm>
            <a:off x="2286000" y="1911095"/>
            <a:ext cx="1600200" cy="265176"/>
          </a:xfrm>
          <a:prstGeom prst="rect">
            <a:avLst/>
          </a:prstGeom>
          <a:noFill/>
        </p:spPr>
        <p:txBody>
          <a:bodyPr wrap="square" lIns="0" tIns="0" rIns="0" bIns="0" anchor="t">
            <a:spAutoFit/>
          </a:bodyPr>
          <a:lstStyle/>
          <a:p>
            <a:pPr algn="ctr"/>
            <a:r>
              <a:rPr sz="800" b="0">
                <a:solidFill>
                  <a:srgbClr val="EA580C"/>
                </a:solidFill>
                <a:latin typeface="Segoe UI"/>
              </a:rPr>
              <a:t>read, then send</a:t>
            </a:r>
          </a:p>
        </p:txBody>
      </p:sp>
      <p:cxnSp>
        <p:nvCxnSpPr>
          <p:cNvPr id="20" name="a2u_ar19"/>
          <p:cNvCxnSpPr/>
          <p:nvPr/>
        </p:nvCxnSpPr>
        <p:spPr>
          <a:xfrm>
            <a:off x="3950208" y="1883664"/>
            <a:ext cx="283464"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2u_nd20"/>
          <p:cNvSpPr/>
          <p:nvPr/>
        </p:nvSpPr>
        <p:spPr>
          <a:xfrm>
            <a:off x="4251960" y="1554480"/>
            <a:ext cx="1828800" cy="658368"/>
          </a:xfrm>
          <a:prstGeom prst="roundRect">
            <a:avLst>
              <a:gd name="adj" fmla="val 11111"/>
            </a:avLst>
          </a:prstGeom>
          <a:solidFill>
            <a:srgbClr val="FFEDD5"/>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_ndt21"/>
          <p:cNvSpPr txBox="1"/>
          <p:nvPr/>
        </p:nvSpPr>
        <p:spPr>
          <a:xfrm>
            <a:off x="4297680" y="1591056"/>
            <a:ext cx="1737360" cy="310896"/>
          </a:xfrm>
          <a:prstGeom prst="rect">
            <a:avLst/>
          </a:prstGeom>
          <a:noFill/>
        </p:spPr>
        <p:txBody>
          <a:bodyPr wrap="square" lIns="0" tIns="0" rIns="0" bIns="0" anchor="b">
            <a:spAutoFit/>
          </a:bodyPr>
          <a:lstStyle/>
          <a:p>
            <a:pPr algn="ctr"/>
            <a:r>
              <a:rPr sz="1000" b="1">
                <a:solidFill>
                  <a:srgbClr val="1C1917"/>
                </a:solidFill>
                <a:latin typeface="Segoe UI"/>
              </a:rPr>
              <a:t>KafkaProducer</a:t>
            </a:r>
          </a:p>
        </p:txBody>
      </p:sp>
      <p:sp>
        <p:nvSpPr>
          <p:cNvPr id="23" name="a2u_nds22"/>
          <p:cNvSpPr txBox="1"/>
          <p:nvPr/>
        </p:nvSpPr>
        <p:spPr>
          <a:xfrm>
            <a:off x="4297680" y="1911095"/>
            <a:ext cx="1737360" cy="265176"/>
          </a:xfrm>
          <a:prstGeom prst="rect">
            <a:avLst/>
          </a:prstGeom>
          <a:noFill/>
        </p:spPr>
        <p:txBody>
          <a:bodyPr wrap="square" lIns="0" tIns="0" rIns="0" bIns="0" anchor="t">
            <a:spAutoFit/>
          </a:bodyPr>
          <a:lstStyle/>
          <a:p>
            <a:pPr algn="ctr"/>
            <a:r>
              <a:rPr sz="800" b="0">
                <a:solidFill>
                  <a:srgbClr val="EA580C"/>
                </a:solidFill>
                <a:latin typeface="Segoe UI"/>
              </a:rPr>
              <a:t>the client library</a:t>
            </a:r>
          </a:p>
        </p:txBody>
      </p:sp>
      <p:cxnSp>
        <p:nvCxnSpPr>
          <p:cNvPr id="24" name="a2ud100_ar23"/>
          <p:cNvCxnSpPr/>
          <p:nvPr/>
        </p:nvCxnSpPr>
        <p:spPr>
          <a:xfrm>
            <a:off x="6281928" y="1883664"/>
            <a:ext cx="420624" cy="0"/>
          </a:xfrm>
          <a:prstGeom prst="line">
            <a:avLst/>
          </a:prstGeom>
          <a:ln w="254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a2ud100_cl24"/>
          <p:cNvSpPr/>
          <p:nvPr/>
        </p:nvSpPr>
        <p:spPr>
          <a:xfrm>
            <a:off x="6720840" y="1325880"/>
            <a:ext cx="1965960" cy="1005840"/>
          </a:xfrm>
          <a:prstGeom prst="roundRect">
            <a:avLst>
              <a:gd name="adj" fmla="val 9090"/>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d100_clh25"/>
          <p:cNvSpPr txBox="1"/>
          <p:nvPr/>
        </p:nvSpPr>
        <p:spPr>
          <a:xfrm>
            <a:off x="6885431" y="1417320"/>
            <a:ext cx="1691639"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27" name="a2ud150_bb26"/>
          <p:cNvSpPr/>
          <p:nvPr/>
        </p:nvSpPr>
        <p:spPr>
          <a:xfrm>
            <a:off x="6903720" y="1719072"/>
            <a:ext cx="457200" cy="457200"/>
          </a:xfrm>
          <a:prstGeom prst="roundRect">
            <a:avLst>
              <a:gd name="adj" fmla="val 12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d150_bbt27"/>
          <p:cNvSpPr txBox="1"/>
          <p:nvPr/>
        </p:nvSpPr>
        <p:spPr>
          <a:xfrm>
            <a:off x="6903720" y="1719072"/>
            <a:ext cx="457200" cy="457200"/>
          </a:xfrm>
          <a:prstGeom prst="rect">
            <a:avLst/>
          </a:prstGeom>
          <a:noFill/>
        </p:spPr>
        <p:txBody>
          <a:bodyPr wrap="square" lIns="0" tIns="0" rIns="0" bIns="0" anchor="ctr">
            <a:spAutoFit/>
          </a:bodyPr>
          <a:lstStyle/>
          <a:p>
            <a:pPr algn="ctr"/>
            <a:r>
              <a:rPr sz="900" b="1">
                <a:solidFill>
                  <a:srgbClr val="0E7490"/>
                </a:solidFill>
                <a:latin typeface="Consolas"/>
              </a:rPr>
              <a:t>b1</a:t>
            </a:r>
          </a:p>
        </p:txBody>
      </p:sp>
      <p:sp>
        <p:nvSpPr>
          <p:cNvPr id="29" name="a2ud230_bb28"/>
          <p:cNvSpPr/>
          <p:nvPr/>
        </p:nvSpPr>
        <p:spPr>
          <a:xfrm>
            <a:off x="7470648" y="1719072"/>
            <a:ext cx="457200" cy="457200"/>
          </a:xfrm>
          <a:prstGeom prst="roundRect">
            <a:avLst>
              <a:gd name="adj" fmla="val 12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ud230_bbt29"/>
          <p:cNvSpPr txBox="1"/>
          <p:nvPr/>
        </p:nvSpPr>
        <p:spPr>
          <a:xfrm>
            <a:off x="7470648" y="1719072"/>
            <a:ext cx="457200" cy="457200"/>
          </a:xfrm>
          <a:prstGeom prst="rect">
            <a:avLst/>
          </a:prstGeom>
          <a:noFill/>
        </p:spPr>
        <p:txBody>
          <a:bodyPr wrap="square" lIns="0" tIns="0" rIns="0" bIns="0" anchor="ctr">
            <a:spAutoFit/>
          </a:bodyPr>
          <a:lstStyle/>
          <a:p>
            <a:pPr algn="ctr"/>
            <a:r>
              <a:rPr sz="900" b="1">
                <a:solidFill>
                  <a:srgbClr val="0E7490"/>
                </a:solidFill>
                <a:latin typeface="Consolas"/>
              </a:rPr>
              <a:t>b2</a:t>
            </a:r>
          </a:p>
        </p:txBody>
      </p:sp>
      <p:sp>
        <p:nvSpPr>
          <p:cNvPr id="31" name="a2ud310_bb30"/>
          <p:cNvSpPr/>
          <p:nvPr/>
        </p:nvSpPr>
        <p:spPr>
          <a:xfrm>
            <a:off x="8037575" y="1719072"/>
            <a:ext cx="457200" cy="457200"/>
          </a:xfrm>
          <a:prstGeom prst="roundRect">
            <a:avLst>
              <a:gd name="adj" fmla="val 12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d310_bbt31"/>
          <p:cNvSpPr txBox="1"/>
          <p:nvPr/>
        </p:nvSpPr>
        <p:spPr>
          <a:xfrm>
            <a:off x="8037575" y="1719072"/>
            <a:ext cx="457200" cy="457200"/>
          </a:xfrm>
          <a:prstGeom prst="rect">
            <a:avLst/>
          </a:prstGeom>
          <a:noFill/>
        </p:spPr>
        <p:txBody>
          <a:bodyPr wrap="square" lIns="0" tIns="0" rIns="0" bIns="0" anchor="ctr">
            <a:spAutoFit/>
          </a:bodyPr>
          <a:lstStyle/>
          <a:p>
            <a:pPr algn="ctr"/>
            <a:r>
              <a:rPr sz="900" b="1">
                <a:solidFill>
                  <a:srgbClr val="0E7490"/>
                </a:solidFill>
                <a:latin typeface="Consolas"/>
              </a:rPr>
              <a:t>b3</a:t>
            </a:r>
          </a:p>
        </p:txBody>
      </p:sp>
      <p:sp>
        <p:nvSpPr>
          <p:cNvPr id="33" name="a3u_card32"/>
          <p:cNvSpPr/>
          <p:nvPr/>
        </p:nvSpPr>
        <p:spPr>
          <a:xfrm>
            <a:off x="457200" y="2606040"/>
            <a:ext cx="1956816" cy="1005840"/>
          </a:xfrm>
          <a:prstGeom prst="roundRect">
            <a:avLst>
              <a:gd name="adj" fmla="val 1090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_acc33"/>
          <p:cNvSpPr/>
          <p:nvPr/>
        </p:nvSpPr>
        <p:spPr>
          <a:xfrm>
            <a:off x="457200" y="2606040"/>
            <a:ext cx="1956816"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u_tt34"/>
          <p:cNvSpPr txBox="1"/>
          <p:nvPr/>
        </p:nvSpPr>
        <p:spPr>
          <a:xfrm>
            <a:off x="603504" y="2715768"/>
            <a:ext cx="1682496" cy="256032"/>
          </a:xfrm>
          <a:prstGeom prst="rect">
            <a:avLst/>
          </a:prstGeom>
          <a:noFill/>
        </p:spPr>
        <p:txBody>
          <a:bodyPr wrap="square" lIns="0" tIns="0" rIns="0" bIns="0" anchor="ctr">
            <a:spAutoFit/>
          </a:bodyPr>
          <a:lstStyle/>
          <a:p>
            <a:pPr algn="l"/>
            <a:r>
              <a:rPr sz="1050" b="1">
                <a:solidFill>
                  <a:srgbClr val="1C1917"/>
                </a:solidFill>
                <a:latin typeface="Segoe UI"/>
              </a:rPr>
              <a:t>Network plumbing</a:t>
            </a:r>
          </a:p>
        </p:txBody>
      </p:sp>
      <p:sp>
        <p:nvSpPr>
          <p:cNvPr id="36" name="a3ud60_tb35"/>
          <p:cNvSpPr txBox="1"/>
          <p:nvPr/>
        </p:nvSpPr>
        <p:spPr>
          <a:xfrm>
            <a:off x="603504" y="3008376"/>
            <a:ext cx="1682496" cy="548640"/>
          </a:xfrm>
          <a:prstGeom prst="rect">
            <a:avLst/>
          </a:prstGeom>
          <a:noFill/>
        </p:spPr>
        <p:txBody>
          <a:bodyPr wrap="square" lIns="0" tIns="0" rIns="0" bIns="0" anchor="t">
            <a:spAutoFit/>
          </a:bodyPr>
          <a:lstStyle/>
          <a:p>
            <a:pPr algn="l"/>
            <a:r>
              <a:rPr sz="850" b="0">
                <a:solidFill>
                  <a:srgbClr val="44403C"/>
                </a:solidFill>
                <a:latin typeface="Segoe UI"/>
              </a:rPr>
              <a:t>connects to the right brokers and keeps the connections</a:t>
            </a:r>
          </a:p>
        </p:txBody>
      </p:sp>
      <p:sp>
        <p:nvSpPr>
          <p:cNvPr id="37" name="a3u_card36"/>
          <p:cNvSpPr/>
          <p:nvPr/>
        </p:nvSpPr>
        <p:spPr>
          <a:xfrm>
            <a:off x="2551176" y="2606040"/>
            <a:ext cx="1956816" cy="1005840"/>
          </a:xfrm>
          <a:prstGeom prst="roundRect">
            <a:avLst>
              <a:gd name="adj" fmla="val 1090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_acc37"/>
          <p:cNvSpPr/>
          <p:nvPr/>
        </p:nvSpPr>
        <p:spPr>
          <a:xfrm>
            <a:off x="2551176" y="2606040"/>
            <a:ext cx="1956816"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u_tt38"/>
          <p:cNvSpPr txBox="1"/>
          <p:nvPr/>
        </p:nvSpPr>
        <p:spPr>
          <a:xfrm>
            <a:off x="2697480" y="2715768"/>
            <a:ext cx="1682496" cy="256032"/>
          </a:xfrm>
          <a:prstGeom prst="rect">
            <a:avLst/>
          </a:prstGeom>
          <a:noFill/>
        </p:spPr>
        <p:txBody>
          <a:bodyPr wrap="square" lIns="0" tIns="0" rIns="0" bIns="0" anchor="ctr">
            <a:spAutoFit/>
          </a:bodyPr>
          <a:lstStyle/>
          <a:p>
            <a:pPr algn="l"/>
            <a:r>
              <a:rPr sz="1050" b="1">
                <a:solidFill>
                  <a:srgbClr val="1C1917"/>
                </a:solidFill>
                <a:latin typeface="Segoe UI"/>
              </a:rPr>
              <a:t>Acknowledgements</a:t>
            </a:r>
          </a:p>
        </p:txBody>
      </p:sp>
      <p:sp>
        <p:nvSpPr>
          <p:cNvPr id="40" name="a3ud60_tb39"/>
          <p:cNvSpPr txBox="1"/>
          <p:nvPr/>
        </p:nvSpPr>
        <p:spPr>
          <a:xfrm>
            <a:off x="2697480" y="3008376"/>
            <a:ext cx="1682496" cy="548640"/>
          </a:xfrm>
          <a:prstGeom prst="rect">
            <a:avLst/>
          </a:prstGeom>
          <a:noFill/>
        </p:spPr>
        <p:txBody>
          <a:bodyPr wrap="square" lIns="0" tIns="0" rIns="0" bIns="0" anchor="t">
            <a:spAutoFit/>
          </a:bodyPr>
          <a:lstStyle/>
          <a:p>
            <a:pPr algn="l"/>
            <a:r>
              <a:rPr sz="850" b="0">
                <a:solidFill>
                  <a:srgbClr val="44403C"/>
                </a:solidFill>
                <a:latin typeface="Segoe UI"/>
              </a:rPr>
              <a:t>knows when a message is safely written - or retries it</a:t>
            </a:r>
          </a:p>
        </p:txBody>
      </p:sp>
      <p:sp>
        <p:nvSpPr>
          <p:cNvPr id="41" name="a3u_card40"/>
          <p:cNvSpPr/>
          <p:nvPr/>
        </p:nvSpPr>
        <p:spPr>
          <a:xfrm>
            <a:off x="4645152" y="2606040"/>
            <a:ext cx="1956816" cy="1005840"/>
          </a:xfrm>
          <a:prstGeom prst="roundRect">
            <a:avLst>
              <a:gd name="adj" fmla="val 1090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_acc41"/>
          <p:cNvSpPr/>
          <p:nvPr/>
        </p:nvSpPr>
        <p:spPr>
          <a:xfrm>
            <a:off x="4645152" y="2606040"/>
            <a:ext cx="1956816"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u_tt42"/>
          <p:cNvSpPr txBox="1"/>
          <p:nvPr/>
        </p:nvSpPr>
        <p:spPr>
          <a:xfrm>
            <a:off x="4791456" y="2715768"/>
            <a:ext cx="1682496" cy="256032"/>
          </a:xfrm>
          <a:prstGeom prst="rect">
            <a:avLst/>
          </a:prstGeom>
          <a:noFill/>
        </p:spPr>
        <p:txBody>
          <a:bodyPr wrap="square" lIns="0" tIns="0" rIns="0" bIns="0" anchor="ctr">
            <a:spAutoFit/>
          </a:bodyPr>
          <a:lstStyle/>
          <a:p>
            <a:pPr algn="l"/>
            <a:r>
              <a:rPr sz="1050" b="1">
                <a:solidFill>
                  <a:srgbClr val="1C1917"/>
                </a:solidFill>
                <a:latin typeface="Segoe UI"/>
              </a:rPr>
              <a:t>Batching</a:t>
            </a:r>
          </a:p>
        </p:txBody>
      </p:sp>
      <p:sp>
        <p:nvSpPr>
          <p:cNvPr id="44" name="a3ud60_tb43"/>
          <p:cNvSpPr txBox="1"/>
          <p:nvPr/>
        </p:nvSpPr>
        <p:spPr>
          <a:xfrm>
            <a:off x="4791456" y="3008376"/>
            <a:ext cx="1682496" cy="548640"/>
          </a:xfrm>
          <a:prstGeom prst="rect">
            <a:avLst/>
          </a:prstGeom>
          <a:noFill/>
        </p:spPr>
        <p:txBody>
          <a:bodyPr wrap="square" lIns="0" tIns="0" rIns="0" bIns="0" anchor="t">
            <a:spAutoFit/>
          </a:bodyPr>
          <a:lstStyle/>
          <a:p>
            <a:pPr algn="l"/>
            <a:r>
              <a:rPr sz="850" b="0">
                <a:solidFill>
                  <a:srgbClr val="44403C"/>
                </a:solidFill>
                <a:latin typeface="Segoe UI"/>
              </a:rPr>
              <a:t>groups messages for the same partition into one request</a:t>
            </a:r>
          </a:p>
        </p:txBody>
      </p:sp>
      <p:sp>
        <p:nvSpPr>
          <p:cNvPr id="45" name="a3u_card44"/>
          <p:cNvSpPr/>
          <p:nvPr/>
        </p:nvSpPr>
        <p:spPr>
          <a:xfrm>
            <a:off x="6739128" y="2606040"/>
            <a:ext cx="1956816" cy="1005840"/>
          </a:xfrm>
          <a:prstGeom prst="roundRect">
            <a:avLst>
              <a:gd name="adj" fmla="val 10909"/>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3u_acc45"/>
          <p:cNvSpPr/>
          <p:nvPr/>
        </p:nvSpPr>
        <p:spPr>
          <a:xfrm>
            <a:off x="6739128" y="2606040"/>
            <a:ext cx="1956816"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u_tt46"/>
          <p:cNvSpPr txBox="1"/>
          <p:nvPr/>
        </p:nvSpPr>
        <p:spPr>
          <a:xfrm>
            <a:off x="6885432" y="2715768"/>
            <a:ext cx="1682496" cy="256032"/>
          </a:xfrm>
          <a:prstGeom prst="rect">
            <a:avLst/>
          </a:prstGeom>
          <a:noFill/>
        </p:spPr>
        <p:txBody>
          <a:bodyPr wrap="square" lIns="0" tIns="0" rIns="0" bIns="0" anchor="ctr">
            <a:spAutoFit/>
          </a:bodyPr>
          <a:lstStyle/>
          <a:p>
            <a:pPr algn="l"/>
            <a:r>
              <a:rPr sz="1050" b="1">
                <a:solidFill>
                  <a:srgbClr val="1C1917"/>
                </a:solidFill>
                <a:latin typeface="Segoe UI"/>
              </a:rPr>
              <a:t>Latency vs throughput</a:t>
            </a:r>
          </a:p>
        </p:txBody>
      </p:sp>
      <p:sp>
        <p:nvSpPr>
          <p:cNvPr id="48" name="a3ud60_tb47"/>
          <p:cNvSpPr txBox="1"/>
          <p:nvPr/>
        </p:nvSpPr>
        <p:spPr>
          <a:xfrm>
            <a:off x="6885432" y="3008376"/>
            <a:ext cx="1682496" cy="548640"/>
          </a:xfrm>
          <a:prstGeom prst="rect">
            <a:avLst/>
          </a:prstGeom>
          <a:noFill/>
        </p:spPr>
        <p:txBody>
          <a:bodyPr wrap="square" lIns="0" tIns="0" rIns="0" bIns="0" anchor="t">
            <a:spAutoFit/>
          </a:bodyPr>
          <a:lstStyle/>
          <a:p>
            <a:pPr algn="l"/>
            <a:r>
              <a:rPr sz="850" b="0">
                <a:solidFill>
                  <a:srgbClr val="44403C"/>
                </a:solidFill>
                <a:latin typeface="Segoe UI"/>
              </a:rPr>
              <a:t>you tune the trade-off in configuration</a:t>
            </a:r>
          </a:p>
        </p:txBody>
      </p:sp>
      <p:sp>
        <p:nvSpPr>
          <p:cNvPr id="49" name="a4u_nb48"/>
          <p:cNvSpPr/>
          <p:nvPr/>
        </p:nvSpPr>
        <p:spPr>
          <a:xfrm>
            <a:off x="457200" y="4005072"/>
            <a:ext cx="8229600" cy="512064"/>
          </a:xfrm>
          <a:prstGeom prst="roundRect">
            <a:avLst>
              <a:gd name="adj" fmla="val 14285"/>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4u_nacc49"/>
          <p:cNvSpPr/>
          <p:nvPr/>
        </p:nvSpPr>
        <p:spPr>
          <a:xfrm>
            <a:off x="457200" y="4005072"/>
            <a:ext cx="54864" cy="5120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4u_nt50"/>
          <p:cNvSpPr txBox="1"/>
          <p:nvPr/>
        </p:nvSpPr>
        <p:spPr>
          <a:xfrm>
            <a:off x="658368" y="4005072"/>
            <a:ext cx="7827264" cy="512064"/>
          </a:xfrm>
          <a:prstGeom prst="rect">
            <a:avLst/>
          </a:prstGeom>
          <a:noFill/>
        </p:spPr>
        <p:txBody>
          <a:bodyPr wrap="square" lIns="0" tIns="0" rIns="0" bIns="0" anchor="ctr">
            <a:spAutoFit/>
          </a:bodyPr>
          <a:lstStyle/>
          <a:p>
            <a:pPr algn="l"/>
            <a:r>
              <a:rPr sz="950" b="1">
                <a:solidFill>
                  <a:srgbClr val="C2410C"/>
                </a:solidFill>
                <a:latin typeface="Segoe UI"/>
              </a:rPr>
              <a:t>TIP  </a:t>
            </a:r>
            <a:r>
              <a:rPr sz="950" b="0">
                <a:solidFill>
                  <a:srgbClr val="44403C"/>
                </a:solidFill>
                <a:latin typeface="Segoe UI"/>
              </a:rPr>
              <a:t>One KafkaProducer per application is usual - it is thread-safe, so threads share it.</a:t>
            </a:r>
          </a:p>
        </p:txBody>
      </p:sp>
      <p:sp>
        <p:nvSpPr>
          <p:cNvPr id="52" name="ft5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04</a:t>
            </a:r>
          </a:p>
        </p:txBody>
      </p:sp>
      <p:sp>
        <p:nvSpPr>
          <p:cNvPr id="53" name="ft5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ft5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Producers</a:t>
            </a:r>
          </a:p>
        </p:txBody>
      </p:sp>
      <p:sp>
        <p:nvSpPr>
          <p:cNvPr id="55" name="ft5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10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10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10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10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10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15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15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23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23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31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31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childTnLst>
                          </p:cTn>
                        </p:par>
                      </p:childTnLst>
                    </p:cTn>
                  </p:par>
                  <p:par>
                    <p:cTn id="117" fill="hold">
                      <p:stCondLst>
                        <p:cond delay="indefinite"/>
                      </p:stCondLst>
                      <p:childTnLst>
                        <p:par>
                          <p:cTn id="118" fill="hold">
                            <p:stCondLst>
                              <p:cond delay="0"/>
                            </p:stCondLst>
                            <p:childTnLst>
                              <p:par>
                                <p:cTn id="123" presetID="2" presetClass="entr" presetSubtype="4" fill="hold" grpId="0" nodeType="clickEffect">
                                  <p:stCondLst>
                                    <p:cond delay="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0"/>
                                  </p:stCondLst>
                                  <p:childTnLst>
                                    <p:set>
                                      <p:cBhvr>
                                        <p:cTn id="134" dur="1" fill="hold">
                                          <p:stCondLst>
                                            <p:cond delay="0"/>
                                          </p:stCondLst>
                                        </p:cTn>
                                        <p:tgtEl>
                                          <p:spTgt spid="37"/>
                                        </p:tgtEl>
                                        <p:attrNameLst>
                                          <p:attrName>style.visibility</p:attrName>
                                        </p:attrNameLst>
                                      </p:cBhvr>
                                      <p:to>
                                        <p:strVal val="visible"/>
                                      </p:to>
                                    </p:set>
                                    <p:anim calcmode="lin" valueType="num">
                                      <p:cBhvr additive="base">
                                        <p:cTn id="135" dur="500" fill="hold"/>
                                        <p:tgtEl>
                                          <p:spTgt spid="37"/>
                                        </p:tgtEl>
                                        <p:attrNameLst>
                                          <p:attrName>ppt_x</p:attrName>
                                        </p:attrNameLst>
                                      </p:cBhvr>
                                      <p:tavLst>
                                        <p:tav tm="0">
                                          <p:val>
                                            <p:strVal val="#ppt_x"/>
                                          </p:val>
                                        </p:tav>
                                        <p:tav tm="100000">
                                          <p:val>
                                            <p:strVal val="#ppt_x"/>
                                          </p:val>
                                        </p:tav>
                                      </p:tavLst>
                                    </p:anim>
                                    <p:anim calcmode="lin" valueType="num">
                                      <p:cBhvr additive="base">
                                        <p:cTn id="136" dur="500" fill="hold"/>
                                        <p:tgtEl>
                                          <p:spTgt spid="37"/>
                                        </p:tgtEl>
                                        <p:attrNameLst>
                                          <p:attrName>ppt_y</p:attrName>
                                        </p:attrNameLst>
                                      </p:cBhvr>
                                      <p:tavLst>
                                        <p:tav tm="0">
                                          <p:val>
                                            <p:strVal val="#ppt_y+0.1"/>
                                          </p:val>
                                        </p:tav>
                                        <p:tav tm="100000">
                                          <p:val>
                                            <p:strVal val="#ppt_y"/>
                                          </p:val>
                                        </p:tav>
                                      </p:tavLst>
                                    </p:anim>
                                    <p:animEffect transition="in" filter="fade">
                                      <p:cBhvr>
                                        <p:cTn id="137" dur="500"/>
                                        <p:tgtEl>
                                          <p:spTgt spid="37"/>
                                        </p:tgtEl>
                                      </p:cBhvr>
                                    </p:animEffect>
                                  </p:childTnLst>
                                </p:cTn>
                              </p:par>
                              <p:par>
                                <p:cTn id="143" presetID="2" presetClass="entr" presetSubtype="4" fill="hold" grpId="0" nodeType="withEffect">
                                  <p:stCondLst>
                                    <p:cond delay="0"/>
                                  </p:stCondLst>
                                  <p:childTnLst>
                                    <p:set>
                                      <p:cBhvr>
                                        <p:cTn id="139" dur="1" fill="hold">
                                          <p:stCondLst>
                                            <p:cond delay="0"/>
                                          </p:stCondLst>
                                        </p:cTn>
                                        <p:tgtEl>
                                          <p:spTgt spid="38"/>
                                        </p:tgtEl>
                                        <p:attrNameLst>
                                          <p:attrName>style.visibility</p:attrName>
                                        </p:attrNameLst>
                                      </p:cBhvr>
                                      <p:to>
                                        <p:strVal val="visible"/>
                                      </p:to>
                                    </p:set>
                                    <p:anim calcmode="lin" valueType="num">
                                      <p:cBhvr additive="base">
                                        <p:cTn id="140" dur="500" fill="hold"/>
                                        <p:tgtEl>
                                          <p:spTgt spid="38"/>
                                        </p:tgtEl>
                                        <p:attrNameLst>
                                          <p:attrName>ppt_x</p:attrName>
                                        </p:attrNameLst>
                                      </p:cBhvr>
                                      <p:tavLst>
                                        <p:tav tm="0">
                                          <p:val>
                                            <p:strVal val="#ppt_x"/>
                                          </p:val>
                                        </p:tav>
                                        <p:tav tm="100000">
                                          <p:val>
                                            <p:strVal val="#ppt_x"/>
                                          </p:val>
                                        </p:tav>
                                      </p:tavLst>
                                    </p:anim>
                                    <p:anim calcmode="lin" valueType="num">
                                      <p:cBhvr additive="base">
                                        <p:cTn id="141" dur="500" fill="hold"/>
                                        <p:tgtEl>
                                          <p:spTgt spid="38"/>
                                        </p:tgtEl>
                                        <p:attrNameLst>
                                          <p:attrName>ppt_y</p:attrName>
                                        </p:attrNameLst>
                                      </p:cBhvr>
                                      <p:tavLst>
                                        <p:tav tm="0">
                                          <p:val>
                                            <p:strVal val="#ppt_y+0.1"/>
                                          </p:val>
                                        </p:tav>
                                        <p:tav tm="100000">
                                          <p:val>
                                            <p:strVal val="#ppt_y"/>
                                          </p:val>
                                        </p:tav>
                                      </p:tavLst>
                                    </p:anim>
                                    <p:animEffect transition="in" filter="fade">
                                      <p:cBhvr>
                                        <p:cTn id="142" dur="500"/>
                                        <p:tgtEl>
                                          <p:spTgt spid="38"/>
                                        </p:tgtEl>
                                      </p:cBhvr>
                                    </p:animEffect>
                                  </p:childTnLst>
                                </p:cTn>
                              </p:par>
                              <p:par>
                                <p:cTn id="148" presetID="2" presetClass="entr" presetSubtype="4" fill="hold" grpId="0" nodeType="withEffect">
                                  <p:stCondLst>
                                    <p:cond delay="0"/>
                                  </p:stCondLst>
                                  <p:childTnLst>
                                    <p:set>
                                      <p:cBhvr>
                                        <p:cTn id="144" dur="1" fill="hold">
                                          <p:stCondLst>
                                            <p:cond delay="0"/>
                                          </p:stCondLst>
                                        </p:cTn>
                                        <p:tgtEl>
                                          <p:spTgt spid="39"/>
                                        </p:tgtEl>
                                        <p:attrNameLst>
                                          <p:attrName>style.visibility</p:attrName>
                                        </p:attrNameLst>
                                      </p:cBhvr>
                                      <p:to>
                                        <p:strVal val="visible"/>
                                      </p:to>
                                    </p:set>
                                    <p:anim calcmode="lin" valueType="num">
                                      <p:cBhvr additive="base">
                                        <p:cTn id="145" dur="500" fill="hold"/>
                                        <p:tgtEl>
                                          <p:spTgt spid="39"/>
                                        </p:tgtEl>
                                        <p:attrNameLst>
                                          <p:attrName>ppt_x</p:attrName>
                                        </p:attrNameLst>
                                      </p:cBhvr>
                                      <p:tavLst>
                                        <p:tav tm="0">
                                          <p:val>
                                            <p:strVal val="#ppt_x"/>
                                          </p:val>
                                        </p:tav>
                                        <p:tav tm="100000">
                                          <p:val>
                                            <p:strVal val="#ppt_x"/>
                                          </p:val>
                                        </p:tav>
                                      </p:tavLst>
                                    </p:anim>
                                    <p:anim calcmode="lin" valueType="num">
                                      <p:cBhvr additive="base">
                                        <p:cTn id="146" dur="500" fill="hold"/>
                                        <p:tgtEl>
                                          <p:spTgt spid="39"/>
                                        </p:tgtEl>
                                        <p:attrNameLst>
                                          <p:attrName>ppt_y</p:attrName>
                                        </p:attrNameLst>
                                      </p:cBhvr>
                                      <p:tavLst>
                                        <p:tav tm="0">
                                          <p:val>
                                            <p:strVal val="#ppt_y+0.1"/>
                                          </p:val>
                                        </p:tav>
                                        <p:tav tm="100000">
                                          <p:val>
                                            <p:strVal val="#ppt_y"/>
                                          </p:val>
                                        </p:tav>
                                      </p:tavLst>
                                    </p:anim>
                                    <p:animEffect transition="in" filter="fade">
                                      <p:cBhvr>
                                        <p:cTn id="147" dur="500"/>
                                        <p:tgtEl>
                                          <p:spTgt spid="39"/>
                                        </p:tgtEl>
                                      </p:cBhvr>
                                    </p:animEffect>
                                  </p:childTnLst>
                                </p:cTn>
                              </p:par>
                              <p:par>
                                <p:cTn id="153" presetID="2" presetClass="entr" presetSubtype="4" fill="hold" grpId="0" nodeType="withEffect">
                                  <p:stCondLst>
                                    <p:cond delay="0"/>
                                  </p:stCondLst>
                                  <p:childTnLst>
                                    <p:set>
                                      <p:cBhvr>
                                        <p:cTn id="149" dur="1" fill="hold">
                                          <p:stCondLst>
                                            <p:cond delay="0"/>
                                          </p:stCondLst>
                                        </p:cTn>
                                        <p:tgtEl>
                                          <p:spTgt spid="41"/>
                                        </p:tgtEl>
                                        <p:attrNameLst>
                                          <p:attrName>style.visibility</p:attrName>
                                        </p:attrNameLst>
                                      </p:cBhvr>
                                      <p:to>
                                        <p:strVal val="visible"/>
                                      </p:to>
                                    </p:set>
                                    <p:anim calcmode="lin" valueType="num">
                                      <p:cBhvr additive="base">
                                        <p:cTn id="150" dur="500" fill="hold"/>
                                        <p:tgtEl>
                                          <p:spTgt spid="41"/>
                                        </p:tgtEl>
                                        <p:attrNameLst>
                                          <p:attrName>ppt_x</p:attrName>
                                        </p:attrNameLst>
                                      </p:cBhvr>
                                      <p:tavLst>
                                        <p:tav tm="0">
                                          <p:val>
                                            <p:strVal val="#ppt_x"/>
                                          </p:val>
                                        </p:tav>
                                        <p:tav tm="100000">
                                          <p:val>
                                            <p:strVal val="#ppt_x"/>
                                          </p:val>
                                        </p:tav>
                                      </p:tavLst>
                                    </p:anim>
                                    <p:anim calcmode="lin" valueType="num">
                                      <p:cBhvr additive="base">
                                        <p:cTn id="151" dur="500" fill="hold"/>
                                        <p:tgtEl>
                                          <p:spTgt spid="41"/>
                                        </p:tgtEl>
                                        <p:attrNameLst>
                                          <p:attrName>ppt_y</p:attrName>
                                        </p:attrNameLst>
                                      </p:cBhvr>
                                      <p:tavLst>
                                        <p:tav tm="0">
                                          <p:val>
                                            <p:strVal val="#ppt_y+0.1"/>
                                          </p:val>
                                        </p:tav>
                                        <p:tav tm="100000">
                                          <p:val>
                                            <p:strVal val="#ppt_y"/>
                                          </p:val>
                                        </p:tav>
                                      </p:tavLst>
                                    </p:anim>
                                    <p:animEffect transition="in" filter="fade">
                                      <p:cBhvr>
                                        <p:cTn id="152" dur="500"/>
                                        <p:tgtEl>
                                          <p:spTgt spid="41"/>
                                        </p:tgtEl>
                                      </p:cBhvr>
                                    </p:animEffect>
                                  </p:childTnLst>
                                </p:cTn>
                              </p:par>
                              <p:par>
                                <p:cTn id="158" presetID="2" presetClass="entr" presetSubtype="4" fill="hold" grpId="0" nodeType="withEffect">
                                  <p:stCondLst>
                                    <p:cond delay="0"/>
                                  </p:stCondLst>
                                  <p:childTnLst>
                                    <p:set>
                                      <p:cBhvr>
                                        <p:cTn id="154" dur="1" fill="hold">
                                          <p:stCondLst>
                                            <p:cond delay="0"/>
                                          </p:stCondLst>
                                        </p:cTn>
                                        <p:tgtEl>
                                          <p:spTgt spid="42"/>
                                        </p:tgtEl>
                                        <p:attrNameLst>
                                          <p:attrName>style.visibility</p:attrName>
                                        </p:attrNameLst>
                                      </p:cBhvr>
                                      <p:to>
                                        <p:strVal val="visible"/>
                                      </p:to>
                                    </p:set>
                                    <p:anim calcmode="lin" valueType="num">
                                      <p:cBhvr additive="base">
                                        <p:cTn id="155" dur="500" fill="hold"/>
                                        <p:tgtEl>
                                          <p:spTgt spid="42"/>
                                        </p:tgtEl>
                                        <p:attrNameLst>
                                          <p:attrName>ppt_x</p:attrName>
                                        </p:attrNameLst>
                                      </p:cBhvr>
                                      <p:tavLst>
                                        <p:tav tm="0">
                                          <p:val>
                                            <p:strVal val="#ppt_x"/>
                                          </p:val>
                                        </p:tav>
                                        <p:tav tm="100000">
                                          <p:val>
                                            <p:strVal val="#ppt_x"/>
                                          </p:val>
                                        </p:tav>
                                      </p:tavLst>
                                    </p:anim>
                                    <p:anim calcmode="lin" valueType="num">
                                      <p:cBhvr additive="base">
                                        <p:cTn id="156" dur="500" fill="hold"/>
                                        <p:tgtEl>
                                          <p:spTgt spid="42"/>
                                        </p:tgtEl>
                                        <p:attrNameLst>
                                          <p:attrName>ppt_y</p:attrName>
                                        </p:attrNameLst>
                                      </p:cBhvr>
                                      <p:tavLst>
                                        <p:tav tm="0">
                                          <p:val>
                                            <p:strVal val="#ppt_y+0.1"/>
                                          </p:val>
                                        </p:tav>
                                        <p:tav tm="100000">
                                          <p:val>
                                            <p:strVal val="#ppt_y"/>
                                          </p:val>
                                        </p:tav>
                                      </p:tavLst>
                                    </p:anim>
                                    <p:animEffect transition="in" filter="fade">
                                      <p:cBhvr>
                                        <p:cTn id="157" dur="500"/>
                                        <p:tgtEl>
                                          <p:spTgt spid="42"/>
                                        </p:tgtEl>
                                      </p:cBhvr>
                                    </p:animEffect>
                                  </p:childTnLst>
                                </p:cTn>
                              </p:par>
                              <p:par>
                                <p:cTn id="163" presetID="2" presetClass="entr" presetSubtype="4" fill="hold" grpId="0" nodeType="withEffect">
                                  <p:stCondLst>
                                    <p:cond delay="0"/>
                                  </p:stCondLst>
                                  <p:childTnLst>
                                    <p:set>
                                      <p:cBhvr>
                                        <p:cTn id="159" dur="1" fill="hold">
                                          <p:stCondLst>
                                            <p:cond delay="0"/>
                                          </p:stCondLst>
                                        </p:cTn>
                                        <p:tgtEl>
                                          <p:spTgt spid="43"/>
                                        </p:tgtEl>
                                        <p:attrNameLst>
                                          <p:attrName>style.visibility</p:attrName>
                                        </p:attrNameLst>
                                      </p:cBhvr>
                                      <p:to>
                                        <p:strVal val="visible"/>
                                      </p:to>
                                    </p:set>
                                    <p:anim calcmode="lin" valueType="num">
                                      <p:cBhvr additive="base">
                                        <p:cTn id="160" dur="500" fill="hold"/>
                                        <p:tgtEl>
                                          <p:spTgt spid="43"/>
                                        </p:tgtEl>
                                        <p:attrNameLst>
                                          <p:attrName>ppt_x</p:attrName>
                                        </p:attrNameLst>
                                      </p:cBhvr>
                                      <p:tavLst>
                                        <p:tav tm="0">
                                          <p:val>
                                            <p:strVal val="#ppt_x"/>
                                          </p:val>
                                        </p:tav>
                                        <p:tav tm="100000">
                                          <p:val>
                                            <p:strVal val="#ppt_x"/>
                                          </p:val>
                                        </p:tav>
                                      </p:tavLst>
                                    </p:anim>
                                    <p:anim calcmode="lin" valueType="num">
                                      <p:cBhvr additive="base">
                                        <p:cTn id="161" dur="500" fill="hold"/>
                                        <p:tgtEl>
                                          <p:spTgt spid="43"/>
                                        </p:tgtEl>
                                        <p:attrNameLst>
                                          <p:attrName>ppt_y</p:attrName>
                                        </p:attrNameLst>
                                      </p:cBhvr>
                                      <p:tavLst>
                                        <p:tav tm="0">
                                          <p:val>
                                            <p:strVal val="#ppt_y+0.1"/>
                                          </p:val>
                                        </p:tav>
                                        <p:tav tm="100000">
                                          <p:val>
                                            <p:strVal val="#ppt_y"/>
                                          </p:val>
                                        </p:tav>
                                      </p:tavLst>
                                    </p:anim>
                                    <p:animEffect transition="in" filter="fade">
                                      <p:cBhvr>
                                        <p:cTn id="162" dur="500"/>
                                        <p:tgtEl>
                                          <p:spTgt spid="43"/>
                                        </p:tgtEl>
                                      </p:cBhvr>
                                    </p:animEffect>
                                  </p:childTnLst>
                                </p:cTn>
                              </p:par>
                              <p:par>
                                <p:cTn id="168" presetID="2" presetClass="entr" presetSubtype="4" fill="hold" grpId="0" nodeType="withEffect">
                                  <p:stCondLst>
                                    <p:cond delay="0"/>
                                  </p:stCondLst>
                                  <p:childTnLst>
                                    <p:set>
                                      <p:cBhvr>
                                        <p:cTn id="164" dur="1" fill="hold">
                                          <p:stCondLst>
                                            <p:cond delay="0"/>
                                          </p:stCondLst>
                                        </p:cTn>
                                        <p:tgtEl>
                                          <p:spTgt spid="45"/>
                                        </p:tgtEl>
                                        <p:attrNameLst>
                                          <p:attrName>style.visibility</p:attrName>
                                        </p:attrNameLst>
                                      </p:cBhvr>
                                      <p:to>
                                        <p:strVal val="visible"/>
                                      </p:to>
                                    </p:set>
                                    <p:anim calcmode="lin" valueType="num">
                                      <p:cBhvr additive="base">
                                        <p:cTn id="165" dur="500" fill="hold"/>
                                        <p:tgtEl>
                                          <p:spTgt spid="45"/>
                                        </p:tgtEl>
                                        <p:attrNameLst>
                                          <p:attrName>ppt_x</p:attrName>
                                        </p:attrNameLst>
                                      </p:cBhvr>
                                      <p:tavLst>
                                        <p:tav tm="0">
                                          <p:val>
                                            <p:strVal val="#ppt_x"/>
                                          </p:val>
                                        </p:tav>
                                        <p:tav tm="100000">
                                          <p:val>
                                            <p:strVal val="#ppt_x"/>
                                          </p:val>
                                        </p:tav>
                                      </p:tavLst>
                                    </p:anim>
                                    <p:anim calcmode="lin" valueType="num">
                                      <p:cBhvr additive="base">
                                        <p:cTn id="166" dur="500" fill="hold"/>
                                        <p:tgtEl>
                                          <p:spTgt spid="45"/>
                                        </p:tgtEl>
                                        <p:attrNameLst>
                                          <p:attrName>ppt_y</p:attrName>
                                        </p:attrNameLst>
                                      </p:cBhvr>
                                      <p:tavLst>
                                        <p:tav tm="0">
                                          <p:val>
                                            <p:strVal val="#ppt_y+0.1"/>
                                          </p:val>
                                        </p:tav>
                                        <p:tav tm="100000">
                                          <p:val>
                                            <p:strVal val="#ppt_y"/>
                                          </p:val>
                                        </p:tav>
                                      </p:tavLst>
                                    </p:anim>
                                    <p:animEffect transition="in" filter="fade">
                                      <p:cBhvr>
                                        <p:cTn id="167" dur="500"/>
                                        <p:tgtEl>
                                          <p:spTgt spid="45"/>
                                        </p:tgtEl>
                                      </p:cBhvr>
                                    </p:animEffect>
                                  </p:childTnLst>
                                </p:cTn>
                              </p:par>
                              <p:par>
                                <p:cTn id="173" presetID="2" presetClass="entr" presetSubtype="4" fill="hold" grpId="0" nodeType="withEffect">
                                  <p:stCondLst>
                                    <p:cond delay="0"/>
                                  </p:stCondLst>
                                  <p:childTnLst>
                                    <p:set>
                                      <p:cBhvr>
                                        <p:cTn id="169" dur="1" fill="hold">
                                          <p:stCondLst>
                                            <p:cond delay="0"/>
                                          </p:stCondLst>
                                        </p:cTn>
                                        <p:tgtEl>
                                          <p:spTgt spid="46"/>
                                        </p:tgtEl>
                                        <p:attrNameLst>
                                          <p:attrName>style.visibility</p:attrName>
                                        </p:attrNameLst>
                                      </p:cBhvr>
                                      <p:to>
                                        <p:strVal val="visible"/>
                                      </p:to>
                                    </p:set>
                                    <p:anim calcmode="lin" valueType="num">
                                      <p:cBhvr additive="base">
                                        <p:cTn id="170" dur="500" fill="hold"/>
                                        <p:tgtEl>
                                          <p:spTgt spid="46"/>
                                        </p:tgtEl>
                                        <p:attrNameLst>
                                          <p:attrName>ppt_x</p:attrName>
                                        </p:attrNameLst>
                                      </p:cBhvr>
                                      <p:tavLst>
                                        <p:tav tm="0">
                                          <p:val>
                                            <p:strVal val="#ppt_x"/>
                                          </p:val>
                                        </p:tav>
                                        <p:tav tm="100000">
                                          <p:val>
                                            <p:strVal val="#ppt_x"/>
                                          </p:val>
                                        </p:tav>
                                      </p:tavLst>
                                    </p:anim>
                                    <p:anim calcmode="lin" valueType="num">
                                      <p:cBhvr additive="base">
                                        <p:cTn id="171" dur="500" fill="hold"/>
                                        <p:tgtEl>
                                          <p:spTgt spid="46"/>
                                        </p:tgtEl>
                                        <p:attrNameLst>
                                          <p:attrName>ppt_y</p:attrName>
                                        </p:attrNameLst>
                                      </p:cBhvr>
                                      <p:tavLst>
                                        <p:tav tm="0">
                                          <p:val>
                                            <p:strVal val="#ppt_y+0.1"/>
                                          </p:val>
                                        </p:tav>
                                        <p:tav tm="100000">
                                          <p:val>
                                            <p:strVal val="#ppt_y"/>
                                          </p:val>
                                        </p:tav>
                                      </p:tavLst>
                                    </p:anim>
                                    <p:animEffect transition="in" filter="fade">
                                      <p:cBhvr>
                                        <p:cTn id="172" dur="500"/>
                                        <p:tgtEl>
                                          <p:spTgt spid="46"/>
                                        </p:tgtEl>
                                      </p:cBhvr>
                                    </p:animEffect>
                                  </p:childTnLst>
                                </p:cTn>
                              </p:par>
                              <p:par>
                                <p:cTn id="178" presetID="2" presetClass="entr" presetSubtype="4" fill="hold" grpId="0" nodeType="withEffect">
                                  <p:stCondLst>
                                    <p:cond delay="0"/>
                                  </p:stCondLst>
                                  <p:childTnLst>
                                    <p:set>
                                      <p:cBhvr>
                                        <p:cTn id="174" dur="1" fill="hold">
                                          <p:stCondLst>
                                            <p:cond delay="0"/>
                                          </p:stCondLst>
                                        </p:cTn>
                                        <p:tgtEl>
                                          <p:spTgt spid="47"/>
                                        </p:tgtEl>
                                        <p:attrNameLst>
                                          <p:attrName>style.visibility</p:attrName>
                                        </p:attrNameLst>
                                      </p:cBhvr>
                                      <p:to>
                                        <p:strVal val="visible"/>
                                      </p:to>
                                    </p:set>
                                    <p:anim calcmode="lin" valueType="num">
                                      <p:cBhvr additive="base">
                                        <p:cTn id="175" dur="500" fill="hold"/>
                                        <p:tgtEl>
                                          <p:spTgt spid="47"/>
                                        </p:tgtEl>
                                        <p:attrNameLst>
                                          <p:attrName>ppt_x</p:attrName>
                                        </p:attrNameLst>
                                      </p:cBhvr>
                                      <p:tavLst>
                                        <p:tav tm="0">
                                          <p:val>
                                            <p:strVal val="#ppt_x"/>
                                          </p:val>
                                        </p:tav>
                                        <p:tav tm="100000">
                                          <p:val>
                                            <p:strVal val="#ppt_x"/>
                                          </p:val>
                                        </p:tav>
                                      </p:tavLst>
                                    </p:anim>
                                    <p:anim calcmode="lin" valueType="num">
                                      <p:cBhvr additive="base">
                                        <p:cTn id="176" dur="500" fill="hold"/>
                                        <p:tgtEl>
                                          <p:spTgt spid="47"/>
                                        </p:tgtEl>
                                        <p:attrNameLst>
                                          <p:attrName>ppt_y</p:attrName>
                                        </p:attrNameLst>
                                      </p:cBhvr>
                                      <p:tavLst>
                                        <p:tav tm="0">
                                          <p:val>
                                            <p:strVal val="#ppt_y+0.1"/>
                                          </p:val>
                                        </p:tav>
                                        <p:tav tm="100000">
                                          <p:val>
                                            <p:strVal val="#ppt_y"/>
                                          </p:val>
                                        </p:tav>
                                      </p:tavLst>
                                    </p:anim>
                                    <p:animEffect transition="in" filter="fade">
                                      <p:cBhvr>
                                        <p:cTn id="177" dur="500"/>
                                        <p:tgtEl>
                                          <p:spTgt spid="47"/>
                                        </p:tgtEl>
                                      </p:cBhvr>
                                    </p:animEffect>
                                  </p:childTnLst>
                                </p:cTn>
                              </p:par>
                              <p:par>
                                <p:cTn id="183" presetID="2" presetClass="entr" presetSubtype="4" fill="hold" grpId="0" nodeType="withEffect">
                                  <p:stCondLst>
                                    <p:cond delay="60"/>
                                  </p:stCondLst>
                                  <p:childTnLst>
                                    <p:set>
                                      <p:cBhvr>
                                        <p:cTn id="179" dur="1" fill="hold">
                                          <p:stCondLst>
                                            <p:cond delay="0"/>
                                          </p:stCondLst>
                                        </p:cTn>
                                        <p:tgtEl>
                                          <p:spTgt spid="36"/>
                                        </p:tgtEl>
                                        <p:attrNameLst>
                                          <p:attrName>style.visibility</p:attrName>
                                        </p:attrNameLst>
                                      </p:cBhvr>
                                      <p:to>
                                        <p:strVal val="visible"/>
                                      </p:to>
                                    </p:set>
                                    <p:anim calcmode="lin" valueType="num">
                                      <p:cBhvr additive="base">
                                        <p:cTn id="180" dur="500" fill="hold"/>
                                        <p:tgtEl>
                                          <p:spTgt spid="36"/>
                                        </p:tgtEl>
                                        <p:attrNameLst>
                                          <p:attrName>ppt_x</p:attrName>
                                        </p:attrNameLst>
                                      </p:cBhvr>
                                      <p:tavLst>
                                        <p:tav tm="0">
                                          <p:val>
                                            <p:strVal val="#ppt_x"/>
                                          </p:val>
                                        </p:tav>
                                        <p:tav tm="100000">
                                          <p:val>
                                            <p:strVal val="#ppt_x"/>
                                          </p:val>
                                        </p:tav>
                                      </p:tavLst>
                                    </p:anim>
                                    <p:anim calcmode="lin" valueType="num">
                                      <p:cBhvr additive="base">
                                        <p:cTn id="181" dur="500" fill="hold"/>
                                        <p:tgtEl>
                                          <p:spTgt spid="36"/>
                                        </p:tgtEl>
                                        <p:attrNameLst>
                                          <p:attrName>ppt_y</p:attrName>
                                        </p:attrNameLst>
                                      </p:cBhvr>
                                      <p:tavLst>
                                        <p:tav tm="0">
                                          <p:val>
                                            <p:strVal val="#ppt_y+0.1"/>
                                          </p:val>
                                        </p:tav>
                                        <p:tav tm="100000">
                                          <p:val>
                                            <p:strVal val="#ppt_y"/>
                                          </p:val>
                                        </p:tav>
                                      </p:tavLst>
                                    </p:anim>
                                    <p:animEffect transition="in" filter="fade">
                                      <p:cBhvr>
                                        <p:cTn id="182" dur="500"/>
                                        <p:tgtEl>
                                          <p:spTgt spid="36"/>
                                        </p:tgtEl>
                                      </p:cBhvr>
                                    </p:animEffect>
                                  </p:childTnLst>
                                </p:cTn>
                              </p:par>
                              <p:par>
                                <p:cTn id="188" presetID="2" presetClass="entr" presetSubtype="4" fill="hold" grpId="0" nodeType="withEffect">
                                  <p:stCondLst>
                                    <p:cond delay="60"/>
                                  </p:stCondLst>
                                  <p:childTnLst>
                                    <p:set>
                                      <p:cBhvr>
                                        <p:cTn id="184" dur="1" fill="hold">
                                          <p:stCondLst>
                                            <p:cond delay="0"/>
                                          </p:stCondLst>
                                        </p:cTn>
                                        <p:tgtEl>
                                          <p:spTgt spid="40"/>
                                        </p:tgtEl>
                                        <p:attrNameLst>
                                          <p:attrName>style.visibility</p:attrName>
                                        </p:attrNameLst>
                                      </p:cBhvr>
                                      <p:to>
                                        <p:strVal val="visible"/>
                                      </p:to>
                                    </p:set>
                                    <p:anim calcmode="lin" valueType="num">
                                      <p:cBhvr additive="base">
                                        <p:cTn id="185" dur="500" fill="hold"/>
                                        <p:tgtEl>
                                          <p:spTgt spid="40"/>
                                        </p:tgtEl>
                                        <p:attrNameLst>
                                          <p:attrName>ppt_x</p:attrName>
                                        </p:attrNameLst>
                                      </p:cBhvr>
                                      <p:tavLst>
                                        <p:tav tm="0">
                                          <p:val>
                                            <p:strVal val="#ppt_x"/>
                                          </p:val>
                                        </p:tav>
                                        <p:tav tm="100000">
                                          <p:val>
                                            <p:strVal val="#ppt_x"/>
                                          </p:val>
                                        </p:tav>
                                      </p:tavLst>
                                    </p:anim>
                                    <p:anim calcmode="lin" valueType="num">
                                      <p:cBhvr additive="base">
                                        <p:cTn id="186" dur="500" fill="hold"/>
                                        <p:tgtEl>
                                          <p:spTgt spid="40"/>
                                        </p:tgtEl>
                                        <p:attrNameLst>
                                          <p:attrName>ppt_y</p:attrName>
                                        </p:attrNameLst>
                                      </p:cBhvr>
                                      <p:tavLst>
                                        <p:tav tm="0">
                                          <p:val>
                                            <p:strVal val="#ppt_y+0.1"/>
                                          </p:val>
                                        </p:tav>
                                        <p:tav tm="100000">
                                          <p:val>
                                            <p:strVal val="#ppt_y"/>
                                          </p:val>
                                        </p:tav>
                                      </p:tavLst>
                                    </p:anim>
                                    <p:animEffect transition="in" filter="fade">
                                      <p:cBhvr>
                                        <p:cTn id="187" dur="500"/>
                                        <p:tgtEl>
                                          <p:spTgt spid="40"/>
                                        </p:tgtEl>
                                      </p:cBhvr>
                                    </p:animEffect>
                                  </p:childTnLst>
                                </p:cTn>
                              </p:par>
                              <p:par>
                                <p:cTn id="193" presetID="2" presetClass="entr" presetSubtype="4" fill="hold" grpId="0" nodeType="withEffect">
                                  <p:stCondLst>
                                    <p:cond delay="60"/>
                                  </p:stCondLst>
                                  <p:childTnLst>
                                    <p:set>
                                      <p:cBhvr>
                                        <p:cTn id="189" dur="1" fill="hold">
                                          <p:stCondLst>
                                            <p:cond delay="0"/>
                                          </p:stCondLst>
                                        </p:cTn>
                                        <p:tgtEl>
                                          <p:spTgt spid="44"/>
                                        </p:tgtEl>
                                        <p:attrNameLst>
                                          <p:attrName>style.visibility</p:attrName>
                                        </p:attrNameLst>
                                      </p:cBhvr>
                                      <p:to>
                                        <p:strVal val="visible"/>
                                      </p:to>
                                    </p:set>
                                    <p:anim calcmode="lin" valueType="num">
                                      <p:cBhvr additive="base">
                                        <p:cTn id="190" dur="500" fill="hold"/>
                                        <p:tgtEl>
                                          <p:spTgt spid="44"/>
                                        </p:tgtEl>
                                        <p:attrNameLst>
                                          <p:attrName>ppt_x</p:attrName>
                                        </p:attrNameLst>
                                      </p:cBhvr>
                                      <p:tavLst>
                                        <p:tav tm="0">
                                          <p:val>
                                            <p:strVal val="#ppt_x"/>
                                          </p:val>
                                        </p:tav>
                                        <p:tav tm="100000">
                                          <p:val>
                                            <p:strVal val="#ppt_x"/>
                                          </p:val>
                                        </p:tav>
                                      </p:tavLst>
                                    </p:anim>
                                    <p:anim calcmode="lin" valueType="num">
                                      <p:cBhvr additive="base">
                                        <p:cTn id="191" dur="500" fill="hold"/>
                                        <p:tgtEl>
                                          <p:spTgt spid="44"/>
                                        </p:tgtEl>
                                        <p:attrNameLst>
                                          <p:attrName>ppt_y</p:attrName>
                                        </p:attrNameLst>
                                      </p:cBhvr>
                                      <p:tavLst>
                                        <p:tav tm="0">
                                          <p:val>
                                            <p:strVal val="#ppt_y+0.1"/>
                                          </p:val>
                                        </p:tav>
                                        <p:tav tm="100000">
                                          <p:val>
                                            <p:strVal val="#ppt_y"/>
                                          </p:val>
                                        </p:tav>
                                      </p:tavLst>
                                    </p:anim>
                                    <p:animEffect transition="in" filter="fade">
                                      <p:cBhvr>
                                        <p:cTn id="192" dur="500"/>
                                        <p:tgtEl>
                                          <p:spTgt spid="44"/>
                                        </p:tgtEl>
                                      </p:cBhvr>
                                    </p:animEffect>
                                  </p:childTnLst>
                                </p:cTn>
                              </p:par>
                              <p:par>
                                <p:cTn id="198" presetID="2" presetClass="entr" presetSubtype="4" fill="hold" grpId="0" nodeType="withEffect">
                                  <p:stCondLst>
                                    <p:cond delay="60"/>
                                  </p:stCondLst>
                                  <p:childTnLst>
                                    <p:set>
                                      <p:cBhvr>
                                        <p:cTn id="194" dur="1" fill="hold">
                                          <p:stCondLst>
                                            <p:cond delay="0"/>
                                          </p:stCondLst>
                                        </p:cTn>
                                        <p:tgtEl>
                                          <p:spTgt spid="48"/>
                                        </p:tgtEl>
                                        <p:attrNameLst>
                                          <p:attrName>style.visibility</p:attrName>
                                        </p:attrNameLst>
                                      </p:cBhvr>
                                      <p:to>
                                        <p:strVal val="visible"/>
                                      </p:to>
                                    </p:set>
                                    <p:anim calcmode="lin" valueType="num">
                                      <p:cBhvr additive="base">
                                        <p:cTn id="195" dur="500" fill="hold"/>
                                        <p:tgtEl>
                                          <p:spTgt spid="48"/>
                                        </p:tgtEl>
                                        <p:attrNameLst>
                                          <p:attrName>ppt_x</p:attrName>
                                        </p:attrNameLst>
                                      </p:cBhvr>
                                      <p:tavLst>
                                        <p:tav tm="0">
                                          <p:val>
                                            <p:strVal val="#ppt_x"/>
                                          </p:val>
                                        </p:tav>
                                        <p:tav tm="100000">
                                          <p:val>
                                            <p:strVal val="#ppt_x"/>
                                          </p:val>
                                        </p:tav>
                                      </p:tavLst>
                                    </p:anim>
                                    <p:anim calcmode="lin" valueType="num">
                                      <p:cBhvr additive="base">
                                        <p:cTn id="196" dur="500" fill="hold"/>
                                        <p:tgtEl>
                                          <p:spTgt spid="48"/>
                                        </p:tgtEl>
                                        <p:attrNameLst>
                                          <p:attrName>ppt_y</p:attrName>
                                        </p:attrNameLst>
                                      </p:cBhvr>
                                      <p:tavLst>
                                        <p:tav tm="0">
                                          <p:val>
                                            <p:strVal val="#ppt_y+0.1"/>
                                          </p:val>
                                        </p:tav>
                                        <p:tav tm="100000">
                                          <p:val>
                                            <p:strVal val="#ppt_y"/>
                                          </p:val>
                                        </p:tav>
                                      </p:tavLst>
                                    </p:anim>
                                    <p:animEffect transition="in" filter="fade">
                                      <p:cBhvr>
                                        <p:cTn id="197" dur="500"/>
                                        <p:tgtEl>
                                          <p:spTgt spid="48"/>
                                        </p:tgtEl>
                                      </p:cBhvr>
                                    </p:animEffect>
                                  </p:childTnLst>
                                </p:cTn>
                              </p:par>
                            </p:childTnLst>
                          </p:cTn>
                        </p:par>
                      </p:childTnLst>
                    </p:cTn>
                  </p:par>
                  <p:par>
                    <p:cTn id="199" fill="hold">
                      <p:stCondLst>
                        <p:cond delay="indefinite"/>
                      </p:stCondLst>
                      <p:childTnLst>
                        <p:par>
                          <p:cTn id="200" fill="hold">
                            <p:stCondLst>
                              <p:cond delay="0"/>
                            </p:stCondLst>
                            <p:childTnLst>
                              <p:par>
                                <p:cTn id="205" presetID="2" presetClass="entr" presetSubtype="4" fill="hold" grpId="0" nodeType="clickEffect">
                                  <p:stCondLst>
                                    <p:cond delay="0"/>
                                  </p:stCondLst>
                                  <p:childTnLst>
                                    <p:set>
                                      <p:cBhvr>
                                        <p:cTn id="201" dur="1" fill="hold">
                                          <p:stCondLst>
                                            <p:cond delay="0"/>
                                          </p:stCondLst>
                                        </p:cTn>
                                        <p:tgtEl>
                                          <p:spTgt spid="49"/>
                                        </p:tgtEl>
                                        <p:attrNameLst>
                                          <p:attrName>style.visibility</p:attrName>
                                        </p:attrNameLst>
                                      </p:cBhvr>
                                      <p:to>
                                        <p:strVal val="visible"/>
                                      </p:to>
                                    </p:set>
                                    <p:anim calcmode="lin" valueType="num">
                                      <p:cBhvr additive="base">
                                        <p:cTn id="202" dur="500" fill="hold"/>
                                        <p:tgtEl>
                                          <p:spTgt spid="49"/>
                                        </p:tgtEl>
                                        <p:attrNameLst>
                                          <p:attrName>ppt_x</p:attrName>
                                        </p:attrNameLst>
                                      </p:cBhvr>
                                      <p:tavLst>
                                        <p:tav tm="0">
                                          <p:val>
                                            <p:strVal val="#ppt_x"/>
                                          </p:val>
                                        </p:tav>
                                        <p:tav tm="100000">
                                          <p:val>
                                            <p:strVal val="#ppt_x"/>
                                          </p:val>
                                        </p:tav>
                                      </p:tavLst>
                                    </p:anim>
                                    <p:anim calcmode="lin" valueType="num">
                                      <p:cBhvr additive="base">
                                        <p:cTn id="203" dur="500" fill="hold"/>
                                        <p:tgtEl>
                                          <p:spTgt spid="49"/>
                                        </p:tgtEl>
                                        <p:attrNameLst>
                                          <p:attrName>ppt_y</p:attrName>
                                        </p:attrNameLst>
                                      </p:cBhvr>
                                      <p:tavLst>
                                        <p:tav tm="0">
                                          <p:val>
                                            <p:strVal val="#ppt_y+0.1"/>
                                          </p:val>
                                        </p:tav>
                                        <p:tav tm="100000">
                                          <p:val>
                                            <p:strVal val="#ppt_y"/>
                                          </p:val>
                                        </p:tav>
                                      </p:tavLst>
                                    </p:anim>
                                    <p:animEffect transition="in" filter="fade">
                                      <p:cBhvr>
                                        <p:cTn id="204" dur="500"/>
                                        <p:tgtEl>
                                          <p:spTgt spid="49"/>
                                        </p:tgtEl>
                                      </p:cBhvr>
                                    </p:animEffect>
                                  </p:childTnLst>
                                </p:cTn>
                              </p:par>
                              <p:par>
                                <p:cTn id="210" presetID="2" presetClass="entr" presetSubtype="4" fill="hold" grpId="0" nodeType="withEffect">
                                  <p:stCondLst>
                                    <p:cond delay="0"/>
                                  </p:stCondLst>
                                  <p:childTnLst>
                                    <p:set>
                                      <p:cBhvr>
                                        <p:cTn id="206" dur="1" fill="hold">
                                          <p:stCondLst>
                                            <p:cond delay="0"/>
                                          </p:stCondLst>
                                        </p:cTn>
                                        <p:tgtEl>
                                          <p:spTgt spid="50"/>
                                        </p:tgtEl>
                                        <p:attrNameLst>
                                          <p:attrName>style.visibility</p:attrName>
                                        </p:attrNameLst>
                                      </p:cBhvr>
                                      <p:to>
                                        <p:strVal val="visible"/>
                                      </p:to>
                                    </p:set>
                                    <p:anim calcmode="lin" valueType="num">
                                      <p:cBhvr additive="base">
                                        <p:cTn id="207" dur="500" fill="hold"/>
                                        <p:tgtEl>
                                          <p:spTgt spid="50"/>
                                        </p:tgtEl>
                                        <p:attrNameLst>
                                          <p:attrName>ppt_x</p:attrName>
                                        </p:attrNameLst>
                                      </p:cBhvr>
                                      <p:tavLst>
                                        <p:tav tm="0">
                                          <p:val>
                                            <p:strVal val="#ppt_x"/>
                                          </p:val>
                                        </p:tav>
                                        <p:tav tm="100000">
                                          <p:val>
                                            <p:strVal val="#ppt_x"/>
                                          </p:val>
                                        </p:tav>
                                      </p:tavLst>
                                    </p:anim>
                                    <p:anim calcmode="lin" valueType="num">
                                      <p:cBhvr additive="base">
                                        <p:cTn id="208" dur="500" fill="hold"/>
                                        <p:tgtEl>
                                          <p:spTgt spid="50"/>
                                        </p:tgtEl>
                                        <p:attrNameLst>
                                          <p:attrName>ppt_y</p:attrName>
                                        </p:attrNameLst>
                                      </p:cBhvr>
                                      <p:tavLst>
                                        <p:tav tm="0">
                                          <p:val>
                                            <p:strVal val="#ppt_y+0.1"/>
                                          </p:val>
                                        </p:tav>
                                        <p:tav tm="100000">
                                          <p:val>
                                            <p:strVal val="#ppt_y"/>
                                          </p:val>
                                        </p:tav>
                                      </p:tavLst>
                                    </p:anim>
                                    <p:animEffect transition="in" filter="fade">
                                      <p:cBhvr>
                                        <p:cTn id="209" dur="500"/>
                                        <p:tgtEl>
                                          <p:spTgt spid="50"/>
                                        </p:tgtEl>
                                      </p:cBhvr>
                                    </p:animEffect>
                                  </p:childTnLst>
                                </p:cTn>
                              </p:par>
                              <p:par>
                                <p:cTn id="215" presetID="2" presetClass="entr" presetSubtype="4" fill="hold" grpId="0" nodeType="withEffect">
                                  <p:stCondLst>
                                    <p:cond delay="0"/>
                                  </p:stCondLst>
                                  <p:childTnLst>
                                    <p:set>
                                      <p:cBhvr>
                                        <p:cTn id="211" dur="1" fill="hold">
                                          <p:stCondLst>
                                            <p:cond delay="0"/>
                                          </p:stCondLst>
                                        </p:cTn>
                                        <p:tgtEl>
                                          <p:spTgt spid="51"/>
                                        </p:tgtEl>
                                        <p:attrNameLst>
                                          <p:attrName>style.visibility</p:attrName>
                                        </p:attrNameLst>
                                      </p:cBhvr>
                                      <p:to>
                                        <p:strVal val="visible"/>
                                      </p:to>
                                    </p:set>
                                    <p:anim calcmode="lin" valueType="num">
                                      <p:cBhvr additive="base">
                                        <p:cTn id="212" dur="500" fill="hold"/>
                                        <p:tgtEl>
                                          <p:spTgt spid="51"/>
                                        </p:tgtEl>
                                        <p:attrNameLst>
                                          <p:attrName>ppt_x</p:attrName>
                                        </p:attrNameLst>
                                      </p:cBhvr>
                                      <p:tavLst>
                                        <p:tav tm="0">
                                          <p:val>
                                            <p:strVal val="#ppt_x"/>
                                          </p:val>
                                        </p:tav>
                                        <p:tav tm="100000">
                                          <p:val>
                                            <p:strVal val="#ppt_x"/>
                                          </p:val>
                                        </p:tav>
                                      </p:tavLst>
                                    </p:anim>
                                    <p:anim calcmode="lin" valueType="num">
                                      <p:cBhvr additive="base">
                                        <p:cTn id="213" dur="500" fill="hold"/>
                                        <p:tgtEl>
                                          <p:spTgt spid="51"/>
                                        </p:tgtEl>
                                        <p:attrNameLst>
                                          <p:attrName>ppt_y</p:attrName>
                                        </p:attrNameLst>
                                      </p:cBhvr>
                                      <p:tavLst>
                                        <p:tav tm="0">
                                          <p:val>
                                            <p:strVal val="#ppt_y+0.1"/>
                                          </p:val>
                                        </p:tav>
                                        <p:tav tm="100000">
                                          <p:val>
                                            <p:strVal val="#ppt_y"/>
                                          </p:val>
                                        </p:tav>
                                      </p:tavLst>
                                    </p:anim>
                                    <p:animEffect transition="in" filter="fade">
                                      <p:cBhvr>
                                        <p:cTn id="21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Configuration: Where Is the Cluster?</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bootstrap.servers lists a few brokers to start from - not all of them</a:t>
            </a:r>
          </a:p>
        </p:txBody>
      </p:sp>
      <p:sp>
        <p:nvSpPr>
          <p:cNvPr id="11" name="a1f_codebg10"/>
          <p:cNvSpPr/>
          <p:nvPr/>
        </p:nvSpPr>
        <p:spPr>
          <a:xfrm>
            <a:off x="457200" y="1280160"/>
            <a:ext cx="4023360" cy="932688"/>
          </a:xfrm>
          <a:prstGeom prst="roundRect">
            <a:avLst>
              <a:gd name="adj" fmla="val 7843"/>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85216" y="1335024"/>
            <a:ext cx="3767328" cy="219456"/>
          </a:xfrm>
          <a:prstGeom prst="rect">
            <a:avLst/>
          </a:prstGeom>
          <a:noFill/>
        </p:spPr>
        <p:txBody>
          <a:bodyPr wrap="square" lIns="0" tIns="0" rIns="0" bIns="0" anchor="ctr">
            <a:spAutoFit/>
          </a:bodyPr>
          <a:lstStyle/>
          <a:p>
            <a:pPr algn="l"/>
            <a:r>
              <a:rPr sz="950" b="1">
                <a:solidFill>
                  <a:srgbClr val="A8A29E"/>
                </a:solidFill>
                <a:latin typeface="Consolas"/>
              </a:rPr>
              <a:t>producer.properties</a:t>
            </a:r>
          </a:p>
        </p:txBody>
      </p:sp>
      <p:sp>
        <p:nvSpPr>
          <p:cNvPr id="13" name="a1f_codesep12"/>
          <p:cNvSpPr/>
          <p:nvPr/>
        </p:nvSpPr>
        <p:spPr>
          <a:xfrm>
            <a:off x="585216" y="1609343"/>
            <a:ext cx="376732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85216" y="1682495"/>
            <a:ext cx="3767328" cy="201168"/>
          </a:xfrm>
          <a:prstGeom prst="rect">
            <a:avLst/>
          </a:prstGeom>
          <a:noFill/>
        </p:spPr>
        <p:txBody>
          <a:bodyPr wrap="none" lIns="0" tIns="0" rIns="0" bIns="0" anchor="ctr">
            <a:spAutoFit/>
          </a:bodyPr>
          <a:lstStyle/>
          <a:p>
            <a:pPr algn="l"/>
            <a:r>
              <a:rPr sz="850" b="1">
                <a:solidFill>
                  <a:srgbClr val="FDBA74"/>
                </a:solidFill>
                <a:latin typeface="Consolas"/>
              </a:rPr>
              <a:t>bootstrap.servers=broker1:9092,broker2:9092,broker3:9092</a:t>
            </a:r>
          </a:p>
        </p:txBody>
      </p:sp>
      <p:sp>
        <p:nvSpPr>
          <p:cNvPr id="15" name="a1wd90_code14"/>
          <p:cNvSpPr txBox="1"/>
          <p:nvPr/>
        </p:nvSpPr>
        <p:spPr>
          <a:xfrm>
            <a:off x="585216" y="1883664"/>
            <a:ext cx="3767328" cy="201168"/>
          </a:xfrm>
          <a:prstGeom prst="rect">
            <a:avLst/>
          </a:prstGeom>
          <a:noFill/>
        </p:spPr>
        <p:txBody>
          <a:bodyPr wrap="none" lIns="0" tIns="0" rIns="0" bIns="0" anchor="ctr">
            <a:spAutoFit/>
          </a:bodyPr>
          <a:lstStyle/>
          <a:p>
            <a:pPr algn="l"/>
            <a:r>
              <a:rPr sz="850" b="0">
                <a:solidFill>
                  <a:srgbClr val="E7E5E4"/>
                </a:solidFill>
                <a:latin typeface="Consolas"/>
              </a:rPr>
              <a:t>acks=all</a:t>
            </a:r>
          </a:p>
        </p:txBody>
      </p:sp>
      <p:sp>
        <p:nvSpPr>
          <p:cNvPr id="16" name="a2u_dot15"/>
          <p:cNvSpPr/>
          <p:nvPr/>
        </p:nvSpPr>
        <p:spPr>
          <a:xfrm>
            <a:off x="457200" y="247345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b16"/>
          <p:cNvSpPr txBox="1"/>
          <p:nvPr/>
        </p:nvSpPr>
        <p:spPr>
          <a:xfrm>
            <a:off x="676656" y="2377440"/>
            <a:ext cx="3803904" cy="438912"/>
          </a:xfrm>
          <a:prstGeom prst="rect">
            <a:avLst/>
          </a:prstGeom>
          <a:noFill/>
        </p:spPr>
        <p:txBody>
          <a:bodyPr wrap="square" lIns="0" tIns="0" rIns="0" bIns="0" anchor="t">
            <a:spAutoFit/>
          </a:bodyPr>
          <a:lstStyle/>
          <a:p>
            <a:pPr algn="l"/>
            <a:r>
              <a:rPr sz="950" b="1">
                <a:solidFill>
                  <a:srgbClr val="1C1917"/>
                </a:solidFill>
                <a:latin typeface="Segoe UI"/>
              </a:rPr>
              <a:t>bootstrap.servers  </a:t>
            </a:r>
            <a:r>
              <a:rPr sz="950" b="0">
                <a:solidFill>
                  <a:srgbClr val="44403C"/>
                </a:solidFill>
                <a:latin typeface="Segoe UI"/>
              </a:rPr>
              <a:t>two or three brokers, so at least one is likely up</a:t>
            </a:r>
          </a:p>
        </p:txBody>
      </p:sp>
      <p:sp>
        <p:nvSpPr>
          <p:cNvPr id="18" name="a2ud120_dot17"/>
          <p:cNvSpPr/>
          <p:nvPr/>
        </p:nvSpPr>
        <p:spPr>
          <a:xfrm>
            <a:off x="457200" y="2948940"/>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d120_b18"/>
          <p:cNvSpPr txBox="1"/>
          <p:nvPr/>
        </p:nvSpPr>
        <p:spPr>
          <a:xfrm>
            <a:off x="676656" y="2852928"/>
            <a:ext cx="3803904" cy="438912"/>
          </a:xfrm>
          <a:prstGeom prst="rect">
            <a:avLst/>
          </a:prstGeom>
          <a:noFill/>
        </p:spPr>
        <p:txBody>
          <a:bodyPr wrap="square" lIns="0" tIns="0" rIns="0" bIns="0" anchor="t">
            <a:spAutoFit/>
          </a:bodyPr>
          <a:lstStyle/>
          <a:p>
            <a:pPr algn="l"/>
            <a:r>
              <a:rPr sz="950" b="1">
                <a:solidFill>
                  <a:srgbClr val="1C1917"/>
                </a:solidFill>
                <a:latin typeface="Segoe UI"/>
              </a:rPr>
              <a:t>acks=all  </a:t>
            </a:r>
            <a:r>
              <a:rPr sz="950" b="0">
                <a:solidFill>
                  <a:srgbClr val="44403C"/>
                </a:solidFill>
                <a:latin typeface="Segoe UI"/>
              </a:rPr>
              <a:t>wait until all in-sync replicas have it (Module 5)</a:t>
            </a:r>
          </a:p>
        </p:txBody>
      </p:sp>
      <p:sp>
        <p:nvSpPr>
          <p:cNvPr id="20" name="a2ud240_dot19"/>
          <p:cNvSpPr/>
          <p:nvPr/>
        </p:nvSpPr>
        <p:spPr>
          <a:xfrm>
            <a:off x="457200" y="3424428"/>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d240_b20"/>
          <p:cNvSpPr txBox="1"/>
          <p:nvPr/>
        </p:nvSpPr>
        <p:spPr>
          <a:xfrm>
            <a:off x="676656" y="3328416"/>
            <a:ext cx="3803904" cy="438912"/>
          </a:xfrm>
          <a:prstGeom prst="rect">
            <a:avLst/>
          </a:prstGeom>
          <a:noFill/>
        </p:spPr>
        <p:txBody>
          <a:bodyPr wrap="square" lIns="0" tIns="0" rIns="0" bIns="0" anchor="t">
            <a:spAutoFit/>
          </a:bodyPr>
          <a:lstStyle/>
          <a:p>
            <a:pPr algn="l"/>
            <a:r>
              <a:rPr sz="950" b="1">
                <a:solidFill>
                  <a:srgbClr val="1C1917"/>
                </a:solidFill>
                <a:latin typeface="Segoe UI"/>
              </a:rPr>
              <a:t>A real config  </a:t>
            </a:r>
            <a:r>
              <a:rPr sz="950" b="0">
                <a:solidFill>
                  <a:srgbClr val="44403C"/>
                </a:solidFill>
                <a:latin typeface="Segoe UI"/>
              </a:rPr>
              <a:t>has 5 to 10 settings - security among them</a:t>
            </a:r>
          </a:p>
        </p:txBody>
      </p:sp>
      <p:sp>
        <p:nvSpPr>
          <p:cNvPr id="22" name="a1u_nd21"/>
          <p:cNvSpPr/>
          <p:nvPr/>
        </p:nvSpPr>
        <p:spPr>
          <a:xfrm>
            <a:off x="4617720" y="1417320"/>
            <a:ext cx="1005840" cy="731520"/>
          </a:xfrm>
          <a:prstGeom prst="roundRect">
            <a:avLst>
              <a:gd name="adj" fmla="val 10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_ndt22"/>
          <p:cNvSpPr txBox="1"/>
          <p:nvPr/>
        </p:nvSpPr>
        <p:spPr>
          <a:xfrm>
            <a:off x="4663440" y="1453896"/>
            <a:ext cx="914400" cy="347472"/>
          </a:xfrm>
          <a:prstGeom prst="rect">
            <a:avLst/>
          </a:prstGeom>
          <a:noFill/>
        </p:spPr>
        <p:txBody>
          <a:bodyPr wrap="square" lIns="0" tIns="0" rIns="0" bIns="0" anchor="b">
            <a:spAutoFit/>
          </a:bodyPr>
          <a:lstStyle/>
          <a:p>
            <a:pPr algn="ctr"/>
            <a:r>
              <a:rPr sz="950" b="1">
                <a:solidFill>
                  <a:srgbClr val="1C1917"/>
                </a:solidFill>
                <a:latin typeface="Segoe UI"/>
              </a:rPr>
              <a:t>Producer</a:t>
            </a:r>
          </a:p>
        </p:txBody>
      </p:sp>
      <p:sp>
        <p:nvSpPr>
          <p:cNvPr id="24" name="a1u_nds23"/>
          <p:cNvSpPr txBox="1"/>
          <p:nvPr/>
        </p:nvSpPr>
        <p:spPr>
          <a:xfrm>
            <a:off x="4663440" y="1810512"/>
            <a:ext cx="914400" cy="301752"/>
          </a:xfrm>
          <a:prstGeom prst="rect">
            <a:avLst/>
          </a:prstGeom>
          <a:noFill/>
        </p:spPr>
        <p:txBody>
          <a:bodyPr wrap="square" lIns="0" tIns="0" rIns="0" bIns="0" anchor="t">
            <a:spAutoFit/>
          </a:bodyPr>
          <a:lstStyle/>
          <a:p>
            <a:pPr algn="ctr"/>
            <a:r>
              <a:rPr sz="750" b="0">
                <a:solidFill>
                  <a:srgbClr val="EA580C"/>
                </a:solidFill>
                <a:latin typeface="Segoe UI"/>
              </a:rPr>
              <a:t>reads the list</a:t>
            </a:r>
          </a:p>
        </p:txBody>
      </p:sp>
      <p:sp>
        <p:nvSpPr>
          <p:cNvPr id="25" name="a1u_lb24"/>
          <p:cNvSpPr txBox="1"/>
          <p:nvPr/>
        </p:nvSpPr>
        <p:spPr>
          <a:xfrm>
            <a:off x="6126480" y="1243584"/>
            <a:ext cx="2560320" cy="201168"/>
          </a:xfrm>
          <a:prstGeom prst="rect">
            <a:avLst/>
          </a:prstGeom>
          <a:noFill/>
        </p:spPr>
        <p:txBody>
          <a:bodyPr wrap="square" lIns="0" tIns="0" rIns="0" bIns="0" anchor="ctr">
            <a:spAutoFit/>
          </a:bodyPr>
          <a:lstStyle/>
          <a:p>
            <a:pPr algn="l"/>
            <a:r>
              <a:rPr sz="800" b="1">
                <a:solidFill>
                  <a:srgbClr val="0E7490"/>
                </a:solidFill>
                <a:latin typeface="Segoe UI"/>
              </a:rPr>
              <a:t>the cluster  ·  50 brokers</a:t>
            </a:r>
          </a:p>
        </p:txBody>
      </p:sp>
      <p:sp>
        <p:nvSpPr>
          <p:cNvPr id="26" name="a1fd60_gb25"/>
          <p:cNvSpPr/>
          <p:nvPr/>
        </p:nvSpPr>
        <p:spPr>
          <a:xfrm>
            <a:off x="6126480" y="1499616"/>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fd60_gbt26"/>
          <p:cNvSpPr txBox="1"/>
          <p:nvPr/>
        </p:nvSpPr>
        <p:spPr>
          <a:xfrm>
            <a:off x="6126480" y="1499616"/>
            <a:ext cx="210312" cy="210312"/>
          </a:xfrm>
          <a:prstGeom prst="rect">
            <a:avLst/>
          </a:prstGeom>
          <a:noFill/>
        </p:spPr>
        <p:txBody>
          <a:bodyPr wrap="square" lIns="0" tIns="0" rIns="0" bIns="0" anchor="ctr">
            <a:spAutoFit/>
          </a:bodyPr>
          <a:lstStyle/>
          <a:p>
            <a:pPr algn="ctr"/>
            <a:r>
              <a:rPr sz="700" b="1">
                <a:solidFill>
                  <a:srgbClr val="0E7490"/>
                </a:solidFill>
                <a:latin typeface="Consolas"/>
              </a:rPr>
              <a:t>1</a:t>
            </a:r>
          </a:p>
        </p:txBody>
      </p:sp>
      <p:sp>
        <p:nvSpPr>
          <p:cNvPr id="28" name="a1fd72_gb27"/>
          <p:cNvSpPr/>
          <p:nvPr/>
        </p:nvSpPr>
        <p:spPr>
          <a:xfrm>
            <a:off x="6382512" y="1499616"/>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fd84_gb28"/>
          <p:cNvSpPr/>
          <p:nvPr/>
        </p:nvSpPr>
        <p:spPr>
          <a:xfrm>
            <a:off x="6638544" y="1499616"/>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fd96_gb29"/>
          <p:cNvSpPr/>
          <p:nvPr/>
        </p:nvSpPr>
        <p:spPr>
          <a:xfrm>
            <a:off x="6894576" y="1499616"/>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1fd108_gb30"/>
          <p:cNvSpPr/>
          <p:nvPr/>
        </p:nvSpPr>
        <p:spPr>
          <a:xfrm>
            <a:off x="7150608" y="1499616"/>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fd120_gb31"/>
          <p:cNvSpPr/>
          <p:nvPr/>
        </p:nvSpPr>
        <p:spPr>
          <a:xfrm>
            <a:off x="7406640" y="1499616"/>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1fd132_gb32"/>
          <p:cNvSpPr/>
          <p:nvPr/>
        </p:nvSpPr>
        <p:spPr>
          <a:xfrm>
            <a:off x="7662672" y="1499616"/>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fd144_gb33"/>
          <p:cNvSpPr/>
          <p:nvPr/>
        </p:nvSpPr>
        <p:spPr>
          <a:xfrm>
            <a:off x="7918704" y="1499616"/>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1fd156_gb34"/>
          <p:cNvSpPr/>
          <p:nvPr/>
        </p:nvSpPr>
        <p:spPr>
          <a:xfrm>
            <a:off x="8174736" y="1499616"/>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1fd168_gb35"/>
          <p:cNvSpPr/>
          <p:nvPr/>
        </p:nvSpPr>
        <p:spPr>
          <a:xfrm>
            <a:off x="8430768" y="1499616"/>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1fd180_gb36"/>
          <p:cNvSpPr/>
          <p:nvPr/>
        </p:nvSpPr>
        <p:spPr>
          <a:xfrm>
            <a:off x="6126480" y="1755648"/>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1fd180_gbt37"/>
          <p:cNvSpPr txBox="1"/>
          <p:nvPr/>
        </p:nvSpPr>
        <p:spPr>
          <a:xfrm>
            <a:off x="6126480" y="1755648"/>
            <a:ext cx="210312" cy="210312"/>
          </a:xfrm>
          <a:prstGeom prst="rect">
            <a:avLst/>
          </a:prstGeom>
          <a:noFill/>
        </p:spPr>
        <p:txBody>
          <a:bodyPr wrap="square" lIns="0" tIns="0" rIns="0" bIns="0" anchor="ctr">
            <a:spAutoFit/>
          </a:bodyPr>
          <a:lstStyle/>
          <a:p>
            <a:pPr algn="ctr"/>
            <a:r>
              <a:rPr sz="700" b="1">
                <a:solidFill>
                  <a:srgbClr val="0E7490"/>
                </a:solidFill>
                <a:latin typeface="Consolas"/>
              </a:rPr>
              <a:t>2</a:t>
            </a:r>
          </a:p>
        </p:txBody>
      </p:sp>
      <p:sp>
        <p:nvSpPr>
          <p:cNvPr id="39" name="a1fd192_gb38"/>
          <p:cNvSpPr/>
          <p:nvPr/>
        </p:nvSpPr>
        <p:spPr>
          <a:xfrm>
            <a:off x="6382512" y="1755648"/>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fd204_gb39"/>
          <p:cNvSpPr/>
          <p:nvPr/>
        </p:nvSpPr>
        <p:spPr>
          <a:xfrm>
            <a:off x="6638544" y="1755648"/>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1fd216_gb40"/>
          <p:cNvSpPr/>
          <p:nvPr/>
        </p:nvSpPr>
        <p:spPr>
          <a:xfrm>
            <a:off x="6894576" y="1755648"/>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1fd228_gb41"/>
          <p:cNvSpPr/>
          <p:nvPr/>
        </p:nvSpPr>
        <p:spPr>
          <a:xfrm>
            <a:off x="7150608" y="1755648"/>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1fd240_gb42"/>
          <p:cNvSpPr/>
          <p:nvPr/>
        </p:nvSpPr>
        <p:spPr>
          <a:xfrm>
            <a:off x="7406640" y="1755648"/>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1fd252_gb43"/>
          <p:cNvSpPr/>
          <p:nvPr/>
        </p:nvSpPr>
        <p:spPr>
          <a:xfrm>
            <a:off x="7662672" y="1755648"/>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1fd264_gb44"/>
          <p:cNvSpPr/>
          <p:nvPr/>
        </p:nvSpPr>
        <p:spPr>
          <a:xfrm>
            <a:off x="7918704" y="1755648"/>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1fd276_gb45"/>
          <p:cNvSpPr/>
          <p:nvPr/>
        </p:nvSpPr>
        <p:spPr>
          <a:xfrm>
            <a:off x="8174736" y="1755648"/>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1fd288_gb46"/>
          <p:cNvSpPr/>
          <p:nvPr/>
        </p:nvSpPr>
        <p:spPr>
          <a:xfrm>
            <a:off x="8430768" y="1755648"/>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1fd300_gb47"/>
          <p:cNvSpPr/>
          <p:nvPr/>
        </p:nvSpPr>
        <p:spPr>
          <a:xfrm>
            <a:off x="6126480" y="2011680"/>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1fd300_gbt48"/>
          <p:cNvSpPr txBox="1"/>
          <p:nvPr/>
        </p:nvSpPr>
        <p:spPr>
          <a:xfrm>
            <a:off x="6126480" y="2011680"/>
            <a:ext cx="210312" cy="210312"/>
          </a:xfrm>
          <a:prstGeom prst="rect">
            <a:avLst/>
          </a:prstGeom>
          <a:noFill/>
        </p:spPr>
        <p:txBody>
          <a:bodyPr wrap="square" lIns="0" tIns="0" rIns="0" bIns="0" anchor="ctr">
            <a:spAutoFit/>
          </a:bodyPr>
          <a:lstStyle/>
          <a:p>
            <a:pPr algn="ctr"/>
            <a:r>
              <a:rPr sz="700" b="1">
                <a:solidFill>
                  <a:srgbClr val="0E7490"/>
                </a:solidFill>
                <a:latin typeface="Consolas"/>
              </a:rPr>
              <a:t>3</a:t>
            </a:r>
          </a:p>
        </p:txBody>
      </p:sp>
      <p:sp>
        <p:nvSpPr>
          <p:cNvPr id="50" name="a1fd312_gb49"/>
          <p:cNvSpPr/>
          <p:nvPr/>
        </p:nvSpPr>
        <p:spPr>
          <a:xfrm>
            <a:off x="6382512" y="2011680"/>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1fd324_gb50"/>
          <p:cNvSpPr/>
          <p:nvPr/>
        </p:nvSpPr>
        <p:spPr>
          <a:xfrm>
            <a:off x="6638544" y="2011680"/>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1fd336_gb51"/>
          <p:cNvSpPr/>
          <p:nvPr/>
        </p:nvSpPr>
        <p:spPr>
          <a:xfrm>
            <a:off x="6894576" y="2011680"/>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1fd348_gb52"/>
          <p:cNvSpPr/>
          <p:nvPr/>
        </p:nvSpPr>
        <p:spPr>
          <a:xfrm>
            <a:off x="7150608" y="2011680"/>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1fd360_gb53"/>
          <p:cNvSpPr/>
          <p:nvPr/>
        </p:nvSpPr>
        <p:spPr>
          <a:xfrm>
            <a:off x="7406640" y="2011680"/>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1fd372_gb54"/>
          <p:cNvSpPr/>
          <p:nvPr/>
        </p:nvSpPr>
        <p:spPr>
          <a:xfrm>
            <a:off x="7662672" y="2011680"/>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1fd384_gb55"/>
          <p:cNvSpPr/>
          <p:nvPr/>
        </p:nvSpPr>
        <p:spPr>
          <a:xfrm>
            <a:off x="7918704" y="2011680"/>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1fd396_gb56"/>
          <p:cNvSpPr/>
          <p:nvPr/>
        </p:nvSpPr>
        <p:spPr>
          <a:xfrm>
            <a:off x="8174736" y="2011680"/>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1fd408_gb57"/>
          <p:cNvSpPr/>
          <p:nvPr/>
        </p:nvSpPr>
        <p:spPr>
          <a:xfrm>
            <a:off x="8430768" y="2011680"/>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1fd420_gb58"/>
          <p:cNvSpPr/>
          <p:nvPr/>
        </p:nvSpPr>
        <p:spPr>
          <a:xfrm>
            <a:off x="6126480" y="2267712"/>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1fd432_gb59"/>
          <p:cNvSpPr/>
          <p:nvPr/>
        </p:nvSpPr>
        <p:spPr>
          <a:xfrm>
            <a:off x="6382512" y="2267712"/>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1fd444_gb60"/>
          <p:cNvSpPr/>
          <p:nvPr/>
        </p:nvSpPr>
        <p:spPr>
          <a:xfrm>
            <a:off x="6638544" y="2267712"/>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1fd456_gb61"/>
          <p:cNvSpPr/>
          <p:nvPr/>
        </p:nvSpPr>
        <p:spPr>
          <a:xfrm>
            <a:off x="6894576" y="2267712"/>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1fd468_gb62"/>
          <p:cNvSpPr/>
          <p:nvPr/>
        </p:nvSpPr>
        <p:spPr>
          <a:xfrm>
            <a:off x="7150608" y="2267712"/>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1fd480_gb63"/>
          <p:cNvSpPr/>
          <p:nvPr/>
        </p:nvSpPr>
        <p:spPr>
          <a:xfrm>
            <a:off x="7406640" y="2267712"/>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1fd492_gb64"/>
          <p:cNvSpPr/>
          <p:nvPr/>
        </p:nvSpPr>
        <p:spPr>
          <a:xfrm>
            <a:off x="7662672" y="2267712"/>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1fd504_gb65"/>
          <p:cNvSpPr/>
          <p:nvPr/>
        </p:nvSpPr>
        <p:spPr>
          <a:xfrm>
            <a:off x="7918704" y="2267712"/>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a1fd516_gb66"/>
          <p:cNvSpPr/>
          <p:nvPr/>
        </p:nvSpPr>
        <p:spPr>
          <a:xfrm>
            <a:off x="8174736" y="2267712"/>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a1fd528_gb67"/>
          <p:cNvSpPr/>
          <p:nvPr/>
        </p:nvSpPr>
        <p:spPr>
          <a:xfrm>
            <a:off x="8430768" y="2267712"/>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a1fd540_gb68"/>
          <p:cNvSpPr/>
          <p:nvPr/>
        </p:nvSpPr>
        <p:spPr>
          <a:xfrm>
            <a:off x="6126480" y="2523744"/>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a1fd552_gb69"/>
          <p:cNvSpPr/>
          <p:nvPr/>
        </p:nvSpPr>
        <p:spPr>
          <a:xfrm>
            <a:off x="6382512" y="2523744"/>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a1fd564_gb70"/>
          <p:cNvSpPr/>
          <p:nvPr/>
        </p:nvSpPr>
        <p:spPr>
          <a:xfrm>
            <a:off x="6638544" y="2523744"/>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a1fd576_gb71"/>
          <p:cNvSpPr/>
          <p:nvPr/>
        </p:nvSpPr>
        <p:spPr>
          <a:xfrm>
            <a:off x="6894576" y="2523744"/>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a1fd588_gb72"/>
          <p:cNvSpPr/>
          <p:nvPr/>
        </p:nvSpPr>
        <p:spPr>
          <a:xfrm>
            <a:off x="7150608" y="2523744"/>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a1fd600_gb73"/>
          <p:cNvSpPr/>
          <p:nvPr/>
        </p:nvSpPr>
        <p:spPr>
          <a:xfrm>
            <a:off x="7406640" y="2523744"/>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a1fd612_gb74"/>
          <p:cNvSpPr/>
          <p:nvPr/>
        </p:nvSpPr>
        <p:spPr>
          <a:xfrm>
            <a:off x="7662672" y="2523744"/>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a1fd624_gb75"/>
          <p:cNvSpPr/>
          <p:nvPr/>
        </p:nvSpPr>
        <p:spPr>
          <a:xfrm>
            <a:off x="7918704" y="2523744"/>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a1fd636_gb76"/>
          <p:cNvSpPr/>
          <p:nvPr/>
        </p:nvSpPr>
        <p:spPr>
          <a:xfrm>
            <a:off x="8174736" y="2523744"/>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a1fd648_gb77"/>
          <p:cNvSpPr/>
          <p:nvPr/>
        </p:nvSpPr>
        <p:spPr>
          <a:xfrm>
            <a:off x="8430768" y="2523744"/>
            <a:ext cx="210312" cy="210312"/>
          </a:xfrm>
          <a:prstGeom prst="roundRect">
            <a:avLst>
              <a:gd name="adj" fmla="val 13043"/>
            </a:avLst>
          </a:prstGeom>
          <a:solidFill>
            <a:srgbClr val="D9F2F7"/>
          </a:solidFill>
          <a:ln w="63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a3u_down78"/>
          <p:cNvSpPr/>
          <p:nvPr/>
        </p:nvSpPr>
        <p:spPr>
          <a:xfrm>
            <a:off x="6126480" y="1499616"/>
            <a:ext cx="210312" cy="210312"/>
          </a:xfrm>
          <a:prstGeom prst="roundRect">
            <a:avLst>
              <a:gd name="adj" fmla="val 13043"/>
            </a:avLst>
          </a:prstGeom>
          <a:solidFill>
            <a:srgbClr val="FFE4E6"/>
          </a:solidFill>
          <a:ln w="1587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a3u_downt79"/>
          <p:cNvSpPr txBox="1"/>
          <p:nvPr/>
        </p:nvSpPr>
        <p:spPr>
          <a:xfrm>
            <a:off x="6126480" y="1499616"/>
            <a:ext cx="210312" cy="210312"/>
          </a:xfrm>
          <a:prstGeom prst="rect">
            <a:avLst/>
          </a:prstGeom>
          <a:noFill/>
        </p:spPr>
        <p:txBody>
          <a:bodyPr wrap="square" lIns="0" tIns="0" rIns="0" bIns="0" anchor="ctr">
            <a:spAutoFit/>
          </a:bodyPr>
          <a:lstStyle/>
          <a:p>
            <a:pPr algn="ctr"/>
            <a:r>
              <a:rPr sz="800" b="1">
                <a:solidFill>
                  <a:srgbClr val="9F1239"/>
                </a:solidFill>
                <a:latin typeface="Consolas"/>
              </a:rPr>
              <a:t>x</a:t>
            </a:r>
          </a:p>
        </p:txBody>
      </p:sp>
      <p:cxnSp>
        <p:nvCxnSpPr>
          <p:cNvPr id="81" name="a3u_ar80"/>
          <p:cNvCxnSpPr/>
          <p:nvPr/>
        </p:nvCxnSpPr>
        <p:spPr>
          <a:xfrm>
            <a:off x="5641848" y="1604772"/>
            <a:ext cx="466344" cy="0"/>
          </a:xfrm>
          <a:prstGeom prst="line">
            <a:avLst/>
          </a:prstGeom>
          <a:ln w="15875">
            <a:solidFill>
              <a:srgbClr val="E11D4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2" name="a4u_up81"/>
          <p:cNvSpPr/>
          <p:nvPr/>
        </p:nvSpPr>
        <p:spPr>
          <a:xfrm>
            <a:off x="6126480" y="1755648"/>
            <a:ext cx="210312" cy="210312"/>
          </a:xfrm>
          <a:prstGeom prst="roundRect">
            <a:avLst>
              <a:gd name="adj" fmla="val 13043"/>
            </a:avLst>
          </a:prstGeom>
          <a:solidFill>
            <a:srgbClr val="DCFCE7"/>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a4u_upt82"/>
          <p:cNvSpPr txBox="1"/>
          <p:nvPr/>
        </p:nvSpPr>
        <p:spPr>
          <a:xfrm>
            <a:off x="6126480" y="1755648"/>
            <a:ext cx="210312" cy="210312"/>
          </a:xfrm>
          <a:prstGeom prst="rect">
            <a:avLst/>
          </a:prstGeom>
          <a:noFill/>
        </p:spPr>
        <p:txBody>
          <a:bodyPr wrap="square" lIns="0" tIns="0" rIns="0" bIns="0" anchor="ctr">
            <a:spAutoFit/>
          </a:bodyPr>
          <a:lstStyle/>
          <a:p>
            <a:pPr algn="ctr"/>
            <a:r>
              <a:rPr sz="700" b="1">
                <a:solidFill>
                  <a:srgbClr val="15803D"/>
                </a:solidFill>
                <a:latin typeface="Consolas"/>
              </a:rPr>
              <a:t>2</a:t>
            </a:r>
          </a:p>
        </p:txBody>
      </p:sp>
      <p:cxnSp>
        <p:nvCxnSpPr>
          <p:cNvPr id="84" name="a4u_ar83"/>
          <p:cNvCxnSpPr/>
          <p:nvPr/>
        </p:nvCxnSpPr>
        <p:spPr>
          <a:xfrm>
            <a:off x="5641848" y="1860804"/>
            <a:ext cx="466344" cy="0"/>
          </a:xfrm>
          <a:prstGeom prst="line">
            <a:avLst/>
          </a:prstGeom>
          <a:ln w="19050">
            <a:solidFill>
              <a:srgbClr val="1580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a3u_st84"/>
          <p:cNvSpPr txBox="1"/>
          <p:nvPr/>
        </p:nvSpPr>
        <p:spPr>
          <a:xfrm>
            <a:off x="4709160" y="2852928"/>
            <a:ext cx="3977639" cy="237744"/>
          </a:xfrm>
          <a:prstGeom prst="rect">
            <a:avLst/>
          </a:prstGeom>
          <a:noFill/>
        </p:spPr>
        <p:txBody>
          <a:bodyPr wrap="square" lIns="0" tIns="0" rIns="0" bIns="0" anchor="ctr">
            <a:spAutoFit/>
          </a:bodyPr>
          <a:lstStyle/>
          <a:p>
            <a:pPr algn="l"/>
            <a:r>
              <a:rPr sz="900" b="0">
                <a:solidFill>
                  <a:srgbClr val="9F1239"/>
                </a:solidFill>
                <a:latin typeface="Segoe UI"/>
              </a:rPr>
              <a:t>1  try broker 1 - it is down</a:t>
            </a:r>
          </a:p>
        </p:txBody>
      </p:sp>
      <p:sp>
        <p:nvSpPr>
          <p:cNvPr id="86" name="a4ud120_st85"/>
          <p:cNvSpPr txBox="1"/>
          <p:nvPr/>
        </p:nvSpPr>
        <p:spPr>
          <a:xfrm>
            <a:off x="4709160" y="3108960"/>
            <a:ext cx="3977639" cy="237744"/>
          </a:xfrm>
          <a:prstGeom prst="rect">
            <a:avLst/>
          </a:prstGeom>
          <a:noFill/>
        </p:spPr>
        <p:txBody>
          <a:bodyPr wrap="square" lIns="0" tIns="0" rIns="0" bIns="0" anchor="ctr">
            <a:spAutoFit/>
          </a:bodyPr>
          <a:lstStyle/>
          <a:p>
            <a:pPr algn="l"/>
            <a:r>
              <a:rPr sz="900" b="0">
                <a:solidFill>
                  <a:srgbClr val="15803D"/>
                </a:solidFill>
                <a:latin typeface="Segoe UI"/>
              </a:rPr>
              <a:t>2  try broker 2 - connected</a:t>
            </a:r>
          </a:p>
        </p:txBody>
      </p:sp>
      <p:sp>
        <p:nvSpPr>
          <p:cNvPr id="87" name="a5ud240_st86"/>
          <p:cNvSpPr txBox="1"/>
          <p:nvPr/>
        </p:nvSpPr>
        <p:spPr>
          <a:xfrm>
            <a:off x="4709160" y="3364992"/>
            <a:ext cx="3977639" cy="237744"/>
          </a:xfrm>
          <a:prstGeom prst="rect">
            <a:avLst/>
          </a:prstGeom>
          <a:noFill/>
        </p:spPr>
        <p:txBody>
          <a:bodyPr wrap="square" lIns="0" tIns="0" rIns="0" bIns="0" anchor="ctr">
            <a:spAutoFit/>
          </a:bodyPr>
          <a:lstStyle/>
          <a:p>
            <a:pPr algn="l"/>
            <a:r>
              <a:rPr sz="900" b="0">
                <a:solidFill>
                  <a:srgbClr val="0E7490"/>
                </a:solidFill>
                <a:latin typeface="Segoe UI"/>
              </a:rPr>
              <a:t>3  it returns the metadata: brokers, topics, leaders</a:t>
            </a:r>
          </a:p>
        </p:txBody>
      </p:sp>
      <p:sp>
        <p:nvSpPr>
          <p:cNvPr id="88" name="a5ud360_st87"/>
          <p:cNvSpPr txBox="1"/>
          <p:nvPr/>
        </p:nvSpPr>
        <p:spPr>
          <a:xfrm>
            <a:off x="4709160" y="3621024"/>
            <a:ext cx="3977639" cy="237744"/>
          </a:xfrm>
          <a:prstGeom prst="rect">
            <a:avLst/>
          </a:prstGeom>
          <a:noFill/>
        </p:spPr>
        <p:txBody>
          <a:bodyPr wrap="square" lIns="0" tIns="0" rIns="0" bIns="0" anchor="ctr">
            <a:spAutoFit/>
          </a:bodyPr>
          <a:lstStyle/>
          <a:p>
            <a:pPr algn="l"/>
            <a:r>
              <a:rPr sz="900" b="1">
                <a:solidFill>
                  <a:srgbClr val="C2410C"/>
                </a:solidFill>
                <a:latin typeface="Segoe UI"/>
              </a:rPr>
              <a:t>4  now the producer knows the whole cluster</a:t>
            </a:r>
          </a:p>
        </p:txBody>
      </p:sp>
      <p:sp>
        <p:nvSpPr>
          <p:cNvPr id="89" name="a6u_nb88"/>
          <p:cNvSpPr/>
          <p:nvPr/>
        </p:nvSpPr>
        <p:spPr>
          <a:xfrm>
            <a:off x="457200" y="3986784"/>
            <a:ext cx="8229600" cy="530352"/>
          </a:xfrm>
          <a:prstGeom prst="roundRect">
            <a:avLst>
              <a:gd name="adj" fmla="val 1379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a6u_nacc89"/>
          <p:cNvSpPr/>
          <p:nvPr/>
        </p:nvSpPr>
        <p:spPr>
          <a:xfrm>
            <a:off x="457200" y="3986784"/>
            <a:ext cx="54864" cy="53035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a6u_nt90"/>
          <p:cNvSpPr txBox="1"/>
          <p:nvPr/>
        </p:nvSpPr>
        <p:spPr>
          <a:xfrm>
            <a:off x="658368" y="3986784"/>
            <a:ext cx="7827264" cy="530352"/>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List a few brokers so one is likely up - the client discovers the rest by itself.</a:t>
            </a:r>
          </a:p>
        </p:txBody>
      </p:sp>
      <p:sp>
        <p:nvSpPr>
          <p:cNvPr id="92" name="ft9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05</a:t>
            </a:r>
          </a:p>
        </p:txBody>
      </p:sp>
      <p:sp>
        <p:nvSpPr>
          <p:cNvPr id="93" name="ft9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ft9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Producers</a:t>
            </a:r>
          </a:p>
        </p:txBody>
      </p:sp>
      <p:sp>
        <p:nvSpPr>
          <p:cNvPr id="95" name="ft9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21" presetID="2" presetClass="entr" presetSubtype="4"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ppt_x"/>
                                          </p:val>
                                        </p:tav>
                                        <p:tav tm="100000">
                                          <p:val>
                                            <p:strVal val="#ppt_x"/>
                                          </p:val>
                                        </p:tav>
                                      </p:tavLst>
                                    </p:anim>
                                    <p:anim calcmode="lin" valueType="num">
                                      <p:cBhvr additive="base">
                                        <p:cTn id="19" dur="500" fill="hold"/>
                                        <p:tgtEl>
                                          <p:spTgt spid="22"/>
                                        </p:tgtEl>
                                        <p:attrNameLst>
                                          <p:attrName>ppt_y</p:attrName>
                                        </p:attrNameLst>
                                      </p:cBhvr>
                                      <p:tavLst>
                                        <p:tav tm="0">
                                          <p:val>
                                            <p:strVal val="#ppt_y+0.1"/>
                                          </p:val>
                                        </p:tav>
                                        <p:tav tm="100000">
                                          <p:val>
                                            <p:strVal val="#ppt_y"/>
                                          </p:val>
                                        </p:tav>
                                      </p:tavLst>
                                    </p:anim>
                                    <p:animEffect transition="in" filter="fade">
                                      <p:cBhvr>
                                        <p:cTn id="20" dur="500"/>
                                        <p:tgtEl>
                                          <p:spTgt spid="22"/>
                                        </p:tgtEl>
                                      </p:cBhvr>
                                    </p:animEffect>
                                  </p:childTnLst>
                                </p:cTn>
                              </p:par>
                              <p:par>
                                <p:cTn id="26" presetID="2" presetClass="entr" presetSubtype="4"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ppt_y+0.1"/>
                                          </p:val>
                                        </p:tav>
                                        <p:tav tm="100000">
                                          <p:val>
                                            <p:strVal val="#ppt_y"/>
                                          </p:val>
                                        </p:tav>
                                      </p:tavLst>
                                    </p:anim>
                                    <p:animEffect transition="in" filter="fade">
                                      <p:cBhvr>
                                        <p:cTn id="25" dur="500"/>
                                        <p:tgtEl>
                                          <p:spTgt spid="23"/>
                                        </p:tgtEl>
                                      </p:cBhvr>
                                    </p:animEffect>
                                  </p:childTnLst>
                                </p:cTn>
                              </p:par>
                              <p:par>
                                <p:cTn id="31" presetID="2" presetClass="entr" presetSubtype="4"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additive="base">
                                        <p:cTn id="28" dur="500" fill="hold"/>
                                        <p:tgtEl>
                                          <p:spTgt spid="24"/>
                                        </p:tgtEl>
                                        <p:attrNameLst>
                                          <p:attrName>ppt_x</p:attrName>
                                        </p:attrNameLst>
                                      </p:cBhvr>
                                      <p:tavLst>
                                        <p:tav tm="0">
                                          <p:val>
                                            <p:strVal val="#ppt_x"/>
                                          </p:val>
                                        </p:tav>
                                        <p:tav tm="100000">
                                          <p:val>
                                            <p:strVal val="#ppt_x"/>
                                          </p:val>
                                        </p:tav>
                                      </p:tavLst>
                                    </p:anim>
                                    <p:anim calcmode="lin" valueType="num">
                                      <p:cBhvr additive="base">
                                        <p:cTn id="29" dur="500" fill="hold"/>
                                        <p:tgtEl>
                                          <p:spTgt spid="24"/>
                                        </p:tgtEl>
                                        <p:attrNameLst>
                                          <p:attrName>ppt_y</p:attrName>
                                        </p:attrNameLst>
                                      </p:cBhvr>
                                      <p:tavLst>
                                        <p:tav tm="0">
                                          <p:val>
                                            <p:strVal val="#ppt_y+0.1"/>
                                          </p:val>
                                        </p:tav>
                                        <p:tav tm="100000">
                                          <p:val>
                                            <p:strVal val="#ppt_y"/>
                                          </p:val>
                                        </p:tav>
                                      </p:tavLst>
                                    </p:anim>
                                    <p:animEffect transition="in" filter="fade">
                                      <p:cBhvr>
                                        <p:cTn id="30" dur="500"/>
                                        <p:tgtEl>
                                          <p:spTgt spid="24"/>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additive="base">
                                        <p:cTn id="33" dur="500" fill="hold"/>
                                        <p:tgtEl>
                                          <p:spTgt spid="25"/>
                                        </p:tgtEl>
                                        <p:attrNameLst>
                                          <p:attrName>ppt_x</p:attrName>
                                        </p:attrNameLst>
                                      </p:cBhvr>
                                      <p:tavLst>
                                        <p:tav tm="0">
                                          <p:val>
                                            <p:strVal val="#ppt_x"/>
                                          </p:val>
                                        </p:tav>
                                        <p:tav tm="100000">
                                          <p:val>
                                            <p:strVal val="#ppt_x"/>
                                          </p:val>
                                        </p:tav>
                                      </p:tavLst>
                                    </p:anim>
                                    <p:anim calcmode="lin" valueType="num">
                                      <p:cBhvr additive="base">
                                        <p:cTn id="34" dur="500" fill="hold"/>
                                        <p:tgtEl>
                                          <p:spTgt spid="25"/>
                                        </p:tgtEl>
                                        <p:attrNameLst>
                                          <p:attrName>ppt_y</p:attrName>
                                        </p:attrNameLst>
                                      </p:cBhvr>
                                      <p:tavLst>
                                        <p:tav tm="0">
                                          <p:val>
                                            <p:strVal val="#ppt_y+0.1"/>
                                          </p:val>
                                        </p:tav>
                                        <p:tav tm="100000">
                                          <p:val>
                                            <p:strVal val="#ppt_y"/>
                                          </p:val>
                                        </p:tav>
                                      </p:tavLst>
                                    </p:anim>
                                    <p:animEffect transition="in" filter="fade">
                                      <p:cBhvr>
                                        <p:cTn id="35" dur="500"/>
                                        <p:tgtEl>
                                          <p:spTgt spid="25"/>
                                        </p:tgtEl>
                                      </p:cBhvr>
                                    </p:animEffect>
                                  </p:childTnLst>
                                </p:cTn>
                              </p:par>
                              <p:par>
                                <p:cTn id="39" presetID="10" presetClass="entr" presetSubtype="0" fill="hold" grpId="0" nodeType="withEffect">
                                  <p:stCondLst>
                                    <p:cond delay="6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par>
                                <p:cTn id="42" presetID="10" presetClass="entr" presetSubtype="0" fill="hold" grpId="0" nodeType="withEffect">
                                  <p:stCondLst>
                                    <p:cond delay="6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par>
                                <p:cTn id="45" presetID="10" presetClass="entr" presetSubtype="0" fill="hold" grpId="0" nodeType="withEffect">
                                  <p:stCondLst>
                                    <p:cond delay="72"/>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par>
                                <p:cTn id="48" presetID="10" presetClass="entr" presetSubtype="0" fill="hold" grpId="0" nodeType="withEffect">
                                  <p:stCondLst>
                                    <p:cond delay="84"/>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par>
                                <p:cTn id="51" presetID="22" presetClass="entr" presetSubtype="8" fill="hold" grpId="0" nodeType="withEffect">
                                  <p:stCondLst>
                                    <p:cond delay="9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par>
                                <p:cTn id="54" presetID="10" presetClass="entr" presetSubtype="0" fill="hold" grpId="0" nodeType="withEffect">
                                  <p:stCondLst>
                                    <p:cond delay="96"/>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par>
                                <p:cTn id="57" presetID="10" presetClass="entr" presetSubtype="0" fill="hold" grpId="0" nodeType="withEffect">
                                  <p:stCondLst>
                                    <p:cond delay="108"/>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500"/>
                                        <p:tgtEl>
                                          <p:spTgt spid="31"/>
                                        </p:tgtEl>
                                      </p:cBhvr>
                                    </p:animEffect>
                                  </p:childTnLst>
                                </p:cTn>
                              </p:par>
                              <p:par>
                                <p:cTn id="60" presetID="10" presetClass="entr" presetSubtype="0" fill="hold" grpId="0" nodeType="withEffect">
                                  <p:stCondLst>
                                    <p:cond delay="12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00"/>
                                        <p:tgtEl>
                                          <p:spTgt spid="32"/>
                                        </p:tgtEl>
                                      </p:cBhvr>
                                    </p:animEffect>
                                  </p:childTnLst>
                                </p:cTn>
                              </p:par>
                              <p:par>
                                <p:cTn id="63" presetID="10" presetClass="entr" presetSubtype="0" fill="hold" grpId="0" nodeType="withEffect">
                                  <p:stCondLst>
                                    <p:cond delay="132"/>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500"/>
                                        <p:tgtEl>
                                          <p:spTgt spid="33"/>
                                        </p:tgtEl>
                                      </p:cBhvr>
                                    </p:animEffect>
                                  </p:childTnLst>
                                </p:cTn>
                              </p:par>
                              <p:par>
                                <p:cTn id="66" presetID="10" presetClass="entr" presetSubtype="0" fill="hold" grpId="0" nodeType="withEffect">
                                  <p:stCondLst>
                                    <p:cond delay="144"/>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childTnLst>
                                </p:cTn>
                              </p:par>
                              <p:par>
                                <p:cTn id="69" presetID="10" presetClass="entr" presetSubtype="0" fill="hold" grpId="0" nodeType="withEffect">
                                  <p:stCondLst>
                                    <p:cond delay="156"/>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500"/>
                                        <p:tgtEl>
                                          <p:spTgt spid="35"/>
                                        </p:tgtEl>
                                      </p:cBhvr>
                                    </p:animEffect>
                                  </p:childTnLst>
                                </p:cTn>
                              </p:par>
                              <p:par>
                                <p:cTn id="72" presetID="10" presetClass="entr" presetSubtype="0" fill="hold" grpId="0" nodeType="withEffect">
                                  <p:stCondLst>
                                    <p:cond delay="168"/>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00"/>
                                        <p:tgtEl>
                                          <p:spTgt spid="36"/>
                                        </p:tgtEl>
                                      </p:cBhvr>
                                    </p:animEffect>
                                  </p:childTnLst>
                                </p:cTn>
                              </p:par>
                              <p:par>
                                <p:cTn id="75" presetID="10" presetClass="entr" presetSubtype="0" fill="hold" grpId="0" nodeType="withEffect">
                                  <p:stCondLst>
                                    <p:cond delay="18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500"/>
                                        <p:tgtEl>
                                          <p:spTgt spid="37"/>
                                        </p:tgtEl>
                                      </p:cBhvr>
                                    </p:animEffect>
                                  </p:childTnLst>
                                </p:cTn>
                              </p:par>
                              <p:par>
                                <p:cTn id="78" presetID="10" presetClass="entr" presetSubtype="0" fill="hold" grpId="0" nodeType="withEffect">
                                  <p:stCondLst>
                                    <p:cond delay="18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500"/>
                                        <p:tgtEl>
                                          <p:spTgt spid="38"/>
                                        </p:tgtEl>
                                      </p:cBhvr>
                                    </p:animEffect>
                                  </p:childTnLst>
                                </p:cTn>
                              </p:par>
                              <p:par>
                                <p:cTn id="81" presetID="10" presetClass="entr" presetSubtype="0" fill="hold" grpId="0" nodeType="withEffect">
                                  <p:stCondLst>
                                    <p:cond delay="192"/>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500"/>
                                        <p:tgtEl>
                                          <p:spTgt spid="39"/>
                                        </p:tgtEl>
                                      </p:cBhvr>
                                    </p:animEffect>
                                  </p:childTnLst>
                                </p:cTn>
                              </p:par>
                              <p:par>
                                <p:cTn id="84" presetID="10" presetClass="entr" presetSubtype="0" fill="hold" grpId="0" nodeType="withEffect">
                                  <p:stCondLst>
                                    <p:cond delay="204"/>
                                  </p:stCondLst>
                                  <p:childTnLst>
                                    <p:set>
                                      <p:cBhvr>
                                        <p:cTn id="82" dur="1" fill="hold">
                                          <p:stCondLst>
                                            <p:cond delay="0"/>
                                          </p:stCondLst>
                                        </p:cTn>
                                        <p:tgtEl>
                                          <p:spTgt spid="40"/>
                                        </p:tgtEl>
                                        <p:attrNameLst>
                                          <p:attrName>style.visibility</p:attrName>
                                        </p:attrNameLst>
                                      </p:cBhvr>
                                      <p:to>
                                        <p:strVal val="visible"/>
                                      </p:to>
                                    </p:set>
                                    <p:animEffect transition="in" filter="fade">
                                      <p:cBhvr>
                                        <p:cTn id="83" dur="500"/>
                                        <p:tgtEl>
                                          <p:spTgt spid="40"/>
                                        </p:tgtEl>
                                      </p:cBhvr>
                                    </p:animEffect>
                                  </p:childTnLst>
                                </p:cTn>
                              </p:par>
                              <p:par>
                                <p:cTn id="87" presetID="10" presetClass="entr" presetSubtype="0" fill="hold" grpId="0" nodeType="withEffect">
                                  <p:stCondLst>
                                    <p:cond delay="216"/>
                                  </p:stCondLst>
                                  <p:childTnLst>
                                    <p:set>
                                      <p:cBhvr>
                                        <p:cTn id="85" dur="1" fill="hold">
                                          <p:stCondLst>
                                            <p:cond delay="0"/>
                                          </p:stCondLst>
                                        </p:cTn>
                                        <p:tgtEl>
                                          <p:spTgt spid="41"/>
                                        </p:tgtEl>
                                        <p:attrNameLst>
                                          <p:attrName>style.visibility</p:attrName>
                                        </p:attrNameLst>
                                      </p:cBhvr>
                                      <p:to>
                                        <p:strVal val="visible"/>
                                      </p:to>
                                    </p:set>
                                    <p:animEffect transition="in" filter="fade">
                                      <p:cBhvr>
                                        <p:cTn id="86" dur="500"/>
                                        <p:tgtEl>
                                          <p:spTgt spid="41"/>
                                        </p:tgtEl>
                                      </p:cBhvr>
                                    </p:animEffect>
                                  </p:childTnLst>
                                </p:cTn>
                              </p:par>
                              <p:par>
                                <p:cTn id="90" presetID="10" presetClass="entr" presetSubtype="0" fill="hold" grpId="0" nodeType="withEffect">
                                  <p:stCondLst>
                                    <p:cond delay="228"/>
                                  </p:stCondLst>
                                  <p:childTnLst>
                                    <p:set>
                                      <p:cBhvr>
                                        <p:cTn id="88" dur="1" fill="hold">
                                          <p:stCondLst>
                                            <p:cond delay="0"/>
                                          </p:stCondLst>
                                        </p:cTn>
                                        <p:tgtEl>
                                          <p:spTgt spid="42"/>
                                        </p:tgtEl>
                                        <p:attrNameLst>
                                          <p:attrName>style.visibility</p:attrName>
                                        </p:attrNameLst>
                                      </p:cBhvr>
                                      <p:to>
                                        <p:strVal val="visible"/>
                                      </p:to>
                                    </p:set>
                                    <p:animEffect transition="in" filter="fade">
                                      <p:cBhvr>
                                        <p:cTn id="89" dur="500"/>
                                        <p:tgtEl>
                                          <p:spTgt spid="42"/>
                                        </p:tgtEl>
                                      </p:cBhvr>
                                    </p:animEffect>
                                  </p:childTnLst>
                                </p:cTn>
                              </p:par>
                              <p:par>
                                <p:cTn id="93" presetID="10" presetClass="entr" presetSubtype="0" fill="hold" grpId="0" nodeType="withEffect">
                                  <p:stCondLst>
                                    <p:cond delay="240"/>
                                  </p:stCondLst>
                                  <p:childTnLst>
                                    <p:set>
                                      <p:cBhvr>
                                        <p:cTn id="91" dur="1" fill="hold">
                                          <p:stCondLst>
                                            <p:cond delay="0"/>
                                          </p:stCondLst>
                                        </p:cTn>
                                        <p:tgtEl>
                                          <p:spTgt spid="43"/>
                                        </p:tgtEl>
                                        <p:attrNameLst>
                                          <p:attrName>style.visibility</p:attrName>
                                        </p:attrNameLst>
                                      </p:cBhvr>
                                      <p:to>
                                        <p:strVal val="visible"/>
                                      </p:to>
                                    </p:set>
                                    <p:animEffect transition="in" filter="fade">
                                      <p:cBhvr>
                                        <p:cTn id="92" dur="500"/>
                                        <p:tgtEl>
                                          <p:spTgt spid="43"/>
                                        </p:tgtEl>
                                      </p:cBhvr>
                                    </p:animEffect>
                                  </p:childTnLst>
                                </p:cTn>
                              </p:par>
                              <p:par>
                                <p:cTn id="96" presetID="10" presetClass="entr" presetSubtype="0" fill="hold" grpId="0" nodeType="withEffect">
                                  <p:stCondLst>
                                    <p:cond delay="252"/>
                                  </p:stCondLst>
                                  <p:childTnLst>
                                    <p:set>
                                      <p:cBhvr>
                                        <p:cTn id="94" dur="1" fill="hold">
                                          <p:stCondLst>
                                            <p:cond delay="0"/>
                                          </p:stCondLst>
                                        </p:cTn>
                                        <p:tgtEl>
                                          <p:spTgt spid="44"/>
                                        </p:tgtEl>
                                        <p:attrNameLst>
                                          <p:attrName>style.visibility</p:attrName>
                                        </p:attrNameLst>
                                      </p:cBhvr>
                                      <p:to>
                                        <p:strVal val="visible"/>
                                      </p:to>
                                    </p:set>
                                    <p:animEffect transition="in" filter="fade">
                                      <p:cBhvr>
                                        <p:cTn id="95" dur="500"/>
                                        <p:tgtEl>
                                          <p:spTgt spid="44"/>
                                        </p:tgtEl>
                                      </p:cBhvr>
                                    </p:animEffect>
                                  </p:childTnLst>
                                </p:cTn>
                              </p:par>
                              <p:par>
                                <p:cTn id="99" presetID="10" presetClass="entr" presetSubtype="0" fill="hold" grpId="0" nodeType="withEffect">
                                  <p:stCondLst>
                                    <p:cond delay="264"/>
                                  </p:stCondLst>
                                  <p:childTnLst>
                                    <p:set>
                                      <p:cBhvr>
                                        <p:cTn id="97" dur="1" fill="hold">
                                          <p:stCondLst>
                                            <p:cond delay="0"/>
                                          </p:stCondLst>
                                        </p:cTn>
                                        <p:tgtEl>
                                          <p:spTgt spid="45"/>
                                        </p:tgtEl>
                                        <p:attrNameLst>
                                          <p:attrName>style.visibility</p:attrName>
                                        </p:attrNameLst>
                                      </p:cBhvr>
                                      <p:to>
                                        <p:strVal val="visible"/>
                                      </p:to>
                                    </p:set>
                                    <p:animEffect transition="in" filter="fade">
                                      <p:cBhvr>
                                        <p:cTn id="98" dur="500"/>
                                        <p:tgtEl>
                                          <p:spTgt spid="45"/>
                                        </p:tgtEl>
                                      </p:cBhvr>
                                    </p:animEffect>
                                  </p:childTnLst>
                                </p:cTn>
                              </p:par>
                              <p:par>
                                <p:cTn id="102" presetID="10" presetClass="entr" presetSubtype="0" fill="hold" grpId="0" nodeType="withEffect">
                                  <p:stCondLst>
                                    <p:cond delay="276"/>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500"/>
                                        <p:tgtEl>
                                          <p:spTgt spid="46"/>
                                        </p:tgtEl>
                                      </p:cBhvr>
                                    </p:animEffect>
                                  </p:childTnLst>
                                </p:cTn>
                              </p:par>
                              <p:par>
                                <p:cTn id="105" presetID="10" presetClass="entr" presetSubtype="0" fill="hold" grpId="0" nodeType="withEffect">
                                  <p:stCondLst>
                                    <p:cond delay="288"/>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500"/>
                                        <p:tgtEl>
                                          <p:spTgt spid="47"/>
                                        </p:tgtEl>
                                      </p:cBhvr>
                                    </p:animEffect>
                                  </p:childTnLst>
                                </p:cTn>
                              </p:par>
                              <p:par>
                                <p:cTn id="108" presetID="10" presetClass="entr" presetSubtype="0" fill="hold" grpId="0" nodeType="withEffect">
                                  <p:stCondLst>
                                    <p:cond delay="30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500"/>
                                        <p:tgtEl>
                                          <p:spTgt spid="48"/>
                                        </p:tgtEl>
                                      </p:cBhvr>
                                    </p:animEffect>
                                  </p:childTnLst>
                                </p:cTn>
                              </p:par>
                              <p:par>
                                <p:cTn id="111" presetID="10" presetClass="entr" presetSubtype="0" fill="hold" grpId="0" nodeType="withEffect">
                                  <p:stCondLst>
                                    <p:cond delay="30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500"/>
                                        <p:tgtEl>
                                          <p:spTgt spid="49"/>
                                        </p:tgtEl>
                                      </p:cBhvr>
                                    </p:animEffect>
                                  </p:childTnLst>
                                </p:cTn>
                              </p:par>
                              <p:par>
                                <p:cTn id="114" presetID="10" presetClass="entr" presetSubtype="0" fill="hold" grpId="0" nodeType="withEffect">
                                  <p:stCondLst>
                                    <p:cond delay="312"/>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500"/>
                                        <p:tgtEl>
                                          <p:spTgt spid="50"/>
                                        </p:tgtEl>
                                      </p:cBhvr>
                                    </p:animEffect>
                                  </p:childTnLst>
                                </p:cTn>
                              </p:par>
                              <p:par>
                                <p:cTn id="117" presetID="10" presetClass="entr" presetSubtype="0" fill="hold" grpId="0" nodeType="withEffect">
                                  <p:stCondLst>
                                    <p:cond delay="324"/>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500"/>
                                        <p:tgtEl>
                                          <p:spTgt spid="51"/>
                                        </p:tgtEl>
                                      </p:cBhvr>
                                    </p:animEffect>
                                  </p:childTnLst>
                                </p:cTn>
                              </p:par>
                              <p:par>
                                <p:cTn id="120" presetID="10" presetClass="entr" presetSubtype="0" fill="hold" grpId="0" nodeType="withEffect">
                                  <p:stCondLst>
                                    <p:cond delay="336"/>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500"/>
                                        <p:tgtEl>
                                          <p:spTgt spid="52"/>
                                        </p:tgtEl>
                                      </p:cBhvr>
                                    </p:animEffect>
                                  </p:childTnLst>
                                </p:cTn>
                              </p:par>
                              <p:par>
                                <p:cTn id="123" presetID="10" presetClass="entr" presetSubtype="0" fill="hold" grpId="0" nodeType="withEffect">
                                  <p:stCondLst>
                                    <p:cond delay="348"/>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500"/>
                                        <p:tgtEl>
                                          <p:spTgt spid="53"/>
                                        </p:tgtEl>
                                      </p:cBhvr>
                                    </p:animEffect>
                                  </p:childTnLst>
                                </p:cTn>
                              </p:par>
                              <p:par>
                                <p:cTn id="126" presetID="10" presetClass="entr" presetSubtype="0" fill="hold" grpId="0" nodeType="withEffect">
                                  <p:stCondLst>
                                    <p:cond delay="36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500"/>
                                        <p:tgtEl>
                                          <p:spTgt spid="54"/>
                                        </p:tgtEl>
                                      </p:cBhvr>
                                    </p:animEffect>
                                  </p:childTnLst>
                                </p:cTn>
                              </p:par>
                              <p:par>
                                <p:cTn id="129" presetID="10" presetClass="entr" presetSubtype="0" fill="hold" grpId="0" nodeType="withEffect">
                                  <p:stCondLst>
                                    <p:cond delay="372"/>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500"/>
                                        <p:tgtEl>
                                          <p:spTgt spid="55"/>
                                        </p:tgtEl>
                                      </p:cBhvr>
                                    </p:animEffect>
                                  </p:childTnLst>
                                </p:cTn>
                              </p:par>
                              <p:par>
                                <p:cTn id="132" presetID="10" presetClass="entr" presetSubtype="0" fill="hold" grpId="0" nodeType="withEffect">
                                  <p:stCondLst>
                                    <p:cond delay="384"/>
                                  </p:stCondLst>
                                  <p:childTnLst>
                                    <p:set>
                                      <p:cBhvr>
                                        <p:cTn id="130" dur="1" fill="hold">
                                          <p:stCondLst>
                                            <p:cond delay="0"/>
                                          </p:stCondLst>
                                        </p:cTn>
                                        <p:tgtEl>
                                          <p:spTgt spid="56"/>
                                        </p:tgtEl>
                                        <p:attrNameLst>
                                          <p:attrName>style.visibility</p:attrName>
                                        </p:attrNameLst>
                                      </p:cBhvr>
                                      <p:to>
                                        <p:strVal val="visible"/>
                                      </p:to>
                                    </p:set>
                                    <p:animEffect transition="in" filter="fade">
                                      <p:cBhvr>
                                        <p:cTn id="131" dur="500"/>
                                        <p:tgtEl>
                                          <p:spTgt spid="56"/>
                                        </p:tgtEl>
                                      </p:cBhvr>
                                    </p:animEffect>
                                  </p:childTnLst>
                                </p:cTn>
                              </p:par>
                              <p:par>
                                <p:cTn id="135" presetID="10" presetClass="entr" presetSubtype="0" fill="hold" grpId="0" nodeType="withEffect">
                                  <p:stCondLst>
                                    <p:cond delay="396"/>
                                  </p:stCondLst>
                                  <p:childTnLst>
                                    <p:set>
                                      <p:cBhvr>
                                        <p:cTn id="133" dur="1" fill="hold">
                                          <p:stCondLst>
                                            <p:cond delay="0"/>
                                          </p:stCondLst>
                                        </p:cTn>
                                        <p:tgtEl>
                                          <p:spTgt spid="57"/>
                                        </p:tgtEl>
                                        <p:attrNameLst>
                                          <p:attrName>style.visibility</p:attrName>
                                        </p:attrNameLst>
                                      </p:cBhvr>
                                      <p:to>
                                        <p:strVal val="visible"/>
                                      </p:to>
                                    </p:set>
                                    <p:animEffect transition="in" filter="fade">
                                      <p:cBhvr>
                                        <p:cTn id="134" dur="500"/>
                                        <p:tgtEl>
                                          <p:spTgt spid="57"/>
                                        </p:tgtEl>
                                      </p:cBhvr>
                                    </p:animEffect>
                                  </p:childTnLst>
                                </p:cTn>
                              </p:par>
                              <p:par>
                                <p:cTn id="138" presetID="10" presetClass="entr" presetSubtype="0" fill="hold" grpId="0" nodeType="withEffect">
                                  <p:stCondLst>
                                    <p:cond delay="408"/>
                                  </p:stCondLst>
                                  <p:childTnLst>
                                    <p:set>
                                      <p:cBhvr>
                                        <p:cTn id="136" dur="1" fill="hold">
                                          <p:stCondLst>
                                            <p:cond delay="0"/>
                                          </p:stCondLst>
                                        </p:cTn>
                                        <p:tgtEl>
                                          <p:spTgt spid="58"/>
                                        </p:tgtEl>
                                        <p:attrNameLst>
                                          <p:attrName>style.visibility</p:attrName>
                                        </p:attrNameLst>
                                      </p:cBhvr>
                                      <p:to>
                                        <p:strVal val="visible"/>
                                      </p:to>
                                    </p:set>
                                    <p:animEffect transition="in" filter="fade">
                                      <p:cBhvr>
                                        <p:cTn id="137" dur="500"/>
                                        <p:tgtEl>
                                          <p:spTgt spid="58"/>
                                        </p:tgtEl>
                                      </p:cBhvr>
                                    </p:animEffect>
                                  </p:childTnLst>
                                </p:cTn>
                              </p:par>
                              <p:par>
                                <p:cTn id="141" presetID="10" presetClass="entr" presetSubtype="0" fill="hold" grpId="0" nodeType="withEffect">
                                  <p:stCondLst>
                                    <p:cond delay="420"/>
                                  </p:stCondLst>
                                  <p:childTnLst>
                                    <p:set>
                                      <p:cBhvr>
                                        <p:cTn id="139" dur="1" fill="hold">
                                          <p:stCondLst>
                                            <p:cond delay="0"/>
                                          </p:stCondLst>
                                        </p:cTn>
                                        <p:tgtEl>
                                          <p:spTgt spid="59"/>
                                        </p:tgtEl>
                                        <p:attrNameLst>
                                          <p:attrName>style.visibility</p:attrName>
                                        </p:attrNameLst>
                                      </p:cBhvr>
                                      <p:to>
                                        <p:strVal val="visible"/>
                                      </p:to>
                                    </p:set>
                                    <p:animEffect transition="in" filter="fade">
                                      <p:cBhvr>
                                        <p:cTn id="140" dur="500"/>
                                        <p:tgtEl>
                                          <p:spTgt spid="59"/>
                                        </p:tgtEl>
                                      </p:cBhvr>
                                    </p:animEffect>
                                  </p:childTnLst>
                                </p:cTn>
                              </p:par>
                              <p:par>
                                <p:cTn id="144" presetID="10" presetClass="entr" presetSubtype="0" fill="hold" grpId="0" nodeType="withEffect">
                                  <p:stCondLst>
                                    <p:cond delay="432"/>
                                  </p:stCondLst>
                                  <p:childTnLst>
                                    <p:set>
                                      <p:cBhvr>
                                        <p:cTn id="142" dur="1" fill="hold">
                                          <p:stCondLst>
                                            <p:cond delay="0"/>
                                          </p:stCondLst>
                                        </p:cTn>
                                        <p:tgtEl>
                                          <p:spTgt spid="60"/>
                                        </p:tgtEl>
                                        <p:attrNameLst>
                                          <p:attrName>style.visibility</p:attrName>
                                        </p:attrNameLst>
                                      </p:cBhvr>
                                      <p:to>
                                        <p:strVal val="visible"/>
                                      </p:to>
                                    </p:set>
                                    <p:animEffect transition="in" filter="fade">
                                      <p:cBhvr>
                                        <p:cTn id="143" dur="500"/>
                                        <p:tgtEl>
                                          <p:spTgt spid="60"/>
                                        </p:tgtEl>
                                      </p:cBhvr>
                                    </p:animEffect>
                                  </p:childTnLst>
                                </p:cTn>
                              </p:par>
                              <p:par>
                                <p:cTn id="147" presetID="10" presetClass="entr" presetSubtype="0" fill="hold" grpId="0" nodeType="withEffect">
                                  <p:stCondLst>
                                    <p:cond delay="444"/>
                                  </p:stCondLst>
                                  <p:childTnLst>
                                    <p:set>
                                      <p:cBhvr>
                                        <p:cTn id="145" dur="1" fill="hold">
                                          <p:stCondLst>
                                            <p:cond delay="0"/>
                                          </p:stCondLst>
                                        </p:cTn>
                                        <p:tgtEl>
                                          <p:spTgt spid="61"/>
                                        </p:tgtEl>
                                        <p:attrNameLst>
                                          <p:attrName>style.visibility</p:attrName>
                                        </p:attrNameLst>
                                      </p:cBhvr>
                                      <p:to>
                                        <p:strVal val="visible"/>
                                      </p:to>
                                    </p:set>
                                    <p:animEffect transition="in" filter="fade">
                                      <p:cBhvr>
                                        <p:cTn id="146" dur="500"/>
                                        <p:tgtEl>
                                          <p:spTgt spid="61"/>
                                        </p:tgtEl>
                                      </p:cBhvr>
                                    </p:animEffect>
                                  </p:childTnLst>
                                </p:cTn>
                              </p:par>
                              <p:par>
                                <p:cTn id="150" presetID="10" presetClass="entr" presetSubtype="0" fill="hold" grpId="0" nodeType="withEffect">
                                  <p:stCondLst>
                                    <p:cond delay="456"/>
                                  </p:stCondLst>
                                  <p:childTnLst>
                                    <p:set>
                                      <p:cBhvr>
                                        <p:cTn id="148" dur="1" fill="hold">
                                          <p:stCondLst>
                                            <p:cond delay="0"/>
                                          </p:stCondLst>
                                        </p:cTn>
                                        <p:tgtEl>
                                          <p:spTgt spid="62"/>
                                        </p:tgtEl>
                                        <p:attrNameLst>
                                          <p:attrName>style.visibility</p:attrName>
                                        </p:attrNameLst>
                                      </p:cBhvr>
                                      <p:to>
                                        <p:strVal val="visible"/>
                                      </p:to>
                                    </p:set>
                                    <p:animEffect transition="in" filter="fade">
                                      <p:cBhvr>
                                        <p:cTn id="149" dur="500"/>
                                        <p:tgtEl>
                                          <p:spTgt spid="62"/>
                                        </p:tgtEl>
                                      </p:cBhvr>
                                    </p:animEffect>
                                  </p:childTnLst>
                                </p:cTn>
                              </p:par>
                              <p:par>
                                <p:cTn id="153" presetID="10" presetClass="entr" presetSubtype="0" fill="hold" grpId="0" nodeType="withEffect">
                                  <p:stCondLst>
                                    <p:cond delay="468"/>
                                  </p:stCondLst>
                                  <p:childTnLst>
                                    <p:set>
                                      <p:cBhvr>
                                        <p:cTn id="151" dur="1" fill="hold">
                                          <p:stCondLst>
                                            <p:cond delay="0"/>
                                          </p:stCondLst>
                                        </p:cTn>
                                        <p:tgtEl>
                                          <p:spTgt spid="63"/>
                                        </p:tgtEl>
                                        <p:attrNameLst>
                                          <p:attrName>style.visibility</p:attrName>
                                        </p:attrNameLst>
                                      </p:cBhvr>
                                      <p:to>
                                        <p:strVal val="visible"/>
                                      </p:to>
                                    </p:set>
                                    <p:animEffect transition="in" filter="fade">
                                      <p:cBhvr>
                                        <p:cTn id="152" dur="500"/>
                                        <p:tgtEl>
                                          <p:spTgt spid="63"/>
                                        </p:tgtEl>
                                      </p:cBhvr>
                                    </p:animEffect>
                                  </p:childTnLst>
                                </p:cTn>
                              </p:par>
                              <p:par>
                                <p:cTn id="156" presetID="10" presetClass="entr" presetSubtype="0" fill="hold" grpId="0" nodeType="withEffect">
                                  <p:stCondLst>
                                    <p:cond delay="480"/>
                                  </p:stCondLst>
                                  <p:childTnLst>
                                    <p:set>
                                      <p:cBhvr>
                                        <p:cTn id="154" dur="1" fill="hold">
                                          <p:stCondLst>
                                            <p:cond delay="0"/>
                                          </p:stCondLst>
                                        </p:cTn>
                                        <p:tgtEl>
                                          <p:spTgt spid="64"/>
                                        </p:tgtEl>
                                        <p:attrNameLst>
                                          <p:attrName>style.visibility</p:attrName>
                                        </p:attrNameLst>
                                      </p:cBhvr>
                                      <p:to>
                                        <p:strVal val="visible"/>
                                      </p:to>
                                    </p:set>
                                    <p:animEffect transition="in" filter="fade">
                                      <p:cBhvr>
                                        <p:cTn id="155" dur="500"/>
                                        <p:tgtEl>
                                          <p:spTgt spid="64"/>
                                        </p:tgtEl>
                                      </p:cBhvr>
                                    </p:animEffect>
                                  </p:childTnLst>
                                </p:cTn>
                              </p:par>
                              <p:par>
                                <p:cTn id="159" presetID="10" presetClass="entr" presetSubtype="0" fill="hold" grpId="0" nodeType="withEffect">
                                  <p:stCondLst>
                                    <p:cond delay="492"/>
                                  </p:stCondLst>
                                  <p:childTnLst>
                                    <p:set>
                                      <p:cBhvr>
                                        <p:cTn id="157" dur="1" fill="hold">
                                          <p:stCondLst>
                                            <p:cond delay="0"/>
                                          </p:stCondLst>
                                        </p:cTn>
                                        <p:tgtEl>
                                          <p:spTgt spid="65"/>
                                        </p:tgtEl>
                                        <p:attrNameLst>
                                          <p:attrName>style.visibility</p:attrName>
                                        </p:attrNameLst>
                                      </p:cBhvr>
                                      <p:to>
                                        <p:strVal val="visible"/>
                                      </p:to>
                                    </p:set>
                                    <p:animEffect transition="in" filter="fade">
                                      <p:cBhvr>
                                        <p:cTn id="158" dur="500"/>
                                        <p:tgtEl>
                                          <p:spTgt spid="65"/>
                                        </p:tgtEl>
                                      </p:cBhvr>
                                    </p:animEffect>
                                  </p:childTnLst>
                                </p:cTn>
                              </p:par>
                              <p:par>
                                <p:cTn id="162" presetID="10" presetClass="entr" presetSubtype="0" fill="hold" grpId="0" nodeType="withEffect">
                                  <p:stCondLst>
                                    <p:cond delay="504"/>
                                  </p:stCondLst>
                                  <p:childTnLst>
                                    <p:set>
                                      <p:cBhvr>
                                        <p:cTn id="160" dur="1" fill="hold">
                                          <p:stCondLst>
                                            <p:cond delay="0"/>
                                          </p:stCondLst>
                                        </p:cTn>
                                        <p:tgtEl>
                                          <p:spTgt spid="66"/>
                                        </p:tgtEl>
                                        <p:attrNameLst>
                                          <p:attrName>style.visibility</p:attrName>
                                        </p:attrNameLst>
                                      </p:cBhvr>
                                      <p:to>
                                        <p:strVal val="visible"/>
                                      </p:to>
                                    </p:set>
                                    <p:animEffect transition="in" filter="fade">
                                      <p:cBhvr>
                                        <p:cTn id="161" dur="500"/>
                                        <p:tgtEl>
                                          <p:spTgt spid="66"/>
                                        </p:tgtEl>
                                      </p:cBhvr>
                                    </p:animEffect>
                                  </p:childTnLst>
                                </p:cTn>
                              </p:par>
                              <p:par>
                                <p:cTn id="165" presetID="10" presetClass="entr" presetSubtype="0" fill="hold" grpId="0" nodeType="withEffect">
                                  <p:stCondLst>
                                    <p:cond delay="516"/>
                                  </p:stCondLst>
                                  <p:childTnLst>
                                    <p:set>
                                      <p:cBhvr>
                                        <p:cTn id="163" dur="1" fill="hold">
                                          <p:stCondLst>
                                            <p:cond delay="0"/>
                                          </p:stCondLst>
                                        </p:cTn>
                                        <p:tgtEl>
                                          <p:spTgt spid="67"/>
                                        </p:tgtEl>
                                        <p:attrNameLst>
                                          <p:attrName>style.visibility</p:attrName>
                                        </p:attrNameLst>
                                      </p:cBhvr>
                                      <p:to>
                                        <p:strVal val="visible"/>
                                      </p:to>
                                    </p:set>
                                    <p:animEffect transition="in" filter="fade">
                                      <p:cBhvr>
                                        <p:cTn id="164" dur="500"/>
                                        <p:tgtEl>
                                          <p:spTgt spid="67"/>
                                        </p:tgtEl>
                                      </p:cBhvr>
                                    </p:animEffect>
                                  </p:childTnLst>
                                </p:cTn>
                              </p:par>
                              <p:par>
                                <p:cTn id="168" presetID="10" presetClass="entr" presetSubtype="0" fill="hold" grpId="0" nodeType="withEffect">
                                  <p:stCondLst>
                                    <p:cond delay="528"/>
                                  </p:stCondLst>
                                  <p:childTnLst>
                                    <p:set>
                                      <p:cBhvr>
                                        <p:cTn id="166" dur="1" fill="hold">
                                          <p:stCondLst>
                                            <p:cond delay="0"/>
                                          </p:stCondLst>
                                        </p:cTn>
                                        <p:tgtEl>
                                          <p:spTgt spid="68"/>
                                        </p:tgtEl>
                                        <p:attrNameLst>
                                          <p:attrName>style.visibility</p:attrName>
                                        </p:attrNameLst>
                                      </p:cBhvr>
                                      <p:to>
                                        <p:strVal val="visible"/>
                                      </p:to>
                                    </p:set>
                                    <p:animEffect transition="in" filter="fade">
                                      <p:cBhvr>
                                        <p:cTn id="167" dur="500"/>
                                        <p:tgtEl>
                                          <p:spTgt spid="68"/>
                                        </p:tgtEl>
                                      </p:cBhvr>
                                    </p:animEffect>
                                  </p:childTnLst>
                                </p:cTn>
                              </p:par>
                              <p:par>
                                <p:cTn id="171" presetID="10" presetClass="entr" presetSubtype="0" fill="hold" grpId="0" nodeType="withEffect">
                                  <p:stCondLst>
                                    <p:cond delay="540"/>
                                  </p:stCondLst>
                                  <p:childTnLst>
                                    <p:set>
                                      <p:cBhvr>
                                        <p:cTn id="169" dur="1" fill="hold">
                                          <p:stCondLst>
                                            <p:cond delay="0"/>
                                          </p:stCondLst>
                                        </p:cTn>
                                        <p:tgtEl>
                                          <p:spTgt spid="69"/>
                                        </p:tgtEl>
                                        <p:attrNameLst>
                                          <p:attrName>style.visibility</p:attrName>
                                        </p:attrNameLst>
                                      </p:cBhvr>
                                      <p:to>
                                        <p:strVal val="visible"/>
                                      </p:to>
                                    </p:set>
                                    <p:animEffect transition="in" filter="fade">
                                      <p:cBhvr>
                                        <p:cTn id="170" dur="500"/>
                                        <p:tgtEl>
                                          <p:spTgt spid="69"/>
                                        </p:tgtEl>
                                      </p:cBhvr>
                                    </p:animEffect>
                                  </p:childTnLst>
                                </p:cTn>
                              </p:par>
                              <p:par>
                                <p:cTn id="174" presetID="10" presetClass="entr" presetSubtype="0" fill="hold" grpId="0" nodeType="withEffect">
                                  <p:stCondLst>
                                    <p:cond delay="552"/>
                                  </p:stCondLst>
                                  <p:childTnLst>
                                    <p:set>
                                      <p:cBhvr>
                                        <p:cTn id="172" dur="1" fill="hold">
                                          <p:stCondLst>
                                            <p:cond delay="0"/>
                                          </p:stCondLst>
                                        </p:cTn>
                                        <p:tgtEl>
                                          <p:spTgt spid="70"/>
                                        </p:tgtEl>
                                        <p:attrNameLst>
                                          <p:attrName>style.visibility</p:attrName>
                                        </p:attrNameLst>
                                      </p:cBhvr>
                                      <p:to>
                                        <p:strVal val="visible"/>
                                      </p:to>
                                    </p:set>
                                    <p:animEffect transition="in" filter="fade">
                                      <p:cBhvr>
                                        <p:cTn id="173" dur="500"/>
                                        <p:tgtEl>
                                          <p:spTgt spid="70"/>
                                        </p:tgtEl>
                                      </p:cBhvr>
                                    </p:animEffect>
                                  </p:childTnLst>
                                </p:cTn>
                              </p:par>
                              <p:par>
                                <p:cTn id="177" presetID="10" presetClass="entr" presetSubtype="0" fill="hold" grpId="0" nodeType="withEffect">
                                  <p:stCondLst>
                                    <p:cond delay="564"/>
                                  </p:stCondLst>
                                  <p:childTnLst>
                                    <p:set>
                                      <p:cBhvr>
                                        <p:cTn id="175" dur="1" fill="hold">
                                          <p:stCondLst>
                                            <p:cond delay="0"/>
                                          </p:stCondLst>
                                        </p:cTn>
                                        <p:tgtEl>
                                          <p:spTgt spid="71"/>
                                        </p:tgtEl>
                                        <p:attrNameLst>
                                          <p:attrName>style.visibility</p:attrName>
                                        </p:attrNameLst>
                                      </p:cBhvr>
                                      <p:to>
                                        <p:strVal val="visible"/>
                                      </p:to>
                                    </p:set>
                                    <p:animEffect transition="in" filter="fade">
                                      <p:cBhvr>
                                        <p:cTn id="176" dur="500"/>
                                        <p:tgtEl>
                                          <p:spTgt spid="71"/>
                                        </p:tgtEl>
                                      </p:cBhvr>
                                    </p:animEffect>
                                  </p:childTnLst>
                                </p:cTn>
                              </p:par>
                              <p:par>
                                <p:cTn id="180" presetID="10" presetClass="entr" presetSubtype="0" fill="hold" grpId="0" nodeType="withEffect">
                                  <p:stCondLst>
                                    <p:cond delay="576"/>
                                  </p:stCondLst>
                                  <p:childTnLst>
                                    <p:set>
                                      <p:cBhvr>
                                        <p:cTn id="178" dur="1" fill="hold">
                                          <p:stCondLst>
                                            <p:cond delay="0"/>
                                          </p:stCondLst>
                                        </p:cTn>
                                        <p:tgtEl>
                                          <p:spTgt spid="72"/>
                                        </p:tgtEl>
                                        <p:attrNameLst>
                                          <p:attrName>style.visibility</p:attrName>
                                        </p:attrNameLst>
                                      </p:cBhvr>
                                      <p:to>
                                        <p:strVal val="visible"/>
                                      </p:to>
                                    </p:set>
                                    <p:animEffect transition="in" filter="fade">
                                      <p:cBhvr>
                                        <p:cTn id="179" dur="500"/>
                                        <p:tgtEl>
                                          <p:spTgt spid="72"/>
                                        </p:tgtEl>
                                      </p:cBhvr>
                                    </p:animEffect>
                                  </p:childTnLst>
                                </p:cTn>
                              </p:par>
                              <p:par>
                                <p:cTn id="183" presetID="10" presetClass="entr" presetSubtype="0" fill="hold" grpId="0" nodeType="withEffect">
                                  <p:stCondLst>
                                    <p:cond delay="588"/>
                                  </p:stCondLst>
                                  <p:childTnLst>
                                    <p:set>
                                      <p:cBhvr>
                                        <p:cTn id="181" dur="1" fill="hold">
                                          <p:stCondLst>
                                            <p:cond delay="0"/>
                                          </p:stCondLst>
                                        </p:cTn>
                                        <p:tgtEl>
                                          <p:spTgt spid="73"/>
                                        </p:tgtEl>
                                        <p:attrNameLst>
                                          <p:attrName>style.visibility</p:attrName>
                                        </p:attrNameLst>
                                      </p:cBhvr>
                                      <p:to>
                                        <p:strVal val="visible"/>
                                      </p:to>
                                    </p:set>
                                    <p:animEffect transition="in" filter="fade">
                                      <p:cBhvr>
                                        <p:cTn id="182" dur="500"/>
                                        <p:tgtEl>
                                          <p:spTgt spid="73"/>
                                        </p:tgtEl>
                                      </p:cBhvr>
                                    </p:animEffect>
                                  </p:childTnLst>
                                </p:cTn>
                              </p:par>
                              <p:par>
                                <p:cTn id="186" presetID="10" presetClass="entr" presetSubtype="0" fill="hold" grpId="0" nodeType="withEffect">
                                  <p:stCondLst>
                                    <p:cond delay="600"/>
                                  </p:stCondLst>
                                  <p:childTnLst>
                                    <p:set>
                                      <p:cBhvr>
                                        <p:cTn id="184" dur="1" fill="hold">
                                          <p:stCondLst>
                                            <p:cond delay="0"/>
                                          </p:stCondLst>
                                        </p:cTn>
                                        <p:tgtEl>
                                          <p:spTgt spid="74"/>
                                        </p:tgtEl>
                                        <p:attrNameLst>
                                          <p:attrName>style.visibility</p:attrName>
                                        </p:attrNameLst>
                                      </p:cBhvr>
                                      <p:to>
                                        <p:strVal val="visible"/>
                                      </p:to>
                                    </p:set>
                                    <p:animEffect transition="in" filter="fade">
                                      <p:cBhvr>
                                        <p:cTn id="185" dur="500"/>
                                        <p:tgtEl>
                                          <p:spTgt spid="74"/>
                                        </p:tgtEl>
                                      </p:cBhvr>
                                    </p:animEffect>
                                  </p:childTnLst>
                                </p:cTn>
                              </p:par>
                              <p:par>
                                <p:cTn id="189" presetID="10" presetClass="entr" presetSubtype="0" fill="hold" grpId="0" nodeType="withEffect">
                                  <p:stCondLst>
                                    <p:cond delay="612"/>
                                  </p:stCondLst>
                                  <p:childTnLst>
                                    <p:set>
                                      <p:cBhvr>
                                        <p:cTn id="187" dur="1" fill="hold">
                                          <p:stCondLst>
                                            <p:cond delay="0"/>
                                          </p:stCondLst>
                                        </p:cTn>
                                        <p:tgtEl>
                                          <p:spTgt spid="75"/>
                                        </p:tgtEl>
                                        <p:attrNameLst>
                                          <p:attrName>style.visibility</p:attrName>
                                        </p:attrNameLst>
                                      </p:cBhvr>
                                      <p:to>
                                        <p:strVal val="visible"/>
                                      </p:to>
                                    </p:set>
                                    <p:animEffect transition="in" filter="fade">
                                      <p:cBhvr>
                                        <p:cTn id="188" dur="500"/>
                                        <p:tgtEl>
                                          <p:spTgt spid="75"/>
                                        </p:tgtEl>
                                      </p:cBhvr>
                                    </p:animEffect>
                                  </p:childTnLst>
                                </p:cTn>
                              </p:par>
                              <p:par>
                                <p:cTn id="192" presetID="10" presetClass="entr" presetSubtype="0" fill="hold" grpId="0" nodeType="withEffect">
                                  <p:stCondLst>
                                    <p:cond delay="624"/>
                                  </p:stCondLst>
                                  <p:childTnLst>
                                    <p:set>
                                      <p:cBhvr>
                                        <p:cTn id="190" dur="1" fill="hold">
                                          <p:stCondLst>
                                            <p:cond delay="0"/>
                                          </p:stCondLst>
                                        </p:cTn>
                                        <p:tgtEl>
                                          <p:spTgt spid="76"/>
                                        </p:tgtEl>
                                        <p:attrNameLst>
                                          <p:attrName>style.visibility</p:attrName>
                                        </p:attrNameLst>
                                      </p:cBhvr>
                                      <p:to>
                                        <p:strVal val="visible"/>
                                      </p:to>
                                    </p:set>
                                    <p:animEffect transition="in" filter="fade">
                                      <p:cBhvr>
                                        <p:cTn id="191" dur="500"/>
                                        <p:tgtEl>
                                          <p:spTgt spid="76"/>
                                        </p:tgtEl>
                                      </p:cBhvr>
                                    </p:animEffect>
                                  </p:childTnLst>
                                </p:cTn>
                              </p:par>
                              <p:par>
                                <p:cTn id="195" presetID="10" presetClass="entr" presetSubtype="0" fill="hold" grpId="0" nodeType="withEffect">
                                  <p:stCondLst>
                                    <p:cond delay="636"/>
                                  </p:stCondLst>
                                  <p:childTnLst>
                                    <p:set>
                                      <p:cBhvr>
                                        <p:cTn id="193" dur="1" fill="hold">
                                          <p:stCondLst>
                                            <p:cond delay="0"/>
                                          </p:stCondLst>
                                        </p:cTn>
                                        <p:tgtEl>
                                          <p:spTgt spid="77"/>
                                        </p:tgtEl>
                                        <p:attrNameLst>
                                          <p:attrName>style.visibility</p:attrName>
                                        </p:attrNameLst>
                                      </p:cBhvr>
                                      <p:to>
                                        <p:strVal val="visible"/>
                                      </p:to>
                                    </p:set>
                                    <p:animEffect transition="in" filter="fade">
                                      <p:cBhvr>
                                        <p:cTn id="194" dur="500"/>
                                        <p:tgtEl>
                                          <p:spTgt spid="77"/>
                                        </p:tgtEl>
                                      </p:cBhvr>
                                    </p:animEffect>
                                  </p:childTnLst>
                                </p:cTn>
                              </p:par>
                              <p:par>
                                <p:cTn id="198" presetID="10" presetClass="entr" presetSubtype="0" fill="hold" grpId="0" nodeType="withEffect">
                                  <p:stCondLst>
                                    <p:cond delay="648"/>
                                  </p:stCondLst>
                                  <p:childTnLst>
                                    <p:set>
                                      <p:cBhvr>
                                        <p:cTn id="196" dur="1" fill="hold">
                                          <p:stCondLst>
                                            <p:cond delay="0"/>
                                          </p:stCondLst>
                                        </p:cTn>
                                        <p:tgtEl>
                                          <p:spTgt spid="78"/>
                                        </p:tgtEl>
                                        <p:attrNameLst>
                                          <p:attrName>style.visibility</p:attrName>
                                        </p:attrNameLst>
                                      </p:cBhvr>
                                      <p:to>
                                        <p:strVal val="visible"/>
                                      </p:to>
                                    </p:set>
                                    <p:animEffect transition="in" filter="fade">
                                      <p:cBhvr>
                                        <p:cTn id="197" dur="500"/>
                                        <p:tgtEl>
                                          <p:spTgt spid="78"/>
                                        </p:tgtEl>
                                      </p:cBhvr>
                                    </p:animEffect>
                                  </p:childTnLst>
                                </p:cTn>
                              </p:par>
                            </p:childTnLst>
                          </p:cTn>
                        </p:par>
                      </p:childTnLst>
                    </p:cTn>
                  </p:par>
                  <p:par>
                    <p:cTn id="199" fill="hold">
                      <p:stCondLst>
                        <p:cond delay="indefinite"/>
                      </p:stCondLst>
                      <p:childTnLst>
                        <p:par>
                          <p:cTn id="200" fill="hold">
                            <p:stCondLst>
                              <p:cond delay="0"/>
                            </p:stCondLst>
                            <p:childTnLst>
                              <p:par>
                                <p:cTn id="205" presetID="2" presetClass="entr" presetSubtype="4" fill="hold" grpId="0" nodeType="clickEffect">
                                  <p:stCondLst>
                                    <p:cond delay="0"/>
                                  </p:stCondLst>
                                  <p:childTnLst>
                                    <p:set>
                                      <p:cBhvr>
                                        <p:cTn id="201" dur="1" fill="hold">
                                          <p:stCondLst>
                                            <p:cond delay="0"/>
                                          </p:stCondLst>
                                        </p:cTn>
                                        <p:tgtEl>
                                          <p:spTgt spid="16"/>
                                        </p:tgtEl>
                                        <p:attrNameLst>
                                          <p:attrName>style.visibility</p:attrName>
                                        </p:attrNameLst>
                                      </p:cBhvr>
                                      <p:to>
                                        <p:strVal val="visible"/>
                                      </p:to>
                                    </p:set>
                                    <p:anim calcmode="lin" valueType="num">
                                      <p:cBhvr additive="base">
                                        <p:cTn id="202" dur="500" fill="hold"/>
                                        <p:tgtEl>
                                          <p:spTgt spid="16"/>
                                        </p:tgtEl>
                                        <p:attrNameLst>
                                          <p:attrName>ppt_x</p:attrName>
                                        </p:attrNameLst>
                                      </p:cBhvr>
                                      <p:tavLst>
                                        <p:tav tm="0">
                                          <p:val>
                                            <p:strVal val="#ppt_x"/>
                                          </p:val>
                                        </p:tav>
                                        <p:tav tm="100000">
                                          <p:val>
                                            <p:strVal val="#ppt_x"/>
                                          </p:val>
                                        </p:tav>
                                      </p:tavLst>
                                    </p:anim>
                                    <p:anim calcmode="lin" valueType="num">
                                      <p:cBhvr additive="base">
                                        <p:cTn id="203" dur="500" fill="hold"/>
                                        <p:tgtEl>
                                          <p:spTgt spid="16"/>
                                        </p:tgtEl>
                                        <p:attrNameLst>
                                          <p:attrName>ppt_y</p:attrName>
                                        </p:attrNameLst>
                                      </p:cBhvr>
                                      <p:tavLst>
                                        <p:tav tm="0">
                                          <p:val>
                                            <p:strVal val="#ppt_y+0.1"/>
                                          </p:val>
                                        </p:tav>
                                        <p:tav tm="100000">
                                          <p:val>
                                            <p:strVal val="#ppt_y"/>
                                          </p:val>
                                        </p:tav>
                                      </p:tavLst>
                                    </p:anim>
                                    <p:animEffect transition="in" filter="fade">
                                      <p:cBhvr>
                                        <p:cTn id="204" dur="500"/>
                                        <p:tgtEl>
                                          <p:spTgt spid="16"/>
                                        </p:tgtEl>
                                      </p:cBhvr>
                                    </p:animEffect>
                                  </p:childTnLst>
                                </p:cTn>
                              </p:par>
                              <p:par>
                                <p:cTn id="210" presetID="2" presetClass="entr" presetSubtype="4" fill="hold" grpId="0" nodeType="withEffect">
                                  <p:stCondLst>
                                    <p:cond delay="0"/>
                                  </p:stCondLst>
                                  <p:childTnLst>
                                    <p:set>
                                      <p:cBhvr>
                                        <p:cTn id="206" dur="1" fill="hold">
                                          <p:stCondLst>
                                            <p:cond delay="0"/>
                                          </p:stCondLst>
                                        </p:cTn>
                                        <p:tgtEl>
                                          <p:spTgt spid="17"/>
                                        </p:tgtEl>
                                        <p:attrNameLst>
                                          <p:attrName>style.visibility</p:attrName>
                                        </p:attrNameLst>
                                      </p:cBhvr>
                                      <p:to>
                                        <p:strVal val="visible"/>
                                      </p:to>
                                    </p:set>
                                    <p:anim calcmode="lin" valueType="num">
                                      <p:cBhvr additive="base">
                                        <p:cTn id="207" dur="500" fill="hold"/>
                                        <p:tgtEl>
                                          <p:spTgt spid="17"/>
                                        </p:tgtEl>
                                        <p:attrNameLst>
                                          <p:attrName>ppt_x</p:attrName>
                                        </p:attrNameLst>
                                      </p:cBhvr>
                                      <p:tavLst>
                                        <p:tav tm="0">
                                          <p:val>
                                            <p:strVal val="#ppt_x"/>
                                          </p:val>
                                        </p:tav>
                                        <p:tav tm="100000">
                                          <p:val>
                                            <p:strVal val="#ppt_x"/>
                                          </p:val>
                                        </p:tav>
                                      </p:tavLst>
                                    </p:anim>
                                    <p:anim calcmode="lin" valueType="num">
                                      <p:cBhvr additive="base">
                                        <p:cTn id="208" dur="500" fill="hold"/>
                                        <p:tgtEl>
                                          <p:spTgt spid="17"/>
                                        </p:tgtEl>
                                        <p:attrNameLst>
                                          <p:attrName>ppt_y</p:attrName>
                                        </p:attrNameLst>
                                      </p:cBhvr>
                                      <p:tavLst>
                                        <p:tav tm="0">
                                          <p:val>
                                            <p:strVal val="#ppt_y+0.1"/>
                                          </p:val>
                                        </p:tav>
                                        <p:tav tm="100000">
                                          <p:val>
                                            <p:strVal val="#ppt_y"/>
                                          </p:val>
                                        </p:tav>
                                      </p:tavLst>
                                    </p:anim>
                                    <p:animEffect transition="in" filter="fade">
                                      <p:cBhvr>
                                        <p:cTn id="209" dur="500"/>
                                        <p:tgtEl>
                                          <p:spTgt spid="17"/>
                                        </p:tgtEl>
                                      </p:cBhvr>
                                    </p:animEffect>
                                  </p:childTnLst>
                                </p:cTn>
                              </p:par>
                              <p:par>
                                <p:cTn id="215" presetID="2" presetClass="entr" presetSubtype="4" fill="hold" grpId="0" nodeType="withEffect">
                                  <p:stCondLst>
                                    <p:cond delay="120"/>
                                  </p:stCondLst>
                                  <p:childTnLst>
                                    <p:set>
                                      <p:cBhvr>
                                        <p:cTn id="211" dur="1" fill="hold">
                                          <p:stCondLst>
                                            <p:cond delay="0"/>
                                          </p:stCondLst>
                                        </p:cTn>
                                        <p:tgtEl>
                                          <p:spTgt spid="18"/>
                                        </p:tgtEl>
                                        <p:attrNameLst>
                                          <p:attrName>style.visibility</p:attrName>
                                        </p:attrNameLst>
                                      </p:cBhvr>
                                      <p:to>
                                        <p:strVal val="visible"/>
                                      </p:to>
                                    </p:set>
                                    <p:anim calcmode="lin" valueType="num">
                                      <p:cBhvr additive="base">
                                        <p:cTn id="212" dur="500" fill="hold"/>
                                        <p:tgtEl>
                                          <p:spTgt spid="18"/>
                                        </p:tgtEl>
                                        <p:attrNameLst>
                                          <p:attrName>ppt_x</p:attrName>
                                        </p:attrNameLst>
                                      </p:cBhvr>
                                      <p:tavLst>
                                        <p:tav tm="0">
                                          <p:val>
                                            <p:strVal val="#ppt_x"/>
                                          </p:val>
                                        </p:tav>
                                        <p:tav tm="100000">
                                          <p:val>
                                            <p:strVal val="#ppt_x"/>
                                          </p:val>
                                        </p:tav>
                                      </p:tavLst>
                                    </p:anim>
                                    <p:anim calcmode="lin" valueType="num">
                                      <p:cBhvr additive="base">
                                        <p:cTn id="213" dur="500" fill="hold"/>
                                        <p:tgtEl>
                                          <p:spTgt spid="18"/>
                                        </p:tgtEl>
                                        <p:attrNameLst>
                                          <p:attrName>ppt_y</p:attrName>
                                        </p:attrNameLst>
                                      </p:cBhvr>
                                      <p:tavLst>
                                        <p:tav tm="0">
                                          <p:val>
                                            <p:strVal val="#ppt_y+0.1"/>
                                          </p:val>
                                        </p:tav>
                                        <p:tav tm="100000">
                                          <p:val>
                                            <p:strVal val="#ppt_y"/>
                                          </p:val>
                                        </p:tav>
                                      </p:tavLst>
                                    </p:anim>
                                    <p:animEffect transition="in" filter="fade">
                                      <p:cBhvr>
                                        <p:cTn id="214" dur="500"/>
                                        <p:tgtEl>
                                          <p:spTgt spid="18"/>
                                        </p:tgtEl>
                                      </p:cBhvr>
                                    </p:animEffect>
                                  </p:childTnLst>
                                </p:cTn>
                              </p:par>
                              <p:par>
                                <p:cTn id="220" presetID="2" presetClass="entr" presetSubtype="4" fill="hold" grpId="0" nodeType="withEffect">
                                  <p:stCondLst>
                                    <p:cond delay="120"/>
                                  </p:stCondLst>
                                  <p:childTnLst>
                                    <p:set>
                                      <p:cBhvr>
                                        <p:cTn id="216" dur="1" fill="hold">
                                          <p:stCondLst>
                                            <p:cond delay="0"/>
                                          </p:stCondLst>
                                        </p:cTn>
                                        <p:tgtEl>
                                          <p:spTgt spid="19"/>
                                        </p:tgtEl>
                                        <p:attrNameLst>
                                          <p:attrName>style.visibility</p:attrName>
                                        </p:attrNameLst>
                                      </p:cBhvr>
                                      <p:to>
                                        <p:strVal val="visible"/>
                                      </p:to>
                                    </p:set>
                                    <p:anim calcmode="lin" valueType="num">
                                      <p:cBhvr additive="base">
                                        <p:cTn id="217" dur="500" fill="hold"/>
                                        <p:tgtEl>
                                          <p:spTgt spid="19"/>
                                        </p:tgtEl>
                                        <p:attrNameLst>
                                          <p:attrName>ppt_x</p:attrName>
                                        </p:attrNameLst>
                                      </p:cBhvr>
                                      <p:tavLst>
                                        <p:tav tm="0">
                                          <p:val>
                                            <p:strVal val="#ppt_x"/>
                                          </p:val>
                                        </p:tav>
                                        <p:tav tm="100000">
                                          <p:val>
                                            <p:strVal val="#ppt_x"/>
                                          </p:val>
                                        </p:tav>
                                      </p:tavLst>
                                    </p:anim>
                                    <p:anim calcmode="lin" valueType="num">
                                      <p:cBhvr additive="base">
                                        <p:cTn id="218" dur="500" fill="hold"/>
                                        <p:tgtEl>
                                          <p:spTgt spid="19"/>
                                        </p:tgtEl>
                                        <p:attrNameLst>
                                          <p:attrName>ppt_y</p:attrName>
                                        </p:attrNameLst>
                                      </p:cBhvr>
                                      <p:tavLst>
                                        <p:tav tm="0">
                                          <p:val>
                                            <p:strVal val="#ppt_y+0.1"/>
                                          </p:val>
                                        </p:tav>
                                        <p:tav tm="100000">
                                          <p:val>
                                            <p:strVal val="#ppt_y"/>
                                          </p:val>
                                        </p:tav>
                                      </p:tavLst>
                                    </p:anim>
                                    <p:animEffect transition="in" filter="fade">
                                      <p:cBhvr>
                                        <p:cTn id="219" dur="500"/>
                                        <p:tgtEl>
                                          <p:spTgt spid="19"/>
                                        </p:tgtEl>
                                      </p:cBhvr>
                                    </p:animEffect>
                                  </p:childTnLst>
                                </p:cTn>
                              </p:par>
                              <p:par>
                                <p:cTn id="225" presetID="2" presetClass="entr" presetSubtype="4" fill="hold" grpId="0" nodeType="withEffect">
                                  <p:stCondLst>
                                    <p:cond delay="240"/>
                                  </p:stCondLst>
                                  <p:childTnLst>
                                    <p:set>
                                      <p:cBhvr>
                                        <p:cTn id="221" dur="1" fill="hold">
                                          <p:stCondLst>
                                            <p:cond delay="0"/>
                                          </p:stCondLst>
                                        </p:cTn>
                                        <p:tgtEl>
                                          <p:spTgt spid="20"/>
                                        </p:tgtEl>
                                        <p:attrNameLst>
                                          <p:attrName>style.visibility</p:attrName>
                                        </p:attrNameLst>
                                      </p:cBhvr>
                                      <p:to>
                                        <p:strVal val="visible"/>
                                      </p:to>
                                    </p:set>
                                    <p:anim calcmode="lin" valueType="num">
                                      <p:cBhvr additive="base">
                                        <p:cTn id="222" dur="500" fill="hold"/>
                                        <p:tgtEl>
                                          <p:spTgt spid="20"/>
                                        </p:tgtEl>
                                        <p:attrNameLst>
                                          <p:attrName>ppt_x</p:attrName>
                                        </p:attrNameLst>
                                      </p:cBhvr>
                                      <p:tavLst>
                                        <p:tav tm="0">
                                          <p:val>
                                            <p:strVal val="#ppt_x"/>
                                          </p:val>
                                        </p:tav>
                                        <p:tav tm="100000">
                                          <p:val>
                                            <p:strVal val="#ppt_x"/>
                                          </p:val>
                                        </p:tav>
                                      </p:tavLst>
                                    </p:anim>
                                    <p:anim calcmode="lin" valueType="num">
                                      <p:cBhvr additive="base">
                                        <p:cTn id="223" dur="500" fill="hold"/>
                                        <p:tgtEl>
                                          <p:spTgt spid="20"/>
                                        </p:tgtEl>
                                        <p:attrNameLst>
                                          <p:attrName>ppt_y</p:attrName>
                                        </p:attrNameLst>
                                      </p:cBhvr>
                                      <p:tavLst>
                                        <p:tav tm="0">
                                          <p:val>
                                            <p:strVal val="#ppt_y+0.1"/>
                                          </p:val>
                                        </p:tav>
                                        <p:tav tm="100000">
                                          <p:val>
                                            <p:strVal val="#ppt_y"/>
                                          </p:val>
                                        </p:tav>
                                      </p:tavLst>
                                    </p:anim>
                                    <p:animEffect transition="in" filter="fade">
                                      <p:cBhvr>
                                        <p:cTn id="224" dur="500"/>
                                        <p:tgtEl>
                                          <p:spTgt spid="20"/>
                                        </p:tgtEl>
                                      </p:cBhvr>
                                    </p:animEffect>
                                  </p:childTnLst>
                                </p:cTn>
                              </p:par>
                              <p:par>
                                <p:cTn id="230" presetID="2" presetClass="entr" presetSubtype="4" fill="hold" grpId="0" nodeType="withEffect">
                                  <p:stCondLst>
                                    <p:cond delay="240"/>
                                  </p:stCondLst>
                                  <p:childTnLst>
                                    <p:set>
                                      <p:cBhvr>
                                        <p:cTn id="226" dur="1" fill="hold">
                                          <p:stCondLst>
                                            <p:cond delay="0"/>
                                          </p:stCondLst>
                                        </p:cTn>
                                        <p:tgtEl>
                                          <p:spTgt spid="21"/>
                                        </p:tgtEl>
                                        <p:attrNameLst>
                                          <p:attrName>style.visibility</p:attrName>
                                        </p:attrNameLst>
                                      </p:cBhvr>
                                      <p:to>
                                        <p:strVal val="visible"/>
                                      </p:to>
                                    </p:set>
                                    <p:anim calcmode="lin" valueType="num">
                                      <p:cBhvr additive="base">
                                        <p:cTn id="227" dur="500" fill="hold"/>
                                        <p:tgtEl>
                                          <p:spTgt spid="21"/>
                                        </p:tgtEl>
                                        <p:attrNameLst>
                                          <p:attrName>ppt_x</p:attrName>
                                        </p:attrNameLst>
                                      </p:cBhvr>
                                      <p:tavLst>
                                        <p:tav tm="0">
                                          <p:val>
                                            <p:strVal val="#ppt_x"/>
                                          </p:val>
                                        </p:tav>
                                        <p:tav tm="100000">
                                          <p:val>
                                            <p:strVal val="#ppt_x"/>
                                          </p:val>
                                        </p:tav>
                                      </p:tavLst>
                                    </p:anim>
                                    <p:anim calcmode="lin" valueType="num">
                                      <p:cBhvr additive="base">
                                        <p:cTn id="228" dur="500" fill="hold"/>
                                        <p:tgtEl>
                                          <p:spTgt spid="21"/>
                                        </p:tgtEl>
                                        <p:attrNameLst>
                                          <p:attrName>ppt_y</p:attrName>
                                        </p:attrNameLst>
                                      </p:cBhvr>
                                      <p:tavLst>
                                        <p:tav tm="0">
                                          <p:val>
                                            <p:strVal val="#ppt_y+0.1"/>
                                          </p:val>
                                        </p:tav>
                                        <p:tav tm="100000">
                                          <p:val>
                                            <p:strVal val="#ppt_y"/>
                                          </p:val>
                                        </p:tav>
                                      </p:tavLst>
                                    </p:anim>
                                    <p:animEffect transition="in" filter="fade">
                                      <p:cBhvr>
                                        <p:cTn id="229" dur="500"/>
                                        <p:tgtEl>
                                          <p:spTgt spid="21"/>
                                        </p:tgtEl>
                                      </p:cBhvr>
                                    </p:animEffect>
                                  </p:childTnLst>
                                </p:cTn>
                              </p:par>
                            </p:childTnLst>
                          </p:cTn>
                        </p:par>
                      </p:childTnLst>
                    </p:cTn>
                  </p:par>
                  <p:par>
                    <p:cTn id="231" fill="hold">
                      <p:stCondLst>
                        <p:cond delay="indefinite"/>
                      </p:stCondLst>
                      <p:childTnLst>
                        <p:par>
                          <p:cTn id="232" fill="hold">
                            <p:stCondLst>
                              <p:cond delay="0"/>
                            </p:stCondLst>
                            <p:childTnLst>
                              <p:par>
                                <p:cTn id="237" presetID="2" presetClass="entr" presetSubtype="4" fill="hold" grpId="0" nodeType="clickEffect">
                                  <p:stCondLst>
                                    <p:cond delay="0"/>
                                  </p:stCondLst>
                                  <p:childTnLst>
                                    <p:set>
                                      <p:cBhvr>
                                        <p:cTn id="233" dur="1" fill="hold">
                                          <p:stCondLst>
                                            <p:cond delay="0"/>
                                          </p:stCondLst>
                                        </p:cTn>
                                        <p:tgtEl>
                                          <p:spTgt spid="79"/>
                                        </p:tgtEl>
                                        <p:attrNameLst>
                                          <p:attrName>style.visibility</p:attrName>
                                        </p:attrNameLst>
                                      </p:cBhvr>
                                      <p:to>
                                        <p:strVal val="visible"/>
                                      </p:to>
                                    </p:set>
                                    <p:anim calcmode="lin" valueType="num">
                                      <p:cBhvr additive="base">
                                        <p:cTn id="234" dur="500" fill="hold"/>
                                        <p:tgtEl>
                                          <p:spTgt spid="79"/>
                                        </p:tgtEl>
                                        <p:attrNameLst>
                                          <p:attrName>ppt_x</p:attrName>
                                        </p:attrNameLst>
                                      </p:cBhvr>
                                      <p:tavLst>
                                        <p:tav tm="0">
                                          <p:val>
                                            <p:strVal val="#ppt_x"/>
                                          </p:val>
                                        </p:tav>
                                        <p:tav tm="100000">
                                          <p:val>
                                            <p:strVal val="#ppt_x"/>
                                          </p:val>
                                        </p:tav>
                                      </p:tavLst>
                                    </p:anim>
                                    <p:anim calcmode="lin" valueType="num">
                                      <p:cBhvr additive="base">
                                        <p:cTn id="235" dur="500" fill="hold"/>
                                        <p:tgtEl>
                                          <p:spTgt spid="79"/>
                                        </p:tgtEl>
                                        <p:attrNameLst>
                                          <p:attrName>ppt_y</p:attrName>
                                        </p:attrNameLst>
                                      </p:cBhvr>
                                      <p:tavLst>
                                        <p:tav tm="0">
                                          <p:val>
                                            <p:strVal val="#ppt_y+0.1"/>
                                          </p:val>
                                        </p:tav>
                                        <p:tav tm="100000">
                                          <p:val>
                                            <p:strVal val="#ppt_y"/>
                                          </p:val>
                                        </p:tav>
                                      </p:tavLst>
                                    </p:anim>
                                    <p:animEffect transition="in" filter="fade">
                                      <p:cBhvr>
                                        <p:cTn id="236" dur="500"/>
                                        <p:tgtEl>
                                          <p:spTgt spid="79"/>
                                        </p:tgtEl>
                                      </p:cBhvr>
                                    </p:animEffect>
                                  </p:childTnLst>
                                </p:cTn>
                              </p:par>
                              <p:par>
                                <p:cTn id="242" presetID="2" presetClass="entr" presetSubtype="4" fill="hold" grpId="0" nodeType="withEffect">
                                  <p:stCondLst>
                                    <p:cond delay="0"/>
                                  </p:stCondLst>
                                  <p:childTnLst>
                                    <p:set>
                                      <p:cBhvr>
                                        <p:cTn id="238" dur="1" fill="hold">
                                          <p:stCondLst>
                                            <p:cond delay="0"/>
                                          </p:stCondLst>
                                        </p:cTn>
                                        <p:tgtEl>
                                          <p:spTgt spid="80"/>
                                        </p:tgtEl>
                                        <p:attrNameLst>
                                          <p:attrName>style.visibility</p:attrName>
                                        </p:attrNameLst>
                                      </p:cBhvr>
                                      <p:to>
                                        <p:strVal val="visible"/>
                                      </p:to>
                                    </p:set>
                                    <p:anim calcmode="lin" valueType="num">
                                      <p:cBhvr additive="base">
                                        <p:cTn id="239" dur="500" fill="hold"/>
                                        <p:tgtEl>
                                          <p:spTgt spid="80"/>
                                        </p:tgtEl>
                                        <p:attrNameLst>
                                          <p:attrName>ppt_x</p:attrName>
                                        </p:attrNameLst>
                                      </p:cBhvr>
                                      <p:tavLst>
                                        <p:tav tm="0">
                                          <p:val>
                                            <p:strVal val="#ppt_x"/>
                                          </p:val>
                                        </p:tav>
                                        <p:tav tm="100000">
                                          <p:val>
                                            <p:strVal val="#ppt_x"/>
                                          </p:val>
                                        </p:tav>
                                      </p:tavLst>
                                    </p:anim>
                                    <p:anim calcmode="lin" valueType="num">
                                      <p:cBhvr additive="base">
                                        <p:cTn id="240" dur="500" fill="hold"/>
                                        <p:tgtEl>
                                          <p:spTgt spid="80"/>
                                        </p:tgtEl>
                                        <p:attrNameLst>
                                          <p:attrName>ppt_y</p:attrName>
                                        </p:attrNameLst>
                                      </p:cBhvr>
                                      <p:tavLst>
                                        <p:tav tm="0">
                                          <p:val>
                                            <p:strVal val="#ppt_y+0.1"/>
                                          </p:val>
                                        </p:tav>
                                        <p:tav tm="100000">
                                          <p:val>
                                            <p:strVal val="#ppt_y"/>
                                          </p:val>
                                        </p:tav>
                                      </p:tavLst>
                                    </p:anim>
                                    <p:animEffect transition="in" filter="fade">
                                      <p:cBhvr>
                                        <p:cTn id="241" dur="500"/>
                                        <p:tgtEl>
                                          <p:spTgt spid="80"/>
                                        </p:tgtEl>
                                      </p:cBhvr>
                                    </p:animEffect>
                                  </p:childTnLst>
                                </p:cTn>
                              </p:par>
                              <p:par>
                                <p:cTn id="247" presetID="2" presetClass="entr" presetSubtype="4" fill="hold" grpId="0" nodeType="withEffect">
                                  <p:stCondLst>
                                    <p:cond delay="0"/>
                                  </p:stCondLst>
                                  <p:childTnLst>
                                    <p:set>
                                      <p:cBhvr>
                                        <p:cTn id="243" dur="1" fill="hold">
                                          <p:stCondLst>
                                            <p:cond delay="0"/>
                                          </p:stCondLst>
                                        </p:cTn>
                                        <p:tgtEl>
                                          <p:spTgt spid="81"/>
                                        </p:tgtEl>
                                        <p:attrNameLst>
                                          <p:attrName>style.visibility</p:attrName>
                                        </p:attrNameLst>
                                      </p:cBhvr>
                                      <p:to>
                                        <p:strVal val="visible"/>
                                      </p:to>
                                    </p:set>
                                    <p:anim calcmode="lin" valueType="num">
                                      <p:cBhvr additive="base">
                                        <p:cTn id="244" dur="500" fill="hold"/>
                                        <p:tgtEl>
                                          <p:spTgt spid="81"/>
                                        </p:tgtEl>
                                        <p:attrNameLst>
                                          <p:attrName>ppt_x</p:attrName>
                                        </p:attrNameLst>
                                      </p:cBhvr>
                                      <p:tavLst>
                                        <p:tav tm="0">
                                          <p:val>
                                            <p:strVal val="#ppt_x"/>
                                          </p:val>
                                        </p:tav>
                                        <p:tav tm="100000">
                                          <p:val>
                                            <p:strVal val="#ppt_x"/>
                                          </p:val>
                                        </p:tav>
                                      </p:tavLst>
                                    </p:anim>
                                    <p:anim calcmode="lin" valueType="num">
                                      <p:cBhvr additive="base">
                                        <p:cTn id="245" dur="500" fill="hold"/>
                                        <p:tgtEl>
                                          <p:spTgt spid="81"/>
                                        </p:tgtEl>
                                        <p:attrNameLst>
                                          <p:attrName>ppt_y</p:attrName>
                                        </p:attrNameLst>
                                      </p:cBhvr>
                                      <p:tavLst>
                                        <p:tav tm="0">
                                          <p:val>
                                            <p:strVal val="#ppt_y+0.1"/>
                                          </p:val>
                                        </p:tav>
                                        <p:tav tm="100000">
                                          <p:val>
                                            <p:strVal val="#ppt_y"/>
                                          </p:val>
                                        </p:tav>
                                      </p:tavLst>
                                    </p:anim>
                                    <p:animEffect transition="in" filter="fade">
                                      <p:cBhvr>
                                        <p:cTn id="246" dur="500"/>
                                        <p:tgtEl>
                                          <p:spTgt spid="81"/>
                                        </p:tgtEl>
                                      </p:cBhvr>
                                    </p:animEffect>
                                  </p:childTnLst>
                                </p:cTn>
                              </p:par>
                              <p:par>
                                <p:cTn id="252" presetID="2" presetClass="entr" presetSubtype="4" fill="hold" grpId="0" nodeType="withEffect">
                                  <p:stCondLst>
                                    <p:cond delay="0"/>
                                  </p:stCondLst>
                                  <p:childTnLst>
                                    <p:set>
                                      <p:cBhvr>
                                        <p:cTn id="248" dur="1" fill="hold">
                                          <p:stCondLst>
                                            <p:cond delay="0"/>
                                          </p:stCondLst>
                                        </p:cTn>
                                        <p:tgtEl>
                                          <p:spTgt spid="85"/>
                                        </p:tgtEl>
                                        <p:attrNameLst>
                                          <p:attrName>style.visibility</p:attrName>
                                        </p:attrNameLst>
                                      </p:cBhvr>
                                      <p:to>
                                        <p:strVal val="visible"/>
                                      </p:to>
                                    </p:set>
                                    <p:anim calcmode="lin" valueType="num">
                                      <p:cBhvr additive="base">
                                        <p:cTn id="249" dur="500" fill="hold"/>
                                        <p:tgtEl>
                                          <p:spTgt spid="85"/>
                                        </p:tgtEl>
                                        <p:attrNameLst>
                                          <p:attrName>ppt_x</p:attrName>
                                        </p:attrNameLst>
                                      </p:cBhvr>
                                      <p:tavLst>
                                        <p:tav tm="0">
                                          <p:val>
                                            <p:strVal val="#ppt_x"/>
                                          </p:val>
                                        </p:tav>
                                        <p:tav tm="100000">
                                          <p:val>
                                            <p:strVal val="#ppt_x"/>
                                          </p:val>
                                        </p:tav>
                                      </p:tavLst>
                                    </p:anim>
                                    <p:anim calcmode="lin" valueType="num">
                                      <p:cBhvr additive="base">
                                        <p:cTn id="250" dur="500" fill="hold"/>
                                        <p:tgtEl>
                                          <p:spTgt spid="85"/>
                                        </p:tgtEl>
                                        <p:attrNameLst>
                                          <p:attrName>ppt_y</p:attrName>
                                        </p:attrNameLst>
                                      </p:cBhvr>
                                      <p:tavLst>
                                        <p:tav tm="0">
                                          <p:val>
                                            <p:strVal val="#ppt_y+0.1"/>
                                          </p:val>
                                        </p:tav>
                                        <p:tav tm="100000">
                                          <p:val>
                                            <p:strVal val="#ppt_y"/>
                                          </p:val>
                                        </p:tav>
                                      </p:tavLst>
                                    </p:anim>
                                    <p:animEffect transition="in" filter="fade">
                                      <p:cBhvr>
                                        <p:cTn id="251" dur="500"/>
                                        <p:tgtEl>
                                          <p:spTgt spid="85"/>
                                        </p:tgtEl>
                                      </p:cBhvr>
                                    </p:animEffect>
                                  </p:childTnLst>
                                </p:cTn>
                              </p:par>
                            </p:childTnLst>
                          </p:cTn>
                        </p:par>
                      </p:childTnLst>
                    </p:cTn>
                  </p:par>
                  <p:par>
                    <p:cTn id="253" fill="hold">
                      <p:stCondLst>
                        <p:cond delay="indefinite"/>
                      </p:stCondLst>
                      <p:childTnLst>
                        <p:par>
                          <p:cTn id="254" fill="hold">
                            <p:stCondLst>
                              <p:cond delay="0"/>
                            </p:stCondLst>
                            <p:childTnLst>
                              <p:par>
                                <p:cTn id="259" presetID="2" presetClass="entr" presetSubtype="4" fill="hold" grpId="0" nodeType="clickEffect">
                                  <p:stCondLst>
                                    <p:cond delay="0"/>
                                  </p:stCondLst>
                                  <p:childTnLst>
                                    <p:set>
                                      <p:cBhvr>
                                        <p:cTn id="255" dur="1" fill="hold">
                                          <p:stCondLst>
                                            <p:cond delay="0"/>
                                          </p:stCondLst>
                                        </p:cTn>
                                        <p:tgtEl>
                                          <p:spTgt spid="82"/>
                                        </p:tgtEl>
                                        <p:attrNameLst>
                                          <p:attrName>style.visibility</p:attrName>
                                        </p:attrNameLst>
                                      </p:cBhvr>
                                      <p:to>
                                        <p:strVal val="visible"/>
                                      </p:to>
                                    </p:set>
                                    <p:anim calcmode="lin" valueType="num">
                                      <p:cBhvr additive="base">
                                        <p:cTn id="256" dur="500" fill="hold"/>
                                        <p:tgtEl>
                                          <p:spTgt spid="82"/>
                                        </p:tgtEl>
                                        <p:attrNameLst>
                                          <p:attrName>ppt_x</p:attrName>
                                        </p:attrNameLst>
                                      </p:cBhvr>
                                      <p:tavLst>
                                        <p:tav tm="0">
                                          <p:val>
                                            <p:strVal val="#ppt_x"/>
                                          </p:val>
                                        </p:tav>
                                        <p:tav tm="100000">
                                          <p:val>
                                            <p:strVal val="#ppt_x"/>
                                          </p:val>
                                        </p:tav>
                                      </p:tavLst>
                                    </p:anim>
                                    <p:anim calcmode="lin" valueType="num">
                                      <p:cBhvr additive="base">
                                        <p:cTn id="257" dur="500" fill="hold"/>
                                        <p:tgtEl>
                                          <p:spTgt spid="82"/>
                                        </p:tgtEl>
                                        <p:attrNameLst>
                                          <p:attrName>ppt_y</p:attrName>
                                        </p:attrNameLst>
                                      </p:cBhvr>
                                      <p:tavLst>
                                        <p:tav tm="0">
                                          <p:val>
                                            <p:strVal val="#ppt_y+0.1"/>
                                          </p:val>
                                        </p:tav>
                                        <p:tav tm="100000">
                                          <p:val>
                                            <p:strVal val="#ppt_y"/>
                                          </p:val>
                                        </p:tav>
                                      </p:tavLst>
                                    </p:anim>
                                    <p:animEffect transition="in" filter="fade">
                                      <p:cBhvr>
                                        <p:cTn id="258" dur="500"/>
                                        <p:tgtEl>
                                          <p:spTgt spid="82"/>
                                        </p:tgtEl>
                                      </p:cBhvr>
                                    </p:animEffect>
                                  </p:childTnLst>
                                </p:cTn>
                              </p:par>
                              <p:par>
                                <p:cTn id="264" presetID="2" presetClass="entr" presetSubtype="4" fill="hold" grpId="0" nodeType="withEffect">
                                  <p:stCondLst>
                                    <p:cond delay="0"/>
                                  </p:stCondLst>
                                  <p:childTnLst>
                                    <p:set>
                                      <p:cBhvr>
                                        <p:cTn id="260" dur="1" fill="hold">
                                          <p:stCondLst>
                                            <p:cond delay="0"/>
                                          </p:stCondLst>
                                        </p:cTn>
                                        <p:tgtEl>
                                          <p:spTgt spid="83"/>
                                        </p:tgtEl>
                                        <p:attrNameLst>
                                          <p:attrName>style.visibility</p:attrName>
                                        </p:attrNameLst>
                                      </p:cBhvr>
                                      <p:to>
                                        <p:strVal val="visible"/>
                                      </p:to>
                                    </p:set>
                                    <p:anim calcmode="lin" valueType="num">
                                      <p:cBhvr additive="base">
                                        <p:cTn id="261" dur="500" fill="hold"/>
                                        <p:tgtEl>
                                          <p:spTgt spid="83"/>
                                        </p:tgtEl>
                                        <p:attrNameLst>
                                          <p:attrName>ppt_x</p:attrName>
                                        </p:attrNameLst>
                                      </p:cBhvr>
                                      <p:tavLst>
                                        <p:tav tm="0">
                                          <p:val>
                                            <p:strVal val="#ppt_x"/>
                                          </p:val>
                                        </p:tav>
                                        <p:tav tm="100000">
                                          <p:val>
                                            <p:strVal val="#ppt_x"/>
                                          </p:val>
                                        </p:tav>
                                      </p:tavLst>
                                    </p:anim>
                                    <p:anim calcmode="lin" valueType="num">
                                      <p:cBhvr additive="base">
                                        <p:cTn id="262" dur="500" fill="hold"/>
                                        <p:tgtEl>
                                          <p:spTgt spid="83"/>
                                        </p:tgtEl>
                                        <p:attrNameLst>
                                          <p:attrName>ppt_y</p:attrName>
                                        </p:attrNameLst>
                                      </p:cBhvr>
                                      <p:tavLst>
                                        <p:tav tm="0">
                                          <p:val>
                                            <p:strVal val="#ppt_y+0.1"/>
                                          </p:val>
                                        </p:tav>
                                        <p:tav tm="100000">
                                          <p:val>
                                            <p:strVal val="#ppt_y"/>
                                          </p:val>
                                        </p:tav>
                                      </p:tavLst>
                                    </p:anim>
                                    <p:animEffect transition="in" filter="fade">
                                      <p:cBhvr>
                                        <p:cTn id="263" dur="500"/>
                                        <p:tgtEl>
                                          <p:spTgt spid="83"/>
                                        </p:tgtEl>
                                      </p:cBhvr>
                                    </p:animEffect>
                                  </p:childTnLst>
                                </p:cTn>
                              </p:par>
                              <p:par>
                                <p:cTn id="269" presetID="2" presetClass="entr" presetSubtype="4" fill="hold" grpId="0" nodeType="withEffect">
                                  <p:stCondLst>
                                    <p:cond delay="0"/>
                                  </p:stCondLst>
                                  <p:childTnLst>
                                    <p:set>
                                      <p:cBhvr>
                                        <p:cTn id="265" dur="1" fill="hold">
                                          <p:stCondLst>
                                            <p:cond delay="0"/>
                                          </p:stCondLst>
                                        </p:cTn>
                                        <p:tgtEl>
                                          <p:spTgt spid="84"/>
                                        </p:tgtEl>
                                        <p:attrNameLst>
                                          <p:attrName>style.visibility</p:attrName>
                                        </p:attrNameLst>
                                      </p:cBhvr>
                                      <p:to>
                                        <p:strVal val="visible"/>
                                      </p:to>
                                    </p:set>
                                    <p:anim calcmode="lin" valueType="num">
                                      <p:cBhvr additive="base">
                                        <p:cTn id="266" dur="500" fill="hold"/>
                                        <p:tgtEl>
                                          <p:spTgt spid="84"/>
                                        </p:tgtEl>
                                        <p:attrNameLst>
                                          <p:attrName>ppt_x</p:attrName>
                                        </p:attrNameLst>
                                      </p:cBhvr>
                                      <p:tavLst>
                                        <p:tav tm="0">
                                          <p:val>
                                            <p:strVal val="#ppt_x"/>
                                          </p:val>
                                        </p:tav>
                                        <p:tav tm="100000">
                                          <p:val>
                                            <p:strVal val="#ppt_x"/>
                                          </p:val>
                                        </p:tav>
                                      </p:tavLst>
                                    </p:anim>
                                    <p:anim calcmode="lin" valueType="num">
                                      <p:cBhvr additive="base">
                                        <p:cTn id="267" dur="500" fill="hold"/>
                                        <p:tgtEl>
                                          <p:spTgt spid="84"/>
                                        </p:tgtEl>
                                        <p:attrNameLst>
                                          <p:attrName>ppt_y</p:attrName>
                                        </p:attrNameLst>
                                      </p:cBhvr>
                                      <p:tavLst>
                                        <p:tav tm="0">
                                          <p:val>
                                            <p:strVal val="#ppt_y+0.1"/>
                                          </p:val>
                                        </p:tav>
                                        <p:tav tm="100000">
                                          <p:val>
                                            <p:strVal val="#ppt_y"/>
                                          </p:val>
                                        </p:tav>
                                      </p:tavLst>
                                    </p:anim>
                                    <p:animEffect transition="in" filter="fade">
                                      <p:cBhvr>
                                        <p:cTn id="268" dur="500"/>
                                        <p:tgtEl>
                                          <p:spTgt spid="84"/>
                                        </p:tgtEl>
                                      </p:cBhvr>
                                    </p:animEffect>
                                  </p:childTnLst>
                                </p:cTn>
                              </p:par>
                              <p:par>
                                <p:cTn id="274" presetID="2" presetClass="entr" presetSubtype="4" fill="hold" grpId="0" nodeType="withEffect">
                                  <p:stCondLst>
                                    <p:cond delay="120"/>
                                  </p:stCondLst>
                                  <p:childTnLst>
                                    <p:set>
                                      <p:cBhvr>
                                        <p:cTn id="270" dur="1" fill="hold">
                                          <p:stCondLst>
                                            <p:cond delay="0"/>
                                          </p:stCondLst>
                                        </p:cTn>
                                        <p:tgtEl>
                                          <p:spTgt spid="86"/>
                                        </p:tgtEl>
                                        <p:attrNameLst>
                                          <p:attrName>style.visibility</p:attrName>
                                        </p:attrNameLst>
                                      </p:cBhvr>
                                      <p:to>
                                        <p:strVal val="visible"/>
                                      </p:to>
                                    </p:set>
                                    <p:anim calcmode="lin" valueType="num">
                                      <p:cBhvr additive="base">
                                        <p:cTn id="271" dur="500" fill="hold"/>
                                        <p:tgtEl>
                                          <p:spTgt spid="86"/>
                                        </p:tgtEl>
                                        <p:attrNameLst>
                                          <p:attrName>ppt_x</p:attrName>
                                        </p:attrNameLst>
                                      </p:cBhvr>
                                      <p:tavLst>
                                        <p:tav tm="0">
                                          <p:val>
                                            <p:strVal val="#ppt_x"/>
                                          </p:val>
                                        </p:tav>
                                        <p:tav tm="100000">
                                          <p:val>
                                            <p:strVal val="#ppt_x"/>
                                          </p:val>
                                        </p:tav>
                                      </p:tavLst>
                                    </p:anim>
                                    <p:anim calcmode="lin" valueType="num">
                                      <p:cBhvr additive="base">
                                        <p:cTn id="272" dur="500" fill="hold"/>
                                        <p:tgtEl>
                                          <p:spTgt spid="86"/>
                                        </p:tgtEl>
                                        <p:attrNameLst>
                                          <p:attrName>ppt_y</p:attrName>
                                        </p:attrNameLst>
                                      </p:cBhvr>
                                      <p:tavLst>
                                        <p:tav tm="0">
                                          <p:val>
                                            <p:strVal val="#ppt_y+0.1"/>
                                          </p:val>
                                        </p:tav>
                                        <p:tav tm="100000">
                                          <p:val>
                                            <p:strVal val="#ppt_y"/>
                                          </p:val>
                                        </p:tav>
                                      </p:tavLst>
                                    </p:anim>
                                    <p:animEffect transition="in" filter="fade">
                                      <p:cBhvr>
                                        <p:cTn id="273" dur="500"/>
                                        <p:tgtEl>
                                          <p:spTgt spid="86"/>
                                        </p:tgtEl>
                                      </p:cBhvr>
                                    </p:animEffect>
                                  </p:childTnLst>
                                </p:cTn>
                              </p:par>
                            </p:childTnLst>
                          </p:cTn>
                        </p:par>
                      </p:childTnLst>
                    </p:cTn>
                  </p:par>
                  <p:par>
                    <p:cTn id="275" fill="hold">
                      <p:stCondLst>
                        <p:cond delay="indefinite"/>
                      </p:stCondLst>
                      <p:childTnLst>
                        <p:par>
                          <p:cTn id="276" fill="hold">
                            <p:stCondLst>
                              <p:cond delay="0"/>
                            </p:stCondLst>
                            <p:childTnLst>
                              <p:par>
                                <p:cTn id="281" presetID="2" presetClass="entr" presetSubtype="4" fill="hold" grpId="0" nodeType="clickEffect">
                                  <p:stCondLst>
                                    <p:cond delay="240"/>
                                  </p:stCondLst>
                                  <p:childTnLst>
                                    <p:set>
                                      <p:cBhvr>
                                        <p:cTn id="277" dur="1" fill="hold">
                                          <p:stCondLst>
                                            <p:cond delay="0"/>
                                          </p:stCondLst>
                                        </p:cTn>
                                        <p:tgtEl>
                                          <p:spTgt spid="87"/>
                                        </p:tgtEl>
                                        <p:attrNameLst>
                                          <p:attrName>style.visibility</p:attrName>
                                        </p:attrNameLst>
                                      </p:cBhvr>
                                      <p:to>
                                        <p:strVal val="visible"/>
                                      </p:to>
                                    </p:set>
                                    <p:anim calcmode="lin" valueType="num">
                                      <p:cBhvr additive="base">
                                        <p:cTn id="278" dur="500" fill="hold"/>
                                        <p:tgtEl>
                                          <p:spTgt spid="87"/>
                                        </p:tgtEl>
                                        <p:attrNameLst>
                                          <p:attrName>ppt_x</p:attrName>
                                        </p:attrNameLst>
                                      </p:cBhvr>
                                      <p:tavLst>
                                        <p:tav tm="0">
                                          <p:val>
                                            <p:strVal val="#ppt_x"/>
                                          </p:val>
                                        </p:tav>
                                        <p:tav tm="100000">
                                          <p:val>
                                            <p:strVal val="#ppt_x"/>
                                          </p:val>
                                        </p:tav>
                                      </p:tavLst>
                                    </p:anim>
                                    <p:anim calcmode="lin" valueType="num">
                                      <p:cBhvr additive="base">
                                        <p:cTn id="279" dur="500" fill="hold"/>
                                        <p:tgtEl>
                                          <p:spTgt spid="87"/>
                                        </p:tgtEl>
                                        <p:attrNameLst>
                                          <p:attrName>ppt_y</p:attrName>
                                        </p:attrNameLst>
                                      </p:cBhvr>
                                      <p:tavLst>
                                        <p:tav tm="0">
                                          <p:val>
                                            <p:strVal val="#ppt_y+0.1"/>
                                          </p:val>
                                        </p:tav>
                                        <p:tav tm="100000">
                                          <p:val>
                                            <p:strVal val="#ppt_y"/>
                                          </p:val>
                                        </p:tav>
                                      </p:tavLst>
                                    </p:anim>
                                    <p:animEffect transition="in" filter="fade">
                                      <p:cBhvr>
                                        <p:cTn id="280" dur="500"/>
                                        <p:tgtEl>
                                          <p:spTgt spid="87"/>
                                        </p:tgtEl>
                                      </p:cBhvr>
                                    </p:animEffect>
                                  </p:childTnLst>
                                </p:cTn>
                              </p:par>
                              <p:par>
                                <p:cTn id="286" presetID="2" presetClass="entr" presetSubtype="4" fill="hold" grpId="0" nodeType="withEffect">
                                  <p:stCondLst>
                                    <p:cond delay="360"/>
                                  </p:stCondLst>
                                  <p:childTnLst>
                                    <p:set>
                                      <p:cBhvr>
                                        <p:cTn id="282" dur="1" fill="hold">
                                          <p:stCondLst>
                                            <p:cond delay="0"/>
                                          </p:stCondLst>
                                        </p:cTn>
                                        <p:tgtEl>
                                          <p:spTgt spid="88"/>
                                        </p:tgtEl>
                                        <p:attrNameLst>
                                          <p:attrName>style.visibility</p:attrName>
                                        </p:attrNameLst>
                                      </p:cBhvr>
                                      <p:to>
                                        <p:strVal val="visible"/>
                                      </p:to>
                                    </p:set>
                                    <p:anim calcmode="lin" valueType="num">
                                      <p:cBhvr additive="base">
                                        <p:cTn id="283" dur="500" fill="hold"/>
                                        <p:tgtEl>
                                          <p:spTgt spid="88"/>
                                        </p:tgtEl>
                                        <p:attrNameLst>
                                          <p:attrName>ppt_x</p:attrName>
                                        </p:attrNameLst>
                                      </p:cBhvr>
                                      <p:tavLst>
                                        <p:tav tm="0">
                                          <p:val>
                                            <p:strVal val="#ppt_x"/>
                                          </p:val>
                                        </p:tav>
                                        <p:tav tm="100000">
                                          <p:val>
                                            <p:strVal val="#ppt_x"/>
                                          </p:val>
                                        </p:tav>
                                      </p:tavLst>
                                    </p:anim>
                                    <p:anim calcmode="lin" valueType="num">
                                      <p:cBhvr additive="base">
                                        <p:cTn id="284" dur="500" fill="hold"/>
                                        <p:tgtEl>
                                          <p:spTgt spid="88"/>
                                        </p:tgtEl>
                                        <p:attrNameLst>
                                          <p:attrName>ppt_y</p:attrName>
                                        </p:attrNameLst>
                                      </p:cBhvr>
                                      <p:tavLst>
                                        <p:tav tm="0">
                                          <p:val>
                                            <p:strVal val="#ppt_y+0.1"/>
                                          </p:val>
                                        </p:tav>
                                        <p:tav tm="100000">
                                          <p:val>
                                            <p:strVal val="#ppt_y"/>
                                          </p:val>
                                        </p:tav>
                                      </p:tavLst>
                                    </p:anim>
                                    <p:animEffect transition="in" filter="fade">
                                      <p:cBhvr>
                                        <p:cTn id="285" dur="500"/>
                                        <p:tgtEl>
                                          <p:spTgt spid="88"/>
                                        </p:tgtEl>
                                      </p:cBhvr>
                                    </p:animEffect>
                                  </p:childTnLst>
                                </p:cTn>
                              </p:par>
                            </p:childTnLst>
                          </p:cTn>
                        </p:par>
                      </p:childTnLst>
                    </p:cTn>
                  </p:par>
                  <p:par>
                    <p:cTn id="287" fill="hold">
                      <p:stCondLst>
                        <p:cond delay="indefinite"/>
                      </p:stCondLst>
                      <p:childTnLst>
                        <p:par>
                          <p:cTn id="288" fill="hold">
                            <p:stCondLst>
                              <p:cond delay="0"/>
                            </p:stCondLst>
                            <p:childTnLst>
                              <p:par>
                                <p:cTn id="293" presetID="2" presetClass="entr" presetSubtype="4" fill="hold" grpId="0" nodeType="clickEffect">
                                  <p:stCondLst>
                                    <p:cond delay="0"/>
                                  </p:stCondLst>
                                  <p:childTnLst>
                                    <p:set>
                                      <p:cBhvr>
                                        <p:cTn id="289" dur="1" fill="hold">
                                          <p:stCondLst>
                                            <p:cond delay="0"/>
                                          </p:stCondLst>
                                        </p:cTn>
                                        <p:tgtEl>
                                          <p:spTgt spid="89"/>
                                        </p:tgtEl>
                                        <p:attrNameLst>
                                          <p:attrName>style.visibility</p:attrName>
                                        </p:attrNameLst>
                                      </p:cBhvr>
                                      <p:to>
                                        <p:strVal val="visible"/>
                                      </p:to>
                                    </p:set>
                                    <p:anim calcmode="lin" valueType="num">
                                      <p:cBhvr additive="base">
                                        <p:cTn id="290" dur="500" fill="hold"/>
                                        <p:tgtEl>
                                          <p:spTgt spid="89"/>
                                        </p:tgtEl>
                                        <p:attrNameLst>
                                          <p:attrName>ppt_x</p:attrName>
                                        </p:attrNameLst>
                                      </p:cBhvr>
                                      <p:tavLst>
                                        <p:tav tm="0">
                                          <p:val>
                                            <p:strVal val="#ppt_x"/>
                                          </p:val>
                                        </p:tav>
                                        <p:tav tm="100000">
                                          <p:val>
                                            <p:strVal val="#ppt_x"/>
                                          </p:val>
                                        </p:tav>
                                      </p:tavLst>
                                    </p:anim>
                                    <p:anim calcmode="lin" valueType="num">
                                      <p:cBhvr additive="base">
                                        <p:cTn id="291" dur="500" fill="hold"/>
                                        <p:tgtEl>
                                          <p:spTgt spid="89"/>
                                        </p:tgtEl>
                                        <p:attrNameLst>
                                          <p:attrName>ppt_y</p:attrName>
                                        </p:attrNameLst>
                                      </p:cBhvr>
                                      <p:tavLst>
                                        <p:tav tm="0">
                                          <p:val>
                                            <p:strVal val="#ppt_y+0.1"/>
                                          </p:val>
                                        </p:tav>
                                        <p:tav tm="100000">
                                          <p:val>
                                            <p:strVal val="#ppt_y"/>
                                          </p:val>
                                        </p:tav>
                                      </p:tavLst>
                                    </p:anim>
                                    <p:animEffect transition="in" filter="fade">
                                      <p:cBhvr>
                                        <p:cTn id="292" dur="500"/>
                                        <p:tgtEl>
                                          <p:spTgt spid="89"/>
                                        </p:tgtEl>
                                      </p:cBhvr>
                                    </p:animEffect>
                                  </p:childTnLst>
                                </p:cTn>
                              </p:par>
                              <p:par>
                                <p:cTn id="298" presetID="2" presetClass="entr" presetSubtype="4" fill="hold" grpId="0" nodeType="withEffect">
                                  <p:stCondLst>
                                    <p:cond delay="0"/>
                                  </p:stCondLst>
                                  <p:childTnLst>
                                    <p:set>
                                      <p:cBhvr>
                                        <p:cTn id="294" dur="1" fill="hold">
                                          <p:stCondLst>
                                            <p:cond delay="0"/>
                                          </p:stCondLst>
                                        </p:cTn>
                                        <p:tgtEl>
                                          <p:spTgt spid="90"/>
                                        </p:tgtEl>
                                        <p:attrNameLst>
                                          <p:attrName>style.visibility</p:attrName>
                                        </p:attrNameLst>
                                      </p:cBhvr>
                                      <p:to>
                                        <p:strVal val="visible"/>
                                      </p:to>
                                    </p:set>
                                    <p:anim calcmode="lin" valueType="num">
                                      <p:cBhvr additive="base">
                                        <p:cTn id="295" dur="500" fill="hold"/>
                                        <p:tgtEl>
                                          <p:spTgt spid="90"/>
                                        </p:tgtEl>
                                        <p:attrNameLst>
                                          <p:attrName>ppt_x</p:attrName>
                                        </p:attrNameLst>
                                      </p:cBhvr>
                                      <p:tavLst>
                                        <p:tav tm="0">
                                          <p:val>
                                            <p:strVal val="#ppt_x"/>
                                          </p:val>
                                        </p:tav>
                                        <p:tav tm="100000">
                                          <p:val>
                                            <p:strVal val="#ppt_x"/>
                                          </p:val>
                                        </p:tav>
                                      </p:tavLst>
                                    </p:anim>
                                    <p:anim calcmode="lin" valueType="num">
                                      <p:cBhvr additive="base">
                                        <p:cTn id="296" dur="500" fill="hold"/>
                                        <p:tgtEl>
                                          <p:spTgt spid="90"/>
                                        </p:tgtEl>
                                        <p:attrNameLst>
                                          <p:attrName>ppt_y</p:attrName>
                                        </p:attrNameLst>
                                      </p:cBhvr>
                                      <p:tavLst>
                                        <p:tav tm="0">
                                          <p:val>
                                            <p:strVal val="#ppt_y+0.1"/>
                                          </p:val>
                                        </p:tav>
                                        <p:tav tm="100000">
                                          <p:val>
                                            <p:strVal val="#ppt_y"/>
                                          </p:val>
                                        </p:tav>
                                      </p:tavLst>
                                    </p:anim>
                                    <p:animEffect transition="in" filter="fade">
                                      <p:cBhvr>
                                        <p:cTn id="297" dur="500"/>
                                        <p:tgtEl>
                                          <p:spTgt spid="90"/>
                                        </p:tgtEl>
                                      </p:cBhvr>
                                    </p:animEffect>
                                  </p:childTnLst>
                                </p:cTn>
                              </p:par>
                              <p:par>
                                <p:cTn id="303" presetID="2" presetClass="entr" presetSubtype="4" fill="hold" grpId="0" nodeType="withEffect">
                                  <p:stCondLst>
                                    <p:cond delay="0"/>
                                  </p:stCondLst>
                                  <p:childTnLst>
                                    <p:set>
                                      <p:cBhvr>
                                        <p:cTn id="299" dur="1" fill="hold">
                                          <p:stCondLst>
                                            <p:cond delay="0"/>
                                          </p:stCondLst>
                                        </p:cTn>
                                        <p:tgtEl>
                                          <p:spTgt spid="91"/>
                                        </p:tgtEl>
                                        <p:attrNameLst>
                                          <p:attrName>style.visibility</p:attrName>
                                        </p:attrNameLst>
                                      </p:cBhvr>
                                      <p:to>
                                        <p:strVal val="visible"/>
                                      </p:to>
                                    </p:set>
                                    <p:anim calcmode="lin" valueType="num">
                                      <p:cBhvr additive="base">
                                        <p:cTn id="300" dur="500" fill="hold"/>
                                        <p:tgtEl>
                                          <p:spTgt spid="91"/>
                                        </p:tgtEl>
                                        <p:attrNameLst>
                                          <p:attrName>ppt_x</p:attrName>
                                        </p:attrNameLst>
                                      </p:cBhvr>
                                      <p:tavLst>
                                        <p:tav tm="0">
                                          <p:val>
                                            <p:strVal val="#ppt_x"/>
                                          </p:val>
                                        </p:tav>
                                        <p:tav tm="100000">
                                          <p:val>
                                            <p:strVal val="#ppt_x"/>
                                          </p:val>
                                        </p:tav>
                                      </p:tavLst>
                                    </p:anim>
                                    <p:anim calcmode="lin" valueType="num">
                                      <p:cBhvr additive="base">
                                        <p:cTn id="301" dur="500" fill="hold"/>
                                        <p:tgtEl>
                                          <p:spTgt spid="91"/>
                                        </p:tgtEl>
                                        <p:attrNameLst>
                                          <p:attrName>ppt_y</p:attrName>
                                        </p:attrNameLst>
                                      </p:cBhvr>
                                      <p:tavLst>
                                        <p:tav tm="0">
                                          <p:val>
                                            <p:strVal val="#ppt_y+0.1"/>
                                          </p:val>
                                        </p:tav>
                                        <p:tav tm="100000">
                                          <p:val>
                                            <p:strVal val="#ppt_y"/>
                                          </p:val>
                                        </p:tav>
                                      </p:tavLst>
                                    </p:anim>
                                    <p:animEffect transition="in" filter="fade">
                                      <p:cBhvr>
                                        <p:cTn id="302"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Code: KafkaProducer and ProducerRecord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Two classes are all you need to send a message</a:t>
            </a:r>
          </a:p>
        </p:txBody>
      </p:sp>
      <p:sp>
        <p:nvSpPr>
          <p:cNvPr id="11" name="a1f_codebg10"/>
          <p:cNvSpPr/>
          <p:nvPr/>
        </p:nvSpPr>
        <p:spPr>
          <a:xfrm>
            <a:off x="457200" y="1280160"/>
            <a:ext cx="5440680" cy="2542032"/>
          </a:xfrm>
          <a:prstGeom prst="roundRect">
            <a:avLst>
              <a:gd name="adj" fmla="val 2877"/>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85216" y="1335024"/>
            <a:ext cx="5184648" cy="219456"/>
          </a:xfrm>
          <a:prstGeom prst="rect">
            <a:avLst/>
          </a:prstGeom>
          <a:noFill/>
        </p:spPr>
        <p:txBody>
          <a:bodyPr wrap="square" lIns="0" tIns="0" rIns="0" bIns="0" anchor="ctr">
            <a:spAutoFit/>
          </a:bodyPr>
          <a:lstStyle/>
          <a:p>
            <a:pPr algn="l"/>
            <a:r>
              <a:rPr sz="950" b="1">
                <a:solidFill>
                  <a:srgbClr val="A8A29E"/>
                </a:solidFill>
                <a:latin typeface="Consolas"/>
              </a:rPr>
              <a:t>ThermostatProducer.java</a:t>
            </a:r>
          </a:p>
        </p:txBody>
      </p:sp>
      <p:sp>
        <p:nvSpPr>
          <p:cNvPr id="13" name="a1f_codesep12"/>
          <p:cNvSpPr/>
          <p:nvPr/>
        </p:nvSpPr>
        <p:spPr>
          <a:xfrm>
            <a:off x="585216" y="1609343"/>
            <a:ext cx="518464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85216" y="1682495"/>
            <a:ext cx="5184648" cy="182880"/>
          </a:xfrm>
          <a:prstGeom prst="rect">
            <a:avLst/>
          </a:prstGeom>
          <a:noFill/>
        </p:spPr>
        <p:txBody>
          <a:bodyPr wrap="none" lIns="0" tIns="0" rIns="0" bIns="0" anchor="ctr">
            <a:spAutoFit/>
          </a:bodyPr>
          <a:lstStyle/>
          <a:p>
            <a:pPr algn="l"/>
            <a:r>
              <a:rPr sz="800" b="0">
                <a:solidFill>
                  <a:srgbClr val="E7E5E4"/>
                </a:solidFill>
                <a:latin typeface="Consolas"/>
              </a:rPr>
              <a:t>Properties props = new Properties();</a:t>
            </a:r>
          </a:p>
        </p:txBody>
      </p:sp>
      <p:sp>
        <p:nvSpPr>
          <p:cNvPr id="15" name="a1wd110_code14"/>
          <p:cNvSpPr txBox="1"/>
          <p:nvPr/>
        </p:nvSpPr>
        <p:spPr>
          <a:xfrm>
            <a:off x="585216" y="1865376"/>
            <a:ext cx="5184648" cy="182880"/>
          </a:xfrm>
          <a:prstGeom prst="rect">
            <a:avLst/>
          </a:prstGeom>
          <a:noFill/>
        </p:spPr>
        <p:txBody>
          <a:bodyPr wrap="none" lIns="0" tIns="0" rIns="0" bIns="0" anchor="ctr">
            <a:spAutoFit/>
          </a:bodyPr>
          <a:lstStyle/>
          <a:p>
            <a:pPr algn="l"/>
            <a:r>
              <a:rPr sz="800" b="0">
                <a:solidFill>
                  <a:srgbClr val="E7E5E4"/>
                </a:solidFill>
                <a:latin typeface="Consolas"/>
              </a:rPr>
              <a:t>props.load(new FileReader("producer.properties"));</a:t>
            </a:r>
          </a:p>
        </p:txBody>
      </p:sp>
      <p:sp>
        <p:nvSpPr>
          <p:cNvPr id="16" name="a1wd220_code15"/>
          <p:cNvSpPr txBox="1"/>
          <p:nvPr/>
        </p:nvSpPr>
        <p:spPr>
          <a:xfrm>
            <a:off x="585216" y="2048255"/>
            <a:ext cx="5184648" cy="182880"/>
          </a:xfrm>
          <a:prstGeom prst="rect">
            <a:avLst/>
          </a:prstGeom>
          <a:noFill/>
        </p:spPr>
        <p:txBody>
          <a:bodyPr wrap="none" lIns="0" tIns="0" rIns="0" bIns="0" anchor="ctr">
            <a:spAutoFit/>
          </a:bodyPr>
          <a:lstStyle/>
          <a:p>
            <a:pPr algn="l"/>
            <a:r>
              <a:rPr sz="800" b="0">
                <a:solidFill>
                  <a:srgbClr val="E7E5E4"/>
                </a:solidFill>
                <a:latin typeface="Consolas"/>
              </a:rPr>
              <a:t/>
            </a:r>
          </a:p>
        </p:txBody>
      </p:sp>
      <p:sp>
        <p:nvSpPr>
          <p:cNvPr id="17" name="a1wd330_code16"/>
          <p:cNvSpPr txBox="1"/>
          <p:nvPr/>
        </p:nvSpPr>
        <p:spPr>
          <a:xfrm>
            <a:off x="585216" y="2231136"/>
            <a:ext cx="5184648" cy="182880"/>
          </a:xfrm>
          <a:prstGeom prst="rect">
            <a:avLst/>
          </a:prstGeom>
          <a:noFill/>
        </p:spPr>
        <p:txBody>
          <a:bodyPr wrap="none" lIns="0" tIns="0" rIns="0" bIns="0" anchor="ctr">
            <a:spAutoFit/>
          </a:bodyPr>
          <a:lstStyle/>
          <a:p>
            <a:pPr algn="l"/>
            <a:r>
              <a:rPr sz="800" b="1">
                <a:solidFill>
                  <a:srgbClr val="FDBA74"/>
                </a:solidFill>
                <a:latin typeface="Consolas"/>
              </a:rPr>
              <a:t>try (var producer = new KafkaProducer&lt;&gt;(props,</a:t>
            </a:r>
          </a:p>
        </p:txBody>
      </p:sp>
      <p:sp>
        <p:nvSpPr>
          <p:cNvPr id="18" name="a1wd440_code17"/>
          <p:cNvSpPr txBox="1"/>
          <p:nvPr/>
        </p:nvSpPr>
        <p:spPr>
          <a:xfrm>
            <a:off x="585216" y="2414015"/>
            <a:ext cx="5184648" cy="182880"/>
          </a:xfrm>
          <a:prstGeom prst="rect">
            <a:avLst/>
          </a:prstGeom>
          <a:noFill/>
        </p:spPr>
        <p:txBody>
          <a:bodyPr wrap="none" lIns="0" tIns="0" rIns="0" bIns="0" anchor="ctr">
            <a:spAutoFit/>
          </a:bodyPr>
          <a:lstStyle/>
          <a:p>
            <a:pPr algn="l"/>
            <a:r>
              <a:rPr sz="800" b="1">
                <a:solidFill>
                  <a:srgbClr val="FDBA74"/>
                </a:solidFill>
                <a:latin typeface="Consolas"/>
              </a:rPr>
              <a:t>        new StringSerializer(), new StringSerializer())) {</a:t>
            </a:r>
          </a:p>
        </p:txBody>
      </p:sp>
      <p:sp>
        <p:nvSpPr>
          <p:cNvPr id="19" name="a1wd550_code18"/>
          <p:cNvSpPr txBox="1"/>
          <p:nvPr/>
        </p:nvSpPr>
        <p:spPr>
          <a:xfrm>
            <a:off x="585216" y="2596896"/>
            <a:ext cx="5184648" cy="182880"/>
          </a:xfrm>
          <a:prstGeom prst="rect">
            <a:avLst/>
          </a:prstGeom>
          <a:noFill/>
        </p:spPr>
        <p:txBody>
          <a:bodyPr wrap="none" lIns="0" tIns="0" rIns="0" bIns="0" anchor="ctr">
            <a:spAutoFit/>
          </a:bodyPr>
          <a:lstStyle/>
          <a:p>
            <a:pPr algn="l"/>
            <a:r>
              <a:rPr sz="800" b="0">
                <a:solidFill>
                  <a:srgbClr val="E7E5E4"/>
                </a:solidFill>
                <a:latin typeface="Consolas"/>
              </a:rPr>
              <a:t/>
            </a:r>
          </a:p>
        </p:txBody>
      </p:sp>
      <p:sp>
        <p:nvSpPr>
          <p:cNvPr id="20" name="a1wd660_code19"/>
          <p:cNvSpPr txBox="1"/>
          <p:nvPr/>
        </p:nvSpPr>
        <p:spPr>
          <a:xfrm>
            <a:off x="585216" y="2779776"/>
            <a:ext cx="5184648" cy="182880"/>
          </a:xfrm>
          <a:prstGeom prst="rect">
            <a:avLst/>
          </a:prstGeom>
          <a:noFill/>
        </p:spPr>
        <p:txBody>
          <a:bodyPr wrap="none" lIns="0" tIns="0" rIns="0" bIns="0" anchor="ctr">
            <a:spAutoFit/>
          </a:bodyPr>
          <a:lstStyle/>
          <a:p>
            <a:pPr algn="l"/>
            <a:r>
              <a:rPr sz="800" b="0">
                <a:solidFill>
                  <a:srgbClr val="E7E5E4"/>
                </a:solidFill>
                <a:latin typeface="Consolas"/>
              </a:rPr>
              <a:t>    Reading r = thermostat.read();          // sensor 42, kitchen, 24 °C</a:t>
            </a:r>
          </a:p>
        </p:txBody>
      </p:sp>
      <p:sp>
        <p:nvSpPr>
          <p:cNvPr id="21" name="a1wd770_code20"/>
          <p:cNvSpPr txBox="1"/>
          <p:nvPr/>
        </p:nvSpPr>
        <p:spPr>
          <a:xfrm>
            <a:off x="585216" y="2962656"/>
            <a:ext cx="5184648" cy="182880"/>
          </a:xfrm>
          <a:prstGeom prst="rect">
            <a:avLst/>
          </a:prstGeom>
          <a:noFill/>
        </p:spPr>
        <p:txBody>
          <a:bodyPr wrap="none" lIns="0" tIns="0" rIns="0" bIns="0" anchor="ctr">
            <a:spAutoFit/>
          </a:bodyPr>
          <a:lstStyle/>
          <a:p>
            <a:pPr algn="l"/>
            <a:r>
              <a:rPr sz="800" b="0">
                <a:solidFill>
                  <a:srgbClr val="E7E5E4"/>
                </a:solidFill>
                <a:latin typeface="Consolas"/>
              </a:rPr>
              <a:t>    String json = mapper.writeValueAsString(r);   // object -&gt; JSON</a:t>
            </a:r>
          </a:p>
        </p:txBody>
      </p:sp>
      <p:sp>
        <p:nvSpPr>
          <p:cNvPr id="22" name="a1wd880_code21"/>
          <p:cNvSpPr txBox="1"/>
          <p:nvPr/>
        </p:nvSpPr>
        <p:spPr>
          <a:xfrm>
            <a:off x="585216" y="3145536"/>
            <a:ext cx="5184648" cy="182880"/>
          </a:xfrm>
          <a:prstGeom prst="rect">
            <a:avLst/>
          </a:prstGeom>
          <a:noFill/>
        </p:spPr>
        <p:txBody>
          <a:bodyPr wrap="none" lIns="0" tIns="0" rIns="0" bIns="0" anchor="ctr">
            <a:spAutoFit/>
          </a:bodyPr>
          <a:lstStyle/>
          <a:p>
            <a:pPr algn="l"/>
            <a:r>
              <a:rPr sz="800" b="1">
                <a:solidFill>
                  <a:srgbClr val="FDBA74"/>
                </a:solidFill>
                <a:latin typeface="Consolas"/>
              </a:rPr>
              <a:t>    var msg = new ProducerRecord&lt;&gt;("thermostat_readings", r.sensorId(), json);</a:t>
            </a:r>
          </a:p>
        </p:txBody>
      </p:sp>
      <p:sp>
        <p:nvSpPr>
          <p:cNvPr id="23" name="a1wd990_code22"/>
          <p:cNvSpPr txBox="1"/>
          <p:nvPr/>
        </p:nvSpPr>
        <p:spPr>
          <a:xfrm>
            <a:off x="585216" y="3328415"/>
            <a:ext cx="5184648" cy="182880"/>
          </a:xfrm>
          <a:prstGeom prst="rect">
            <a:avLst/>
          </a:prstGeom>
          <a:noFill/>
        </p:spPr>
        <p:txBody>
          <a:bodyPr wrap="none" lIns="0" tIns="0" rIns="0" bIns="0" anchor="ctr">
            <a:spAutoFit/>
          </a:bodyPr>
          <a:lstStyle/>
          <a:p>
            <a:pPr algn="l"/>
            <a:r>
              <a:rPr sz="800" b="0">
                <a:solidFill>
                  <a:srgbClr val="E7E5E4"/>
                </a:solidFill>
                <a:latin typeface="Consolas"/>
              </a:rPr>
              <a:t>    producer.send(msg);                     // returns straight away</a:t>
            </a:r>
          </a:p>
        </p:txBody>
      </p:sp>
      <p:sp>
        <p:nvSpPr>
          <p:cNvPr id="24" name="a1wd1100_code23"/>
          <p:cNvSpPr txBox="1"/>
          <p:nvPr/>
        </p:nvSpPr>
        <p:spPr>
          <a:xfrm>
            <a:off x="585216" y="3511296"/>
            <a:ext cx="5184648" cy="182880"/>
          </a:xfrm>
          <a:prstGeom prst="rect">
            <a:avLst/>
          </a:prstGeom>
          <a:noFill/>
        </p:spPr>
        <p:txBody>
          <a:bodyPr wrap="none" lIns="0" tIns="0" rIns="0" bIns="0" anchor="ctr">
            <a:spAutoFit/>
          </a:bodyPr>
          <a:lstStyle/>
          <a:p>
            <a:pPr algn="l"/>
            <a:r>
              <a:rPr sz="800" b="0">
                <a:solidFill>
                  <a:srgbClr val="E7E5E4"/>
                </a:solidFill>
                <a:latin typeface="Consolas"/>
              </a:rPr>
              <a:t>}</a:t>
            </a:r>
          </a:p>
        </p:txBody>
      </p:sp>
      <p:sp>
        <p:nvSpPr>
          <p:cNvPr id="25" name="a2u_card24"/>
          <p:cNvSpPr/>
          <p:nvPr/>
        </p:nvSpPr>
        <p:spPr>
          <a:xfrm>
            <a:off x="6126480" y="1280160"/>
            <a:ext cx="2560320"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acc25"/>
          <p:cNvSpPr/>
          <p:nvPr/>
        </p:nvSpPr>
        <p:spPr>
          <a:xfrm>
            <a:off x="6126480" y="1280160"/>
            <a:ext cx="50292" cy="8686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_hh26"/>
          <p:cNvSpPr txBox="1"/>
          <p:nvPr/>
        </p:nvSpPr>
        <p:spPr>
          <a:xfrm>
            <a:off x="6327648" y="1389888"/>
            <a:ext cx="2194560" cy="237744"/>
          </a:xfrm>
          <a:prstGeom prst="rect">
            <a:avLst/>
          </a:prstGeom>
          <a:noFill/>
        </p:spPr>
        <p:txBody>
          <a:bodyPr wrap="square" lIns="0" tIns="0" rIns="0" bIns="0" anchor="ctr">
            <a:spAutoFit/>
          </a:bodyPr>
          <a:lstStyle/>
          <a:p>
            <a:pPr algn="l"/>
            <a:r>
              <a:rPr sz="900" b="1">
                <a:solidFill>
                  <a:srgbClr val="EA580C"/>
                </a:solidFill>
                <a:latin typeface="Segoe UI"/>
              </a:rPr>
              <a:t>KAFKAPRODUCER</a:t>
            </a:r>
          </a:p>
        </p:txBody>
      </p:sp>
      <p:sp>
        <p:nvSpPr>
          <p:cNvPr id="28" name="a2ud80_c127"/>
          <p:cNvSpPr txBox="1"/>
          <p:nvPr/>
        </p:nvSpPr>
        <p:spPr>
          <a:xfrm>
            <a:off x="6327648" y="1591056"/>
            <a:ext cx="2240280" cy="512064"/>
          </a:xfrm>
          <a:prstGeom prst="rect">
            <a:avLst/>
          </a:prstGeom>
          <a:noFill/>
        </p:spPr>
        <p:txBody>
          <a:bodyPr wrap="square" lIns="0" tIns="0" rIns="0" bIns="0" anchor="t">
            <a:spAutoFit/>
          </a:bodyPr>
          <a:lstStyle/>
          <a:p>
            <a:pPr algn="l"/>
            <a:r>
              <a:rPr sz="900" b="0">
                <a:solidFill>
                  <a:srgbClr val="44403C"/>
                </a:solidFill>
                <a:latin typeface="Segoe UI"/>
              </a:rPr>
              <a:t>connects to the cluster - create it once, reuse it</a:t>
            </a:r>
          </a:p>
        </p:txBody>
      </p:sp>
      <p:sp>
        <p:nvSpPr>
          <p:cNvPr id="29" name="a3u_card28"/>
          <p:cNvSpPr/>
          <p:nvPr/>
        </p:nvSpPr>
        <p:spPr>
          <a:xfrm>
            <a:off x="6126480" y="2267712"/>
            <a:ext cx="2560320"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_acc29"/>
          <p:cNvSpPr/>
          <p:nvPr/>
        </p:nvSpPr>
        <p:spPr>
          <a:xfrm>
            <a:off x="6126480" y="2267712"/>
            <a:ext cx="50292" cy="86868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_hh30"/>
          <p:cNvSpPr txBox="1"/>
          <p:nvPr/>
        </p:nvSpPr>
        <p:spPr>
          <a:xfrm>
            <a:off x="6327648" y="2377440"/>
            <a:ext cx="2194560" cy="237744"/>
          </a:xfrm>
          <a:prstGeom prst="rect">
            <a:avLst/>
          </a:prstGeom>
          <a:noFill/>
        </p:spPr>
        <p:txBody>
          <a:bodyPr wrap="square" lIns="0" tIns="0" rIns="0" bIns="0" anchor="ctr">
            <a:spAutoFit/>
          </a:bodyPr>
          <a:lstStyle/>
          <a:p>
            <a:pPr algn="l"/>
            <a:r>
              <a:rPr sz="900" b="1">
                <a:solidFill>
                  <a:srgbClr val="A16207"/>
                </a:solidFill>
                <a:latin typeface="Segoe UI"/>
              </a:rPr>
              <a:t>PRODUCERRECORD</a:t>
            </a:r>
          </a:p>
        </p:txBody>
      </p:sp>
      <p:sp>
        <p:nvSpPr>
          <p:cNvPr id="32" name="a3ud80_c231"/>
          <p:cNvSpPr txBox="1"/>
          <p:nvPr/>
        </p:nvSpPr>
        <p:spPr>
          <a:xfrm>
            <a:off x="6327648" y="2578608"/>
            <a:ext cx="2240280" cy="512064"/>
          </a:xfrm>
          <a:prstGeom prst="rect">
            <a:avLst/>
          </a:prstGeom>
          <a:noFill/>
        </p:spPr>
        <p:txBody>
          <a:bodyPr wrap="square" lIns="0" tIns="0" rIns="0" bIns="0" anchor="t">
            <a:spAutoFit/>
          </a:bodyPr>
          <a:lstStyle/>
          <a:p>
            <a:pPr algn="l"/>
            <a:r>
              <a:rPr sz="900" b="0">
                <a:solidFill>
                  <a:srgbClr val="44403C"/>
                </a:solidFill>
                <a:latin typeface="Segoe UI"/>
              </a:rPr>
              <a:t>one message: the topic, a key and a value</a:t>
            </a:r>
          </a:p>
        </p:txBody>
      </p:sp>
      <p:sp>
        <p:nvSpPr>
          <p:cNvPr id="33" name="a4u_card32"/>
          <p:cNvSpPr/>
          <p:nvPr/>
        </p:nvSpPr>
        <p:spPr>
          <a:xfrm>
            <a:off x="6126480" y="3255264"/>
            <a:ext cx="2560320"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4u_acc33"/>
          <p:cNvSpPr/>
          <p:nvPr/>
        </p:nvSpPr>
        <p:spPr>
          <a:xfrm>
            <a:off x="6126480" y="3255264"/>
            <a:ext cx="50292" cy="86868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4u_hh34"/>
          <p:cNvSpPr txBox="1"/>
          <p:nvPr/>
        </p:nvSpPr>
        <p:spPr>
          <a:xfrm>
            <a:off x="6327648" y="3364992"/>
            <a:ext cx="2194560" cy="237744"/>
          </a:xfrm>
          <a:prstGeom prst="rect">
            <a:avLst/>
          </a:prstGeom>
          <a:noFill/>
        </p:spPr>
        <p:txBody>
          <a:bodyPr wrap="square" lIns="0" tIns="0" rIns="0" bIns="0" anchor="ctr">
            <a:spAutoFit/>
          </a:bodyPr>
          <a:lstStyle/>
          <a:p>
            <a:pPr algn="l"/>
            <a:r>
              <a:rPr sz="900" b="1">
                <a:solidFill>
                  <a:srgbClr val="4F46E5"/>
                </a:solidFill>
                <a:latin typeface="Segoe UI"/>
              </a:rPr>
              <a:t>SEND()</a:t>
            </a:r>
          </a:p>
        </p:txBody>
      </p:sp>
      <p:sp>
        <p:nvSpPr>
          <p:cNvPr id="36" name="a4ud80_c335"/>
          <p:cNvSpPr txBox="1"/>
          <p:nvPr/>
        </p:nvSpPr>
        <p:spPr>
          <a:xfrm>
            <a:off x="6327648" y="3566160"/>
            <a:ext cx="2240280" cy="512064"/>
          </a:xfrm>
          <a:prstGeom prst="rect">
            <a:avLst/>
          </a:prstGeom>
          <a:noFill/>
        </p:spPr>
        <p:txBody>
          <a:bodyPr wrap="square" lIns="0" tIns="0" rIns="0" bIns="0" anchor="t">
            <a:spAutoFit/>
          </a:bodyPr>
          <a:lstStyle/>
          <a:p>
            <a:pPr algn="l"/>
            <a:r>
              <a:rPr sz="900" b="0">
                <a:solidFill>
                  <a:srgbClr val="44403C"/>
                </a:solidFill>
                <a:latin typeface="Segoe UI"/>
              </a:rPr>
              <a:t>asynchronous - the library delivers in the background</a:t>
            </a:r>
          </a:p>
        </p:txBody>
      </p:sp>
      <p:sp>
        <p:nvSpPr>
          <p:cNvPr id="37" name="ft3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06</a:t>
            </a:r>
          </a:p>
        </p:txBody>
      </p:sp>
      <p:sp>
        <p:nvSpPr>
          <p:cNvPr id="38" name="ft3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ft3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Producers</a:t>
            </a:r>
          </a:p>
        </p:txBody>
      </p:sp>
      <p:sp>
        <p:nvSpPr>
          <p:cNvPr id="40" name="ft3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11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22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33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44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55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66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77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88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99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par>
                                <p:cTn id="46" presetID="22" presetClass="entr" presetSubtype="8" fill="hold" grpId="0" nodeType="withEffect">
                                  <p:stCondLst>
                                    <p:cond delay="110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 calcmode="lin" valueType="num">
                                      <p:cBhvr additive="base">
                                        <p:cTn id="50" dur="500" fill="hold"/>
                                        <p:tgtEl>
                                          <p:spTgt spid="25"/>
                                        </p:tgtEl>
                                        <p:attrNameLst>
                                          <p:attrName>ppt_x</p:attrName>
                                        </p:attrNameLst>
                                      </p:cBhvr>
                                      <p:tavLst>
                                        <p:tav tm="0">
                                          <p:val>
                                            <p:strVal val="#ppt_x"/>
                                          </p:val>
                                        </p:tav>
                                        <p:tav tm="100000">
                                          <p:val>
                                            <p:strVal val="#ppt_x"/>
                                          </p:val>
                                        </p:tav>
                                      </p:tavLst>
                                    </p:anim>
                                    <p:anim calcmode="lin" valueType="num">
                                      <p:cBhvr additive="base">
                                        <p:cTn id="51" dur="500" fill="hold"/>
                                        <p:tgtEl>
                                          <p:spTgt spid="25"/>
                                        </p:tgtEl>
                                        <p:attrNameLst>
                                          <p:attrName>ppt_y</p:attrName>
                                        </p:attrNameLst>
                                      </p:cBhvr>
                                      <p:tavLst>
                                        <p:tav tm="0">
                                          <p:val>
                                            <p:strVal val="#ppt_y+0.1"/>
                                          </p:val>
                                        </p:tav>
                                        <p:tav tm="100000">
                                          <p:val>
                                            <p:strVal val="#ppt_y"/>
                                          </p:val>
                                        </p:tav>
                                      </p:tavLst>
                                    </p:anim>
                                    <p:animEffect transition="in" filter="fade">
                                      <p:cBhvr>
                                        <p:cTn id="52" dur="500"/>
                                        <p:tgtEl>
                                          <p:spTgt spid="25"/>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ppt_y+0.1"/>
                                          </p:val>
                                        </p:tav>
                                        <p:tav tm="100000">
                                          <p:val>
                                            <p:strVal val="#ppt_y"/>
                                          </p:val>
                                        </p:tav>
                                      </p:tavLst>
                                    </p:anim>
                                    <p:animEffect transition="in" filter="fade">
                                      <p:cBhvr>
                                        <p:cTn id="57" dur="500"/>
                                        <p:tgtEl>
                                          <p:spTgt spid="26"/>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additive="base">
                                        <p:cTn id="60" dur="500" fill="hold"/>
                                        <p:tgtEl>
                                          <p:spTgt spid="27"/>
                                        </p:tgtEl>
                                        <p:attrNameLst>
                                          <p:attrName>ppt_x</p:attrName>
                                        </p:attrNameLst>
                                      </p:cBhvr>
                                      <p:tavLst>
                                        <p:tav tm="0">
                                          <p:val>
                                            <p:strVal val="#ppt_x"/>
                                          </p:val>
                                        </p:tav>
                                        <p:tav tm="100000">
                                          <p:val>
                                            <p:strVal val="#ppt_x"/>
                                          </p:val>
                                        </p:tav>
                                      </p:tavLst>
                                    </p:anim>
                                    <p:anim calcmode="lin" valueType="num">
                                      <p:cBhvr additive="base">
                                        <p:cTn id="61" dur="500" fill="hold"/>
                                        <p:tgtEl>
                                          <p:spTgt spid="27"/>
                                        </p:tgtEl>
                                        <p:attrNameLst>
                                          <p:attrName>ppt_y</p:attrName>
                                        </p:attrNameLst>
                                      </p:cBhvr>
                                      <p:tavLst>
                                        <p:tav tm="0">
                                          <p:val>
                                            <p:strVal val="#ppt_y+0.1"/>
                                          </p:val>
                                        </p:tav>
                                        <p:tav tm="100000">
                                          <p:val>
                                            <p:strVal val="#ppt_y"/>
                                          </p:val>
                                        </p:tav>
                                      </p:tavLst>
                                    </p:anim>
                                    <p:animEffect transition="in" filter="fade">
                                      <p:cBhvr>
                                        <p:cTn id="62" dur="500"/>
                                        <p:tgtEl>
                                          <p:spTgt spid="27"/>
                                        </p:tgtEl>
                                      </p:cBhvr>
                                    </p:animEffect>
                                  </p:childTnLst>
                                </p:cTn>
                              </p:par>
                              <p:par>
                                <p:cTn id="68" presetID="2" presetClass="entr" presetSubtype="4" fill="hold" grpId="0" nodeType="withEffect">
                                  <p:stCondLst>
                                    <p:cond delay="80"/>
                                  </p:stCondLst>
                                  <p:childTnLst>
                                    <p:set>
                                      <p:cBhvr>
                                        <p:cTn id="64" dur="1" fill="hold">
                                          <p:stCondLst>
                                            <p:cond delay="0"/>
                                          </p:stCondLst>
                                        </p:cTn>
                                        <p:tgtEl>
                                          <p:spTgt spid="28"/>
                                        </p:tgtEl>
                                        <p:attrNameLst>
                                          <p:attrName>style.visibility</p:attrName>
                                        </p:attrNameLst>
                                      </p:cBhvr>
                                      <p:to>
                                        <p:strVal val="visible"/>
                                      </p:to>
                                    </p:set>
                                    <p:anim calcmode="lin" valueType="num">
                                      <p:cBhvr additive="base">
                                        <p:cTn id="65" dur="500" fill="hold"/>
                                        <p:tgtEl>
                                          <p:spTgt spid="28"/>
                                        </p:tgtEl>
                                        <p:attrNameLst>
                                          <p:attrName>ppt_x</p:attrName>
                                        </p:attrNameLst>
                                      </p:cBhvr>
                                      <p:tavLst>
                                        <p:tav tm="0">
                                          <p:val>
                                            <p:strVal val="#ppt_x"/>
                                          </p:val>
                                        </p:tav>
                                        <p:tav tm="100000">
                                          <p:val>
                                            <p:strVal val="#ppt_x"/>
                                          </p:val>
                                        </p:tav>
                                      </p:tavLst>
                                    </p:anim>
                                    <p:anim calcmode="lin" valueType="num">
                                      <p:cBhvr additive="base">
                                        <p:cTn id="66" dur="500" fill="hold"/>
                                        <p:tgtEl>
                                          <p:spTgt spid="28"/>
                                        </p:tgtEl>
                                        <p:attrNameLst>
                                          <p:attrName>ppt_y</p:attrName>
                                        </p:attrNameLst>
                                      </p:cBhvr>
                                      <p:tavLst>
                                        <p:tav tm="0">
                                          <p:val>
                                            <p:strVal val="#ppt_y+0.1"/>
                                          </p:val>
                                        </p:tav>
                                        <p:tav tm="100000">
                                          <p:val>
                                            <p:strVal val="#ppt_y"/>
                                          </p:val>
                                        </p:tav>
                                      </p:tavLst>
                                    </p:anim>
                                    <p:animEffect transition="in" filter="fade">
                                      <p:cBhvr>
                                        <p:cTn id="67" dur="500"/>
                                        <p:tgtEl>
                                          <p:spTgt spid="28"/>
                                        </p:tgtEl>
                                      </p:cBhvr>
                                    </p:animEffect>
                                  </p:childTnLst>
                                </p:cTn>
                              </p:par>
                            </p:childTnLst>
                          </p:cTn>
                        </p:par>
                      </p:childTnLst>
                    </p:cTn>
                  </p:par>
                  <p:par>
                    <p:cTn id="69" fill="hold">
                      <p:stCondLst>
                        <p:cond delay="indefinite"/>
                      </p:stCondLst>
                      <p:childTnLst>
                        <p:par>
                          <p:cTn id="70" fill="hold">
                            <p:stCondLst>
                              <p:cond delay="0"/>
                            </p:stCondLst>
                            <p:childTnLst>
                              <p:par>
                                <p:cTn id="75" presetID="2" presetClass="entr" presetSubtype="4"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additive="base">
                                        <p:cTn id="72" dur="500" fill="hold"/>
                                        <p:tgtEl>
                                          <p:spTgt spid="29"/>
                                        </p:tgtEl>
                                        <p:attrNameLst>
                                          <p:attrName>ppt_x</p:attrName>
                                        </p:attrNameLst>
                                      </p:cBhvr>
                                      <p:tavLst>
                                        <p:tav tm="0">
                                          <p:val>
                                            <p:strVal val="#ppt_x"/>
                                          </p:val>
                                        </p:tav>
                                        <p:tav tm="100000">
                                          <p:val>
                                            <p:strVal val="#ppt_x"/>
                                          </p:val>
                                        </p:tav>
                                      </p:tavLst>
                                    </p:anim>
                                    <p:anim calcmode="lin" valueType="num">
                                      <p:cBhvr additive="base">
                                        <p:cTn id="73" dur="500" fill="hold"/>
                                        <p:tgtEl>
                                          <p:spTgt spid="29"/>
                                        </p:tgtEl>
                                        <p:attrNameLst>
                                          <p:attrName>ppt_y</p:attrName>
                                        </p:attrNameLst>
                                      </p:cBhvr>
                                      <p:tavLst>
                                        <p:tav tm="0">
                                          <p:val>
                                            <p:strVal val="#ppt_y+0.1"/>
                                          </p:val>
                                        </p:tav>
                                        <p:tav tm="100000">
                                          <p:val>
                                            <p:strVal val="#ppt_y"/>
                                          </p:val>
                                        </p:tav>
                                      </p:tavLst>
                                    </p:anim>
                                    <p:animEffect transition="in" filter="fade">
                                      <p:cBhvr>
                                        <p:cTn id="74" dur="500"/>
                                        <p:tgtEl>
                                          <p:spTgt spid="29"/>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anim calcmode="lin" valueType="num">
                                      <p:cBhvr additive="base">
                                        <p:cTn id="77" dur="500" fill="hold"/>
                                        <p:tgtEl>
                                          <p:spTgt spid="30"/>
                                        </p:tgtEl>
                                        <p:attrNameLst>
                                          <p:attrName>ppt_x</p:attrName>
                                        </p:attrNameLst>
                                      </p:cBhvr>
                                      <p:tavLst>
                                        <p:tav tm="0">
                                          <p:val>
                                            <p:strVal val="#ppt_x"/>
                                          </p:val>
                                        </p:tav>
                                        <p:tav tm="100000">
                                          <p:val>
                                            <p:strVal val="#ppt_x"/>
                                          </p:val>
                                        </p:tav>
                                      </p:tavLst>
                                    </p:anim>
                                    <p:anim calcmode="lin" valueType="num">
                                      <p:cBhvr additive="base">
                                        <p:cTn id="78" dur="500" fill="hold"/>
                                        <p:tgtEl>
                                          <p:spTgt spid="30"/>
                                        </p:tgtEl>
                                        <p:attrNameLst>
                                          <p:attrName>ppt_y</p:attrName>
                                        </p:attrNameLst>
                                      </p:cBhvr>
                                      <p:tavLst>
                                        <p:tav tm="0">
                                          <p:val>
                                            <p:strVal val="#ppt_y+0.1"/>
                                          </p:val>
                                        </p:tav>
                                        <p:tav tm="100000">
                                          <p:val>
                                            <p:strVal val="#ppt_y"/>
                                          </p:val>
                                        </p:tav>
                                      </p:tavLst>
                                    </p:anim>
                                    <p:animEffect transition="in" filter="fade">
                                      <p:cBhvr>
                                        <p:cTn id="79" dur="500"/>
                                        <p:tgtEl>
                                          <p:spTgt spid="30"/>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 calcmode="lin" valueType="num">
                                      <p:cBhvr additive="base">
                                        <p:cTn id="82" dur="500" fill="hold"/>
                                        <p:tgtEl>
                                          <p:spTgt spid="31"/>
                                        </p:tgtEl>
                                        <p:attrNameLst>
                                          <p:attrName>ppt_x</p:attrName>
                                        </p:attrNameLst>
                                      </p:cBhvr>
                                      <p:tavLst>
                                        <p:tav tm="0">
                                          <p:val>
                                            <p:strVal val="#ppt_x"/>
                                          </p:val>
                                        </p:tav>
                                        <p:tav tm="100000">
                                          <p:val>
                                            <p:strVal val="#ppt_x"/>
                                          </p:val>
                                        </p:tav>
                                      </p:tavLst>
                                    </p:anim>
                                    <p:anim calcmode="lin" valueType="num">
                                      <p:cBhvr additive="base">
                                        <p:cTn id="83" dur="500" fill="hold"/>
                                        <p:tgtEl>
                                          <p:spTgt spid="31"/>
                                        </p:tgtEl>
                                        <p:attrNameLst>
                                          <p:attrName>ppt_y</p:attrName>
                                        </p:attrNameLst>
                                      </p:cBhvr>
                                      <p:tavLst>
                                        <p:tav tm="0">
                                          <p:val>
                                            <p:strVal val="#ppt_y+0.1"/>
                                          </p:val>
                                        </p:tav>
                                        <p:tav tm="100000">
                                          <p:val>
                                            <p:strVal val="#ppt_y"/>
                                          </p:val>
                                        </p:tav>
                                      </p:tavLst>
                                    </p:anim>
                                    <p:animEffect transition="in" filter="fade">
                                      <p:cBhvr>
                                        <p:cTn id="84" dur="500"/>
                                        <p:tgtEl>
                                          <p:spTgt spid="31"/>
                                        </p:tgtEl>
                                      </p:cBhvr>
                                    </p:animEffect>
                                  </p:childTnLst>
                                </p:cTn>
                              </p:par>
                              <p:par>
                                <p:cTn id="90" presetID="2" presetClass="entr" presetSubtype="4" fill="hold" grpId="0" nodeType="withEffect">
                                  <p:stCondLst>
                                    <p:cond delay="80"/>
                                  </p:stCondLst>
                                  <p:childTnLst>
                                    <p:set>
                                      <p:cBhvr>
                                        <p:cTn id="86" dur="1" fill="hold">
                                          <p:stCondLst>
                                            <p:cond delay="0"/>
                                          </p:stCondLst>
                                        </p:cTn>
                                        <p:tgtEl>
                                          <p:spTgt spid="32"/>
                                        </p:tgtEl>
                                        <p:attrNameLst>
                                          <p:attrName>style.visibility</p:attrName>
                                        </p:attrNameLst>
                                      </p:cBhvr>
                                      <p:to>
                                        <p:strVal val="visible"/>
                                      </p:to>
                                    </p:set>
                                    <p:anim calcmode="lin" valueType="num">
                                      <p:cBhvr additive="base">
                                        <p:cTn id="87" dur="500" fill="hold"/>
                                        <p:tgtEl>
                                          <p:spTgt spid="32"/>
                                        </p:tgtEl>
                                        <p:attrNameLst>
                                          <p:attrName>ppt_x</p:attrName>
                                        </p:attrNameLst>
                                      </p:cBhvr>
                                      <p:tavLst>
                                        <p:tav tm="0">
                                          <p:val>
                                            <p:strVal val="#ppt_x"/>
                                          </p:val>
                                        </p:tav>
                                        <p:tav tm="100000">
                                          <p:val>
                                            <p:strVal val="#ppt_x"/>
                                          </p:val>
                                        </p:tav>
                                      </p:tavLst>
                                    </p:anim>
                                    <p:anim calcmode="lin" valueType="num">
                                      <p:cBhvr additive="base">
                                        <p:cTn id="88" dur="500" fill="hold"/>
                                        <p:tgtEl>
                                          <p:spTgt spid="32"/>
                                        </p:tgtEl>
                                        <p:attrNameLst>
                                          <p:attrName>ppt_y</p:attrName>
                                        </p:attrNameLst>
                                      </p:cBhvr>
                                      <p:tavLst>
                                        <p:tav tm="0">
                                          <p:val>
                                            <p:strVal val="#ppt_y+0.1"/>
                                          </p:val>
                                        </p:tav>
                                        <p:tav tm="100000">
                                          <p:val>
                                            <p:strVal val="#ppt_y"/>
                                          </p:val>
                                        </p:tav>
                                      </p:tavLst>
                                    </p:anim>
                                    <p:animEffect transition="in" filter="fade">
                                      <p:cBhvr>
                                        <p:cTn id="89" dur="500"/>
                                        <p:tgtEl>
                                          <p:spTgt spid="32"/>
                                        </p:tgtEl>
                                      </p:cBhvr>
                                    </p:animEffect>
                                  </p:childTnLst>
                                </p:cTn>
                              </p:par>
                            </p:childTnLst>
                          </p:cTn>
                        </p:par>
                      </p:childTnLst>
                    </p:cTn>
                  </p:par>
                  <p:par>
                    <p:cTn id="91" fill="hold">
                      <p:stCondLst>
                        <p:cond delay="indefinite"/>
                      </p:stCondLst>
                      <p:childTnLst>
                        <p:par>
                          <p:cTn id="92" fill="hold">
                            <p:stCondLst>
                              <p:cond delay="0"/>
                            </p:stCondLst>
                            <p:childTnLst>
                              <p:par>
                                <p:cTn id="97" presetID="2" presetClass="entr" presetSubtype="4" fill="hold" grpId="0" nodeType="clickEffect">
                                  <p:stCondLst>
                                    <p:cond delay="0"/>
                                  </p:stCondLst>
                                  <p:childTnLst>
                                    <p:set>
                                      <p:cBhvr>
                                        <p:cTn id="93" dur="1" fill="hold">
                                          <p:stCondLst>
                                            <p:cond delay="0"/>
                                          </p:stCondLst>
                                        </p:cTn>
                                        <p:tgtEl>
                                          <p:spTgt spid="33"/>
                                        </p:tgtEl>
                                        <p:attrNameLst>
                                          <p:attrName>style.visibility</p:attrName>
                                        </p:attrNameLst>
                                      </p:cBhvr>
                                      <p:to>
                                        <p:strVal val="visible"/>
                                      </p:to>
                                    </p:set>
                                    <p:anim calcmode="lin" valueType="num">
                                      <p:cBhvr additive="base">
                                        <p:cTn id="94" dur="500" fill="hold"/>
                                        <p:tgtEl>
                                          <p:spTgt spid="33"/>
                                        </p:tgtEl>
                                        <p:attrNameLst>
                                          <p:attrName>ppt_x</p:attrName>
                                        </p:attrNameLst>
                                      </p:cBhvr>
                                      <p:tavLst>
                                        <p:tav tm="0">
                                          <p:val>
                                            <p:strVal val="#ppt_x"/>
                                          </p:val>
                                        </p:tav>
                                        <p:tav tm="100000">
                                          <p:val>
                                            <p:strVal val="#ppt_x"/>
                                          </p:val>
                                        </p:tav>
                                      </p:tavLst>
                                    </p:anim>
                                    <p:anim calcmode="lin" valueType="num">
                                      <p:cBhvr additive="base">
                                        <p:cTn id="95" dur="500" fill="hold"/>
                                        <p:tgtEl>
                                          <p:spTgt spid="33"/>
                                        </p:tgtEl>
                                        <p:attrNameLst>
                                          <p:attrName>ppt_y</p:attrName>
                                        </p:attrNameLst>
                                      </p:cBhvr>
                                      <p:tavLst>
                                        <p:tav tm="0">
                                          <p:val>
                                            <p:strVal val="#ppt_y+0.1"/>
                                          </p:val>
                                        </p:tav>
                                        <p:tav tm="100000">
                                          <p:val>
                                            <p:strVal val="#ppt_y"/>
                                          </p:val>
                                        </p:tav>
                                      </p:tavLst>
                                    </p:anim>
                                    <p:animEffect transition="in" filter="fade">
                                      <p:cBhvr>
                                        <p:cTn id="96" dur="500"/>
                                        <p:tgtEl>
                                          <p:spTgt spid="33"/>
                                        </p:tgtEl>
                                      </p:cBhvr>
                                    </p:animEffect>
                                  </p:childTnLst>
                                </p:cTn>
                              </p:par>
                              <p:par>
                                <p:cTn id="102" presetID="2" presetClass="entr" presetSubtype="4"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 calcmode="lin" valueType="num">
                                      <p:cBhvr additive="base">
                                        <p:cTn id="99" dur="500" fill="hold"/>
                                        <p:tgtEl>
                                          <p:spTgt spid="34"/>
                                        </p:tgtEl>
                                        <p:attrNameLst>
                                          <p:attrName>ppt_x</p:attrName>
                                        </p:attrNameLst>
                                      </p:cBhvr>
                                      <p:tavLst>
                                        <p:tav tm="0">
                                          <p:val>
                                            <p:strVal val="#ppt_x"/>
                                          </p:val>
                                        </p:tav>
                                        <p:tav tm="100000">
                                          <p:val>
                                            <p:strVal val="#ppt_x"/>
                                          </p:val>
                                        </p:tav>
                                      </p:tavLst>
                                    </p:anim>
                                    <p:anim calcmode="lin" valueType="num">
                                      <p:cBhvr additive="base">
                                        <p:cTn id="100" dur="500" fill="hold"/>
                                        <p:tgtEl>
                                          <p:spTgt spid="34"/>
                                        </p:tgtEl>
                                        <p:attrNameLst>
                                          <p:attrName>ppt_y</p:attrName>
                                        </p:attrNameLst>
                                      </p:cBhvr>
                                      <p:tavLst>
                                        <p:tav tm="0">
                                          <p:val>
                                            <p:strVal val="#ppt_y+0.1"/>
                                          </p:val>
                                        </p:tav>
                                        <p:tav tm="100000">
                                          <p:val>
                                            <p:strVal val="#ppt_y"/>
                                          </p:val>
                                        </p:tav>
                                      </p:tavLst>
                                    </p:anim>
                                    <p:animEffect transition="in" filter="fade">
                                      <p:cBhvr>
                                        <p:cTn id="101" dur="500"/>
                                        <p:tgtEl>
                                          <p:spTgt spid="34"/>
                                        </p:tgtEl>
                                      </p:cBhvr>
                                    </p:animEffect>
                                  </p:childTnLst>
                                </p:cTn>
                              </p:par>
                              <p:par>
                                <p:cTn id="107" presetID="2" presetClass="entr" presetSubtype="4" fill="hold" grpId="0" nodeType="withEffect">
                                  <p:stCondLst>
                                    <p:cond delay="0"/>
                                  </p:stCondLst>
                                  <p:childTnLst>
                                    <p:set>
                                      <p:cBhvr>
                                        <p:cTn id="103" dur="1" fill="hold">
                                          <p:stCondLst>
                                            <p:cond delay="0"/>
                                          </p:stCondLst>
                                        </p:cTn>
                                        <p:tgtEl>
                                          <p:spTgt spid="35"/>
                                        </p:tgtEl>
                                        <p:attrNameLst>
                                          <p:attrName>style.visibility</p:attrName>
                                        </p:attrNameLst>
                                      </p:cBhvr>
                                      <p:to>
                                        <p:strVal val="visible"/>
                                      </p:to>
                                    </p:set>
                                    <p:anim calcmode="lin" valueType="num">
                                      <p:cBhvr additive="base">
                                        <p:cTn id="104" dur="500" fill="hold"/>
                                        <p:tgtEl>
                                          <p:spTgt spid="35"/>
                                        </p:tgtEl>
                                        <p:attrNameLst>
                                          <p:attrName>ppt_x</p:attrName>
                                        </p:attrNameLst>
                                      </p:cBhvr>
                                      <p:tavLst>
                                        <p:tav tm="0">
                                          <p:val>
                                            <p:strVal val="#ppt_x"/>
                                          </p:val>
                                        </p:tav>
                                        <p:tav tm="100000">
                                          <p:val>
                                            <p:strVal val="#ppt_x"/>
                                          </p:val>
                                        </p:tav>
                                      </p:tavLst>
                                    </p:anim>
                                    <p:anim calcmode="lin" valueType="num">
                                      <p:cBhvr additive="base">
                                        <p:cTn id="105" dur="500" fill="hold"/>
                                        <p:tgtEl>
                                          <p:spTgt spid="35"/>
                                        </p:tgtEl>
                                        <p:attrNameLst>
                                          <p:attrName>ppt_y</p:attrName>
                                        </p:attrNameLst>
                                      </p:cBhvr>
                                      <p:tavLst>
                                        <p:tav tm="0">
                                          <p:val>
                                            <p:strVal val="#ppt_y+0.1"/>
                                          </p:val>
                                        </p:tav>
                                        <p:tav tm="100000">
                                          <p:val>
                                            <p:strVal val="#ppt_y"/>
                                          </p:val>
                                        </p:tav>
                                      </p:tavLst>
                                    </p:anim>
                                    <p:animEffect transition="in" filter="fade">
                                      <p:cBhvr>
                                        <p:cTn id="106" dur="500"/>
                                        <p:tgtEl>
                                          <p:spTgt spid="35"/>
                                        </p:tgtEl>
                                      </p:cBhvr>
                                    </p:animEffect>
                                  </p:childTnLst>
                                </p:cTn>
                              </p:par>
                              <p:par>
                                <p:cTn id="112" presetID="2" presetClass="entr" presetSubtype="4" fill="hold" grpId="0" nodeType="withEffect">
                                  <p:stCondLst>
                                    <p:cond delay="80"/>
                                  </p:stCondLst>
                                  <p:childTnLst>
                                    <p:set>
                                      <p:cBhvr>
                                        <p:cTn id="108" dur="1" fill="hold">
                                          <p:stCondLst>
                                            <p:cond delay="0"/>
                                          </p:stCondLst>
                                        </p:cTn>
                                        <p:tgtEl>
                                          <p:spTgt spid="36"/>
                                        </p:tgtEl>
                                        <p:attrNameLst>
                                          <p:attrName>style.visibility</p:attrName>
                                        </p:attrNameLst>
                                      </p:cBhvr>
                                      <p:to>
                                        <p:strVal val="visible"/>
                                      </p:to>
                                    </p:set>
                                    <p:anim calcmode="lin" valueType="num">
                                      <p:cBhvr additive="base">
                                        <p:cTn id="109" dur="500" fill="hold"/>
                                        <p:tgtEl>
                                          <p:spTgt spid="36"/>
                                        </p:tgtEl>
                                        <p:attrNameLst>
                                          <p:attrName>ppt_x</p:attrName>
                                        </p:attrNameLst>
                                      </p:cBhvr>
                                      <p:tavLst>
                                        <p:tav tm="0">
                                          <p:val>
                                            <p:strVal val="#ppt_x"/>
                                          </p:val>
                                        </p:tav>
                                        <p:tav tm="100000">
                                          <p:val>
                                            <p:strVal val="#ppt_x"/>
                                          </p:val>
                                        </p:tav>
                                      </p:tavLst>
                                    </p:anim>
                                    <p:anim calcmode="lin" valueType="num">
                                      <p:cBhvr additive="base">
                                        <p:cTn id="110" dur="500" fill="hold"/>
                                        <p:tgtEl>
                                          <p:spTgt spid="36"/>
                                        </p:tgtEl>
                                        <p:attrNameLst>
                                          <p:attrName>ppt_y</p:attrName>
                                        </p:attrNameLst>
                                      </p:cBhvr>
                                      <p:tavLst>
                                        <p:tav tm="0">
                                          <p:val>
                                            <p:strVal val="#ppt_y+0.1"/>
                                          </p:val>
                                        </p:tav>
                                        <p:tav tm="100000">
                                          <p:val>
                                            <p:strVal val="#ppt_y"/>
                                          </p:val>
                                        </p:tav>
                                      </p:tavLst>
                                    </p:anim>
                                    <p:animEffect transition="in" filter="fade">
                                      <p:cBhvr>
                                        <p:cTn id="11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Goes into a ProducerRecord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topic, key and value - with more control there when you want it</a:t>
            </a:r>
          </a:p>
        </p:txBody>
      </p:sp>
      <p:sp>
        <p:nvSpPr>
          <p:cNvPr id="11" name="a1f_th10"/>
          <p:cNvSpPr/>
          <p:nvPr/>
        </p:nvSpPr>
        <p:spPr>
          <a:xfrm>
            <a:off x="457200" y="1280160"/>
            <a:ext cx="1143000" cy="3291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tht11"/>
          <p:cNvSpPr txBox="1"/>
          <p:nvPr/>
        </p:nvSpPr>
        <p:spPr>
          <a:xfrm>
            <a:off x="530352" y="1280160"/>
            <a:ext cx="1033271" cy="329184"/>
          </a:xfrm>
          <a:prstGeom prst="rect">
            <a:avLst/>
          </a:prstGeom>
          <a:noFill/>
        </p:spPr>
        <p:txBody>
          <a:bodyPr wrap="square" lIns="0" tIns="0" rIns="0" bIns="0" anchor="ctr">
            <a:spAutoFit/>
          </a:bodyPr>
          <a:lstStyle/>
          <a:p>
            <a:pPr algn="l"/>
            <a:r>
              <a:rPr sz="1000" b="1">
                <a:solidFill>
                  <a:srgbClr val="FFFFFF"/>
                </a:solidFill>
                <a:latin typeface="Consolas"/>
              </a:rPr>
              <a:t>field</a:t>
            </a:r>
          </a:p>
        </p:txBody>
      </p:sp>
      <p:sp>
        <p:nvSpPr>
          <p:cNvPr id="13" name="a1wd120_td12"/>
          <p:cNvSpPr/>
          <p:nvPr/>
        </p:nvSpPr>
        <p:spPr>
          <a:xfrm>
            <a:off x="457200" y="1609343"/>
            <a:ext cx="1143000" cy="329184"/>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d120_tdt13"/>
          <p:cNvSpPr txBox="1"/>
          <p:nvPr/>
        </p:nvSpPr>
        <p:spPr>
          <a:xfrm>
            <a:off x="530352" y="1609343"/>
            <a:ext cx="1033271" cy="329184"/>
          </a:xfrm>
          <a:prstGeom prst="rect">
            <a:avLst/>
          </a:prstGeom>
          <a:noFill/>
        </p:spPr>
        <p:txBody>
          <a:bodyPr wrap="square" lIns="0" tIns="0" rIns="0" bIns="0" anchor="ctr">
            <a:spAutoFit/>
          </a:bodyPr>
          <a:lstStyle/>
          <a:p>
            <a:pPr algn="l"/>
            <a:r>
              <a:rPr sz="1000" b="0">
                <a:solidFill>
                  <a:srgbClr val="44403C"/>
                </a:solidFill>
                <a:latin typeface="Consolas"/>
              </a:rPr>
              <a:t>topic</a:t>
            </a:r>
          </a:p>
        </p:txBody>
      </p:sp>
      <p:sp>
        <p:nvSpPr>
          <p:cNvPr id="15" name="a1wd240_td14"/>
          <p:cNvSpPr/>
          <p:nvPr/>
        </p:nvSpPr>
        <p:spPr>
          <a:xfrm>
            <a:off x="457200" y="1938528"/>
            <a:ext cx="1143000" cy="329184"/>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wd240_tdt15"/>
          <p:cNvSpPr txBox="1"/>
          <p:nvPr/>
        </p:nvSpPr>
        <p:spPr>
          <a:xfrm>
            <a:off x="530352" y="1938528"/>
            <a:ext cx="1033271" cy="329184"/>
          </a:xfrm>
          <a:prstGeom prst="rect">
            <a:avLst/>
          </a:prstGeom>
          <a:noFill/>
        </p:spPr>
        <p:txBody>
          <a:bodyPr wrap="square" lIns="0" tIns="0" rIns="0" bIns="0" anchor="ctr">
            <a:spAutoFit/>
          </a:bodyPr>
          <a:lstStyle/>
          <a:p>
            <a:pPr algn="l"/>
            <a:r>
              <a:rPr sz="1000" b="0">
                <a:solidFill>
                  <a:srgbClr val="44403C"/>
                </a:solidFill>
                <a:latin typeface="Consolas"/>
              </a:rPr>
              <a:t>key</a:t>
            </a:r>
          </a:p>
        </p:txBody>
      </p:sp>
      <p:sp>
        <p:nvSpPr>
          <p:cNvPr id="17" name="a1wd360_td16"/>
          <p:cNvSpPr/>
          <p:nvPr/>
        </p:nvSpPr>
        <p:spPr>
          <a:xfrm>
            <a:off x="457200" y="2267712"/>
            <a:ext cx="1143000" cy="329184"/>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wd360_tdt17"/>
          <p:cNvSpPr txBox="1"/>
          <p:nvPr/>
        </p:nvSpPr>
        <p:spPr>
          <a:xfrm>
            <a:off x="530352" y="2267712"/>
            <a:ext cx="1033271" cy="329184"/>
          </a:xfrm>
          <a:prstGeom prst="rect">
            <a:avLst/>
          </a:prstGeom>
          <a:noFill/>
        </p:spPr>
        <p:txBody>
          <a:bodyPr wrap="square" lIns="0" tIns="0" rIns="0" bIns="0" anchor="ctr">
            <a:spAutoFit/>
          </a:bodyPr>
          <a:lstStyle/>
          <a:p>
            <a:pPr algn="l"/>
            <a:r>
              <a:rPr sz="1000" b="0">
                <a:solidFill>
                  <a:srgbClr val="44403C"/>
                </a:solidFill>
                <a:latin typeface="Consolas"/>
              </a:rPr>
              <a:t>value</a:t>
            </a:r>
          </a:p>
        </p:txBody>
      </p:sp>
      <p:sp>
        <p:nvSpPr>
          <p:cNvPr id="19" name="a1wd480_td18"/>
          <p:cNvSpPr/>
          <p:nvPr/>
        </p:nvSpPr>
        <p:spPr>
          <a:xfrm>
            <a:off x="457200" y="2596896"/>
            <a:ext cx="114300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wd480_tdt19"/>
          <p:cNvSpPr txBox="1"/>
          <p:nvPr/>
        </p:nvSpPr>
        <p:spPr>
          <a:xfrm>
            <a:off x="530352" y="2596896"/>
            <a:ext cx="1033271" cy="329184"/>
          </a:xfrm>
          <a:prstGeom prst="rect">
            <a:avLst/>
          </a:prstGeom>
          <a:noFill/>
        </p:spPr>
        <p:txBody>
          <a:bodyPr wrap="square" lIns="0" tIns="0" rIns="0" bIns="0" anchor="ctr">
            <a:spAutoFit/>
          </a:bodyPr>
          <a:lstStyle/>
          <a:p>
            <a:pPr algn="l"/>
            <a:r>
              <a:rPr sz="1000" b="0">
                <a:solidFill>
                  <a:srgbClr val="44403C"/>
                </a:solidFill>
                <a:latin typeface="Consolas"/>
              </a:rPr>
              <a:t>partition</a:t>
            </a:r>
          </a:p>
        </p:txBody>
      </p:sp>
      <p:sp>
        <p:nvSpPr>
          <p:cNvPr id="21" name="a1wd600_td20"/>
          <p:cNvSpPr/>
          <p:nvPr/>
        </p:nvSpPr>
        <p:spPr>
          <a:xfrm>
            <a:off x="457200" y="2926079"/>
            <a:ext cx="114300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wd600_tdt21"/>
          <p:cNvSpPr txBox="1"/>
          <p:nvPr/>
        </p:nvSpPr>
        <p:spPr>
          <a:xfrm>
            <a:off x="530352" y="2926079"/>
            <a:ext cx="1033271" cy="329184"/>
          </a:xfrm>
          <a:prstGeom prst="rect">
            <a:avLst/>
          </a:prstGeom>
          <a:noFill/>
        </p:spPr>
        <p:txBody>
          <a:bodyPr wrap="square" lIns="0" tIns="0" rIns="0" bIns="0" anchor="ctr">
            <a:spAutoFit/>
          </a:bodyPr>
          <a:lstStyle/>
          <a:p>
            <a:pPr algn="l"/>
            <a:r>
              <a:rPr sz="1000" b="0">
                <a:solidFill>
                  <a:srgbClr val="44403C"/>
                </a:solidFill>
                <a:latin typeface="Consolas"/>
              </a:rPr>
              <a:t>timestamp</a:t>
            </a:r>
          </a:p>
        </p:txBody>
      </p:sp>
      <p:sp>
        <p:nvSpPr>
          <p:cNvPr id="23" name="a1wd720_td22"/>
          <p:cNvSpPr/>
          <p:nvPr/>
        </p:nvSpPr>
        <p:spPr>
          <a:xfrm>
            <a:off x="457200" y="3255264"/>
            <a:ext cx="114300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wd720_tdt23"/>
          <p:cNvSpPr txBox="1"/>
          <p:nvPr/>
        </p:nvSpPr>
        <p:spPr>
          <a:xfrm>
            <a:off x="530352" y="3255264"/>
            <a:ext cx="1033271" cy="329184"/>
          </a:xfrm>
          <a:prstGeom prst="rect">
            <a:avLst/>
          </a:prstGeom>
          <a:noFill/>
        </p:spPr>
        <p:txBody>
          <a:bodyPr wrap="square" lIns="0" tIns="0" rIns="0" bIns="0" anchor="ctr">
            <a:spAutoFit/>
          </a:bodyPr>
          <a:lstStyle/>
          <a:p>
            <a:pPr algn="l"/>
            <a:r>
              <a:rPr sz="1000" b="0">
                <a:solidFill>
                  <a:srgbClr val="44403C"/>
                </a:solidFill>
                <a:latin typeface="Consolas"/>
              </a:rPr>
              <a:t>headers</a:t>
            </a:r>
          </a:p>
        </p:txBody>
      </p:sp>
      <p:sp>
        <p:nvSpPr>
          <p:cNvPr id="25" name="a1f_th24"/>
          <p:cNvSpPr/>
          <p:nvPr/>
        </p:nvSpPr>
        <p:spPr>
          <a:xfrm>
            <a:off x="1600200" y="1280160"/>
            <a:ext cx="1005840" cy="3291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f_tht25"/>
          <p:cNvSpPr txBox="1"/>
          <p:nvPr/>
        </p:nvSpPr>
        <p:spPr>
          <a:xfrm>
            <a:off x="1673352" y="1280160"/>
            <a:ext cx="896112" cy="329184"/>
          </a:xfrm>
          <a:prstGeom prst="rect">
            <a:avLst/>
          </a:prstGeom>
          <a:noFill/>
        </p:spPr>
        <p:txBody>
          <a:bodyPr wrap="square" lIns="0" tIns="0" rIns="0" bIns="0" anchor="ctr">
            <a:spAutoFit/>
          </a:bodyPr>
          <a:lstStyle/>
          <a:p>
            <a:pPr algn="l"/>
            <a:r>
              <a:rPr sz="900" b="1">
                <a:solidFill>
                  <a:srgbClr val="FFFFFF"/>
                </a:solidFill>
                <a:latin typeface="Segoe UI"/>
              </a:rPr>
              <a:t>set it?</a:t>
            </a:r>
          </a:p>
        </p:txBody>
      </p:sp>
      <p:sp>
        <p:nvSpPr>
          <p:cNvPr id="27" name="a1wd120_td26"/>
          <p:cNvSpPr/>
          <p:nvPr/>
        </p:nvSpPr>
        <p:spPr>
          <a:xfrm>
            <a:off x="1600200" y="1609343"/>
            <a:ext cx="1005840" cy="329184"/>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wd120_tdt27"/>
          <p:cNvSpPr txBox="1"/>
          <p:nvPr/>
        </p:nvSpPr>
        <p:spPr>
          <a:xfrm>
            <a:off x="1673352" y="1609343"/>
            <a:ext cx="896112" cy="329184"/>
          </a:xfrm>
          <a:prstGeom prst="rect">
            <a:avLst/>
          </a:prstGeom>
          <a:noFill/>
        </p:spPr>
        <p:txBody>
          <a:bodyPr wrap="square" lIns="0" tIns="0" rIns="0" bIns="0" anchor="ctr">
            <a:spAutoFit/>
          </a:bodyPr>
          <a:lstStyle/>
          <a:p>
            <a:pPr algn="l"/>
            <a:r>
              <a:rPr sz="900" b="0">
                <a:solidFill>
                  <a:srgbClr val="44403C"/>
                </a:solidFill>
                <a:latin typeface="Segoe UI"/>
              </a:rPr>
              <a:t>always</a:t>
            </a:r>
          </a:p>
        </p:txBody>
      </p:sp>
      <p:sp>
        <p:nvSpPr>
          <p:cNvPr id="29" name="a1wd240_td28"/>
          <p:cNvSpPr/>
          <p:nvPr/>
        </p:nvSpPr>
        <p:spPr>
          <a:xfrm>
            <a:off x="1600200" y="1938528"/>
            <a:ext cx="1005840" cy="329184"/>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wd240_tdt29"/>
          <p:cNvSpPr txBox="1"/>
          <p:nvPr/>
        </p:nvSpPr>
        <p:spPr>
          <a:xfrm>
            <a:off x="1673352" y="1938528"/>
            <a:ext cx="896112" cy="329184"/>
          </a:xfrm>
          <a:prstGeom prst="rect">
            <a:avLst/>
          </a:prstGeom>
          <a:noFill/>
        </p:spPr>
        <p:txBody>
          <a:bodyPr wrap="square" lIns="0" tIns="0" rIns="0" bIns="0" anchor="ctr">
            <a:spAutoFit/>
          </a:bodyPr>
          <a:lstStyle/>
          <a:p>
            <a:pPr algn="l"/>
            <a:r>
              <a:rPr sz="900" b="0">
                <a:solidFill>
                  <a:srgbClr val="44403C"/>
                </a:solidFill>
                <a:latin typeface="Segoe UI"/>
              </a:rPr>
              <a:t>usually</a:t>
            </a:r>
          </a:p>
        </p:txBody>
      </p:sp>
      <p:sp>
        <p:nvSpPr>
          <p:cNvPr id="31" name="a1wd360_td30"/>
          <p:cNvSpPr/>
          <p:nvPr/>
        </p:nvSpPr>
        <p:spPr>
          <a:xfrm>
            <a:off x="1600200" y="2267712"/>
            <a:ext cx="1005840" cy="329184"/>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wd360_tdt31"/>
          <p:cNvSpPr txBox="1"/>
          <p:nvPr/>
        </p:nvSpPr>
        <p:spPr>
          <a:xfrm>
            <a:off x="1673352" y="2267712"/>
            <a:ext cx="896112" cy="329184"/>
          </a:xfrm>
          <a:prstGeom prst="rect">
            <a:avLst/>
          </a:prstGeom>
          <a:noFill/>
        </p:spPr>
        <p:txBody>
          <a:bodyPr wrap="square" lIns="0" tIns="0" rIns="0" bIns="0" anchor="ctr">
            <a:spAutoFit/>
          </a:bodyPr>
          <a:lstStyle/>
          <a:p>
            <a:pPr algn="l"/>
            <a:r>
              <a:rPr sz="900" b="0">
                <a:solidFill>
                  <a:srgbClr val="44403C"/>
                </a:solidFill>
                <a:latin typeface="Segoe UI"/>
              </a:rPr>
              <a:t>always</a:t>
            </a:r>
          </a:p>
        </p:txBody>
      </p:sp>
      <p:sp>
        <p:nvSpPr>
          <p:cNvPr id="33" name="a1wd480_td32"/>
          <p:cNvSpPr/>
          <p:nvPr/>
        </p:nvSpPr>
        <p:spPr>
          <a:xfrm>
            <a:off x="1600200" y="2596896"/>
            <a:ext cx="100584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wd480_tdt33"/>
          <p:cNvSpPr txBox="1"/>
          <p:nvPr/>
        </p:nvSpPr>
        <p:spPr>
          <a:xfrm>
            <a:off x="1673352" y="2596896"/>
            <a:ext cx="896112" cy="329184"/>
          </a:xfrm>
          <a:prstGeom prst="rect">
            <a:avLst/>
          </a:prstGeom>
          <a:noFill/>
        </p:spPr>
        <p:txBody>
          <a:bodyPr wrap="square" lIns="0" tIns="0" rIns="0" bIns="0" anchor="ctr">
            <a:spAutoFit/>
          </a:bodyPr>
          <a:lstStyle/>
          <a:p>
            <a:pPr algn="l"/>
            <a:r>
              <a:rPr sz="900" b="0">
                <a:solidFill>
                  <a:srgbClr val="44403C"/>
                </a:solidFill>
                <a:latin typeface="Segoe UI"/>
              </a:rPr>
              <a:t>rarely</a:t>
            </a:r>
          </a:p>
        </p:txBody>
      </p:sp>
      <p:sp>
        <p:nvSpPr>
          <p:cNvPr id="35" name="a1wd600_td34"/>
          <p:cNvSpPr/>
          <p:nvPr/>
        </p:nvSpPr>
        <p:spPr>
          <a:xfrm>
            <a:off x="1600200" y="2926079"/>
            <a:ext cx="100584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1wd600_tdt35"/>
          <p:cNvSpPr txBox="1"/>
          <p:nvPr/>
        </p:nvSpPr>
        <p:spPr>
          <a:xfrm>
            <a:off x="1673352" y="2926079"/>
            <a:ext cx="896112" cy="329184"/>
          </a:xfrm>
          <a:prstGeom prst="rect">
            <a:avLst/>
          </a:prstGeom>
          <a:noFill/>
        </p:spPr>
        <p:txBody>
          <a:bodyPr wrap="square" lIns="0" tIns="0" rIns="0" bIns="0" anchor="ctr">
            <a:spAutoFit/>
          </a:bodyPr>
          <a:lstStyle/>
          <a:p>
            <a:pPr algn="l"/>
            <a:r>
              <a:rPr sz="900" b="0">
                <a:solidFill>
                  <a:srgbClr val="44403C"/>
                </a:solidFill>
                <a:latin typeface="Segoe UI"/>
              </a:rPr>
              <a:t>optional</a:t>
            </a:r>
          </a:p>
        </p:txBody>
      </p:sp>
      <p:sp>
        <p:nvSpPr>
          <p:cNvPr id="37" name="a1wd720_td36"/>
          <p:cNvSpPr/>
          <p:nvPr/>
        </p:nvSpPr>
        <p:spPr>
          <a:xfrm>
            <a:off x="1600200" y="3255264"/>
            <a:ext cx="100584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1wd720_tdt37"/>
          <p:cNvSpPr txBox="1"/>
          <p:nvPr/>
        </p:nvSpPr>
        <p:spPr>
          <a:xfrm>
            <a:off x="1673352" y="3255264"/>
            <a:ext cx="896112" cy="329184"/>
          </a:xfrm>
          <a:prstGeom prst="rect">
            <a:avLst/>
          </a:prstGeom>
          <a:noFill/>
        </p:spPr>
        <p:txBody>
          <a:bodyPr wrap="square" lIns="0" tIns="0" rIns="0" bIns="0" anchor="ctr">
            <a:spAutoFit/>
          </a:bodyPr>
          <a:lstStyle/>
          <a:p>
            <a:pPr algn="l"/>
            <a:r>
              <a:rPr sz="900" b="0">
                <a:solidFill>
                  <a:srgbClr val="44403C"/>
                </a:solidFill>
                <a:latin typeface="Segoe UI"/>
              </a:rPr>
              <a:t>optional</a:t>
            </a:r>
          </a:p>
        </p:txBody>
      </p:sp>
      <p:sp>
        <p:nvSpPr>
          <p:cNvPr id="39" name="a1f_th38"/>
          <p:cNvSpPr/>
          <p:nvPr/>
        </p:nvSpPr>
        <p:spPr>
          <a:xfrm>
            <a:off x="2606040" y="1280160"/>
            <a:ext cx="2880360" cy="329184"/>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f_tht39"/>
          <p:cNvSpPr txBox="1"/>
          <p:nvPr/>
        </p:nvSpPr>
        <p:spPr>
          <a:xfrm>
            <a:off x="2679192" y="1280160"/>
            <a:ext cx="2770632" cy="329184"/>
          </a:xfrm>
          <a:prstGeom prst="rect">
            <a:avLst/>
          </a:prstGeom>
          <a:noFill/>
        </p:spPr>
        <p:txBody>
          <a:bodyPr wrap="square" lIns="0" tIns="0" rIns="0" bIns="0" anchor="ctr">
            <a:spAutoFit/>
          </a:bodyPr>
          <a:lstStyle/>
          <a:p>
            <a:pPr algn="l"/>
            <a:r>
              <a:rPr sz="1000" b="1">
                <a:solidFill>
                  <a:srgbClr val="FFFFFF"/>
                </a:solidFill>
                <a:latin typeface="Consolas"/>
              </a:rPr>
              <a:t>example</a:t>
            </a:r>
          </a:p>
        </p:txBody>
      </p:sp>
      <p:sp>
        <p:nvSpPr>
          <p:cNvPr id="41" name="a1wd120_td40"/>
          <p:cNvSpPr/>
          <p:nvPr/>
        </p:nvSpPr>
        <p:spPr>
          <a:xfrm>
            <a:off x="2606040" y="1609343"/>
            <a:ext cx="2880360" cy="329184"/>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1wd120_tdt41"/>
          <p:cNvSpPr txBox="1"/>
          <p:nvPr/>
        </p:nvSpPr>
        <p:spPr>
          <a:xfrm>
            <a:off x="2679192" y="1609343"/>
            <a:ext cx="2770632" cy="329184"/>
          </a:xfrm>
          <a:prstGeom prst="rect">
            <a:avLst/>
          </a:prstGeom>
          <a:noFill/>
        </p:spPr>
        <p:txBody>
          <a:bodyPr wrap="square" lIns="0" tIns="0" rIns="0" bIns="0" anchor="ctr">
            <a:spAutoFit/>
          </a:bodyPr>
          <a:lstStyle/>
          <a:p>
            <a:pPr algn="l"/>
            <a:r>
              <a:rPr sz="1000" b="0">
                <a:solidFill>
                  <a:srgbClr val="44403C"/>
                </a:solidFill>
                <a:latin typeface="Consolas"/>
              </a:rPr>
              <a:t>thermostat_readings</a:t>
            </a:r>
          </a:p>
        </p:txBody>
      </p:sp>
      <p:sp>
        <p:nvSpPr>
          <p:cNvPr id="43" name="a1wd240_td42"/>
          <p:cNvSpPr/>
          <p:nvPr/>
        </p:nvSpPr>
        <p:spPr>
          <a:xfrm>
            <a:off x="2606040" y="1938528"/>
            <a:ext cx="2880360" cy="329184"/>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1wd240_tdt43"/>
          <p:cNvSpPr txBox="1"/>
          <p:nvPr/>
        </p:nvSpPr>
        <p:spPr>
          <a:xfrm>
            <a:off x="2679192" y="1938528"/>
            <a:ext cx="2770632" cy="329184"/>
          </a:xfrm>
          <a:prstGeom prst="rect">
            <a:avLst/>
          </a:prstGeom>
          <a:noFill/>
        </p:spPr>
        <p:txBody>
          <a:bodyPr wrap="square" lIns="0" tIns="0" rIns="0" bIns="0" anchor="ctr">
            <a:spAutoFit/>
          </a:bodyPr>
          <a:lstStyle/>
          <a:p>
            <a:pPr algn="l"/>
            <a:r>
              <a:rPr sz="1000" b="0">
                <a:solidFill>
                  <a:srgbClr val="44403C"/>
                </a:solidFill>
                <a:latin typeface="Consolas"/>
              </a:rPr>
              <a:t>"42"</a:t>
            </a:r>
          </a:p>
        </p:txBody>
      </p:sp>
      <p:sp>
        <p:nvSpPr>
          <p:cNvPr id="45" name="a1wd360_td44"/>
          <p:cNvSpPr/>
          <p:nvPr/>
        </p:nvSpPr>
        <p:spPr>
          <a:xfrm>
            <a:off x="2606040" y="2267712"/>
            <a:ext cx="2880360" cy="329184"/>
          </a:xfrm>
          <a:prstGeom prst="rect">
            <a:avLst/>
          </a:prstGeom>
          <a:solidFill>
            <a:srgbClr val="FFEDD5"/>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1wd360_tdt45"/>
          <p:cNvSpPr txBox="1"/>
          <p:nvPr/>
        </p:nvSpPr>
        <p:spPr>
          <a:xfrm>
            <a:off x="2679192" y="2267712"/>
            <a:ext cx="2770632" cy="329184"/>
          </a:xfrm>
          <a:prstGeom prst="rect">
            <a:avLst/>
          </a:prstGeom>
          <a:noFill/>
        </p:spPr>
        <p:txBody>
          <a:bodyPr wrap="square" lIns="0" tIns="0" rIns="0" bIns="0" anchor="ctr">
            <a:spAutoFit/>
          </a:bodyPr>
          <a:lstStyle/>
          <a:p>
            <a:pPr algn="l"/>
            <a:r>
              <a:rPr sz="1000" b="0">
                <a:solidFill>
                  <a:srgbClr val="44403C"/>
                </a:solidFill>
                <a:latin typeface="Consolas"/>
              </a:rPr>
              <a:t>{"sensor_id": 42, ...}</a:t>
            </a:r>
          </a:p>
        </p:txBody>
      </p:sp>
      <p:sp>
        <p:nvSpPr>
          <p:cNvPr id="47" name="a1wd480_td46"/>
          <p:cNvSpPr/>
          <p:nvPr/>
        </p:nvSpPr>
        <p:spPr>
          <a:xfrm>
            <a:off x="2606040" y="2596896"/>
            <a:ext cx="288036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1wd480_tdt47"/>
          <p:cNvSpPr txBox="1"/>
          <p:nvPr/>
        </p:nvSpPr>
        <p:spPr>
          <a:xfrm>
            <a:off x="2679192" y="2596896"/>
            <a:ext cx="2770632" cy="329184"/>
          </a:xfrm>
          <a:prstGeom prst="rect">
            <a:avLst/>
          </a:prstGeom>
          <a:noFill/>
        </p:spPr>
        <p:txBody>
          <a:bodyPr wrap="square" lIns="0" tIns="0" rIns="0" bIns="0" anchor="ctr">
            <a:spAutoFit/>
          </a:bodyPr>
          <a:lstStyle/>
          <a:p>
            <a:pPr algn="l"/>
            <a:r>
              <a:rPr sz="1000" b="0">
                <a:solidFill>
                  <a:srgbClr val="44403C"/>
                </a:solidFill>
                <a:latin typeface="Consolas"/>
              </a:rPr>
              <a:t>2 - normally the producer picks</a:t>
            </a:r>
          </a:p>
        </p:txBody>
      </p:sp>
      <p:sp>
        <p:nvSpPr>
          <p:cNvPr id="49" name="a1wd600_td48"/>
          <p:cNvSpPr/>
          <p:nvPr/>
        </p:nvSpPr>
        <p:spPr>
          <a:xfrm>
            <a:off x="2606040" y="2926079"/>
            <a:ext cx="2880360" cy="329184"/>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1wd600_tdt49"/>
          <p:cNvSpPr txBox="1"/>
          <p:nvPr/>
        </p:nvSpPr>
        <p:spPr>
          <a:xfrm>
            <a:off x="2679192" y="2926079"/>
            <a:ext cx="2770632" cy="329184"/>
          </a:xfrm>
          <a:prstGeom prst="rect">
            <a:avLst/>
          </a:prstGeom>
          <a:noFill/>
        </p:spPr>
        <p:txBody>
          <a:bodyPr wrap="square" lIns="0" tIns="0" rIns="0" bIns="0" anchor="ctr">
            <a:spAutoFit/>
          </a:bodyPr>
          <a:lstStyle/>
          <a:p>
            <a:pPr algn="l"/>
            <a:r>
              <a:rPr sz="1000" b="0">
                <a:solidFill>
                  <a:srgbClr val="44403C"/>
                </a:solidFill>
                <a:latin typeface="Consolas"/>
              </a:rPr>
              <a:t>default: when you send it</a:t>
            </a:r>
          </a:p>
        </p:txBody>
      </p:sp>
      <p:sp>
        <p:nvSpPr>
          <p:cNvPr id="51" name="a1wd720_td50"/>
          <p:cNvSpPr/>
          <p:nvPr/>
        </p:nvSpPr>
        <p:spPr>
          <a:xfrm>
            <a:off x="2606040" y="3255264"/>
            <a:ext cx="2880360" cy="329184"/>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1wd720_tdt51"/>
          <p:cNvSpPr txBox="1"/>
          <p:nvPr/>
        </p:nvSpPr>
        <p:spPr>
          <a:xfrm>
            <a:off x="2679192" y="3255264"/>
            <a:ext cx="2770632" cy="329184"/>
          </a:xfrm>
          <a:prstGeom prst="rect">
            <a:avLst/>
          </a:prstGeom>
          <a:noFill/>
        </p:spPr>
        <p:txBody>
          <a:bodyPr wrap="square" lIns="0" tIns="0" rIns="0" bIns="0" anchor="ctr">
            <a:spAutoFit/>
          </a:bodyPr>
          <a:lstStyle/>
          <a:p>
            <a:pPr algn="l"/>
            <a:r>
              <a:rPr sz="1000" b="0">
                <a:solidFill>
                  <a:srgbClr val="44403C"/>
                </a:solidFill>
                <a:latin typeface="Consolas"/>
              </a:rPr>
              <a:t>firmware = 2.4.1</a:t>
            </a:r>
          </a:p>
        </p:txBody>
      </p:sp>
      <p:sp>
        <p:nvSpPr>
          <p:cNvPr id="53" name="a2u_card52"/>
          <p:cNvSpPr/>
          <p:nvPr/>
        </p:nvSpPr>
        <p:spPr>
          <a:xfrm>
            <a:off x="5486400" y="1280160"/>
            <a:ext cx="3200400"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2u_acc53"/>
          <p:cNvSpPr/>
          <p:nvPr/>
        </p:nvSpPr>
        <p:spPr>
          <a:xfrm>
            <a:off x="5486400" y="1280160"/>
            <a:ext cx="50292" cy="10972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2u_hh54"/>
          <p:cNvSpPr txBox="1"/>
          <p:nvPr/>
        </p:nvSpPr>
        <p:spPr>
          <a:xfrm>
            <a:off x="5687568" y="1389888"/>
            <a:ext cx="2834640" cy="237744"/>
          </a:xfrm>
          <a:prstGeom prst="rect">
            <a:avLst/>
          </a:prstGeom>
          <a:noFill/>
        </p:spPr>
        <p:txBody>
          <a:bodyPr wrap="square" lIns="0" tIns="0" rIns="0" bIns="0" anchor="ctr">
            <a:spAutoFit/>
          </a:bodyPr>
          <a:lstStyle/>
          <a:p>
            <a:pPr algn="l"/>
            <a:r>
              <a:rPr sz="900" b="1">
                <a:solidFill>
                  <a:srgbClr val="E11D48"/>
                </a:solidFill>
                <a:latin typeface="Segoe UI"/>
              </a:rPr>
              <a:t>OFFSET  ·  NOT YOURS TO SET</a:t>
            </a:r>
          </a:p>
        </p:txBody>
      </p:sp>
      <p:sp>
        <p:nvSpPr>
          <p:cNvPr id="56" name="a2ud80_c155"/>
          <p:cNvSpPr txBox="1"/>
          <p:nvPr/>
        </p:nvSpPr>
        <p:spPr>
          <a:xfrm>
            <a:off x="5687568" y="1591056"/>
            <a:ext cx="2834640" cy="731520"/>
          </a:xfrm>
          <a:prstGeom prst="rect">
            <a:avLst/>
          </a:prstGeom>
          <a:noFill/>
        </p:spPr>
        <p:txBody>
          <a:bodyPr wrap="square" lIns="0" tIns="0" rIns="0" bIns="0" anchor="t">
            <a:spAutoFit/>
          </a:bodyPr>
          <a:lstStyle/>
          <a:p>
            <a:pPr algn="l"/>
            <a:r>
              <a:rPr sz="900" b="0">
                <a:solidFill>
                  <a:srgbClr val="44403C"/>
                </a:solidFill>
                <a:latin typeface="Segoe UI"/>
              </a:rPr>
              <a:t>The broker assigns it when the message is written. send() reports it back, with the partition.</a:t>
            </a:r>
          </a:p>
        </p:txBody>
      </p:sp>
      <p:sp>
        <p:nvSpPr>
          <p:cNvPr id="57" name="a3u_card56"/>
          <p:cNvSpPr/>
          <p:nvPr/>
        </p:nvSpPr>
        <p:spPr>
          <a:xfrm>
            <a:off x="5486400" y="2542032"/>
            <a:ext cx="3200400" cy="1042415"/>
          </a:xfrm>
          <a:prstGeom prst="roundRect">
            <a:avLst>
              <a:gd name="adj" fmla="val 1052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3u_acc57"/>
          <p:cNvSpPr/>
          <p:nvPr/>
        </p:nvSpPr>
        <p:spPr>
          <a:xfrm>
            <a:off x="5486400" y="2542032"/>
            <a:ext cx="50292" cy="1042415"/>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3u_hh58"/>
          <p:cNvSpPr txBox="1"/>
          <p:nvPr/>
        </p:nvSpPr>
        <p:spPr>
          <a:xfrm>
            <a:off x="5687568" y="2651760"/>
            <a:ext cx="2834640" cy="237744"/>
          </a:xfrm>
          <a:prstGeom prst="rect">
            <a:avLst/>
          </a:prstGeom>
          <a:noFill/>
        </p:spPr>
        <p:txBody>
          <a:bodyPr wrap="square" lIns="0" tIns="0" rIns="0" bIns="0" anchor="ctr">
            <a:spAutoFit/>
          </a:bodyPr>
          <a:lstStyle/>
          <a:p>
            <a:pPr algn="l"/>
            <a:r>
              <a:rPr sz="900" b="1">
                <a:solidFill>
                  <a:srgbClr val="0E7490"/>
                </a:solidFill>
                <a:latin typeface="Segoe UI"/>
              </a:rPr>
              <a:t>THE SHAPE FROM MODULE 2</a:t>
            </a:r>
          </a:p>
        </p:txBody>
      </p:sp>
      <p:sp>
        <p:nvSpPr>
          <p:cNvPr id="60" name="a3ud80_c259"/>
          <p:cNvSpPr txBox="1"/>
          <p:nvPr/>
        </p:nvSpPr>
        <p:spPr>
          <a:xfrm>
            <a:off x="5687568" y="2852928"/>
            <a:ext cx="2834640" cy="676656"/>
          </a:xfrm>
          <a:prstGeom prst="rect">
            <a:avLst/>
          </a:prstGeom>
          <a:noFill/>
        </p:spPr>
        <p:txBody>
          <a:bodyPr wrap="square" lIns="0" tIns="0" rIns="0" bIns="0" anchor="t">
            <a:spAutoFit/>
          </a:bodyPr>
          <a:lstStyle/>
          <a:p>
            <a:pPr algn="l"/>
            <a:r>
              <a:rPr sz="900" b="0">
                <a:solidFill>
                  <a:srgbClr val="44403C"/>
                </a:solidFill>
                <a:latin typeface="Segoe UI"/>
              </a:rPr>
              <a:t>value, key, timestamp and headers - plus the topic it is going to</a:t>
            </a:r>
          </a:p>
        </p:txBody>
      </p:sp>
      <p:sp>
        <p:nvSpPr>
          <p:cNvPr id="61" name="a4u_nb60"/>
          <p:cNvSpPr/>
          <p:nvPr/>
        </p:nvSpPr>
        <p:spPr>
          <a:xfrm>
            <a:off x="457200" y="3931920"/>
            <a:ext cx="8229600" cy="548640"/>
          </a:xfrm>
          <a:prstGeom prst="roundRect">
            <a:avLst>
              <a:gd name="adj" fmla="val 1333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4u_nacc61"/>
          <p:cNvSpPr/>
          <p:nvPr/>
        </p:nvSpPr>
        <p:spPr>
          <a:xfrm>
            <a:off x="457200" y="3931920"/>
            <a:ext cx="54864" cy="5486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4u_nt62"/>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Most code sets just the topic, key and value - and lets the producer handle the rest.</a:t>
            </a:r>
          </a:p>
        </p:txBody>
      </p:sp>
      <p:sp>
        <p:nvSpPr>
          <p:cNvPr id="64" name="ft6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07</a:t>
            </a:r>
          </a:p>
        </p:txBody>
      </p:sp>
      <p:sp>
        <p:nvSpPr>
          <p:cNvPr id="65" name="ft6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ft6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Producers</a:t>
            </a:r>
          </a:p>
        </p:txBody>
      </p:sp>
      <p:sp>
        <p:nvSpPr>
          <p:cNvPr id="67" name="ft6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500"/>
                                        <p:tgtEl>
                                          <p:spTgt spid="39"/>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par>
                                <p:cTn id="25" presetID="22" presetClass="entr" presetSubtype="8" fill="hold" grpId="0" nodeType="withEffect">
                                  <p:stCondLst>
                                    <p:cond delay="12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8" presetID="22" presetClass="entr" presetSubtype="8" fill="hold" grpId="0" nodeType="withEffect">
                                  <p:stCondLst>
                                    <p:cond delay="12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31" presetID="22" presetClass="entr" presetSubtype="8" fill="hold" grpId="0" nodeType="withEffect">
                                  <p:stCondLst>
                                    <p:cond delay="120"/>
                                  </p:stCondLst>
                                  <p:childTnLst>
                                    <p:set>
                                      <p:cBhvr>
                                        <p:cTn id="29" dur="1" fill="hold">
                                          <p:stCondLst>
                                            <p:cond delay="0"/>
                                          </p:stCondLst>
                                        </p:cTn>
                                        <p:tgtEl>
                                          <p:spTgt spid="27"/>
                                        </p:tgtEl>
                                        <p:attrNameLst>
                                          <p:attrName>style.visibility</p:attrName>
                                        </p:attrNameLst>
                                      </p:cBhvr>
                                      <p:to>
                                        <p:strVal val="visible"/>
                                      </p:to>
                                    </p:set>
                                    <p:animEffect transition="in" filter="wipe(left)">
                                      <p:cBhvr>
                                        <p:cTn id="30" dur="500"/>
                                        <p:tgtEl>
                                          <p:spTgt spid="27"/>
                                        </p:tgtEl>
                                      </p:cBhvr>
                                    </p:animEffect>
                                  </p:childTnLst>
                                </p:cTn>
                              </p:par>
                              <p:par>
                                <p:cTn id="34" presetID="22" presetClass="entr" presetSubtype="8" fill="hold" grpId="0" nodeType="withEffect">
                                  <p:stCondLst>
                                    <p:cond delay="120"/>
                                  </p:stCondLst>
                                  <p:childTnLst>
                                    <p:set>
                                      <p:cBhvr>
                                        <p:cTn id="32" dur="1" fill="hold">
                                          <p:stCondLst>
                                            <p:cond delay="0"/>
                                          </p:stCondLst>
                                        </p:cTn>
                                        <p:tgtEl>
                                          <p:spTgt spid="28"/>
                                        </p:tgtEl>
                                        <p:attrNameLst>
                                          <p:attrName>style.visibility</p:attrName>
                                        </p:attrNameLst>
                                      </p:cBhvr>
                                      <p:to>
                                        <p:strVal val="visible"/>
                                      </p:to>
                                    </p:set>
                                    <p:animEffect transition="in" filter="wipe(left)">
                                      <p:cBhvr>
                                        <p:cTn id="33" dur="500"/>
                                        <p:tgtEl>
                                          <p:spTgt spid="28"/>
                                        </p:tgtEl>
                                      </p:cBhvr>
                                    </p:animEffect>
                                  </p:childTnLst>
                                </p:cTn>
                              </p:par>
                              <p:par>
                                <p:cTn id="37" presetID="22" presetClass="entr" presetSubtype="8" fill="hold" grpId="0" nodeType="withEffect">
                                  <p:stCondLst>
                                    <p:cond delay="120"/>
                                  </p:stCondLst>
                                  <p:childTnLst>
                                    <p:set>
                                      <p:cBhvr>
                                        <p:cTn id="35" dur="1" fill="hold">
                                          <p:stCondLst>
                                            <p:cond delay="0"/>
                                          </p:stCondLst>
                                        </p:cTn>
                                        <p:tgtEl>
                                          <p:spTgt spid="41"/>
                                        </p:tgtEl>
                                        <p:attrNameLst>
                                          <p:attrName>style.visibility</p:attrName>
                                        </p:attrNameLst>
                                      </p:cBhvr>
                                      <p:to>
                                        <p:strVal val="visible"/>
                                      </p:to>
                                    </p:set>
                                    <p:animEffect transition="in" filter="wipe(left)">
                                      <p:cBhvr>
                                        <p:cTn id="36" dur="500"/>
                                        <p:tgtEl>
                                          <p:spTgt spid="41"/>
                                        </p:tgtEl>
                                      </p:cBhvr>
                                    </p:animEffect>
                                  </p:childTnLst>
                                </p:cTn>
                              </p:par>
                              <p:par>
                                <p:cTn id="40" presetID="22" presetClass="entr" presetSubtype="8" fill="hold" grpId="0" nodeType="withEffect">
                                  <p:stCondLst>
                                    <p:cond delay="120"/>
                                  </p:stCondLst>
                                  <p:childTnLst>
                                    <p:set>
                                      <p:cBhvr>
                                        <p:cTn id="38" dur="1" fill="hold">
                                          <p:stCondLst>
                                            <p:cond delay="0"/>
                                          </p:stCondLst>
                                        </p:cTn>
                                        <p:tgtEl>
                                          <p:spTgt spid="42"/>
                                        </p:tgtEl>
                                        <p:attrNameLst>
                                          <p:attrName>style.visibility</p:attrName>
                                        </p:attrNameLst>
                                      </p:cBhvr>
                                      <p:to>
                                        <p:strVal val="visible"/>
                                      </p:to>
                                    </p:set>
                                    <p:animEffect transition="in" filter="wipe(left)">
                                      <p:cBhvr>
                                        <p:cTn id="39" dur="500"/>
                                        <p:tgtEl>
                                          <p:spTgt spid="42"/>
                                        </p:tgtEl>
                                      </p:cBhvr>
                                    </p:animEffect>
                                  </p:childTnLst>
                                </p:cTn>
                              </p:par>
                              <p:par>
                                <p:cTn id="43" presetID="22" presetClass="entr" presetSubtype="8" fill="hold" grpId="0" nodeType="withEffect">
                                  <p:stCondLst>
                                    <p:cond delay="24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par>
                                <p:cTn id="46" presetID="22" presetClass="entr" presetSubtype="8" fill="hold" grpId="0" nodeType="withEffect">
                                  <p:stCondLst>
                                    <p:cond delay="24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par>
                                <p:cTn id="49" presetID="22" presetClass="entr" presetSubtype="8" fill="hold" grpId="0" nodeType="withEffect">
                                  <p:stCondLst>
                                    <p:cond delay="240"/>
                                  </p:stCondLst>
                                  <p:childTnLst>
                                    <p:set>
                                      <p:cBhvr>
                                        <p:cTn id="47" dur="1" fill="hold">
                                          <p:stCondLst>
                                            <p:cond delay="0"/>
                                          </p:stCondLst>
                                        </p:cTn>
                                        <p:tgtEl>
                                          <p:spTgt spid="29"/>
                                        </p:tgtEl>
                                        <p:attrNameLst>
                                          <p:attrName>style.visibility</p:attrName>
                                        </p:attrNameLst>
                                      </p:cBhvr>
                                      <p:to>
                                        <p:strVal val="visible"/>
                                      </p:to>
                                    </p:set>
                                    <p:animEffect transition="in" filter="wipe(left)">
                                      <p:cBhvr>
                                        <p:cTn id="48" dur="500"/>
                                        <p:tgtEl>
                                          <p:spTgt spid="29"/>
                                        </p:tgtEl>
                                      </p:cBhvr>
                                    </p:animEffect>
                                  </p:childTnLst>
                                </p:cTn>
                              </p:par>
                              <p:par>
                                <p:cTn id="52" presetID="22" presetClass="entr" presetSubtype="8" fill="hold" grpId="0" nodeType="withEffect">
                                  <p:stCondLst>
                                    <p:cond delay="240"/>
                                  </p:stCondLst>
                                  <p:childTnLst>
                                    <p:set>
                                      <p:cBhvr>
                                        <p:cTn id="50" dur="1" fill="hold">
                                          <p:stCondLst>
                                            <p:cond delay="0"/>
                                          </p:stCondLst>
                                        </p:cTn>
                                        <p:tgtEl>
                                          <p:spTgt spid="30"/>
                                        </p:tgtEl>
                                        <p:attrNameLst>
                                          <p:attrName>style.visibility</p:attrName>
                                        </p:attrNameLst>
                                      </p:cBhvr>
                                      <p:to>
                                        <p:strVal val="visible"/>
                                      </p:to>
                                    </p:set>
                                    <p:animEffect transition="in" filter="wipe(left)">
                                      <p:cBhvr>
                                        <p:cTn id="51" dur="500"/>
                                        <p:tgtEl>
                                          <p:spTgt spid="30"/>
                                        </p:tgtEl>
                                      </p:cBhvr>
                                    </p:animEffect>
                                  </p:childTnLst>
                                </p:cTn>
                              </p:par>
                              <p:par>
                                <p:cTn id="55" presetID="22" presetClass="entr" presetSubtype="8" fill="hold" grpId="0" nodeType="withEffect">
                                  <p:stCondLst>
                                    <p:cond delay="240"/>
                                  </p:stCondLst>
                                  <p:childTnLst>
                                    <p:set>
                                      <p:cBhvr>
                                        <p:cTn id="53" dur="1" fill="hold">
                                          <p:stCondLst>
                                            <p:cond delay="0"/>
                                          </p:stCondLst>
                                        </p:cTn>
                                        <p:tgtEl>
                                          <p:spTgt spid="43"/>
                                        </p:tgtEl>
                                        <p:attrNameLst>
                                          <p:attrName>style.visibility</p:attrName>
                                        </p:attrNameLst>
                                      </p:cBhvr>
                                      <p:to>
                                        <p:strVal val="visible"/>
                                      </p:to>
                                    </p:set>
                                    <p:animEffect transition="in" filter="wipe(left)">
                                      <p:cBhvr>
                                        <p:cTn id="54" dur="500"/>
                                        <p:tgtEl>
                                          <p:spTgt spid="43"/>
                                        </p:tgtEl>
                                      </p:cBhvr>
                                    </p:animEffect>
                                  </p:childTnLst>
                                </p:cTn>
                              </p:par>
                              <p:par>
                                <p:cTn id="58" presetID="22" presetClass="entr" presetSubtype="8" fill="hold" grpId="0" nodeType="withEffect">
                                  <p:stCondLst>
                                    <p:cond delay="240"/>
                                  </p:stCondLst>
                                  <p:childTnLst>
                                    <p:set>
                                      <p:cBhvr>
                                        <p:cTn id="56" dur="1" fill="hold">
                                          <p:stCondLst>
                                            <p:cond delay="0"/>
                                          </p:stCondLst>
                                        </p:cTn>
                                        <p:tgtEl>
                                          <p:spTgt spid="44"/>
                                        </p:tgtEl>
                                        <p:attrNameLst>
                                          <p:attrName>style.visibility</p:attrName>
                                        </p:attrNameLst>
                                      </p:cBhvr>
                                      <p:to>
                                        <p:strVal val="visible"/>
                                      </p:to>
                                    </p:set>
                                    <p:animEffect transition="in" filter="wipe(left)">
                                      <p:cBhvr>
                                        <p:cTn id="57" dur="500"/>
                                        <p:tgtEl>
                                          <p:spTgt spid="44"/>
                                        </p:tgtEl>
                                      </p:cBhvr>
                                    </p:animEffect>
                                  </p:childTnLst>
                                </p:cTn>
                              </p:par>
                              <p:par>
                                <p:cTn id="61" presetID="22" presetClass="entr" presetSubtype="8" fill="hold" grpId="0" nodeType="withEffect">
                                  <p:stCondLst>
                                    <p:cond delay="36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500"/>
                                        <p:tgtEl>
                                          <p:spTgt spid="17"/>
                                        </p:tgtEl>
                                      </p:cBhvr>
                                    </p:animEffect>
                                  </p:childTnLst>
                                </p:cTn>
                              </p:par>
                              <p:par>
                                <p:cTn id="64" presetID="22" presetClass="entr" presetSubtype="8" fill="hold" grpId="0" nodeType="withEffect">
                                  <p:stCondLst>
                                    <p:cond delay="36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par>
                                <p:cTn id="67" presetID="22" presetClass="entr" presetSubtype="8" fill="hold" grpId="0" nodeType="withEffect">
                                  <p:stCondLst>
                                    <p:cond delay="360"/>
                                  </p:stCondLst>
                                  <p:childTnLst>
                                    <p:set>
                                      <p:cBhvr>
                                        <p:cTn id="65" dur="1" fill="hold">
                                          <p:stCondLst>
                                            <p:cond delay="0"/>
                                          </p:stCondLst>
                                        </p:cTn>
                                        <p:tgtEl>
                                          <p:spTgt spid="31"/>
                                        </p:tgtEl>
                                        <p:attrNameLst>
                                          <p:attrName>style.visibility</p:attrName>
                                        </p:attrNameLst>
                                      </p:cBhvr>
                                      <p:to>
                                        <p:strVal val="visible"/>
                                      </p:to>
                                    </p:set>
                                    <p:animEffect transition="in" filter="wipe(left)">
                                      <p:cBhvr>
                                        <p:cTn id="66" dur="500"/>
                                        <p:tgtEl>
                                          <p:spTgt spid="31"/>
                                        </p:tgtEl>
                                      </p:cBhvr>
                                    </p:animEffect>
                                  </p:childTnLst>
                                </p:cTn>
                              </p:par>
                              <p:par>
                                <p:cTn id="70" presetID="22" presetClass="entr" presetSubtype="8" fill="hold" grpId="0" nodeType="withEffect">
                                  <p:stCondLst>
                                    <p:cond delay="360"/>
                                  </p:stCondLst>
                                  <p:childTnLst>
                                    <p:set>
                                      <p:cBhvr>
                                        <p:cTn id="68" dur="1" fill="hold">
                                          <p:stCondLst>
                                            <p:cond delay="0"/>
                                          </p:stCondLst>
                                        </p:cTn>
                                        <p:tgtEl>
                                          <p:spTgt spid="32"/>
                                        </p:tgtEl>
                                        <p:attrNameLst>
                                          <p:attrName>style.visibility</p:attrName>
                                        </p:attrNameLst>
                                      </p:cBhvr>
                                      <p:to>
                                        <p:strVal val="visible"/>
                                      </p:to>
                                    </p:set>
                                    <p:animEffect transition="in" filter="wipe(left)">
                                      <p:cBhvr>
                                        <p:cTn id="69" dur="500"/>
                                        <p:tgtEl>
                                          <p:spTgt spid="32"/>
                                        </p:tgtEl>
                                      </p:cBhvr>
                                    </p:animEffect>
                                  </p:childTnLst>
                                </p:cTn>
                              </p:par>
                              <p:par>
                                <p:cTn id="73" presetID="22" presetClass="entr" presetSubtype="8" fill="hold" grpId="0" nodeType="withEffect">
                                  <p:stCondLst>
                                    <p:cond delay="360"/>
                                  </p:stCondLst>
                                  <p:childTnLst>
                                    <p:set>
                                      <p:cBhvr>
                                        <p:cTn id="71" dur="1" fill="hold">
                                          <p:stCondLst>
                                            <p:cond delay="0"/>
                                          </p:stCondLst>
                                        </p:cTn>
                                        <p:tgtEl>
                                          <p:spTgt spid="45"/>
                                        </p:tgtEl>
                                        <p:attrNameLst>
                                          <p:attrName>style.visibility</p:attrName>
                                        </p:attrNameLst>
                                      </p:cBhvr>
                                      <p:to>
                                        <p:strVal val="visible"/>
                                      </p:to>
                                    </p:set>
                                    <p:animEffect transition="in" filter="wipe(left)">
                                      <p:cBhvr>
                                        <p:cTn id="72" dur="500"/>
                                        <p:tgtEl>
                                          <p:spTgt spid="45"/>
                                        </p:tgtEl>
                                      </p:cBhvr>
                                    </p:animEffect>
                                  </p:childTnLst>
                                </p:cTn>
                              </p:par>
                              <p:par>
                                <p:cTn id="76" presetID="22" presetClass="entr" presetSubtype="8" fill="hold" grpId="0" nodeType="withEffect">
                                  <p:stCondLst>
                                    <p:cond delay="360"/>
                                  </p:stCondLst>
                                  <p:childTnLst>
                                    <p:set>
                                      <p:cBhvr>
                                        <p:cTn id="74" dur="1" fill="hold">
                                          <p:stCondLst>
                                            <p:cond delay="0"/>
                                          </p:stCondLst>
                                        </p:cTn>
                                        <p:tgtEl>
                                          <p:spTgt spid="46"/>
                                        </p:tgtEl>
                                        <p:attrNameLst>
                                          <p:attrName>style.visibility</p:attrName>
                                        </p:attrNameLst>
                                      </p:cBhvr>
                                      <p:to>
                                        <p:strVal val="visible"/>
                                      </p:to>
                                    </p:set>
                                    <p:animEffect transition="in" filter="wipe(left)">
                                      <p:cBhvr>
                                        <p:cTn id="75" dur="500"/>
                                        <p:tgtEl>
                                          <p:spTgt spid="46"/>
                                        </p:tgtEl>
                                      </p:cBhvr>
                                    </p:animEffect>
                                  </p:childTnLst>
                                </p:cTn>
                              </p:par>
                              <p:par>
                                <p:cTn id="79" presetID="22" presetClass="entr" presetSubtype="8" fill="hold" grpId="0" nodeType="withEffect">
                                  <p:stCondLst>
                                    <p:cond delay="480"/>
                                  </p:stCondLst>
                                  <p:childTnLst>
                                    <p:set>
                                      <p:cBhvr>
                                        <p:cTn id="77" dur="1" fill="hold">
                                          <p:stCondLst>
                                            <p:cond delay="0"/>
                                          </p:stCondLst>
                                        </p:cTn>
                                        <p:tgtEl>
                                          <p:spTgt spid="19"/>
                                        </p:tgtEl>
                                        <p:attrNameLst>
                                          <p:attrName>style.visibility</p:attrName>
                                        </p:attrNameLst>
                                      </p:cBhvr>
                                      <p:to>
                                        <p:strVal val="visible"/>
                                      </p:to>
                                    </p:set>
                                    <p:animEffect transition="in" filter="wipe(left)">
                                      <p:cBhvr>
                                        <p:cTn id="78" dur="500"/>
                                        <p:tgtEl>
                                          <p:spTgt spid="19"/>
                                        </p:tgtEl>
                                      </p:cBhvr>
                                    </p:animEffect>
                                  </p:childTnLst>
                                </p:cTn>
                              </p:par>
                              <p:par>
                                <p:cTn id="82" presetID="22" presetClass="entr" presetSubtype="8" fill="hold" grpId="0" nodeType="withEffect">
                                  <p:stCondLst>
                                    <p:cond delay="480"/>
                                  </p:stCondLst>
                                  <p:childTnLst>
                                    <p:set>
                                      <p:cBhvr>
                                        <p:cTn id="80" dur="1" fill="hold">
                                          <p:stCondLst>
                                            <p:cond delay="0"/>
                                          </p:stCondLst>
                                        </p:cTn>
                                        <p:tgtEl>
                                          <p:spTgt spid="20"/>
                                        </p:tgtEl>
                                        <p:attrNameLst>
                                          <p:attrName>style.visibility</p:attrName>
                                        </p:attrNameLst>
                                      </p:cBhvr>
                                      <p:to>
                                        <p:strVal val="visible"/>
                                      </p:to>
                                    </p:set>
                                    <p:animEffect transition="in" filter="wipe(left)">
                                      <p:cBhvr>
                                        <p:cTn id="81" dur="500"/>
                                        <p:tgtEl>
                                          <p:spTgt spid="20"/>
                                        </p:tgtEl>
                                      </p:cBhvr>
                                    </p:animEffect>
                                  </p:childTnLst>
                                </p:cTn>
                              </p:par>
                              <p:par>
                                <p:cTn id="85" presetID="22" presetClass="entr" presetSubtype="8" fill="hold" grpId="0" nodeType="withEffect">
                                  <p:stCondLst>
                                    <p:cond delay="480"/>
                                  </p:stCondLst>
                                  <p:childTnLst>
                                    <p:set>
                                      <p:cBhvr>
                                        <p:cTn id="83" dur="1" fill="hold">
                                          <p:stCondLst>
                                            <p:cond delay="0"/>
                                          </p:stCondLst>
                                        </p:cTn>
                                        <p:tgtEl>
                                          <p:spTgt spid="33"/>
                                        </p:tgtEl>
                                        <p:attrNameLst>
                                          <p:attrName>style.visibility</p:attrName>
                                        </p:attrNameLst>
                                      </p:cBhvr>
                                      <p:to>
                                        <p:strVal val="visible"/>
                                      </p:to>
                                    </p:set>
                                    <p:animEffect transition="in" filter="wipe(left)">
                                      <p:cBhvr>
                                        <p:cTn id="84" dur="500"/>
                                        <p:tgtEl>
                                          <p:spTgt spid="33"/>
                                        </p:tgtEl>
                                      </p:cBhvr>
                                    </p:animEffect>
                                  </p:childTnLst>
                                </p:cTn>
                              </p:par>
                              <p:par>
                                <p:cTn id="88" presetID="22" presetClass="entr" presetSubtype="8" fill="hold" grpId="0" nodeType="withEffect">
                                  <p:stCondLst>
                                    <p:cond delay="480"/>
                                  </p:stCondLst>
                                  <p:childTnLst>
                                    <p:set>
                                      <p:cBhvr>
                                        <p:cTn id="86" dur="1" fill="hold">
                                          <p:stCondLst>
                                            <p:cond delay="0"/>
                                          </p:stCondLst>
                                        </p:cTn>
                                        <p:tgtEl>
                                          <p:spTgt spid="34"/>
                                        </p:tgtEl>
                                        <p:attrNameLst>
                                          <p:attrName>style.visibility</p:attrName>
                                        </p:attrNameLst>
                                      </p:cBhvr>
                                      <p:to>
                                        <p:strVal val="visible"/>
                                      </p:to>
                                    </p:set>
                                    <p:animEffect transition="in" filter="wipe(left)">
                                      <p:cBhvr>
                                        <p:cTn id="87" dur="500"/>
                                        <p:tgtEl>
                                          <p:spTgt spid="34"/>
                                        </p:tgtEl>
                                      </p:cBhvr>
                                    </p:animEffect>
                                  </p:childTnLst>
                                </p:cTn>
                              </p:par>
                              <p:par>
                                <p:cTn id="91" presetID="22" presetClass="entr" presetSubtype="8" fill="hold" grpId="0" nodeType="withEffect">
                                  <p:stCondLst>
                                    <p:cond delay="480"/>
                                  </p:stCondLst>
                                  <p:childTnLst>
                                    <p:set>
                                      <p:cBhvr>
                                        <p:cTn id="89" dur="1" fill="hold">
                                          <p:stCondLst>
                                            <p:cond delay="0"/>
                                          </p:stCondLst>
                                        </p:cTn>
                                        <p:tgtEl>
                                          <p:spTgt spid="47"/>
                                        </p:tgtEl>
                                        <p:attrNameLst>
                                          <p:attrName>style.visibility</p:attrName>
                                        </p:attrNameLst>
                                      </p:cBhvr>
                                      <p:to>
                                        <p:strVal val="visible"/>
                                      </p:to>
                                    </p:set>
                                    <p:animEffect transition="in" filter="wipe(left)">
                                      <p:cBhvr>
                                        <p:cTn id="90" dur="500"/>
                                        <p:tgtEl>
                                          <p:spTgt spid="47"/>
                                        </p:tgtEl>
                                      </p:cBhvr>
                                    </p:animEffect>
                                  </p:childTnLst>
                                </p:cTn>
                              </p:par>
                              <p:par>
                                <p:cTn id="94" presetID="22" presetClass="entr" presetSubtype="8" fill="hold" grpId="0" nodeType="withEffect">
                                  <p:stCondLst>
                                    <p:cond delay="480"/>
                                  </p:stCondLst>
                                  <p:childTnLst>
                                    <p:set>
                                      <p:cBhvr>
                                        <p:cTn id="92" dur="1" fill="hold">
                                          <p:stCondLst>
                                            <p:cond delay="0"/>
                                          </p:stCondLst>
                                        </p:cTn>
                                        <p:tgtEl>
                                          <p:spTgt spid="48"/>
                                        </p:tgtEl>
                                        <p:attrNameLst>
                                          <p:attrName>style.visibility</p:attrName>
                                        </p:attrNameLst>
                                      </p:cBhvr>
                                      <p:to>
                                        <p:strVal val="visible"/>
                                      </p:to>
                                    </p:set>
                                    <p:animEffect transition="in" filter="wipe(left)">
                                      <p:cBhvr>
                                        <p:cTn id="93" dur="500"/>
                                        <p:tgtEl>
                                          <p:spTgt spid="48"/>
                                        </p:tgtEl>
                                      </p:cBhvr>
                                    </p:animEffect>
                                  </p:childTnLst>
                                </p:cTn>
                              </p:par>
                              <p:par>
                                <p:cTn id="97" presetID="22" presetClass="entr" presetSubtype="8" fill="hold" grpId="0" nodeType="withEffect">
                                  <p:stCondLst>
                                    <p:cond delay="600"/>
                                  </p:stCondLst>
                                  <p:childTnLst>
                                    <p:set>
                                      <p:cBhvr>
                                        <p:cTn id="95" dur="1" fill="hold">
                                          <p:stCondLst>
                                            <p:cond delay="0"/>
                                          </p:stCondLst>
                                        </p:cTn>
                                        <p:tgtEl>
                                          <p:spTgt spid="21"/>
                                        </p:tgtEl>
                                        <p:attrNameLst>
                                          <p:attrName>style.visibility</p:attrName>
                                        </p:attrNameLst>
                                      </p:cBhvr>
                                      <p:to>
                                        <p:strVal val="visible"/>
                                      </p:to>
                                    </p:set>
                                    <p:animEffect transition="in" filter="wipe(left)">
                                      <p:cBhvr>
                                        <p:cTn id="96" dur="500"/>
                                        <p:tgtEl>
                                          <p:spTgt spid="21"/>
                                        </p:tgtEl>
                                      </p:cBhvr>
                                    </p:animEffect>
                                  </p:childTnLst>
                                </p:cTn>
                              </p:par>
                              <p:par>
                                <p:cTn id="100" presetID="22" presetClass="entr" presetSubtype="8" fill="hold" grpId="0" nodeType="withEffect">
                                  <p:stCondLst>
                                    <p:cond delay="600"/>
                                  </p:stCondLst>
                                  <p:childTnLst>
                                    <p:set>
                                      <p:cBhvr>
                                        <p:cTn id="98" dur="1" fill="hold">
                                          <p:stCondLst>
                                            <p:cond delay="0"/>
                                          </p:stCondLst>
                                        </p:cTn>
                                        <p:tgtEl>
                                          <p:spTgt spid="22"/>
                                        </p:tgtEl>
                                        <p:attrNameLst>
                                          <p:attrName>style.visibility</p:attrName>
                                        </p:attrNameLst>
                                      </p:cBhvr>
                                      <p:to>
                                        <p:strVal val="visible"/>
                                      </p:to>
                                    </p:set>
                                    <p:animEffect transition="in" filter="wipe(left)">
                                      <p:cBhvr>
                                        <p:cTn id="99" dur="500"/>
                                        <p:tgtEl>
                                          <p:spTgt spid="22"/>
                                        </p:tgtEl>
                                      </p:cBhvr>
                                    </p:animEffect>
                                  </p:childTnLst>
                                </p:cTn>
                              </p:par>
                              <p:par>
                                <p:cTn id="103" presetID="22" presetClass="entr" presetSubtype="8" fill="hold" grpId="0" nodeType="withEffect">
                                  <p:stCondLst>
                                    <p:cond delay="600"/>
                                  </p:stCondLst>
                                  <p:childTnLst>
                                    <p:set>
                                      <p:cBhvr>
                                        <p:cTn id="101" dur="1" fill="hold">
                                          <p:stCondLst>
                                            <p:cond delay="0"/>
                                          </p:stCondLst>
                                        </p:cTn>
                                        <p:tgtEl>
                                          <p:spTgt spid="35"/>
                                        </p:tgtEl>
                                        <p:attrNameLst>
                                          <p:attrName>style.visibility</p:attrName>
                                        </p:attrNameLst>
                                      </p:cBhvr>
                                      <p:to>
                                        <p:strVal val="visible"/>
                                      </p:to>
                                    </p:set>
                                    <p:animEffect transition="in" filter="wipe(left)">
                                      <p:cBhvr>
                                        <p:cTn id="102" dur="500"/>
                                        <p:tgtEl>
                                          <p:spTgt spid="35"/>
                                        </p:tgtEl>
                                      </p:cBhvr>
                                    </p:animEffect>
                                  </p:childTnLst>
                                </p:cTn>
                              </p:par>
                              <p:par>
                                <p:cTn id="106" presetID="22" presetClass="entr" presetSubtype="8" fill="hold" grpId="0" nodeType="withEffect">
                                  <p:stCondLst>
                                    <p:cond delay="600"/>
                                  </p:stCondLst>
                                  <p:childTnLst>
                                    <p:set>
                                      <p:cBhvr>
                                        <p:cTn id="104" dur="1" fill="hold">
                                          <p:stCondLst>
                                            <p:cond delay="0"/>
                                          </p:stCondLst>
                                        </p:cTn>
                                        <p:tgtEl>
                                          <p:spTgt spid="36"/>
                                        </p:tgtEl>
                                        <p:attrNameLst>
                                          <p:attrName>style.visibility</p:attrName>
                                        </p:attrNameLst>
                                      </p:cBhvr>
                                      <p:to>
                                        <p:strVal val="visible"/>
                                      </p:to>
                                    </p:set>
                                    <p:animEffect transition="in" filter="wipe(left)">
                                      <p:cBhvr>
                                        <p:cTn id="105" dur="500"/>
                                        <p:tgtEl>
                                          <p:spTgt spid="36"/>
                                        </p:tgtEl>
                                      </p:cBhvr>
                                    </p:animEffect>
                                  </p:childTnLst>
                                </p:cTn>
                              </p:par>
                              <p:par>
                                <p:cTn id="109" presetID="22" presetClass="entr" presetSubtype="8" fill="hold" grpId="0" nodeType="withEffect">
                                  <p:stCondLst>
                                    <p:cond delay="600"/>
                                  </p:stCondLst>
                                  <p:childTnLst>
                                    <p:set>
                                      <p:cBhvr>
                                        <p:cTn id="107" dur="1" fill="hold">
                                          <p:stCondLst>
                                            <p:cond delay="0"/>
                                          </p:stCondLst>
                                        </p:cTn>
                                        <p:tgtEl>
                                          <p:spTgt spid="49"/>
                                        </p:tgtEl>
                                        <p:attrNameLst>
                                          <p:attrName>style.visibility</p:attrName>
                                        </p:attrNameLst>
                                      </p:cBhvr>
                                      <p:to>
                                        <p:strVal val="visible"/>
                                      </p:to>
                                    </p:set>
                                    <p:animEffect transition="in" filter="wipe(left)">
                                      <p:cBhvr>
                                        <p:cTn id="108" dur="500"/>
                                        <p:tgtEl>
                                          <p:spTgt spid="49"/>
                                        </p:tgtEl>
                                      </p:cBhvr>
                                    </p:animEffect>
                                  </p:childTnLst>
                                </p:cTn>
                              </p:par>
                              <p:par>
                                <p:cTn id="112" presetID="22" presetClass="entr" presetSubtype="8" fill="hold" grpId="0" nodeType="withEffect">
                                  <p:stCondLst>
                                    <p:cond delay="600"/>
                                  </p:stCondLst>
                                  <p:childTnLst>
                                    <p:set>
                                      <p:cBhvr>
                                        <p:cTn id="110" dur="1" fill="hold">
                                          <p:stCondLst>
                                            <p:cond delay="0"/>
                                          </p:stCondLst>
                                        </p:cTn>
                                        <p:tgtEl>
                                          <p:spTgt spid="50"/>
                                        </p:tgtEl>
                                        <p:attrNameLst>
                                          <p:attrName>style.visibility</p:attrName>
                                        </p:attrNameLst>
                                      </p:cBhvr>
                                      <p:to>
                                        <p:strVal val="visible"/>
                                      </p:to>
                                    </p:set>
                                    <p:animEffect transition="in" filter="wipe(left)">
                                      <p:cBhvr>
                                        <p:cTn id="111" dur="500"/>
                                        <p:tgtEl>
                                          <p:spTgt spid="50"/>
                                        </p:tgtEl>
                                      </p:cBhvr>
                                    </p:animEffect>
                                  </p:childTnLst>
                                </p:cTn>
                              </p:par>
                              <p:par>
                                <p:cTn id="115" presetID="22" presetClass="entr" presetSubtype="8" fill="hold" grpId="0" nodeType="withEffect">
                                  <p:stCondLst>
                                    <p:cond delay="720"/>
                                  </p:stCondLst>
                                  <p:childTnLst>
                                    <p:set>
                                      <p:cBhvr>
                                        <p:cTn id="113" dur="1" fill="hold">
                                          <p:stCondLst>
                                            <p:cond delay="0"/>
                                          </p:stCondLst>
                                        </p:cTn>
                                        <p:tgtEl>
                                          <p:spTgt spid="23"/>
                                        </p:tgtEl>
                                        <p:attrNameLst>
                                          <p:attrName>style.visibility</p:attrName>
                                        </p:attrNameLst>
                                      </p:cBhvr>
                                      <p:to>
                                        <p:strVal val="visible"/>
                                      </p:to>
                                    </p:set>
                                    <p:animEffect transition="in" filter="wipe(left)">
                                      <p:cBhvr>
                                        <p:cTn id="114" dur="500"/>
                                        <p:tgtEl>
                                          <p:spTgt spid="23"/>
                                        </p:tgtEl>
                                      </p:cBhvr>
                                    </p:animEffect>
                                  </p:childTnLst>
                                </p:cTn>
                              </p:par>
                              <p:par>
                                <p:cTn id="118" presetID="22" presetClass="entr" presetSubtype="8" fill="hold" grpId="0" nodeType="withEffect">
                                  <p:stCondLst>
                                    <p:cond delay="720"/>
                                  </p:stCondLst>
                                  <p:childTnLst>
                                    <p:set>
                                      <p:cBhvr>
                                        <p:cTn id="116" dur="1" fill="hold">
                                          <p:stCondLst>
                                            <p:cond delay="0"/>
                                          </p:stCondLst>
                                        </p:cTn>
                                        <p:tgtEl>
                                          <p:spTgt spid="24"/>
                                        </p:tgtEl>
                                        <p:attrNameLst>
                                          <p:attrName>style.visibility</p:attrName>
                                        </p:attrNameLst>
                                      </p:cBhvr>
                                      <p:to>
                                        <p:strVal val="visible"/>
                                      </p:to>
                                    </p:set>
                                    <p:animEffect transition="in" filter="wipe(left)">
                                      <p:cBhvr>
                                        <p:cTn id="117" dur="500"/>
                                        <p:tgtEl>
                                          <p:spTgt spid="24"/>
                                        </p:tgtEl>
                                      </p:cBhvr>
                                    </p:animEffect>
                                  </p:childTnLst>
                                </p:cTn>
                              </p:par>
                              <p:par>
                                <p:cTn id="121" presetID="22" presetClass="entr" presetSubtype="8" fill="hold" grpId="0" nodeType="withEffect">
                                  <p:stCondLst>
                                    <p:cond delay="720"/>
                                  </p:stCondLst>
                                  <p:childTnLst>
                                    <p:set>
                                      <p:cBhvr>
                                        <p:cTn id="119" dur="1" fill="hold">
                                          <p:stCondLst>
                                            <p:cond delay="0"/>
                                          </p:stCondLst>
                                        </p:cTn>
                                        <p:tgtEl>
                                          <p:spTgt spid="37"/>
                                        </p:tgtEl>
                                        <p:attrNameLst>
                                          <p:attrName>style.visibility</p:attrName>
                                        </p:attrNameLst>
                                      </p:cBhvr>
                                      <p:to>
                                        <p:strVal val="visible"/>
                                      </p:to>
                                    </p:set>
                                    <p:animEffect transition="in" filter="wipe(left)">
                                      <p:cBhvr>
                                        <p:cTn id="120" dur="500"/>
                                        <p:tgtEl>
                                          <p:spTgt spid="37"/>
                                        </p:tgtEl>
                                      </p:cBhvr>
                                    </p:animEffect>
                                  </p:childTnLst>
                                </p:cTn>
                              </p:par>
                              <p:par>
                                <p:cTn id="124" presetID="22" presetClass="entr" presetSubtype="8" fill="hold" grpId="0" nodeType="withEffect">
                                  <p:stCondLst>
                                    <p:cond delay="720"/>
                                  </p:stCondLst>
                                  <p:childTnLst>
                                    <p:set>
                                      <p:cBhvr>
                                        <p:cTn id="122" dur="1" fill="hold">
                                          <p:stCondLst>
                                            <p:cond delay="0"/>
                                          </p:stCondLst>
                                        </p:cTn>
                                        <p:tgtEl>
                                          <p:spTgt spid="38"/>
                                        </p:tgtEl>
                                        <p:attrNameLst>
                                          <p:attrName>style.visibility</p:attrName>
                                        </p:attrNameLst>
                                      </p:cBhvr>
                                      <p:to>
                                        <p:strVal val="visible"/>
                                      </p:to>
                                    </p:set>
                                    <p:animEffect transition="in" filter="wipe(left)">
                                      <p:cBhvr>
                                        <p:cTn id="123" dur="500"/>
                                        <p:tgtEl>
                                          <p:spTgt spid="38"/>
                                        </p:tgtEl>
                                      </p:cBhvr>
                                    </p:animEffect>
                                  </p:childTnLst>
                                </p:cTn>
                              </p:par>
                              <p:par>
                                <p:cTn id="127" presetID="22" presetClass="entr" presetSubtype="8" fill="hold" grpId="0" nodeType="withEffect">
                                  <p:stCondLst>
                                    <p:cond delay="720"/>
                                  </p:stCondLst>
                                  <p:childTnLst>
                                    <p:set>
                                      <p:cBhvr>
                                        <p:cTn id="125" dur="1" fill="hold">
                                          <p:stCondLst>
                                            <p:cond delay="0"/>
                                          </p:stCondLst>
                                        </p:cTn>
                                        <p:tgtEl>
                                          <p:spTgt spid="51"/>
                                        </p:tgtEl>
                                        <p:attrNameLst>
                                          <p:attrName>style.visibility</p:attrName>
                                        </p:attrNameLst>
                                      </p:cBhvr>
                                      <p:to>
                                        <p:strVal val="visible"/>
                                      </p:to>
                                    </p:set>
                                    <p:animEffect transition="in" filter="wipe(left)">
                                      <p:cBhvr>
                                        <p:cTn id="126" dur="500"/>
                                        <p:tgtEl>
                                          <p:spTgt spid="51"/>
                                        </p:tgtEl>
                                      </p:cBhvr>
                                    </p:animEffect>
                                  </p:childTnLst>
                                </p:cTn>
                              </p:par>
                              <p:par>
                                <p:cTn id="130" presetID="22" presetClass="entr" presetSubtype="8" fill="hold" grpId="0" nodeType="withEffect">
                                  <p:stCondLst>
                                    <p:cond delay="720"/>
                                  </p:stCondLst>
                                  <p:childTnLst>
                                    <p:set>
                                      <p:cBhvr>
                                        <p:cTn id="128" dur="1" fill="hold">
                                          <p:stCondLst>
                                            <p:cond delay="0"/>
                                          </p:stCondLst>
                                        </p:cTn>
                                        <p:tgtEl>
                                          <p:spTgt spid="52"/>
                                        </p:tgtEl>
                                        <p:attrNameLst>
                                          <p:attrName>style.visibility</p:attrName>
                                        </p:attrNameLst>
                                      </p:cBhvr>
                                      <p:to>
                                        <p:strVal val="visible"/>
                                      </p:to>
                                    </p:set>
                                    <p:animEffect transition="in" filter="wipe(left)">
                                      <p:cBhvr>
                                        <p:cTn id="129" dur="500"/>
                                        <p:tgtEl>
                                          <p:spTgt spid="52"/>
                                        </p:tgtEl>
                                      </p:cBhvr>
                                    </p:animEffect>
                                  </p:childTnLst>
                                </p:cTn>
                              </p:par>
                            </p:childTnLst>
                          </p:cTn>
                        </p:par>
                      </p:childTnLst>
                    </p:cTn>
                  </p:par>
                  <p:par>
                    <p:cTn id="131" fill="hold">
                      <p:stCondLst>
                        <p:cond delay="indefinite"/>
                      </p:stCondLst>
                      <p:childTnLst>
                        <p:par>
                          <p:cTn id="132" fill="hold">
                            <p:stCondLst>
                              <p:cond delay="0"/>
                            </p:stCondLst>
                            <p:childTnLst>
                              <p:par>
                                <p:cTn id="137" presetID="2" presetClass="entr" presetSubtype="4" fill="hold" grpId="0" nodeType="clickEffect">
                                  <p:stCondLst>
                                    <p:cond delay="0"/>
                                  </p:stCondLst>
                                  <p:childTnLst>
                                    <p:set>
                                      <p:cBhvr>
                                        <p:cTn id="133" dur="1" fill="hold">
                                          <p:stCondLst>
                                            <p:cond delay="0"/>
                                          </p:stCondLst>
                                        </p:cTn>
                                        <p:tgtEl>
                                          <p:spTgt spid="53"/>
                                        </p:tgtEl>
                                        <p:attrNameLst>
                                          <p:attrName>style.visibility</p:attrName>
                                        </p:attrNameLst>
                                      </p:cBhvr>
                                      <p:to>
                                        <p:strVal val="visible"/>
                                      </p:to>
                                    </p:set>
                                    <p:anim calcmode="lin" valueType="num">
                                      <p:cBhvr additive="base">
                                        <p:cTn id="134" dur="500" fill="hold"/>
                                        <p:tgtEl>
                                          <p:spTgt spid="53"/>
                                        </p:tgtEl>
                                        <p:attrNameLst>
                                          <p:attrName>ppt_x</p:attrName>
                                        </p:attrNameLst>
                                      </p:cBhvr>
                                      <p:tavLst>
                                        <p:tav tm="0">
                                          <p:val>
                                            <p:strVal val="#ppt_x"/>
                                          </p:val>
                                        </p:tav>
                                        <p:tav tm="100000">
                                          <p:val>
                                            <p:strVal val="#ppt_x"/>
                                          </p:val>
                                        </p:tav>
                                      </p:tavLst>
                                    </p:anim>
                                    <p:anim calcmode="lin" valueType="num">
                                      <p:cBhvr additive="base">
                                        <p:cTn id="135" dur="500" fill="hold"/>
                                        <p:tgtEl>
                                          <p:spTgt spid="53"/>
                                        </p:tgtEl>
                                        <p:attrNameLst>
                                          <p:attrName>ppt_y</p:attrName>
                                        </p:attrNameLst>
                                      </p:cBhvr>
                                      <p:tavLst>
                                        <p:tav tm="0">
                                          <p:val>
                                            <p:strVal val="#ppt_y+0.1"/>
                                          </p:val>
                                        </p:tav>
                                        <p:tav tm="100000">
                                          <p:val>
                                            <p:strVal val="#ppt_y"/>
                                          </p:val>
                                        </p:tav>
                                      </p:tavLst>
                                    </p:anim>
                                    <p:animEffect transition="in" filter="fade">
                                      <p:cBhvr>
                                        <p:cTn id="136" dur="500"/>
                                        <p:tgtEl>
                                          <p:spTgt spid="53"/>
                                        </p:tgtEl>
                                      </p:cBhvr>
                                    </p:animEffect>
                                  </p:childTnLst>
                                </p:cTn>
                              </p:par>
                              <p:par>
                                <p:cTn id="142" presetID="2" presetClass="entr" presetSubtype="4" fill="hold" grpId="0" nodeType="withEffect">
                                  <p:stCondLst>
                                    <p:cond delay="0"/>
                                  </p:stCondLst>
                                  <p:childTnLst>
                                    <p:set>
                                      <p:cBhvr>
                                        <p:cTn id="138" dur="1" fill="hold">
                                          <p:stCondLst>
                                            <p:cond delay="0"/>
                                          </p:stCondLst>
                                        </p:cTn>
                                        <p:tgtEl>
                                          <p:spTgt spid="54"/>
                                        </p:tgtEl>
                                        <p:attrNameLst>
                                          <p:attrName>style.visibility</p:attrName>
                                        </p:attrNameLst>
                                      </p:cBhvr>
                                      <p:to>
                                        <p:strVal val="visible"/>
                                      </p:to>
                                    </p:set>
                                    <p:anim calcmode="lin" valueType="num">
                                      <p:cBhvr additive="base">
                                        <p:cTn id="139" dur="500" fill="hold"/>
                                        <p:tgtEl>
                                          <p:spTgt spid="54"/>
                                        </p:tgtEl>
                                        <p:attrNameLst>
                                          <p:attrName>ppt_x</p:attrName>
                                        </p:attrNameLst>
                                      </p:cBhvr>
                                      <p:tavLst>
                                        <p:tav tm="0">
                                          <p:val>
                                            <p:strVal val="#ppt_x"/>
                                          </p:val>
                                        </p:tav>
                                        <p:tav tm="100000">
                                          <p:val>
                                            <p:strVal val="#ppt_x"/>
                                          </p:val>
                                        </p:tav>
                                      </p:tavLst>
                                    </p:anim>
                                    <p:anim calcmode="lin" valueType="num">
                                      <p:cBhvr additive="base">
                                        <p:cTn id="140" dur="500" fill="hold"/>
                                        <p:tgtEl>
                                          <p:spTgt spid="54"/>
                                        </p:tgtEl>
                                        <p:attrNameLst>
                                          <p:attrName>ppt_y</p:attrName>
                                        </p:attrNameLst>
                                      </p:cBhvr>
                                      <p:tavLst>
                                        <p:tav tm="0">
                                          <p:val>
                                            <p:strVal val="#ppt_y+0.1"/>
                                          </p:val>
                                        </p:tav>
                                        <p:tav tm="100000">
                                          <p:val>
                                            <p:strVal val="#ppt_y"/>
                                          </p:val>
                                        </p:tav>
                                      </p:tavLst>
                                    </p:anim>
                                    <p:animEffect transition="in" filter="fade">
                                      <p:cBhvr>
                                        <p:cTn id="141" dur="500"/>
                                        <p:tgtEl>
                                          <p:spTgt spid="54"/>
                                        </p:tgtEl>
                                      </p:cBhvr>
                                    </p:animEffect>
                                  </p:childTnLst>
                                </p:cTn>
                              </p:par>
                              <p:par>
                                <p:cTn id="147" presetID="2" presetClass="entr" presetSubtype="4" fill="hold" grpId="0" nodeType="withEffect">
                                  <p:stCondLst>
                                    <p:cond delay="0"/>
                                  </p:stCondLst>
                                  <p:childTnLst>
                                    <p:set>
                                      <p:cBhvr>
                                        <p:cTn id="143" dur="1" fill="hold">
                                          <p:stCondLst>
                                            <p:cond delay="0"/>
                                          </p:stCondLst>
                                        </p:cTn>
                                        <p:tgtEl>
                                          <p:spTgt spid="55"/>
                                        </p:tgtEl>
                                        <p:attrNameLst>
                                          <p:attrName>style.visibility</p:attrName>
                                        </p:attrNameLst>
                                      </p:cBhvr>
                                      <p:to>
                                        <p:strVal val="visible"/>
                                      </p:to>
                                    </p:set>
                                    <p:anim calcmode="lin" valueType="num">
                                      <p:cBhvr additive="base">
                                        <p:cTn id="144" dur="500" fill="hold"/>
                                        <p:tgtEl>
                                          <p:spTgt spid="55"/>
                                        </p:tgtEl>
                                        <p:attrNameLst>
                                          <p:attrName>ppt_x</p:attrName>
                                        </p:attrNameLst>
                                      </p:cBhvr>
                                      <p:tavLst>
                                        <p:tav tm="0">
                                          <p:val>
                                            <p:strVal val="#ppt_x"/>
                                          </p:val>
                                        </p:tav>
                                        <p:tav tm="100000">
                                          <p:val>
                                            <p:strVal val="#ppt_x"/>
                                          </p:val>
                                        </p:tav>
                                      </p:tavLst>
                                    </p:anim>
                                    <p:anim calcmode="lin" valueType="num">
                                      <p:cBhvr additive="base">
                                        <p:cTn id="145" dur="500" fill="hold"/>
                                        <p:tgtEl>
                                          <p:spTgt spid="55"/>
                                        </p:tgtEl>
                                        <p:attrNameLst>
                                          <p:attrName>ppt_y</p:attrName>
                                        </p:attrNameLst>
                                      </p:cBhvr>
                                      <p:tavLst>
                                        <p:tav tm="0">
                                          <p:val>
                                            <p:strVal val="#ppt_y+0.1"/>
                                          </p:val>
                                        </p:tav>
                                        <p:tav tm="100000">
                                          <p:val>
                                            <p:strVal val="#ppt_y"/>
                                          </p:val>
                                        </p:tav>
                                      </p:tavLst>
                                    </p:anim>
                                    <p:animEffect transition="in" filter="fade">
                                      <p:cBhvr>
                                        <p:cTn id="146" dur="500"/>
                                        <p:tgtEl>
                                          <p:spTgt spid="55"/>
                                        </p:tgtEl>
                                      </p:cBhvr>
                                    </p:animEffect>
                                  </p:childTnLst>
                                </p:cTn>
                              </p:par>
                              <p:par>
                                <p:cTn id="152" presetID="2" presetClass="entr" presetSubtype="4" fill="hold" grpId="0" nodeType="withEffect">
                                  <p:stCondLst>
                                    <p:cond delay="80"/>
                                  </p:stCondLst>
                                  <p:childTnLst>
                                    <p:set>
                                      <p:cBhvr>
                                        <p:cTn id="148" dur="1" fill="hold">
                                          <p:stCondLst>
                                            <p:cond delay="0"/>
                                          </p:stCondLst>
                                        </p:cTn>
                                        <p:tgtEl>
                                          <p:spTgt spid="56"/>
                                        </p:tgtEl>
                                        <p:attrNameLst>
                                          <p:attrName>style.visibility</p:attrName>
                                        </p:attrNameLst>
                                      </p:cBhvr>
                                      <p:to>
                                        <p:strVal val="visible"/>
                                      </p:to>
                                    </p:set>
                                    <p:anim calcmode="lin" valueType="num">
                                      <p:cBhvr additive="base">
                                        <p:cTn id="149" dur="500" fill="hold"/>
                                        <p:tgtEl>
                                          <p:spTgt spid="56"/>
                                        </p:tgtEl>
                                        <p:attrNameLst>
                                          <p:attrName>ppt_x</p:attrName>
                                        </p:attrNameLst>
                                      </p:cBhvr>
                                      <p:tavLst>
                                        <p:tav tm="0">
                                          <p:val>
                                            <p:strVal val="#ppt_x"/>
                                          </p:val>
                                        </p:tav>
                                        <p:tav tm="100000">
                                          <p:val>
                                            <p:strVal val="#ppt_x"/>
                                          </p:val>
                                        </p:tav>
                                      </p:tavLst>
                                    </p:anim>
                                    <p:anim calcmode="lin" valueType="num">
                                      <p:cBhvr additive="base">
                                        <p:cTn id="150" dur="500" fill="hold"/>
                                        <p:tgtEl>
                                          <p:spTgt spid="56"/>
                                        </p:tgtEl>
                                        <p:attrNameLst>
                                          <p:attrName>ppt_y</p:attrName>
                                        </p:attrNameLst>
                                      </p:cBhvr>
                                      <p:tavLst>
                                        <p:tav tm="0">
                                          <p:val>
                                            <p:strVal val="#ppt_y+0.1"/>
                                          </p:val>
                                        </p:tav>
                                        <p:tav tm="100000">
                                          <p:val>
                                            <p:strVal val="#ppt_y"/>
                                          </p:val>
                                        </p:tav>
                                      </p:tavLst>
                                    </p:anim>
                                    <p:animEffect transition="in" filter="fade">
                                      <p:cBhvr>
                                        <p:cTn id="151" dur="500"/>
                                        <p:tgtEl>
                                          <p:spTgt spid="56"/>
                                        </p:tgtEl>
                                      </p:cBhvr>
                                    </p:animEffect>
                                  </p:childTnLst>
                                </p:cTn>
                              </p:par>
                            </p:childTnLst>
                          </p:cTn>
                        </p:par>
                      </p:childTnLst>
                    </p:cTn>
                  </p:par>
                  <p:par>
                    <p:cTn id="153" fill="hold">
                      <p:stCondLst>
                        <p:cond delay="indefinite"/>
                      </p:stCondLst>
                      <p:childTnLst>
                        <p:par>
                          <p:cTn id="154" fill="hold">
                            <p:stCondLst>
                              <p:cond delay="0"/>
                            </p:stCondLst>
                            <p:childTnLst>
                              <p:par>
                                <p:cTn id="159" presetID="2" presetClass="entr" presetSubtype="4" fill="hold" grpId="0" nodeType="clickEffect">
                                  <p:stCondLst>
                                    <p:cond delay="0"/>
                                  </p:stCondLst>
                                  <p:childTnLst>
                                    <p:set>
                                      <p:cBhvr>
                                        <p:cTn id="155" dur="1" fill="hold">
                                          <p:stCondLst>
                                            <p:cond delay="0"/>
                                          </p:stCondLst>
                                        </p:cTn>
                                        <p:tgtEl>
                                          <p:spTgt spid="57"/>
                                        </p:tgtEl>
                                        <p:attrNameLst>
                                          <p:attrName>style.visibility</p:attrName>
                                        </p:attrNameLst>
                                      </p:cBhvr>
                                      <p:to>
                                        <p:strVal val="visible"/>
                                      </p:to>
                                    </p:set>
                                    <p:anim calcmode="lin" valueType="num">
                                      <p:cBhvr additive="base">
                                        <p:cTn id="156" dur="500" fill="hold"/>
                                        <p:tgtEl>
                                          <p:spTgt spid="57"/>
                                        </p:tgtEl>
                                        <p:attrNameLst>
                                          <p:attrName>ppt_x</p:attrName>
                                        </p:attrNameLst>
                                      </p:cBhvr>
                                      <p:tavLst>
                                        <p:tav tm="0">
                                          <p:val>
                                            <p:strVal val="#ppt_x"/>
                                          </p:val>
                                        </p:tav>
                                        <p:tav tm="100000">
                                          <p:val>
                                            <p:strVal val="#ppt_x"/>
                                          </p:val>
                                        </p:tav>
                                      </p:tavLst>
                                    </p:anim>
                                    <p:anim calcmode="lin" valueType="num">
                                      <p:cBhvr additive="base">
                                        <p:cTn id="157" dur="500" fill="hold"/>
                                        <p:tgtEl>
                                          <p:spTgt spid="57"/>
                                        </p:tgtEl>
                                        <p:attrNameLst>
                                          <p:attrName>ppt_y</p:attrName>
                                        </p:attrNameLst>
                                      </p:cBhvr>
                                      <p:tavLst>
                                        <p:tav tm="0">
                                          <p:val>
                                            <p:strVal val="#ppt_y+0.1"/>
                                          </p:val>
                                        </p:tav>
                                        <p:tav tm="100000">
                                          <p:val>
                                            <p:strVal val="#ppt_y"/>
                                          </p:val>
                                        </p:tav>
                                      </p:tavLst>
                                    </p:anim>
                                    <p:animEffect transition="in" filter="fade">
                                      <p:cBhvr>
                                        <p:cTn id="158" dur="500"/>
                                        <p:tgtEl>
                                          <p:spTgt spid="57"/>
                                        </p:tgtEl>
                                      </p:cBhvr>
                                    </p:animEffect>
                                  </p:childTnLst>
                                </p:cTn>
                              </p:par>
                              <p:par>
                                <p:cTn id="164" presetID="2" presetClass="entr" presetSubtype="4" fill="hold" grpId="0" nodeType="withEffect">
                                  <p:stCondLst>
                                    <p:cond delay="0"/>
                                  </p:stCondLst>
                                  <p:childTnLst>
                                    <p:set>
                                      <p:cBhvr>
                                        <p:cTn id="160" dur="1" fill="hold">
                                          <p:stCondLst>
                                            <p:cond delay="0"/>
                                          </p:stCondLst>
                                        </p:cTn>
                                        <p:tgtEl>
                                          <p:spTgt spid="58"/>
                                        </p:tgtEl>
                                        <p:attrNameLst>
                                          <p:attrName>style.visibility</p:attrName>
                                        </p:attrNameLst>
                                      </p:cBhvr>
                                      <p:to>
                                        <p:strVal val="visible"/>
                                      </p:to>
                                    </p:set>
                                    <p:anim calcmode="lin" valueType="num">
                                      <p:cBhvr additive="base">
                                        <p:cTn id="161" dur="500" fill="hold"/>
                                        <p:tgtEl>
                                          <p:spTgt spid="58"/>
                                        </p:tgtEl>
                                        <p:attrNameLst>
                                          <p:attrName>ppt_x</p:attrName>
                                        </p:attrNameLst>
                                      </p:cBhvr>
                                      <p:tavLst>
                                        <p:tav tm="0">
                                          <p:val>
                                            <p:strVal val="#ppt_x"/>
                                          </p:val>
                                        </p:tav>
                                        <p:tav tm="100000">
                                          <p:val>
                                            <p:strVal val="#ppt_x"/>
                                          </p:val>
                                        </p:tav>
                                      </p:tavLst>
                                    </p:anim>
                                    <p:anim calcmode="lin" valueType="num">
                                      <p:cBhvr additive="base">
                                        <p:cTn id="162" dur="500" fill="hold"/>
                                        <p:tgtEl>
                                          <p:spTgt spid="58"/>
                                        </p:tgtEl>
                                        <p:attrNameLst>
                                          <p:attrName>ppt_y</p:attrName>
                                        </p:attrNameLst>
                                      </p:cBhvr>
                                      <p:tavLst>
                                        <p:tav tm="0">
                                          <p:val>
                                            <p:strVal val="#ppt_y+0.1"/>
                                          </p:val>
                                        </p:tav>
                                        <p:tav tm="100000">
                                          <p:val>
                                            <p:strVal val="#ppt_y"/>
                                          </p:val>
                                        </p:tav>
                                      </p:tavLst>
                                    </p:anim>
                                    <p:animEffect transition="in" filter="fade">
                                      <p:cBhvr>
                                        <p:cTn id="163" dur="500"/>
                                        <p:tgtEl>
                                          <p:spTgt spid="58"/>
                                        </p:tgtEl>
                                      </p:cBhvr>
                                    </p:animEffect>
                                  </p:childTnLst>
                                </p:cTn>
                              </p:par>
                              <p:par>
                                <p:cTn id="169" presetID="2" presetClass="entr" presetSubtype="4"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additive="base">
                                        <p:cTn id="166" dur="500" fill="hold"/>
                                        <p:tgtEl>
                                          <p:spTgt spid="59"/>
                                        </p:tgtEl>
                                        <p:attrNameLst>
                                          <p:attrName>ppt_x</p:attrName>
                                        </p:attrNameLst>
                                      </p:cBhvr>
                                      <p:tavLst>
                                        <p:tav tm="0">
                                          <p:val>
                                            <p:strVal val="#ppt_x"/>
                                          </p:val>
                                        </p:tav>
                                        <p:tav tm="100000">
                                          <p:val>
                                            <p:strVal val="#ppt_x"/>
                                          </p:val>
                                        </p:tav>
                                      </p:tavLst>
                                    </p:anim>
                                    <p:anim calcmode="lin" valueType="num">
                                      <p:cBhvr additive="base">
                                        <p:cTn id="167" dur="500" fill="hold"/>
                                        <p:tgtEl>
                                          <p:spTgt spid="59"/>
                                        </p:tgtEl>
                                        <p:attrNameLst>
                                          <p:attrName>ppt_y</p:attrName>
                                        </p:attrNameLst>
                                      </p:cBhvr>
                                      <p:tavLst>
                                        <p:tav tm="0">
                                          <p:val>
                                            <p:strVal val="#ppt_y+0.1"/>
                                          </p:val>
                                        </p:tav>
                                        <p:tav tm="100000">
                                          <p:val>
                                            <p:strVal val="#ppt_y"/>
                                          </p:val>
                                        </p:tav>
                                      </p:tavLst>
                                    </p:anim>
                                    <p:animEffect transition="in" filter="fade">
                                      <p:cBhvr>
                                        <p:cTn id="168" dur="500"/>
                                        <p:tgtEl>
                                          <p:spTgt spid="59"/>
                                        </p:tgtEl>
                                      </p:cBhvr>
                                    </p:animEffect>
                                  </p:childTnLst>
                                </p:cTn>
                              </p:par>
                              <p:par>
                                <p:cTn id="174" presetID="2" presetClass="entr" presetSubtype="4" fill="hold" grpId="0" nodeType="withEffect">
                                  <p:stCondLst>
                                    <p:cond delay="80"/>
                                  </p:stCondLst>
                                  <p:childTnLst>
                                    <p:set>
                                      <p:cBhvr>
                                        <p:cTn id="170" dur="1" fill="hold">
                                          <p:stCondLst>
                                            <p:cond delay="0"/>
                                          </p:stCondLst>
                                        </p:cTn>
                                        <p:tgtEl>
                                          <p:spTgt spid="60"/>
                                        </p:tgtEl>
                                        <p:attrNameLst>
                                          <p:attrName>style.visibility</p:attrName>
                                        </p:attrNameLst>
                                      </p:cBhvr>
                                      <p:to>
                                        <p:strVal val="visible"/>
                                      </p:to>
                                    </p:set>
                                    <p:anim calcmode="lin" valueType="num">
                                      <p:cBhvr additive="base">
                                        <p:cTn id="171" dur="500" fill="hold"/>
                                        <p:tgtEl>
                                          <p:spTgt spid="60"/>
                                        </p:tgtEl>
                                        <p:attrNameLst>
                                          <p:attrName>ppt_x</p:attrName>
                                        </p:attrNameLst>
                                      </p:cBhvr>
                                      <p:tavLst>
                                        <p:tav tm="0">
                                          <p:val>
                                            <p:strVal val="#ppt_x"/>
                                          </p:val>
                                        </p:tav>
                                        <p:tav tm="100000">
                                          <p:val>
                                            <p:strVal val="#ppt_x"/>
                                          </p:val>
                                        </p:tav>
                                      </p:tavLst>
                                    </p:anim>
                                    <p:anim calcmode="lin" valueType="num">
                                      <p:cBhvr additive="base">
                                        <p:cTn id="172" dur="500" fill="hold"/>
                                        <p:tgtEl>
                                          <p:spTgt spid="60"/>
                                        </p:tgtEl>
                                        <p:attrNameLst>
                                          <p:attrName>ppt_y</p:attrName>
                                        </p:attrNameLst>
                                      </p:cBhvr>
                                      <p:tavLst>
                                        <p:tav tm="0">
                                          <p:val>
                                            <p:strVal val="#ppt_y+0.1"/>
                                          </p:val>
                                        </p:tav>
                                        <p:tav tm="100000">
                                          <p:val>
                                            <p:strVal val="#ppt_y"/>
                                          </p:val>
                                        </p:tav>
                                      </p:tavLst>
                                    </p:anim>
                                    <p:animEffect transition="in" filter="fade">
                                      <p:cBhvr>
                                        <p:cTn id="173" dur="500"/>
                                        <p:tgtEl>
                                          <p:spTgt spid="60"/>
                                        </p:tgtEl>
                                      </p:cBhvr>
                                    </p:animEffect>
                                  </p:childTnLst>
                                </p:cTn>
                              </p:par>
                            </p:childTnLst>
                          </p:cTn>
                        </p:par>
                      </p:childTnLst>
                    </p:cTn>
                  </p:par>
                  <p:par>
                    <p:cTn id="175" fill="hold">
                      <p:stCondLst>
                        <p:cond delay="indefinite"/>
                      </p:stCondLst>
                      <p:childTnLst>
                        <p:par>
                          <p:cTn id="176" fill="hold">
                            <p:stCondLst>
                              <p:cond delay="0"/>
                            </p:stCondLst>
                            <p:childTnLst>
                              <p:par>
                                <p:cTn id="181" presetID="2" presetClass="entr" presetSubtype="4" fill="hold" grpId="0" nodeType="clickEffect">
                                  <p:stCondLst>
                                    <p:cond delay="0"/>
                                  </p:stCondLst>
                                  <p:childTnLst>
                                    <p:set>
                                      <p:cBhvr>
                                        <p:cTn id="177" dur="1" fill="hold">
                                          <p:stCondLst>
                                            <p:cond delay="0"/>
                                          </p:stCondLst>
                                        </p:cTn>
                                        <p:tgtEl>
                                          <p:spTgt spid="61"/>
                                        </p:tgtEl>
                                        <p:attrNameLst>
                                          <p:attrName>style.visibility</p:attrName>
                                        </p:attrNameLst>
                                      </p:cBhvr>
                                      <p:to>
                                        <p:strVal val="visible"/>
                                      </p:to>
                                    </p:set>
                                    <p:anim calcmode="lin" valueType="num">
                                      <p:cBhvr additive="base">
                                        <p:cTn id="178" dur="500" fill="hold"/>
                                        <p:tgtEl>
                                          <p:spTgt spid="61"/>
                                        </p:tgtEl>
                                        <p:attrNameLst>
                                          <p:attrName>ppt_x</p:attrName>
                                        </p:attrNameLst>
                                      </p:cBhvr>
                                      <p:tavLst>
                                        <p:tav tm="0">
                                          <p:val>
                                            <p:strVal val="#ppt_x"/>
                                          </p:val>
                                        </p:tav>
                                        <p:tav tm="100000">
                                          <p:val>
                                            <p:strVal val="#ppt_x"/>
                                          </p:val>
                                        </p:tav>
                                      </p:tavLst>
                                    </p:anim>
                                    <p:anim calcmode="lin" valueType="num">
                                      <p:cBhvr additive="base">
                                        <p:cTn id="179" dur="500" fill="hold"/>
                                        <p:tgtEl>
                                          <p:spTgt spid="61"/>
                                        </p:tgtEl>
                                        <p:attrNameLst>
                                          <p:attrName>ppt_y</p:attrName>
                                        </p:attrNameLst>
                                      </p:cBhvr>
                                      <p:tavLst>
                                        <p:tav tm="0">
                                          <p:val>
                                            <p:strVal val="#ppt_y+0.1"/>
                                          </p:val>
                                        </p:tav>
                                        <p:tav tm="100000">
                                          <p:val>
                                            <p:strVal val="#ppt_y"/>
                                          </p:val>
                                        </p:tav>
                                      </p:tavLst>
                                    </p:anim>
                                    <p:animEffect transition="in" filter="fade">
                                      <p:cBhvr>
                                        <p:cTn id="180" dur="500"/>
                                        <p:tgtEl>
                                          <p:spTgt spid="61"/>
                                        </p:tgtEl>
                                      </p:cBhvr>
                                    </p:animEffect>
                                  </p:childTnLst>
                                </p:cTn>
                              </p:par>
                              <p:par>
                                <p:cTn id="186" presetID="2" presetClass="entr" presetSubtype="4" fill="hold" grpId="0" nodeType="withEffect">
                                  <p:stCondLst>
                                    <p:cond delay="0"/>
                                  </p:stCondLst>
                                  <p:childTnLst>
                                    <p:set>
                                      <p:cBhvr>
                                        <p:cTn id="182" dur="1" fill="hold">
                                          <p:stCondLst>
                                            <p:cond delay="0"/>
                                          </p:stCondLst>
                                        </p:cTn>
                                        <p:tgtEl>
                                          <p:spTgt spid="62"/>
                                        </p:tgtEl>
                                        <p:attrNameLst>
                                          <p:attrName>style.visibility</p:attrName>
                                        </p:attrNameLst>
                                      </p:cBhvr>
                                      <p:to>
                                        <p:strVal val="visible"/>
                                      </p:to>
                                    </p:set>
                                    <p:anim calcmode="lin" valueType="num">
                                      <p:cBhvr additive="base">
                                        <p:cTn id="183" dur="500" fill="hold"/>
                                        <p:tgtEl>
                                          <p:spTgt spid="62"/>
                                        </p:tgtEl>
                                        <p:attrNameLst>
                                          <p:attrName>ppt_x</p:attrName>
                                        </p:attrNameLst>
                                      </p:cBhvr>
                                      <p:tavLst>
                                        <p:tav tm="0">
                                          <p:val>
                                            <p:strVal val="#ppt_x"/>
                                          </p:val>
                                        </p:tav>
                                        <p:tav tm="100000">
                                          <p:val>
                                            <p:strVal val="#ppt_x"/>
                                          </p:val>
                                        </p:tav>
                                      </p:tavLst>
                                    </p:anim>
                                    <p:anim calcmode="lin" valueType="num">
                                      <p:cBhvr additive="base">
                                        <p:cTn id="184" dur="500" fill="hold"/>
                                        <p:tgtEl>
                                          <p:spTgt spid="62"/>
                                        </p:tgtEl>
                                        <p:attrNameLst>
                                          <p:attrName>ppt_y</p:attrName>
                                        </p:attrNameLst>
                                      </p:cBhvr>
                                      <p:tavLst>
                                        <p:tav tm="0">
                                          <p:val>
                                            <p:strVal val="#ppt_y+0.1"/>
                                          </p:val>
                                        </p:tav>
                                        <p:tav tm="100000">
                                          <p:val>
                                            <p:strVal val="#ppt_y"/>
                                          </p:val>
                                        </p:tav>
                                      </p:tavLst>
                                    </p:anim>
                                    <p:animEffect transition="in" filter="fade">
                                      <p:cBhvr>
                                        <p:cTn id="185" dur="500"/>
                                        <p:tgtEl>
                                          <p:spTgt spid="62"/>
                                        </p:tgtEl>
                                      </p:cBhvr>
                                    </p:animEffect>
                                  </p:childTnLst>
                                </p:cTn>
                              </p:par>
                              <p:par>
                                <p:cTn id="191" presetID="2" presetClass="entr" presetSubtype="4" fill="hold" grpId="0" nodeType="withEffect">
                                  <p:stCondLst>
                                    <p:cond delay="0"/>
                                  </p:stCondLst>
                                  <p:childTnLst>
                                    <p:set>
                                      <p:cBhvr>
                                        <p:cTn id="187" dur="1" fill="hold">
                                          <p:stCondLst>
                                            <p:cond delay="0"/>
                                          </p:stCondLst>
                                        </p:cTn>
                                        <p:tgtEl>
                                          <p:spTgt spid="63"/>
                                        </p:tgtEl>
                                        <p:attrNameLst>
                                          <p:attrName>style.visibility</p:attrName>
                                        </p:attrNameLst>
                                      </p:cBhvr>
                                      <p:to>
                                        <p:strVal val="visible"/>
                                      </p:to>
                                    </p:set>
                                    <p:anim calcmode="lin" valueType="num">
                                      <p:cBhvr additive="base">
                                        <p:cTn id="188" dur="500" fill="hold"/>
                                        <p:tgtEl>
                                          <p:spTgt spid="63"/>
                                        </p:tgtEl>
                                        <p:attrNameLst>
                                          <p:attrName>ppt_x</p:attrName>
                                        </p:attrNameLst>
                                      </p:cBhvr>
                                      <p:tavLst>
                                        <p:tav tm="0">
                                          <p:val>
                                            <p:strVal val="#ppt_x"/>
                                          </p:val>
                                        </p:tav>
                                        <p:tav tm="100000">
                                          <p:val>
                                            <p:strVal val="#ppt_x"/>
                                          </p:val>
                                        </p:tav>
                                      </p:tavLst>
                                    </p:anim>
                                    <p:anim calcmode="lin" valueType="num">
                                      <p:cBhvr additive="base">
                                        <p:cTn id="189" dur="500" fill="hold"/>
                                        <p:tgtEl>
                                          <p:spTgt spid="63"/>
                                        </p:tgtEl>
                                        <p:attrNameLst>
                                          <p:attrName>ppt_y</p:attrName>
                                        </p:attrNameLst>
                                      </p:cBhvr>
                                      <p:tavLst>
                                        <p:tav tm="0">
                                          <p:val>
                                            <p:strVal val="#ppt_y+0.1"/>
                                          </p:val>
                                        </p:tav>
                                        <p:tav tm="100000">
                                          <p:val>
                                            <p:strVal val="#ppt_y"/>
                                          </p:val>
                                        </p:tav>
                                      </p:tavLst>
                                    </p:anim>
                                    <p:animEffect transition="in" filter="fade">
                                      <p:cBhvr>
                                        <p:cTn id="19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 Small API over a Lot of Hard Work</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It looks simple because someone else wrote the difficult part</a:t>
            </a:r>
          </a:p>
        </p:txBody>
      </p:sp>
      <p:sp>
        <p:nvSpPr>
          <p:cNvPr id="11" name="a1u_lb10"/>
          <p:cNvSpPr txBox="1"/>
          <p:nvPr/>
        </p:nvSpPr>
        <p:spPr>
          <a:xfrm>
            <a:off x="457200" y="1371600"/>
            <a:ext cx="2377440" cy="201168"/>
          </a:xfrm>
          <a:prstGeom prst="rect">
            <a:avLst/>
          </a:prstGeom>
          <a:noFill/>
        </p:spPr>
        <p:txBody>
          <a:bodyPr wrap="square" lIns="0" tIns="0" rIns="0" bIns="0" anchor="ctr">
            <a:spAutoFit/>
          </a:bodyPr>
          <a:lstStyle/>
          <a:p>
            <a:pPr algn="l"/>
            <a:r>
              <a:rPr sz="850" b="1">
                <a:solidFill>
                  <a:srgbClr val="C2410C"/>
                </a:solidFill>
                <a:latin typeface="Segoe UI"/>
              </a:rPr>
              <a:t>what you call</a:t>
            </a:r>
          </a:p>
        </p:txBody>
      </p:sp>
      <p:sp>
        <p:nvSpPr>
          <p:cNvPr id="12" name="a1u_pill11"/>
          <p:cNvSpPr/>
          <p:nvPr/>
        </p:nvSpPr>
        <p:spPr>
          <a:xfrm>
            <a:off x="3154680" y="1325880"/>
            <a:ext cx="2834640" cy="420624"/>
          </a:xfrm>
          <a:prstGeom prst="roundRect">
            <a:avLst>
              <a:gd name="adj" fmla="val 50000"/>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200" b="1">
                <a:solidFill>
                  <a:srgbClr val="FDBA74"/>
                </a:solidFill>
                <a:latin typeface="Consolas"/>
              </a:rPr>
              <a:t>producer.send(msg)</a:t>
            </a:r>
          </a:p>
        </p:txBody>
      </p:sp>
      <p:sp>
        <p:nvSpPr>
          <p:cNvPr id="13" name="a2f_sea12"/>
          <p:cNvSpPr/>
          <p:nvPr/>
        </p:nvSpPr>
        <p:spPr>
          <a:xfrm>
            <a:off x="457200" y="2011680"/>
            <a:ext cx="8229600" cy="1783080"/>
          </a:xfrm>
          <a:prstGeom prst="roundRect">
            <a:avLst>
              <a:gd name="adj" fmla="val 3076"/>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4" name="a2f_wl13"/>
          <p:cNvCxnSpPr/>
          <p:nvPr/>
        </p:nvCxnSpPr>
        <p:spPr>
          <a:xfrm>
            <a:off x="457200" y="2011680"/>
            <a:ext cx="8229600" cy="0"/>
          </a:xfrm>
          <a:prstGeom prst="line">
            <a:avLst/>
          </a:prstGeom>
          <a:ln w="25400">
            <a:solidFill>
              <a:srgbClr val="0E7490"/>
            </a:solidFill>
          </a:ln>
        </p:spPr>
        <p:style>
          <a:lnRef idx="2">
            <a:schemeClr val="accent1"/>
          </a:lnRef>
          <a:fillRef idx="0">
            <a:schemeClr val="accent1"/>
          </a:fillRef>
          <a:effectRef idx="1">
            <a:schemeClr val="accent1"/>
          </a:effectRef>
          <a:fontRef idx="minor">
            <a:schemeClr val="tx1"/>
          </a:fontRef>
        </p:style>
      </p:cxnSp>
      <p:sp>
        <p:nvSpPr>
          <p:cNvPr id="15" name="a2f_lb14"/>
          <p:cNvSpPr txBox="1"/>
          <p:nvPr/>
        </p:nvSpPr>
        <p:spPr>
          <a:xfrm>
            <a:off x="594360" y="2084831"/>
            <a:ext cx="3657600" cy="201168"/>
          </a:xfrm>
          <a:prstGeom prst="rect">
            <a:avLst/>
          </a:prstGeom>
          <a:noFill/>
        </p:spPr>
        <p:txBody>
          <a:bodyPr wrap="square" lIns="0" tIns="0" rIns="0" bIns="0" anchor="ctr">
            <a:spAutoFit/>
          </a:bodyPr>
          <a:lstStyle/>
          <a:p>
            <a:pPr algn="l"/>
            <a:r>
              <a:rPr sz="850" b="1">
                <a:solidFill>
                  <a:srgbClr val="0E7490"/>
                </a:solidFill>
                <a:latin typeface="Segoe UI"/>
              </a:rPr>
              <a:t>what the library does for you</a:t>
            </a:r>
          </a:p>
        </p:txBody>
      </p:sp>
      <p:sp>
        <p:nvSpPr>
          <p:cNvPr id="16" name="a2ud150_pill15"/>
          <p:cNvSpPr/>
          <p:nvPr/>
        </p:nvSpPr>
        <p:spPr>
          <a:xfrm>
            <a:off x="640080" y="2487168"/>
            <a:ext cx="1463040" cy="365760"/>
          </a:xfrm>
          <a:prstGeom prst="roundRect">
            <a:avLst>
              <a:gd name="adj" fmla="val 50000"/>
            </a:avLst>
          </a:prstGeom>
          <a:solidFill>
            <a:srgbClr val="FFFFF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serialization</a:t>
            </a:r>
          </a:p>
        </p:txBody>
      </p:sp>
      <p:sp>
        <p:nvSpPr>
          <p:cNvPr id="17" name="a2ud210_pill16"/>
          <p:cNvSpPr/>
          <p:nvPr/>
        </p:nvSpPr>
        <p:spPr>
          <a:xfrm>
            <a:off x="2231136" y="2487168"/>
            <a:ext cx="1463040" cy="365760"/>
          </a:xfrm>
          <a:prstGeom prst="roundRect">
            <a:avLst>
              <a:gd name="adj" fmla="val 50000"/>
            </a:avLst>
          </a:prstGeom>
          <a:solidFill>
            <a:srgbClr val="FFFFF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partitioning</a:t>
            </a:r>
          </a:p>
        </p:txBody>
      </p:sp>
      <p:sp>
        <p:nvSpPr>
          <p:cNvPr id="18" name="a2ud270_pill17"/>
          <p:cNvSpPr/>
          <p:nvPr/>
        </p:nvSpPr>
        <p:spPr>
          <a:xfrm>
            <a:off x="3822191" y="2487168"/>
            <a:ext cx="1463040" cy="365760"/>
          </a:xfrm>
          <a:prstGeom prst="roundRect">
            <a:avLst>
              <a:gd name="adj" fmla="val 50000"/>
            </a:avLst>
          </a:prstGeom>
          <a:solidFill>
            <a:srgbClr val="FFFFF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batching</a:t>
            </a:r>
          </a:p>
        </p:txBody>
      </p:sp>
      <p:sp>
        <p:nvSpPr>
          <p:cNvPr id="19" name="a2ud330_pill18"/>
          <p:cNvSpPr/>
          <p:nvPr/>
        </p:nvSpPr>
        <p:spPr>
          <a:xfrm>
            <a:off x="5413248" y="2487168"/>
            <a:ext cx="1463040" cy="365760"/>
          </a:xfrm>
          <a:prstGeom prst="roundRect">
            <a:avLst>
              <a:gd name="adj" fmla="val 50000"/>
            </a:avLst>
          </a:prstGeom>
          <a:solidFill>
            <a:srgbClr val="FFFFF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compression</a:t>
            </a:r>
          </a:p>
        </p:txBody>
      </p:sp>
      <p:sp>
        <p:nvSpPr>
          <p:cNvPr id="20" name="a2ud390_pill19"/>
          <p:cNvSpPr/>
          <p:nvPr/>
        </p:nvSpPr>
        <p:spPr>
          <a:xfrm>
            <a:off x="7004304" y="2487168"/>
            <a:ext cx="1463040" cy="365760"/>
          </a:xfrm>
          <a:prstGeom prst="roundRect">
            <a:avLst>
              <a:gd name="adj" fmla="val 50000"/>
            </a:avLst>
          </a:prstGeom>
          <a:solidFill>
            <a:srgbClr val="FFFFF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connection pools</a:t>
            </a:r>
          </a:p>
        </p:txBody>
      </p:sp>
      <p:sp>
        <p:nvSpPr>
          <p:cNvPr id="21" name="a2ud450_pill20"/>
          <p:cNvSpPr/>
          <p:nvPr/>
        </p:nvSpPr>
        <p:spPr>
          <a:xfrm>
            <a:off x="640080" y="3054096"/>
            <a:ext cx="1463040" cy="365760"/>
          </a:xfrm>
          <a:prstGeom prst="roundRect">
            <a:avLst>
              <a:gd name="adj" fmla="val 50000"/>
            </a:avLst>
          </a:prstGeom>
          <a:solidFill>
            <a:srgbClr val="FFFFF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cluster metadata</a:t>
            </a:r>
          </a:p>
        </p:txBody>
      </p:sp>
      <p:sp>
        <p:nvSpPr>
          <p:cNvPr id="22" name="a2ud510_pill21"/>
          <p:cNvSpPr/>
          <p:nvPr/>
        </p:nvSpPr>
        <p:spPr>
          <a:xfrm>
            <a:off x="2231136" y="3054096"/>
            <a:ext cx="1463040" cy="365760"/>
          </a:xfrm>
          <a:prstGeom prst="roundRect">
            <a:avLst>
              <a:gd name="adj" fmla="val 50000"/>
            </a:avLst>
          </a:prstGeom>
          <a:solidFill>
            <a:srgbClr val="FFFFF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acknowledgements</a:t>
            </a:r>
          </a:p>
        </p:txBody>
      </p:sp>
      <p:sp>
        <p:nvSpPr>
          <p:cNvPr id="23" name="a2ud570_pill22"/>
          <p:cNvSpPr/>
          <p:nvPr/>
        </p:nvSpPr>
        <p:spPr>
          <a:xfrm>
            <a:off x="3822191" y="3054096"/>
            <a:ext cx="1463040" cy="365760"/>
          </a:xfrm>
          <a:prstGeom prst="roundRect">
            <a:avLst>
              <a:gd name="adj" fmla="val 50000"/>
            </a:avLst>
          </a:prstGeom>
          <a:solidFill>
            <a:srgbClr val="FFFFF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retries</a:t>
            </a:r>
          </a:p>
        </p:txBody>
      </p:sp>
      <p:sp>
        <p:nvSpPr>
          <p:cNvPr id="24" name="a2ud630_pill23"/>
          <p:cNvSpPr/>
          <p:nvPr/>
        </p:nvSpPr>
        <p:spPr>
          <a:xfrm>
            <a:off x="5413248" y="3054096"/>
            <a:ext cx="1463040" cy="365760"/>
          </a:xfrm>
          <a:prstGeom prst="roundRect">
            <a:avLst>
              <a:gd name="adj" fmla="val 50000"/>
            </a:avLst>
          </a:prstGeom>
          <a:solidFill>
            <a:srgbClr val="FFFFF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idempotence</a:t>
            </a:r>
          </a:p>
        </p:txBody>
      </p:sp>
      <p:sp>
        <p:nvSpPr>
          <p:cNvPr id="25" name="a2ud690_pill24"/>
          <p:cNvSpPr/>
          <p:nvPr/>
        </p:nvSpPr>
        <p:spPr>
          <a:xfrm>
            <a:off x="7004304" y="3054096"/>
            <a:ext cx="1463040" cy="365760"/>
          </a:xfrm>
          <a:prstGeom prst="roundRect">
            <a:avLst>
              <a:gd name="adj" fmla="val 50000"/>
            </a:avLst>
          </a:prstGeom>
          <a:solidFill>
            <a:srgbClr val="FFFFF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ordering</a:t>
            </a:r>
          </a:p>
        </p:txBody>
      </p:sp>
      <p:sp>
        <p:nvSpPr>
          <p:cNvPr id="26" name="a3u_nb25"/>
          <p:cNvSpPr/>
          <p:nvPr/>
        </p:nvSpPr>
        <p:spPr>
          <a:xfrm>
            <a:off x="457200" y="3986784"/>
            <a:ext cx="8229600" cy="530352"/>
          </a:xfrm>
          <a:prstGeom prst="roundRect">
            <a:avLst>
              <a:gd name="adj" fmla="val 1379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u_nacc26"/>
          <p:cNvSpPr/>
          <p:nvPr/>
        </p:nvSpPr>
        <p:spPr>
          <a:xfrm>
            <a:off x="457200" y="3986784"/>
            <a:ext cx="54864" cy="53035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nt27"/>
          <p:cNvSpPr txBox="1"/>
          <p:nvPr/>
        </p:nvSpPr>
        <p:spPr>
          <a:xfrm>
            <a:off x="658368" y="3986784"/>
            <a:ext cx="7827264" cy="530352"/>
          </a:xfrm>
          <a:prstGeom prst="rect">
            <a:avLst/>
          </a:prstGeom>
          <a:noFill/>
        </p:spPr>
        <p:txBody>
          <a:bodyPr wrap="square" lIns="0" tIns="0" rIns="0" bIns="0" anchor="ctr">
            <a:spAutoFit/>
          </a:bodyPr>
          <a:lstStyle/>
          <a:p>
            <a:pPr algn="l"/>
            <a:r>
              <a:rPr sz="950" b="1">
                <a:solidFill>
                  <a:srgbClr val="C2410C"/>
                </a:solidFill>
                <a:latin typeface="Segoe UI"/>
              </a:rPr>
              <a:t>NOTE  </a:t>
            </a:r>
            <a:r>
              <a:rPr sz="950" b="0">
                <a:solidFill>
                  <a:srgbClr val="44403C"/>
                </a:solidFill>
                <a:latin typeface="Segoe UI"/>
              </a:rPr>
              <a:t>Idempotence is on by default since Kafka 3.0 - a retry cannot write the same message twice.</a:t>
            </a:r>
          </a:p>
        </p:txBody>
      </p:sp>
      <p:sp>
        <p:nvSpPr>
          <p:cNvPr id="29" name="ft2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08</a:t>
            </a:r>
          </a:p>
        </p:txBody>
      </p:sp>
      <p:sp>
        <p:nvSpPr>
          <p:cNvPr id="30" name="ft2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ft3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Producers</a:t>
            </a:r>
          </a:p>
        </p:txBody>
      </p:sp>
      <p:sp>
        <p:nvSpPr>
          <p:cNvPr id="32" name="ft3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30" presetID="2" presetClass="entr" presetSubtype="4" fill="hold" grpId="0" nodeType="withEffect">
                                  <p:stCondLst>
                                    <p:cond delay="1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ppt_y+0.1"/>
                                          </p:val>
                                        </p:tav>
                                        <p:tav tm="100000">
                                          <p:val>
                                            <p:strVal val="#ppt_y"/>
                                          </p:val>
                                        </p:tav>
                                      </p:tavLst>
                                    </p:anim>
                                    <p:animEffect transition="in" filter="fade">
                                      <p:cBhvr>
                                        <p:cTn id="29" dur="500"/>
                                        <p:tgtEl>
                                          <p:spTgt spid="16"/>
                                        </p:tgtEl>
                                      </p:cBhvr>
                                    </p:animEffect>
                                  </p:childTnLst>
                                </p:cTn>
                              </p:par>
                              <p:par>
                                <p:cTn id="35" presetID="2" presetClass="entr" presetSubtype="4" fill="hold" grpId="0" nodeType="withEffect">
                                  <p:stCondLst>
                                    <p:cond delay="21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500" fill="hold"/>
                                        <p:tgtEl>
                                          <p:spTgt spid="17"/>
                                        </p:tgtEl>
                                        <p:attrNameLst>
                                          <p:attrName>ppt_x</p:attrName>
                                        </p:attrNameLst>
                                      </p:cBhvr>
                                      <p:tavLst>
                                        <p:tav tm="0">
                                          <p:val>
                                            <p:strVal val="#ppt_x"/>
                                          </p:val>
                                        </p:tav>
                                        <p:tav tm="100000">
                                          <p:val>
                                            <p:strVal val="#ppt_x"/>
                                          </p:val>
                                        </p:tav>
                                      </p:tavLst>
                                    </p:anim>
                                    <p:anim calcmode="lin" valueType="num">
                                      <p:cBhvr additive="base">
                                        <p:cTn id="33" dur="500" fill="hold"/>
                                        <p:tgtEl>
                                          <p:spTgt spid="17"/>
                                        </p:tgtEl>
                                        <p:attrNameLst>
                                          <p:attrName>ppt_y</p:attrName>
                                        </p:attrNameLst>
                                      </p:cBhvr>
                                      <p:tavLst>
                                        <p:tav tm="0">
                                          <p:val>
                                            <p:strVal val="#ppt_y+0.1"/>
                                          </p:val>
                                        </p:tav>
                                        <p:tav tm="100000">
                                          <p:val>
                                            <p:strVal val="#ppt_y"/>
                                          </p:val>
                                        </p:tav>
                                      </p:tavLst>
                                    </p:anim>
                                    <p:animEffect transition="in" filter="fade">
                                      <p:cBhvr>
                                        <p:cTn id="34" dur="500"/>
                                        <p:tgtEl>
                                          <p:spTgt spid="17"/>
                                        </p:tgtEl>
                                      </p:cBhvr>
                                    </p:animEffect>
                                  </p:childTnLst>
                                </p:cTn>
                              </p:par>
                              <p:par>
                                <p:cTn id="40" presetID="2" presetClass="entr" presetSubtype="4" fill="hold" grpId="0" nodeType="withEffect">
                                  <p:stCondLst>
                                    <p:cond delay="27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ppt_y+0.1"/>
                                          </p:val>
                                        </p:tav>
                                        <p:tav tm="100000">
                                          <p:val>
                                            <p:strVal val="#ppt_y"/>
                                          </p:val>
                                        </p:tav>
                                      </p:tavLst>
                                    </p:anim>
                                    <p:animEffect transition="in" filter="fade">
                                      <p:cBhvr>
                                        <p:cTn id="39" dur="500"/>
                                        <p:tgtEl>
                                          <p:spTgt spid="18"/>
                                        </p:tgtEl>
                                      </p:cBhvr>
                                    </p:animEffect>
                                  </p:childTnLst>
                                </p:cTn>
                              </p:par>
                              <p:par>
                                <p:cTn id="45" presetID="2" presetClass="entr" presetSubtype="4" fill="hold" grpId="0" nodeType="withEffect">
                                  <p:stCondLst>
                                    <p:cond delay="33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500" fill="hold"/>
                                        <p:tgtEl>
                                          <p:spTgt spid="19"/>
                                        </p:tgtEl>
                                        <p:attrNameLst>
                                          <p:attrName>ppt_x</p:attrName>
                                        </p:attrNameLst>
                                      </p:cBhvr>
                                      <p:tavLst>
                                        <p:tav tm="0">
                                          <p:val>
                                            <p:strVal val="#ppt_x"/>
                                          </p:val>
                                        </p:tav>
                                        <p:tav tm="100000">
                                          <p:val>
                                            <p:strVal val="#ppt_x"/>
                                          </p:val>
                                        </p:tav>
                                      </p:tavLst>
                                    </p:anim>
                                    <p:anim calcmode="lin" valueType="num">
                                      <p:cBhvr additive="base">
                                        <p:cTn id="43" dur="500" fill="hold"/>
                                        <p:tgtEl>
                                          <p:spTgt spid="19"/>
                                        </p:tgtEl>
                                        <p:attrNameLst>
                                          <p:attrName>ppt_y</p:attrName>
                                        </p:attrNameLst>
                                      </p:cBhvr>
                                      <p:tavLst>
                                        <p:tav tm="0">
                                          <p:val>
                                            <p:strVal val="#ppt_y+0.1"/>
                                          </p:val>
                                        </p:tav>
                                        <p:tav tm="100000">
                                          <p:val>
                                            <p:strVal val="#ppt_y"/>
                                          </p:val>
                                        </p:tav>
                                      </p:tavLst>
                                    </p:anim>
                                    <p:animEffect transition="in" filter="fade">
                                      <p:cBhvr>
                                        <p:cTn id="44" dur="500"/>
                                        <p:tgtEl>
                                          <p:spTgt spid="19"/>
                                        </p:tgtEl>
                                      </p:cBhvr>
                                    </p:animEffect>
                                  </p:childTnLst>
                                </p:cTn>
                              </p:par>
                              <p:par>
                                <p:cTn id="50" presetID="2" presetClass="entr" presetSubtype="4" fill="hold" grpId="0" nodeType="withEffect">
                                  <p:stCondLst>
                                    <p:cond delay="390"/>
                                  </p:stCondLst>
                                  <p:childTnLst>
                                    <p:set>
                                      <p:cBhvr>
                                        <p:cTn id="46" dur="1" fill="hold">
                                          <p:stCondLst>
                                            <p:cond delay="0"/>
                                          </p:stCondLst>
                                        </p:cTn>
                                        <p:tgtEl>
                                          <p:spTgt spid="20"/>
                                        </p:tgtEl>
                                        <p:attrNameLst>
                                          <p:attrName>style.visibility</p:attrName>
                                        </p:attrNameLst>
                                      </p:cBhvr>
                                      <p:to>
                                        <p:strVal val="visible"/>
                                      </p:to>
                                    </p:set>
                                    <p:anim calcmode="lin" valueType="num">
                                      <p:cBhvr additive="base">
                                        <p:cTn id="47" dur="500" fill="hold"/>
                                        <p:tgtEl>
                                          <p:spTgt spid="20"/>
                                        </p:tgtEl>
                                        <p:attrNameLst>
                                          <p:attrName>ppt_x</p:attrName>
                                        </p:attrNameLst>
                                      </p:cBhvr>
                                      <p:tavLst>
                                        <p:tav tm="0">
                                          <p:val>
                                            <p:strVal val="#ppt_x"/>
                                          </p:val>
                                        </p:tav>
                                        <p:tav tm="100000">
                                          <p:val>
                                            <p:strVal val="#ppt_x"/>
                                          </p:val>
                                        </p:tav>
                                      </p:tavLst>
                                    </p:anim>
                                    <p:anim calcmode="lin" valueType="num">
                                      <p:cBhvr additive="base">
                                        <p:cTn id="48" dur="500" fill="hold"/>
                                        <p:tgtEl>
                                          <p:spTgt spid="20"/>
                                        </p:tgtEl>
                                        <p:attrNameLst>
                                          <p:attrName>ppt_y</p:attrName>
                                        </p:attrNameLst>
                                      </p:cBhvr>
                                      <p:tavLst>
                                        <p:tav tm="0">
                                          <p:val>
                                            <p:strVal val="#ppt_y+0.1"/>
                                          </p:val>
                                        </p:tav>
                                        <p:tav tm="100000">
                                          <p:val>
                                            <p:strVal val="#ppt_y"/>
                                          </p:val>
                                        </p:tav>
                                      </p:tavLst>
                                    </p:anim>
                                    <p:animEffect transition="in" filter="fade">
                                      <p:cBhvr>
                                        <p:cTn id="49" dur="500"/>
                                        <p:tgtEl>
                                          <p:spTgt spid="20"/>
                                        </p:tgtEl>
                                      </p:cBhvr>
                                    </p:animEffect>
                                  </p:childTnLst>
                                </p:cTn>
                              </p:par>
                              <p:par>
                                <p:cTn id="55" presetID="2" presetClass="entr" presetSubtype="4" fill="hold" grpId="0" nodeType="withEffect">
                                  <p:stCondLst>
                                    <p:cond delay="450"/>
                                  </p:stCondLst>
                                  <p:childTnLst>
                                    <p:set>
                                      <p:cBhvr>
                                        <p:cTn id="51" dur="1" fill="hold">
                                          <p:stCondLst>
                                            <p:cond delay="0"/>
                                          </p:stCondLst>
                                        </p:cTn>
                                        <p:tgtEl>
                                          <p:spTgt spid="21"/>
                                        </p:tgtEl>
                                        <p:attrNameLst>
                                          <p:attrName>style.visibility</p:attrName>
                                        </p:attrNameLst>
                                      </p:cBhvr>
                                      <p:to>
                                        <p:strVal val="visible"/>
                                      </p:to>
                                    </p:set>
                                    <p:anim calcmode="lin" valueType="num">
                                      <p:cBhvr additive="base">
                                        <p:cTn id="52" dur="500" fill="hold"/>
                                        <p:tgtEl>
                                          <p:spTgt spid="21"/>
                                        </p:tgtEl>
                                        <p:attrNameLst>
                                          <p:attrName>ppt_x</p:attrName>
                                        </p:attrNameLst>
                                      </p:cBhvr>
                                      <p:tavLst>
                                        <p:tav tm="0">
                                          <p:val>
                                            <p:strVal val="#ppt_x"/>
                                          </p:val>
                                        </p:tav>
                                        <p:tav tm="100000">
                                          <p:val>
                                            <p:strVal val="#ppt_x"/>
                                          </p:val>
                                        </p:tav>
                                      </p:tavLst>
                                    </p:anim>
                                    <p:anim calcmode="lin" valueType="num">
                                      <p:cBhvr additive="base">
                                        <p:cTn id="53" dur="500" fill="hold"/>
                                        <p:tgtEl>
                                          <p:spTgt spid="21"/>
                                        </p:tgtEl>
                                        <p:attrNameLst>
                                          <p:attrName>ppt_y</p:attrName>
                                        </p:attrNameLst>
                                      </p:cBhvr>
                                      <p:tavLst>
                                        <p:tav tm="0">
                                          <p:val>
                                            <p:strVal val="#ppt_y+0.1"/>
                                          </p:val>
                                        </p:tav>
                                        <p:tav tm="100000">
                                          <p:val>
                                            <p:strVal val="#ppt_y"/>
                                          </p:val>
                                        </p:tav>
                                      </p:tavLst>
                                    </p:anim>
                                    <p:animEffect transition="in" filter="fade">
                                      <p:cBhvr>
                                        <p:cTn id="54" dur="500"/>
                                        <p:tgtEl>
                                          <p:spTgt spid="21"/>
                                        </p:tgtEl>
                                      </p:cBhvr>
                                    </p:animEffect>
                                  </p:childTnLst>
                                </p:cTn>
                              </p:par>
                              <p:par>
                                <p:cTn id="60" presetID="2" presetClass="entr" presetSubtype="4" fill="hold" grpId="0" nodeType="withEffect">
                                  <p:stCondLst>
                                    <p:cond delay="510"/>
                                  </p:stCondLst>
                                  <p:childTnLst>
                                    <p:set>
                                      <p:cBhvr>
                                        <p:cTn id="56" dur="1" fill="hold">
                                          <p:stCondLst>
                                            <p:cond delay="0"/>
                                          </p:stCondLst>
                                        </p:cTn>
                                        <p:tgtEl>
                                          <p:spTgt spid="22"/>
                                        </p:tgtEl>
                                        <p:attrNameLst>
                                          <p:attrName>style.visibility</p:attrName>
                                        </p:attrNameLst>
                                      </p:cBhvr>
                                      <p:to>
                                        <p:strVal val="visible"/>
                                      </p:to>
                                    </p:set>
                                    <p:anim calcmode="lin" valueType="num">
                                      <p:cBhvr additive="base">
                                        <p:cTn id="57" dur="500" fill="hold"/>
                                        <p:tgtEl>
                                          <p:spTgt spid="22"/>
                                        </p:tgtEl>
                                        <p:attrNameLst>
                                          <p:attrName>ppt_x</p:attrName>
                                        </p:attrNameLst>
                                      </p:cBhvr>
                                      <p:tavLst>
                                        <p:tav tm="0">
                                          <p:val>
                                            <p:strVal val="#ppt_x"/>
                                          </p:val>
                                        </p:tav>
                                        <p:tav tm="100000">
                                          <p:val>
                                            <p:strVal val="#ppt_x"/>
                                          </p:val>
                                        </p:tav>
                                      </p:tavLst>
                                    </p:anim>
                                    <p:anim calcmode="lin" valueType="num">
                                      <p:cBhvr additive="base">
                                        <p:cTn id="58" dur="500" fill="hold"/>
                                        <p:tgtEl>
                                          <p:spTgt spid="22"/>
                                        </p:tgtEl>
                                        <p:attrNameLst>
                                          <p:attrName>ppt_y</p:attrName>
                                        </p:attrNameLst>
                                      </p:cBhvr>
                                      <p:tavLst>
                                        <p:tav tm="0">
                                          <p:val>
                                            <p:strVal val="#ppt_y+0.1"/>
                                          </p:val>
                                        </p:tav>
                                        <p:tav tm="100000">
                                          <p:val>
                                            <p:strVal val="#ppt_y"/>
                                          </p:val>
                                        </p:tav>
                                      </p:tavLst>
                                    </p:anim>
                                    <p:animEffect transition="in" filter="fade">
                                      <p:cBhvr>
                                        <p:cTn id="59" dur="500"/>
                                        <p:tgtEl>
                                          <p:spTgt spid="22"/>
                                        </p:tgtEl>
                                      </p:cBhvr>
                                    </p:animEffect>
                                  </p:childTnLst>
                                </p:cTn>
                              </p:par>
                              <p:par>
                                <p:cTn id="65" presetID="2" presetClass="entr" presetSubtype="4" fill="hold" grpId="0" nodeType="withEffect">
                                  <p:stCondLst>
                                    <p:cond delay="57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ppt_x</p:attrName>
                                        </p:attrNameLst>
                                      </p:cBhvr>
                                      <p:tavLst>
                                        <p:tav tm="0">
                                          <p:val>
                                            <p:strVal val="#ppt_x"/>
                                          </p:val>
                                        </p:tav>
                                        <p:tav tm="100000">
                                          <p:val>
                                            <p:strVal val="#ppt_x"/>
                                          </p:val>
                                        </p:tav>
                                      </p:tavLst>
                                    </p:anim>
                                    <p:anim calcmode="lin" valueType="num">
                                      <p:cBhvr additive="base">
                                        <p:cTn id="63" dur="500" fill="hold"/>
                                        <p:tgtEl>
                                          <p:spTgt spid="23"/>
                                        </p:tgtEl>
                                        <p:attrNameLst>
                                          <p:attrName>ppt_y</p:attrName>
                                        </p:attrNameLst>
                                      </p:cBhvr>
                                      <p:tavLst>
                                        <p:tav tm="0">
                                          <p:val>
                                            <p:strVal val="#ppt_y+0.1"/>
                                          </p:val>
                                        </p:tav>
                                        <p:tav tm="100000">
                                          <p:val>
                                            <p:strVal val="#ppt_y"/>
                                          </p:val>
                                        </p:tav>
                                      </p:tavLst>
                                    </p:anim>
                                    <p:animEffect transition="in" filter="fade">
                                      <p:cBhvr>
                                        <p:cTn id="64" dur="500"/>
                                        <p:tgtEl>
                                          <p:spTgt spid="23"/>
                                        </p:tgtEl>
                                      </p:cBhvr>
                                    </p:animEffect>
                                  </p:childTnLst>
                                </p:cTn>
                              </p:par>
                              <p:par>
                                <p:cTn id="70" presetID="2" presetClass="entr" presetSubtype="4" fill="hold" grpId="0" nodeType="withEffect">
                                  <p:stCondLst>
                                    <p:cond delay="630"/>
                                  </p:stCondLst>
                                  <p:childTnLst>
                                    <p:set>
                                      <p:cBhvr>
                                        <p:cTn id="66" dur="1" fill="hold">
                                          <p:stCondLst>
                                            <p:cond delay="0"/>
                                          </p:stCondLst>
                                        </p:cTn>
                                        <p:tgtEl>
                                          <p:spTgt spid="24"/>
                                        </p:tgtEl>
                                        <p:attrNameLst>
                                          <p:attrName>style.visibility</p:attrName>
                                        </p:attrNameLst>
                                      </p:cBhvr>
                                      <p:to>
                                        <p:strVal val="visible"/>
                                      </p:to>
                                    </p:set>
                                    <p:anim calcmode="lin" valueType="num">
                                      <p:cBhvr additive="base">
                                        <p:cTn id="67" dur="500" fill="hold"/>
                                        <p:tgtEl>
                                          <p:spTgt spid="24"/>
                                        </p:tgtEl>
                                        <p:attrNameLst>
                                          <p:attrName>ppt_x</p:attrName>
                                        </p:attrNameLst>
                                      </p:cBhvr>
                                      <p:tavLst>
                                        <p:tav tm="0">
                                          <p:val>
                                            <p:strVal val="#ppt_x"/>
                                          </p:val>
                                        </p:tav>
                                        <p:tav tm="100000">
                                          <p:val>
                                            <p:strVal val="#ppt_x"/>
                                          </p:val>
                                        </p:tav>
                                      </p:tavLst>
                                    </p:anim>
                                    <p:anim calcmode="lin" valueType="num">
                                      <p:cBhvr additive="base">
                                        <p:cTn id="68" dur="500" fill="hold"/>
                                        <p:tgtEl>
                                          <p:spTgt spid="24"/>
                                        </p:tgtEl>
                                        <p:attrNameLst>
                                          <p:attrName>ppt_y</p:attrName>
                                        </p:attrNameLst>
                                      </p:cBhvr>
                                      <p:tavLst>
                                        <p:tav tm="0">
                                          <p:val>
                                            <p:strVal val="#ppt_y+0.1"/>
                                          </p:val>
                                        </p:tav>
                                        <p:tav tm="100000">
                                          <p:val>
                                            <p:strVal val="#ppt_y"/>
                                          </p:val>
                                        </p:tav>
                                      </p:tavLst>
                                    </p:anim>
                                    <p:animEffect transition="in" filter="fade">
                                      <p:cBhvr>
                                        <p:cTn id="69" dur="500"/>
                                        <p:tgtEl>
                                          <p:spTgt spid="24"/>
                                        </p:tgtEl>
                                      </p:cBhvr>
                                    </p:animEffect>
                                  </p:childTnLst>
                                </p:cTn>
                              </p:par>
                              <p:par>
                                <p:cTn id="75" presetID="2" presetClass="entr" presetSubtype="4" fill="hold" grpId="0" nodeType="withEffect">
                                  <p:stCondLst>
                                    <p:cond delay="690"/>
                                  </p:stCondLst>
                                  <p:childTnLst>
                                    <p:set>
                                      <p:cBhvr>
                                        <p:cTn id="71" dur="1" fill="hold">
                                          <p:stCondLst>
                                            <p:cond delay="0"/>
                                          </p:stCondLst>
                                        </p:cTn>
                                        <p:tgtEl>
                                          <p:spTgt spid="25"/>
                                        </p:tgtEl>
                                        <p:attrNameLst>
                                          <p:attrName>style.visibility</p:attrName>
                                        </p:attrNameLst>
                                      </p:cBhvr>
                                      <p:to>
                                        <p:strVal val="visible"/>
                                      </p:to>
                                    </p:set>
                                    <p:anim calcmode="lin" valueType="num">
                                      <p:cBhvr additive="base">
                                        <p:cTn id="72" dur="500" fill="hold"/>
                                        <p:tgtEl>
                                          <p:spTgt spid="25"/>
                                        </p:tgtEl>
                                        <p:attrNameLst>
                                          <p:attrName>ppt_x</p:attrName>
                                        </p:attrNameLst>
                                      </p:cBhvr>
                                      <p:tavLst>
                                        <p:tav tm="0">
                                          <p:val>
                                            <p:strVal val="#ppt_x"/>
                                          </p:val>
                                        </p:tav>
                                        <p:tav tm="100000">
                                          <p:val>
                                            <p:strVal val="#ppt_x"/>
                                          </p:val>
                                        </p:tav>
                                      </p:tavLst>
                                    </p:anim>
                                    <p:anim calcmode="lin" valueType="num">
                                      <p:cBhvr additive="base">
                                        <p:cTn id="73" dur="500" fill="hold"/>
                                        <p:tgtEl>
                                          <p:spTgt spid="25"/>
                                        </p:tgtEl>
                                        <p:attrNameLst>
                                          <p:attrName>ppt_y</p:attrName>
                                        </p:attrNameLst>
                                      </p:cBhvr>
                                      <p:tavLst>
                                        <p:tav tm="0">
                                          <p:val>
                                            <p:strVal val="#ppt_y+0.1"/>
                                          </p:val>
                                        </p:tav>
                                        <p:tav tm="100000">
                                          <p:val>
                                            <p:strVal val="#ppt_y"/>
                                          </p:val>
                                        </p:tav>
                                      </p:tavLst>
                                    </p:anim>
                                    <p:animEffect transition="in" filter="fade">
                                      <p:cBhvr>
                                        <p:cTn id="74" dur="500"/>
                                        <p:tgtEl>
                                          <p:spTgt spid="25"/>
                                        </p:tgtEl>
                                      </p:cBhvr>
                                    </p:animEffect>
                                  </p:childTnLst>
                                </p:cTn>
                              </p:par>
                            </p:childTnLst>
                          </p:cTn>
                        </p:par>
                      </p:childTnLst>
                    </p:cTn>
                  </p:par>
                  <p:par>
                    <p:cTn id="76" fill="hold">
                      <p:stCondLst>
                        <p:cond delay="indefinite"/>
                      </p:stCondLst>
                      <p:childTnLst>
                        <p:par>
                          <p:cTn id="77" fill="hold">
                            <p:stCondLst>
                              <p:cond delay="0"/>
                            </p:stCondLst>
                            <p:childTnLst>
                              <p:par>
                                <p:cTn id="82" presetID="2" presetClass="entr" presetSubtype="4"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ppt_x"/>
                                          </p:val>
                                        </p:tav>
                                        <p:tav tm="100000">
                                          <p:val>
                                            <p:strVal val="#ppt_x"/>
                                          </p:val>
                                        </p:tav>
                                      </p:tavLst>
                                    </p:anim>
                                    <p:anim calcmode="lin" valueType="num">
                                      <p:cBhvr additive="base">
                                        <p:cTn id="80" dur="500" fill="hold"/>
                                        <p:tgtEl>
                                          <p:spTgt spid="26"/>
                                        </p:tgtEl>
                                        <p:attrNameLst>
                                          <p:attrName>ppt_y</p:attrName>
                                        </p:attrNameLst>
                                      </p:cBhvr>
                                      <p:tavLst>
                                        <p:tav tm="0">
                                          <p:val>
                                            <p:strVal val="#ppt_y+0.1"/>
                                          </p:val>
                                        </p:tav>
                                        <p:tav tm="100000">
                                          <p:val>
                                            <p:strVal val="#ppt_y"/>
                                          </p:val>
                                        </p:tav>
                                      </p:tavLst>
                                    </p:anim>
                                    <p:animEffect transition="in" filter="fade">
                                      <p:cBhvr>
                                        <p:cTn id="81" dur="500"/>
                                        <p:tgtEl>
                                          <p:spTgt spid="26"/>
                                        </p:tgtEl>
                                      </p:cBhvr>
                                    </p:animEffect>
                                  </p:childTnLst>
                                </p:cTn>
                              </p:par>
                              <p:par>
                                <p:cTn id="87" presetID="2" presetClass="entr" presetSubtype="4"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 calcmode="lin" valueType="num">
                                      <p:cBhvr additive="base">
                                        <p:cTn id="84" dur="500" fill="hold"/>
                                        <p:tgtEl>
                                          <p:spTgt spid="27"/>
                                        </p:tgtEl>
                                        <p:attrNameLst>
                                          <p:attrName>ppt_x</p:attrName>
                                        </p:attrNameLst>
                                      </p:cBhvr>
                                      <p:tavLst>
                                        <p:tav tm="0">
                                          <p:val>
                                            <p:strVal val="#ppt_x"/>
                                          </p:val>
                                        </p:tav>
                                        <p:tav tm="100000">
                                          <p:val>
                                            <p:strVal val="#ppt_x"/>
                                          </p:val>
                                        </p:tav>
                                      </p:tavLst>
                                    </p:anim>
                                    <p:anim calcmode="lin" valueType="num">
                                      <p:cBhvr additive="base">
                                        <p:cTn id="85" dur="500" fill="hold"/>
                                        <p:tgtEl>
                                          <p:spTgt spid="27"/>
                                        </p:tgtEl>
                                        <p:attrNameLst>
                                          <p:attrName>ppt_y</p:attrName>
                                        </p:attrNameLst>
                                      </p:cBhvr>
                                      <p:tavLst>
                                        <p:tav tm="0">
                                          <p:val>
                                            <p:strVal val="#ppt_y+0.1"/>
                                          </p:val>
                                        </p:tav>
                                        <p:tav tm="100000">
                                          <p:val>
                                            <p:strVal val="#ppt_y"/>
                                          </p:val>
                                        </p:tav>
                                      </p:tavLst>
                                    </p:anim>
                                    <p:animEffect transition="in" filter="fade">
                                      <p:cBhvr>
                                        <p:cTn id="86" dur="500"/>
                                        <p:tgtEl>
                                          <p:spTgt spid="27"/>
                                        </p:tgtEl>
                                      </p:cBhvr>
                                    </p:animEffect>
                                  </p:childTnLst>
                                </p:cTn>
                              </p:par>
                              <p:par>
                                <p:cTn id="92" presetID="2" presetClass="entr" presetSubtype="4"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 calcmode="lin" valueType="num">
                                      <p:cBhvr additive="base">
                                        <p:cTn id="89" dur="500" fill="hold"/>
                                        <p:tgtEl>
                                          <p:spTgt spid="28"/>
                                        </p:tgtEl>
                                        <p:attrNameLst>
                                          <p:attrName>ppt_x</p:attrName>
                                        </p:attrNameLst>
                                      </p:cBhvr>
                                      <p:tavLst>
                                        <p:tav tm="0">
                                          <p:val>
                                            <p:strVal val="#ppt_x"/>
                                          </p:val>
                                        </p:tav>
                                        <p:tav tm="100000">
                                          <p:val>
                                            <p:strVal val="#ppt_x"/>
                                          </p:val>
                                        </p:tav>
                                      </p:tavLst>
                                    </p:anim>
                                    <p:anim calcmode="lin" valueType="num">
                                      <p:cBhvr additive="base">
                                        <p:cTn id="90" dur="500" fill="hold"/>
                                        <p:tgtEl>
                                          <p:spTgt spid="28"/>
                                        </p:tgtEl>
                                        <p:attrNameLst>
                                          <p:attrName>ppt_y</p:attrName>
                                        </p:attrNameLst>
                                      </p:cBhvr>
                                      <p:tavLst>
                                        <p:tav tm="0">
                                          <p:val>
                                            <p:strVal val="#ppt_y+0.1"/>
                                          </p:val>
                                        </p:tav>
                                        <p:tav tm="100000">
                                          <p:val>
                                            <p:strVal val="#ppt_y"/>
                                          </p:val>
                                        </p:tav>
                                      </p:tavLst>
                                    </p:anim>
                                    <p:animEffect transition="in" filter="fade">
                                      <p:cBhvr>
                                        <p:cTn id="9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Serializers: From Objects to Bytes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Kafka stores only bytes - your code has objects with types</a:t>
            </a:r>
          </a:p>
        </p:txBody>
      </p:sp>
      <p:sp>
        <p:nvSpPr>
          <p:cNvPr id="11" name="a1u_nd10"/>
          <p:cNvSpPr/>
          <p:nvPr/>
        </p:nvSpPr>
        <p:spPr>
          <a:xfrm>
            <a:off x="457200" y="1325880"/>
            <a:ext cx="1325880" cy="658368"/>
          </a:xfrm>
          <a:prstGeom prst="roundRect">
            <a:avLst>
              <a:gd name="adj" fmla="val 11111"/>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362456"/>
            <a:ext cx="1234439" cy="310896"/>
          </a:xfrm>
          <a:prstGeom prst="rect">
            <a:avLst/>
          </a:prstGeom>
          <a:noFill/>
        </p:spPr>
        <p:txBody>
          <a:bodyPr wrap="square" lIns="0" tIns="0" rIns="0" bIns="0" anchor="b">
            <a:spAutoFit/>
          </a:bodyPr>
          <a:lstStyle/>
          <a:p>
            <a:pPr algn="ctr"/>
            <a:r>
              <a:rPr sz="950" b="1">
                <a:solidFill>
                  <a:srgbClr val="1C1917"/>
                </a:solidFill>
                <a:latin typeface="Segoe UI"/>
              </a:rPr>
              <a:t>Reading</a:t>
            </a:r>
          </a:p>
        </p:txBody>
      </p:sp>
      <p:sp>
        <p:nvSpPr>
          <p:cNvPr id="13" name="a1u_nds12"/>
          <p:cNvSpPr txBox="1"/>
          <p:nvPr/>
        </p:nvSpPr>
        <p:spPr>
          <a:xfrm>
            <a:off x="502920" y="1682496"/>
            <a:ext cx="1234439" cy="265176"/>
          </a:xfrm>
          <a:prstGeom prst="rect">
            <a:avLst/>
          </a:prstGeom>
          <a:noFill/>
        </p:spPr>
        <p:txBody>
          <a:bodyPr wrap="square" lIns="0" tIns="0" rIns="0" bIns="0" anchor="t">
            <a:spAutoFit/>
          </a:bodyPr>
          <a:lstStyle/>
          <a:p>
            <a:pPr algn="ctr"/>
            <a:r>
              <a:rPr sz="800" b="0">
                <a:solidFill>
                  <a:srgbClr val="A16207"/>
                </a:solidFill>
                <a:latin typeface="Segoe UI"/>
              </a:rPr>
              <a:t>your object</a:t>
            </a:r>
          </a:p>
        </p:txBody>
      </p:sp>
      <p:sp>
        <p:nvSpPr>
          <p:cNvPr id="14" name="a1ud120_nd13"/>
          <p:cNvSpPr/>
          <p:nvPr/>
        </p:nvSpPr>
        <p:spPr>
          <a:xfrm>
            <a:off x="2194560" y="1325880"/>
            <a:ext cx="1325880" cy="658368"/>
          </a:xfrm>
          <a:prstGeom prst="roundRect">
            <a:avLst>
              <a:gd name="adj" fmla="val 11111"/>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20_ndt14"/>
          <p:cNvSpPr txBox="1"/>
          <p:nvPr/>
        </p:nvSpPr>
        <p:spPr>
          <a:xfrm>
            <a:off x="2240279" y="1362456"/>
            <a:ext cx="1234439" cy="310896"/>
          </a:xfrm>
          <a:prstGeom prst="rect">
            <a:avLst/>
          </a:prstGeom>
          <a:noFill/>
        </p:spPr>
        <p:txBody>
          <a:bodyPr wrap="square" lIns="0" tIns="0" rIns="0" bIns="0" anchor="b">
            <a:spAutoFit/>
          </a:bodyPr>
          <a:lstStyle/>
          <a:p>
            <a:pPr algn="ctr"/>
            <a:r>
              <a:rPr sz="950" b="1">
                <a:solidFill>
                  <a:srgbClr val="1C1917"/>
                </a:solidFill>
                <a:latin typeface="Segoe UI"/>
              </a:rPr>
              <a:t>JSON text</a:t>
            </a:r>
          </a:p>
        </p:txBody>
      </p:sp>
      <p:sp>
        <p:nvSpPr>
          <p:cNvPr id="16" name="a1ud120_nds15"/>
          <p:cNvSpPr txBox="1"/>
          <p:nvPr/>
        </p:nvSpPr>
        <p:spPr>
          <a:xfrm>
            <a:off x="2240279" y="1682496"/>
            <a:ext cx="1234439" cy="265176"/>
          </a:xfrm>
          <a:prstGeom prst="rect">
            <a:avLst/>
          </a:prstGeom>
          <a:noFill/>
        </p:spPr>
        <p:txBody>
          <a:bodyPr wrap="square" lIns="0" tIns="0" rIns="0" bIns="0" anchor="t">
            <a:spAutoFit/>
          </a:bodyPr>
          <a:lstStyle/>
          <a:p>
            <a:pPr algn="ctr"/>
            <a:r>
              <a:rPr sz="800" b="0">
                <a:solidFill>
                  <a:srgbClr val="A16207"/>
                </a:solidFill>
                <a:latin typeface="Segoe UI"/>
              </a:rPr>
              <a:t>just a String</a:t>
            </a:r>
          </a:p>
        </p:txBody>
      </p:sp>
      <p:cxnSp>
        <p:nvCxnSpPr>
          <p:cNvPr id="17" name="a1ud120_ar16"/>
          <p:cNvCxnSpPr/>
          <p:nvPr/>
        </p:nvCxnSpPr>
        <p:spPr>
          <a:xfrm>
            <a:off x="1801368" y="1655064"/>
            <a:ext cx="365760"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a1ud240_nd17"/>
          <p:cNvSpPr/>
          <p:nvPr/>
        </p:nvSpPr>
        <p:spPr>
          <a:xfrm>
            <a:off x="3931920" y="1325880"/>
            <a:ext cx="1600200" cy="658368"/>
          </a:xfrm>
          <a:prstGeom prst="roundRect">
            <a:avLst>
              <a:gd name="adj" fmla="val 1111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40_ndt18"/>
          <p:cNvSpPr txBox="1"/>
          <p:nvPr/>
        </p:nvSpPr>
        <p:spPr>
          <a:xfrm>
            <a:off x="3977639" y="1362456"/>
            <a:ext cx="1508760" cy="310896"/>
          </a:xfrm>
          <a:prstGeom prst="rect">
            <a:avLst/>
          </a:prstGeom>
          <a:noFill/>
        </p:spPr>
        <p:txBody>
          <a:bodyPr wrap="square" lIns="0" tIns="0" rIns="0" bIns="0" anchor="b">
            <a:spAutoFit/>
          </a:bodyPr>
          <a:lstStyle/>
          <a:p>
            <a:pPr algn="ctr"/>
            <a:r>
              <a:rPr sz="950" b="1">
                <a:solidFill>
                  <a:srgbClr val="1C1917"/>
                </a:solidFill>
                <a:latin typeface="Segoe UI"/>
              </a:rPr>
              <a:t>StringSerializer</a:t>
            </a:r>
          </a:p>
        </p:txBody>
      </p:sp>
      <p:sp>
        <p:nvSpPr>
          <p:cNvPr id="20" name="a1ud240_nds19"/>
          <p:cNvSpPr txBox="1"/>
          <p:nvPr/>
        </p:nvSpPr>
        <p:spPr>
          <a:xfrm>
            <a:off x="3977639" y="1682496"/>
            <a:ext cx="1508760" cy="265176"/>
          </a:xfrm>
          <a:prstGeom prst="rect">
            <a:avLst/>
          </a:prstGeom>
          <a:noFill/>
        </p:spPr>
        <p:txBody>
          <a:bodyPr wrap="square" lIns="0" tIns="0" rIns="0" bIns="0" anchor="t">
            <a:spAutoFit/>
          </a:bodyPr>
          <a:lstStyle/>
          <a:p>
            <a:pPr algn="ctr"/>
            <a:r>
              <a:rPr sz="800" b="0">
                <a:solidFill>
                  <a:srgbClr val="EA580C"/>
                </a:solidFill>
                <a:latin typeface="Segoe UI"/>
              </a:rPr>
              <a:t>String -&gt; bytes</a:t>
            </a:r>
          </a:p>
        </p:txBody>
      </p:sp>
      <p:cxnSp>
        <p:nvCxnSpPr>
          <p:cNvPr id="21" name="a1ud240_ar20"/>
          <p:cNvCxnSpPr/>
          <p:nvPr/>
        </p:nvCxnSpPr>
        <p:spPr>
          <a:xfrm>
            <a:off x="3538727" y="1655064"/>
            <a:ext cx="365760"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a1ud360_nd21"/>
          <p:cNvSpPr/>
          <p:nvPr/>
        </p:nvSpPr>
        <p:spPr>
          <a:xfrm>
            <a:off x="5943600" y="1325880"/>
            <a:ext cx="1325880" cy="658368"/>
          </a:xfrm>
          <a:prstGeom prst="roundRect">
            <a:avLst>
              <a:gd name="adj" fmla="val 11111"/>
            </a:avLst>
          </a:prstGeom>
          <a:solidFill>
            <a:srgbClr val="F7F6F3"/>
          </a:solidFill>
          <a:ln w="15875">
            <a:solidFill>
              <a:srgbClr val="7871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360_ndt22"/>
          <p:cNvSpPr txBox="1"/>
          <p:nvPr/>
        </p:nvSpPr>
        <p:spPr>
          <a:xfrm>
            <a:off x="5989320" y="1362456"/>
            <a:ext cx="1234439" cy="310896"/>
          </a:xfrm>
          <a:prstGeom prst="rect">
            <a:avLst/>
          </a:prstGeom>
          <a:noFill/>
        </p:spPr>
        <p:txBody>
          <a:bodyPr wrap="square" lIns="0" tIns="0" rIns="0" bIns="0" anchor="b">
            <a:spAutoFit/>
          </a:bodyPr>
          <a:lstStyle/>
          <a:p>
            <a:pPr algn="ctr"/>
            <a:r>
              <a:rPr sz="950" b="1">
                <a:solidFill>
                  <a:srgbClr val="1C1917"/>
                </a:solidFill>
                <a:latin typeface="Segoe UI"/>
              </a:rPr>
              <a:t>bytes</a:t>
            </a:r>
          </a:p>
        </p:txBody>
      </p:sp>
      <p:sp>
        <p:nvSpPr>
          <p:cNvPr id="24" name="a1ud360_nds23"/>
          <p:cNvSpPr txBox="1"/>
          <p:nvPr/>
        </p:nvSpPr>
        <p:spPr>
          <a:xfrm>
            <a:off x="5989320" y="1682496"/>
            <a:ext cx="1234439" cy="265176"/>
          </a:xfrm>
          <a:prstGeom prst="rect">
            <a:avLst/>
          </a:prstGeom>
          <a:noFill/>
        </p:spPr>
        <p:txBody>
          <a:bodyPr wrap="square" lIns="0" tIns="0" rIns="0" bIns="0" anchor="t">
            <a:spAutoFit/>
          </a:bodyPr>
          <a:lstStyle/>
          <a:p>
            <a:pPr algn="ctr"/>
            <a:r>
              <a:rPr sz="800" b="0">
                <a:solidFill>
                  <a:srgbClr val="78716C"/>
                </a:solidFill>
                <a:latin typeface="Segoe UI"/>
              </a:rPr>
              <a:t>7B 22 73 65 ...</a:t>
            </a:r>
          </a:p>
        </p:txBody>
      </p:sp>
      <p:cxnSp>
        <p:nvCxnSpPr>
          <p:cNvPr id="25" name="a1ud360_ar24"/>
          <p:cNvCxnSpPr/>
          <p:nvPr/>
        </p:nvCxnSpPr>
        <p:spPr>
          <a:xfrm>
            <a:off x="5550408" y="1655064"/>
            <a:ext cx="365760"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1ud480_nd25"/>
          <p:cNvSpPr/>
          <p:nvPr/>
        </p:nvSpPr>
        <p:spPr>
          <a:xfrm>
            <a:off x="7680960" y="1325880"/>
            <a:ext cx="1005840" cy="658368"/>
          </a:xfrm>
          <a:prstGeom prst="roundRect">
            <a:avLst>
              <a:gd name="adj" fmla="val 1111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480_ndt26"/>
          <p:cNvSpPr txBox="1"/>
          <p:nvPr/>
        </p:nvSpPr>
        <p:spPr>
          <a:xfrm>
            <a:off x="7726680" y="1362456"/>
            <a:ext cx="914400" cy="310896"/>
          </a:xfrm>
          <a:prstGeom prst="rect">
            <a:avLst/>
          </a:prstGeom>
          <a:noFill/>
        </p:spPr>
        <p:txBody>
          <a:bodyPr wrap="square" lIns="0" tIns="0" rIns="0" bIns="0" anchor="b">
            <a:spAutoFit/>
          </a:bodyPr>
          <a:lstStyle/>
          <a:p>
            <a:pPr algn="ctr"/>
            <a:r>
              <a:rPr sz="950" b="1">
                <a:solidFill>
                  <a:srgbClr val="1C1917"/>
                </a:solidFill>
                <a:latin typeface="Segoe UI"/>
              </a:rPr>
              <a:t>Kafka</a:t>
            </a:r>
          </a:p>
        </p:txBody>
      </p:sp>
      <p:sp>
        <p:nvSpPr>
          <p:cNvPr id="28" name="a1ud480_nds27"/>
          <p:cNvSpPr txBox="1"/>
          <p:nvPr/>
        </p:nvSpPr>
        <p:spPr>
          <a:xfrm>
            <a:off x="7726680" y="1682496"/>
            <a:ext cx="914400" cy="265176"/>
          </a:xfrm>
          <a:prstGeom prst="rect">
            <a:avLst/>
          </a:prstGeom>
          <a:noFill/>
        </p:spPr>
        <p:txBody>
          <a:bodyPr wrap="square" lIns="0" tIns="0" rIns="0" bIns="0" anchor="t">
            <a:spAutoFit/>
          </a:bodyPr>
          <a:lstStyle/>
          <a:p>
            <a:pPr algn="ctr"/>
            <a:r>
              <a:rPr sz="800" b="0">
                <a:solidFill>
                  <a:srgbClr val="0E7490"/>
                </a:solidFill>
                <a:latin typeface="Segoe UI"/>
              </a:rPr>
              <a:t>stores bytes</a:t>
            </a:r>
          </a:p>
        </p:txBody>
      </p:sp>
      <p:cxnSp>
        <p:nvCxnSpPr>
          <p:cNvPr id="29" name="a1ud480_ar28"/>
          <p:cNvCxnSpPr/>
          <p:nvPr/>
        </p:nvCxnSpPr>
        <p:spPr>
          <a:xfrm>
            <a:off x="7287768" y="1655064"/>
            <a:ext cx="365760"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a1ud600_lb29"/>
          <p:cNvSpPr txBox="1"/>
          <p:nvPr/>
        </p:nvSpPr>
        <p:spPr>
          <a:xfrm>
            <a:off x="457200" y="2029968"/>
            <a:ext cx="3657600" cy="201168"/>
          </a:xfrm>
          <a:prstGeom prst="rect">
            <a:avLst/>
          </a:prstGeom>
          <a:noFill/>
        </p:spPr>
        <p:txBody>
          <a:bodyPr wrap="square" lIns="0" tIns="0" rIns="0" bIns="0" anchor="ctr">
            <a:spAutoFit/>
          </a:bodyPr>
          <a:lstStyle/>
          <a:p>
            <a:pPr algn="l"/>
            <a:r>
              <a:rPr sz="850" b="1">
                <a:solidFill>
                  <a:srgbClr val="A16207"/>
                </a:solidFill>
                <a:latin typeface="Segoe UI"/>
              </a:rPr>
              <a:t>what our example did - a little sloppy</a:t>
            </a:r>
          </a:p>
        </p:txBody>
      </p:sp>
      <p:sp>
        <p:nvSpPr>
          <p:cNvPr id="31" name="a2u_card30"/>
          <p:cNvSpPr/>
          <p:nvPr/>
        </p:nvSpPr>
        <p:spPr>
          <a:xfrm>
            <a:off x="457200" y="2395728"/>
            <a:ext cx="4023360"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_acc31"/>
          <p:cNvSpPr/>
          <p:nvPr/>
        </p:nvSpPr>
        <p:spPr>
          <a:xfrm>
            <a:off x="457200" y="2395728"/>
            <a:ext cx="50292" cy="132588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_hh32"/>
          <p:cNvSpPr txBox="1"/>
          <p:nvPr/>
        </p:nvSpPr>
        <p:spPr>
          <a:xfrm>
            <a:off x="658368" y="2505456"/>
            <a:ext cx="3657600" cy="237744"/>
          </a:xfrm>
          <a:prstGeom prst="rect">
            <a:avLst/>
          </a:prstGeom>
          <a:noFill/>
        </p:spPr>
        <p:txBody>
          <a:bodyPr wrap="square" lIns="0" tIns="0" rIns="0" bIns="0" anchor="ctr">
            <a:spAutoFit/>
          </a:bodyPr>
          <a:lstStyle/>
          <a:p>
            <a:pPr algn="l"/>
            <a:r>
              <a:rPr sz="900" b="1">
                <a:solidFill>
                  <a:srgbClr val="EA580C"/>
                </a:solidFill>
                <a:latin typeface="Segoe UI"/>
              </a:rPr>
              <a:t>BUILT-IN SERIALIZERS</a:t>
            </a:r>
          </a:p>
        </p:txBody>
      </p:sp>
      <p:sp>
        <p:nvSpPr>
          <p:cNvPr id="34" name="a2ud100_pill33"/>
          <p:cNvSpPr/>
          <p:nvPr/>
        </p:nvSpPr>
        <p:spPr>
          <a:xfrm>
            <a:off x="658368" y="2743200"/>
            <a:ext cx="111556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Integer</a:t>
            </a:r>
          </a:p>
        </p:txBody>
      </p:sp>
      <p:sp>
        <p:nvSpPr>
          <p:cNvPr id="35" name="a2ud190_pill34"/>
          <p:cNvSpPr/>
          <p:nvPr/>
        </p:nvSpPr>
        <p:spPr>
          <a:xfrm>
            <a:off x="1847088" y="2743200"/>
            <a:ext cx="111556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Long</a:t>
            </a:r>
          </a:p>
        </p:txBody>
      </p:sp>
      <p:sp>
        <p:nvSpPr>
          <p:cNvPr id="36" name="a2ud280_pill35"/>
          <p:cNvSpPr/>
          <p:nvPr/>
        </p:nvSpPr>
        <p:spPr>
          <a:xfrm>
            <a:off x="3035808" y="2743200"/>
            <a:ext cx="111556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Double</a:t>
            </a:r>
          </a:p>
        </p:txBody>
      </p:sp>
      <p:sp>
        <p:nvSpPr>
          <p:cNvPr id="37" name="a2ud370_pill36"/>
          <p:cNvSpPr/>
          <p:nvPr/>
        </p:nvSpPr>
        <p:spPr>
          <a:xfrm>
            <a:off x="658368" y="3090672"/>
            <a:ext cx="111556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String</a:t>
            </a:r>
          </a:p>
        </p:txBody>
      </p:sp>
      <p:sp>
        <p:nvSpPr>
          <p:cNvPr id="38" name="a2ud460_pill37"/>
          <p:cNvSpPr/>
          <p:nvPr/>
        </p:nvSpPr>
        <p:spPr>
          <a:xfrm>
            <a:off x="1847088" y="3090672"/>
            <a:ext cx="111556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ByteArray</a:t>
            </a:r>
          </a:p>
        </p:txBody>
      </p:sp>
      <p:sp>
        <p:nvSpPr>
          <p:cNvPr id="39" name="a2ud550_pill38"/>
          <p:cNvSpPr/>
          <p:nvPr/>
        </p:nvSpPr>
        <p:spPr>
          <a:xfrm>
            <a:off x="3035808" y="3090672"/>
            <a:ext cx="1115568" cy="274320"/>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UUID</a:t>
            </a:r>
          </a:p>
        </p:txBody>
      </p:sp>
      <p:sp>
        <p:nvSpPr>
          <p:cNvPr id="40" name="a2ud300_lb39"/>
          <p:cNvSpPr txBox="1"/>
          <p:nvPr/>
        </p:nvSpPr>
        <p:spPr>
          <a:xfrm>
            <a:off x="658368" y="3401568"/>
            <a:ext cx="3657600" cy="201168"/>
          </a:xfrm>
          <a:prstGeom prst="rect">
            <a:avLst/>
          </a:prstGeom>
          <a:noFill/>
        </p:spPr>
        <p:txBody>
          <a:bodyPr wrap="square" lIns="0" tIns="0" rIns="0" bIns="0" anchor="ctr">
            <a:spAutoFit/>
          </a:bodyPr>
          <a:lstStyle/>
          <a:p>
            <a:pPr algn="l"/>
            <a:r>
              <a:rPr sz="800" b="0">
                <a:solidFill>
                  <a:srgbClr val="78716C"/>
                </a:solidFill>
                <a:latin typeface="Segoe UI"/>
              </a:rPr>
              <a:t>for primitive types - each class ends in ...Serializer</a:t>
            </a:r>
          </a:p>
        </p:txBody>
      </p:sp>
      <p:sp>
        <p:nvSpPr>
          <p:cNvPr id="41" name="a3u_card40"/>
          <p:cNvSpPr/>
          <p:nvPr/>
        </p:nvSpPr>
        <p:spPr>
          <a:xfrm>
            <a:off x="4663440" y="2395728"/>
            <a:ext cx="4023360" cy="1325880"/>
          </a:xfrm>
          <a:prstGeom prst="roundRect">
            <a:avLst>
              <a:gd name="adj" fmla="val 827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_acc41"/>
          <p:cNvSpPr/>
          <p:nvPr/>
        </p:nvSpPr>
        <p:spPr>
          <a:xfrm>
            <a:off x="4663440" y="2395728"/>
            <a:ext cx="50292" cy="132588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u_hh42"/>
          <p:cNvSpPr txBox="1"/>
          <p:nvPr/>
        </p:nvSpPr>
        <p:spPr>
          <a:xfrm>
            <a:off x="4864607" y="2505456"/>
            <a:ext cx="3657600" cy="237744"/>
          </a:xfrm>
          <a:prstGeom prst="rect">
            <a:avLst/>
          </a:prstGeom>
          <a:noFill/>
        </p:spPr>
        <p:txBody>
          <a:bodyPr wrap="square" lIns="0" tIns="0" rIns="0" bIns="0" anchor="ctr">
            <a:spAutoFit/>
          </a:bodyPr>
          <a:lstStyle/>
          <a:p>
            <a:pPr algn="l"/>
            <a:r>
              <a:rPr sz="900" b="1">
                <a:solidFill>
                  <a:srgbClr val="0E7490"/>
                </a:solidFill>
                <a:latin typeface="Segoe UI"/>
              </a:rPr>
              <a:t>BETTER  ·  FOLLOW YOUR SCHEMA</a:t>
            </a:r>
          </a:p>
        </p:txBody>
      </p:sp>
      <p:sp>
        <p:nvSpPr>
          <p:cNvPr id="44" name="a3ud80_c243"/>
          <p:cNvSpPr txBox="1"/>
          <p:nvPr/>
        </p:nvSpPr>
        <p:spPr>
          <a:xfrm>
            <a:off x="4864608" y="2724912"/>
            <a:ext cx="3657600" cy="914400"/>
          </a:xfrm>
          <a:prstGeom prst="rect">
            <a:avLst/>
          </a:prstGeom>
          <a:noFill/>
        </p:spPr>
        <p:txBody>
          <a:bodyPr wrap="square" lIns="0" tIns="0" rIns="0" bIns="0" anchor="t">
            <a:spAutoFit/>
          </a:bodyPr>
          <a:lstStyle/>
          <a:p>
            <a:pPr algn="l"/>
            <a:r>
              <a:rPr sz="900" b="0">
                <a:solidFill>
                  <a:srgbClr val="44403C"/>
                </a:solidFill>
                <a:latin typeface="Segoe UI"/>
              </a:rPr>
              <a:t>Avro, Protobuf or JSON Schema serializers that know the shape of your object - with Schema Registry, in a later module.</a:t>
            </a:r>
          </a:p>
        </p:txBody>
      </p:sp>
      <p:sp>
        <p:nvSpPr>
          <p:cNvPr id="45" name="a4u_nb44"/>
          <p:cNvSpPr/>
          <p:nvPr/>
        </p:nvSpPr>
        <p:spPr>
          <a:xfrm>
            <a:off x="457200" y="3931920"/>
            <a:ext cx="8229600" cy="548640"/>
          </a:xfrm>
          <a:prstGeom prst="roundRect">
            <a:avLst>
              <a:gd name="adj" fmla="val 13333"/>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4u_nacc45"/>
          <p:cNvSpPr/>
          <p:nvPr/>
        </p:nvSpPr>
        <p:spPr>
          <a:xfrm>
            <a:off x="457200" y="3931920"/>
            <a:ext cx="54864" cy="54864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4u_nt46"/>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A16207"/>
                </a:solidFill>
                <a:latin typeface="Segoe UI"/>
              </a:rPr>
              <a:t>!  </a:t>
            </a:r>
            <a:r>
              <a:rPr sz="950" b="0">
                <a:solidFill>
                  <a:srgbClr val="44403C"/>
                </a:solidFill>
                <a:latin typeface="Segoe UI"/>
              </a:rPr>
              <a:t>Kafka thought our JSON was just a string - the serializer is where your types meet Kafka.</a:t>
            </a:r>
          </a:p>
        </p:txBody>
      </p:sp>
      <p:sp>
        <p:nvSpPr>
          <p:cNvPr id="48" name="ft4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09</a:t>
            </a:r>
          </a:p>
        </p:txBody>
      </p:sp>
      <p:sp>
        <p:nvSpPr>
          <p:cNvPr id="49" name="ft4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ft4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Producers</a:t>
            </a:r>
          </a:p>
        </p:txBody>
      </p:sp>
      <p:sp>
        <p:nvSpPr>
          <p:cNvPr id="51" name="ft5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2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2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2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4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4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24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24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36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36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36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36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48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48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48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48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60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childTnLst>
                          </p:cTn>
                        </p:par>
                      </p:childTnLst>
                    </p:cTn>
                  </p:par>
                  <p:par>
                    <p:cTn id="105" fill="hold">
                      <p:stCondLst>
                        <p:cond delay="indefinite"/>
                      </p:stCondLst>
                      <p:childTnLst>
                        <p:par>
                          <p:cTn id="106" fill="hold">
                            <p:stCondLst>
                              <p:cond delay="0"/>
                            </p:stCondLst>
                            <p:childTnLst>
                              <p:par>
                                <p:cTn id="111" presetID="2" presetClass="entr" presetSubtype="4" fill="hold" grpId="0" nodeType="clickEffect">
                                  <p:stCondLst>
                                    <p:cond delay="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10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19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28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300"/>
                                  </p:stCondLst>
                                  <p:childTnLst>
                                    <p:set>
                                      <p:cBhvr>
                                        <p:cTn id="137" dur="1" fill="hold">
                                          <p:stCondLst>
                                            <p:cond delay="0"/>
                                          </p:stCondLst>
                                        </p:cTn>
                                        <p:tgtEl>
                                          <p:spTgt spid="40"/>
                                        </p:tgtEl>
                                        <p:attrNameLst>
                                          <p:attrName>style.visibility</p:attrName>
                                        </p:attrNameLst>
                                      </p:cBhvr>
                                      <p:to>
                                        <p:strVal val="visible"/>
                                      </p:to>
                                    </p:set>
                                    <p:anim calcmode="lin" valueType="num">
                                      <p:cBhvr additive="base">
                                        <p:cTn id="138" dur="500" fill="hold"/>
                                        <p:tgtEl>
                                          <p:spTgt spid="40"/>
                                        </p:tgtEl>
                                        <p:attrNameLst>
                                          <p:attrName>ppt_x</p:attrName>
                                        </p:attrNameLst>
                                      </p:cBhvr>
                                      <p:tavLst>
                                        <p:tav tm="0">
                                          <p:val>
                                            <p:strVal val="#ppt_x"/>
                                          </p:val>
                                        </p:tav>
                                        <p:tav tm="100000">
                                          <p:val>
                                            <p:strVal val="#ppt_x"/>
                                          </p:val>
                                        </p:tav>
                                      </p:tavLst>
                                    </p:anim>
                                    <p:anim calcmode="lin" valueType="num">
                                      <p:cBhvr additive="base">
                                        <p:cTn id="139" dur="500" fill="hold"/>
                                        <p:tgtEl>
                                          <p:spTgt spid="40"/>
                                        </p:tgtEl>
                                        <p:attrNameLst>
                                          <p:attrName>ppt_y</p:attrName>
                                        </p:attrNameLst>
                                      </p:cBhvr>
                                      <p:tavLst>
                                        <p:tav tm="0">
                                          <p:val>
                                            <p:strVal val="#ppt_y+0.1"/>
                                          </p:val>
                                        </p:tav>
                                        <p:tav tm="100000">
                                          <p:val>
                                            <p:strVal val="#ppt_y"/>
                                          </p:val>
                                        </p:tav>
                                      </p:tavLst>
                                    </p:anim>
                                    <p:animEffect transition="in" filter="fade">
                                      <p:cBhvr>
                                        <p:cTn id="140" dur="500"/>
                                        <p:tgtEl>
                                          <p:spTgt spid="40"/>
                                        </p:tgtEl>
                                      </p:cBhvr>
                                    </p:animEffect>
                                  </p:childTnLst>
                                </p:cTn>
                              </p:par>
                              <p:par>
                                <p:cTn id="146" presetID="2" presetClass="entr" presetSubtype="4" fill="hold" grpId="0" nodeType="withEffect">
                                  <p:stCondLst>
                                    <p:cond delay="37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500" fill="hold"/>
                                        <p:tgtEl>
                                          <p:spTgt spid="37"/>
                                        </p:tgtEl>
                                        <p:attrNameLst>
                                          <p:attrName>ppt_x</p:attrName>
                                        </p:attrNameLst>
                                      </p:cBhvr>
                                      <p:tavLst>
                                        <p:tav tm="0">
                                          <p:val>
                                            <p:strVal val="#ppt_x"/>
                                          </p:val>
                                        </p:tav>
                                        <p:tav tm="100000">
                                          <p:val>
                                            <p:strVal val="#ppt_x"/>
                                          </p:val>
                                        </p:tav>
                                      </p:tavLst>
                                    </p:anim>
                                    <p:anim calcmode="lin" valueType="num">
                                      <p:cBhvr additive="base">
                                        <p:cTn id="144" dur="500" fill="hold"/>
                                        <p:tgtEl>
                                          <p:spTgt spid="37"/>
                                        </p:tgtEl>
                                        <p:attrNameLst>
                                          <p:attrName>ppt_y</p:attrName>
                                        </p:attrNameLst>
                                      </p:cBhvr>
                                      <p:tavLst>
                                        <p:tav tm="0">
                                          <p:val>
                                            <p:strVal val="#ppt_y+0.1"/>
                                          </p:val>
                                        </p:tav>
                                        <p:tav tm="100000">
                                          <p:val>
                                            <p:strVal val="#ppt_y"/>
                                          </p:val>
                                        </p:tav>
                                      </p:tavLst>
                                    </p:anim>
                                    <p:animEffect transition="in" filter="fade">
                                      <p:cBhvr>
                                        <p:cTn id="145" dur="500"/>
                                        <p:tgtEl>
                                          <p:spTgt spid="37"/>
                                        </p:tgtEl>
                                      </p:cBhvr>
                                    </p:animEffect>
                                  </p:childTnLst>
                                </p:cTn>
                              </p:par>
                              <p:par>
                                <p:cTn id="151" presetID="2" presetClass="entr" presetSubtype="4" fill="hold" grpId="0" nodeType="withEffect">
                                  <p:stCondLst>
                                    <p:cond delay="460"/>
                                  </p:stCondLst>
                                  <p:childTnLst>
                                    <p:set>
                                      <p:cBhvr>
                                        <p:cTn id="147" dur="1" fill="hold">
                                          <p:stCondLst>
                                            <p:cond delay="0"/>
                                          </p:stCondLst>
                                        </p:cTn>
                                        <p:tgtEl>
                                          <p:spTgt spid="38"/>
                                        </p:tgtEl>
                                        <p:attrNameLst>
                                          <p:attrName>style.visibility</p:attrName>
                                        </p:attrNameLst>
                                      </p:cBhvr>
                                      <p:to>
                                        <p:strVal val="visible"/>
                                      </p:to>
                                    </p:set>
                                    <p:anim calcmode="lin" valueType="num">
                                      <p:cBhvr additive="base">
                                        <p:cTn id="148" dur="500" fill="hold"/>
                                        <p:tgtEl>
                                          <p:spTgt spid="38"/>
                                        </p:tgtEl>
                                        <p:attrNameLst>
                                          <p:attrName>ppt_x</p:attrName>
                                        </p:attrNameLst>
                                      </p:cBhvr>
                                      <p:tavLst>
                                        <p:tav tm="0">
                                          <p:val>
                                            <p:strVal val="#ppt_x"/>
                                          </p:val>
                                        </p:tav>
                                        <p:tav tm="100000">
                                          <p:val>
                                            <p:strVal val="#ppt_x"/>
                                          </p:val>
                                        </p:tav>
                                      </p:tavLst>
                                    </p:anim>
                                    <p:anim calcmode="lin" valueType="num">
                                      <p:cBhvr additive="base">
                                        <p:cTn id="149" dur="500" fill="hold"/>
                                        <p:tgtEl>
                                          <p:spTgt spid="38"/>
                                        </p:tgtEl>
                                        <p:attrNameLst>
                                          <p:attrName>ppt_y</p:attrName>
                                        </p:attrNameLst>
                                      </p:cBhvr>
                                      <p:tavLst>
                                        <p:tav tm="0">
                                          <p:val>
                                            <p:strVal val="#ppt_y+0.1"/>
                                          </p:val>
                                        </p:tav>
                                        <p:tav tm="100000">
                                          <p:val>
                                            <p:strVal val="#ppt_y"/>
                                          </p:val>
                                        </p:tav>
                                      </p:tavLst>
                                    </p:anim>
                                    <p:animEffect transition="in" filter="fade">
                                      <p:cBhvr>
                                        <p:cTn id="150" dur="500"/>
                                        <p:tgtEl>
                                          <p:spTgt spid="38"/>
                                        </p:tgtEl>
                                      </p:cBhvr>
                                    </p:animEffect>
                                  </p:childTnLst>
                                </p:cTn>
                              </p:par>
                              <p:par>
                                <p:cTn id="156" presetID="2" presetClass="entr" presetSubtype="4" fill="hold" grpId="0" nodeType="withEffect">
                                  <p:stCondLst>
                                    <p:cond delay="550"/>
                                  </p:stCondLst>
                                  <p:childTnLst>
                                    <p:set>
                                      <p:cBhvr>
                                        <p:cTn id="152" dur="1" fill="hold">
                                          <p:stCondLst>
                                            <p:cond delay="0"/>
                                          </p:stCondLst>
                                        </p:cTn>
                                        <p:tgtEl>
                                          <p:spTgt spid="39"/>
                                        </p:tgtEl>
                                        <p:attrNameLst>
                                          <p:attrName>style.visibility</p:attrName>
                                        </p:attrNameLst>
                                      </p:cBhvr>
                                      <p:to>
                                        <p:strVal val="visible"/>
                                      </p:to>
                                    </p:set>
                                    <p:anim calcmode="lin" valueType="num">
                                      <p:cBhvr additive="base">
                                        <p:cTn id="153" dur="500" fill="hold"/>
                                        <p:tgtEl>
                                          <p:spTgt spid="39"/>
                                        </p:tgtEl>
                                        <p:attrNameLst>
                                          <p:attrName>ppt_x</p:attrName>
                                        </p:attrNameLst>
                                      </p:cBhvr>
                                      <p:tavLst>
                                        <p:tav tm="0">
                                          <p:val>
                                            <p:strVal val="#ppt_x"/>
                                          </p:val>
                                        </p:tav>
                                        <p:tav tm="100000">
                                          <p:val>
                                            <p:strVal val="#ppt_x"/>
                                          </p:val>
                                        </p:tav>
                                      </p:tavLst>
                                    </p:anim>
                                    <p:anim calcmode="lin" valueType="num">
                                      <p:cBhvr additive="base">
                                        <p:cTn id="154" dur="500" fill="hold"/>
                                        <p:tgtEl>
                                          <p:spTgt spid="39"/>
                                        </p:tgtEl>
                                        <p:attrNameLst>
                                          <p:attrName>ppt_y</p:attrName>
                                        </p:attrNameLst>
                                      </p:cBhvr>
                                      <p:tavLst>
                                        <p:tav tm="0">
                                          <p:val>
                                            <p:strVal val="#ppt_y+0.1"/>
                                          </p:val>
                                        </p:tav>
                                        <p:tav tm="100000">
                                          <p:val>
                                            <p:strVal val="#ppt_y"/>
                                          </p:val>
                                        </p:tav>
                                      </p:tavLst>
                                    </p:anim>
                                    <p:animEffect transition="in" filter="fade">
                                      <p:cBhvr>
                                        <p:cTn id="155" dur="500"/>
                                        <p:tgtEl>
                                          <p:spTgt spid="39"/>
                                        </p:tgtEl>
                                      </p:cBhvr>
                                    </p:animEffect>
                                  </p:childTnLst>
                                </p:cTn>
                              </p:par>
                            </p:childTnLst>
                          </p:cTn>
                        </p:par>
                      </p:childTnLst>
                    </p:cTn>
                  </p:par>
                  <p:par>
                    <p:cTn id="157" fill="hold">
                      <p:stCondLst>
                        <p:cond delay="indefinite"/>
                      </p:stCondLst>
                      <p:childTnLst>
                        <p:par>
                          <p:cTn id="158" fill="hold">
                            <p:stCondLst>
                              <p:cond delay="0"/>
                            </p:stCondLst>
                            <p:childTnLst>
                              <p:par>
                                <p:cTn id="163" presetID="2" presetClass="entr" presetSubtype="4" fill="hold" grpId="0" nodeType="clickEffect">
                                  <p:stCondLst>
                                    <p:cond delay="0"/>
                                  </p:stCondLst>
                                  <p:childTnLst>
                                    <p:set>
                                      <p:cBhvr>
                                        <p:cTn id="159" dur="1" fill="hold">
                                          <p:stCondLst>
                                            <p:cond delay="0"/>
                                          </p:stCondLst>
                                        </p:cTn>
                                        <p:tgtEl>
                                          <p:spTgt spid="41"/>
                                        </p:tgtEl>
                                        <p:attrNameLst>
                                          <p:attrName>style.visibility</p:attrName>
                                        </p:attrNameLst>
                                      </p:cBhvr>
                                      <p:to>
                                        <p:strVal val="visible"/>
                                      </p:to>
                                    </p:set>
                                    <p:anim calcmode="lin" valueType="num">
                                      <p:cBhvr additive="base">
                                        <p:cTn id="160" dur="500" fill="hold"/>
                                        <p:tgtEl>
                                          <p:spTgt spid="41"/>
                                        </p:tgtEl>
                                        <p:attrNameLst>
                                          <p:attrName>ppt_x</p:attrName>
                                        </p:attrNameLst>
                                      </p:cBhvr>
                                      <p:tavLst>
                                        <p:tav tm="0">
                                          <p:val>
                                            <p:strVal val="#ppt_x"/>
                                          </p:val>
                                        </p:tav>
                                        <p:tav tm="100000">
                                          <p:val>
                                            <p:strVal val="#ppt_x"/>
                                          </p:val>
                                        </p:tav>
                                      </p:tavLst>
                                    </p:anim>
                                    <p:anim calcmode="lin" valueType="num">
                                      <p:cBhvr additive="base">
                                        <p:cTn id="161" dur="500" fill="hold"/>
                                        <p:tgtEl>
                                          <p:spTgt spid="41"/>
                                        </p:tgtEl>
                                        <p:attrNameLst>
                                          <p:attrName>ppt_y</p:attrName>
                                        </p:attrNameLst>
                                      </p:cBhvr>
                                      <p:tavLst>
                                        <p:tav tm="0">
                                          <p:val>
                                            <p:strVal val="#ppt_y+0.1"/>
                                          </p:val>
                                        </p:tav>
                                        <p:tav tm="100000">
                                          <p:val>
                                            <p:strVal val="#ppt_y"/>
                                          </p:val>
                                        </p:tav>
                                      </p:tavLst>
                                    </p:anim>
                                    <p:animEffect transition="in" filter="fade">
                                      <p:cBhvr>
                                        <p:cTn id="162" dur="500"/>
                                        <p:tgtEl>
                                          <p:spTgt spid="41"/>
                                        </p:tgtEl>
                                      </p:cBhvr>
                                    </p:animEffect>
                                  </p:childTnLst>
                                </p:cTn>
                              </p:par>
                              <p:par>
                                <p:cTn id="168" presetID="2" presetClass="entr" presetSubtype="4" fill="hold" grpId="0" nodeType="withEffect">
                                  <p:stCondLst>
                                    <p:cond delay="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ppt_y+0.1"/>
                                          </p:val>
                                        </p:tav>
                                        <p:tav tm="100000">
                                          <p:val>
                                            <p:strVal val="#ppt_y"/>
                                          </p:val>
                                        </p:tav>
                                      </p:tavLst>
                                    </p:anim>
                                    <p:animEffect transition="in" filter="fade">
                                      <p:cBhvr>
                                        <p:cTn id="167" dur="500"/>
                                        <p:tgtEl>
                                          <p:spTgt spid="42"/>
                                        </p:tgtEl>
                                      </p:cBhvr>
                                    </p:animEffect>
                                  </p:childTnLst>
                                </p:cTn>
                              </p:par>
                              <p:par>
                                <p:cTn id="173" presetID="2" presetClass="entr" presetSubtype="4" fill="hold" grpId="0" nodeType="withEffect">
                                  <p:stCondLst>
                                    <p:cond delay="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500" fill="hold"/>
                                        <p:tgtEl>
                                          <p:spTgt spid="43"/>
                                        </p:tgtEl>
                                        <p:attrNameLst>
                                          <p:attrName>ppt_x</p:attrName>
                                        </p:attrNameLst>
                                      </p:cBhvr>
                                      <p:tavLst>
                                        <p:tav tm="0">
                                          <p:val>
                                            <p:strVal val="#ppt_x"/>
                                          </p:val>
                                        </p:tav>
                                        <p:tav tm="100000">
                                          <p:val>
                                            <p:strVal val="#ppt_x"/>
                                          </p:val>
                                        </p:tav>
                                      </p:tavLst>
                                    </p:anim>
                                    <p:anim calcmode="lin" valueType="num">
                                      <p:cBhvr additive="base">
                                        <p:cTn id="171" dur="500" fill="hold"/>
                                        <p:tgtEl>
                                          <p:spTgt spid="43"/>
                                        </p:tgtEl>
                                        <p:attrNameLst>
                                          <p:attrName>ppt_y</p:attrName>
                                        </p:attrNameLst>
                                      </p:cBhvr>
                                      <p:tavLst>
                                        <p:tav tm="0">
                                          <p:val>
                                            <p:strVal val="#ppt_y+0.1"/>
                                          </p:val>
                                        </p:tav>
                                        <p:tav tm="100000">
                                          <p:val>
                                            <p:strVal val="#ppt_y"/>
                                          </p:val>
                                        </p:tav>
                                      </p:tavLst>
                                    </p:anim>
                                    <p:animEffect transition="in" filter="fade">
                                      <p:cBhvr>
                                        <p:cTn id="172" dur="500"/>
                                        <p:tgtEl>
                                          <p:spTgt spid="43"/>
                                        </p:tgtEl>
                                      </p:cBhvr>
                                    </p:animEffect>
                                  </p:childTnLst>
                                </p:cTn>
                              </p:par>
                              <p:par>
                                <p:cTn id="178" presetID="2" presetClass="entr" presetSubtype="4" fill="hold" grpId="0" nodeType="withEffect">
                                  <p:stCondLst>
                                    <p:cond delay="80"/>
                                  </p:stCondLst>
                                  <p:childTnLst>
                                    <p:set>
                                      <p:cBhvr>
                                        <p:cTn id="174" dur="1" fill="hold">
                                          <p:stCondLst>
                                            <p:cond delay="0"/>
                                          </p:stCondLst>
                                        </p:cTn>
                                        <p:tgtEl>
                                          <p:spTgt spid="44"/>
                                        </p:tgtEl>
                                        <p:attrNameLst>
                                          <p:attrName>style.visibility</p:attrName>
                                        </p:attrNameLst>
                                      </p:cBhvr>
                                      <p:to>
                                        <p:strVal val="visible"/>
                                      </p:to>
                                    </p:set>
                                    <p:anim calcmode="lin" valueType="num">
                                      <p:cBhvr additive="base">
                                        <p:cTn id="175" dur="500" fill="hold"/>
                                        <p:tgtEl>
                                          <p:spTgt spid="44"/>
                                        </p:tgtEl>
                                        <p:attrNameLst>
                                          <p:attrName>ppt_x</p:attrName>
                                        </p:attrNameLst>
                                      </p:cBhvr>
                                      <p:tavLst>
                                        <p:tav tm="0">
                                          <p:val>
                                            <p:strVal val="#ppt_x"/>
                                          </p:val>
                                        </p:tav>
                                        <p:tav tm="100000">
                                          <p:val>
                                            <p:strVal val="#ppt_x"/>
                                          </p:val>
                                        </p:tav>
                                      </p:tavLst>
                                    </p:anim>
                                    <p:anim calcmode="lin" valueType="num">
                                      <p:cBhvr additive="base">
                                        <p:cTn id="176" dur="500" fill="hold"/>
                                        <p:tgtEl>
                                          <p:spTgt spid="44"/>
                                        </p:tgtEl>
                                        <p:attrNameLst>
                                          <p:attrName>ppt_y</p:attrName>
                                        </p:attrNameLst>
                                      </p:cBhvr>
                                      <p:tavLst>
                                        <p:tav tm="0">
                                          <p:val>
                                            <p:strVal val="#ppt_y+0.1"/>
                                          </p:val>
                                        </p:tav>
                                        <p:tav tm="100000">
                                          <p:val>
                                            <p:strVal val="#ppt_y"/>
                                          </p:val>
                                        </p:tav>
                                      </p:tavLst>
                                    </p:anim>
                                    <p:animEffect transition="in" filter="fade">
                                      <p:cBhvr>
                                        <p:cTn id="177" dur="500"/>
                                        <p:tgtEl>
                                          <p:spTgt spid="44"/>
                                        </p:tgtEl>
                                      </p:cBhvr>
                                    </p:animEffect>
                                  </p:childTnLst>
                                </p:cTn>
                              </p:par>
                            </p:childTnLst>
                          </p:cTn>
                        </p:par>
                      </p:childTnLst>
                    </p:cTn>
                  </p:par>
                  <p:par>
                    <p:cTn id="179" fill="hold">
                      <p:stCondLst>
                        <p:cond delay="indefinite"/>
                      </p:stCondLst>
                      <p:childTnLst>
                        <p:par>
                          <p:cTn id="180" fill="hold">
                            <p:stCondLst>
                              <p:cond delay="0"/>
                            </p:stCondLst>
                            <p:childTnLst>
                              <p:par>
                                <p:cTn id="185" presetID="2" presetClass="entr" presetSubtype="4" fill="hold" grpId="0" nodeType="clickEffect">
                                  <p:stCondLst>
                                    <p:cond delay="0"/>
                                  </p:stCondLst>
                                  <p:childTnLst>
                                    <p:set>
                                      <p:cBhvr>
                                        <p:cTn id="181" dur="1" fill="hold">
                                          <p:stCondLst>
                                            <p:cond delay="0"/>
                                          </p:stCondLst>
                                        </p:cTn>
                                        <p:tgtEl>
                                          <p:spTgt spid="45"/>
                                        </p:tgtEl>
                                        <p:attrNameLst>
                                          <p:attrName>style.visibility</p:attrName>
                                        </p:attrNameLst>
                                      </p:cBhvr>
                                      <p:to>
                                        <p:strVal val="visible"/>
                                      </p:to>
                                    </p:set>
                                    <p:anim calcmode="lin" valueType="num">
                                      <p:cBhvr additive="base">
                                        <p:cTn id="182" dur="500" fill="hold"/>
                                        <p:tgtEl>
                                          <p:spTgt spid="45"/>
                                        </p:tgtEl>
                                        <p:attrNameLst>
                                          <p:attrName>ppt_x</p:attrName>
                                        </p:attrNameLst>
                                      </p:cBhvr>
                                      <p:tavLst>
                                        <p:tav tm="0">
                                          <p:val>
                                            <p:strVal val="#ppt_x"/>
                                          </p:val>
                                        </p:tav>
                                        <p:tav tm="100000">
                                          <p:val>
                                            <p:strVal val="#ppt_x"/>
                                          </p:val>
                                        </p:tav>
                                      </p:tavLst>
                                    </p:anim>
                                    <p:anim calcmode="lin" valueType="num">
                                      <p:cBhvr additive="base">
                                        <p:cTn id="183" dur="500" fill="hold"/>
                                        <p:tgtEl>
                                          <p:spTgt spid="45"/>
                                        </p:tgtEl>
                                        <p:attrNameLst>
                                          <p:attrName>ppt_y</p:attrName>
                                        </p:attrNameLst>
                                      </p:cBhvr>
                                      <p:tavLst>
                                        <p:tav tm="0">
                                          <p:val>
                                            <p:strVal val="#ppt_y+0.1"/>
                                          </p:val>
                                        </p:tav>
                                        <p:tav tm="100000">
                                          <p:val>
                                            <p:strVal val="#ppt_y"/>
                                          </p:val>
                                        </p:tav>
                                      </p:tavLst>
                                    </p:anim>
                                    <p:animEffect transition="in" filter="fade">
                                      <p:cBhvr>
                                        <p:cTn id="184" dur="500"/>
                                        <p:tgtEl>
                                          <p:spTgt spid="45"/>
                                        </p:tgtEl>
                                      </p:cBhvr>
                                    </p:animEffect>
                                  </p:childTnLst>
                                </p:cTn>
                              </p:par>
                              <p:par>
                                <p:cTn id="190" presetID="2" presetClass="entr" presetSubtype="4" fill="hold" grpId="0" nodeType="withEffect">
                                  <p:stCondLst>
                                    <p:cond delay="0"/>
                                  </p:stCondLst>
                                  <p:childTnLst>
                                    <p:set>
                                      <p:cBhvr>
                                        <p:cTn id="186" dur="1" fill="hold">
                                          <p:stCondLst>
                                            <p:cond delay="0"/>
                                          </p:stCondLst>
                                        </p:cTn>
                                        <p:tgtEl>
                                          <p:spTgt spid="46"/>
                                        </p:tgtEl>
                                        <p:attrNameLst>
                                          <p:attrName>style.visibility</p:attrName>
                                        </p:attrNameLst>
                                      </p:cBhvr>
                                      <p:to>
                                        <p:strVal val="visible"/>
                                      </p:to>
                                    </p:set>
                                    <p:anim calcmode="lin" valueType="num">
                                      <p:cBhvr additive="base">
                                        <p:cTn id="187" dur="500" fill="hold"/>
                                        <p:tgtEl>
                                          <p:spTgt spid="46"/>
                                        </p:tgtEl>
                                        <p:attrNameLst>
                                          <p:attrName>ppt_x</p:attrName>
                                        </p:attrNameLst>
                                      </p:cBhvr>
                                      <p:tavLst>
                                        <p:tav tm="0">
                                          <p:val>
                                            <p:strVal val="#ppt_x"/>
                                          </p:val>
                                        </p:tav>
                                        <p:tav tm="100000">
                                          <p:val>
                                            <p:strVal val="#ppt_x"/>
                                          </p:val>
                                        </p:tav>
                                      </p:tavLst>
                                    </p:anim>
                                    <p:anim calcmode="lin" valueType="num">
                                      <p:cBhvr additive="base">
                                        <p:cTn id="188" dur="500" fill="hold"/>
                                        <p:tgtEl>
                                          <p:spTgt spid="46"/>
                                        </p:tgtEl>
                                        <p:attrNameLst>
                                          <p:attrName>ppt_y</p:attrName>
                                        </p:attrNameLst>
                                      </p:cBhvr>
                                      <p:tavLst>
                                        <p:tav tm="0">
                                          <p:val>
                                            <p:strVal val="#ppt_y+0.1"/>
                                          </p:val>
                                        </p:tav>
                                        <p:tav tm="100000">
                                          <p:val>
                                            <p:strVal val="#ppt_y"/>
                                          </p:val>
                                        </p:tav>
                                      </p:tavLst>
                                    </p:anim>
                                    <p:animEffect transition="in" filter="fade">
                                      <p:cBhvr>
                                        <p:cTn id="189" dur="500"/>
                                        <p:tgtEl>
                                          <p:spTgt spid="46"/>
                                        </p:tgtEl>
                                      </p:cBhvr>
                                    </p:animEffect>
                                  </p:childTnLst>
                                </p:cTn>
                              </p:par>
                              <p:par>
                                <p:cTn id="195" presetID="2" presetClass="entr" presetSubtype="4" fill="hold" grpId="0" nodeType="withEffect">
                                  <p:stCondLst>
                                    <p:cond delay="0"/>
                                  </p:stCondLst>
                                  <p:childTnLst>
                                    <p:set>
                                      <p:cBhvr>
                                        <p:cTn id="191" dur="1" fill="hold">
                                          <p:stCondLst>
                                            <p:cond delay="0"/>
                                          </p:stCondLst>
                                        </p:cTn>
                                        <p:tgtEl>
                                          <p:spTgt spid="47"/>
                                        </p:tgtEl>
                                        <p:attrNameLst>
                                          <p:attrName>style.visibility</p:attrName>
                                        </p:attrNameLst>
                                      </p:cBhvr>
                                      <p:to>
                                        <p:strVal val="visible"/>
                                      </p:to>
                                    </p:set>
                                    <p:anim calcmode="lin" valueType="num">
                                      <p:cBhvr additive="base">
                                        <p:cTn id="192" dur="500" fill="hold"/>
                                        <p:tgtEl>
                                          <p:spTgt spid="47"/>
                                        </p:tgtEl>
                                        <p:attrNameLst>
                                          <p:attrName>ppt_x</p:attrName>
                                        </p:attrNameLst>
                                      </p:cBhvr>
                                      <p:tavLst>
                                        <p:tav tm="0">
                                          <p:val>
                                            <p:strVal val="#ppt_x"/>
                                          </p:val>
                                        </p:tav>
                                        <p:tav tm="100000">
                                          <p:val>
                                            <p:strVal val="#ppt_x"/>
                                          </p:val>
                                        </p:tav>
                                      </p:tavLst>
                                    </p:anim>
                                    <p:anim calcmode="lin" valueType="num">
                                      <p:cBhvr additive="base">
                                        <p:cTn id="193" dur="500" fill="hold"/>
                                        <p:tgtEl>
                                          <p:spTgt spid="47"/>
                                        </p:tgtEl>
                                        <p:attrNameLst>
                                          <p:attrName>ppt_y</p:attrName>
                                        </p:attrNameLst>
                                      </p:cBhvr>
                                      <p:tavLst>
                                        <p:tav tm="0">
                                          <p:val>
                                            <p:strVal val="#ppt_y+0.1"/>
                                          </p:val>
                                        </p:tav>
                                        <p:tav tm="100000">
                                          <p:val>
                                            <p:strVal val="#ppt_y"/>
                                          </p:val>
                                        </p:tav>
                                      </p:tavLst>
                                    </p:anim>
                                    <p:animEffect transition="in" filter="fade">
                                      <p:cBhvr>
                                        <p:cTn id="19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Producer Picks the Partition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hashing and spreading from Module 3 happen in the producer library</a:t>
            </a:r>
          </a:p>
        </p:txBody>
      </p:sp>
      <p:sp>
        <p:nvSpPr>
          <p:cNvPr id="11" name="a1u_nd10"/>
          <p:cNvSpPr/>
          <p:nvPr/>
        </p:nvSpPr>
        <p:spPr>
          <a:xfrm>
            <a:off x="457200" y="1417320"/>
            <a:ext cx="1645920" cy="731520"/>
          </a:xfrm>
          <a:prstGeom prst="roundRect">
            <a:avLst>
              <a:gd name="adj" fmla="val 10000"/>
            </a:avLst>
          </a:prstGeom>
          <a:solidFill>
            <a:srgbClr val="F7F6F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453896"/>
            <a:ext cx="1554480" cy="347472"/>
          </a:xfrm>
          <a:prstGeom prst="rect">
            <a:avLst/>
          </a:prstGeom>
          <a:noFill/>
        </p:spPr>
        <p:txBody>
          <a:bodyPr wrap="square" lIns="0" tIns="0" rIns="0" bIns="0" anchor="b">
            <a:spAutoFit/>
          </a:bodyPr>
          <a:lstStyle/>
          <a:p>
            <a:pPr algn="ctr"/>
            <a:r>
              <a:rPr sz="950" b="1">
                <a:solidFill>
                  <a:srgbClr val="1C1917"/>
                </a:solidFill>
                <a:latin typeface="Segoe UI"/>
              </a:rPr>
              <a:t>ProducerRecord</a:t>
            </a:r>
          </a:p>
        </p:txBody>
      </p:sp>
      <p:sp>
        <p:nvSpPr>
          <p:cNvPr id="13" name="a1u_nds12"/>
          <p:cNvSpPr txBox="1"/>
          <p:nvPr/>
        </p:nvSpPr>
        <p:spPr>
          <a:xfrm>
            <a:off x="502920" y="1810512"/>
            <a:ext cx="1554480" cy="301752"/>
          </a:xfrm>
          <a:prstGeom prst="rect">
            <a:avLst/>
          </a:prstGeom>
          <a:noFill/>
        </p:spPr>
        <p:txBody>
          <a:bodyPr wrap="square" lIns="0" tIns="0" rIns="0" bIns="0" anchor="t">
            <a:spAutoFit/>
          </a:bodyPr>
          <a:lstStyle/>
          <a:p>
            <a:pPr algn="ctr"/>
            <a:r>
              <a:rPr sz="850" b="0">
                <a:solidFill>
                  <a:srgbClr val="A16207"/>
                </a:solidFill>
                <a:latin typeface="Segoe UI"/>
              </a:rPr>
              <a:t>key = "42"</a:t>
            </a:r>
          </a:p>
        </p:txBody>
      </p:sp>
      <p:cxnSp>
        <p:nvCxnSpPr>
          <p:cNvPr id="14" name="a1ud100_ar13"/>
          <p:cNvCxnSpPr/>
          <p:nvPr/>
        </p:nvCxnSpPr>
        <p:spPr>
          <a:xfrm>
            <a:off x="2121408" y="1783080"/>
            <a:ext cx="466344"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1ud100_kp14"/>
          <p:cNvSpPr/>
          <p:nvPr/>
        </p:nvSpPr>
        <p:spPr>
          <a:xfrm>
            <a:off x="2606040" y="1261872"/>
            <a:ext cx="2514600" cy="1051560"/>
          </a:xfrm>
          <a:prstGeom prst="roundRect">
            <a:avLst>
              <a:gd name="adj" fmla="val 6956"/>
            </a:avLst>
          </a:prstGeom>
          <a:noFill/>
          <a:ln w="12700">
            <a:solidFill>
              <a:srgbClr val="FB92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00_lb15"/>
          <p:cNvSpPr txBox="1"/>
          <p:nvPr/>
        </p:nvSpPr>
        <p:spPr>
          <a:xfrm>
            <a:off x="2743200" y="1298448"/>
            <a:ext cx="2194560" cy="201168"/>
          </a:xfrm>
          <a:prstGeom prst="rect">
            <a:avLst/>
          </a:prstGeom>
          <a:noFill/>
        </p:spPr>
        <p:txBody>
          <a:bodyPr wrap="square" lIns="0" tIns="0" rIns="0" bIns="0" anchor="ctr">
            <a:spAutoFit/>
          </a:bodyPr>
          <a:lstStyle/>
          <a:p>
            <a:pPr algn="l"/>
            <a:r>
              <a:rPr sz="750" b="1">
                <a:solidFill>
                  <a:srgbClr val="C2410C"/>
                </a:solidFill>
                <a:latin typeface="Segoe UI"/>
              </a:rPr>
              <a:t>KAFKAPRODUCER</a:t>
            </a:r>
          </a:p>
        </p:txBody>
      </p:sp>
      <p:sp>
        <p:nvSpPr>
          <p:cNvPr id="17" name="a2u_nd16"/>
          <p:cNvSpPr/>
          <p:nvPr/>
        </p:nvSpPr>
        <p:spPr>
          <a:xfrm>
            <a:off x="2788920" y="1554480"/>
            <a:ext cx="2148840" cy="603504"/>
          </a:xfrm>
          <a:prstGeom prst="roundRect">
            <a:avLst>
              <a:gd name="adj" fmla="val 12121"/>
            </a:avLst>
          </a:prstGeom>
          <a:solidFill>
            <a:srgbClr val="FFEDD5"/>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2u_ndt17"/>
          <p:cNvSpPr txBox="1"/>
          <p:nvPr/>
        </p:nvSpPr>
        <p:spPr>
          <a:xfrm>
            <a:off x="2834639" y="1591056"/>
            <a:ext cx="2057400" cy="283464"/>
          </a:xfrm>
          <a:prstGeom prst="rect">
            <a:avLst/>
          </a:prstGeom>
          <a:noFill/>
        </p:spPr>
        <p:txBody>
          <a:bodyPr wrap="square" lIns="0" tIns="0" rIns="0" bIns="0" anchor="b">
            <a:spAutoFit/>
          </a:bodyPr>
          <a:lstStyle/>
          <a:p>
            <a:pPr algn="ctr"/>
            <a:r>
              <a:rPr sz="950" b="1">
                <a:solidFill>
                  <a:srgbClr val="1C1917"/>
                </a:solidFill>
                <a:latin typeface="Segoe UI"/>
              </a:rPr>
              <a:t>partitioner</a:t>
            </a:r>
          </a:p>
        </p:txBody>
      </p:sp>
      <p:sp>
        <p:nvSpPr>
          <p:cNvPr id="19" name="a2u_nds18"/>
          <p:cNvSpPr txBox="1"/>
          <p:nvPr/>
        </p:nvSpPr>
        <p:spPr>
          <a:xfrm>
            <a:off x="2834639" y="1883663"/>
            <a:ext cx="2057400" cy="237744"/>
          </a:xfrm>
          <a:prstGeom prst="rect">
            <a:avLst/>
          </a:prstGeom>
          <a:noFill/>
        </p:spPr>
        <p:txBody>
          <a:bodyPr wrap="square" lIns="0" tIns="0" rIns="0" bIns="0" anchor="t">
            <a:spAutoFit/>
          </a:bodyPr>
          <a:lstStyle/>
          <a:p>
            <a:pPr algn="ctr"/>
            <a:r>
              <a:rPr sz="800" b="0">
                <a:solidFill>
                  <a:srgbClr val="EA580C"/>
                </a:solidFill>
                <a:latin typeface="Segoe UI"/>
              </a:rPr>
              <a:t>hash("42") mod 3 = 2</a:t>
            </a:r>
          </a:p>
        </p:txBody>
      </p:sp>
      <p:sp>
        <p:nvSpPr>
          <p:cNvPr id="20" name="a2ud200_pp19"/>
          <p:cNvSpPr/>
          <p:nvPr/>
        </p:nvSpPr>
        <p:spPr>
          <a:xfrm>
            <a:off x="5669280" y="1261872"/>
            <a:ext cx="1280160" cy="310896"/>
          </a:xfrm>
          <a:prstGeom prst="roundRect">
            <a:avLst>
              <a:gd name="adj" fmla="val 1470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d200_ppt20"/>
          <p:cNvSpPr txBox="1"/>
          <p:nvPr/>
        </p:nvSpPr>
        <p:spPr>
          <a:xfrm>
            <a:off x="5760720" y="1261872"/>
            <a:ext cx="1097280" cy="310896"/>
          </a:xfrm>
          <a:prstGeom prst="rect">
            <a:avLst/>
          </a:prstGeom>
          <a:noFill/>
        </p:spPr>
        <p:txBody>
          <a:bodyPr wrap="square" lIns="0" tIns="0" rIns="0" bIns="0" anchor="ctr">
            <a:spAutoFit/>
          </a:bodyPr>
          <a:lstStyle/>
          <a:p>
            <a:pPr algn="l"/>
            <a:r>
              <a:rPr sz="950" b="0">
                <a:solidFill>
                  <a:srgbClr val="78716C"/>
                </a:solidFill>
                <a:latin typeface="Consolas"/>
              </a:rPr>
              <a:t>P0</a:t>
            </a:r>
          </a:p>
        </p:txBody>
      </p:sp>
      <p:sp>
        <p:nvSpPr>
          <p:cNvPr id="22" name="a2ud300_pp21"/>
          <p:cNvSpPr/>
          <p:nvPr/>
        </p:nvSpPr>
        <p:spPr>
          <a:xfrm>
            <a:off x="5669280" y="1645919"/>
            <a:ext cx="1280160" cy="310896"/>
          </a:xfrm>
          <a:prstGeom prst="roundRect">
            <a:avLst>
              <a:gd name="adj" fmla="val 1470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d300_ppt22"/>
          <p:cNvSpPr txBox="1"/>
          <p:nvPr/>
        </p:nvSpPr>
        <p:spPr>
          <a:xfrm>
            <a:off x="5760720" y="1645919"/>
            <a:ext cx="1097280" cy="310896"/>
          </a:xfrm>
          <a:prstGeom prst="rect">
            <a:avLst/>
          </a:prstGeom>
          <a:noFill/>
        </p:spPr>
        <p:txBody>
          <a:bodyPr wrap="square" lIns="0" tIns="0" rIns="0" bIns="0" anchor="ctr">
            <a:spAutoFit/>
          </a:bodyPr>
          <a:lstStyle/>
          <a:p>
            <a:pPr algn="l"/>
            <a:r>
              <a:rPr sz="950" b="0">
                <a:solidFill>
                  <a:srgbClr val="78716C"/>
                </a:solidFill>
                <a:latin typeface="Consolas"/>
              </a:rPr>
              <a:t>P1</a:t>
            </a:r>
          </a:p>
        </p:txBody>
      </p:sp>
      <p:sp>
        <p:nvSpPr>
          <p:cNvPr id="24" name="a2ud400_pp23"/>
          <p:cNvSpPr/>
          <p:nvPr/>
        </p:nvSpPr>
        <p:spPr>
          <a:xfrm>
            <a:off x="5669280" y="2029967"/>
            <a:ext cx="1280160" cy="310896"/>
          </a:xfrm>
          <a:prstGeom prst="roundRect">
            <a:avLst>
              <a:gd name="adj" fmla="val 14705"/>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d400_ppt24"/>
          <p:cNvSpPr txBox="1"/>
          <p:nvPr/>
        </p:nvSpPr>
        <p:spPr>
          <a:xfrm>
            <a:off x="5760720" y="2029967"/>
            <a:ext cx="1097280" cy="310896"/>
          </a:xfrm>
          <a:prstGeom prst="rect">
            <a:avLst/>
          </a:prstGeom>
          <a:noFill/>
        </p:spPr>
        <p:txBody>
          <a:bodyPr wrap="square" lIns="0" tIns="0" rIns="0" bIns="0" anchor="ctr">
            <a:spAutoFit/>
          </a:bodyPr>
          <a:lstStyle/>
          <a:p>
            <a:pPr algn="l"/>
            <a:r>
              <a:rPr sz="950" b="1">
                <a:solidFill>
                  <a:srgbClr val="A16207"/>
                </a:solidFill>
                <a:latin typeface="Consolas"/>
              </a:rPr>
              <a:t>P2  &lt;- here</a:t>
            </a:r>
          </a:p>
        </p:txBody>
      </p:sp>
      <p:cxnSp>
        <p:nvCxnSpPr>
          <p:cNvPr id="26" name="a2ud400_ar25"/>
          <p:cNvCxnSpPr/>
          <p:nvPr/>
        </p:nvCxnSpPr>
        <p:spPr>
          <a:xfrm>
            <a:off x="5138928" y="1856231"/>
            <a:ext cx="512064" cy="82297"/>
          </a:xfrm>
          <a:prstGeom prst="line">
            <a:avLst/>
          </a:prstGeom>
          <a:ln w="22225">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2ud500_side26"/>
          <p:cNvSpPr txBox="1"/>
          <p:nvPr/>
        </p:nvSpPr>
        <p:spPr>
          <a:xfrm>
            <a:off x="7178040" y="1325880"/>
            <a:ext cx="1508760" cy="868680"/>
          </a:xfrm>
          <a:prstGeom prst="rect">
            <a:avLst/>
          </a:prstGeom>
          <a:noFill/>
        </p:spPr>
        <p:txBody>
          <a:bodyPr wrap="square" lIns="0" tIns="0" rIns="0" bIns="0" anchor="t">
            <a:spAutoFit/>
          </a:bodyPr>
          <a:lstStyle/>
          <a:p>
            <a:pPr algn="l"/>
            <a:r>
              <a:rPr sz="900" b="0">
                <a:solidFill>
                  <a:srgbClr val="44403C"/>
                </a:solidFill>
                <a:latin typeface="Segoe UI"/>
              </a:rPr>
              <a:t>decided in your app, before the message leaves it</a:t>
            </a:r>
          </a:p>
        </p:txBody>
      </p:sp>
      <p:sp>
        <p:nvSpPr>
          <p:cNvPr id="28" name="a3f_th27"/>
          <p:cNvSpPr/>
          <p:nvPr/>
        </p:nvSpPr>
        <p:spPr>
          <a:xfrm>
            <a:off x="457200" y="2560320"/>
            <a:ext cx="2103120" cy="274320"/>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f_tht28"/>
          <p:cNvSpPr txBox="1"/>
          <p:nvPr/>
        </p:nvSpPr>
        <p:spPr>
          <a:xfrm>
            <a:off x="530352" y="2560320"/>
            <a:ext cx="1993391" cy="274320"/>
          </a:xfrm>
          <a:prstGeom prst="rect">
            <a:avLst/>
          </a:prstGeom>
          <a:noFill/>
        </p:spPr>
        <p:txBody>
          <a:bodyPr wrap="square" lIns="0" tIns="0" rIns="0" bIns="0" anchor="ctr">
            <a:spAutoFit/>
          </a:bodyPr>
          <a:lstStyle/>
          <a:p>
            <a:pPr algn="l"/>
            <a:r>
              <a:rPr sz="900" b="1">
                <a:solidFill>
                  <a:srgbClr val="FFFFFF"/>
                </a:solidFill>
                <a:latin typeface="Segoe UI"/>
              </a:rPr>
              <a:t>the record has ...</a:t>
            </a:r>
          </a:p>
        </p:txBody>
      </p:sp>
      <p:sp>
        <p:nvSpPr>
          <p:cNvPr id="30" name="a3wd120_td29"/>
          <p:cNvSpPr/>
          <p:nvPr/>
        </p:nvSpPr>
        <p:spPr>
          <a:xfrm>
            <a:off x="457200" y="2834639"/>
            <a:ext cx="2103120" cy="274320"/>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wd120_tdt30"/>
          <p:cNvSpPr txBox="1"/>
          <p:nvPr/>
        </p:nvSpPr>
        <p:spPr>
          <a:xfrm>
            <a:off x="530352" y="2834639"/>
            <a:ext cx="1993391" cy="274320"/>
          </a:xfrm>
          <a:prstGeom prst="rect">
            <a:avLst/>
          </a:prstGeom>
          <a:noFill/>
        </p:spPr>
        <p:txBody>
          <a:bodyPr wrap="square" lIns="0" tIns="0" rIns="0" bIns="0" anchor="ctr">
            <a:spAutoFit/>
          </a:bodyPr>
          <a:lstStyle/>
          <a:p>
            <a:pPr algn="l"/>
            <a:r>
              <a:rPr sz="900" b="0">
                <a:solidFill>
                  <a:srgbClr val="44403C"/>
                </a:solidFill>
                <a:latin typeface="Segoe UI"/>
              </a:rPr>
              <a:t>a key</a:t>
            </a:r>
          </a:p>
        </p:txBody>
      </p:sp>
      <p:sp>
        <p:nvSpPr>
          <p:cNvPr id="32" name="a3wd240_td31"/>
          <p:cNvSpPr/>
          <p:nvPr/>
        </p:nvSpPr>
        <p:spPr>
          <a:xfrm>
            <a:off x="457200" y="3108960"/>
            <a:ext cx="2103120" cy="274320"/>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3wd240_tdt32"/>
          <p:cNvSpPr txBox="1"/>
          <p:nvPr/>
        </p:nvSpPr>
        <p:spPr>
          <a:xfrm>
            <a:off x="530352" y="3108960"/>
            <a:ext cx="1993391" cy="274320"/>
          </a:xfrm>
          <a:prstGeom prst="rect">
            <a:avLst/>
          </a:prstGeom>
          <a:noFill/>
        </p:spPr>
        <p:txBody>
          <a:bodyPr wrap="square" lIns="0" tIns="0" rIns="0" bIns="0" anchor="ctr">
            <a:spAutoFit/>
          </a:bodyPr>
          <a:lstStyle/>
          <a:p>
            <a:pPr algn="l"/>
            <a:r>
              <a:rPr sz="900" b="0">
                <a:solidFill>
                  <a:srgbClr val="44403C"/>
                </a:solidFill>
                <a:latin typeface="Segoe UI"/>
              </a:rPr>
              <a:t>no key</a:t>
            </a:r>
          </a:p>
        </p:txBody>
      </p:sp>
      <p:sp>
        <p:nvSpPr>
          <p:cNvPr id="34" name="a3wd360_td33"/>
          <p:cNvSpPr/>
          <p:nvPr/>
        </p:nvSpPr>
        <p:spPr>
          <a:xfrm>
            <a:off x="457200" y="3383279"/>
            <a:ext cx="2103120" cy="274320"/>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wd360_tdt34"/>
          <p:cNvSpPr txBox="1"/>
          <p:nvPr/>
        </p:nvSpPr>
        <p:spPr>
          <a:xfrm>
            <a:off x="530352" y="3383279"/>
            <a:ext cx="1993391" cy="274320"/>
          </a:xfrm>
          <a:prstGeom prst="rect">
            <a:avLst/>
          </a:prstGeom>
          <a:noFill/>
        </p:spPr>
        <p:txBody>
          <a:bodyPr wrap="square" lIns="0" tIns="0" rIns="0" bIns="0" anchor="ctr">
            <a:spAutoFit/>
          </a:bodyPr>
          <a:lstStyle/>
          <a:p>
            <a:pPr algn="l"/>
            <a:r>
              <a:rPr sz="900" b="0">
                <a:solidFill>
                  <a:srgbClr val="44403C"/>
                </a:solidFill>
                <a:latin typeface="Segoe UI"/>
              </a:rPr>
              <a:t>a partition number</a:t>
            </a:r>
          </a:p>
        </p:txBody>
      </p:sp>
      <p:sp>
        <p:nvSpPr>
          <p:cNvPr id="36" name="a3wd480_td35"/>
          <p:cNvSpPr/>
          <p:nvPr/>
        </p:nvSpPr>
        <p:spPr>
          <a:xfrm>
            <a:off x="457200" y="3657600"/>
            <a:ext cx="2103120" cy="274320"/>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wd480_tdt36"/>
          <p:cNvSpPr txBox="1"/>
          <p:nvPr/>
        </p:nvSpPr>
        <p:spPr>
          <a:xfrm>
            <a:off x="530352" y="3657600"/>
            <a:ext cx="1993391" cy="274320"/>
          </a:xfrm>
          <a:prstGeom prst="rect">
            <a:avLst/>
          </a:prstGeom>
          <a:noFill/>
        </p:spPr>
        <p:txBody>
          <a:bodyPr wrap="square" lIns="0" tIns="0" rIns="0" bIns="0" anchor="ctr">
            <a:spAutoFit/>
          </a:bodyPr>
          <a:lstStyle/>
          <a:p>
            <a:pPr algn="l"/>
            <a:r>
              <a:rPr sz="900" b="0">
                <a:solidFill>
                  <a:srgbClr val="44403C"/>
                </a:solidFill>
                <a:latin typeface="Segoe UI"/>
              </a:rPr>
              <a:t>(custom partitioner)</a:t>
            </a:r>
          </a:p>
        </p:txBody>
      </p:sp>
      <p:sp>
        <p:nvSpPr>
          <p:cNvPr id="38" name="a3f_th37"/>
          <p:cNvSpPr/>
          <p:nvPr/>
        </p:nvSpPr>
        <p:spPr>
          <a:xfrm>
            <a:off x="2560320" y="2560320"/>
            <a:ext cx="6126480" cy="274320"/>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f_tht38"/>
          <p:cNvSpPr txBox="1"/>
          <p:nvPr/>
        </p:nvSpPr>
        <p:spPr>
          <a:xfrm>
            <a:off x="2633472" y="2560320"/>
            <a:ext cx="6016752" cy="274320"/>
          </a:xfrm>
          <a:prstGeom prst="rect">
            <a:avLst/>
          </a:prstGeom>
          <a:noFill/>
        </p:spPr>
        <p:txBody>
          <a:bodyPr wrap="square" lIns="0" tIns="0" rIns="0" bIns="0" anchor="ctr">
            <a:spAutoFit/>
          </a:bodyPr>
          <a:lstStyle/>
          <a:p>
            <a:pPr algn="l"/>
            <a:r>
              <a:rPr sz="900" b="1">
                <a:solidFill>
                  <a:srgbClr val="FFFFFF"/>
                </a:solidFill>
                <a:latin typeface="Segoe UI"/>
              </a:rPr>
              <a:t>so the producer ...</a:t>
            </a:r>
          </a:p>
        </p:txBody>
      </p:sp>
      <p:sp>
        <p:nvSpPr>
          <p:cNvPr id="40" name="a3wd120_td39"/>
          <p:cNvSpPr/>
          <p:nvPr/>
        </p:nvSpPr>
        <p:spPr>
          <a:xfrm>
            <a:off x="2560320" y="2834639"/>
            <a:ext cx="6126480" cy="274320"/>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wd120_tdt40"/>
          <p:cNvSpPr txBox="1"/>
          <p:nvPr/>
        </p:nvSpPr>
        <p:spPr>
          <a:xfrm>
            <a:off x="2633472" y="2834639"/>
            <a:ext cx="6016752" cy="274320"/>
          </a:xfrm>
          <a:prstGeom prst="rect">
            <a:avLst/>
          </a:prstGeom>
          <a:noFill/>
        </p:spPr>
        <p:txBody>
          <a:bodyPr wrap="square" lIns="0" tIns="0" rIns="0" bIns="0" anchor="ctr">
            <a:spAutoFit/>
          </a:bodyPr>
          <a:lstStyle/>
          <a:p>
            <a:pPr algn="l"/>
            <a:r>
              <a:rPr sz="900" b="0">
                <a:solidFill>
                  <a:srgbClr val="44403C"/>
                </a:solidFill>
                <a:latin typeface="Segoe UI"/>
              </a:rPr>
              <a:t>hashes it - hash(key) mod number of partitions</a:t>
            </a:r>
          </a:p>
        </p:txBody>
      </p:sp>
      <p:sp>
        <p:nvSpPr>
          <p:cNvPr id="42" name="a3wd240_td41"/>
          <p:cNvSpPr/>
          <p:nvPr/>
        </p:nvSpPr>
        <p:spPr>
          <a:xfrm>
            <a:off x="2560320" y="3108960"/>
            <a:ext cx="6126480" cy="274320"/>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wd240_tdt42"/>
          <p:cNvSpPr txBox="1"/>
          <p:nvPr/>
        </p:nvSpPr>
        <p:spPr>
          <a:xfrm>
            <a:off x="2633472" y="3108960"/>
            <a:ext cx="6016752" cy="274320"/>
          </a:xfrm>
          <a:prstGeom prst="rect">
            <a:avLst/>
          </a:prstGeom>
          <a:noFill/>
        </p:spPr>
        <p:txBody>
          <a:bodyPr wrap="square" lIns="0" tIns="0" rIns="0" bIns="0" anchor="ctr">
            <a:spAutoFit/>
          </a:bodyPr>
          <a:lstStyle/>
          <a:p>
            <a:pPr algn="l"/>
            <a:r>
              <a:rPr sz="900" b="0">
                <a:solidFill>
                  <a:srgbClr val="44403C"/>
                </a:solidFill>
                <a:latin typeface="Segoe UI"/>
              </a:rPr>
              <a:t>spreads messages out - a batch to one partition, then the next</a:t>
            </a:r>
          </a:p>
        </p:txBody>
      </p:sp>
      <p:sp>
        <p:nvSpPr>
          <p:cNvPr id="44" name="a3wd360_td43"/>
          <p:cNvSpPr/>
          <p:nvPr/>
        </p:nvSpPr>
        <p:spPr>
          <a:xfrm>
            <a:off x="2560320" y="3383279"/>
            <a:ext cx="6126480" cy="274320"/>
          </a:xfrm>
          <a:prstGeom prst="rect">
            <a:avLst/>
          </a:prstGeom>
          <a:solidFill>
            <a:srgbClr val="FFFFFF"/>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3wd360_tdt44"/>
          <p:cNvSpPr txBox="1"/>
          <p:nvPr/>
        </p:nvSpPr>
        <p:spPr>
          <a:xfrm>
            <a:off x="2633472" y="3383279"/>
            <a:ext cx="6016752" cy="274320"/>
          </a:xfrm>
          <a:prstGeom prst="rect">
            <a:avLst/>
          </a:prstGeom>
          <a:noFill/>
        </p:spPr>
        <p:txBody>
          <a:bodyPr wrap="square" lIns="0" tIns="0" rIns="0" bIns="0" anchor="ctr">
            <a:spAutoFit/>
          </a:bodyPr>
          <a:lstStyle/>
          <a:p>
            <a:pPr algn="l"/>
            <a:r>
              <a:rPr sz="900" b="0">
                <a:solidFill>
                  <a:srgbClr val="44403C"/>
                </a:solidFill>
                <a:latin typeface="Segoe UI"/>
              </a:rPr>
              <a:t>uses that partition as it is</a:t>
            </a:r>
          </a:p>
        </p:txBody>
      </p:sp>
      <p:sp>
        <p:nvSpPr>
          <p:cNvPr id="46" name="a3wd480_td45"/>
          <p:cNvSpPr/>
          <p:nvPr/>
        </p:nvSpPr>
        <p:spPr>
          <a:xfrm>
            <a:off x="2560320" y="3657600"/>
            <a:ext cx="6126480" cy="274320"/>
          </a:xfrm>
          <a:prstGeom prst="rect">
            <a:avLst/>
          </a:prstGeom>
          <a:solidFill>
            <a:srgbClr val="F7F6F3"/>
          </a:solidFill>
          <a:ln w="635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wd480_tdt46"/>
          <p:cNvSpPr txBox="1"/>
          <p:nvPr/>
        </p:nvSpPr>
        <p:spPr>
          <a:xfrm>
            <a:off x="2633472" y="3657600"/>
            <a:ext cx="6016752" cy="274320"/>
          </a:xfrm>
          <a:prstGeom prst="rect">
            <a:avLst/>
          </a:prstGeom>
          <a:noFill/>
        </p:spPr>
        <p:txBody>
          <a:bodyPr wrap="square" lIns="0" tIns="0" rIns="0" bIns="0" anchor="ctr">
            <a:spAutoFit/>
          </a:bodyPr>
          <a:lstStyle/>
          <a:p>
            <a:pPr algn="l"/>
            <a:r>
              <a:rPr sz="900" b="0">
                <a:solidFill>
                  <a:srgbClr val="44403C"/>
                </a:solidFill>
                <a:latin typeface="Segoe UI"/>
              </a:rPr>
              <a:t>applies your own rule - set with partitioner.class</a:t>
            </a:r>
          </a:p>
        </p:txBody>
      </p:sp>
      <p:sp>
        <p:nvSpPr>
          <p:cNvPr id="48" name="a4u_nb47"/>
          <p:cNvSpPr/>
          <p:nvPr/>
        </p:nvSpPr>
        <p:spPr>
          <a:xfrm>
            <a:off x="457200" y="4041648"/>
            <a:ext cx="8229600" cy="475488"/>
          </a:xfrm>
          <a:prstGeom prst="roundRect">
            <a:avLst>
              <a:gd name="adj" fmla="val 15384"/>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4u_nacc48"/>
          <p:cNvSpPr/>
          <p:nvPr/>
        </p:nvSpPr>
        <p:spPr>
          <a:xfrm>
            <a:off x="457200" y="4041648"/>
            <a:ext cx="54864" cy="47548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4u_nt49"/>
          <p:cNvSpPr txBox="1"/>
          <p:nvPr/>
        </p:nvSpPr>
        <p:spPr>
          <a:xfrm>
            <a:off x="658368" y="4041648"/>
            <a:ext cx="7827264" cy="475488"/>
          </a:xfrm>
          <a:prstGeom prst="rect">
            <a:avLst/>
          </a:prstGeom>
          <a:noFill/>
        </p:spPr>
        <p:txBody>
          <a:bodyPr wrap="square" lIns="0" tIns="0" rIns="0" bIns="0" anchor="ctr">
            <a:spAutoFit/>
          </a:bodyPr>
          <a:lstStyle/>
          <a:p>
            <a:pPr algn="l"/>
            <a:r>
              <a:rPr sz="900" b="1">
                <a:solidFill>
                  <a:srgbClr val="A16207"/>
                </a:solidFill>
                <a:latin typeface="Segoe UI"/>
              </a:rPr>
              <a:t>!  </a:t>
            </a:r>
            <a:r>
              <a:rPr sz="900" b="0">
                <a:solidFill>
                  <a:srgbClr val="44403C"/>
                </a:solidFill>
                <a:latin typeface="Segoe UI"/>
              </a:rPr>
              <a:t>Mixing Java and Python/Go producers on one topic? Set partitioner=murmur2_random on the latter.</a:t>
            </a:r>
          </a:p>
        </p:txBody>
      </p:sp>
      <p:sp>
        <p:nvSpPr>
          <p:cNvPr id="51" name="ft5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10</a:t>
            </a:r>
          </a:p>
        </p:txBody>
      </p:sp>
      <p:sp>
        <p:nvSpPr>
          <p:cNvPr id="52" name="ft5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ft5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Producers</a:t>
            </a:r>
          </a:p>
        </p:txBody>
      </p:sp>
      <p:sp>
        <p:nvSpPr>
          <p:cNvPr id="54" name="ft5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41" presetID="2" presetClass="entr" presetSubtype="4"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par>
                                <p:cTn id="51" presetID="2" presetClass="entr" presetSubtype="4"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20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20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30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30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40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40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40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50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childTnLst>
                          </p:cTn>
                        </p:par>
                      </p:childTnLst>
                    </p:cTn>
                  </p:par>
                  <p:par>
                    <p:cTn id="92" fill="hold">
                      <p:stCondLst>
                        <p:cond delay="indefinite"/>
                      </p:stCondLst>
                      <p:childTnLst>
                        <p:par>
                          <p:cTn id="93" fill="hold">
                            <p:stCondLst>
                              <p:cond delay="0"/>
                            </p:stCondLst>
                            <p:childTnLst>
                              <p:par>
                                <p:cTn id="96" presetID="10" presetClass="entr" presetSubtype="0" fill="hold" grpId="0" nodeType="click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500"/>
                                        <p:tgtEl>
                                          <p:spTgt spid="28"/>
                                        </p:tgtEl>
                                      </p:cBhvr>
                                    </p:animEffect>
                                  </p:childTnLst>
                                </p:cTn>
                              </p:par>
                              <p:par>
                                <p:cTn id="99" presetID="10" presetClass="entr" presetSubtype="0"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500"/>
                                        <p:tgtEl>
                                          <p:spTgt spid="29"/>
                                        </p:tgtEl>
                                      </p:cBhvr>
                                    </p:animEffect>
                                  </p:childTnLst>
                                </p:cTn>
                              </p:par>
                              <p:par>
                                <p:cTn id="102" presetID="10" presetClass="entr" presetSubtype="0" fill="hold" grpId="0" nodeType="withEffect">
                                  <p:stCondLst>
                                    <p:cond delay="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500"/>
                                        <p:tgtEl>
                                          <p:spTgt spid="38"/>
                                        </p:tgtEl>
                                      </p:cBhvr>
                                    </p:animEffect>
                                  </p:childTnLst>
                                </p:cTn>
                              </p:par>
                              <p:par>
                                <p:cTn id="105" presetID="10" presetClass="entr" presetSubtype="0" fill="hold" grpId="0" nodeType="with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4" dur="500"/>
                                        <p:tgtEl>
                                          <p:spTgt spid="39"/>
                                        </p:tgtEl>
                                      </p:cBhvr>
                                    </p:animEffect>
                                  </p:childTnLst>
                                </p:cTn>
                              </p:par>
                              <p:par>
                                <p:cTn id="108" presetID="22" presetClass="entr" presetSubtype="8" fill="hold" grpId="0" nodeType="withEffect">
                                  <p:stCondLst>
                                    <p:cond delay="120"/>
                                  </p:stCondLst>
                                  <p:childTnLst>
                                    <p:set>
                                      <p:cBhvr>
                                        <p:cTn id="106" dur="1" fill="hold">
                                          <p:stCondLst>
                                            <p:cond delay="0"/>
                                          </p:stCondLst>
                                        </p:cTn>
                                        <p:tgtEl>
                                          <p:spTgt spid="30"/>
                                        </p:tgtEl>
                                        <p:attrNameLst>
                                          <p:attrName>style.visibility</p:attrName>
                                        </p:attrNameLst>
                                      </p:cBhvr>
                                      <p:to>
                                        <p:strVal val="visible"/>
                                      </p:to>
                                    </p:set>
                                    <p:animEffect transition="in" filter="wipe(left)">
                                      <p:cBhvr>
                                        <p:cTn id="107" dur="500"/>
                                        <p:tgtEl>
                                          <p:spTgt spid="30"/>
                                        </p:tgtEl>
                                      </p:cBhvr>
                                    </p:animEffect>
                                  </p:childTnLst>
                                </p:cTn>
                              </p:par>
                              <p:par>
                                <p:cTn id="111" presetID="22" presetClass="entr" presetSubtype="8" fill="hold" grpId="0" nodeType="withEffect">
                                  <p:stCondLst>
                                    <p:cond delay="120"/>
                                  </p:stCondLst>
                                  <p:childTnLst>
                                    <p:set>
                                      <p:cBhvr>
                                        <p:cTn id="109" dur="1" fill="hold">
                                          <p:stCondLst>
                                            <p:cond delay="0"/>
                                          </p:stCondLst>
                                        </p:cTn>
                                        <p:tgtEl>
                                          <p:spTgt spid="31"/>
                                        </p:tgtEl>
                                        <p:attrNameLst>
                                          <p:attrName>style.visibility</p:attrName>
                                        </p:attrNameLst>
                                      </p:cBhvr>
                                      <p:to>
                                        <p:strVal val="visible"/>
                                      </p:to>
                                    </p:set>
                                    <p:animEffect transition="in" filter="wipe(left)">
                                      <p:cBhvr>
                                        <p:cTn id="110" dur="500"/>
                                        <p:tgtEl>
                                          <p:spTgt spid="31"/>
                                        </p:tgtEl>
                                      </p:cBhvr>
                                    </p:animEffect>
                                  </p:childTnLst>
                                </p:cTn>
                              </p:par>
                              <p:par>
                                <p:cTn id="114" presetID="22" presetClass="entr" presetSubtype="8" fill="hold" grpId="0" nodeType="withEffect">
                                  <p:stCondLst>
                                    <p:cond delay="120"/>
                                  </p:stCondLst>
                                  <p:childTnLst>
                                    <p:set>
                                      <p:cBhvr>
                                        <p:cTn id="112" dur="1" fill="hold">
                                          <p:stCondLst>
                                            <p:cond delay="0"/>
                                          </p:stCondLst>
                                        </p:cTn>
                                        <p:tgtEl>
                                          <p:spTgt spid="40"/>
                                        </p:tgtEl>
                                        <p:attrNameLst>
                                          <p:attrName>style.visibility</p:attrName>
                                        </p:attrNameLst>
                                      </p:cBhvr>
                                      <p:to>
                                        <p:strVal val="visible"/>
                                      </p:to>
                                    </p:set>
                                    <p:animEffect transition="in" filter="wipe(left)">
                                      <p:cBhvr>
                                        <p:cTn id="113" dur="500"/>
                                        <p:tgtEl>
                                          <p:spTgt spid="40"/>
                                        </p:tgtEl>
                                      </p:cBhvr>
                                    </p:animEffect>
                                  </p:childTnLst>
                                </p:cTn>
                              </p:par>
                              <p:par>
                                <p:cTn id="117" presetID="22" presetClass="entr" presetSubtype="8" fill="hold" grpId="0" nodeType="withEffect">
                                  <p:stCondLst>
                                    <p:cond delay="120"/>
                                  </p:stCondLst>
                                  <p:childTnLst>
                                    <p:set>
                                      <p:cBhvr>
                                        <p:cTn id="115" dur="1" fill="hold">
                                          <p:stCondLst>
                                            <p:cond delay="0"/>
                                          </p:stCondLst>
                                        </p:cTn>
                                        <p:tgtEl>
                                          <p:spTgt spid="41"/>
                                        </p:tgtEl>
                                        <p:attrNameLst>
                                          <p:attrName>style.visibility</p:attrName>
                                        </p:attrNameLst>
                                      </p:cBhvr>
                                      <p:to>
                                        <p:strVal val="visible"/>
                                      </p:to>
                                    </p:set>
                                    <p:animEffect transition="in" filter="wipe(left)">
                                      <p:cBhvr>
                                        <p:cTn id="116" dur="500"/>
                                        <p:tgtEl>
                                          <p:spTgt spid="41"/>
                                        </p:tgtEl>
                                      </p:cBhvr>
                                    </p:animEffect>
                                  </p:childTnLst>
                                </p:cTn>
                              </p:par>
                              <p:par>
                                <p:cTn id="120" presetID="22" presetClass="entr" presetSubtype="8" fill="hold" grpId="0" nodeType="withEffect">
                                  <p:stCondLst>
                                    <p:cond delay="240"/>
                                  </p:stCondLst>
                                  <p:childTnLst>
                                    <p:set>
                                      <p:cBhvr>
                                        <p:cTn id="118" dur="1" fill="hold">
                                          <p:stCondLst>
                                            <p:cond delay="0"/>
                                          </p:stCondLst>
                                        </p:cTn>
                                        <p:tgtEl>
                                          <p:spTgt spid="32"/>
                                        </p:tgtEl>
                                        <p:attrNameLst>
                                          <p:attrName>style.visibility</p:attrName>
                                        </p:attrNameLst>
                                      </p:cBhvr>
                                      <p:to>
                                        <p:strVal val="visible"/>
                                      </p:to>
                                    </p:set>
                                    <p:animEffect transition="in" filter="wipe(left)">
                                      <p:cBhvr>
                                        <p:cTn id="119" dur="500"/>
                                        <p:tgtEl>
                                          <p:spTgt spid="32"/>
                                        </p:tgtEl>
                                      </p:cBhvr>
                                    </p:animEffect>
                                  </p:childTnLst>
                                </p:cTn>
                              </p:par>
                              <p:par>
                                <p:cTn id="123" presetID="22" presetClass="entr" presetSubtype="8" fill="hold" grpId="0" nodeType="withEffect">
                                  <p:stCondLst>
                                    <p:cond delay="240"/>
                                  </p:stCondLst>
                                  <p:childTnLst>
                                    <p:set>
                                      <p:cBhvr>
                                        <p:cTn id="121" dur="1" fill="hold">
                                          <p:stCondLst>
                                            <p:cond delay="0"/>
                                          </p:stCondLst>
                                        </p:cTn>
                                        <p:tgtEl>
                                          <p:spTgt spid="33"/>
                                        </p:tgtEl>
                                        <p:attrNameLst>
                                          <p:attrName>style.visibility</p:attrName>
                                        </p:attrNameLst>
                                      </p:cBhvr>
                                      <p:to>
                                        <p:strVal val="visible"/>
                                      </p:to>
                                    </p:set>
                                    <p:animEffect transition="in" filter="wipe(left)">
                                      <p:cBhvr>
                                        <p:cTn id="122" dur="500"/>
                                        <p:tgtEl>
                                          <p:spTgt spid="33"/>
                                        </p:tgtEl>
                                      </p:cBhvr>
                                    </p:animEffect>
                                  </p:childTnLst>
                                </p:cTn>
                              </p:par>
                              <p:par>
                                <p:cTn id="126" presetID="22" presetClass="entr" presetSubtype="8" fill="hold" grpId="0" nodeType="withEffect">
                                  <p:stCondLst>
                                    <p:cond delay="240"/>
                                  </p:stCondLst>
                                  <p:childTnLst>
                                    <p:set>
                                      <p:cBhvr>
                                        <p:cTn id="124" dur="1" fill="hold">
                                          <p:stCondLst>
                                            <p:cond delay="0"/>
                                          </p:stCondLst>
                                        </p:cTn>
                                        <p:tgtEl>
                                          <p:spTgt spid="42"/>
                                        </p:tgtEl>
                                        <p:attrNameLst>
                                          <p:attrName>style.visibility</p:attrName>
                                        </p:attrNameLst>
                                      </p:cBhvr>
                                      <p:to>
                                        <p:strVal val="visible"/>
                                      </p:to>
                                    </p:set>
                                    <p:animEffect transition="in" filter="wipe(left)">
                                      <p:cBhvr>
                                        <p:cTn id="125" dur="500"/>
                                        <p:tgtEl>
                                          <p:spTgt spid="42"/>
                                        </p:tgtEl>
                                      </p:cBhvr>
                                    </p:animEffect>
                                  </p:childTnLst>
                                </p:cTn>
                              </p:par>
                              <p:par>
                                <p:cTn id="129" presetID="22" presetClass="entr" presetSubtype="8" fill="hold" grpId="0" nodeType="withEffect">
                                  <p:stCondLst>
                                    <p:cond delay="240"/>
                                  </p:stCondLst>
                                  <p:childTnLst>
                                    <p:set>
                                      <p:cBhvr>
                                        <p:cTn id="127" dur="1" fill="hold">
                                          <p:stCondLst>
                                            <p:cond delay="0"/>
                                          </p:stCondLst>
                                        </p:cTn>
                                        <p:tgtEl>
                                          <p:spTgt spid="43"/>
                                        </p:tgtEl>
                                        <p:attrNameLst>
                                          <p:attrName>style.visibility</p:attrName>
                                        </p:attrNameLst>
                                      </p:cBhvr>
                                      <p:to>
                                        <p:strVal val="visible"/>
                                      </p:to>
                                    </p:set>
                                    <p:animEffect transition="in" filter="wipe(left)">
                                      <p:cBhvr>
                                        <p:cTn id="128" dur="500"/>
                                        <p:tgtEl>
                                          <p:spTgt spid="43"/>
                                        </p:tgtEl>
                                      </p:cBhvr>
                                    </p:animEffect>
                                  </p:childTnLst>
                                </p:cTn>
                              </p:par>
                              <p:par>
                                <p:cTn id="132" presetID="22" presetClass="entr" presetSubtype="8" fill="hold" grpId="0" nodeType="withEffect">
                                  <p:stCondLst>
                                    <p:cond delay="360"/>
                                  </p:stCondLst>
                                  <p:childTnLst>
                                    <p:set>
                                      <p:cBhvr>
                                        <p:cTn id="130" dur="1" fill="hold">
                                          <p:stCondLst>
                                            <p:cond delay="0"/>
                                          </p:stCondLst>
                                        </p:cTn>
                                        <p:tgtEl>
                                          <p:spTgt spid="34"/>
                                        </p:tgtEl>
                                        <p:attrNameLst>
                                          <p:attrName>style.visibility</p:attrName>
                                        </p:attrNameLst>
                                      </p:cBhvr>
                                      <p:to>
                                        <p:strVal val="visible"/>
                                      </p:to>
                                    </p:set>
                                    <p:animEffect transition="in" filter="wipe(left)">
                                      <p:cBhvr>
                                        <p:cTn id="131" dur="500"/>
                                        <p:tgtEl>
                                          <p:spTgt spid="34"/>
                                        </p:tgtEl>
                                      </p:cBhvr>
                                    </p:animEffect>
                                  </p:childTnLst>
                                </p:cTn>
                              </p:par>
                              <p:par>
                                <p:cTn id="135" presetID="22" presetClass="entr" presetSubtype="8" fill="hold" grpId="0" nodeType="withEffect">
                                  <p:stCondLst>
                                    <p:cond delay="360"/>
                                  </p:stCondLst>
                                  <p:childTnLst>
                                    <p:set>
                                      <p:cBhvr>
                                        <p:cTn id="133" dur="1" fill="hold">
                                          <p:stCondLst>
                                            <p:cond delay="0"/>
                                          </p:stCondLst>
                                        </p:cTn>
                                        <p:tgtEl>
                                          <p:spTgt spid="35"/>
                                        </p:tgtEl>
                                        <p:attrNameLst>
                                          <p:attrName>style.visibility</p:attrName>
                                        </p:attrNameLst>
                                      </p:cBhvr>
                                      <p:to>
                                        <p:strVal val="visible"/>
                                      </p:to>
                                    </p:set>
                                    <p:animEffect transition="in" filter="wipe(left)">
                                      <p:cBhvr>
                                        <p:cTn id="134" dur="500"/>
                                        <p:tgtEl>
                                          <p:spTgt spid="35"/>
                                        </p:tgtEl>
                                      </p:cBhvr>
                                    </p:animEffect>
                                  </p:childTnLst>
                                </p:cTn>
                              </p:par>
                              <p:par>
                                <p:cTn id="138" presetID="22" presetClass="entr" presetSubtype="8" fill="hold" grpId="0" nodeType="withEffect">
                                  <p:stCondLst>
                                    <p:cond delay="360"/>
                                  </p:stCondLst>
                                  <p:childTnLst>
                                    <p:set>
                                      <p:cBhvr>
                                        <p:cTn id="136" dur="1" fill="hold">
                                          <p:stCondLst>
                                            <p:cond delay="0"/>
                                          </p:stCondLst>
                                        </p:cTn>
                                        <p:tgtEl>
                                          <p:spTgt spid="44"/>
                                        </p:tgtEl>
                                        <p:attrNameLst>
                                          <p:attrName>style.visibility</p:attrName>
                                        </p:attrNameLst>
                                      </p:cBhvr>
                                      <p:to>
                                        <p:strVal val="visible"/>
                                      </p:to>
                                    </p:set>
                                    <p:animEffect transition="in" filter="wipe(left)">
                                      <p:cBhvr>
                                        <p:cTn id="137" dur="500"/>
                                        <p:tgtEl>
                                          <p:spTgt spid="44"/>
                                        </p:tgtEl>
                                      </p:cBhvr>
                                    </p:animEffect>
                                  </p:childTnLst>
                                </p:cTn>
                              </p:par>
                              <p:par>
                                <p:cTn id="141" presetID="22" presetClass="entr" presetSubtype="8" fill="hold" grpId="0" nodeType="withEffect">
                                  <p:stCondLst>
                                    <p:cond delay="360"/>
                                  </p:stCondLst>
                                  <p:childTnLst>
                                    <p:set>
                                      <p:cBhvr>
                                        <p:cTn id="139" dur="1" fill="hold">
                                          <p:stCondLst>
                                            <p:cond delay="0"/>
                                          </p:stCondLst>
                                        </p:cTn>
                                        <p:tgtEl>
                                          <p:spTgt spid="45"/>
                                        </p:tgtEl>
                                        <p:attrNameLst>
                                          <p:attrName>style.visibility</p:attrName>
                                        </p:attrNameLst>
                                      </p:cBhvr>
                                      <p:to>
                                        <p:strVal val="visible"/>
                                      </p:to>
                                    </p:set>
                                    <p:animEffect transition="in" filter="wipe(left)">
                                      <p:cBhvr>
                                        <p:cTn id="140" dur="500"/>
                                        <p:tgtEl>
                                          <p:spTgt spid="45"/>
                                        </p:tgtEl>
                                      </p:cBhvr>
                                    </p:animEffect>
                                  </p:childTnLst>
                                </p:cTn>
                              </p:par>
                              <p:par>
                                <p:cTn id="144" presetID="22" presetClass="entr" presetSubtype="8" fill="hold" grpId="0" nodeType="withEffect">
                                  <p:stCondLst>
                                    <p:cond delay="480"/>
                                  </p:stCondLst>
                                  <p:childTnLst>
                                    <p:set>
                                      <p:cBhvr>
                                        <p:cTn id="142" dur="1" fill="hold">
                                          <p:stCondLst>
                                            <p:cond delay="0"/>
                                          </p:stCondLst>
                                        </p:cTn>
                                        <p:tgtEl>
                                          <p:spTgt spid="36"/>
                                        </p:tgtEl>
                                        <p:attrNameLst>
                                          <p:attrName>style.visibility</p:attrName>
                                        </p:attrNameLst>
                                      </p:cBhvr>
                                      <p:to>
                                        <p:strVal val="visible"/>
                                      </p:to>
                                    </p:set>
                                    <p:animEffect transition="in" filter="wipe(left)">
                                      <p:cBhvr>
                                        <p:cTn id="143" dur="500"/>
                                        <p:tgtEl>
                                          <p:spTgt spid="36"/>
                                        </p:tgtEl>
                                      </p:cBhvr>
                                    </p:animEffect>
                                  </p:childTnLst>
                                </p:cTn>
                              </p:par>
                              <p:par>
                                <p:cTn id="147" presetID="22" presetClass="entr" presetSubtype="8" fill="hold" grpId="0" nodeType="withEffect">
                                  <p:stCondLst>
                                    <p:cond delay="480"/>
                                  </p:stCondLst>
                                  <p:childTnLst>
                                    <p:set>
                                      <p:cBhvr>
                                        <p:cTn id="145" dur="1" fill="hold">
                                          <p:stCondLst>
                                            <p:cond delay="0"/>
                                          </p:stCondLst>
                                        </p:cTn>
                                        <p:tgtEl>
                                          <p:spTgt spid="37"/>
                                        </p:tgtEl>
                                        <p:attrNameLst>
                                          <p:attrName>style.visibility</p:attrName>
                                        </p:attrNameLst>
                                      </p:cBhvr>
                                      <p:to>
                                        <p:strVal val="visible"/>
                                      </p:to>
                                    </p:set>
                                    <p:animEffect transition="in" filter="wipe(left)">
                                      <p:cBhvr>
                                        <p:cTn id="146" dur="500"/>
                                        <p:tgtEl>
                                          <p:spTgt spid="37"/>
                                        </p:tgtEl>
                                      </p:cBhvr>
                                    </p:animEffect>
                                  </p:childTnLst>
                                </p:cTn>
                              </p:par>
                              <p:par>
                                <p:cTn id="150" presetID="22" presetClass="entr" presetSubtype="8" fill="hold" grpId="0" nodeType="withEffect">
                                  <p:stCondLst>
                                    <p:cond delay="480"/>
                                  </p:stCondLst>
                                  <p:childTnLst>
                                    <p:set>
                                      <p:cBhvr>
                                        <p:cTn id="148" dur="1" fill="hold">
                                          <p:stCondLst>
                                            <p:cond delay="0"/>
                                          </p:stCondLst>
                                        </p:cTn>
                                        <p:tgtEl>
                                          <p:spTgt spid="46"/>
                                        </p:tgtEl>
                                        <p:attrNameLst>
                                          <p:attrName>style.visibility</p:attrName>
                                        </p:attrNameLst>
                                      </p:cBhvr>
                                      <p:to>
                                        <p:strVal val="visible"/>
                                      </p:to>
                                    </p:set>
                                    <p:animEffect transition="in" filter="wipe(left)">
                                      <p:cBhvr>
                                        <p:cTn id="149" dur="500"/>
                                        <p:tgtEl>
                                          <p:spTgt spid="46"/>
                                        </p:tgtEl>
                                      </p:cBhvr>
                                    </p:animEffect>
                                  </p:childTnLst>
                                </p:cTn>
                              </p:par>
                              <p:par>
                                <p:cTn id="153" presetID="22" presetClass="entr" presetSubtype="8" fill="hold" grpId="0" nodeType="withEffect">
                                  <p:stCondLst>
                                    <p:cond delay="480"/>
                                  </p:stCondLst>
                                  <p:childTnLst>
                                    <p:set>
                                      <p:cBhvr>
                                        <p:cTn id="151" dur="1" fill="hold">
                                          <p:stCondLst>
                                            <p:cond delay="0"/>
                                          </p:stCondLst>
                                        </p:cTn>
                                        <p:tgtEl>
                                          <p:spTgt spid="47"/>
                                        </p:tgtEl>
                                        <p:attrNameLst>
                                          <p:attrName>style.visibility</p:attrName>
                                        </p:attrNameLst>
                                      </p:cBhvr>
                                      <p:to>
                                        <p:strVal val="visible"/>
                                      </p:to>
                                    </p:set>
                                    <p:animEffect transition="in" filter="wipe(left)">
                                      <p:cBhvr>
                                        <p:cTn id="152" dur="500"/>
                                        <p:tgtEl>
                                          <p:spTgt spid="47"/>
                                        </p:tgtEl>
                                      </p:cBhvr>
                                    </p:animEffect>
                                  </p:childTnLst>
                                </p:cTn>
                              </p:par>
                            </p:childTnLst>
                          </p:cTn>
                        </p:par>
                      </p:childTnLst>
                    </p:cTn>
                  </p:par>
                  <p:par>
                    <p:cTn id="154" fill="hold">
                      <p:stCondLst>
                        <p:cond delay="indefinite"/>
                      </p:stCondLst>
                      <p:childTnLst>
                        <p:par>
                          <p:cTn id="155" fill="hold">
                            <p:stCondLst>
                              <p:cond delay="0"/>
                            </p:stCondLst>
                            <p:childTnLst>
                              <p:par>
                                <p:cTn id="160" presetID="2" presetClass="entr" presetSubtype="4" fill="hold" grpId="0" nodeType="clickEffect">
                                  <p:stCondLst>
                                    <p:cond delay="0"/>
                                  </p:stCondLst>
                                  <p:childTnLst>
                                    <p:set>
                                      <p:cBhvr>
                                        <p:cTn id="156" dur="1" fill="hold">
                                          <p:stCondLst>
                                            <p:cond delay="0"/>
                                          </p:stCondLst>
                                        </p:cTn>
                                        <p:tgtEl>
                                          <p:spTgt spid="48"/>
                                        </p:tgtEl>
                                        <p:attrNameLst>
                                          <p:attrName>style.visibility</p:attrName>
                                        </p:attrNameLst>
                                      </p:cBhvr>
                                      <p:to>
                                        <p:strVal val="visible"/>
                                      </p:to>
                                    </p:set>
                                    <p:anim calcmode="lin" valueType="num">
                                      <p:cBhvr additive="base">
                                        <p:cTn id="157" dur="500" fill="hold"/>
                                        <p:tgtEl>
                                          <p:spTgt spid="48"/>
                                        </p:tgtEl>
                                        <p:attrNameLst>
                                          <p:attrName>ppt_x</p:attrName>
                                        </p:attrNameLst>
                                      </p:cBhvr>
                                      <p:tavLst>
                                        <p:tav tm="0">
                                          <p:val>
                                            <p:strVal val="#ppt_x"/>
                                          </p:val>
                                        </p:tav>
                                        <p:tav tm="100000">
                                          <p:val>
                                            <p:strVal val="#ppt_x"/>
                                          </p:val>
                                        </p:tav>
                                      </p:tavLst>
                                    </p:anim>
                                    <p:anim calcmode="lin" valueType="num">
                                      <p:cBhvr additive="base">
                                        <p:cTn id="158" dur="500" fill="hold"/>
                                        <p:tgtEl>
                                          <p:spTgt spid="48"/>
                                        </p:tgtEl>
                                        <p:attrNameLst>
                                          <p:attrName>ppt_y</p:attrName>
                                        </p:attrNameLst>
                                      </p:cBhvr>
                                      <p:tavLst>
                                        <p:tav tm="0">
                                          <p:val>
                                            <p:strVal val="#ppt_y+0.1"/>
                                          </p:val>
                                        </p:tav>
                                        <p:tav tm="100000">
                                          <p:val>
                                            <p:strVal val="#ppt_y"/>
                                          </p:val>
                                        </p:tav>
                                      </p:tavLst>
                                    </p:anim>
                                    <p:animEffect transition="in" filter="fade">
                                      <p:cBhvr>
                                        <p:cTn id="159" dur="500"/>
                                        <p:tgtEl>
                                          <p:spTgt spid="48"/>
                                        </p:tgtEl>
                                      </p:cBhvr>
                                    </p:animEffect>
                                  </p:childTnLst>
                                </p:cTn>
                              </p:par>
                              <p:par>
                                <p:cTn id="165" presetID="2" presetClass="entr" presetSubtype="4" fill="hold" grpId="0" nodeType="withEffect">
                                  <p:stCondLst>
                                    <p:cond delay="0"/>
                                  </p:stCondLst>
                                  <p:childTnLst>
                                    <p:set>
                                      <p:cBhvr>
                                        <p:cTn id="161" dur="1" fill="hold">
                                          <p:stCondLst>
                                            <p:cond delay="0"/>
                                          </p:stCondLst>
                                        </p:cTn>
                                        <p:tgtEl>
                                          <p:spTgt spid="49"/>
                                        </p:tgtEl>
                                        <p:attrNameLst>
                                          <p:attrName>style.visibility</p:attrName>
                                        </p:attrNameLst>
                                      </p:cBhvr>
                                      <p:to>
                                        <p:strVal val="visible"/>
                                      </p:to>
                                    </p:set>
                                    <p:anim calcmode="lin" valueType="num">
                                      <p:cBhvr additive="base">
                                        <p:cTn id="162" dur="500" fill="hold"/>
                                        <p:tgtEl>
                                          <p:spTgt spid="49"/>
                                        </p:tgtEl>
                                        <p:attrNameLst>
                                          <p:attrName>ppt_x</p:attrName>
                                        </p:attrNameLst>
                                      </p:cBhvr>
                                      <p:tavLst>
                                        <p:tav tm="0">
                                          <p:val>
                                            <p:strVal val="#ppt_x"/>
                                          </p:val>
                                        </p:tav>
                                        <p:tav tm="100000">
                                          <p:val>
                                            <p:strVal val="#ppt_x"/>
                                          </p:val>
                                        </p:tav>
                                      </p:tavLst>
                                    </p:anim>
                                    <p:anim calcmode="lin" valueType="num">
                                      <p:cBhvr additive="base">
                                        <p:cTn id="163" dur="500" fill="hold"/>
                                        <p:tgtEl>
                                          <p:spTgt spid="49"/>
                                        </p:tgtEl>
                                        <p:attrNameLst>
                                          <p:attrName>ppt_y</p:attrName>
                                        </p:attrNameLst>
                                      </p:cBhvr>
                                      <p:tavLst>
                                        <p:tav tm="0">
                                          <p:val>
                                            <p:strVal val="#ppt_y+0.1"/>
                                          </p:val>
                                        </p:tav>
                                        <p:tav tm="100000">
                                          <p:val>
                                            <p:strVal val="#ppt_y"/>
                                          </p:val>
                                        </p:tav>
                                      </p:tavLst>
                                    </p:anim>
                                    <p:animEffect transition="in" filter="fade">
                                      <p:cBhvr>
                                        <p:cTn id="164" dur="500"/>
                                        <p:tgtEl>
                                          <p:spTgt spid="49"/>
                                        </p:tgtEl>
                                      </p:cBhvr>
                                    </p:animEffect>
                                  </p:childTnLst>
                                </p:cTn>
                              </p:par>
                              <p:par>
                                <p:cTn id="170" presetID="2" presetClass="entr" presetSubtype="4" fill="hold" grpId="0" nodeType="withEffect">
                                  <p:stCondLst>
                                    <p:cond delay="0"/>
                                  </p:stCondLst>
                                  <p:childTnLst>
                                    <p:set>
                                      <p:cBhvr>
                                        <p:cTn id="166" dur="1" fill="hold">
                                          <p:stCondLst>
                                            <p:cond delay="0"/>
                                          </p:stCondLst>
                                        </p:cTn>
                                        <p:tgtEl>
                                          <p:spTgt spid="50"/>
                                        </p:tgtEl>
                                        <p:attrNameLst>
                                          <p:attrName>style.visibility</p:attrName>
                                        </p:attrNameLst>
                                      </p:cBhvr>
                                      <p:to>
                                        <p:strVal val="visible"/>
                                      </p:to>
                                    </p:set>
                                    <p:anim calcmode="lin" valueType="num">
                                      <p:cBhvr additive="base">
                                        <p:cTn id="167" dur="500" fill="hold"/>
                                        <p:tgtEl>
                                          <p:spTgt spid="50"/>
                                        </p:tgtEl>
                                        <p:attrNameLst>
                                          <p:attrName>ppt_x</p:attrName>
                                        </p:attrNameLst>
                                      </p:cBhvr>
                                      <p:tavLst>
                                        <p:tav tm="0">
                                          <p:val>
                                            <p:strVal val="#ppt_x"/>
                                          </p:val>
                                        </p:tav>
                                        <p:tav tm="100000">
                                          <p:val>
                                            <p:strVal val="#ppt_x"/>
                                          </p:val>
                                        </p:tav>
                                      </p:tavLst>
                                    </p:anim>
                                    <p:anim calcmode="lin" valueType="num">
                                      <p:cBhvr additive="base">
                                        <p:cTn id="168" dur="500" fill="hold"/>
                                        <p:tgtEl>
                                          <p:spTgt spid="50"/>
                                        </p:tgtEl>
                                        <p:attrNameLst>
                                          <p:attrName>ppt_y</p:attrName>
                                        </p:attrNameLst>
                                      </p:cBhvr>
                                      <p:tavLst>
                                        <p:tav tm="0">
                                          <p:val>
                                            <p:strVal val="#ppt_y+0.1"/>
                                          </p:val>
                                        </p:tav>
                                        <p:tav tm="100000">
                                          <p:val>
                                            <p:strVal val="#ppt_y"/>
                                          </p:val>
                                        </p:tav>
                                      </p:tavLst>
                                    </p:anim>
                                    <p:animEffect transition="in" filter="fade">
                                      <p:cBhvr>
                                        <p:cTn id="16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Now Get Your Hands on the Keyboard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Type it out yourself and watch it run - here in Python, against the lab kit</a:t>
            </a:r>
          </a:p>
        </p:txBody>
      </p:sp>
      <p:sp>
        <p:nvSpPr>
          <p:cNvPr id="11" name="a1f_codebg10"/>
          <p:cNvSpPr/>
          <p:nvPr/>
        </p:nvSpPr>
        <p:spPr>
          <a:xfrm>
            <a:off x="457200" y="1280160"/>
            <a:ext cx="4023360" cy="2267712"/>
          </a:xfrm>
          <a:prstGeom prst="roundRect">
            <a:avLst>
              <a:gd name="adj" fmla="val 3225"/>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85216" y="1335024"/>
            <a:ext cx="3767328" cy="219456"/>
          </a:xfrm>
          <a:prstGeom prst="rect">
            <a:avLst/>
          </a:prstGeom>
          <a:noFill/>
        </p:spPr>
        <p:txBody>
          <a:bodyPr wrap="square" lIns="0" tIns="0" rIns="0" bIns="0" anchor="ctr">
            <a:spAutoFit/>
          </a:bodyPr>
          <a:lstStyle/>
          <a:p>
            <a:pPr algn="l"/>
            <a:r>
              <a:rPr sz="950" b="1">
                <a:solidFill>
                  <a:srgbClr val="A8A29E"/>
                </a:solidFill>
                <a:latin typeface="Consolas"/>
              </a:rPr>
              <a:t>producer.py</a:t>
            </a:r>
          </a:p>
        </p:txBody>
      </p:sp>
      <p:sp>
        <p:nvSpPr>
          <p:cNvPr id="13" name="a1f_codesep12"/>
          <p:cNvSpPr/>
          <p:nvPr/>
        </p:nvSpPr>
        <p:spPr>
          <a:xfrm>
            <a:off x="585216" y="1609343"/>
            <a:ext cx="376732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85216" y="1682495"/>
            <a:ext cx="3767328" cy="173736"/>
          </a:xfrm>
          <a:prstGeom prst="rect">
            <a:avLst/>
          </a:prstGeom>
          <a:noFill/>
        </p:spPr>
        <p:txBody>
          <a:bodyPr wrap="none" lIns="0" tIns="0" rIns="0" bIns="0" anchor="ctr">
            <a:spAutoFit/>
          </a:bodyPr>
          <a:lstStyle/>
          <a:p>
            <a:pPr algn="l"/>
            <a:r>
              <a:rPr sz="800" b="0">
                <a:solidFill>
                  <a:srgbClr val="E7E5E4"/>
                </a:solidFill>
                <a:latin typeface="Consolas"/>
              </a:rPr>
              <a:t>import json</a:t>
            </a:r>
          </a:p>
        </p:txBody>
      </p:sp>
      <p:sp>
        <p:nvSpPr>
          <p:cNvPr id="15" name="a1wd90_code14"/>
          <p:cNvSpPr txBox="1"/>
          <p:nvPr/>
        </p:nvSpPr>
        <p:spPr>
          <a:xfrm>
            <a:off x="585216" y="1856231"/>
            <a:ext cx="3767328" cy="173736"/>
          </a:xfrm>
          <a:prstGeom prst="rect">
            <a:avLst/>
          </a:prstGeom>
          <a:noFill/>
        </p:spPr>
        <p:txBody>
          <a:bodyPr wrap="none" lIns="0" tIns="0" rIns="0" bIns="0" anchor="ctr">
            <a:spAutoFit/>
          </a:bodyPr>
          <a:lstStyle/>
          <a:p>
            <a:pPr algn="l"/>
            <a:r>
              <a:rPr sz="800" b="0">
                <a:solidFill>
                  <a:srgbClr val="E7E5E4"/>
                </a:solidFill>
                <a:latin typeface="Consolas"/>
              </a:rPr>
              <a:t>from confluent_kafka import Producer</a:t>
            </a:r>
          </a:p>
        </p:txBody>
      </p:sp>
      <p:sp>
        <p:nvSpPr>
          <p:cNvPr id="16" name="a1wd180_code15"/>
          <p:cNvSpPr txBox="1"/>
          <p:nvPr/>
        </p:nvSpPr>
        <p:spPr>
          <a:xfrm>
            <a:off x="585216" y="2029967"/>
            <a:ext cx="3767328" cy="173736"/>
          </a:xfrm>
          <a:prstGeom prst="rect">
            <a:avLst/>
          </a:prstGeom>
          <a:noFill/>
        </p:spPr>
        <p:txBody>
          <a:bodyPr wrap="none" lIns="0" tIns="0" rIns="0" bIns="0" anchor="ctr">
            <a:spAutoFit/>
          </a:bodyPr>
          <a:lstStyle/>
          <a:p>
            <a:pPr algn="l"/>
            <a:r>
              <a:rPr sz="800" b="0">
                <a:solidFill>
                  <a:srgbClr val="E7E5E4"/>
                </a:solidFill>
                <a:latin typeface="Consolas"/>
              </a:rPr>
              <a:t/>
            </a:r>
          </a:p>
        </p:txBody>
      </p:sp>
      <p:sp>
        <p:nvSpPr>
          <p:cNvPr id="17" name="a1wd270_code16"/>
          <p:cNvSpPr txBox="1"/>
          <p:nvPr/>
        </p:nvSpPr>
        <p:spPr>
          <a:xfrm>
            <a:off x="585216" y="2203704"/>
            <a:ext cx="3767328" cy="173736"/>
          </a:xfrm>
          <a:prstGeom prst="rect">
            <a:avLst/>
          </a:prstGeom>
          <a:noFill/>
        </p:spPr>
        <p:txBody>
          <a:bodyPr wrap="none" lIns="0" tIns="0" rIns="0" bIns="0" anchor="ctr">
            <a:spAutoFit/>
          </a:bodyPr>
          <a:lstStyle/>
          <a:p>
            <a:pPr algn="l"/>
            <a:r>
              <a:rPr sz="800" b="1">
                <a:solidFill>
                  <a:srgbClr val="FDBA74"/>
                </a:solidFill>
                <a:latin typeface="Consolas"/>
              </a:rPr>
              <a:t>p = Producer({"bootstrap.servers": "localhost:9092",</a:t>
            </a:r>
          </a:p>
        </p:txBody>
      </p:sp>
      <p:sp>
        <p:nvSpPr>
          <p:cNvPr id="18" name="a1wd360_code17"/>
          <p:cNvSpPr txBox="1"/>
          <p:nvPr/>
        </p:nvSpPr>
        <p:spPr>
          <a:xfrm>
            <a:off x="585216" y="2377439"/>
            <a:ext cx="3767328" cy="173736"/>
          </a:xfrm>
          <a:prstGeom prst="rect">
            <a:avLst/>
          </a:prstGeom>
          <a:noFill/>
        </p:spPr>
        <p:txBody>
          <a:bodyPr wrap="none" lIns="0" tIns="0" rIns="0" bIns="0" anchor="ctr">
            <a:spAutoFit/>
          </a:bodyPr>
          <a:lstStyle/>
          <a:p>
            <a:pPr algn="l"/>
            <a:r>
              <a:rPr sz="800" b="1">
                <a:solidFill>
                  <a:srgbClr val="FDBA74"/>
                </a:solidFill>
                <a:latin typeface="Consolas"/>
              </a:rPr>
              <a:t>              "acks": "all"})</a:t>
            </a:r>
          </a:p>
        </p:txBody>
      </p:sp>
      <p:sp>
        <p:nvSpPr>
          <p:cNvPr id="19" name="a1wd450_code18"/>
          <p:cNvSpPr txBox="1"/>
          <p:nvPr/>
        </p:nvSpPr>
        <p:spPr>
          <a:xfrm>
            <a:off x="585216" y="2551176"/>
            <a:ext cx="3767328" cy="173736"/>
          </a:xfrm>
          <a:prstGeom prst="rect">
            <a:avLst/>
          </a:prstGeom>
          <a:noFill/>
        </p:spPr>
        <p:txBody>
          <a:bodyPr wrap="none" lIns="0" tIns="0" rIns="0" bIns="0" anchor="ctr">
            <a:spAutoFit/>
          </a:bodyPr>
          <a:lstStyle/>
          <a:p>
            <a:pPr algn="l"/>
            <a:r>
              <a:rPr sz="800" b="0">
                <a:solidFill>
                  <a:srgbClr val="E7E5E4"/>
                </a:solidFill>
                <a:latin typeface="Consolas"/>
              </a:rPr>
              <a:t>reading = {"sensor_id": 42, "location": "kitchen",</a:t>
            </a:r>
          </a:p>
        </p:txBody>
      </p:sp>
      <p:sp>
        <p:nvSpPr>
          <p:cNvPr id="20" name="a1wd540_code19"/>
          <p:cNvSpPr txBox="1"/>
          <p:nvPr/>
        </p:nvSpPr>
        <p:spPr>
          <a:xfrm>
            <a:off x="585216" y="2724912"/>
            <a:ext cx="3767328" cy="173736"/>
          </a:xfrm>
          <a:prstGeom prst="rect">
            <a:avLst/>
          </a:prstGeom>
          <a:noFill/>
        </p:spPr>
        <p:txBody>
          <a:bodyPr wrap="none" lIns="0" tIns="0" rIns="0" bIns="0" anchor="ctr">
            <a:spAutoFit/>
          </a:bodyPr>
          <a:lstStyle/>
          <a:p>
            <a:pPr algn="l"/>
            <a:r>
              <a:rPr sz="800" b="0">
                <a:solidFill>
                  <a:srgbClr val="E7E5E4"/>
                </a:solidFill>
                <a:latin typeface="Consolas"/>
              </a:rPr>
              <a:t>           "temperature": 24}</a:t>
            </a:r>
          </a:p>
        </p:txBody>
      </p:sp>
      <p:sp>
        <p:nvSpPr>
          <p:cNvPr id="21" name="a1wd630_code20"/>
          <p:cNvSpPr txBox="1"/>
          <p:nvPr/>
        </p:nvSpPr>
        <p:spPr>
          <a:xfrm>
            <a:off x="585216" y="2898648"/>
            <a:ext cx="3767328" cy="173736"/>
          </a:xfrm>
          <a:prstGeom prst="rect">
            <a:avLst/>
          </a:prstGeom>
          <a:noFill/>
        </p:spPr>
        <p:txBody>
          <a:bodyPr wrap="none" lIns="0" tIns="0" rIns="0" bIns="0" anchor="ctr">
            <a:spAutoFit/>
          </a:bodyPr>
          <a:lstStyle/>
          <a:p>
            <a:pPr algn="l"/>
            <a:r>
              <a:rPr sz="800" b="1">
                <a:solidFill>
                  <a:srgbClr val="FDBA74"/>
                </a:solidFill>
                <a:latin typeface="Consolas"/>
              </a:rPr>
              <a:t>p.produce("thermostat_readings", key="42",</a:t>
            </a:r>
          </a:p>
        </p:txBody>
      </p:sp>
      <p:sp>
        <p:nvSpPr>
          <p:cNvPr id="22" name="a1wd720_code21"/>
          <p:cNvSpPr txBox="1"/>
          <p:nvPr/>
        </p:nvSpPr>
        <p:spPr>
          <a:xfrm>
            <a:off x="585216" y="3072384"/>
            <a:ext cx="3767328" cy="173736"/>
          </a:xfrm>
          <a:prstGeom prst="rect">
            <a:avLst/>
          </a:prstGeom>
          <a:noFill/>
        </p:spPr>
        <p:txBody>
          <a:bodyPr wrap="none" lIns="0" tIns="0" rIns="0" bIns="0" anchor="ctr">
            <a:spAutoFit/>
          </a:bodyPr>
          <a:lstStyle/>
          <a:p>
            <a:pPr algn="l"/>
            <a:r>
              <a:rPr sz="800" b="1">
                <a:solidFill>
                  <a:srgbClr val="FDBA74"/>
                </a:solidFill>
                <a:latin typeface="Consolas"/>
              </a:rPr>
              <a:t>          value=json.dumps(reading))</a:t>
            </a:r>
          </a:p>
        </p:txBody>
      </p:sp>
      <p:sp>
        <p:nvSpPr>
          <p:cNvPr id="23" name="a1wd810_code22"/>
          <p:cNvSpPr txBox="1"/>
          <p:nvPr/>
        </p:nvSpPr>
        <p:spPr>
          <a:xfrm>
            <a:off x="585216" y="3246120"/>
            <a:ext cx="3767328" cy="173736"/>
          </a:xfrm>
          <a:prstGeom prst="rect">
            <a:avLst/>
          </a:prstGeom>
          <a:noFill/>
        </p:spPr>
        <p:txBody>
          <a:bodyPr wrap="none" lIns="0" tIns="0" rIns="0" bIns="0" anchor="ctr">
            <a:spAutoFit/>
          </a:bodyPr>
          <a:lstStyle/>
          <a:p>
            <a:pPr algn="l"/>
            <a:r>
              <a:rPr sz="800" b="0">
                <a:solidFill>
                  <a:srgbClr val="E7E5E4"/>
                </a:solidFill>
                <a:latin typeface="Consolas"/>
              </a:rPr>
              <a:t>p.flush()    # wait until it is delivered</a:t>
            </a:r>
          </a:p>
        </p:txBody>
      </p:sp>
      <p:sp>
        <p:nvSpPr>
          <p:cNvPr id="24" name="a2f_codebg23"/>
          <p:cNvSpPr/>
          <p:nvPr/>
        </p:nvSpPr>
        <p:spPr>
          <a:xfrm>
            <a:off x="4663440" y="1280160"/>
            <a:ext cx="4023360" cy="2615184"/>
          </a:xfrm>
          <a:prstGeom prst="roundRect">
            <a:avLst>
              <a:gd name="adj" fmla="val 2797"/>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f_codeh24"/>
          <p:cNvSpPr txBox="1"/>
          <p:nvPr/>
        </p:nvSpPr>
        <p:spPr>
          <a:xfrm>
            <a:off x="4791455" y="1335024"/>
            <a:ext cx="3767328" cy="219456"/>
          </a:xfrm>
          <a:prstGeom prst="rect">
            <a:avLst/>
          </a:prstGeom>
          <a:noFill/>
        </p:spPr>
        <p:txBody>
          <a:bodyPr wrap="square" lIns="0" tIns="0" rIns="0" bIns="0" anchor="ctr">
            <a:spAutoFit/>
          </a:bodyPr>
          <a:lstStyle/>
          <a:p>
            <a:pPr algn="l"/>
            <a:r>
              <a:rPr sz="950" b="1">
                <a:solidFill>
                  <a:srgbClr val="A8A29E"/>
                </a:solidFill>
                <a:latin typeface="Consolas"/>
              </a:rPr>
              <a:t>terminal</a:t>
            </a:r>
          </a:p>
        </p:txBody>
      </p:sp>
      <p:sp>
        <p:nvSpPr>
          <p:cNvPr id="26" name="a2f_codesep25"/>
          <p:cNvSpPr/>
          <p:nvPr/>
        </p:nvSpPr>
        <p:spPr>
          <a:xfrm>
            <a:off x="4791455" y="1609343"/>
            <a:ext cx="376732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w_code26"/>
          <p:cNvSpPr txBox="1"/>
          <p:nvPr/>
        </p:nvSpPr>
        <p:spPr>
          <a:xfrm>
            <a:off x="4791455" y="1682495"/>
            <a:ext cx="3767328" cy="173736"/>
          </a:xfrm>
          <a:prstGeom prst="rect">
            <a:avLst/>
          </a:prstGeom>
          <a:noFill/>
        </p:spPr>
        <p:txBody>
          <a:bodyPr wrap="none" lIns="0" tIns="0" rIns="0" bIns="0" anchor="ctr">
            <a:spAutoFit/>
          </a:bodyPr>
          <a:lstStyle/>
          <a:p>
            <a:pPr algn="l"/>
            <a:r>
              <a:rPr sz="800" b="0">
                <a:solidFill>
                  <a:srgbClr val="8A8580"/>
                </a:solidFill>
                <a:latin typeface="Consolas"/>
              </a:rPr>
              <a:t># 1  start the lab kit (fundamentals_lab)</a:t>
            </a:r>
          </a:p>
        </p:txBody>
      </p:sp>
      <p:sp>
        <p:nvSpPr>
          <p:cNvPr id="28" name="a2wd90_code27"/>
          <p:cNvSpPr txBox="1"/>
          <p:nvPr/>
        </p:nvSpPr>
        <p:spPr>
          <a:xfrm>
            <a:off x="4791455" y="1856231"/>
            <a:ext cx="3767328" cy="173736"/>
          </a:xfrm>
          <a:prstGeom prst="rect">
            <a:avLst/>
          </a:prstGeom>
          <a:noFill/>
        </p:spPr>
        <p:txBody>
          <a:bodyPr wrap="none" lIns="0" tIns="0" rIns="0" bIns="0" anchor="ctr">
            <a:spAutoFit/>
          </a:bodyPr>
          <a:lstStyle/>
          <a:p>
            <a:pPr algn="l"/>
            <a:r>
              <a:rPr sz="800" b="0">
                <a:solidFill>
                  <a:srgbClr val="E7E5E4"/>
                </a:solidFill>
                <a:latin typeface="Consolas"/>
              </a:rPr>
              <a:t>docker compose up -d</a:t>
            </a:r>
          </a:p>
        </p:txBody>
      </p:sp>
      <p:sp>
        <p:nvSpPr>
          <p:cNvPr id="29" name="a2wd180_code28"/>
          <p:cNvSpPr txBox="1"/>
          <p:nvPr/>
        </p:nvSpPr>
        <p:spPr>
          <a:xfrm>
            <a:off x="4791455" y="2029967"/>
            <a:ext cx="3767328" cy="173736"/>
          </a:xfrm>
          <a:prstGeom prst="rect">
            <a:avLst/>
          </a:prstGeom>
          <a:noFill/>
        </p:spPr>
        <p:txBody>
          <a:bodyPr wrap="none" lIns="0" tIns="0" rIns="0" bIns="0" anchor="ctr">
            <a:spAutoFit/>
          </a:bodyPr>
          <a:lstStyle/>
          <a:p>
            <a:pPr algn="l"/>
            <a:r>
              <a:rPr sz="800" b="0">
                <a:solidFill>
                  <a:srgbClr val="8A8580"/>
                </a:solidFill>
                <a:latin typeface="Consolas"/>
              </a:rPr>
              <a:t># 2  create the topic</a:t>
            </a:r>
          </a:p>
        </p:txBody>
      </p:sp>
      <p:sp>
        <p:nvSpPr>
          <p:cNvPr id="30" name="a2wd270_code29"/>
          <p:cNvSpPr txBox="1"/>
          <p:nvPr/>
        </p:nvSpPr>
        <p:spPr>
          <a:xfrm>
            <a:off x="4791455" y="2203704"/>
            <a:ext cx="3767328" cy="173736"/>
          </a:xfrm>
          <a:prstGeom prst="rect">
            <a:avLst/>
          </a:prstGeom>
          <a:noFill/>
        </p:spPr>
        <p:txBody>
          <a:bodyPr wrap="none" lIns="0" tIns="0" rIns="0" bIns="0" anchor="ctr">
            <a:spAutoFit/>
          </a:bodyPr>
          <a:lstStyle/>
          <a:p>
            <a:pPr algn="l"/>
            <a:r>
              <a:rPr sz="800" b="0">
                <a:solidFill>
                  <a:srgbClr val="E7E5E4"/>
                </a:solidFill>
                <a:latin typeface="Consolas"/>
              </a:rPr>
              <a:t>docker exec kafka kafka-topics.sh --create \</a:t>
            </a:r>
          </a:p>
        </p:txBody>
      </p:sp>
      <p:sp>
        <p:nvSpPr>
          <p:cNvPr id="31" name="a2wd360_code30"/>
          <p:cNvSpPr txBox="1"/>
          <p:nvPr/>
        </p:nvSpPr>
        <p:spPr>
          <a:xfrm>
            <a:off x="4791455" y="2377439"/>
            <a:ext cx="3767328" cy="173736"/>
          </a:xfrm>
          <a:prstGeom prst="rect">
            <a:avLst/>
          </a:prstGeom>
          <a:noFill/>
        </p:spPr>
        <p:txBody>
          <a:bodyPr wrap="none" lIns="0" tIns="0" rIns="0" bIns="0" anchor="ctr">
            <a:spAutoFit/>
          </a:bodyPr>
          <a:lstStyle/>
          <a:p>
            <a:pPr algn="l"/>
            <a:r>
              <a:rPr sz="800" b="0">
                <a:solidFill>
                  <a:srgbClr val="E7E5E4"/>
                </a:solidFill>
                <a:latin typeface="Consolas"/>
              </a:rPr>
              <a:t>  --topic thermostat_readings --partitions 3 \</a:t>
            </a:r>
          </a:p>
        </p:txBody>
      </p:sp>
      <p:sp>
        <p:nvSpPr>
          <p:cNvPr id="32" name="a2wd450_code31"/>
          <p:cNvSpPr txBox="1"/>
          <p:nvPr/>
        </p:nvSpPr>
        <p:spPr>
          <a:xfrm>
            <a:off x="4791455" y="2551176"/>
            <a:ext cx="3767328" cy="173736"/>
          </a:xfrm>
          <a:prstGeom prst="rect">
            <a:avLst/>
          </a:prstGeom>
          <a:noFill/>
        </p:spPr>
        <p:txBody>
          <a:bodyPr wrap="none" lIns="0" tIns="0" rIns="0" bIns="0" anchor="ctr">
            <a:spAutoFit/>
          </a:bodyPr>
          <a:lstStyle/>
          <a:p>
            <a:pPr algn="l"/>
            <a:r>
              <a:rPr sz="800" b="0">
                <a:solidFill>
                  <a:srgbClr val="E7E5E4"/>
                </a:solidFill>
                <a:latin typeface="Consolas"/>
              </a:rPr>
              <a:t>  --bootstrap-server localhost:9092</a:t>
            </a:r>
          </a:p>
        </p:txBody>
      </p:sp>
      <p:sp>
        <p:nvSpPr>
          <p:cNvPr id="33" name="a2wd540_code32"/>
          <p:cNvSpPr txBox="1"/>
          <p:nvPr/>
        </p:nvSpPr>
        <p:spPr>
          <a:xfrm>
            <a:off x="4791455" y="2724912"/>
            <a:ext cx="3767328" cy="173736"/>
          </a:xfrm>
          <a:prstGeom prst="rect">
            <a:avLst/>
          </a:prstGeom>
          <a:noFill/>
        </p:spPr>
        <p:txBody>
          <a:bodyPr wrap="none" lIns="0" tIns="0" rIns="0" bIns="0" anchor="ctr">
            <a:spAutoFit/>
          </a:bodyPr>
          <a:lstStyle/>
          <a:p>
            <a:pPr algn="l"/>
            <a:r>
              <a:rPr sz="800" b="0">
                <a:solidFill>
                  <a:srgbClr val="8A8580"/>
                </a:solidFill>
                <a:latin typeface="Consolas"/>
              </a:rPr>
              <a:t># 3  run it, then watch the message arrive</a:t>
            </a:r>
          </a:p>
        </p:txBody>
      </p:sp>
      <p:sp>
        <p:nvSpPr>
          <p:cNvPr id="34" name="a2wd630_code33"/>
          <p:cNvSpPr txBox="1"/>
          <p:nvPr/>
        </p:nvSpPr>
        <p:spPr>
          <a:xfrm>
            <a:off x="4791455" y="2898648"/>
            <a:ext cx="3767328" cy="173736"/>
          </a:xfrm>
          <a:prstGeom prst="rect">
            <a:avLst/>
          </a:prstGeom>
          <a:noFill/>
        </p:spPr>
        <p:txBody>
          <a:bodyPr wrap="none" lIns="0" tIns="0" rIns="0" bIns="0" anchor="ctr">
            <a:spAutoFit/>
          </a:bodyPr>
          <a:lstStyle/>
          <a:p>
            <a:pPr algn="l"/>
            <a:r>
              <a:rPr sz="800" b="1">
                <a:solidFill>
                  <a:srgbClr val="FDBA74"/>
                </a:solidFill>
                <a:latin typeface="Consolas"/>
              </a:rPr>
              <a:t>python producer.py</a:t>
            </a:r>
          </a:p>
        </p:txBody>
      </p:sp>
      <p:sp>
        <p:nvSpPr>
          <p:cNvPr id="35" name="a2wd720_code34"/>
          <p:cNvSpPr txBox="1"/>
          <p:nvPr/>
        </p:nvSpPr>
        <p:spPr>
          <a:xfrm>
            <a:off x="4791455" y="3072384"/>
            <a:ext cx="3767328" cy="173736"/>
          </a:xfrm>
          <a:prstGeom prst="rect">
            <a:avLst/>
          </a:prstGeom>
          <a:noFill/>
        </p:spPr>
        <p:txBody>
          <a:bodyPr wrap="none" lIns="0" tIns="0" rIns="0" bIns="0" anchor="ctr">
            <a:spAutoFit/>
          </a:bodyPr>
          <a:lstStyle/>
          <a:p>
            <a:pPr algn="l"/>
            <a:r>
              <a:rPr sz="800" b="0">
                <a:solidFill>
                  <a:srgbClr val="E7E5E4"/>
                </a:solidFill>
                <a:latin typeface="Consolas"/>
              </a:rPr>
              <a:t>docker exec kafka kafka-console-consumer.sh \</a:t>
            </a:r>
          </a:p>
        </p:txBody>
      </p:sp>
      <p:sp>
        <p:nvSpPr>
          <p:cNvPr id="36" name="a2wd810_code35"/>
          <p:cNvSpPr txBox="1"/>
          <p:nvPr/>
        </p:nvSpPr>
        <p:spPr>
          <a:xfrm>
            <a:off x="4791455" y="3246120"/>
            <a:ext cx="3767328" cy="173736"/>
          </a:xfrm>
          <a:prstGeom prst="rect">
            <a:avLst/>
          </a:prstGeom>
          <a:noFill/>
        </p:spPr>
        <p:txBody>
          <a:bodyPr wrap="none" lIns="0" tIns="0" rIns="0" bIns="0" anchor="ctr">
            <a:spAutoFit/>
          </a:bodyPr>
          <a:lstStyle/>
          <a:p>
            <a:pPr algn="l"/>
            <a:r>
              <a:rPr sz="800" b="0">
                <a:solidFill>
                  <a:srgbClr val="E7E5E4"/>
                </a:solidFill>
                <a:latin typeface="Consolas"/>
              </a:rPr>
              <a:t>  --topic thermostat_readings --from-beginning \</a:t>
            </a:r>
          </a:p>
        </p:txBody>
      </p:sp>
      <p:sp>
        <p:nvSpPr>
          <p:cNvPr id="37" name="a2wd900_code36"/>
          <p:cNvSpPr txBox="1"/>
          <p:nvPr/>
        </p:nvSpPr>
        <p:spPr>
          <a:xfrm>
            <a:off x="4791455" y="3419856"/>
            <a:ext cx="3767328" cy="173736"/>
          </a:xfrm>
          <a:prstGeom prst="rect">
            <a:avLst/>
          </a:prstGeom>
          <a:noFill/>
        </p:spPr>
        <p:txBody>
          <a:bodyPr wrap="none" lIns="0" tIns="0" rIns="0" bIns="0" anchor="ctr">
            <a:spAutoFit/>
          </a:bodyPr>
          <a:lstStyle/>
          <a:p>
            <a:pPr algn="l"/>
            <a:r>
              <a:rPr sz="800" b="0">
                <a:solidFill>
                  <a:srgbClr val="E7E5E4"/>
                </a:solidFill>
                <a:latin typeface="Consolas"/>
              </a:rPr>
              <a:t>  --property print.key=true \</a:t>
            </a:r>
          </a:p>
        </p:txBody>
      </p:sp>
      <p:sp>
        <p:nvSpPr>
          <p:cNvPr id="38" name="a2wd990_code37"/>
          <p:cNvSpPr txBox="1"/>
          <p:nvPr/>
        </p:nvSpPr>
        <p:spPr>
          <a:xfrm>
            <a:off x="4791455" y="3593591"/>
            <a:ext cx="3767328" cy="173736"/>
          </a:xfrm>
          <a:prstGeom prst="rect">
            <a:avLst/>
          </a:prstGeom>
          <a:noFill/>
        </p:spPr>
        <p:txBody>
          <a:bodyPr wrap="none" lIns="0" tIns="0" rIns="0" bIns="0" anchor="ctr">
            <a:spAutoFit/>
          </a:bodyPr>
          <a:lstStyle/>
          <a:p>
            <a:pPr algn="l"/>
            <a:r>
              <a:rPr sz="800" b="0">
                <a:solidFill>
                  <a:srgbClr val="E7E5E4"/>
                </a:solidFill>
                <a:latin typeface="Consolas"/>
              </a:rPr>
              <a:t>  --bootstrap-server localhost:9092</a:t>
            </a:r>
          </a:p>
        </p:txBody>
      </p:sp>
      <p:sp>
        <p:nvSpPr>
          <p:cNvPr id="39" name="a3u_nb38"/>
          <p:cNvSpPr/>
          <p:nvPr/>
        </p:nvSpPr>
        <p:spPr>
          <a:xfrm>
            <a:off x="457200" y="4023360"/>
            <a:ext cx="8229600" cy="493776"/>
          </a:xfrm>
          <a:prstGeom prst="roundRect">
            <a:avLst>
              <a:gd name="adj" fmla="val 14814"/>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3u_nacc39"/>
          <p:cNvSpPr/>
          <p:nvPr/>
        </p:nvSpPr>
        <p:spPr>
          <a:xfrm>
            <a:off x="457200" y="4023360"/>
            <a:ext cx="54864" cy="49377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u_nt40"/>
          <p:cNvSpPr txBox="1"/>
          <p:nvPr/>
        </p:nvSpPr>
        <p:spPr>
          <a:xfrm>
            <a:off x="658368" y="4023360"/>
            <a:ext cx="7827264" cy="493776"/>
          </a:xfrm>
          <a:prstGeom prst="rect">
            <a:avLst/>
          </a:prstGeom>
          <a:noFill/>
        </p:spPr>
        <p:txBody>
          <a:bodyPr wrap="square" lIns="0" tIns="0" rIns="0" bIns="0" anchor="ctr">
            <a:spAutoFit/>
          </a:bodyPr>
          <a:lstStyle/>
          <a:p>
            <a:pPr algn="l"/>
            <a:r>
              <a:rPr sz="950" b="1">
                <a:solidFill>
                  <a:srgbClr val="4F46E5"/>
                </a:solidFill>
                <a:latin typeface="Segoe UI"/>
              </a:rPr>
              <a:t>LAB  </a:t>
            </a:r>
            <a:r>
              <a:rPr sz="950" b="0">
                <a:solidFill>
                  <a:srgbClr val="44403C"/>
                </a:solidFill>
                <a:latin typeface="Segoe UI"/>
              </a:rPr>
              <a:t>Try it: send ten readings for three sensors, then read them back - which partitions did they land in?</a:t>
            </a:r>
          </a:p>
        </p:txBody>
      </p:sp>
      <p:sp>
        <p:nvSpPr>
          <p:cNvPr id="42" name="ft4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11</a:t>
            </a:r>
          </a:p>
        </p:txBody>
      </p:sp>
      <p:sp>
        <p:nvSpPr>
          <p:cNvPr id="43" name="ft4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ft4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Producers</a:t>
            </a:r>
          </a:p>
        </p:txBody>
      </p:sp>
      <p:sp>
        <p:nvSpPr>
          <p:cNvPr id="45" name="ft4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9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18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27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36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45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54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63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72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81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par>
                    <p:cTn id="44" fill="hold">
                      <p:stCondLst>
                        <p:cond delay="indefinite"/>
                      </p:stCondLst>
                      <p:childTnLst>
                        <p:par>
                          <p:cTn id="45" fill="hold">
                            <p:stCondLst>
                              <p:cond delay="0"/>
                            </p:stCondLst>
                            <p:childTnLst>
                              <p:par>
                                <p:cTn id="48"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51"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par>
                                <p:cTn id="54"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par>
                                <p:cTn id="57" presetID="22" presetClass="entr" presetSubtype="8"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500"/>
                                        <p:tgtEl>
                                          <p:spTgt spid="27"/>
                                        </p:tgtEl>
                                      </p:cBhvr>
                                    </p:animEffect>
                                  </p:childTnLst>
                                </p:cTn>
                              </p:par>
                              <p:par>
                                <p:cTn id="60" presetID="22" presetClass="entr" presetSubtype="8" fill="hold" grpId="0" nodeType="withEffect">
                                  <p:stCondLst>
                                    <p:cond delay="90"/>
                                  </p:stCondLst>
                                  <p:childTnLst>
                                    <p:set>
                                      <p:cBhvr>
                                        <p:cTn id="58" dur="1" fill="hold">
                                          <p:stCondLst>
                                            <p:cond delay="0"/>
                                          </p:stCondLst>
                                        </p:cTn>
                                        <p:tgtEl>
                                          <p:spTgt spid="28"/>
                                        </p:tgtEl>
                                        <p:attrNameLst>
                                          <p:attrName>style.visibility</p:attrName>
                                        </p:attrNameLst>
                                      </p:cBhvr>
                                      <p:to>
                                        <p:strVal val="visible"/>
                                      </p:to>
                                    </p:set>
                                    <p:animEffect transition="in" filter="wipe(left)">
                                      <p:cBhvr>
                                        <p:cTn id="59" dur="500"/>
                                        <p:tgtEl>
                                          <p:spTgt spid="28"/>
                                        </p:tgtEl>
                                      </p:cBhvr>
                                    </p:animEffect>
                                  </p:childTnLst>
                                </p:cTn>
                              </p:par>
                              <p:par>
                                <p:cTn id="63" presetID="22" presetClass="entr" presetSubtype="8" fill="hold" grpId="0" nodeType="withEffect">
                                  <p:stCondLst>
                                    <p:cond delay="180"/>
                                  </p:stCondLst>
                                  <p:childTnLst>
                                    <p:set>
                                      <p:cBhvr>
                                        <p:cTn id="61" dur="1" fill="hold">
                                          <p:stCondLst>
                                            <p:cond delay="0"/>
                                          </p:stCondLst>
                                        </p:cTn>
                                        <p:tgtEl>
                                          <p:spTgt spid="29"/>
                                        </p:tgtEl>
                                        <p:attrNameLst>
                                          <p:attrName>style.visibility</p:attrName>
                                        </p:attrNameLst>
                                      </p:cBhvr>
                                      <p:to>
                                        <p:strVal val="visible"/>
                                      </p:to>
                                    </p:set>
                                    <p:animEffect transition="in" filter="wipe(left)">
                                      <p:cBhvr>
                                        <p:cTn id="62" dur="500"/>
                                        <p:tgtEl>
                                          <p:spTgt spid="29"/>
                                        </p:tgtEl>
                                      </p:cBhvr>
                                    </p:animEffect>
                                  </p:childTnLst>
                                </p:cTn>
                              </p:par>
                              <p:par>
                                <p:cTn id="66" presetID="22" presetClass="entr" presetSubtype="8" fill="hold" grpId="0" nodeType="withEffect">
                                  <p:stCondLst>
                                    <p:cond delay="270"/>
                                  </p:stCondLst>
                                  <p:childTnLst>
                                    <p:set>
                                      <p:cBhvr>
                                        <p:cTn id="64" dur="1" fill="hold">
                                          <p:stCondLst>
                                            <p:cond delay="0"/>
                                          </p:stCondLst>
                                        </p:cTn>
                                        <p:tgtEl>
                                          <p:spTgt spid="30"/>
                                        </p:tgtEl>
                                        <p:attrNameLst>
                                          <p:attrName>style.visibility</p:attrName>
                                        </p:attrNameLst>
                                      </p:cBhvr>
                                      <p:to>
                                        <p:strVal val="visible"/>
                                      </p:to>
                                    </p:set>
                                    <p:animEffect transition="in" filter="wipe(left)">
                                      <p:cBhvr>
                                        <p:cTn id="65" dur="500"/>
                                        <p:tgtEl>
                                          <p:spTgt spid="30"/>
                                        </p:tgtEl>
                                      </p:cBhvr>
                                    </p:animEffect>
                                  </p:childTnLst>
                                </p:cTn>
                              </p:par>
                              <p:par>
                                <p:cTn id="69" presetID="22" presetClass="entr" presetSubtype="8" fill="hold" grpId="0" nodeType="withEffect">
                                  <p:stCondLst>
                                    <p:cond delay="360"/>
                                  </p:stCondLst>
                                  <p:childTnLst>
                                    <p:set>
                                      <p:cBhvr>
                                        <p:cTn id="67" dur="1" fill="hold">
                                          <p:stCondLst>
                                            <p:cond delay="0"/>
                                          </p:stCondLst>
                                        </p:cTn>
                                        <p:tgtEl>
                                          <p:spTgt spid="31"/>
                                        </p:tgtEl>
                                        <p:attrNameLst>
                                          <p:attrName>style.visibility</p:attrName>
                                        </p:attrNameLst>
                                      </p:cBhvr>
                                      <p:to>
                                        <p:strVal val="visible"/>
                                      </p:to>
                                    </p:set>
                                    <p:animEffect transition="in" filter="wipe(left)">
                                      <p:cBhvr>
                                        <p:cTn id="68" dur="500"/>
                                        <p:tgtEl>
                                          <p:spTgt spid="31"/>
                                        </p:tgtEl>
                                      </p:cBhvr>
                                    </p:animEffect>
                                  </p:childTnLst>
                                </p:cTn>
                              </p:par>
                              <p:par>
                                <p:cTn id="72" presetID="22" presetClass="entr" presetSubtype="8" fill="hold" grpId="0" nodeType="withEffect">
                                  <p:stCondLst>
                                    <p:cond delay="450"/>
                                  </p:stCondLst>
                                  <p:childTnLst>
                                    <p:set>
                                      <p:cBhvr>
                                        <p:cTn id="70" dur="1" fill="hold">
                                          <p:stCondLst>
                                            <p:cond delay="0"/>
                                          </p:stCondLst>
                                        </p:cTn>
                                        <p:tgtEl>
                                          <p:spTgt spid="32"/>
                                        </p:tgtEl>
                                        <p:attrNameLst>
                                          <p:attrName>style.visibility</p:attrName>
                                        </p:attrNameLst>
                                      </p:cBhvr>
                                      <p:to>
                                        <p:strVal val="visible"/>
                                      </p:to>
                                    </p:set>
                                    <p:animEffect transition="in" filter="wipe(left)">
                                      <p:cBhvr>
                                        <p:cTn id="71" dur="500"/>
                                        <p:tgtEl>
                                          <p:spTgt spid="32"/>
                                        </p:tgtEl>
                                      </p:cBhvr>
                                    </p:animEffect>
                                  </p:childTnLst>
                                </p:cTn>
                              </p:par>
                              <p:par>
                                <p:cTn id="75" presetID="22" presetClass="entr" presetSubtype="8" fill="hold" grpId="0" nodeType="withEffect">
                                  <p:stCondLst>
                                    <p:cond delay="540"/>
                                  </p:stCondLst>
                                  <p:childTnLst>
                                    <p:set>
                                      <p:cBhvr>
                                        <p:cTn id="73" dur="1" fill="hold">
                                          <p:stCondLst>
                                            <p:cond delay="0"/>
                                          </p:stCondLst>
                                        </p:cTn>
                                        <p:tgtEl>
                                          <p:spTgt spid="33"/>
                                        </p:tgtEl>
                                        <p:attrNameLst>
                                          <p:attrName>style.visibility</p:attrName>
                                        </p:attrNameLst>
                                      </p:cBhvr>
                                      <p:to>
                                        <p:strVal val="visible"/>
                                      </p:to>
                                    </p:set>
                                    <p:animEffect transition="in" filter="wipe(left)">
                                      <p:cBhvr>
                                        <p:cTn id="74" dur="500"/>
                                        <p:tgtEl>
                                          <p:spTgt spid="33"/>
                                        </p:tgtEl>
                                      </p:cBhvr>
                                    </p:animEffect>
                                  </p:childTnLst>
                                </p:cTn>
                              </p:par>
                              <p:par>
                                <p:cTn id="78" presetID="22" presetClass="entr" presetSubtype="8" fill="hold" grpId="0" nodeType="withEffect">
                                  <p:stCondLst>
                                    <p:cond delay="630"/>
                                  </p:stCondLst>
                                  <p:childTnLst>
                                    <p:set>
                                      <p:cBhvr>
                                        <p:cTn id="76" dur="1" fill="hold">
                                          <p:stCondLst>
                                            <p:cond delay="0"/>
                                          </p:stCondLst>
                                        </p:cTn>
                                        <p:tgtEl>
                                          <p:spTgt spid="34"/>
                                        </p:tgtEl>
                                        <p:attrNameLst>
                                          <p:attrName>style.visibility</p:attrName>
                                        </p:attrNameLst>
                                      </p:cBhvr>
                                      <p:to>
                                        <p:strVal val="visible"/>
                                      </p:to>
                                    </p:set>
                                    <p:animEffect transition="in" filter="wipe(left)">
                                      <p:cBhvr>
                                        <p:cTn id="77" dur="500"/>
                                        <p:tgtEl>
                                          <p:spTgt spid="34"/>
                                        </p:tgtEl>
                                      </p:cBhvr>
                                    </p:animEffect>
                                  </p:childTnLst>
                                </p:cTn>
                              </p:par>
                              <p:par>
                                <p:cTn id="81" presetID="22" presetClass="entr" presetSubtype="8" fill="hold" grpId="0" nodeType="withEffect">
                                  <p:stCondLst>
                                    <p:cond delay="720"/>
                                  </p:stCondLst>
                                  <p:childTnLst>
                                    <p:set>
                                      <p:cBhvr>
                                        <p:cTn id="79" dur="1" fill="hold">
                                          <p:stCondLst>
                                            <p:cond delay="0"/>
                                          </p:stCondLst>
                                        </p:cTn>
                                        <p:tgtEl>
                                          <p:spTgt spid="35"/>
                                        </p:tgtEl>
                                        <p:attrNameLst>
                                          <p:attrName>style.visibility</p:attrName>
                                        </p:attrNameLst>
                                      </p:cBhvr>
                                      <p:to>
                                        <p:strVal val="visible"/>
                                      </p:to>
                                    </p:set>
                                    <p:animEffect transition="in" filter="wipe(left)">
                                      <p:cBhvr>
                                        <p:cTn id="80" dur="500"/>
                                        <p:tgtEl>
                                          <p:spTgt spid="35"/>
                                        </p:tgtEl>
                                      </p:cBhvr>
                                    </p:animEffect>
                                  </p:childTnLst>
                                </p:cTn>
                              </p:par>
                              <p:par>
                                <p:cTn id="84" presetID="22" presetClass="entr" presetSubtype="8" fill="hold" grpId="0" nodeType="withEffect">
                                  <p:stCondLst>
                                    <p:cond delay="810"/>
                                  </p:stCondLst>
                                  <p:childTnLst>
                                    <p:set>
                                      <p:cBhvr>
                                        <p:cTn id="82" dur="1" fill="hold">
                                          <p:stCondLst>
                                            <p:cond delay="0"/>
                                          </p:stCondLst>
                                        </p:cTn>
                                        <p:tgtEl>
                                          <p:spTgt spid="36"/>
                                        </p:tgtEl>
                                        <p:attrNameLst>
                                          <p:attrName>style.visibility</p:attrName>
                                        </p:attrNameLst>
                                      </p:cBhvr>
                                      <p:to>
                                        <p:strVal val="visible"/>
                                      </p:to>
                                    </p:set>
                                    <p:animEffect transition="in" filter="wipe(left)">
                                      <p:cBhvr>
                                        <p:cTn id="83" dur="500"/>
                                        <p:tgtEl>
                                          <p:spTgt spid="36"/>
                                        </p:tgtEl>
                                      </p:cBhvr>
                                    </p:animEffect>
                                  </p:childTnLst>
                                </p:cTn>
                              </p:par>
                              <p:par>
                                <p:cTn id="87" presetID="22" presetClass="entr" presetSubtype="8" fill="hold" grpId="0" nodeType="withEffect">
                                  <p:stCondLst>
                                    <p:cond delay="900"/>
                                  </p:stCondLst>
                                  <p:childTnLst>
                                    <p:set>
                                      <p:cBhvr>
                                        <p:cTn id="85" dur="1" fill="hold">
                                          <p:stCondLst>
                                            <p:cond delay="0"/>
                                          </p:stCondLst>
                                        </p:cTn>
                                        <p:tgtEl>
                                          <p:spTgt spid="37"/>
                                        </p:tgtEl>
                                        <p:attrNameLst>
                                          <p:attrName>style.visibility</p:attrName>
                                        </p:attrNameLst>
                                      </p:cBhvr>
                                      <p:to>
                                        <p:strVal val="visible"/>
                                      </p:to>
                                    </p:set>
                                    <p:animEffect transition="in" filter="wipe(left)">
                                      <p:cBhvr>
                                        <p:cTn id="86" dur="500"/>
                                        <p:tgtEl>
                                          <p:spTgt spid="37"/>
                                        </p:tgtEl>
                                      </p:cBhvr>
                                    </p:animEffect>
                                  </p:childTnLst>
                                </p:cTn>
                              </p:par>
                              <p:par>
                                <p:cTn id="90" presetID="22" presetClass="entr" presetSubtype="8" fill="hold" grpId="0" nodeType="withEffect">
                                  <p:stCondLst>
                                    <p:cond delay="990"/>
                                  </p:stCondLst>
                                  <p:childTnLst>
                                    <p:set>
                                      <p:cBhvr>
                                        <p:cTn id="88" dur="1" fill="hold">
                                          <p:stCondLst>
                                            <p:cond delay="0"/>
                                          </p:stCondLst>
                                        </p:cTn>
                                        <p:tgtEl>
                                          <p:spTgt spid="38"/>
                                        </p:tgtEl>
                                        <p:attrNameLst>
                                          <p:attrName>style.visibility</p:attrName>
                                        </p:attrNameLst>
                                      </p:cBhvr>
                                      <p:to>
                                        <p:strVal val="visible"/>
                                      </p:to>
                                    </p:set>
                                    <p:animEffect transition="in" filter="wipe(left)">
                                      <p:cBhvr>
                                        <p:cTn id="89" dur="500"/>
                                        <p:tgtEl>
                                          <p:spTgt spid="38"/>
                                        </p:tgtEl>
                                      </p:cBhvr>
                                    </p:animEffect>
                                  </p:childTnLst>
                                </p:cTn>
                              </p:par>
                            </p:childTnLst>
                          </p:cTn>
                        </p:par>
                      </p:childTnLst>
                    </p:cTn>
                  </p:par>
                  <p:par>
                    <p:cTn id="91" fill="hold">
                      <p:stCondLst>
                        <p:cond delay="indefinite"/>
                      </p:stCondLst>
                      <p:childTnLst>
                        <p:par>
                          <p:cTn id="92" fill="hold">
                            <p:stCondLst>
                              <p:cond delay="0"/>
                            </p:stCondLst>
                            <p:childTnLst>
                              <p:par>
                                <p:cTn id="97" presetID="2" presetClass="entr" presetSubtype="4" fill="hold" grpId="0" nodeType="clickEffect">
                                  <p:stCondLst>
                                    <p:cond delay="0"/>
                                  </p:stCondLst>
                                  <p:childTnLst>
                                    <p:set>
                                      <p:cBhvr>
                                        <p:cTn id="93" dur="1" fill="hold">
                                          <p:stCondLst>
                                            <p:cond delay="0"/>
                                          </p:stCondLst>
                                        </p:cTn>
                                        <p:tgtEl>
                                          <p:spTgt spid="39"/>
                                        </p:tgtEl>
                                        <p:attrNameLst>
                                          <p:attrName>style.visibility</p:attrName>
                                        </p:attrNameLst>
                                      </p:cBhvr>
                                      <p:to>
                                        <p:strVal val="visible"/>
                                      </p:to>
                                    </p:set>
                                    <p:anim calcmode="lin" valueType="num">
                                      <p:cBhvr additive="base">
                                        <p:cTn id="94" dur="500" fill="hold"/>
                                        <p:tgtEl>
                                          <p:spTgt spid="39"/>
                                        </p:tgtEl>
                                        <p:attrNameLst>
                                          <p:attrName>ppt_x</p:attrName>
                                        </p:attrNameLst>
                                      </p:cBhvr>
                                      <p:tavLst>
                                        <p:tav tm="0">
                                          <p:val>
                                            <p:strVal val="#ppt_x"/>
                                          </p:val>
                                        </p:tav>
                                        <p:tav tm="100000">
                                          <p:val>
                                            <p:strVal val="#ppt_x"/>
                                          </p:val>
                                        </p:tav>
                                      </p:tavLst>
                                    </p:anim>
                                    <p:anim calcmode="lin" valueType="num">
                                      <p:cBhvr additive="base">
                                        <p:cTn id="95" dur="500" fill="hold"/>
                                        <p:tgtEl>
                                          <p:spTgt spid="39"/>
                                        </p:tgtEl>
                                        <p:attrNameLst>
                                          <p:attrName>ppt_y</p:attrName>
                                        </p:attrNameLst>
                                      </p:cBhvr>
                                      <p:tavLst>
                                        <p:tav tm="0">
                                          <p:val>
                                            <p:strVal val="#ppt_y+0.1"/>
                                          </p:val>
                                        </p:tav>
                                        <p:tav tm="100000">
                                          <p:val>
                                            <p:strVal val="#ppt_y"/>
                                          </p:val>
                                        </p:tav>
                                      </p:tavLst>
                                    </p:anim>
                                    <p:animEffect transition="in" filter="fade">
                                      <p:cBhvr>
                                        <p:cTn id="96" dur="500"/>
                                        <p:tgtEl>
                                          <p:spTgt spid="39"/>
                                        </p:tgtEl>
                                      </p:cBhvr>
                                    </p:animEffect>
                                  </p:childTnLst>
                                </p:cTn>
                              </p:par>
                              <p:par>
                                <p:cTn id="102" presetID="2" presetClass="entr" presetSubtype="4"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 calcmode="lin" valueType="num">
                                      <p:cBhvr additive="base">
                                        <p:cTn id="99" dur="500" fill="hold"/>
                                        <p:tgtEl>
                                          <p:spTgt spid="40"/>
                                        </p:tgtEl>
                                        <p:attrNameLst>
                                          <p:attrName>ppt_x</p:attrName>
                                        </p:attrNameLst>
                                      </p:cBhvr>
                                      <p:tavLst>
                                        <p:tav tm="0">
                                          <p:val>
                                            <p:strVal val="#ppt_x"/>
                                          </p:val>
                                        </p:tav>
                                        <p:tav tm="100000">
                                          <p:val>
                                            <p:strVal val="#ppt_x"/>
                                          </p:val>
                                        </p:tav>
                                      </p:tavLst>
                                    </p:anim>
                                    <p:anim calcmode="lin" valueType="num">
                                      <p:cBhvr additive="base">
                                        <p:cTn id="100" dur="500" fill="hold"/>
                                        <p:tgtEl>
                                          <p:spTgt spid="40"/>
                                        </p:tgtEl>
                                        <p:attrNameLst>
                                          <p:attrName>ppt_y</p:attrName>
                                        </p:attrNameLst>
                                      </p:cBhvr>
                                      <p:tavLst>
                                        <p:tav tm="0">
                                          <p:val>
                                            <p:strVal val="#ppt_y+0.1"/>
                                          </p:val>
                                        </p:tav>
                                        <p:tav tm="100000">
                                          <p:val>
                                            <p:strVal val="#ppt_y"/>
                                          </p:val>
                                        </p:tav>
                                      </p:tavLst>
                                    </p:anim>
                                    <p:animEffect transition="in" filter="fade">
                                      <p:cBhvr>
                                        <p:cTn id="101" dur="500"/>
                                        <p:tgtEl>
                                          <p:spTgt spid="40"/>
                                        </p:tgtEl>
                                      </p:cBhvr>
                                    </p:animEffect>
                                  </p:childTnLst>
                                </p:cTn>
                              </p:par>
                              <p:par>
                                <p:cTn id="107" presetID="2" presetClass="entr" presetSubtype="4" fill="hold" grpId="0" nodeType="withEffect">
                                  <p:stCondLst>
                                    <p:cond delay="0"/>
                                  </p:stCondLst>
                                  <p:childTnLst>
                                    <p:set>
                                      <p:cBhvr>
                                        <p:cTn id="103" dur="1" fill="hold">
                                          <p:stCondLst>
                                            <p:cond delay="0"/>
                                          </p:stCondLst>
                                        </p:cTn>
                                        <p:tgtEl>
                                          <p:spTgt spid="41"/>
                                        </p:tgtEl>
                                        <p:attrNameLst>
                                          <p:attrName>style.visibility</p:attrName>
                                        </p:attrNameLst>
                                      </p:cBhvr>
                                      <p:to>
                                        <p:strVal val="visible"/>
                                      </p:to>
                                    </p:set>
                                    <p:anim calcmode="lin" valueType="num">
                                      <p:cBhvr additive="base">
                                        <p:cTn id="104" dur="500" fill="hold"/>
                                        <p:tgtEl>
                                          <p:spTgt spid="41"/>
                                        </p:tgtEl>
                                        <p:attrNameLst>
                                          <p:attrName>ppt_x</p:attrName>
                                        </p:attrNameLst>
                                      </p:cBhvr>
                                      <p:tavLst>
                                        <p:tav tm="0">
                                          <p:val>
                                            <p:strVal val="#ppt_x"/>
                                          </p:val>
                                        </p:tav>
                                        <p:tav tm="100000">
                                          <p:val>
                                            <p:strVal val="#ppt_x"/>
                                          </p:val>
                                        </p:tav>
                                      </p:tavLst>
                                    </p:anim>
                                    <p:anim calcmode="lin" valueType="num">
                                      <p:cBhvr additive="base">
                                        <p:cTn id="105" dur="500" fill="hold"/>
                                        <p:tgtEl>
                                          <p:spTgt spid="41"/>
                                        </p:tgtEl>
                                        <p:attrNameLst>
                                          <p:attrName>ppt_y</p:attrName>
                                        </p:attrNameLst>
                                      </p:cBhvr>
                                      <p:tavLst>
                                        <p:tav tm="0">
                                          <p:val>
                                            <p:strVal val="#ppt_y+0.1"/>
                                          </p:val>
                                        </p:tav>
                                        <p:tav tm="100000">
                                          <p:val>
                                            <p:strVal val="#ppt_y"/>
                                          </p:val>
                                        </p:tav>
                                      </p:tavLst>
                                    </p:anim>
                                    <p:animEffect transition="in" filter="fade">
                                      <p:cBhvr>
                                        <p:cTn id="10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_h8"/>
          <p:cNvSpPr txBox="1"/>
          <p:nvPr/>
        </p:nvSpPr>
        <p:spPr>
          <a:xfrm>
            <a:off x="548640" y="384048"/>
            <a:ext cx="7315200" cy="640080"/>
          </a:xfrm>
          <a:prstGeom prst="rect">
            <a:avLst/>
          </a:prstGeom>
          <a:noFill/>
        </p:spPr>
        <p:txBody>
          <a:bodyPr wrap="square" lIns="0" tIns="0" rIns="0" bIns="0" anchor="ctr">
            <a:spAutoFit/>
          </a:bodyPr>
          <a:lstStyle/>
          <a:p>
            <a:pPr algn="l"/>
            <a:r>
              <a:rPr sz="3050" b="0">
                <a:solidFill>
                  <a:srgbClr val="FFFFFF"/>
                </a:solidFill>
                <a:latin typeface="Bahnschrift SemiBold"/>
              </a:rPr>
              <a:t>Summary</a:t>
            </a:r>
          </a:p>
        </p:txBody>
      </p:sp>
      <p:sp>
        <p:nvSpPr>
          <p:cNvPr id="10" name="a1u_n9"/>
          <p:cNvSpPr/>
          <p:nvPr/>
        </p:nvSpPr>
        <p:spPr>
          <a:xfrm>
            <a:off x="548640" y="123444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_nt10"/>
          <p:cNvSpPr txBox="1"/>
          <p:nvPr/>
        </p:nvSpPr>
        <p:spPr>
          <a:xfrm>
            <a:off x="548640" y="1234440"/>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1</a:t>
            </a:r>
          </a:p>
        </p:txBody>
      </p:sp>
      <p:sp>
        <p:nvSpPr>
          <p:cNvPr id="12" name="a1u_nb11"/>
          <p:cNvSpPr txBox="1"/>
          <p:nvPr/>
        </p:nvSpPr>
        <p:spPr>
          <a:xfrm>
            <a:off x="1133856" y="1188720"/>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Producers write into Kafka</a:t>
            </a:r>
          </a:p>
          <a:p>
            <a:pPr algn="l">
              <a:spcAft>
                <a:spcPts val="100"/>
              </a:spcAft>
            </a:pPr>
            <a:r>
              <a:rPr sz="1000" b="0">
                <a:solidFill>
                  <a:srgbClr val="D6D3D1"/>
                </a:solidFill>
                <a:latin typeface="Segoe UI"/>
              </a:rPr>
              <a:t>Non-brokers produce, consume, or both</a:t>
            </a:r>
          </a:p>
        </p:txBody>
      </p:sp>
      <p:sp>
        <p:nvSpPr>
          <p:cNvPr id="13" name="a1ud200_n12"/>
          <p:cNvSpPr/>
          <p:nvPr/>
        </p:nvSpPr>
        <p:spPr>
          <a:xfrm>
            <a:off x="548640" y="18928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200_nt13"/>
          <p:cNvSpPr txBox="1"/>
          <p:nvPr/>
        </p:nvSpPr>
        <p:spPr>
          <a:xfrm>
            <a:off x="548640" y="1892808"/>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2</a:t>
            </a:r>
          </a:p>
        </p:txBody>
      </p:sp>
      <p:sp>
        <p:nvSpPr>
          <p:cNvPr id="15" name="a1ud200_nb14"/>
          <p:cNvSpPr txBox="1"/>
          <p:nvPr/>
        </p:nvSpPr>
        <p:spPr>
          <a:xfrm>
            <a:off x="1133856" y="1847088"/>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KafkaProducer does the hard work</a:t>
            </a:r>
          </a:p>
          <a:p>
            <a:pPr algn="l">
              <a:spcAft>
                <a:spcPts val="100"/>
              </a:spcAft>
            </a:pPr>
            <a:r>
              <a:rPr sz="1000" b="0">
                <a:solidFill>
                  <a:srgbClr val="D6D3D1"/>
                </a:solidFill>
                <a:latin typeface="Segoe UI"/>
              </a:rPr>
              <a:t>Connections, acks, batching, retries</a:t>
            </a:r>
          </a:p>
        </p:txBody>
      </p:sp>
      <p:sp>
        <p:nvSpPr>
          <p:cNvPr id="16" name="a1ud400_n15"/>
          <p:cNvSpPr/>
          <p:nvPr/>
        </p:nvSpPr>
        <p:spPr>
          <a:xfrm>
            <a:off x="548640" y="2551176"/>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0_nt16"/>
          <p:cNvSpPr txBox="1"/>
          <p:nvPr/>
        </p:nvSpPr>
        <p:spPr>
          <a:xfrm>
            <a:off x="548640" y="2551176"/>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3</a:t>
            </a:r>
          </a:p>
        </p:txBody>
      </p:sp>
      <p:sp>
        <p:nvSpPr>
          <p:cNvPr id="18" name="a1ud400_nb17"/>
          <p:cNvSpPr txBox="1"/>
          <p:nvPr/>
        </p:nvSpPr>
        <p:spPr>
          <a:xfrm>
            <a:off x="1133856" y="2505456"/>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bootstrap.servers: a few brokers</a:t>
            </a:r>
          </a:p>
          <a:p>
            <a:pPr algn="l">
              <a:spcAft>
                <a:spcPts val="100"/>
              </a:spcAft>
            </a:pPr>
            <a:r>
              <a:rPr sz="1000" b="0">
                <a:solidFill>
                  <a:srgbClr val="D6D3D1"/>
                </a:solidFill>
                <a:latin typeface="Segoe UI"/>
              </a:rPr>
              <a:t>The rest of the cluster is discovered</a:t>
            </a:r>
          </a:p>
        </p:txBody>
      </p:sp>
      <p:sp>
        <p:nvSpPr>
          <p:cNvPr id="19" name="a1ud600_n18"/>
          <p:cNvSpPr/>
          <p:nvPr/>
        </p:nvSpPr>
        <p:spPr>
          <a:xfrm>
            <a:off x="548640" y="3209544"/>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600_nt19"/>
          <p:cNvSpPr txBox="1"/>
          <p:nvPr/>
        </p:nvSpPr>
        <p:spPr>
          <a:xfrm>
            <a:off x="548640" y="3209544"/>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4</a:t>
            </a:r>
          </a:p>
        </p:txBody>
      </p:sp>
      <p:sp>
        <p:nvSpPr>
          <p:cNvPr id="21" name="a1ud600_nb20"/>
          <p:cNvSpPr txBox="1"/>
          <p:nvPr/>
        </p:nvSpPr>
        <p:spPr>
          <a:xfrm>
            <a:off x="1133856" y="3163824"/>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ProducerRecord: topic, key, value</a:t>
            </a:r>
          </a:p>
          <a:p>
            <a:pPr algn="l">
              <a:spcAft>
                <a:spcPts val="100"/>
              </a:spcAft>
            </a:pPr>
            <a:r>
              <a:rPr sz="1000" b="0">
                <a:solidFill>
                  <a:srgbClr val="D6D3D1"/>
                </a:solidFill>
                <a:latin typeface="Segoe UI"/>
              </a:rPr>
              <a:t>Plus timestamp, partition and headers if needed</a:t>
            </a:r>
          </a:p>
        </p:txBody>
      </p:sp>
      <p:sp>
        <p:nvSpPr>
          <p:cNvPr id="22" name="a1ud800_n21"/>
          <p:cNvSpPr/>
          <p:nvPr/>
        </p:nvSpPr>
        <p:spPr>
          <a:xfrm>
            <a:off x="548640" y="3867911"/>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0_nt22"/>
          <p:cNvSpPr txBox="1"/>
          <p:nvPr/>
        </p:nvSpPr>
        <p:spPr>
          <a:xfrm>
            <a:off x="548640" y="3867911"/>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5</a:t>
            </a:r>
          </a:p>
        </p:txBody>
      </p:sp>
      <p:sp>
        <p:nvSpPr>
          <p:cNvPr id="24" name="a1ud800_nb23"/>
          <p:cNvSpPr txBox="1"/>
          <p:nvPr/>
        </p:nvSpPr>
        <p:spPr>
          <a:xfrm>
            <a:off x="1133856" y="3822191"/>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Serializers and partitioning</a:t>
            </a:r>
          </a:p>
          <a:p>
            <a:pPr algn="l">
              <a:spcAft>
                <a:spcPts val="100"/>
              </a:spcAft>
            </a:pPr>
            <a:r>
              <a:rPr sz="1000" b="0">
                <a:solidFill>
                  <a:srgbClr val="D6D3D1"/>
                </a:solidFill>
                <a:latin typeface="Segoe UI"/>
              </a:rPr>
              <a:t>Both happen in the producer, in your app</a:t>
            </a:r>
          </a:p>
        </p:txBody>
      </p:sp>
      <p:sp>
        <p:nvSpPr>
          <p:cNvPr id="25" name="a2u_next24"/>
          <p:cNvSpPr/>
          <p:nvPr/>
        </p:nvSpPr>
        <p:spPr>
          <a:xfrm>
            <a:off x="6263640" y="1234440"/>
            <a:ext cx="2423160" cy="1097280"/>
          </a:xfrm>
          <a:prstGeom prst="roundRect">
            <a:avLst>
              <a:gd name="adj" fmla="val 8333"/>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extt25"/>
          <p:cNvSpPr txBox="1"/>
          <p:nvPr/>
        </p:nvSpPr>
        <p:spPr>
          <a:xfrm>
            <a:off x="6446520" y="1353312"/>
            <a:ext cx="2103120" cy="86868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UP NEXT</a:t>
            </a:r>
          </a:p>
          <a:p>
            <a:pPr algn="l">
              <a:spcAft>
                <a:spcPts val="400"/>
              </a:spcAft>
            </a:pPr>
            <a:r>
              <a:rPr sz="1050" b="0">
                <a:solidFill>
                  <a:srgbClr val="E7E5E4"/>
                </a:solidFill>
                <a:latin typeface="Segoe UI"/>
              </a:rPr>
              <a:t>Module 7 - Consumers</a:t>
            </a:r>
          </a:p>
          <a:p>
            <a:pPr algn="l">
              <a:spcAft>
                <a:spcPts val="400"/>
              </a:spcAft>
            </a:pPr>
            <a:r>
              <a:rPr sz="850" b="0">
                <a:solidFill>
                  <a:srgbClr val="A8A29E"/>
                </a:solidFill>
                <a:latin typeface="Segoe UI"/>
              </a:rPr>
              <a:t>the other half: reading messages</a:t>
            </a:r>
          </a:p>
        </p:txBody>
      </p:sp>
      <p:sp>
        <p:nvSpPr>
          <p:cNvPr id="27" name="a3u_src26"/>
          <p:cNvSpPr/>
          <p:nvPr/>
        </p:nvSpPr>
        <p:spPr>
          <a:xfrm>
            <a:off x="6263640" y="2514600"/>
            <a:ext cx="2423160" cy="1188720"/>
          </a:xfrm>
          <a:prstGeom prst="roundRect">
            <a:avLst>
              <a:gd name="adj" fmla="val 769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srct27"/>
          <p:cNvSpPr txBox="1"/>
          <p:nvPr/>
        </p:nvSpPr>
        <p:spPr>
          <a:xfrm>
            <a:off x="6446520" y="2633472"/>
            <a:ext cx="2103120" cy="96012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SOURCE</a:t>
            </a:r>
          </a:p>
          <a:p>
            <a:pPr algn="l">
              <a:spcAft>
                <a:spcPts val="400"/>
              </a:spcAft>
            </a:pPr>
            <a:r>
              <a:rPr sz="850" b="0">
                <a:solidFill>
                  <a:srgbClr val="D6D3D1"/>
                </a:solidFill>
                <a:latin typeface="Segoe UI"/>
              </a:rPr>
              <a:t>Apache Kafka 101, Producers - Tim Berglund, Confluent Developer (developer.confluent.io)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4"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ppt_y+0.1"/>
                                          </p:val>
                                        </p:tav>
                                        <p:tav tm="100000">
                                          <p:val>
                                            <p:strVal val="#ppt_y"/>
                                          </p:val>
                                        </p:tav>
                                      </p:tavLst>
                                    </p:anim>
                                    <p:animEffect transition="in" filter="fade">
                                      <p:cBhvr>
                                        <p:cTn id="13" dur="500"/>
                                        <p:tgtEl>
                                          <p:spTgt spid="10"/>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ppt_y+0.1"/>
                                          </p:val>
                                        </p:tav>
                                        <p:tav tm="100000">
                                          <p:val>
                                            <p:strVal val="#ppt_y"/>
                                          </p:val>
                                        </p:tav>
                                      </p:tavLst>
                                    </p:anim>
                                    <p:animEffect transition="in" filter="fade">
                                      <p:cBhvr>
                                        <p:cTn id="18" dur="500"/>
                                        <p:tgtEl>
                                          <p:spTgt spid="11"/>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ppt_y+0.1"/>
                                          </p:val>
                                        </p:tav>
                                        <p:tav tm="100000">
                                          <p:val>
                                            <p:strVal val="#ppt_y"/>
                                          </p:val>
                                        </p:tav>
                                      </p:tavLst>
                                    </p:anim>
                                    <p:animEffect transition="in" filter="fade">
                                      <p:cBhvr>
                                        <p:cTn id="23" dur="500"/>
                                        <p:tgtEl>
                                          <p:spTgt spid="12"/>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ppt_y+0.1"/>
                                          </p:val>
                                        </p:tav>
                                        <p:tav tm="100000">
                                          <p:val>
                                            <p:strVal val="#ppt_y"/>
                                          </p:val>
                                        </p:tav>
                                      </p:tavLst>
                                    </p:anim>
                                    <p:animEffect transition="in" filter="fade">
                                      <p:cBhvr>
                                        <p:cTn id="28" dur="500"/>
                                        <p:tgtEl>
                                          <p:spTgt spid="13"/>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ppt_y+0.1"/>
                                          </p:val>
                                        </p:tav>
                                        <p:tav tm="100000">
                                          <p:val>
                                            <p:strVal val="#ppt_y"/>
                                          </p:val>
                                        </p:tav>
                                      </p:tavLst>
                                    </p:anim>
                                    <p:animEffect transition="in" filter="fade">
                                      <p:cBhvr>
                                        <p:cTn id="33" dur="500"/>
                                        <p:tgtEl>
                                          <p:spTgt spid="14"/>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ppt_y+0.1"/>
                                          </p:val>
                                        </p:tav>
                                        <p:tav tm="100000">
                                          <p:val>
                                            <p:strVal val="#ppt_y"/>
                                          </p:val>
                                        </p:tav>
                                      </p:tavLst>
                                    </p:anim>
                                    <p:animEffect transition="in" filter="fade">
                                      <p:cBhvr>
                                        <p:cTn id="38" dur="500"/>
                                        <p:tgtEl>
                                          <p:spTgt spid="15"/>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ppt_y+0.1"/>
                                          </p:val>
                                        </p:tav>
                                        <p:tav tm="100000">
                                          <p:val>
                                            <p:strVal val="#ppt_y"/>
                                          </p:val>
                                        </p:tav>
                                      </p:tavLst>
                                    </p:anim>
                                    <p:animEffect transition="in" filter="fade">
                                      <p:cBhvr>
                                        <p:cTn id="43" dur="500"/>
                                        <p:tgtEl>
                                          <p:spTgt spid="16"/>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ppt_y+0.1"/>
                                          </p:val>
                                        </p:tav>
                                        <p:tav tm="100000">
                                          <p:val>
                                            <p:strVal val="#ppt_y"/>
                                          </p:val>
                                        </p:tav>
                                      </p:tavLst>
                                    </p:anim>
                                    <p:animEffect transition="in" filter="fade">
                                      <p:cBhvr>
                                        <p:cTn id="48" dur="500"/>
                                        <p:tgtEl>
                                          <p:spTgt spid="17"/>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0.1"/>
                                          </p:val>
                                        </p:tav>
                                        <p:tav tm="100000">
                                          <p:val>
                                            <p:strVal val="#ppt_y"/>
                                          </p:val>
                                        </p:tav>
                                      </p:tavLst>
                                    </p:anim>
                                    <p:animEffect transition="in" filter="fade">
                                      <p:cBhvr>
                                        <p:cTn id="53" dur="500"/>
                                        <p:tgtEl>
                                          <p:spTgt spid="18"/>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0.1"/>
                                          </p:val>
                                        </p:tav>
                                        <p:tav tm="100000">
                                          <p:val>
                                            <p:strVal val="#ppt_y"/>
                                          </p:val>
                                        </p:tav>
                                      </p:tavLst>
                                    </p:anim>
                                    <p:animEffect transition="in" filter="fade">
                                      <p:cBhvr>
                                        <p:cTn id="58" dur="500"/>
                                        <p:tgtEl>
                                          <p:spTgt spid="19"/>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ppt_y+0.1"/>
                                          </p:val>
                                        </p:tav>
                                        <p:tav tm="100000">
                                          <p:val>
                                            <p:strVal val="#ppt_y"/>
                                          </p:val>
                                        </p:tav>
                                      </p:tavLst>
                                    </p:anim>
                                    <p:animEffect transition="in" filter="fade">
                                      <p:cBhvr>
                                        <p:cTn id="63" dur="500"/>
                                        <p:tgtEl>
                                          <p:spTgt spid="20"/>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ppt_x"/>
                                          </p:val>
                                        </p:tav>
                                        <p:tav tm="100000">
                                          <p:val>
                                            <p:strVal val="#ppt_x"/>
                                          </p:val>
                                        </p:tav>
                                      </p:tavLst>
                                    </p:anim>
                                    <p:anim calcmode="lin" valueType="num">
                                      <p:cBhvr additive="base">
                                        <p:cTn id="67" dur="500" fill="hold"/>
                                        <p:tgtEl>
                                          <p:spTgt spid="21"/>
                                        </p:tgtEl>
                                        <p:attrNameLst>
                                          <p:attrName>ppt_y</p:attrName>
                                        </p:attrNameLst>
                                      </p:cBhvr>
                                      <p:tavLst>
                                        <p:tav tm="0">
                                          <p:val>
                                            <p:strVal val="#ppt_y+0.1"/>
                                          </p:val>
                                        </p:tav>
                                        <p:tav tm="100000">
                                          <p:val>
                                            <p:strVal val="#ppt_y"/>
                                          </p:val>
                                        </p:tav>
                                      </p:tavLst>
                                    </p:anim>
                                    <p:animEffect transition="in" filter="fade">
                                      <p:cBhvr>
                                        <p:cTn id="68" dur="500"/>
                                        <p:tgtEl>
                                          <p:spTgt spid="21"/>
                                        </p:tgtEl>
                                      </p:cBhvr>
                                    </p:animEffect>
                                  </p:childTnLst>
                                </p:cTn>
                              </p:par>
                              <p:par>
                                <p:cTn id="74" presetID="2" presetClass="entr" presetSubtype="4" fill="hold" grpId="0" nodeType="withEffect">
                                  <p:stCondLst>
                                    <p:cond delay="80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ppt_y+0.1"/>
                                          </p:val>
                                        </p:tav>
                                        <p:tav tm="100000">
                                          <p:val>
                                            <p:strVal val="#ppt_y"/>
                                          </p:val>
                                        </p:tav>
                                      </p:tavLst>
                                    </p:anim>
                                    <p:animEffect transition="in" filter="fade">
                                      <p:cBhvr>
                                        <p:cTn id="73" dur="500"/>
                                        <p:tgtEl>
                                          <p:spTgt spid="22"/>
                                        </p:tgtEl>
                                      </p:cBhvr>
                                    </p:animEffect>
                                  </p:childTnLst>
                                </p:cTn>
                              </p:par>
                              <p:par>
                                <p:cTn id="79" presetID="2" presetClass="entr" presetSubtype="4" fill="hold" grpId="0" nodeType="withEffect">
                                  <p:stCondLst>
                                    <p:cond delay="8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ppt_x"/>
                                          </p:val>
                                        </p:tav>
                                        <p:tav tm="100000">
                                          <p:val>
                                            <p:strVal val="#ppt_x"/>
                                          </p:val>
                                        </p:tav>
                                      </p:tavLst>
                                    </p:anim>
                                    <p:anim calcmode="lin" valueType="num">
                                      <p:cBhvr additive="base">
                                        <p:cTn id="77" dur="500" fill="hold"/>
                                        <p:tgtEl>
                                          <p:spTgt spid="23"/>
                                        </p:tgtEl>
                                        <p:attrNameLst>
                                          <p:attrName>ppt_y</p:attrName>
                                        </p:attrNameLst>
                                      </p:cBhvr>
                                      <p:tavLst>
                                        <p:tav tm="0">
                                          <p:val>
                                            <p:strVal val="#ppt_y+0.1"/>
                                          </p:val>
                                        </p:tav>
                                        <p:tav tm="100000">
                                          <p:val>
                                            <p:strVal val="#ppt_y"/>
                                          </p:val>
                                        </p:tav>
                                      </p:tavLst>
                                    </p:anim>
                                    <p:animEffect transition="in" filter="fade">
                                      <p:cBhvr>
                                        <p:cTn id="78" dur="500"/>
                                        <p:tgtEl>
                                          <p:spTgt spid="23"/>
                                        </p:tgtEl>
                                      </p:cBhvr>
                                    </p:animEffect>
                                  </p:childTnLst>
                                </p:cTn>
                              </p:par>
                              <p:par>
                                <p:cTn id="84" presetID="2" presetClass="entr" presetSubtype="4" fill="hold" grpId="0" nodeType="withEffect">
                                  <p:stCondLst>
                                    <p:cond delay="80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ppt_x"/>
                                          </p:val>
                                        </p:tav>
                                        <p:tav tm="100000">
                                          <p:val>
                                            <p:strVal val="#ppt_x"/>
                                          </p:val>
                                        </p:tav>
                                      </p:tavLst>
                                    </p:anim>
                                    <p:anim calcmode="lin" valueType="num">
                                      <p:cBhvr additive="base">
                                        <p:cTn id="82" dur="500" fill="hold"/>
                                        <p:tgtEl>
                                          <p:spTgt spid="24"/>
                                        </p:tgtEl>
                                        <p:attrNameLst>
                                          <p:attrName>ppt_y</p:attrName>
                                        </p:attrNameLst>
                                      </p:cBhvr>
                                      <p:tavLst>
                                        <p:tav tm="0">
                                          <p:val>
                                            <p:strVal val="#ppt_y+0.1"/>
                                          </p:val>
                                        </p:tav>
                                        <p:tav tm="100000">
                                          <p:val>
                                            <p:strVal val="#ppt_y"/>
                                          </p:val>
                                        </p:tav>
                                      </p:tavLst>
                                    </p:anim>
                                    <p:animEffect transition="in" filter="fade">
                                      <p:cBhvr>
                                        <p:cTn id="83"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p:tgtEl>
                                          <p:spTgt spid="25"/>
                                        </p:tgtEl>
                                        <p:attrNameLst>
                                          <p:attrName>ppt_x</p:attrName>
                                        </p:attrNameLst>
                                      </p:cBhvr>
                                      <p:tavLst>
                                        <p:tav tm="0">
                                          <p:val>
                                            <p:strVal val="#ppt_x"/>
                                          </p:val>
                                        </p:tav>
                                        <p:tav tm="100000">
                                          <p:val>
                                            <p:strVal val="#ppt_x"/>
                                          </p:val>
                                        </p:tav>
                                      </p:tavLst>
                                    </p:anim>
                                    <p:anim calcmode="lin" valueType="num">
                                      <p:cBhvr additive="base">
                                        <p:cTn id="89" dur="500" fill="hold"/>
                                        <p:tgtEl>
                                          <p:spTgt spid="25"/>
                                        </p:tgtEl>
                                        <p:attrNameLst>
                                          <p:attrName>ppt_y</p:attrName>
                                        </p:attrNameLst>
                                      </p:cBhvr>
                                      <p:tavLst>
                                        <p:tav tm="0">
                                          <p:val>
                                            <p:strVal val="#ppt_y+0.1"/>
                                          </p:val>
                                        </p:tav>
                                        <p:tav tm="100000">
                                          <p:val>
                                            <p:strVal val="#ppt_y"/>
                                          </p:val>
                                        </p:tav>
                                      </p:tavLst>
                                    </p:anim>
                                    <p:animEffect transition="in" filter="fade">
                                      <p:cBhvr>
                                        <p:cTn id="90" dur="500"/>
                                        <p:tgtEl>
                                          <p:spTgt spid="25"/>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500" fill="hold"/>
                                        <p:tgtEl>
                                          <p:spTgt spid="27"/>
                                        </p:tgtEl>
                                        <p:attrNameLst>
                                          <p:attrName>ppt_x</p:attrName>
                                        </p:attrNameLst>
                                      </p:cBhvr>
                                      <p:tavLst>
                                        <p:tav tm="0">
                                          <p:val>
                                            <p:strVal val="#ppt_x"/>
                                          </p:val>
                                        </p:tav>
                                        <p:tav tm="100000">
                                          <p:val>
                                            <p:strVal val="#ppt_x"/>
                                          </p:val>
                                        </p:tav>
                                      </p:tavLst>
                                    </p:anim>
                                    <p:anim calcmode="lin" valueType="num">
                                      <p:cBhvr additive="base">
                                        <p:cTn id="101" dur="500" fill="hold"/>
                                        <p:tgtEl>
                                          <p:spTgt spid="27"/>
                                        </p:tgtEl>
                                        <p:attrNameLst>
                                          <p:attrName>ppt_y</p:attrName>
                                        </p:attrNameLst>
                                      </p:cBhvr>
                                      <p:tavLst>
                                        <p:tav tm="0">
                                          <p:val>
                                            <p:strVal val="#ppt_y+0.1"/>
                                          </p:val>
                                        </p:tav>
                                        <p:tav tm="100000">
                                          <p:val>
                                            <p:strVal val="#ppt_y"/>
                                          </p:val>
                                        </p:tav>
                                      </p:tavLst>
                                    </p:anim>
                                    <p:animEffect transition="in" filter="fade">
                                      <p:cBhvr>
                                        <p:cTn id="102" dur="500"/>
                                        <p:tgtEl>
                                          <p:spTgt spid="27"/>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00" fill="hold"/>
                                        <p:tgtEl>
                                          <p:spTgt spid="28"/>
                                        </p:tgtEl>
                                        <p:attrNameLst>
                                          <p:attrName>ppt_x</p:attrName>
                                        </p:attrNameLst>
                                      </p:cBhvr>
                                      <p:tavLst>
                                        <p:tav tm="0">
                                          <p:val>
                                            <p:strVal val="#ppt_x"/>
                                          </p:val>
                                        </p:tav>
                                        <p:tav tm="100000">
                                          <p:val>
                                            <p:strVal val="#ppt_x"/>
                                          </p:val>
                                        </p:tav>
                                      </p:tavLst>
                                    </p:anim>
                                    <p:anim calcmode="lin" valueType="num">
                                      <p:cBhvr additive="base">
                                        <p:cTn id="106" dur="500" fill="hold"/>
                                        <p:tgtEl>
                                          <p:spTgt spid="28"/>
                                        </p:tgtEl>
                                        <p:attrNameLst>
                                          <p:attrName>ppt_y</p:attrName>
                                        </p:attrNameLst>
                                      </p:cBhvr>
                                      <p:tavLst>
                                        <p:tav tm="0">
                                          <p:val>
                                            <p:strVal val="#ppt_y+0.1"/>
                                          </p:val>
                                        </p:tav>
                                        <p:tav tm="100000">
                                          <p:val>
                                            <p:strVal val="#ppt_y"/>
                                          </p:val>
                                        </p:tav>
                                      </p:tavLst>
                                    </p:anim>
                                    <p:animEffect transition="in" filter="fade">
                                      <p:cBhvr>
                                        <p:cTn id="10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