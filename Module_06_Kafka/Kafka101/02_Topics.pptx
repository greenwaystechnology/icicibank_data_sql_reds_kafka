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of the Kafka 101 series: topics. The lesson starts from a familiar database table, shows what gets lost when rows are updated, and then introduces the log - which Kafka calls a topic - and the structure of the messages stored in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running example: a network of smart thermostats in people's homes. In a database you would keep a thermostat_readings table, with a column for each important piece of data - the sensor's id, where it is, the temperature in Celsius, and when the reading was taken. For the Americans in the room, 22 degrees Celsius is a pleasant indoor temperature, about 72 Fahrenheit. When new readings come in, you insert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sensor we already know reports again: the kitchen has gone from 22 to 24 degrees. In a table, you update that sensor's temperature field. Everyone knows how that works - and it throws away context. We no longer know what the kitchen used to be, so we cannot learn how fast it heats up or when in the day it warms. Relational schemas can be bent to keep history, but tables are not a great fit for log-type use cases; the normal model is that a thing has a row and the row changes when the thing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Kafka takes a fundamentally different approach. Instead of tables it uses logs. A log is a sequence of data items - messages, or events. You add to a log only at the end, and you never change what is already in it. In Kafka, these logs are called topics, and topics are where messages are stored.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this: messages in Kafka are immutable. Once written, a message cannot be changed. It can be forgotten - removed later - but not edited. A message is an event; the event has already happened, and nobody gets to rewrite history.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store the same readings in Kafka. There is a topic called thermostat_readings, and each message in it is one reading. As sensors report, new messages are appended to the end. When the kitchen reports again, the new reading is added - so we can see it was 22 and is now 24. The history is kept as a sequence of immutable messages.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builds a database with a single table, and nobody runs Kafka with a single topic. A cluster can hold thousands of topics, carrying data in different formats for different purposes - which keeps your data organized and your system manageable.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JSON on the earlier slide was for readability. Kafka itself does not care about the format at all: internally it is schema-less, and a message is simply bytes, so anything can go in. Outside Kafka, of course, applications do not want to handle byte arrays - which is where schema tooling and formats like Avro, Protocol Buffers and JSON Schema come in. A later module covers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messages cannot be changed, how do you change data? The same way you always handle immutable data: you make a copy. Here a SQL query reads the thermostat readings, filters them down to the really hot ones and writes those to a second topic, hot_locations. The Stream Processing module explains how that SQL works and what tools run it - for now, hold on to the idea: transformed data means new topics.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 or at least a common way of speaking - is to call a topic a queue. Kafka does not have queues. Reading from a queue removes the item: it is gone and nobody else can read it, so queue data is ephemeral. Reading from a log leaves the message in place; you can read it again, and so can anyone else. The lesson asks, with some feeling, that nobody say 'Kafka queue' - the difference has broad consequences and later modules return to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structure of a message. The most important part is the value - the one thing you must have. If an event is a 'when' and a 'what', the value is the what: what actually happened. It is shown as JSON because that is nicer to look at, but it could be Avro, Protobuf, your own serialization, a number or a raw string. There is no restriction.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is the key. Typically it identifies what the payload relates to - in the thermostat case the sensor's unique id, elsewhere a user id or an account id. A key is not mandatory, but it is normal to use one, and a lot of good Kafka data modelling depends on it. Pick it with care, because the key is what lets Kafka distribute data efficiently across the nodes of the cluster. Here the sensor id is 42, so the key is 42.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also carries a timestamp: the moment the producer created it, or the moment the broker received it. When you produce a message through a client library, you can tell the library what time the event happened; if you do not, a time is assigned when the message reaches the cluster. Either way, it tracks when the event happened. For the thermostat reading, the read_at field is the obvious value to use.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Headers are a map of key-value pairs - untyped strings - for adding small pieces of context. They are meant for lightweight metadata, not for smuggling in extra data. Finally, a message knows the topic it belongs to, and it has an offset. The offset is 0 for the first message produced to a topic and goes up by one for each message after that. It really is that simple.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Quick check before moving on: ask a learner to name the offset of the first message in a new topic (zero), and why reading it does not remove it (a topic is a log, not a queue).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Topics</a:t>
            </a:r>
          </a:p>
          <a:p>
            <a:pPr algn="l"/>
            <a:r>
              <a:rPr sz="1450" b="0">
                <a:solidFill>
                  <a:srgbClr val="D6D3D1"/>
                </a:solidFill>
                <a:latin typeface="Segoe UI"/>
              </a:rPr>
              <a:t>where Kafka keeps its events</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TABLES</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LOGS</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TOPICS</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MESSAGES</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2  ·  Following the Kafka 101 Topics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thermostat_readings</a:t>
            </a:r>
          </a:p>
        </p:txBody>
      </p:sp>
      <p:sp>
        <p:nvSpPr>
          <p:cNvPr id="50" name="a0wd1100_ll49"/>
          <p:cNvSpPr txBox="1"/>
          <p:nvPr/>
        </p:nvSpPr>
        <p:spPr>
          <a:xfrm>
            <a:off x="5961888" y="1591056"/>
            <a:ext cx="2606040" cy="274320"/>
          </a:xfrm>
          <a:prstGeom prst="rect">
            <a:avLst/>
          </a:prstGeom>
          <a:noFill/>
        </p:spPr>
        <p:txBody>
          <a:bodyPr wrap="none" lIns="0" tIns="0" rIns="0" bIns="0" anchor="ctr">
            <a:spAutoFit/>
          </a:bodyPr>
          <a:lstStyle/>
          <a:p>
            <a:pPr algn="l"/>
            <a:r>
              <a:rPr sz="950" b="0">
                <a:solidFill>
                  <a:srgbClr val="D6D3D1"/>
                </a:solidFill>
                <a:latin typeface="Consolas"/>
              </a:rPr>
              <a:t>0   kitchen   22 °C</a:t>
            </a:r>
          </a:p>
        </p:txBody>
      </p:sp>
      <p:sp>
        <p:nvSpPr>
          <p:cNvPr id="51" name="a0wd1400_ll50"/>
          <p:cNvSpPr txBox="1"/>
          <p:nvPr/>
        </p:nvSpPr>
        <p:spPr>
          <a:xfrm>
            <a:off x="5961888" y="1911095"/>
            <a:ext cx="2606040" cy="274320"/>
          </a:xfrm>
          <a:prstGeom prst="rect">
            <a:avLst/>
          </a:prstGeom>
          <a:noFill/>
        </p:spPr>
        <p:txBody>
          <a:bodyPr wrap="none" lIns="0" tIns="0" rIns="0" bIns="0" anchor="ctr">
            <a:spAutoFit/>
          </a:bodyPr>
          <a:lstStyle/>
          <a:p>
            <a:pPr algn="l"/>
            <a:r>
              <a:rPr sz="950" b="0">
                <a:solidFill>
                  <a:srgbClr val="D6D3D1"/>
                </a:solidFill>
                <a:latin typeface="Consolas"/>
              </a:rPr>
              <a:t>1   bedroom   21 °C</a:t>
            </a:r>
          </a:p>
        </p:txBody>
      </p:sp>
      <p:sp>
        <p:nvSpPr>
          <p:cNvPr id="52" name="a0wd1700_ll51"/>
          <p:cNvSpPr txBox="1"/>
          <p:nvPr/>
        </p:nvSpPr>
        <p:spPr>
          <a:xfrm>
            <a:off x="5961888" y="2231136"/>
            <a:ext cx="2606040" cy="274320"/>
          </a:xfrm>
          <a:prstGeom prst="rect">
            <a:avLst/>
          </a:prstGeom>
          <a:noFill/>
        </p:spPr>
        <p:txBody>
          <a:bodyPr wrap="none" lIns="0" tIns="0" rIns="0" bIns="0" anchor="ctr">
            <a:spAutoFit/>
          </a:bodyPr>
          <a:lstStyle/>
          <a:p>
            <a:pPr algn="l"/>
            <a:r>
              <a:rPr sz="950" b="0">
                <a:solidFill>
                  <a:srgbClr val="D6D3D1"/>
                </a:solidFill>
                <a:latin typeface="Consolas"/>
              </a:rPr>
              <a:t>2   hallway   20 °C</a:t>
            </a:r>
          </a:p>
        </p:txBody>
      </p:sp>
      <p:sp>
        <p:nvSpPr>
          <p:cNvPr id="53" name="a0wd2000_ll52"/>
          <p:cNvSpPr txBox="1"/>
          <p:nvPr/>
        </p:nvSpPr>
        <p:spPr>
          <a:xfrm>
            <a:off x="5961888" y="2551176"/>
            <a:ext cx="2606040" cy="274320"/>
          </a:xfrm>
          <a:prstGeom prst="rect">
            <a:avLst/>
          </a:prstGeom>
          <a:noFill/>
        </p:spPr>
        <p:txBody>
          <a:bodyPr wrap="none" lIns="0" tIns="0" rIns="0" bIns="0" anchor="ctr">
            <a:spAutoFit/>
          </a:bodyPr>
          <a:lstStyle/>
          <a:p>
            <a:pPr algn="l"/>
            <a:r>
              <a:rPr sz="950" b="1">
                <a:solidFill>
                  <a:srgbClr val="FDBA74"/>
                </a:solidFill>
                <a:latin typeface="Consolas"/>
              </a:rPr>
              <a:t>3   kitchen   24 °C</a:t>
            </a:r>
          </a:p>
        </p:txBody>
      </p:sp>
      <p:sp>
        <p:nvSpPr>
          <p:cNvPr id="54" name="a0fd2300_cap53"/>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a topic: new readings go on the end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22" presetClass="entr" presetSubtype="8"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wipe(left)">
                                      <p:cBhvr>
                                        <p:cTn id="38" dur="500"/>
                                        <p:tgtEl>
                                          <p:spTgt spid="50"/>
                                        </p:tgtEl>
                                      </p:cBhvr>
                                    </p:animEffect>
                                  </p:childTnLst>
                                </p:cTn>
                              </p:par>
                              <p:par>
                                <p:cTn id="44" presetID="2" presetClass="entr" presetSubtype="4" fill="hold" grpId="0" nodeType="withEffect">
                                  <p:stCondLst>
                                    <p:cond delay="125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ppt_y+0.1"/>
                                          </p:val>
                                        </p:tav>
                                        <p:tav tm="100000">
                                          <p:val>
                                            <p:strVal val="#ppt_y"/>
                                          </p:val>
                                        </p:tav>
                                      </p:tavLst>
                                    </p:anim>
                                    <p:animEffect transition="in" filter="fade">
                                      <p:cBhvr>
                                        <p:cTn id="43" dur="500"/>
                                        <p:tgtEl>
                                          <p:spTgt spid="9"/>
                                        </p:tgtEl>
                                      </p:cBhvr>
                                    </p:animEffect>
                                  </p:childTnLst>
                                </p:cTn>
                              </p:par>
                              <p:par>
                                <p:cTn id="47" presetID="10" presetClass="entr" presetSubtype="0" fill="hold" grpId="0" nodeType="withEffect">
                                  <p:stCondLst>
                                    <p:cond delay="14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50" presetID="22" presetClass="entr" presetSubtype="8" fill="hold" grpId="0" nodeType="withEffect">
                                  <p:stCondLst>
                                    <p:cond delay="1400"/>
                                  </p:stCondLst>
                                  <p:childTnLst>
                                    <p:set>
                                      <p:cBhvr>
                                        <p:cTn id="48" dur="1" fill="hold">
                                          <p:stCondLst>
                                            <p:cond delay="0"/>
                                          </p:stCondLst>
                                        </p:cTn>
                                        <p:tgtEl>
                                          <p:spTgt spid="51"/>
                                        </p:tgtEl>
                                        <p:attrNameLst>
                                          <p:attrName>style.visibility</p:attrName>
                                        </p:attrNameLst>
                                      </p:cBhvr>
                                      <p:to>
                                        <p:strVal val="visible"/>
                                      </p:to>
                                    </p:set>
                                    <p:animEffect transition="in" filter="wipe(left)">
                                      <p:cBhvr>
                                        <p:cTn id="49" dur="500"/>
                                        <p:tgtEl>
                                          <p:spTgt spid="51"/>
                                        </p:tgtEl>
                                      </p:cBhvr>
                                    </p:animEffect>
                                  </p:childTnLst>
                                </p:cTn>
                              </p:par>
                              <p:par>
                                <p:cTn id="53" presetID="10" presetClass="entr" presetSubtype="0" fill="hold" grpId="0" nodeType="withEffect">
                                  <p:stCondLst>
                                    <p:cond delay="160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par>
                                <p:cTn id="56" presetID="10" presetClass="entr" presetSubtype="0" fill="hold" grpId="0" nodeType="withEffect">
                                  <p:stCondLst>
                                    <p:cond delay="160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9" presetID="10" presetClass="entr" presetSubtype="0" fill="hold" grpId="0" nodeType="withEffect">
                                  <p:stCondLst>
                                    <p:cond delay="1645"/>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childTnLst>
                                </p:cTn>
                              </p:par>
                              <p:par>
                                <p:cTn id="62" presetID="10" presetClass="entr" presetSubtype="0" fill="hold" grpId="0" nodeType="withEffect">
                                  <p:stCondLst>
                                    <p:cond delay="1645"/>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5" presetID="10" presetClass="entr" presetSubtype="0" fill="hold" grpId="0" nodeType="withEffect">
                                  <p:stCondLst>
                                    <p:cond delay="169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par>
                                <p:cTn id="68" presetID="10" presetClass="entr" presetSubtype="0" fill="hold" grpId="0" nodeType="withEffect">
                                  <p:stCondLst>
                                    <p:cond delay="1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71" presetID="22" presetClass="entr" presetSubtype="8" fill="hold" grpId="0" nodeType="withEffect">
                                  <p:stCondLst>
                                    <p:cond delay="1700"/>
                                  </p:stCondLst>
                                  <p:childTnLst>
                                    <p:set>
                                      <p:cBhvr>
                                        <p:cTn id="69" dur="1" fill="hold">
                                          <p:stCondLst>
                                            <p:cond delay="0"/>
                                          </p:stCondLst>
                                        </p:cTn>
                                        <p:tgtEl>
                                          <p:spTgt spid="52"/>
                                        </p:tgtEl>
                                        <p:attrNameLst>
                                          <p:attrName>style.visibility</p:attrName>
                                        </p:attrNameLst>
                                      </p:cBhvr>
                                      <p:to>
                                        <p:strVal val="visible"/>
                                      </p:to>
                                    </p:set>
                                    <p:animEffect transition="in" filter="wipe(left)">
                                      <p:cBhvr>
                                        <p:cTn id="70" dur="500"/>
                                        <p:tgtEl>
                                          <p:spTgt spid="52"/>
                                        </p:tgtEl>
                                      </p:cBhvr>
                                    </p:animEffect>
                                  </p:childTnLst>
                                </p:cTn>
                              </p:par>
                              <p:par>
                                <p:cTn id="74" presetID="10" presetClass="entr" presetSubtype="0" fill="hold" grpId="0" nodeType="withEffect">
                                  <p:stCondLst>
                                    <p:cond delay="1735"/>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00"/>
                                        <p:tgtEl>
                                          <p:spTgt spid="17"/>
                                        </p:tgtEl>
                                      </p:cBhvr>
                                    </p:animEffect>
                                  </p:childTnLst>
                                </p:cTn>
                              </p:par>
                              <p:par>
                                <p:cTn id="77" presetID="10" presetClass="entr" presetSubtype="0" fill="hold" grpId="0" nodeType="withEffect">
                                  <p:stCondLst>
                                    <p:cond delay="1735"/>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500"/>
                                        <p:tgtEl>
                                          <p:spTgt spid="18"/>
                                        </p:tgtEl>
                                      </p:cBhvr>
                                    </p:animEffect>
                                  </p:childTnLst>
                                </p:cTn>
                              </p:par>
                              <p:par>
                                <p:cTn id="80" presetID="10" presetClass="entr" presetSubtype="0" fill="hold" grpId="0" nodeType="withEffect">
                                  <p:stCondLst>
                                    <p:cond delay="178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childTnLst>
                                </p:cTn>
                              </p:par>
                              <p:par>
                                <p:cTn id="83" presetID="10" presetClass="entr" presetSubtype="0" fill="hold" grpId="0" nodeType="withEffect">
                                  <p:stCondLst>
                                    <p:cond delay="178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par>
                                <p:cTn id="86" presetID="10" presetClass="entr" presetSubtype="0" fill="hold" grpId="0" nodeType="withEffect">
                                  <p:stCondLst>
                                    <p:cond delay="1825"/>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par>
                                <p:cTn id="89" presetID="10" presetClass="entr" presetSubtype="0" fill="hold" grpId="0" nodeType="withEffect">
                                  <p:stCondLst>
                                    <p:cond delay="1825"/>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par>
                                <p:cTn id="92" presetID="10" presetClass="entr" presetSubtype="0" fill="hold" grpId="0" nodeType="withEffect">
                                  <p:stCondLst>
                                    <p:cond delay="187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childTnLst>
                                </p:cTn>
                              </p:par>
                              <p:par>
                                <p:cTn id="95" presetID="10" presetClass="entr" presetSubtype="0" fill="hold" grpId="0" nodeType="withEffect">
                                  <p:stCondLst>
                                    <p:cond delay="187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par>
                                <p:cTn id="98" presetID="10" presetClass="entr" presetSubtype="0" fill="hold" grpId="0" nodeType="withEffect">
                                  <p:stCondLst>
                                    <p:cond delay="1915"/>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par>
                                <p:cTn id="101" presetID="10" presetClass="entr" presetSubtype="0" fill="hold" grpId="0" nodeType="withEffect">
                                  <p:stCondLst>
                                    <p:cond delay="1915"/>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500"/>
                                        <p:tgtEl>
                                          <p:spTgt spid="26"/>
                                        </p:tgtEl>
                                      </p:cBhvr>
                                    </p:animEffect>
                                  </p:childTnLst>
                                </p:cTn>
                              </p:par>
                              <p:par>
                                <p:cTn id="104" presetID="10" presetClass="entr" presetSubtype="0" fill="hold" grpId="0" nodeType="withEffect">
                                  <p:stCondLst>
                                    <p:cond delay="196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500"/>
                                        <p:tgtEl>
                                          <p:spTgt spid="27"/>
                                        </p:tgtEl>
                                      </p:cBhvr>
                                    </p:animEffect>
                                  </p:childTnLst>
                                </p:cTn>
                              </p:par>
                              <p:par>
                                <p:cTn id="107" presetID="10" presetClass="entr" presetSubtype="0" fill="hold" grpId="0" nodeType="withEffect">
                                  <p:stCondLst>
                                    <p:cond delay="196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00"/>
                                        <p:tgtEl>
                                          <p:spTgt spid="28"/>
                                        </p:tgtEl>
                                      </p:cBhvr>
                                    </p:animEffect>
                                  </p:childTnLst>
                                </p:cTn>
                              </p:par>
                              <p:par>
                                <p:cTn id="110" presetID="22" presetClass="entr" presetSubtype="8" fill="hold" grpId="0" nodeType="withEffect">
                                  <p:stCondLst>
                                    <p:cond delay="2000"/>
                                  </p:stCondLst>
                                  <p:childTnLst>
                                    <p:set>
                                      <p:cBhvr>
                                        <p:cTn id="108" dur="1" fill="hold">
                                          <p:stCondLst>
                                            <p:cond delay="0"/>
                                          </p:stCondLst>
                                        </p:cTn>
                                        <p:tgtEl>
                                          <p:spTgt spid="53"/>
                                        </p:tgtEl>
                                        <p:attrNameLst>
                                          <p:attrName>style.visibility</p:attrName>
                                        </p:attrNameLst>
                                      </p:cBhvr>
                                      <p:to>
                                        <p:strVal val="visible"/>
                                      </p:to>
                                    </p:set>
                                    <p:animEffect transition="in" filter="wipe(left)">
                                      <p:cBhvr>
                                        <p:cTn id="109" dur="500"/>
                                        <p:tgtEl>
                                          <p:spTgt spid="53"/>
                                        </p:tgtEl>
                                      </p:cBhvr>
                                    </p:animEffect>
                                  </p:childTnLst>
                                </p:cTn>
                              </p:par>
                              <p:par>
                                <p:cTn id="113" presetID="10" presetClass="entr" presetSubtype="0" fill="hold" grpId="0" nodeType="withEffect">
                                  <p:stCondLst>
                                    <p:cond delay="2005"/>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childTnLst>
                                </p:cTn>
                              </p:par>
                              <p:par>
                                <p:cTn id="116" presetID="10" presetClass="entr" presetSubtype="0" fill="hold" grpId="0" nodeType="withEffect">
                                  <p:stCondLst>
                                    <p:cond delay="2005"/>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500"/>
                                        <p:tgtEl>
                                          <p:spTgt spid="30"/>
                                        </p:tgtEl>
                                      </p:cBhvr>
                                    </p:animEffect>
                                  </p:childTnLst>
                                </p:cTn>
                              </p:par>
                              <p:par>
                                <p:cTn id="119" presetID="10" presetClass="entr" presetSubtype="0" fill="hold" grpId="0" nodeType="withEffect">
                                  <p:stCondLst>
                                    <p:cond delay="205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00"/>
                                        <p:tgtEl>
                                          <p:spTgt spid="31"/>
                                        </p:tgtEl>
                                      </p:cBhvr>
                                    </p:animEffect>
                                  </p:childTnLst>
                                </p:cTn>
                              </p:par>
                              <p:par>
                                <p:cTn id="122" presetID="10" presetClass="entr" presetSubtype="0" fill="hold" grpId="0" nodeType="withEffect">
                                  <p:stCondLst>
                                    <p:cond delay="205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00"/>
                                        <p:tgtEl>
                                          <p:spTgt spid="32"/>
                                        </p:tgtEl>
                                      </p:cBhvr>
                                    </p:animEffect>
                                  </p:childTnLst>
                                </p:cTn>
                              </p:par>
                              <p:par>
                                <p:cTn id="125" presetID="10" presetClass="entr" presetSubtype="0" fill="hold" grpId="0" nodeType="withEffect">
                                  <p:stCondLst>
                                    <p:cond delay="2095"/>
                                  </p:stCondLst>
                                  <p:childTnLst>
                                    <p:set>
                                      <p:cBhvr>
                                        <p:cTn id="123" dur="1" fill="hold">
                                          <p:stCondLst>
                                            <p:cond delay="0"/>
                                          </p:stCondLst>
                                        </p:cTn>
                                        <p:tgtEl>
                                          <p:spTgt spid="33"/>
                                        </p:tgtEl>
                                        <p:attrNameLst>
                                          <p:attrName>style.visibility</p:attrName>
                                        </p:attrNameLst>
                                      </p:cBhvr>
                                      <p:to>
                                        <p:strVal val="visible"/>
                                      </p:to>
                                    </p:set>
                                    <p:animEffect transition="in" filter="fade">
                                      <p:cBhvr>
                                        <p:cTn id="124" dur="500"/>
                                        <p:tgtEl>
                                          <p:spTgt spid="33"/>
                                        </p:tgtEl>
                                      </p:cBhvr>
                                    </p:animEffect>
                                  </p:childTnLst>
                                </p:cTn>
                              </p:par>
                              <p:par>
                                <p:cTn id="128" presetID="10" presetClass="entr" presetSubtype="0" fill="hold" grpId="0" nodeType="withEffect">
                                  <p:stCondLst>
                                    <p:cond delay="2095"/>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500"/>
                                        <p:tgtEl>
                                          <p:spTgt spid="34"/>
                                        </p:tgtEl>
                                      </p:cBhvr>
                                    </p:animEffect>
                                  </p:childTnLst>
                                </p:cTn>
                              </p:par>
                              <p:par>
                                <p:cTn id="131" presetID="10" presetClass="entr" presetSubtype="0" fill="hold" grpId="0" nodeType="withEffect">
                                  <p:stCondLst>
                                    <p:cond delay="214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00"/>
                                        <p:tgtEl>
                                          <p:spTgt spid="35"/>
                                        </p:tgtEl>
                                      </p:cBhvr>
                                    </p:animEffect>
                                  </p:childTnLst>
                                </p:cTn>
                              </p:par>
                              <p:par>
                                <p:cTn id="134" presetID="10" presetClass="entr" presetSubtype="0" fill="hold" grpId="0" nodeType="withEffect">
                                  <p:stCondLst>
                                    <p:cond delay="2140"/>
                                  </p:stCondLst>
                                  <p:childTnLst>
                                    <p:set>
                                      <p:cBhvr>
                                        <p:cTn id="132" dur="1" fill="hold">
                                          <p:stCondLst>
                                            <p:cond delay="0"/>
                                          </p:stCondLst>
                                        </p:cTn>
                                        <p:tgtEl>
                                          <p:spTgt spid="36"/>
                                        </p:tgtEl>
                                        <p:attrNameLst>
                                          <p:attrName>style.visibility</p:attrName>
                                        </p:attrNameLst>
                                      </p:cBhvr>
                                      <p:to>
                                        <p:strVal val="visible"/>
                                      </p:to>
                                    </p:set>
                                    <p:animEffect transition="in" filter="fade">
                                      <p:cBhvr>
                                        <p:cTn id="133" dur="500"/>
                                        <p:tgtEl>
                                          <p:spTgt spid="36"/>
                                        </p:tgtEl>
                                      </p:cBhvr>
                                    </p:animEffect>
                                  </p:childTnLst>
                                </p:cTn>
                              </p:par>
                              <p:par>
                                <p:cTn id="137" presetID="10" presetClass="entr" presetSubtype="0" fill="hold" grpId="0" nodeType="withEffect">
                                  <p:stCondLst>
                                    <p:cond delay="2185"/>
                                  </p:stCondLst>
                                  <p:childTnLst>
                                    <p:set>
                                      <p:cBhvr>
                                        <p:cTn id="135" dur="1" fill="hold">
                                          <p:stCondLst>
                                            <p:cond delay="0"/>
                                          </p:stCondLst>
                                        </p:cTn>
                                        <p:tgtEl>
                                          <p:spTgt spid="37"/>
                                        </p:tgtEl>
                                        <p:attrNameLst>
                                          <p:attrName>style.visibility</p:attrName>
                                        </p:attrNameLst>
                                      </p:cBhvr>
                                      <p:to>
                                        <p:strVal val="visible"/>
                                      </p:to>
                                    </p:set>
                                    <p:animEffect transition="in" filter="fade">
                                      <p:cBhvr>
                                        <p:cTn id="136" dur="500"/>
                                        <p:tgtEl>
                                          <p:spTgt spid="37"/>
                                        </p:tgtEl>
                                      </p:cBhvr>
                                    </p:animEffect>
                                  </p:childTnLst>
                                </p:cTn>
                              </p:par>
                              <p:par>
                                <p:cTn id="140" presetID="10" presetClass="entr" presetSubtype="0" fill="hold" grpId="0" nodeType="withEffect">
                                  <p:stCondLst>
                                    <p:cond delay="2185"/>
                                  </p:stCondLst>
                                  <p:childTnLst>
                                    <p:set>
                                      <p:cBhvr>
                                        <p:cTn id="138" dur="1" fill="hold">
                                          <p:stCondLst>
                                            <p:cond delay="0"/>
                                          </p:stCondLst>
                                        </p:cTn>
                                        <p:tgtEl>
                                          <p:spTgt spid="38"/>
                                        </p:tgtEl>
                                        <p:attrNameLst>
                                          <p:attrName>style.visibility</p:attrName>
                                        </p:attrNameLst>
                                      </p:cBhvr>
                                      <p:to>
                                        <p:strVal val="visible"/>
                                      </p:to>
                                    </p:set>
                                    <p:animEffect transition="in" filter="fade">
                                      <p:cBhvr>
                                        <p:cTn id="139" dur="500"/>
                                        <p:tgtEl>
                                          <p:spTgt spid="38"/>
                                        </p:tgtEl>
                                      </p:cBhvr>
                                    </p:animEffect>
                                  </p:childTnLst>
                                </p:cTn>
                              </p:par>
                              <p:par>
                                <p:cTn id="143" presetID="10" presetClass="entr" presetSubtype="0" fill="hold" grpId="0" nodeType="withEffect">
                                  <p:stCondLst>
                                    <p:cond delay="2230"/>
                                  </p:stCondLst>
                                  <p:childTnLst>
                                    <p:set>
                                      <p:cBhvr>
                                        <p:cTn id="141" dur="1" fill="hold">
                                          <p:stCondLst>
                                            <p:cond delay="0"/>
                                          </p:stCondLst>
                                        </p:cTn>
                                        <p:tgtEl>
                                          <p:spTgt spid="39"/>
                                        </p:tgtEl>
                                        <p:attrNameLst>
                                          <p:attrName>style.visibility</p:attrName>
                                        </p:attrNameLst>
                                      </p:cBhvr>
                                      <p:to>
                                        <p:strVal val="visible"/>
                                      </p:to>
                                    </p:set>
                                    <p:animEffect transition="in" filter="fade">
                                      <p:cBhvr>
                                        <p:cTn id="142" dur="500"/>
                                        <p:tgtEl>
                                          <p:spTgt spid="39"/>
                                        </p:tgtEl>
                                      </p:cBhvr>
                                    </p:animEffect>
                                  </p:childTnLst>
                                </p:cTn>
                              </p:par>
                              <p:par>
                                <p:cTn id="146" presetID="10" presetClass="entr" presetSubtype="0" fill="hold" grpId="0" nodeType="withEffect">
                                  <p:stCondLst>
                                    <p:cond delay="2230"/>
                                  </p:stCondLst>
                                  <p:childTnLst>
                                    <p:set>
                                      <p:cBhvr>
                                        <p:cTn id="144" dur="1" fill="hold">
                                          <p:stCondLst>
                                            <p:cond delay="0"/>
                                          </p:stCondLst>
                                        </p:cTn>
                                        <p:tgtEl>
                                          <p:spTgt spid="40"/>
                                        </p:tgtEl>
                                        <p:attrNameLst>
                                          <p:attrName>style.visibility</p:attrName>
                                        </p:attrNameLst>
                                      </p:cBhvr>
                                      <p:to>
                                        <p:strVal val="visible"/>
                                      </p:to>
                                    </p:set>
                                    <p:animEffect transition="in" filter="fade">
                                      <p:cBhvr>
                                        <p:cTn id="145" dur="500"/>
                                        <p:tgtEl>
                                          <p:spTgt spid="40"/>
                                        </p:tgtEl>
                                      </p:cBhvr>
                                    </p:animEffect>
                                  </p:childTnLst>
                                </p:cTn>
                              </p:par>
                              <p:par>
                                <p:cTn id="149" presetID="10" presetClass="entr" presetSubtype="0" fill="hold" grpId="0" nodeType="withEffect">
                                  <p:stCondLst>
                                    <p:cond delay="2275"/>
                                  </p:stCondLst>
                                  <p:childTnLst>
                                    <p:set>
                                      <p:cBhvr>
                                        <p:cTn id="147" dur="1" fill="hold">
                                          <p:stCondLst>
                                            <p:cond delay="0"/>
                                          </p:stCondLst>
                                        </p:cTn>
                                        <p:tgtEl>
                                          <p:spTgt spid="41"/>
                                        </p:tgtEl>
                                        <p:attrNameLst>
                                          <p:attrName>style.visibility</p:attrName>
                                        </p:attrNameLst>
                                      </p:cBhvr>
                                      <p:to>
                                        <p:strVal val="visible"/>
                                      </p:to>
                                    </p:set>
                                    <p:animEffect transition="in" filter="fade">
                                      <p:cBhvr>
                                        <p:cTn id="148" dur="500"/>
                                        <p:tgtEl>
                                          <p:spTgt spid="41"/>
                                        </p:tgtEl>
                                      </p:cBhvr>
                                    </p:animEffect>
                                  </p:childTnLst>
                                </p:cTn>
                              </p:par>
                              <p:par>
                                <p:cTn id="152" presetID="10" presetClass="entr" presetSubtype="0" fill="hold" grpId="0" nodeType="withEffect">
                                  <p:stCondLst>
                                    <p:cond delay="2275"/>
                                  </p:stCondLst>
                                  <p:childTnLst>
                                    <p:set>
                                      <p:cBhvr>
                                        <p:cTn id="150" dur="1" fill="hold">
                                          <p:stCondLst>
                                            <p:cond delay="0"/>
                                          </p:stCondLst>
                                        </p:cTn>
                                        <p:tgtEl>
                                          <p:spTgt spid="42"/>
                                        </p:tgtEl>
                                        <p:attrNameLst>
                                          <p:attrName>style.visibility</p:attrName>
                                        </p:attrNameLst>
                                      </p:cBhvr>
                                      <p:to>
                                        <p:strVal val="visible"/>
                                      </p:to>
                                    </p:set>
                                    <p:animEffect transition="in" filter="fade">
                                      <p:cBhvr>
                                        <p:cTn id="151" dur="500"/>
                                        <p:tgtEl>
                                          <p:spTgt spid="42"/>
                                        </p:tgtEl>
                                      </p:cBhvr>
                                    </p:animEffect>
                                  </p:childTnLst>
                                </p:cTn>
                              </p:par>
                              <p:par>
                                <p:cTn id="155" presetID="10" presetClass="entr" presetSubtype="0" fill="hold" grpId="0" nodeType="withEffect">
                                  <p:stCondLst>
                                    <p:cond delay="230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500"/>
                                        <p:tgtEl>
                                          <p:spTgt spid="54"/>
                                        </p:tgtEl>
                                      </p:cBhvr>
                                    </p:animEffect>
                                  </p:childTnLst>
                                </p:cTn>
                              </p:par>
                              <p:par>
                                <p:cTn id="158" presetID="10" presetClass="entr" presetSubtype="0" fill="hold" grpId="0" nodeType="withEffect">
                                  <p:stCondLst>
                                    <p:cond delay="2320"/>
                                  </p:stCondLst>
                                  <p:childTnLst>
                                    <p:set>
                                      <p:cBhvr>
                                        <p:cTn id="156" dur="1" fill="hold">
                                          <p:stCondLst>
                                            <p:cond delay="0"/>
                                          </p:stCondLst>
                                        </p:cTn>
                                        <p:tgtEl>
                                          <p:spTgt spid="43"/>
                                        </p:tgtEl>
                                        <p:attrNameLst>
                                          <p:attrName>style.visibility</p:attrName>
                                        </p:attrNameLst>
                                      </p:cBhvr>
                                      <p:to>
                                        <p:strVal val="visible"/>
                                      </p:to>
                                    </p:set>
                                    <p:animEffect transition="in" filter="fade">
                                      <p:cBhvr>
                                        <p:cTn id="157" dur="500"/>
                                        <p:tgtEl>
                                          <p:spTgt spid="43"/>
                                        </p:tgtEl>
                                      </p:cBhvr>
                                    </p:animEffect>
                                  </p:childTnLst>
                                </p:cTn>
                              </p:par>
                              <p:par>
                                <p:cTn id="161" presetID="10" presetClass="entr" presetSubtype="0" fill="hold" grpId="0" nodeType="withEffect">
                                  <p:stCondLst>
                                    <p:cond delay="2320"/>
                                  </p:stCondLst>
                                  <p:childTnLst>
                                    <p:set>
                                      <p:cBhvr>
                                        <p:cTn id="159" dur="1" fill="hold">
                                          <p:stCondLst>
                                            <p:cond delay="0"/>
                                          </p:stCondLst>
                                        </p:cTn>
                                        <p:tgtEl>
                                          <p:spTgt spid="44"/>
                                        </p:tgtEl>
                                        <p:attrNameLst>
                                          <p:attrName>style.visibility</p:attrName>
                                        </p:attrNameLst>
                                      </p:cBhvr>
                                      <p:to>
                                        <p:strVal val="visible"/>
                                      </p:to>
                                    </p:set>
                                    <p:animEffect transition="in" filter="fade">
                                      <p:cBhvr>
                                        <p:cTn id="160" dur="500"/>
                                        <p:tgtEl>
                                          <p:spTgt spid="44"/>
                                        </p:tgtEl>
                                      </p:cBhvr>
                                    </p:animEffect>
                                  </p:childTnLst>
                                </p:cTn>
                              </p:par>
                              <p:par>
                                <p:cTn id="164" presetID="10" presetClass="entr" presetSubtype="0" fill="hold" grpId="0" nodeType="withEffect">
                                  <p:stCondLst>
                                    <p:cond delay="2365"/>
                                  </p:stCondLst>
                                  <p:childTnLst>
                                    <p:set>
                                      <p:cBhvr>
                                        <p:cTn id="162" dur="1" fill="hold">
                                          <p:stCondLst>
                                            <p:cond delay="0"/>
                                          </p:stCondLst>
                                        </p:cTn>
                                        <p:tgtEl>
                                          <p:spTgt spid="45"/>
                                        </p:tgtEl>
                                        <p:attrNameLst>
                                          <p:attrName>style.visibility</p:attrName>
                                        </p:attrNameLst>
                                      </p:cBhvr>
                                      <p:to>
                                        <p:strVal val="visible"/>
                                      </p:to>
                                    </p:set>
                                    <p:animEffect transition="in" filter="fade">
                                      <p:cBhvr>
                                        <p:cTn id="163" dur="500"/>
                                        <p:tgtEl>
                                          <p:spTgt spid="45"/>
                                        </p:tgtEl>
                                      </p:cBhvr>
                                    </p:animEffect>
                                  </p:childTnLst>
                                </p:cTn>
                              </p:par>
                              <p:par>
                                <p:cTn id="167" presetID="10" presetClass="entr" presetSubtype="0" fill="hold" grpId="0" nodeType="withEffect">
                                  <p:stCondLst>
                                    <p:cond delay="2365"/>
                                  </p:stCondLst>
                                  <p:childTnLst>
                                    <p:set>
                                      <p:cBhvr>
                                        <p:cTn id="165" dur="1" fill="hold">
                                          <p:stCondLst>
                                            <p:cond delay="0"/>
                                          </p:stCondLst>
                                        </p:cTn>
                                        <p:tgtEl>
                                          <p:spTgt spid="46"/>
                                        </p:tgtEl>
                                        <p:attrNameLst>
                                          <p:attrName>style.visibility</p:attrName>
                                        </p:attrNameLst>
                                      </p:cBhvr>
                                      <p:to>
                                        <p:strVal val="visible"/>
                                      </p:to>
                                    </p:set>
                                    <p:animEffect transition="in" filter="fade">
                                      <p:cBhvr>
                                        <p:cTn id="166" dur="500"/>
                                        <p:tgtEl>
                                          <p:spTgt spid="46"/>
                                        </p:tgtEl>
                                      </p:cBhvr>
                                    </p:animEffect>
                                  </p:childTnLst>
                                </p:cTn>
                              </p:par>
                              <p:par>
                                <p:cTn id="170" presetID="10" presetClass="entr" presetSubtype="0" fill="hold" grpId="0" nodeType="withEffect">
                                  <p:stCondLst>
                                    <p:cond delay="2410"/>
                                  </p:stCondLst>
                                  <p:childTnLst>
                                    <p:set>
                                      <p:cBhvr>
                                        <p:cTn id="168" dur="1" fill="hold">
                                          <p:stCondLst>
                                            <p:cond delay="0"/>
                                          </p:stCondLst>
                                        </p:cTn>
                                        <p:tgtEl>
                                          <p:spTgt spid="47"/>
                                        </p:tgtEl>
                                        <p:attrNameLst>
                                          <p:attrName>style.visibility</p:attrName>
                                        </p:attrNameLst>
                                      </p:cBhvr>
                                      <p:to>
                                        <p:strVal val="visible"/>
                                      </p:to>
                                    </p:set>
                                    <p:animEffect transition="in" filter="fade">
                                      <p:cBhvr>
                                        <p:cTn id="16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In a Database, Data Lives in Tables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network of smart thermostats, stored the traditional way</a:t>
            </a:r>
          </a:p>
        </p:txBody>
      </p:sp>
      <p:sp>
        <p:nvSpPr>
          <p:cNvPr id="11" name="a1f_tl10"/>
          <p:cNvSpPr txBox="1"/>
          <p:nvPr/>
        </p:nvSpPr>
        <p:spPr>
          <a:xfrm>
            <a:off x="457200" y="1280160"/>
            <a:ext cx="4846320" cy="219456"/>
          </a:xfrm>
          <a:prstGeom prst="rect">
            <a:avLst/>
          </a:prstGeom>
          <a:noFill/>
        </p:spPr>
        <p:txBody>
          <a:bodyPr wrap="square" lIns="0" tIns="0" rIns="0" bIns="0" anchor="ctr">
            <a:spAutoFit/>
          </a:bodyPr>
          <a:lstStyle/>
          <a:p>
            <a:pPr algn="l"/>
            <a:r>
              <a:rPr sz="1000" b="1">
                <a:solidFill>
                  <a:srgbClr val="C2410C"/>
                </a:solidFill>
                <a:latin typeface="Segoe UI"/>
              </a:rPr>
              <a:t>thermostat_readings</a:t>
            </a:r>
          </a:p>
        </p:txBody>
      </p:sp>
      <p:sp>
        <p:nvSpPr>
          <p:cNvPr id="12" name="a1f_th11"/>
          <p:cNvSpPr/>
          <p:nvPr/>
        </p:nvSpPr>
        <p:spPr>
          <a:xfrm>
            <a:off x="457200" y="1554480"/>
            <a:ext cx="91440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f_tht12"/>
          <p:cNvSpPr txBox="1"/>
          <p:nvPr/>
        </p:nvSpPr>
        <p:spPr>
          <a:xfrm>
            <a:off x="530352" y="1554480"/>
            <a:ext cx="804672" cy="310896"/>
          </a:xfrm>
          <a:prstGeom prst="rect">
            <a:avLst/>
          </a:prstGeom>
          <a:noFill/>
        </p:spPr>
        <p:txBody>
          <a:bodyPr wrap="square" lIns="0" tIns="0" rIns="0" bIns="0" anchor="ctr">
            <a:spAutoFit/>
          </a:bodyPr>
          <a:lstStyle/>
          <a:p>
            <a:pPr algn="l"/>
            <a:r>
              <a:rPr sz="950" b="1">
                <a:solidFill>
                  <a:srgbClr val="FFFFFF"/>
                </a:solidFill>
                <a:latin typeface="Consolas"/>
              </a:rPr>
              <a:t>sensor_id</a:t>
            </a:r>
          </a:p>
        </p:txBody>
      </p:sp>
      <p:sp>
        <p:nvSpPr>
          <p:cNvPr id="14" name="a1wd120_td13"/>
          <p:cNvSpPr/>
          <p:nvPr/>
        </p:nvSpPr>
        <p:spPr>
          <a:xfrm>
            <a:off x="457200" y="1865376"/>
            <a:ext cx="9144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120_tdt14"/>
          <p:cNvSpPr txBox="1"/>
          <p:nvPr/>
        </p:nvSpPr>
        <p:spPr>
          <a:xfrm>
            <a:off x="530352" y="1865376"/>
            <a:ext cx="804672" cy="310896"/>
          </a:xfrm>
          <a:prstGeom prst="rect">
            <a:avLst/>
          </a:prstGeom>
          <a:noFill/>
        </p:spPr>
        <p:txBody>
          <a:bodyPr wrap="square" lIns="0" tIns="0" rIns="0" bIns="0" anchor="ctr">
            <a:spAutoFit/>
          </a:bodyPr>
          <a:lstStyle/>
          <a:p>
            <a:pPr algn="l"/>
            <a:r>
              <a:rPr sz="950" b="0">
                <a:solidFill>
                  <a:srgbClr val="44403C"/>
                </a:solidFill>
                <a:latin typeface="Consolas"/>
              </a:rPr>
              <a:t>42</a:t>
            </a:r>
          </a:p>
        </p:txBody>
      </p:sp>
      <p:sp>
        <p:nvSpPr>
          <p:cNvPr id="16" name="a1wd240_td15"/>
          <p:cNvSpPr/>
          <p:nvPr/>
        </p:nvSpPr>
        <p:spPr>
          <a:xfrm>
            <a:off x="457200" y="2176272"/>
            <a:ext cx="91440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240_tdt16"/>
          <p:cNvSpPr txBox="1"/>
          <p:nvPr/>
        </p:nvSpPr>
        <p:spPr>
          <a:xfrm>
            <a:off x="530352" y="2176272"/>
            <a:ext cx="804672" cy="310896"/>
          </a:xfrm>
          <a:prstGeom prst="rect">
            <a:avLst/>
          </a:prstGeom>
          <a:noFill/>
        </p:spPr>
        <p:txBody>
          <a:bodyPr wrap="square" lIns="0" tIns="0" rIns="0" bIns="0" anchor="ctr">
            <a:spAutoFit/>
          </a:bodyPr>
          <a:lstStyle/>
          <a:p>
            <a:pPr algn="l"/>
            <a:r>
              <a:rPr sz="950" b="0">
                <a:solidFill>
                  <a:srgbClr val="44403C"/>
                </a:solidFill>
                <a:latin typeface="Consolas"/>
              </a:rPr>
              <a:t>43</a:t>
            </a:r>
          </a:p>
        </p:txBody>
      </p:sp>
      <p:sp>
        <p:nvSpPr>
          <p:cNvPr id="18" name="a1wd360_td17"/>
          <p:cNvSpPr/>
          <p:nvPr/>
        </p:nvSpPr>
        <p:spPr>
          <a:xfrm>
            <a:off x="457200" y="2487168"/>
            <a:ext cx="9144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360_tdt18"/>
          <p:cNvSpPr txBox="1"/>
          <p:nvPr/>
        </p:nvSpPr>
        <p:spPr>
          <a:xfrm>
            <a:off x="530352" y="2487168"/>
            <a:ext cx="804672" cy="310896"/>
          </a:xfrm>
          <a:prstGeom prst="rect">
            <a:avLst/>
          </a:prstGeom>
          <a:noFill/>
        </p:spPr>
        <p:txBody>
          <a:bodyPr wrap="square" lIns="0" tIns="0" rIns="0" bIns="0" anchor="ctr">
            <a:spAutoFit/>
          </a:bodyPr>
          <a:lstStyle/>
          <a:p>
            <a:pPr algn="l"/>
            <a:r>
              <a:rPr sz="950" b="0">
                <a:solidFill>
                  <a:srgbClr val="44403C"/>
                </a:solidFill>
                <a:latin typeface="Consolas"/>
              </a:rPr>
              <a:t>44</a:t>
            </a:r>
          </a:p>
        </p:txBody>
      </p:sp>
      <p:sp>
        <p:nvSpPr>
          <p:cNvPr id="20" name="a1f_th19"/>
          <p:cNvSpPr/>
          <p:nvPr/>
        </p:nvSpPr>
        <p:spPr>
          <a:xfrm>
            <a:off x="1371600" y="1554480"/>
            <a:ext cx="114300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f_tht20"/>
          <p:cNvSpPr txBox="1"/>
          <p:nvPr/>
        </p:nvSpPr>
        <p:spPr>
          <a:xfrm>
            <a:off x="1444752" y="1554480"/>
            <a:ext cx="1033271" cy="310896"/>
          </a:xfrm>
          <a:prstGeom prst="rect">
            <a:avLst/>
          </a:prstGeom>
          <a:noFill/>
        </p:spPr>
        <p:txBody>
          <a:bodyPr wrap="square" lIns="0" tIns="0" rIns="0" bIns="0" anchor="ctr">
            <a:spAutoFit/>
          </a:bodyPr>
          <a:lstStyle/>
          <a:p>
            <a:pPr algn="l"/>
            <a:r>
              <a:rPr sz="850" b="1">
                <a:solidFill>
                  <a:srgbClr val="FFFFFF"/>
                </a:solidFill>
                <a:latin typeface="Segoe UI"/>
              </a:rPr>
              <a:t>location</a:t>
            </a:r>
          </a:p>
        </p:txBody>
      </p:sp>
      <p:sp>
        <p:nvSpPr>
          <p:cNvPr id="22" name="a1wd120_td21"/>
          <p:cNvSpPr/>
          <p:nvPr/>
        </p:nvSpPr>
        <p:spPr>
          <a:xfrm>
            <a:off x="1371600" y="1865376"/>
            <a:ext cx="11430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120_tdt22"/>
          <p:cNvSpPr txBox="1"/>
          <p:nvPr/>
        </p:nvSpPr>
        <p:spPr>
          <a:xfrm>
            <a:off x="1444752" y="1865376"/>
            <a:ext cx="1033271" cy="310896"/>
          </a:xfrm>
          <a:prstGeom prst="rect">
            <a:avLst/>
          </a:prstGeom>
          <a:noFill/>
        </p:spPr>
        <p:txBody>
          <a:bodyPr wrap="square" lIns="0" tIns="0" rIns="0" bIns="0" anchor="ctr">
            <a:spAutoFit/>
          </a:bodyPr>
          <a:lstStyle/>
          <a:p>
            <a:pPr algn="l"/>
            <a:r>
              <a:rPr sz="850" b="0">
                <a:solidFill>
                  <a:srgbClr val="44403C"/>
                </a:solidFill>
                <a:latin typeface="Segoe UI"/>
              </a:rPr>
              <a:t>kitchen</a:t>
            </a:r>
          </a:p>
        </p:txBody>
      </p:sp>
      <p:sp>
        <p:nvSpPr>
          <p:cNvPr id="24" name="a1wd240_td23"/>
          <p:cNvSpPr/>
          <p:nvPr/>
        </p:nvSpPr>
        <p:spPr>
          <a:xfrm>
            <a:off x="1371600" y="2176272"/>
            <a:ext cx="114300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240_tdt24"/>
          <p:cNvSpPr txBox="1"/>
          <p:nvPr/>
        </p:nvSpPr>
        <p:spPr>
          <a:xfrm>
            <a:off x="1444752" y="2176272"/>
            <a:ext cx="1033271" cy="310896"/>
          </a:xfrm>
          <a:prstGeom prst="rect">
            <a:avLst/>
          </a:prstGeom>
          <a:noFill/>
        </p:spPr>
        <p:txBody>
          <a:bodyPr wrap="square" lIns="0" tIns="0" rIns="0" bIns="0" anchor="ctr">
            <a:spAutoFit/>
          </a:bodyPr>
          <a:lstStyle/>
          <a:p>
            <a:pPr algn="l"/>
            <a:r>
              <a:rPr sz="850" b="0">
                <a:solidFill>
                  <a:srgbClr val="44403C"/>
                </a:solidFill>
                <a:latin typeface="Segoe UI"/>
              </a:rPr>
              <a:t>bedroom</a:t>
            </a:r>
          </a:p>
        </p:txBody>
      </p:sp>
      <p:sp>
        <p:nvSpPr>
          <p:cNvPr id="26" name="a1wd360_td25"/>
          <p:cNvSpPr/>
          <p:nvPr/>
        </p:nvSpPr>
        <p:spPr>
          <a:xfrm>
            <a:off x="1371600" y="2487168"/>
            <a:ext cx="11430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360_tdt26"/>
          <p:cNvSpPr txBox="1"/>
          <p:nvPr/>
        </p:nvSpPr>
        <p:spPr>
          <a:xfrm>
            <a:off x="1444752" y="2487168"/>
            <a:ext cx="1033271" cy="310896"/>
          </a:xfrm>
          <a:prstGeom prst="rect">
            <a:avLst/>
          </a:prstGeom>
          <a:noFill/>
        </p:spPr>
        <p:txBody>
          <a:bodyPr wrap="square" lIns="0" tIns="0" rIns="0" bIns="0" anchor="ctr">
            <a:spAutoFit/>
          </a:bodyPr>
          <a:lstStyle/>
          <a:p>
            <a:pPr algn="l"/>
            <a:r>
              <a:rPr sz="850" b="0">
                <a:solidFill>
                  <a:srgbClr val="44403C"/>
                </a:solidFill>
                <a:latin typeface="Segoe UI"/>
              </a:rPr>
              <a:t>hallway</a:t>
            </a:r>
          </a:p>
        </p:txBody>
      </p:sp>
      <p:sp>
        <p:nvSpPr>
          <p:cNvPr id="28" name="a1f_th27"/>
          <p:cNvSpPr/>
          <p:nvPr/>
        </p:nvSpPr>
        <p:spPr>
          <a:xfrm>
            <a:off x="2514600" y="1554480"/>
            <a:ext cx="128016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f_tht28"/>
          <p:cNvSpPr txBox="1"/>
          <p:nvPr/>
        </p:nvSpPr>
        <p:spPr>
          <a:xfrm>
            <a:off x="2587752" y="1554480"/>
            <a:ext cx="1170431" cy="310896"/>
          </a:xfrm>
          <a:prstGeom prst="rect">
            <a:avLst/>
          </a:prstGeom>
          <a:noFill/>
        </p:spPr>
        <p:txBody>
          <a:bodyPr wrap="square" lIns="0" tIns="0" rIns="0" bIns="0" anchor="ctr">
            <a:spAutoFit/>
          </a:bodyPr>
          <a:lstStyle/>
          <a:p>
            <a:pPr algn="l"/>
            <a:r>
              <a:rPr sz="850" b="1">
                <a:solidFill>
                  <a:srgbClr val="FFFFFF"/>
                </a:solidFill>
                <a:latin typeface="Segoe UI"/>
              </a:rPr>
              <a:t>temperature (°C)</a:t>
            </a:r>
          </a:p>
        </p:txBody>
      </p:sp>
      <p:sp>
        <p:nvSpPr>
          <p:cNvPr id="30" name="a1wd120_td29"/>
          <p:cNvSpPr/>
          <p:nvPr/>
        </p:nvSpPr>
        <p:spPr>
          <a:xfrm>
            <a:off x="2514600" y="1865376"/>
            <a:ext cx="12801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120_tdt30"/>
          <p:cNvSpPr txBox="1"/>
          <p:nvPr/>
        </p:nvSpPr>
        <p:spPr>
          <a:xfrm>
            <a:off x="2587752" y="1865376"/>
            <a:ext cx="1170431" cy="310896"/>
          </a:xfrm>
          <a:prstGeom prst="rect">
            <a:avLst/>
          </a:prstGeom>
          <a:noFill/>
        </p:spPr>
        <p:txBody>
          <a:bodyPr wrap="square" lIns="0" tIns="0" rIns="0" bIns="0" anchor="ctr">
            <a:spAutoFit/>
          </a:bodyPr>
          <a:lstStyle/>
          <a:p>
            <a:pPr algn="l"/>
            <a:r>
              <a:rPr sz="850" b="0">
                <a:solidFill>
                  <a:srgbClr val="44403C"/>
                </a:solidFill>
                <a:latin typeface="Segoe UI"/>
              </a:rPr>
              <a:t>22</a:t>
            </a:r>
          </a:p>
        </p:txBody>
      </p:sp>
      <p:sp>
        <p:nvSpPr>
          <p:cNvPr id="32" name="a1wd240_td31"/>
          <p:cNvSpPr/>
          <p:nvPr/>
        </p:nvSpPr>
        <p:spPr>
          <a:xfrm>
            <a:off x="2514600" y="2176272"/>
            <a:ext cx="128016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wd240_tdt32"/>
          <p:cNvSpPr txBox="1"/>
          <p:nvPr/>
        </p:nvSpPr>
        <p:spPr>
          <a:xfrm>
            <a:off x="2587752" y="2176272"/>
            <a:ext cx="1170431" cy="310896"/>
          </a:xfrm>
          <a:prstGeom prst="rect">
            <a:avLst/>
          </a:prstGeom>
          <a:noFill/>
        </p:spPr>
        <p:txBody>
          <a:bodyPr wrap="square" lIns="0" tIns="0" rIns="0" bIns="0" anchor="ctr">
            <a:spAutoFit/>
          </a:bodyPr>
          <a:lstStyle/>
          <a:p>
            <a:pPr algn="l"/>
            <a:r>
              <a:rPr sz="850" b="0">
                <a:solidFill>
                  <a:srgbClr val="44403C"/>
                </a:solidFill>
                <a:latin typeface="Segoe UI"/>
              </a:rPr>
              <a:t>21</a:t>
            </a:r>
          </a:p>
        </p:txBody>
      </p:sp>
      <p:sp>
        <p:nvSpPr>
          <p:cNvPr id="34" name="a1wd360_td33"/>
          <p:cNvSpPr/>
          <p:nvPr/>
        </p:nvSpPr>
        <p:spPr>
          <a:xfrm>
            <a:off x="2514600" y="2487168"/>
            <a:ext cx="12801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wd360_tdt34"/>
          <p:cNvSpPr txBox="1"/>
          <p:nvPr/>
        </p:nvSpPr>
        <p:spPr>
          <a:xfrm>
            <a:off x="2587752" y="2487168"/>
            <a:ext cx="1170431" cy="310896"/>
          </a:xfrm>
          <a:prstGeom prst="rect">
            <a:avLst/>
          </a:prstGeom>
          <a:noFill/>
        </p:spPr>
        <p:txBody>
          <a:bodyPr wrap="square" lIns="0" tIns="0" rIns="0" bIns="0" anchor="ctr">
            <a:spAutoFit/>
          </a:bodyPr>
          <a:lstStyle/>
          <a:p>
            <a:pPr algn="l"/>
            <a:r>
              <a:rPr sz="850" b="0">
                <a:solidFill>
                  <a:srgbClr val="44403C"/>
                </a:solidFill>
                <a:latin typeface="Segoe UI"/>
              </a:rPr>
              <a:t>20</a:t>
            </a:r>
          </a:p>
        </p:txBody>
      </p:sp>
      <p:sp>
        <p:nvSpPr>
          <p:cNvPr id="36" name="a1f_th35"/>
          <p:cNvSpPr/>
          <p:nvPr/>
        </p:nvSpPr>
        <p:spPr>
          <a:xfrm>
            <a:off x="3794760" y="1554480"/>
            <a:ext cx="150876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f_tht36"/>
          <p:cNvSpPr txBox="1"/>
          <p:nvPr/>
        </p:nvSpPr>
        <p:spPr>
          <a:xfrm>
            <a:off x="3867912" y="1554480"/>
            <a:ext cx="1399031" cy="310896"/>
          </a:xfrm>
          <a:prstGeom prst="rect">
            <a:avLst/>
          </a:prstGeom>
          <a:noFill/>
        </p:spPr>
        <p:txBody>
          <a:bodyPr wrap="square" lIns="0" tIns="0" rIns="0" bIns="0" anchor="ctr">
            <a:spAutoFit/>
          </a:bodyPr>
          <a:lstStyle/>
          <a:p>
            <a:pPr algn="l"/>
            <a:r>
              <a:rPr sz="950" b="1">
                <a:solidFill>
                  <a:srgbClr val="FFFFFF"/>
                </a:solidFill>
                <a:latin typeface="Consolas"/>
              </a:rPr>
              <a:t>read_at</a:t>
            </a:r>
          </a:p>
        </p:txBody>
      </p:sp>
      <p:sp>
        <p:nvSpPr>
          <p:cNvPr id="38" name="a1wd120_td37"/>
          <p:cNvSpPr/>
          <p:nvPr/>
        </p:nvSpPr>
        <p:spPr>
          <a:xfrm>
            <a:off x="3794760" y="1865376"/>
            <a:ext cx="15087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1wd120_tdt38"/>
          <p:cNvSpPr txBox="1"/>
          <p:nvPr/>
        </p:nvSpPr>
        <p:spPr>
          <a:xfrm>
            <a:off x="3867912" y="1865376"/>
            <a:ext cx="1399031" cy="310896"/>
          </a:xfrm>
          <a:prstGeom prst="rect">
            <a:avLst/>
          </a:prstGeom>
          <a:noFill/>
        </p:spPr>
        <p:txBody>
          <a:bodyPr wrap="square" lIns="0" tIns="0" rIns="0" bIns="0" anchor="ctr">
            <a:spAutoFit/>
          </a:bodyPr>
          <a:lstStyle/>
          <a:p>
            <a:pPr algn="l"/>
            <a:r>
              <a:rPr sz="950" b="0">
                <a:solidFill>
                  <a:srgbClr val="44403C"/>
                </a:solidFill>
                <a:latin typeface="Consolas"/>
              </a:rPr>
              <a:t>09:00:00</a:t>
            </a:r>
          </a:p>
        </p:txBody>
      </p:sp>
      <p:sp>
        <p:nvSpPr>
          <p:cNvPr id="40" name="a1wd240_td39"/>
          <p:cNvSpPr/>
          <p:nvPr/>
        </p:nvSpPr>
        <p:spPr>
          <a:xfrm>
            <a:off x="3794760" y="2176272"/>
            <a:ext cx="150876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1wd240_tdt40"/>
          <p:cNvSpPr txBox="1"/>
          <p:nvPr/>
        </p:nvSpPr>
        <p:spPr>
          <a:xfrm>
            <a:off x="3867912" y="2176272"/>
            <a:ext cx="1399031" cy="310896"/>
          </a:xfrm>
          <a:prstGeom prst="rect">
            <a:avLst/>
          </a:prstGeom>
          <a:noFill/>
        </p:spPr>
        <p:txBody>
          <a:bodyPr wrap="square" lIns="0" tIns="0" rIns="0" bIns="0" anchor="ctr">
            <a:spAutoFit/>
          </a:bodyPr>
          <a:lstStyle/>
          <a:p>
            <a:pPr algn="l"/>
            <a:r>
              <a:rPr sz="950" b="0">
                <a:solidFill>
                  <a:srgbClr val="44403C"/>
                </a:solidFill>
                <a:latin typeface="Consolas"/>
              </a:rPr>
              <a:t>09:00:02</a:t>
            </a:r>
          </a:p>
        </p:txBody>
      </p:sp>
      <p:sp>
        <p:nvSpPr>
          <p:cNvPr id="42" name="a1wd360_td41"/>
          <p:cNvSpPr/>
          <p:nvPr/>
        </p:nvSpPr>
        <p:spPr>
          <a:xfrm>
            <a:off x="3794760" y="2487168"/>
            <a:ext cx="15087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wd360_tdt42"/>
          <p:cNvSpPr txBox="1"/>
          <p:nvPr/>
        </p:nvSpPr>
        <p:spPr>
          <a:xfrm>
            <a:off x="3867912" y="2487168"/>
            <a:ext cx="1399031" cy="310896"/>
          </a:xfrm>
          <a:prstGeom prst="rect">
            <a:avLst/>
          </a:prstGeom>
          <a:noFill/>
        </p:spPr>
        <p:txBody>
          <a:bodyPr wrap="square" lIns="0" tIns="0" rIns="0" bIns="0" anchor="ctr">
            <a:spAutoFit/>
          </a:bodyPr>
          <a:lstStyle/>
          <a:p>
            <a:pPr algn="l"/>
            <a:r>
              <a:rPr sz="950" b="0">
                <a:solidFill>
                  <a:srgbClr val="44403C"/>
                </a:solidFill>
                <a:latin typeface="Consolas"/>
              </a:rPr>
              <a:t>09:00:04</a:t>
            </a:r>
          </a:p>
        </p:txBody>
      </p:sp>
      <p:sp>
        <p:nvSpPr>
          <p:cNvPr id="44" name="a2wd300_tr43"/>
          <p:cNvSpPr/>
          <p:nvPr/>
        </p:nvSpPr>
        <p:spPr>
          <a:xfrm>
            <a:off x="457200" y="2798064"/>
            <a:ext cx="914400" cy="310896"/>
          </a:xfrm>
          <a:prstGeom prst="rect">
            <a:avLst/>
          </a:prstGeom>
          <a:solidFill>
            <a:srgbClr val="DCFCE7"/>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2wd300_trt44"/>
          <p:cNvSpPr txBox="1"/>
          <p:nvPr/>
        </p:nvSpPr>
        <p:spPr>
          <a:xfrm>
            <a:off x="530352" y="2798064"/>
            <a:ext cx="804672" cy="310896"/>
          </a:xfrm>
          <a:prstGeom prst="rect">
            <a:avLst/>
          </a:prstGeom>
          <a:noFill/>
        </p:spPr>
        <p:txBody>
          <a:bodyPr wrap="square" lIns="0" tIns="0" rIns="0" bIns="0" anchor="ctr">
            <a:spAutoFit/>
          </a:bodyPr>
          <a:lstStyle/>
          <a:p>
            <a:pPr algn="l"/>
            <a:r>
              <a:rPr sz="950" b="1">
                <a:solidFill>
                  <a:srgbClr val="15803D"/>
                </a:solidFill>
                <a:latin typeface="Consolas"/>
              </a:rPr>
              <a:t>45</a:t>
            </a:r>
          </a:p>
        </p:txBody>
      </p:sp>
      <p:sp>
        <p:nvSpPr>
          <p:cNvPr id="46" name="a2wd300_tr45"/>
          <p:cNvSpPr/>
          <p:nvPr/>
        </p:nvSpPr>
        <p:spPr>
          <a:xfrm>
            <a:off x="1371600" y="2798064"/>
            <a:ext cx="1143000" cy="310896"/>
          </a:xfrm>
          <a:prstGeom prst="rect">
            <a:avLst/>
          </a:prstGeom>
          <a:solidFill>
            <a:srgbClr val="DCFCE7"/>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2wd300_trt46"/>
          <p:cNvSpPr txBox="1"/>
          <p:nvPr/>
        </p:nvSpPr>
        <p:spPr>
          <a:xfrm>
            <a:off x="1444752" y="2798064"/>
            <a:ext cx="1033271" cy="310896"/>
          </a:xfrm>
          <a:prstGeom prst="rect">
            <a:avLst/>
          </a:prstGeom>
          <a:noFill/>
        </p:spPr>
        <p:txBody>
          <a:bodyPr wrap="square" lIns="0" tIns="0" rIns="0" bIns="0" anchor="ctr">
            <a:spAutoFit/>
          </a:bodyPr>
          <a:lstStyle/>
          <a:p>
            <a:pPr algn="l"/>
            <a:r>
              <a:rPr sz="850" b="1">
                <a:solidFill>
                  <a:srgbClr val="15803D"/>
                </a:solidFill>
                <a:latin typeface="Segoe UI"/>
              </a:rPr>
              <a:t>study</a:t>
            </a:r>
          </a:p>
        </p:txBody>
      </p:sp>
      <p:sp>
        <p:nvSpPr>
          <p:cNvPr id="48" name="a2wd300_tr47"/>
          <p:cNvSpPr/>
          <p:nvPr/>
        </p:nvSpPr>
        <p:spPr>
          <a:xfrm>
            <a:off x="2514600" y="2798064"/>
            <a:ext cx="1280160" cy="310896"/>
          </a:xfrm>
          <a:prstGeom prst="rect">
            <a:avLst/>
          </a:prstGeom>
          <a:solidFill>
            <a:srgbClr val="DCFCE7"/>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2wd300_trt48"/>
          <p:cNvSpPr txBox="1"/>
          <p:nvPr/>
        </p:nvSpPr>
        <p:spPr>
          <a:xfrm>
            <a:off x="2587752" y="2798064"/>
            <a:ext cx="1170431" cy="310896"/>
          </a:xfrm>
          <a:prstGeom prst="rect">
            <a:avLst/>
          </a:prstGeom>
          <a:noFill/>
        </p:spPr>
        <p:txBody>
          <a:bodyPr wrap="square" lIns="0" tIns="0" rIns="0" bIns="0" anchor="ctr">
            <a:spAutoFit/>
          </a:bodyPr>
          <a:lstStyle/>
          <a:p>
            <a:pPr algn="l"/>
            <a:r>
              <a:rPr sz="850" b="1">
                <a:solidFill>
                  <a:srgbClr val="15803D"/>
                </a:solidFill>
                <a:latin typeface="Segoe UI"/>
              </a:rPr>
              <a:t>23</a:t>
            </a:r>
          </a:p>
        </p:txBody>
      </p:sp>
      <p:sp>
        <p:nvSpPr>
          <p:cNvPr id="50" name="a2wd300_tr49"/>
          <p:cNvSpPr/>
          <p:nvPr/>
        </p:nvSpPr>
        <p:spPr>
          <a:xfrm>
            <a:off x="3794760" y="2798064"/>
            <a:ext cx="1508760" cy="310896"/>
          </a:xfrm>
          <a:prstGeom prst="rect">
            <a:avLst/>
          </a:prstGeom>
          <a:solidFill>
            <a:srgbClr val="DCFCE7"/>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2wd300_trt50"/>
          <p:cNvSpPr txBox="1"/>
          <p:nvPr/>
        </p:nvSpPr>
        <p:spPr>
          <a:xfrm>
            <a:off x="3867912" y="2798064"/>
            <a:ext cx="1399031" cy="310896"/>
          </a:xfrm>
          <a:prstGeom prst="rect">
            <a:avLst/>
          </a:prstGeom>
          <a:noFill/>
        </p:spPr>
        <p:txBody>
          <a:bodyPr wrap="square" lIns="0" tIns="0" rIns="0" bIns="0" anchor="ctr">
            <a:spAutoFit/>
          </a:bodyPr>
          <a:lstStyle/>
          <a:p>
            <a:pPr algn="l"/>
            <a:r>
              <a:rPr sz="950" b="1">
                <a:solidFill>
                  <a:srgbClr val="15803D"/>
                </a:solidFill>
                <a:latin typeface="Consolas"/>
              </a:rPr>
              <a:t>09:01:10</a:t>
            </a:r>
          </a:p>
        </p:txBody>
      </p:sp>
      <p:sp>
        <p:nvSpPr>
          <p:cNvPr id="52" name="a1fd500_lb51"/>
          <p:cNvSpPr txBox="1"/>
          <p:nvPr/>
        </p:nvSpPr>
        <p:spPr>
          <a:xfrm>
            <a:off x="457200" y="3182112"/>
            <a:ext cx="4846320" cy="201168"/>
          </a:xfrm>
          <a:prstGeom prst="rect">
            <a:avLst/>
          </a:prstGeom>
          <a:noFill/>
        </p:spPr>
        <p:txBody>
          <a:bodyPr wrap="square" lIns="0" tIns="0" rIns="0" bIns="0" anchor="ctr">
            <a:spAutoFit/>
          </a:bodyPr>
          <a:lstStyle/>
          <a:p>
            <a:pPr algn="l"/>
            <a:r>
              <a:rPr sz="850" b="0">
                <a:solidFill>
                  <a:srgbClr val="78716C"/>
                </a:solidFill>
                <a:latin typeface="Segoe UI"/>
              </a:rPr>
              <a:t>22 °C is about 72 °F - a comfortable room temperature</a:t>
            </a:r>
          </a:p>
        </p:txBody>
      </p:sp>
      <p:sp>
        <p:nvSpPr>
          <p:cNvPr id="53" name="a1ud200_dot52"/>
          <p:cNvSpPr/>
          <p:nvPr/>
        </p:nvSpPr>
        <p:spPr>
          <a:xfrm>
            <a:off x="5532120" y="140360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1ud200_b53"/>
          <p:cNvSpPr txBox="1"/>
          <p:nvPr/>
        </p:nvSpPr>
        <p:spPr>
          <a:xfrm>
            <a:off x="5751576" y="1307592"/>
            <a:ext cx="2935224" cy="274320"/>
          </a:xfrm>
          <a:prstGeom prst="rect">
            <a:avLst/>
          </a:prstGeom>
          <a:noFill/>
        </p:spPr>
        <p:txBody>
          <a:bodyPr wrap="square" lIns="0" tIns="0" rIns="0" bIns="0" anchor="t">
            <a:spAutoFit/>
          </a:bodyPr>
          <a:lstStyle/>
          <a:p>
            <a:pPr algn="l"/>
            <a:r>
              <a:rPr sz="950" b="1">
                <a:solidFill>
                  <a:srgbClr val="1C1917"/>
                </a:solidFill>
                <a:latin typeface="Segoe UI"/>
              </a:rPr>
              <a:t>sensor_id  </a:t>
            </a:r>
            <a:r>
              <a:rPr sz="950" b="0">
                <a:solidFill>
                  <a:srgbClr val="44403C"/>
                </a:solidFill>
                <a:latin typeface="Segoe UI"/>
              </a:rPr>
              <a:t>which thermostat</a:t>
            </a:r>
          </a:p>
        </p:txBody>
      </p:sp>
      <p:sp>
        <p:nvSpPr>
          <p:cNvPr id="55" name="a1ud300_dot54"/>
          <p:cNvSpPr/>
          <p:nvPr/>
        </p:nvSpPr>
        <p:spPr>
          <a:xfrm>
            <a:off x="5532120" y="171450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1ud300_b55"/>
          <p:cNvSpPr txBox="1"/>
          <p:nvPr/>
        </p:nvSpPr>
        <p:spPr>
          <a:xfrm>
            <a:off x="5751576" y="1618488"/>
            <a:ext cx="2935224" cy="274320"/>
          </a:xfrm>
          <a:prstGeom prst="rect">
            <a:avLst/>
          </a:prstGeom>
          <a:noFill/>
        </p:spPr>
        <p:txBody>
          <a:bodyPr wrap="square" lIns="0" tIns="0" rIns="0" bIns="0" anchor="t">
            <a:spAutoFit/>
          </a:bodyPr>
          <a:lstStyle/>
          <a:p>
            <a:pPr algn="l"/>
            <a:r>
              <a:rPr sz="950" b="1">
                <a:solidFill>
                  <a:srgbClr val="1C1917"/>
                </a:solidFill>
                <a:latin typeface="Segoe UI"/>
              </a:rPr>
              <a:t>location  </a:t>
            </a:r>
            <a:r>
              <a:rPr sz="950" b="0">
                <a:solidFill>
                  <a:srgbClr val="44403C"/>
                </a:solidFill>
                <a:latin typeface="Segoe UI"/>
              </a:rPr>
              <a:t>which room</a:t>
            </a:r>
          </a:p>
        </p:txBody>
      </p:sp>
      <p:sp>
        <p:nvSpPr>
          <p:cNvPr id="57" name="a1ud400_dot56"/>
          <p:cNvSpPr/>
          <p:nvPr/>
        </p:nvSpPr>
        <p:spPr>
          <a:xfrm>
            <a:off x="5532120" y="2025395"/>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1ud400_b57"/>
          <p:cNvSpPr txBox="1"/>
          <p:nvPr/>
        </p:nvSpPr>
        <p:spPr>
          <a:xfrm>
            <a:off x="5751576" y="1929384"/>
            <a:ext cx="2935224" cy="274320"/>
          </a:xfrm>
          <a:prstGeom prst="rect">
            <a:avLst/>
          </a:prstGeom>
          <a:noFill/>
        </p:spPr>
        <p:txBody>
          <a:bodyPr wrap="square" lIns="0" tIns="0" rIns="0" bIns="0" anchor="t">
            <a:spAutoFit/>
          </a:bodyPr>
          <a:lstStyle/>
          <a:p>
            <a:pPr algn="l"/>
            <a:r>
              <a:rPr sz="950" b="1">
                <a:solidFill>
                  <a:srgbClr val="1C1917"/>
                </a:solidFill>
                <a:latin typeface="Segoe UI"/>
              </a:rPr>
              <a:t>temperature  </a:t>
            </a:r>
            <a:r>
              <a:rPr sz="950" b="0">
                <a:solidFill>
                  <a:srgbClr val="44403C"/>
                </a:solidFill>
                <a:latin typeface="Segoe UI"/>
              </a:rPr>
              <a:t>how warm, in °C</a:t>
            </a:r>
          </a:p>
        </p:txBody>
      </p:sp>
      <p:sp>
        <p:nvSpPr>
          <p:cNvPr id="59" name="a1ud500_dot58"/>
          <p:cNvSpPr/>
          <p:nvPr/>
        </p:nvSpPr>
        <p:spPr>
          <a:xfrm>
            <a:off x="5532120" y="2336291"/>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1ud500_b59"/>
          <p:cNvSpPr txBox="1"/>
          <p:nvPr/>
        </p:nvSpPr>
        <p:spPr>
          <a:xfrm>
            <a:off x="5751576" y="2240279"/>
            <a:ext cx="2935224" cy="274320"/>
          </a:xfrm>
          <a:prstGeom prst="rect">
            <a:avLst/>
          </a:prstGeom>
          <a:noFill/>
        </p:spPr>
        <p:txBody>
          <a:bodyPr wrap="square" lIns="0" tIns="0" rIns="0" bIns="0" anchor="t">
            <a:spAutoFit/>
          </a:bodyPr>
          <a:lstStyle/>
          <a:p>
            <a:pPr algn="l"/>
            <a:r>
              <a:rPr sz="950" b="1">
                <a:solidFill>
                  <a:srgbClr val="1C1917"/>
                </a:solidFill>
                <a:latin typeface="Segoe UI"/>
              </a:rPr>
              <a:t>read_at  </a:t>
            </a:r>
            <a:r>
              <a:rPr sz="950" b="0">
                <a:solidFill>
                  <a:srgbClr val="44403C"/>
                </a:solidFill>
                <a:latin typeface="Segoe UI"/>
              </a:rPr>
              <a:t>when it was measured</a:t>
            </a:r>
          </a:p>
        </p:txBody>
      </p:sp>
      <p:sp>
        <p:nvSpPr>
          <p:cNvPr id="61" name="a2f_codebg60"/>
          <p:cNvSpPr/>
          <p:nvPr/>
        </p:nvSpPr>
        <p:spPr>
          <a:xfrm>
            <a:off x="5532120" y="2697480"/>
            <a:ext cx="3154680" cy="1152144"/>
          </a:xfrm>
          <a:prstGeom prst="roundRect">
            <a:avLst>
              <a:gd name="adj" fmla="val 6349"/>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2w_code61"/>
          <p:cNvSpPr txBox="1"/>
          <p:nvPr/>
        </p:nvSpPr>
        <p:spPr>
          <a:xfrm>
            <a:off x="5678424" y="2843784"/>
            <a:ext cx="2862072" cy="214884"/>
          </a:xfrm>
          <a:prstGeom prst="rect">
            <a:avLst/>
          </a:prstGeom>
          <a:noFill/>
        </p:spPr>
        <p:txBody>
          <a:bodyPr wrap="none" lIns="0" tIns="0" rIns="0" bIns="0" anchor="ctr">
            <a:spAutoFit/>
          </a:bodyPr>
          <a:lstStyle/>
          <a:p>
            <a:pPr algn="l"/>
            <a:r>
              <a:rPr sz="950" b="0">
                <a:solidFill>
                  <a:srgbClr val="8A8580"/>
                </a:solidFill>
                <a:latin typeface="Consolas"/>
              </a:rPr>
              <a:t>-- a new reading arrives</a:t>
            </a:r>
          </a:p>
        </p:txBody>
      </p:sp>
      <p:sp>
        <p:nvSpPr>
          <p:cNvPr id="63" name="a2wd90_code62"/>
          <p:cNvSpPr txBox="1"/>
          <p:nvPr/>
        </p:nvSpPr>
        <p:spPr>
          <a:xfrm>
            <a:off x="5678424" y="3058668"/>
            <a:ext cx="2862072" cy="214884"/>
          </a:xfrm>
          <a:prstGeom prst="rect">
            <a:avLst/>
          </a:prstGeom>
          <a:noFill/>
        </p:spPr>
        <p:txBody>
          <a:bodyPr wrap="none" lIns="0" tIns="0" rIns="0" bIns="0" anchor="ctr">
            <a:spAutoFit/>
          </a:bodyPr>
          <a:lstStyle/>
          <a:p>
            <a:pPr algn="l"/>
            <a:r>
              <a:rPr sz="950" b="1">
                <a:solidFill>
                  <a:srgbClr val="FDBA74"/>
                </a:solidFill>
                <a:latin typeface="Consolas"/>
              </a:rPr>
              <a:t>INSERT INTO thermostat_readings</a:t>
            </a:r>
          </a:p>
        </p:txBody>
      </p:sp>
      <p:sp>
        <p:nvSpPr>
          <p:cNvPr id="64" name="a2wd180_code63"/>
          <p:cNvSpPr txBox="1"/>
          <p:nvPr/>
        </p:nvSpPr>
        <p:spPr>
          <a:xfrm>
            <a:off x="5678424" y="3273552"/>
            <a:ext cx="2862072" cy="214884"/>
          </a:xfrm>
          <a:prstGeom prst="rect">
            <a:avLst/>
          </a:prstGeom>
          <a:noFill/>
        </p:spPr>
        <p:txBody>
          <a:bodyPr wrap="none" lIns="0" tIns="0" rIns="0" bIns="0" anchor="ctr">
            <a:spAutoFit/>
          </a:bodyPr>
          <a:lstStyle/>
          <a:p>
            <a:pPr algn="l"/>
            <a:r>
              <a:rPr sz="950" b="0">
                <a:solidFill>
                  <a:srgbClr val="E7E5E4"/>
                </a:solidFill>
                <a:latin typeface="Consolas"/>
              </a:rPr>
              <a:t>VALUES (45, 'study', 23,</a:t>
            </a:r>
          </a:p>
        </p:txBody>
      </p:sp>
      <p:sp>
        <p:nvSpPr>
          <p:cNvPr id="65" name="a2wd270_code64"/>
          <p:cNvSpPr txBox="1"/>
          <p:nvPr/>
        </p:nvSpPr>
        <p:spPr>
          <a:xfrm>
            <a:off x="5678424" y="3488436"/>
            <a:ext cx="2862072" cy="214884"/>
          </a:xfrm>
          <a:prstGeom prst="rect">
            <a:avLst/>
          </a:prstGeom>
          <a:noFill/>
        </p:spPr>
        <p:txBody>
          <a:bodyPr wrap="none" lIns="0" tIns="0" rIns="0" bIns="0" anchor="ctr">
            <a:spAutoFit/>
          </a:bodyPr>
          <a:lstStyle/>
          <a:p>
            <a:pPr algn="l"/>
            <a:r>
              <a:rPr sz="950" b="0">
                <a:solidFill>
                  <a:srgbClr val="E7E5E4"/>
                </a:solidFill>
                <a:latin typeface="Consolas"/>
              </a:rPr>
              <a:t>        '09:01:10');</a:t>
            </a:r>
          </a:p>
        </p:txBody>
      </p:sp>
      <p:sp>
        <p:nvSpPr>
          <p:cNvPr id="66" name="a3u_nb65"/>
          <p:cNvSpPr/>
          <p:nvPr/>
        </p:nvSpPr>
        <p:spPr>
          <a:xfrm>
            <a:off x="457200" y="4069080"/>
            <a:ext cx="8229600" cy="502920"/>
          </a:xfrm>
          <a:prstGeom prst="roundRect">
            <a:avLst>
              <a:gd name="adj" fmla="val 14545"/>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3u_nacc66"/>
          <p:cNvSpPr/>
          <p:nvPr/>
        </p:nvSpPr>
        <p:spPr>
          <a:xfrm>
            <a:off x="457200" y="4069080"/>
            <a:ext cx="54864" cy="5029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3u_nt67"/>
          <p:cNvSpPr txBox="1"/>
          <p:nvPr/>
        </p:nvSpPr>
        <p:spPr>
          <a:xfrm>
            <a:off x="658368" y="4069080"/>
            <a:ext cx="7827264" cy="502920"/>
          </a:xfrm>
          <a:prstGeom prst="rect">
            <a:avLst/>
          </a:prstGeom>
          <a:noFill/>
        </p:spPr>
        <p:txBody>
          <a:bodyPr wrap="square" lIns="0" tIns="0" rIns="0" bIns="0" anchor="ctr">
            <a:spAutoFit/>
          </a:bodyPr>
          <a:lstStyle/>
          <a:p>
            <a:pPr algn="l"/>
            <a:r>
              <a:rPr sz="950" b="1">
                <a:solidFill>
                  <a:srgbClr val="15803D"/>
                </a:solidFill>
                <a:latin typeface="Segoe UI"/>
              </a:rPr>
              <a:t>INSERT  </a:t>
            </a:r>
            <a:r>
              <a:rPr sz="950" b="0">
                <a:solidFill>
                  <a:srgbClr val="44403C"/>
                </a:solidFill>
                <a:latin typeface="Segoe UI"/>
              </a:rPr>
              <a:t>A new reading is INSERTed - it goes on the end of the table as a new row.</a:t>
            </a:r>
          </a:p>
        </p:txBody>
      </p:sp>
      <p:sp>
        <p:nvSpPr>
          <p:cNvPr id="69" name="ft6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70" name="ft6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ft7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72" name="ft7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par>
                                <p:cTn id="34" presetID="22" presetClass="entr" presetSubtype="8" fill="hold" grpId="0" nodeType="withEffect">
                                  <p:stCondLst>
                                    <p:cond delay="12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par>
                                <p:cTn id="37" presetID="22" presetClass="entr" presetSubtype="8" fill="hold" grpId="0" nodeType="withEffect">
                                  <p:stCondLst>
                                    <p:cond delay="12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par>
                                <p:cTn id="40" presetID="22" presetClass="entr" presetSubtype="8" fill="hold" grpId="0" nodeType="withEffect">
                                  <p:stCondLst>
                                    <p:cond delay="12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12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6" presetID="22" presetClass="entr" presetSubtype="8" fill="hold" grpId="0" nodeType="withEffect">
                                  <p:stCondLst>
                                    <p:cond delay="120"/>
                                  </p:stCondLst>
                                  <p:childTnLst>
                                    <p:set>
                                      <p:cBhvr>
                                        <p:cTn id="44" dur="1" fill="hold">
                                          <p:stCondLst>
                                            <p:cond delay="0"/>
                                          </p:stCondLst>
                                        </p:cTn>
                                        <p:tgtEl>
                                          <p:spTgt spid="30"/>
                                        </p:tgtEl>
                                        <p:attrNameLst>
                                          <p:attrName>style.visibility</p:attrName>
                                        </p:attrNameLst>
                                      </p:cBhvr>
                                      <p:to>
                                        <p:strVal val="visible"/>
                                      </p:to>
                                    </p:set>
                                    <p:animEffect transition="in" filter="wipe(left)">
                                      <p:cBhvr>
                                        <p:cTn id="45" dur="500"/>
                                        <p:tgtEl>
                                          <p:spTgt spid="30"/>
                                        </p:tgtEl>
                                      </p:cBhvr>
                                    </p:animEffect>
                                  </p:childTnLst>
                                </p:cTn>
                              </p:par>
                              <p:par>
                                <p:cTn id="49" presetID="22" presetClass="entr" presetSubtype="8" fill="hold" grpId="0" nodeType="withEffect">
                                  <p:stCondLst>
                                    <p:cond delay="120"/>
                                  </p:stCondLst>
                                  <p:childTnLst>
                                    <p:set>
                                      <p:cBhvr>
                                        <p:cTn id="47" dur="1" fill="hold">
                                          <p:stCondLst>
                                            <p:cond delay="0"/>
                                          </p:stCondLst>
                                        </p:cTn>
                                        <p:tgtEl>
                                          <p:spTgt spid="31"/>
                                        </p:tgtEl>
                                        <p:attrNameLst>
                                          <p:attrName>style.visibility</p:attrName>
                                        </p:attrNameLst>
                                      </p:cBhvr>
                                      <p:to>
                                        <p:strVal val="visible"/>
                                      </p:to>
                                    </p:set>
                                    <p:animEffect transition="in" filter="wipe(left)">
                                      <p:cBhvr>
                                        <p:cTn id="48" dur="500"/>
                                        <p:tgtEl>
                                          <p:spTgt spid="31"/>
                                        </p:tgtEl>
                                      </p:cBhvr>
                                    </p:animEffect>
                                  </p:childTnLst>
                                </p:cTn>
                              </p:par>
                              <p:par>
                                <p:cTn id="52" presetID="22" presetClass="entr" presetSubtype="8" fill="hold" grpId="0" nodeType="withEffect">
                                  <p:stCondLst>
                                    <p:cond delay="120"/>
                                  </p:stCondLst>
                                  <p:childTnLst>
                                    <p:set>
                                      <p:cBhvr>
                                        <p:cTn id="50" dur="1" fill="hold">
                                          <p:stCondLst>
                                            <p:cond delay="0"/>
                                          </p:stCondLst>
                                        </p:cTn>
                                        <p:tgtEl>
                                          <p:spTgt spid="38"/>
                                        </p:tgtEl>
                                        <p:attrNameLst>
                                          <p:attrName>style.visibility</p:attrName>
                                        </p:attrNameLst>
                                      </p:cBhvr>
                                      <p:to>
                                        <p:strVal val="visible"/>
                                      </p:to>
                                    </p:set>
                                    <p:animEffect transition="in" filter="wipe(left)">
                                      <p:cBhvr>
                                        <p:cTn id="51" dur="500"/>
                                        <p:tgtEl>
                                          <p:spTgt spid="38"/>
                                        </p:tgtEl>
                                      </p:cBhvr>
                                    </p:animEffect>
                                  </p:childTnLst>
                                </p:cTn>
                              </p:par>
                              <p:par>
                                <p:cTn id="55" presetID="22" presetClass="entr" presetSubtype="8" fill="hold" grpId="0" nodeType="withEffect">
                                  <p:stCondLst>
                                    <p:cond delay="12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par>
                                <p:cTn id="60" presetID="2" presetClass="entr" presetSubtype="4" fill="hold" grpId="0" nodeType="withEffect">
                                  <p:stCondLst>
                                    <p:cond delay="200"/>
                                  </p:stCondLst>
                                  <p:childTnLst>
                                    <p:set>
                                      <p:cBhvr>
                                        <p:cTn id="56" dur="1" fill="hold">
                                          <p:stCondLst>
                                            <p:cond delay="0"/>
                                          </p:stCondLst>
                                        </p:cTn>
                                        <p:tgtEl>
                                          <p:spTgt spid="53"/>
                                        </p:tgtEl>
                                        <p:attrNameLst>
                                          <p:attrName>style.visibility</p:attrName>
                                        </p:attrNameLst>
                                      </p:cBhvr>
                                      <p:to>
                                        <p:strVal val="visible"/>
                                      </p:to>
                                    </p:set>
                                    <p:anim calcmode="lin" valueType="num">
                                      <p:cBhvr additive="base">
                                        <p:cTn id="57" dur="500" fill="hold"/>
                                        <p:tgtEl>
                                          <p:spTgt spid="53"/>
                                        </p:tgtEl>
                                        <p:attrNameLst>
                                          <p:attrName>ppt_x</p:attrName>
                                        </p:attrNameLst>
                                      </p:cBhvr>
                                      <p:tavLst>
                                        <p:tav tm="0">
                                          <p:val>
                                            <p:strVal val="#ppt_x"/>
                                          </p:val>
                                        </p:tav>
                                        <p:tav tm="100000">
                                          <p:val>
                                            <p:strVal val="#ppt_x"/>
                                          </p:val>
                                        </p:tav>
                                      </p:tavLst>
                                    </p:anim>
                                    <p:anim calcmode="lin" valueType="num">
                                      <p:cBhvr additive="base">
                                        <p:cTn id="58" dur="500" fill="hold"/>
                                        <p:tgtEl>
                                          <p:spTgt spid="53"/>
                                        </p:tgtEl>
                                        <p:attrNameLst>
                                          <p:attrName>ppt_y</p:attrName>
                                        </p:attrNameLst>
                                      </p:cBhvr>
                                      <p:tavLst>
                                        <p:tav tm="0">
                                          <p:val>
                                            <p:strVal val="#ppt_y+0.1"/>
                                          </p:val>
                                        </p:tav>
                                        <p:tav tm="100000">
                                          <p:val>
                                            <p:strVal val="#ppt_y"/>
                                          </p:val>
                                        </p:tav>
                                      </p:tavLst>
                                    </p:anim>
                                    <p:animEffect transition="in" filter="fade">
                                      <p:cBhvr>
                                        <p:cTn id="59" dur="500"/>
                                        <p:tgtEl>
                                          <p:spTgt spid="53"/>
                                        </p:tgtEl>
                                      </p:cBhvr>
                                    </p:animEffect>
                                  </p:childTnLst>
                                </p:cTn>
                              </p:par>
                              <p:par>
                                <p:cTn id="65" presetID="2" presetClass="entr" presetSubtype="4" fill="hold" grpId="0" nodeType="withEffect">
                                  <p:stCondLst>
                                    <p:cond delay="200"/>
                                  </p:stCondLst>
                                  <p:childTnLst>
                                    <p:set>
                                      <p:cBhvr>
                                        <p:cTn id="61" dur="1" fill="hold">
                                          <p:stCondLst>
                                            <p:cond delay="0"/>
                                          </p:stCondLst>
                                        </p:cTn>
                                        <p:tgtEl>
                                          <p:spTgt spid="54"/>
                                        </p:tgtEl>
                                        <p:attrNameLst>
                                          <p:attrName>style.visibility</p:attrName>
                                        </p:attrNameLst>
                                      </p:cBhvr>
                                      <p:to>
                                        <p:strVal val="visible"/>
                                      </p:to>
                                    </p:set>
                                    <p:anim calcmode="lin" valueType="num">
                                      <p:cBhvr additive="base">
                                        <p:cTn id="62" dur="500" fill="hold"/>
                                        <p:tgtEl>
                                          <p:spTgt spid="54"/>
                                        </p:tgtEl>
                                        <p:attrNameLst>
                                          <p:attrName>ppt_x</p:attrName>
                                        </p:attrNameLst>
                                      </p:cBhvr>
                                      <p:tavLst>
                                        <p:tav tm="0">
                                          <p:val>
                                            <p:strVal val="#ppt_x"/>
                                          </p:val>
                                        </p:tav>
                                        <p:tav tm="100000">
                                          <p:val>
                                            <p:strVal val="#ppt_x"/>
                                          </p:val>
                                        </p:tav>
                                      </p:tavLst>
                                    </p:anim>
                                    <p:anim calcmode="lin" valueType="num">
                                      <p:cBhvr additive="base">
                                        <p:cTn id="63" dur="500" fill="hold"/>
                                        <p:tgtEl>
                                          <p:spTgt spid="54"/>
                                        </p:tgtEl>
                                        <p:attrNameLst>
                                          <p:attrName>ppt_y</p:attrName>
                                        </p:attrNameLst>
                                      </p:cBhvr>
                                      <p:tavLst>
                                        <p:tav tm="0">
                                          <p:val>
                                            <p:strVal val="#ppt_y+0.1"/>
                                          </p:val>
                                        </p:tav>
                                        <p:tav tm="100000">
                                          <p:val>
                                            <p:strVal val="#ppt_y"/>
                                          </p:val>
                                        </p:tav>
                                      </p:tavLst>
                                    </p:anim>
                                    <p:animEffect transition="in" filter="fade">
                                      <p:cBhvr>
                                        <p:cTn id="64" dur="500"/>
                                        <p:tgtEl>
                                          <p:spTgt spid="54"/>
                                        </p:tgtEl>
                                      </p:cBhvr>
                                    </p:animEffect>
                                  </p:childTnLst>
                                </p:cTn>
                              </p:par>
                              <p:par>
                                <p:cTn id="68" presetID="22" presetClass="entr" presetSubtype="8" fill="hold" grpId="0" nodeType="withEffect">
                                  <p:stCondLst>
                                    <p:cond delay="24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par>
                                <p:cTn id="71" presetID="22" presetClass="entr" presetSubtype="8" fill="hold" grpId="0" nodeType="withEffect">
                                  <p:stCondLst>
                                    <p:cond delay="24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500"/>
                                        <p:tgtEl>
                                          <p:spTgt spid="17"/>
                                        </p:tgtEl>
                                      </p:cBhvr>
                                    </p:animEffect>
                                  </p:childTnLst>
                                </p:cTn>
                              </p:par>
                              <p:par>
                                <p:cTn id="74" presetID="22" presetClass="entr" presetSubtype="8" fill="hold" grpId="0" nodeType="withEffect">
                                  <p:stCondLst>
                                    <p:cond delay="240"/>
                                  </p:stCondLst>
                                  <p:childTnLst>
                                    <p:set>
                                      <p:cBhvr>
                                        <p:cTn id="72" dur="1" fill="hold">
                                          <p:stCondLst>
                                            <p:cond delay="0"/>
                                          </p:stCondLst>
                                        </p:cTn>
                                        <p:tgtEl>
                                          <p:spTgt spid="24"/>
                                        </p:tgtEl>
                                        <p:attrNameLst>
                                          <p:attrName>style.visibility</p:attrName>
                                        </p:attrNameLst>
                                      </p:cBhvr>
                                      <p:to>
                                        <p:strVal val="visible"/>
                                      </p:to>
                                    </p:set>
                                    <p:animEffect transition="in" filter="wipe(left)">
                                      <p:cBhvr>
                                        <p:cTn id="73" dur="500"/>
                                        <p:tgtEl>
                                          <p:spTgt spid="24"/>
                                        </p:tgtEl>
                                      </p:cBhvr>
                                    </p:animEffect>
                                  </p:childTnLst>
                                </p:cTn>
                              </p:par>
                              <p:par>
                                <p:cTn id="77" presetID="22" presetClass="entr" presetSubtype="8" fill="hold" grpId="0" nodeType="withEffect">
                                  <p:stCondLst>
                                    <p:cond delay="240"/>
                                  </p:stCondLst>
                                  <p:childTnLst>
                                    <p:set>
                                      <p:cBhvr>
                                        <p:cTn id="75" dur="1" fill="hold">
                                          <p:stCondLst>
                                            <p:cond delay="0"/>
                                          </p:stCondLst>
                                        </p:cTn>
                                        <p:tgtEl>
                                          <p:spTgt spid="25"/>
                                        </p:tgtEl>
                                        <p:attrNameLst>
                                          <p:attrName>style.visibility</p:attrName>
                                        </p:attrNameLst>
                                      </p:cBhvr>
                                      <p:to>
                                        <p:strVal val="visible"/>
                                      </p:to>
                                    </p:set>
                                    <p:animEffect transition="in" filter="wipe(left)">
                                      <p:cBhvr>
                                        <p:cTn id="76" dur="500"/>
                                        <p:tgtEl>
                                          <p:spTgt spid="25"/>
                                        </p:tgtEl>
                                      </p:cBhvr>
                                    </p:animEffect>
                                  </p:childTnLst>
                                </p:cTn>
                              </p:par>
                              <p:par>
                                <p:cTn id="80" presetID="22" presetClass="entr" presetSubtype="8" fill="hold" grpId="0" nodeType="withEffect">
                                  <p:stCondLst>
                                    <p:cond delay="240"/>
                                  </p:stCondLst>
                                  <p:childTnLst>
                                    <p:set>
                                      <p:cBhvr>
                                        <p:cTn id="78" dur="1" fill="hold">
                                          <p:stCondLst>
                                            <p:cond delay="0"/>
                                          </p:stCondLst>
                                        </p:cTn>
                                        <p:tgtEl>
                                          <p:spTgt spid="32"/>
                                        </p:tgtEl>
                                        <p:attrNameLst>
                                          <p:attrName>style.visibility</p:attrName>
                                        </p:attrNameLst>
                                      </p:cBhvr>
                                      <p:to>
                                        <p:strVal val="visible"/>
                                      </p:to>
                                    </p:set>
                                    <p:animEffect transition="in" filter="wipe(left)">
                                      <p:cBhvr>
                                        <p:cTn id="79" dur="500"/>
                                        <p:tgtEl>
                                          <p:spTgt spid="32"/>
                                        </p:tgtEl>
                                      </p:cBhvr>
                                    </p:animEffect>
                                  </p:childTnLst>
                                </p:cTn>
                              </p:par>
                              <p:par>
                                <p:cTn id="83" presetID="22" presetClass="entr" presetSubtype="8" fill="hold" grpId="0" nodeType="withEffect">
                                  <p:stCondLst>
                                    <p:cond delay="240"/>
                                  </p:stCondLst>
                                  <p:childTnLst>
                                    <p:set>
                                      <p:cBhvr>
                                        <p:cTn id="81" dur="1" fill="hold">
                                          <p:stCondLst>
                                            <p:cond delay="0"/>
                                          </p:stCondLst>
                                        </p:cTn>
                                        <p:tgtEl>
                                          <p:spTgt spid="33"/>
                                        </p:tgtEl>
                                        <p:attrNameLst>
                                          <p:attrName>style.visibility</p:attrName>
                                        </p:attrNameLst>
                                      </p:cBhvr>
                                      <p:to>
                                        <p:strVal val="visible"/>
                                      </p:to>
                                    </p:set>
                                    <p:animEffect transition="in" filter="wipe(left)">
                                      <p:cBhvr>
                                        <p:cTn id="82" dur="500"/>
                                        <p:tgtEl>
                                          <p:spTgt spid="33"/>
                                        </p:tgtEl>
                                      </p:cBhvr>
                                    </p:animEffect>
                                  </p:childTnLst>
                                </p:cTn>
                              </p:par>
                              <p:par>
                                <p:cTn id="86" presetID="22" presetClass="entr" presetSubtype="8" fill="hold" grpId="0" nodeType="withEffect">
                                  <p:stCondLst>
                                    <p:cond delay="240"/>
                                  </p:stCondLst>
                                  <p:childTnLst>
                                    <p:set>
                                      <p:cBhvr>
                                        <p:cTn id="84" dur="1" fill="hold">
                                          <p:stCondLst>
                                            <p:cond delay="0"/>
                                          </p:stCondLst>
                                        </p:cTn>
                                        <p:tgtEl>
                                          <p:spTgt spid="40"/>
                                        </p:tgtEl>
                                        <p:attrNameLst>
                                          <p:attrName>style.visibility</p:attrName>
                                        </p:attrNameLst>
                                      </p:cBhvr>
                                      <p:to>
                                        <p:strVal val="visible"/>
                                      </p:to>
                                    </p:set>
                                    <p:animEffect transition="in" filter="wipe(left)">
                                      <p:cBhvr>
                                        <p:cTn id="85" dur="500"/>
                                        <p:tgtEl>
                                          <p:spTgt spid="40"/>
                                        </p:tgtEl>
                                      </p:cBhvr>
                                    </p:animEffect>
                                  </p:childTnLst>
                                </p:cTn>
                              </p:par>
                              <p:par>
                                <p:cTn id="89" presetID="22" presetClass="entr" presetSubtype="8" fill="hold" grpId="0" nodeType="withEffect">
                                  <p:stCondLst>
                                    <p:cond delay="240"/>
                                  </p:stCondLst>
                                  <p:childTnLst>
                                    <p:set>
                                      <p:cBhvr>
                                        <p:cTn id="87" dur="1" fill="hold">
                                          <p:stCondLst>
                                            <p:cond delay="0"/>
                                          </p:stCondLst>
                                        </p:cTn>
                                        <p:tgtEl>
                                          <p:spTgt spid="41"/>
                                        </p:tgtEl>
                                        <p:attrNameLst>
                                          <p:attrName>style.visibility</p:attrName>
                                        </p:attrNameLst>
                                      </p:cBhvr>
                                      <p:to>
                                        <p:strVal val="visible"/>
                                      </p:to>
                                    </p:set>
                                    <p:animEffect transition="in" filter="wipe(left)">
                                      <p:cBhvr>
                                        <p:cTn id="88" dur="500"/>
                                        <p:tgtEl>
                                          <p:spTgt spid="41"/>
                                        </p:tgtEl>
                                      </p:cBhvr>
                                    </p:animEffect>
                                  </p:childTnLst>
                                </p:cTn>
                              </p:par>
                              <p:par>
                                <p:cTn id="94" presetID="2" presetClass="entr" presetSubtype="4" fill="hold" grpId="0" nodeType="withEffect">
                                  <p:stCondLst>
                                    <p:cond delay="300"/>
                                  </p:stCondLst>
                                  <p:childTnLst>
                                    <p:set>
                                      <p:cBhvr>
                                        <p:cTn id="90" dur="1" fill="hold">
                                          <p:stCondLst>
                                            <p:cond delay="0"/>
                                          </p:stCondLst>
                                        </p:cTn>
                                        <p:tgtEl>
                                          <p:spTgt spid="55"/>
                                        </p:tgtEl>
                                        <p:attrNameLst>
                                          <p:attrName>style.visibility</p:attrName>
                                        </p:attrNameLst>
                                      </p:cBhvr>
                                      <p:to>
                                        <p:strVal val="visible"/>
                                      </p:to>
                                    </p:set>
                                    <p:anim calcmode="lin" valueType="num">
                                      <p:cBhvr additive="base">
                                        <p:cTn id="91" dur="500" fill="hold"/>
                                        <p:tgtEl>
                                          <p:spTgt spid="55"/>
                                        </p:tgtEl>
                                        <p:attrNameLst>
                                          <p:attrName>ppt_x</p:attrName>
                                        </p:attrNameLst>
                                      </p:cBhvr>
                                      <p:tavLst>
                                        <p:tav tm="0">
                                          <p:val>
                                            <p:strVal val="#ppt_x"/>
                                          </p:val>
                                        </p:tav>
                                        <p:tav tm="100000">
                                          <p:val>
                                            <p:strVal val="#ppt_x"/>
                                          </p:val>
                                        </p:tav>
                                      </p:tavLst>
                                    </p:anim>
                                    <p:anim calcmode="lin" valueType="num">
                                      <p:cBhvr additive="base">
                                        <p:cTn id="92" dur="500" fill="hold"/>
                                        <p:tgtEl>
                                          <p:spTgt spid="55"/>
                                        </p:tgtEl>
                                        <p:attrNameLst>
                                          <p:attrName>ppt_y</p:attrName>
                                        </p:attrNameLst>
                                      </p:cBhvr>
                                      <p:tavLst>
                                        <p:tav tm="0">
                                          <p:val>
                                            <p:strVal val="#ppt_y+0.1"/>
                                          </p:val>
                                        </p:tav>
                                        <p:tav tm="100000">
                                          <p:val>
                                            <p:strVal val="#ppt_y"/>
                                          </p:val>
                                        </p:tav>
                                      </p:tavLst>
                                    </p:anim>
                                    <p:animEffect transition="in" filter="fade">
                                      <p:cBhvr>
                                        <p:cTn id="93" dur="500"/>
                                        <p:tgtEl>
                                          <p:spTgt spid="55"/>
                                        </p:tgtEl>
                                      </p:cBhvr>
                                    </p:animEffect>
                                  </p:childTnLst>
                                </p:cTn>
                              </p:par>
                              <p:par>
                                <p:cTn id="99" presetID="2" presetClass="entr" presetSubtype="4" fill="hold" grpId="0" nodeType="withEffect">
                                  <p:stCondLst>
                                    <p:cond delay="300"/>
                                  </p:stCondLst>
                                  <p:childTnLst>
                                    <p:set>
                                      <p:cBhvr>
                                        <p:cTn id="95" dur="1" fill="hold">
                                          <p:stCondLst>
                                            <p:cond delay="0"/>
                                          </p:stCondLst>
                                        </p:cTn>
                                        <p:tgtEl>
                                          <p:spTgt spid="56"/>
                                        </p:tgtEl>
                                        <p:attrNameLst>
                                          <p:attrName>style.visibility</p:attrName>
                                        </p:attrNameLst>
                                      </p:cBhvr>
                                      <p:to>
                                        <p:strVal val="visible"/>
                                      </p:to>
                                    </p:set>
                                    <p:anim calcmode="lin" valueType="num">
                                      <p:cBhvr additive="base">
                                        <p:cTn id="96" dur="500" fill="hold"/>
                                        <p:tgtEl>
                                          <p:spTgt spid="56"/>
                                        </p:tgtEl>
                                        <p:attrNameLst>
                                          <p:attrName>ppt_x</p:attrName>
                                        </p:attrNameLst>
                                      </p:cBhvr>
                                      <p:tavLst>
                                        <p:tav tm="0">
                                          <p:val>
                                            <p:strVal val="#ppt_x"/>
                                          </p:val>
                                        </p:tav>
                                        <p:tav tm="100000">
                                          <p:val>
                                            <p:strVal val="#ppt_x"/>
                                          </p:val>
                                        </p:tav>
                                      </p:tavLst>
                                    </p:anim>
                                    <p:anim calcmode="lin" valueType="num">
                                      <p:cBhvr additive="base">
                                        <p:cTn id="97" dur="500" fill="hold"/>
                                        <p:tgtEl>
                                          <p:spTgt spid="56"/>
                                        </p:tgtEl>
                                        <p:attrNameLst>
                                          <p:attrName>ppt_y</p:attrName>
                                        </p:attrNameLst>
                                      </p:cBhvr>
                                      <p:tavLst>
                                        <p:tav tm="0">
                                          <p:val>
                                            <p:strVal val="#ppt_y+0.1"/>
                                          </p:val>
                                        </p:tav>
                                        <p:tav tm="100000">
                                          <p:val>
                                            <p:strVal val="#ppt_y"/>
                                          </p:val>
                                        </p:tav>
                                      </p:tavLst>
                                    </p:anim>
                                    <p:animEffect transition="in" filter="fade">
                                      <p:cBhvr>
                                        <p:cTn id="98" dur="500"/>
                                        <p:tgtEl>
                                          <p:spTgt spid="56"/>
                                        </p:tgtEl>
                                      </p:cBhvr>
                                    </p:animEffect>
                                  </p:childTnLst>
                                </p:cTn>
                              </p:par>
                              <p:par>
                                <p:cTn id="102" presetID="22" presetClass="entr" presetSubtype="8" fill="hold" grpId="0" nodeType="withEffect">
                                  <p:stCondLst>
                                    <p:cond delay="360"/>
                                  </p:stCondLst>
                                  <p:childTnLst>
                                    <p:set>
                                      <p:cBhvr>
                                        <p:cTn id="100" dur="1" fill="hold">
                                          <p:stCondLst>
                                            <p:cond delay="0"/>
                                          </p:stCondLst>
                                        </p:cTn>
                                        <p:tgtEl>
                                          <p:spTgt spid="18"/>
                                        </p:tgtEl>
                                        <p:attrNameLst>
                                          <p:attrName>style.visibility</p:attrName>
                                        </p:attrNameLst>
                                      </p:cBhvr>
                                      <p:to>
                                        <p:strVal val="visible"/>
                                      </p:to>
                                    </p:set>
                                    <p:animEffect transition="in" filter="wipe(left)">
                                      <p:cBhvr>
                                        <p:cTn id="101" dur="500"/>
                                        <p:tgtEl>
                                          <p:spTgt spid="18"/>
                                        </p:tgtEl>
                                      </p:cBhvr>
                                    </p:animEffect>
                                  </p:childTnLst>
                                </p:cTn>
                              </p:par>
                              <p:par>
                                <p:cTn id="105" presetID="22" presetClass="entr" presetSubtype="8" fill="hold" grpId="0" nodeType="withEffect">
                                  <p:stCondLst>
                                    <p:cond delay="360"/>
                                  </p:stCondLst>
                                  <p:childTnLst>
                                    <p:set>
                                      <p:cBhvr>
                                        <p:cTn id="103" dur="1" fill="hold">
                                          <p:stCondLst>
                                            <p:cond delay="0"/>
                                          </p:stCondLst>
                                        </p:cTn>
                                        <p:tgtEl>
                                          <p:spTgt spid="19"/>
                                        </p:tgtEl>
                                        <p:attrNameLst>
                                          <p:attrName>style.visibility</p:attrName>
                                        </p:attrNameLst>
                                      </p:cBhvr>
                                      <p:to>
                                        <p:strVal val="visible"/>
                                      </p:to>
                                    </p:set>
                                    <p:animEffect transition="in" filter="wipe(left)">
                                      <p:cBhvr>
                                        <p:cTn id="104" dur="500"/>
                                        <p:tgtEl>
                                          <p:spTgt spid="19"/>
                                        </p:tgtEl>
                                      </p:cBhvr>
                                    </p:animEffect>
                                  </p:childTnLst>
                                </p:cTn>
                              </p:par>
                              <p:par>
                                <p:cTn id="108" presetID="22" presetClass="entr" presetSubtype="8" fill="hold" grpId="0" nodeType="withEffect">
                                  <p:stCondLst>
                                    <p:cond delay="360"/>
                                  </p:stCondLst>
                                  <p:childTnLst>
                                    <p:set>
                                      <p:cBhvr>
                                        <p:cTn id="106" dur="1" fill="hold">
                                          <p:stCondLst>
                                            <p:cond delay="0"/>
                                          </p:stCondLst>
                                        </p:cTn>
                                        <p:tgtEl>
                                          <p:spTgt spid="26"/>
                                        </p:tgtEl>
                                        <p:attrNameLst>
                                          <p:attrName>style.visibility</p:attrName>
                                        </p:attrNameLst>
                                      </p:cBhvr>
                                      <p:to>
                                        <p:strVal val="visible"/>
                                      </p:to>
                                    </p:set>
                                    <p:animEffect transition="in" filter="wipe(left)">
                                      <p:cBhvr>
                                        <p:cTn id="107" dur="500"/>
                                        <p:tgtEl>
                                          <p:spTgt spid="26"/>
                                        </p:tgtEl>
                                      </p:cBhvr>
                                    </p:animEffect>
                                  </p:childTnLst>
                                </p:cTn>
                              </p:par>
                              <p:par>
                                <p:cTn id="111" presetID="22" presetClass="entr" presetSubtype="8" fill="hold" grpId="0" nodeType="withEffect">
                                  <p:stCondLst>
                                    <p:cond delay="360"/>
                                  </p:stCondLst>
                                  <p:childTnLst>
                                    <p:set>
                                      <p:cBhvr>
                                        <p:cTn id="109" dur="1" fill="hold">
                                          <p:stCondLst>
                                            <p:cond delay="0"/>
                                          </p:stCondLst>
                                        </p:cTn>
                                        <p:tgtEl>
                                          <p:spTgt spid="27"/>
                                        </p:tgtEl>
                                        <p:attrNameLst>
                                          <p:attrName>style.visibility</p:attrName>
                                        </p:attrNameLst>
                                      </p:cBhvr>
                                      <p:to>
                                        <p:strVal val="visible"/>
                                      </p:to>
                                    </p:set>
                                    <p:animEffect transition="in" filter="wipe(left)">
                                      <p:cBhvr>
                                        <p:cTn id="110" dur="500"/>
                                        <p:tgtEl>
                                          <p:spTgt spid="27"/>
                                        </p:tgtEl>
                                      </p:cBhvr>
                                    </p:animEffect>
                                  </p:childTnLst>
                                </p:cTn>
                              </p:par>
                              <p:par>
                                <p:cTn id="114" presetID="22" presetClass="entr" presetSubtype="8" fill="hold" grpId="0" nodeType="withEffect">
                                  <p:stCondLst>
                                    <p:cond delay="360"/>
                                  </p:stCondLst>
                                  <p:childTnLst>
                                    <p:set>
                                      <p:cBhvr>
                                        <p:cTn id="112" dur="1" fill="hold">
                                          <p:stCondLst>
                                            <p:cond delay="0"/>
                                          </p:stCondLst>
                                        </p:cTn>
                                        <p:tgtEl>
                                          <p:spTgt spid="34"/>
                                        </p:tgtEl>
                                        <p:attrNameLst>
                                          <p:attrName>style.visibility</p:attrName>
                                        </p:attrNameLst>
                                      </p:cBhvr>
                                      <p:to>
                                        <p:strVal val="visible"/>
                                      </p:to>
                                    </p:set>
                                    <p:animEffect transition="in" filter="wipe(left)">
                                      <p:cBhvr>
                                        <p:cTn id="113" dur="500"/>
                                        <p:tgtEl>
                                          <p:spTgt spid="34"/>
                                        </p:tgtEl>
                                      </p:cBhvr>
                                    </p:animEffect>
                                  </p:childTnLst>
                                </p:cTn>
                              </p:par>
                              <p:par>
                                <p:cTn id="117" presetID="22" presetClass="entr" presetSubtype="8" fill="hold" grpId="0" nodeType="withEffect">
                                  <p:stCondLst>
                                    <p:cond delay="360"/>
                                  </p:stCondLst>
                                  <p:childTnLst>
                                    <p:set>
                                      <p:cBhvr>
                                        <p:cTn id="115" dur="1" fill="hold">
                                          <p:stCondLst>
                                            <p:cond delay="0"/>
                                          </p:stCondLst>
                                        </p:cTn>
                                        <p:tgtEl>
                                          <p:spTgt spid="35"/>
                                        </p:tgtEl>
                                        <p:attrNameLst>
                                          <p:attrName>style.visibility</p:attrName>
                                        </p:attrNameLst>
                                      </p:cBhvr>
                                      <p:to>
                                        <p:strVal val="visible"/>
                                      </p:to>
                                    </p:set>
                                    <p:animEffect transition="in" filter="wipe(left)">
                                      <p:cBhvr>
                                        <p:cTn id="116" dur="500"/>
                                        <p:tgtEl>
                                          <p:spTgt spid="35"/>
                                        </p:tgtEl>
                                      </p:cBhvr>
                                    </p:animEffect>
                                  </p:childTnLst>
                                </p:cTn>
                              </p:par>
                              <p:par>
                                <p:cTn id="120" presetID="22" presetClass="entr" presetSubtype="8" fill="hold" grpId="0" nodeType="withEffect">
                                  <p:stCondLst>
                                    <p:cond delay="360"/>
                                  </p:stCondLst>
                                  <p:childTnLst>
                                    <p:set>
                                      <p:cBhvr>
                                        <p:cTn id="118" dur="1" fill="hold">
                                          <p:stCondLst>
                                            <p:cond delay="0"/>
                                          </p:stCondLst>
                                        </p:cTn>
                                        <p:tgtEl>
                                          <p:spTgt spid="42"/>
                                        </p:tgtEl>
                                        <p:attrNameLst>
                                          <p:attrName>style.visibility</p:attrName>
                                        </p:attrNameLst>
                                      </p:cBhvr>
                                      <p:to>
                                        <p:strVal val="visible"/>
                                      </p:to>
                                    </p:set>
                                    <p:animEffect transition="in" filter="wipe(left)">
                                      <p:cBhvr>
                                        <p:cTn id="119" dur="500"/>
                                        <p:tgtEl>
                                          <p:spTgt spid="42"/>
                                        </p:tgtEl>
                                      </p:cBhvr>
                                    </p:animEffect>
                                  </p:childTnLst>
                                </p:cTn>
                              </p:par>
                              <p:par>
                                <p:cTn id="123" presetID="22" presetClass="entr" presetSubtype="8" fill="hold" grpId="0" nodeType="withEffect">
                                  <p:stCondLst>
                                    <p:cond delay="360"/>
                                  </p:stCondLst>
                                  <p:childTnLst>
                                    <p:set>
                                      <p:cBhvr>
                                        <p:cTn id="121" dur="1" fill="hold">
                                          <p:stCondLst>
                                            <p:cond delay="0"/>
                                          </p:stCondLst>
                                        </p:cTn>
                                        <p:tgtEl>
                                          <p:spTgt spid="43"/>
                                        </p:tgtEl>
                                        <p:attrNameLst>
                                          <p:attrName>style.visibility</p:attrName>
                                        </p:attrNameLst>
                                      </p:cBhvr>
                                      <p:to>
                                        <p:strVal val="visible"/>
                                      </p:to>
                                    </p:set>
                                    <p:animEffect transition="in" filter="wipe(left)">
                                      <p:cBhvr>
                                        <p:cTn id="122" dur="500"/>
                                        <p:tgtEl>
                                          <p:spTgt spid="43"/>
                                        </p:tgtEl>
                                      </p:cBhvr>
                                    </p:animEffect>
                                  </p:childTnLst>
                                </p:cTn>
                              </p:par>
                              <p:par>
                                <p:cTn id="128" presetID="2" presetClass="entr" presetSubtype="4" fill="hold" grpId="0" nodeType="withEffect">
                                  <p:stCondLst>
                                    <p:cond delay="400"/>
                                  </p:stCondLst>
                                  <p:childTnLst>
                                    <p:set>
                                      <p:cBhvr>
                                        <p:cTn id="124" dur="1" fill="hold">
                                          <p:stCondLst>
                                            <p:cond delay="0"/>
                                          </p:stCondLst>
                                        </p:cTn>
                                        <p:tgtEl>
                                          <p:spTgt spid="57"/>
                                        </p:tgtEl>
                                        <p:attrNameLst>
                                          <p:attrName>style.visibility</p:attrName>
                                        </p:attrNameLst>
                                      </p:cBhvr>
                                      <p:to>
                                        <p:strVal val="visible"/>
                                      </p:to>
                                    </p:set>
                                    <p:anim calcmode="lin" valueType="num">
                                      <p:cBhvr additive="base">
                                        <p:cTn id="125" dur="500" fill="hold"/>
                                        <p:tgtEl>
                                          <p:spTgt spid="57"/>
                                        </p:tgtEl>
                                        <p:attrNameLst>
                                          <p:attrName>ppt_x</p:attrName>
                                        </p:attrNameLst>
                                      </p:cBhvr>
                                      <p:tavLst>
                                        <p:tav tm="0">
                                          <p:val>
                                            <p:strVal val="#ppt_x"/>
                                          </p:val>
                                        </p:tav>
                                        <p:tav tm="100000">
                                          <p:val>
                                            <p:strVal val="#ppt_x"/>
                                          </p:val>
                                        </p:tav>
                                      </p:tavLst>
                                    </p:anim>
                                    <p:anim calcmode="lin" valueType="num">
                                      <p:cBhvr additive="base">
                                        <p:cTn id="126" dur="500" fill="hold"/>
                                        <p:tgtEl>
                                          <p:spTgt spid="57"/>
                                        </p:tgtEl>
                                        <p:attrNameLst>
                                          <p:attrName>ppt_y</p:attrName>
                                        </p:attrNameLst>
                                      </p:cBhvr>
                                      <p:tavLst>
                                        <p:tav tm="0">
                                          <p:val>
                                            <p:strVal val="#ppt_y+0.1"/>
                                          </p:val>
                                        </p:tav>
                                        <p:tav tm="100000">
                                          <p:val>
                                            <p:strVal val="#ppt_y"/>
                                          </p:val>
                                        </p:tav>
                                      </p:tavLst>
                                    </p:anim>
                                    <p:animEffect transition="in" filter="fade">
                                      <p:cBhvr>
                                        <p:cTn id="127" dur="500"/>
                                        <p:tgtEl>
                                          <p:spTgt spid="57"/>
                                        </p:tgtEl>
                                      </p:cBhvr>
                                    </p:animEffect>
                                  </p:childTnLst>
                                </p:cTn>
                              </p:par>
                              <p:par>
                                <p:cTn id="133" presetID="2" presetClass="entr" presetSubtype="4" fill="hold" grpId="0" nodeType="withEffect">
                                  <p:stCondLst>
                                    <p:cond delay="400"/>
                                  </p:stCondLst>
                                  <p:childTnLst>
                                    <p:set>
                                      <p:cBhvr>
                                        <p:cTn id="129" dur="1" fill="hold">
                                          <p:stCondLst>
                                            <p:cond delay="0"/>
                                          </p:stCondLst>
                                        </p:cTn>
                                        <p:tgtEl>
                                          <p:spTgt spid="58"/>
                                        </p:tgtEl>
                                        <p:attrNameLst>
                                          <p:attrName>style.visibility</p:attrName>
                                        </p:attrNameLst>
                                      </p:cBhvr>
                                      <p:to>
                                        <p:strVal val="visible"/>
                                      </p:to>
                                    </p:set>
                                    <p:anim calcmode="lin" valueType="num">
                                      <p:cBhvr additive="base">
                                        <p:cTn id="130" dur="500" fill="hold"/>
                                        <p:tgtEl>
                                          <p:spTgt spid="58"/>
                                        </p:tgtEl>
                                        <p:attrNameLst>
                                          <p:attrName>ppt_x</p:attrName>
                                        </p:attrNameLst>
                                      </p:cBhvr>
                                      <p:tavLst>
                                        <p:tav tm="0">
                                          <p:val>
                                            <p:strVal val="#ppt_x"/>
                                          </p:val>
                                        </p:tav>
                                        <p:tav tm="100000">
                                          <p:val>
                                            <p:strVal val="#ppt_x"/>
                                          </p:val>
                                        </p:tav>
                                      </p:tavLst>
                                    </p:anim>
                                    <p:anim calcmode="lin" valueType="num">
                                      <p:cBhvr additive="base">
                                        <p:cTn id="131" dur="500" fill="hold"/>
                                        <p:tgtEl>
                                          <p:spTgt spid="58"/>
                                        </p:tgtEl>
                                        <p:attrNameLst>
                                          <p:attrName>ppt_y</p:attrName>
                                        </p:attrNameLst>
                                      </p:cBhvr>
                                      <p:tavLst>
                                        <p:tav tm="0">
                                          <p:val>
                                            <p:strVal val="#ppt_y+0.1"/>
                                          </p:val>
                                        </p:tav>
                                        <p:tav tm="100000">
                                          <p:val>
                                            <p:strVal val="#ppt_y"/>
                                          </p:val>
                                        </p:tav>
                                      </p:tavLst>
                                    </p:anim>
                                    <p:animEffect transition="in" filter="fade">
                                      <p:cBhvr>
                                        <p:cTn id="132" dur="500"/>
                                        <p:tgtEl>
                                          <p:spTgt spid="58"/>
                                        </p:tgtEl>
                                      </p:cBhvr>
                                    </p:animEffect>
                                  </p:childTnLst>
                                </p:cTn>
                              </p:par>
                              <p:par>
                                <p:cTn id="136" presetID="10" presetClass="entr" presetSubtype="0" fill="hold" grpId="0" nodeType="withEffect">
                                  <p:stCondLst>
                                    <p:cond delay="500"/>
                                  </p:stCondLst>
                                  <p:childTnLst>
                                    <p:set>
                                      <p:cBhvr>
                                        <p:cTn id="134" dur="1" fill="hold">
                                          <p:stCondLst>
                                            <p:cond delay="0"/>
                                          </p:stCondLst>
                                        </p:cTn>
                                        <p:tgtEl>
                                          <p:spTgt spid="52"/>
                                        </p:tgtEl>
                                        <p:attrNameLst>
                                          <p:attrName>style.visibility</p:attrName>
                                        </p:attrNameLst>
                                      </p:cBhvr>
                                      <p:to>
                                        <p:strVal val="visible"/>
                                      </p:to>
                                    </p:set>
                                    <p:animEffect transition="in" filter="fade">
                                      <p:cBhvr>
                                        <p:cTn id="135" dur="500"/>
                                        <p:tgtEl>
                                          <p:spTgt spid="52"/>
                                        </p:tgtEl>
                                      </p:cBhvr>
                                    </p:animEffect>
                                  </p:childTnLst>
                                </p:cTn>
                              </p:par>
                              <p:par>
                                <p:cTn id="141" presetID="2" presetClass="entr" presetSubtype="4" fill="hold" grpId="0" nodeType="withEffect">
                                  <p:stCondLst>
                                    <p:cond delay="500"/>
                                  </p:stCondLst>
                                  <p:childTnLst>
                                    <p:set>
                                      <p:cBhvr>
                                        <p:cTn id="137" dur="1" fill="hold">
                                          <p:stCondLst>
                                            <p:cond delay="0"/>
                                          </p:stCondLst>
                                        </p:cTn>
                                        <p:tgtEl>
                                          <p:spTgt spid="59"/>
                                        </p:tgtEl>
                                        <p:attrNameLst>
                                          <p:attrName>style.visibility</p:attrName>
                                        </p:attrNameLst>
                                      </p:cBhvr>
                                      <p:to>
                                        <p:strVal val="visible"/>
                                      </p:to>
                                    </p:set>
                                    <p:anim calcmode="lin" valueType="num">
                                      <p:cBhvr additive="base">
                                        <p:cTn id="138" dur="500" fill="hold"/>
                                        <p:tgtEl>
                                          <p:spTgt spid="59"/>
                                        </p:tgtEl>
                                        <p:attrNameLst>
                                          <p:attrName>ppt_x</p:attrName>
                                        </p:attrNameLst>
                                      </p:cBhvr>
                                      <p:tavLst>
                                        <p:tav tm="0">
                                          <p:val>
                                            <p:strVal val="#ppt_x"/>
                                          </p:val>
                                        </p:tav>
                                        <p:tav tm="100000">
                                          <p:val>
                                            <p:strVal val="#ppt_x"/>
                                          </p:val>
                                        </p:tav>
                                      </p:tavLst>
                                    </p:anim>
                                    <p:anim calcmode="lin" valueType="num">
                                      <p:cBhvr additive="base">
                                        <p:cTn id="139" dur="500" fill="hold"/>
                                        <p:tgtEl>
                                          <p:spTgt spid="59"/>
                                        </p:tgtEl>
                                        <p:attrNameLst>
                                          <p:attrName>ppt_y</p:attrName>
                                        </p:attrNameLst>
                                      </p:cBhvr>
                                      <p:tavLst>
                                        <p:tav tm="0">
                                          <p:val>
                                            <p:strVal val="#ppt_y+0.1"/>
                                          </p:val>
                                        </p:tav>
                                        <p:tav tm="100000">
                                          <p:val>
                                            <p:strVal val="#ppt_y"/>
                                          </p:val>
                                        </p:tav>
                                      </p:tavLst>
                                    </p:anim>
                                    <p:animEffect transition="in" filter="fade">
                                      <p:cBhvr>
                                        <p:cTn id="140" dur="500"/>
                                        <p:tgtEl>
                                          <p:spTgt spid="59"/>
                                        </p:tgtEl>
                                      </p:cBhvr>
                                    </p:animEffect>
                                  </p:childTnLst>
                                </p:cTn>
                              </p:par>
                              <p:par>
                                <p:cTn id="146" presetID="2" presetClass="entr" presetSubtype="4" fill="hold" grpId="0" nodeType="withEffect">
                                  <p:stCondLst>
                                    <p:cond delay="500"/>
                                  </p:stCondLst>
                                  <p:childTnLst>
                                    <p:set>
                                      <p:cBhvr>
                                        <p:cTn id="142" dur="1" fill="hold">
                                          <p:stCondLst>
                                            <p:cond delay="0"/>
                                          </p:stCondLst>
                                        </p:cTn>
                                        <p:tgtEl>
                                          <p:spTgt spid="60"/>
                                        </p:tgtEl>
                                        <p:attrNameLst>
                                          <p:attrName>style.visibility</p:attrName>
                                        </p:attrNameLst>
                                      </p:cBhvr>
                                      <p:to>
                                        <p:strVal val="visible"/>
                                      </p:to>
                                    </p:set>
                                    <p:anim calcmode="lin" valueType="num">
                                      <p:cBhvr additive="base">
                                        <p:cTn id="143" dur="500" fill="hold"/>
                                        <p:tgtEl>
                                          <p:spTgt spid="60"/>
                                        </p:tgtEl>
                                        <p:attrNameLst>
                                          <p:attrName>ppt_x</p:attrName>
                                        </p:attrNameLst>
                                      </p:cBhvr>
                                      <p:tavLst>
                                        <p:tav tm="0">
                                          <p:val>
                                            <p:strVal val="#ppt_x"/>
                                          </p:val>
                                        </p:tav>
                                        <p:tav tm="100000">
                                          <p:val>
                                            <p:strVal val="#ppt_x"/>
                                          </p:val>
                                        </p:tav>
                                      </p:tavLst>
                                    </p:anim>
                                    <p:anim calcmode="lin" valueType="num">
                                      <p:cBhvr additive="base">
                                        <p:cTn id="144" dur="500" fill="hold"/>
                                        <p:tgtEl>
                                          <p:spTgt spid="60"/>
                                        </p:tgtEl>
                                        <p:attrNameLst>
                                          <p:attrName>ppt_y</p:attrName>
                                        </p:attrNameLst>
                                      </p:cBhvr>
                                      <p:tavLst>
                                        <p:tav tm="0">
                                          <p:val>
                                            <p:strVal val="#ppt_y+0.1"/>
                                          </p:val>
                                        </p:tav>
                                        <p:tav tm="100000">
                                          <p:val>
                                            <p:strVal val="#ppt_y"/>
                                          </p:val>
                                        </p:tav>
                                      </p:tavLst>
                                    </p:anim>
                                    <p:animEffect transition="in" filter="fade">
                                      <p:cBhvr>
                                        <p:cTn id="145" dur="500"/>
                                        <p:tgtEl>
                                          <p:spTgt spid="60"/>
                                        </p:tgtEl>
                                      </p:cBhvr>
                                    </p:animEffect>
                                  </p:childTnLst>
                                </p:cTn>
                              </p:par>
                            </p:childTnLst>
                          </p:cTn>
                        </p:par>
                      </p:childTnLst>
                    </p:cTn>
                  </p:par>
                  <p:par>
                    <p:cTn id="147" fill="hold">
                      <p:stCondLst>
                        <p:cond delay="indefinite"/>
                      </p:stCondLst>
                      <p:childTnLst>
                        <p:par>
                          <p:cTn id="148" fill="hold">
                            <p:stCondLst>
                              <p:cond delay="0"/>
                            </p:stCondLst>
                            <p:childTnLst>
                              <p:par>
                                <p:cTn id="151" presetID="10" presetClass="entr" presetSubtype="0" fill="hold" grpId="0" nodeType="clickEffect">
                                  <p:stCondLst>
                                    <p:cond delay="0"/>
                                  </p:stCondLst>
                                  <p:childTnLst>
                                    <p:set>
                                      <p:cBhvr>
                                        <p:cTn id="149" dur="1" fill="hold">
                                          <p:stCondLst>
                                            <p:cond delay="0"/>
                                          </p:stCondLst>
                                        </p:cTn>
                                        <p:tgtEl>
                                          <p:spTgt spid="61"/>
                                        </p:tgtEl>
                                        <p:attrNameLst>
                                          <p:attrName>style.visibility</p:attrName>
                                        </p:attrNameLst>
                                      </p:cBhvr>
                                      <p:to>
                                        <p:strVal val="visible"/>
                                      </p:to>
                                    </p:set>
                                    <p:animEffect transition="in" filter="fade">
                                      <p:cBhvr>
                                        <p:cTn id="150" dur="500"/>
                                        <p:tgtEl>
                                          <p:spTgt spid="61"/>
                                        </p:tgtEl>
                                      </p:cBhvr>
                                    </p:animEffect>
                                  </p:childTnLst>
                                </p:cTn>
                              </p:par>
                              <p:par>
                                <p:cTn id="154" presetID="22" presetClass="entr" presetSubtype="8" fill="hold" grpId="0" nodeType="withEffect">
                                  <p:stCondLst>
                                    <p:cond delay="0"/>
                                  </p:stCondLst>
                                  <p:childTnLst>
                                    <p:set>
                                      <p:cBhvr>
                                        <p:cTn id="152" dur="1" fill="hold">
                                          <p:stCondLst>
                                            <p:cond delay="0"/>
                                          </p:stCondLst>
                                        </p:cTn>
                                        <p:tgtEl>
                                          <p:spTgt spid="62"/>
                                        </p:tgtEl>
                                        <p:attrNameLst>
                                          <p:attrName>style.visibility</p:attrName>
                                        </p:attrNameLst>
                                      </p:cBhvr>
                                      <p:to>
                                        <p:strVal val="visible"/>
                                      </p:to>
                                    </p:set>
                                    <p:animEffect transition="in" filter="wipe(left)">
                                      <p:cBhvr>
                                        <p:cTn id="153" dur="500"/>
                                        <p:tgtEl>
                                          <p:spTgt spid="62"/>
                                        </p:tgtEl>
                                      </p:cBhvr>
                                    </p:animEffect>
                                  </p:childTnLst>
                                </p:cTn>
                              </p:par>
                              <p:par>
                                <p:cTn id="157" presetID="22" presetClass="entr" presetSubtype="8" fill="hold" grpId="0" nodeType="withEffect">
                                  <p:stCondLst>
                                    <p:cond delay="90"/>
                                  </p:stCondLst>
                                  <p:childTnLst>
                                    <p:set>
                                      <p:cBhvr>
                                        <p:cTn id="155" dur="1" fill="hold">
                                          <p:stCondLst>
                                            <p:cond delay="0"/>
                                          </p:stCondLst>
                                        </p:cTn>
                                        <p:tgtEl>
                                          <p:spTgt spid="63"/>
                                        </p:tgtEl>
                                        <p:attrNameLst>
                                          <p:attrName>style.visibility</p:attrName>
                                        </p:attrNameLst>
                                      </p:cBhvr>
                                      <p:to>
                                        <p:strVal val="visible"/>
                                      </p:to>
                                    </p:set>
                                    <p:animEffect transition="in" filter="wipe(left)">
                                      <p:cBhvr>
                                        <p:cTn id="156" dur="500"/>
                                        <p:tgtEl>
                                          <p:spTgt spid="63"/>
                                        </p:tgtEl>
                                      </p:cBhvr>
                                    </p:animEffect>
                                  </p:childTnLst>
                                </p:cTn>
                              </p:par>
                              <p:par>
                                <p:cTn id="160" presetID="22" presetClass="entr" presetSubtype="8" fill="hold" grpId="0" nodeType="withEffect">
                                  <p:stCondLst>
                                    <p:cond delay="180"/>
                                  </p:stCondLst>
                                  <p:childTnLst>
                                    <p:set>
                                      <p:cBhvr>
                                        <p:cTn id="158" dur="1" fill="hold">
                                          <p:stCondLst>
                                            <p:cond delay="0"/>
                                          </p:stCondLst>
                                        </p:cTn>
                                        <p:tgtEl>
                                          <p:spTgt spid="64"/>
                                        </p:tgtEl>
                                        <p:attrNameLst>
                                          <p:attrName>style.visibility</p:attrName>
                                        </p:attrNameLst>
                                      </p:cBhvr>
                                      <p:to>
                                        <p:strVal val="visible"/>
                                      </p:to>
                                    </p:set>
                                    <p:animEffect transition="in" filter="wipe(left)">
                                      <p:cBhvr>
                                        <p:cTn id="159" dur="500"/>
                                        <p:tgtEl>
                                          <p:spTgt spid="64"/>
                                        </p:tgtEl>
                                      </p:cBhvr>
                                    </p:animEffect>
                                  </p:childTnLst>
                                </p:cTn>
                              </p:par>
                              <p:par>
                                <p:cTn id="163" presetID="22" presetClass="entr" presetSubtype="8" fill="hold" grpId="0" nodeType="withEffect">
                                  <p:stCondLst>
                                    <p:cond delay="270"/>
                                  </p:stCondLst>
                                  <p:childTnLst>
                                    <p:set>
                                      <p:cBhvr>
                                        <p:cTn id="161" dur="1" fill="hold">
                                          <p:stCondLst>
                                            <p:cond delay="0"/>
                                          </p:stCondLst>
                                        </p:cTn>
                                        <p:tgtEl>
                                          <p:spTgt spid="65"/>
                                        </p:tgtEl>
                                        <p:attrNameLst>
                                          <p:attrName>style.visibility</p:attrName>
                                        </p:attrNameLst>
                                      </p:cBhvr>
                                      <p:to>
                                        <p:strVal val="visible"/>
                                      </p:to>
                                    </p:set>
                                    <p:animEffect transition="in" filter="wipe(left)">
                                      <p:cBhvr>
                                        <p:cTn id="162" dur="500"/>
                                        <p:tgtEl>
                                          <p:spTgt spid="65"/>
                                        </p:tgtEl>
                                      </p:cBhvr>
                                    </p:animEffect>
                                  </p:childTnLst>
                                </p:cTn>
                              </p:par>
                              <p:par>
                                <p:cTn id="166" presetID="22" presetClass="entr" presetSubtype="8" fill="hold" grpId="0" nodeType="withEffect">
                                  <p:stCondLst>
                                    <p:cond delay="300"/>
                                  </p:stCondLst>
                                  <p:childTnLst>
                                    <p:set>
                                      <p:cBhvr>
                                        <p:cTn id="164" dur="1" fill="hold">
                                          <p:stCondLst>
                                            <p:cond delay="0"/>
                                          </p:stCondLst>
                                        </p:cTn>
                                        <p:tgtEl>
                                          <p:spTgt spid="44"/>
                                        </p:tgtEl>
                                        <p:attrNameLst>
                                          <p:attrName>style.visibility</p:attrName>
                                        </p:attrNameLst>
                                      </p:cBhvr>
                                      <p:to>
                                        <p:strVal val="visible"/>
                                      </p:to>
                                    </p:set>
                                    <p:animEffect transition="in" filter="wipe(left)">
                                      <p:cBhvr>
                                        <p:cTn id="165" dur="500"/>
                                        <p:tgtEl>
                                          <p:spTgt spid="44"/>
                                        </p:tgtEl>
                                      </p:cBhvr>
                                    </p:animEffect>
                                  </p:childTnLst>
                                </p:cTn>
                              </p:par>
                              <p:par>
                                <p:cTn id="169" presetID="22" presetClass="entr" presetSubtype="8" fill="hold" grpId="0" nodeType="withEffect">
                                  <p:stCondLst>
                                    <p:cond delay="300"/>
                                  </p:stCondLst>
                                  <p:childTnLst>
                                    <p:set>
                                      <p:cBhvr>
                                        <p:cTn id="167" dur="1" fill="hold">
                                          <p:stCondLst>
                                            <p:cond delay="0"/>
                                          </p:stCondLst>
                                        </p:cTn>
                                        <p:tgtEl>
                                          <p:spTgt spid="45"/>
                                        </p:tgtEl>
                                        <p:attrNameLst>
                                          <p:attrName>style.visibility</p:attrName>
                                        </p:attrNameLst>
                                      </p:cBhvr>
                                      <p:to>
                                        <p:strVal val="visible"/>
                                      </p:to>
                                    </p:set>
                                    <p:animEffect transition="in" filter="wipe(left)">
                                      <p:cBhvr>
                                        <p:cTn id="168" dur="500"/>
                                        <p:tgtEl>
                                          <p:spTgt spid="45"/>
                                        </p:tgtEl>
                                      </p:cBhvr>
                                    </p:animEffect>
                                  </p:childTnLst>
                                </p:cTn>
                              </p:par>
                              <p:par>
                                <p:cTn id="172" presetID="22" presetClass="entr" presetSubtype="8" fill="hold" grpId="0" nodeType="withEffect">
                                  <p:stCondLst>
                                    <p:cond delay="300"/>
                                  </p:stCondLst>
                                  <p:childTnLst>
                                    <p:set>
                                      <p:cBhvr>
                                        <p:cTn id="170" dur="1" fill="hold">
                                          <p:stCondLst>
                                            <p:cond delay="0"/>
                                          </p:stCondLst>
                                        </p:cTn>
                                        <p:tgtEl>
                                          <p:spTgt spid="46"/>
                                        </p:tgtEl>
                                        <p:attrNameLst>
                                          <p:attrName>style.visibility</p:attrName>
                                        </p:attrNameLst>
                                      </p:cBhvr>
                                      <p:to>
                                        <p:strVal val="visible"/>
                                      </p:to>
                                    </p:set>
                                    <p:animEffect transition="in" filter="wipe(left)">
                                      <p:cBhvr>
                                        <p:cTn id="171" dur="500"/>
                                        <p:tgtEl>
                                          <p:spTgt spid="46"/>
                                        </p:tgtEl>
                                      </p:cBhvr>
                                    </p:animEffect>
                                  </p:childTnLst>
                                </p:cTn>
                              </p:par>
                              <p:par>
                                <p:cTn id="175" presetID="22" presetClass="entr" presetSubtype="8" fill="hold" grpId="0" nodeType="withEffect">
                                  <p:stCondLst>
                                    <p:cond delay="300"/>
                                  </p:stCondLst>
                                  <p:childTnLst>
                                    <p:set>
                                      <p:cBhvr>
                                        <p:cTn id="173" dur="1" fill="hold">
                                          <p:stCondLst>
                                            <p:cond delay="0"/>
                                          </p:stCondLst>
                                        </p:cTn>
                                        <p:tgtEl>
                                          <p:spTgt spid="47"/>
                                        </p:tgtEl>
                                        <p:attrNameLst>
                                          <p:attrName>style.visibility</p:attrName>
                                        </p:attrNameLst>
                                      </p:cBhvr>
                                      <p:to>
                                        <p:strVal val="visible"/>
                                      </p:to>
                                    </p:set>
                                    <p:animEffect transition="in" filter="wipe(left)">
                                      <p:cBhvr>
                                        <p:cTn id="174" dur="500"/>
                                        <p:tgtEl>
                                          <p:spTgt spid="47"/>
                                        </p:tgtEl>
                                      </p:cBhvr>
                                    </p:animEffect>
                                  </p:childTnLst>
                                </p:cTn>
                              </p:par>
                              <p:par>
                                <p:cTn id="178" presetID="22" presetClass="entr" presetSubtype="8" fill="hold" grpId="0" nodeType="withEffect">
                                  <p:stCondLst>
                                    <p:cond delay="300"/>
                                  </p:stCondLst>
                                  <p:childTnLst>
                                    <p:set>
                                      <p:cBhvr>
                                        <p:cTn id="176" dur="1" fill="hold">
                                          <p:stCondLst>
                                            <p:cond delay="0"/>
                                          </p:stCondLst>
                                        </p:cTn>
                                        <p:tgtEl>
                                          <p:spTgt spid="48"/>
                                        </p:tgtEl>
                                        <p:attrNameLst>
                                          <p:attrName>style.visibility</p:attrName>
                                        </p:attrNameLst>
                                      </p:cBhvr>
                                      <p:to>
                                        <p:strVal val="visible"/>
                                      </p:to>
                                    </p:set>
                                    <p:animEffect transition="in" filter="wipe(left)">
                                      <p:cBhvr>
                                        <p:cTn id="177" dur="500"/>
                                        <p:tgtEl>
                                          <p:spTgt spid="48"/>
                                        </p:tgtEl>
                                      </p:cBhvr>
                                    </p:animEffect>
                                  </p:childTnLst>
                                </p:cTn>
                              </p:par>
                              <p:par>
                                <p:cTn id="181" presetID="22" presetClass="entr" presetSubtype="8" fill="hold" grpId="0" nodeType="withEffect">
                                  <p:stCondLst>
                                    <p:cond delay="300"/>
                                  </p:stCondLst>
                                  <p:childTnLst>
                                    <p:set>
                                      <p:cBhvr>
                                        <p:cTn id="179" dur="1" fill="hold">
                                          <p:stCondLst>
                                            <p:cond delay="0"/>
                                          </p:stCondLst>
                                        </p:cTn>
                                        <p:tgtEl>
                                          <p:spTgt spid="49"/>
                                        </p:tgtEl>
                                        <p:attrNameLst>
                                          <p:attrName>style.visibility</p:attrName>
                                        </p:attrNameLst>
                                      </p:cBhvr>
                                      <p:to>
                                        <p:strVal val="visible"/>
                                      </p:to>
                                    </p:set>
                                    <p:animEffect transition="in" filter="wipe(left)">
                                      <p:cBhvr>
                                        <p:cTn id="180" dur="500"/>
                                        <p:tgtEl>
                                          <p:spTgt spid="49"/>
                                        </p:tgtEl>
                                      </p:cBhvr>
                                    </p:animEffect>
                                  </p:childTnLst>
                                </p:cTn>
                              </p:par>
                              <p:par>
                                <p:cTn id="184" presetID="22" presetClass="entr" presetSubtype="8" fill="hold" grpId="0" nodeType="withEffect">
                                  <p:stCondLst>
                                    <p:cond delay="300"/>
                                  </p:stCondLst>
                                  <p:childTnLst>
                                    <p:set>
                                      <p:cBhvr>
                                        <p:cTn id="182" dur="1" fill="hold">
                                          <p:stCondLst>
                                            <p:cond delay="0"/>
                                          </p:stCondLst>
                                        </p:cTn>
                                        <p:tgtEl>
                                          <p:spTgt spid="50"/>
                                        </p:tgtEl>
                                        <p:attrNameLst>
                                          <p:attrName>style.visibility</p:attrName>
                                        </p:attrNameLst>
                                      </p:cBhvr>
                                      <p:to>
                                        <p:strVal val="visible"/>
                                      </p:to>
                                    </p:set>
                                    <p:animEffect transition="in" filter="wipe(left)">
                                      <p:cBhvr>
                                        <p:cTn id="183" dur="500"/>
                                        <p:tgtEl>
                                          <p:spTgt spid="50"/>
                                        </p:tgtEl>
                                      </p:cBhvr>
                                    </p:animEffect>
                                  </p:childTnLst>
                                </p:cTn>
                              </p:par>
                              <p:par>
                                <p:cTn id="187" presetID="22" presetClass="entr" presetSubtype="8" fill="hold" grpId="0" nodeType="withEffect">
                                  <p:stCondLst>
                                    <p:cond delay="300"/>
                                  </p:stCondLst>
                                  <p:childTnLst>
                                    <p:set>
                                      <p:cBhvr>
                                        <p:cTn id="185" dur="1" fill="hold">
                                          <p:stCondLst>
                                            <p:cond delay="0"/>
                                          </p:stCondLst>
                                        </p:cTn>
                                        <p:tgtEl>
                                          <p:spTgt spid="51"/>
                                        </p:tgtEl>
                                        <p:attrNameLst>
                                          <p:attrName>style.visibility</p:attrName>
                                        </p:attrNameLst>
                                      </p:cBhvr>
                                      <p:to>
                                        <p:strVal val="visible"/>
                                      </p:to>
                                    </p:set>
                                    <p:animEffect transition="in" filter="wipe(left)">
                                      <p:cBhvr>
                                        <p:cTn id="186" dur="500"/>
                                        <p:tgtEl>
                                          <p:spTgt spid="51"/>
                                        </p:tgtEl>
                                      </p:cBhvr>
                                    </p:animEffect>
                                  </p:childTnLst>
                                </p:cTn>
                              </p:par>
                            </p:childTnLst>
                          </p:cTn>
                        </p:par>
                      </p:childTnLst>
                    </p:cTn>
                  </p:par>
                  <p:par>
                    <p:cTn id="188" fill="hold">
                      <p:stCondLst>
                        <p:cond delay="indefinite"/>
                      </p:stCondLst>
                      <p:childTnLst>
                        <p:par>
                          <p:cTn id="189" fill="hold">
                            <p:stCondLst>
                              <p:cond delay="0"/>
                            </p:stCondLst>
                            <p:childTnLst>
                              <p:par>
                                <p:cTn id="194" presetID="2" presetClass="entr" presetSubtype="4" fill="hold" grpId="0" nodeType="clickEffect">
                                  <p:stCondLst>
                                    <p:cond delay="0"/>
                                  </p:stCondLst>
                                  <p:childTnLst>
                                    <p:set>
                                      <p:cBhvr>
                                        <p:cTn id="190" dur="1" fill="hold">
                                          <p:stCondLst>
                                            <p:cond delay="0"/>
                                          </p:stCondLst>
                                        </p:cTn>
                                        <p:tgtEl>
                                          <p:spTgt spid="66"/>
                                        </p:tgtEl>
                                        <p:attrNameLst>
                                          <p:attrName>style.visibility</p:attrName>
                                        </p:attrNameLst>
                                      </p:cBhvr>
                                      <p:to>
                                        <p:strVal val="visible"/>
                                      </p:to>
                                    </p:set>
                                    <p:anim calcmode="lin" valueType="num">
                                      <p:cBhvr additive="base">
                                        <p:cTn id="191" dur="500" fill="hold"/>
                                        <p:tgtEl>
                                          <p:spTgt spid="66"/>
                                        </p:tgtEl>
                                        <p:attrNameLst>
                                          <p:attrName>ppt_x</p:attrName>
                                        </p:attrNameLst>
                                      </p:cBhvr>
                                      <p:tavLst>
                                        <p:tav tm="0">
                                          <p:val>
                                            <p:strVal val="#ppt_x"/>
                                          </p:val>
                                        </p:tav>
                                        <p:tav tm="100000">
                                          <p:val>
                                            <p:strVal val="#ppt_x"/>
                                          </p:val>
                                        </p:tav>
                                      </p:tavLst>
                                    </p:anim>
                                    <p:anim calcmode="lin" valueType="num">
                                      <p:cBhvr additive="base">
                                        <p:cTn id="192" dur="500" fill="hold"/>
                                        <p:tgtEl>
                                          <p:spTgt spid="66"/>
                                        </p:tgtEl>
                                        <p:attrNameLst>
                                          <p:attrName>ppt_y</p:attrName>
                                        </p:attrNameLst>
                                      </p:cBhvr>
                                      <p:tavLst>
                                        <p:tav tm="0">
                                          <p:val>
                                            <p:strVal val="#ppt_y+0.1"/>
                                          </p:val>
                                        </p:tav>
                                        <p:tav tm="100000">
                                          <p:val>
                                            <p:strVal val="#ppt_y"/>
                                          </p:val>
                                        </p:tav>
                                      </p:tavLst>
                                    </p:anim>
                                    <p:animEffect transition="in" filter="fade">
                                      <p:cBhvr>
                                        <p:cTn id="193" dur="500"/>
                                        <p:tgtEl>
                                          <p:spTgt spid="66"/>
                                        </p:tgtEl>
                                      </p:cBhvr>
                                    </p:animEffect>
                                  </p:childTnLst>
                                </p:cTn>
                              </p:par>
                              <p:par>
                                <p:cTn id="199" presetID="2" presetClass="entr" presetSubtype="4" fill="hold" grpId="0" nodeType="withEffect">
                                  <p:stCondLst>
                                    <p:cond delay="0"/>
                                  </p:stCondLst>
                                  <p:childTnLst>
                                    <p:set>
                                      <p:cBhvr>
                                        <p:cTn id="195" dur="1" fill="hold">
                                          <p:stCondLst>
                                            <p:cond delay="0"/>
                                          </p:stCondLst>
                                        </p:cTn>
                                        <p:tgtEl>
                                          <p:spTgt spid="67"/>
                                        </p:tgtEl>
                                        <p:attrNameLst>
                                          <p:attrName>style.visibility</p:attrName>
                                        </p:attrNameLst>
                                      </p:cBhvr>
                                      <p:to>
                                        <p:strVal val="visible"/>
                                      </p:to>
                                    </p:set>
                                    <p:anim calcmode="lin" valueType="num">
                                      <p:cBhvr additive="base">
                                        <p:cTn id="196" dur="500" fill="hold"/>
                                        <p:tgtEl>
                                          <p:spTgt spid="67"/>
                                        </p:tgtEl>
                                        <p:attrNameLst>
                                          <p:attrName>ppt_x</p:attrName>
                                        </p:attrNameLst>
                                      </p:cBhvr>
                                      <p:tavLst>
                                        <p:tav tm="0">
                                          <p:val>
                                            <p:strVal val="#ppt_x"/>
                                          </p:val>
                                        </p:tav>
                                        <p:tav tm="100000">
                                          <p:val>
                                            <p:strVal val="#ppt_x"/>
                                          </p:val>
                                        </p:tav>
                                      </p:tavLst>
                                    </p:anim>
                                    <p:anim calcmode="lin" valueType="num">
                                      <p:cBhvr additive="base">
                                        <p:cTn id="197" dur="500" fill="hold"/>
                                        <p:tgtEl>
                                          <p:spTgt spid="67"/>
                                        </p:tgtEl>
                                        <p:attrNameLst>
                                          <p:attrName>ppt_y</p:attrName>
                                        </p:attrNameLst>
                                      </p:cBhvr>
                                      <p:tavLst>
                                        <p:tav tm="0">
                                          <p:val>
                                            <p:strVal val="#ppt_y+0.1"/>
                                          </p:val>
                                        </p:tav>
                                        <p:tav tm="100000">
                                          <p:val>
                                            <p:strVal val="#ppt_y"/>
                                          </p:val>
                                        </p:tav>
                                      </p:tavLst>
                                    </p:anim>
                                    <p:animEffect transition="in" filter="fade">
                                      <p:cBhvr>
                                        <p:cTn id="198" dur="500"/>
                                        <p:tgtEl>
                                          <p:spTgt spid="67"/>
                                        </p:tgtEl>
                                      </p:cBhvr>
                                    </p:animEffect>
                                  </p:childTnLst>
                                </p:cTn>
                              </p:par>
                              <p:par>
                                <p:cTn id="204" presetID="2" presetClass="entr" presetSubtype="4" fill="hold" grpId="0" nodeType="withEffect">
                                  <p:stCondLst>
                                    <p:cond delay="0"/>
                                  </p:stCondLst>
                                  <p:childTnLst>
                                    <p:set>
                                      <p:cBhvr>
                                        <p:cTn id="200" dur="1" fill="hold">
                                          <p:stCondLst>
                                            <p:cond delay="0"/>
                                          </p:stCondLst>
                                        </p:cTn>
                                        <p:tgtEl>
                                          <p:spTgt spid="68"/>
                                        </p:tgtEl>
                                        <p:attrNameLst>
                                          <p:attrName>style.visibility</p:attrName>
                                        </p:attrNameLst>
                                      </p:cBhvr>
                                      <p:to>
                                        <p:strVal val="visible"/>
                                      </p:to>
                                    </p:set>
                                    <p:anim calcmode="lin" valueType="num">
                                      <p:cBhvr additive="base">
                                        <p:cTn id="201" dur="500" fill="hold"/>
                                        <p:tgtEl>
                                          <p:spTgt spid="68"/>
                                        </p:tgtEl>
                                        <p:attrNameLst>
                                          <p:attrName>ppt_x</p:attrName>
                                        </p:attrNameLst>
                                      </p:cBhvr>
                                      <p:tavLst>
                                        <p:tav tm="0">
                                          <p:val>
                                            <p:strVal val="#ppt_x"/>
                                          </p:val>
                                        </p:tav>
                                        <p:tav tm="100000">
                                          <p:val>
                                            <p:strVal val="#ppt_x"/>
                                          </p:val>
                                        </p:tav>
                                      </p:tavLst>
                                    </p:anim>
                                    <p:anim calcmode="lin" valueType="num">
                                      <p:cBhvr additive="base">
                                        <p:cTn id="202" dur="500" fill="hold"/>
                                        <p:tgtEl>
                                          <p:spTgt spid="68"/>
                                        </p:tgtEl>
                                        <p:attrNameLst>
                                          <p:attrName>ppt_y</p:attrName>
                                        </p:attrNameLst>
                                      </p:cBhvr>
                                      <p:tavLst>
                                        <p:tav tm="0">
                                          <p:val>
                                            <p:strVal val="#ppt_y+0.1"/>
                                          </p:val>
                                        </p:tav>
                                        <p:tav tm="100000">
                                          <p:val>
                                            <p:strVal val="#ppt_y"/>
                                          </p:val>
                                        </p:tav>
                                      </p:tavLst>
                                    </p:anim>
                                    <p:animEffect transition="in" filter="fade">
                                      <p:cBhvr>
                                        <p:cTn id="20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When a Thing Changes, You Update Its Row</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kitchen warms up from 22 °C to 24 °C</a:t>
            </a:r>
          </a:p>
        </p:txBody>
      </p:sp>
      <p:sp>
        <p:nvSpPr>
          <p:cNvPr id="11" name="a0f_tl10"/>
          <p:cNvSpPr txBox="1"/>
          <p:nvPr/>
        </p:nvSpPr>
        <p:spPr>
          <a:xfrm>
            <a:off x="457200" y="1280160"/>
            <a:ext cx="4846320" cy="219456"/>
          </a:xfrm>
          <a:prstGeom prst="rect">
            <a:avLst/>
          </a:prstGeom>
          <a:noFill/>
        </p:spPr>
        <p:txBody>
          <a:bodyPr wrap="square" lIns="0" tIns="0" rIns="0" bIns="0" anchor="ctr">
            <a:spAutoFit/>
          </a:bodyPr>
          <a:lstStyle/>
          <a:p>
            <a:pPr algn="l"/>
            <a:r>
              <a:rPr sz="1000" b="1">
                <a:solidFill>
                  <a:srgbClr val="C2410C"/>
                </a:solidFill>
                <a:latin typeface="Segoe UI"/>
              </a:rPr>
              <a:t>thermostat_readings</a:t>
            </a:r>
          </a:p>
        </p:txBody>
      </p:sp>
      <p:sp>
        <p:nvSpPr>
          <p:cNvPr id="12" name="a0f_th11"/>
          <p:cNvSpPr/>
          <p:nvPr/>
        </p:nvSpPr>
        <p:spPr>
          <a:xfrm>
            <a:off x="457200" y="1554480"/>
            <a:ext cx="91440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_tht12"/>
          <p:cNvSpPr txBox="1"/>
          <p:nvPr/>
        </p:nvSpPr>
        <p:spPr>
          <a:xfrm>
            <a:off x="530352" y="1554480"/>
            <a:ext cx="804672" cy="310896"/>
          </a:xfrm>
          <a:prstGeom prst="rect">
            <a:avLst/>
          </a:prstGeom>
          <a:noFill/>
        </p:spPr>
        <p:txBody>
          <a:bodyPr wrap="square" lIns="0" tIns="0" rIns="0" bIns="0" anchor="ctr">
            <a:spAutoFit/>
          </a:bodyPr>
          <a:lstStyle/>
          <a:p>
            <a:pPr algn="l"/>
            <a:r>
              <a:rPr sz="950" b="1">
                <a:solidFill>
                  <a:srgbClr val="FFFFFF"/>
                </a:solidFill>
                <a:latin typeface="Consolas"/>
              </a:rPr>
              <a:t>sensor_id</a:t>
            </a:r>
          </a:p>
        </p:txBody>
      </p:sp>
      <p:sp>
        <p:nvSpPr>
          <p:cNvPr id="14" name="a0w_td13"/>
          <p:cNvSpPr/>
          <p:nvPr/>
        </p:nvSpPr>
        <p:spPr>
          <a:xfrm>
            <a:off x="457200" y="1865376"/>
            <a:ext cx="9144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w_tdt14"/>
          <p:cNvSpPr txBox="1"/>
          <p:nvPr/>
        </p:nvSpPr>
        <p:spPr>
          <a:xfrm>
            <a:off x="530352" y="1865376"/>
            <a:ext cx="804672" cy="310896"/>
          </a:xfrm>
          <a:prstGeom prst="rect">
            <a:avLst/>
          </a:prstGeom>
          <a:noFill/>
        </p:spPr>
        <p:txBody>
          <a:bodyPr wrap="square" lIns="0" tIns="0" rIns="0" bIns="0" anchor="ctr">
            <a:spAutoFit/>
          </a:bodyPr>
          <a:lstStyle/>
          <a:p>
            <a:pPr algn="l"/>
            <a:r>
              <a:rPr sz="950" b="0">
                <a:solidFill>
                  <a:srgbClr val="44403C"/>
                </a:solidFill>
                <a:latin typeface="Consolas"/>
              </a:rPr>
              <a:t>42</a:t>
            </a:r>
          </a:p>
        </p:txBody>
      </p:sp>
      <p:sp>
        <p:nvSpPr>
          <p:cNvPr id="16" name="a0w_td15"/>
          <p:cNvSpPr/>
          <p:nvPr/>
        </p:nvSpPr>
        <p:spPr>
          <a:xfrm>
            <a:off x="457200" y="2176272"/>
            <a:ext cx="91440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w_tdt16"/>
          <p:cNvSpPr txBox="1"/>
          <p:nvPr/>
        </p:nvSpPr>
        <p:spPr>
          <a:xfrm>
            <a:off x="530352" y="2176272"/>
            <a:ext cx="804672" cy="310896"/>
          </a:xfrm>
          <a:prstGeom prst="rect">
            <a:avLst/>
          </a:prstGeom>
          <a:noFill/>
        </p:spPr>
        <p:txBody>
          <a:bodyPr wrap="square" lIns="0" tIns="0" rIns="0" bIns="0" anchor="ctr">
            <a:spAutoFit/>
          </a:bodyPr>
          <a:lstStyle/>
          <a:p>
            <a:pPr algn="l"/>
            <a:r>
              <a:rPr sz="950" b="0">
                <a:solidFill>
                  <a:srgbClr val="44403C"/>
                </a:solidFill>
                <a:latin typeface="Consolas"/>
              </a:rPr>
              <a:t>43</a:t>
            </a:r>
          </a:p>
        </p:txBody>
      </p:sp>
      <p:sp>
        <p:nvSpPr>
          <p:cNvPr id="18" name="a0w_td17"/>
          <p:cNvSpPr/>
          <p:nvPr/>
        </p:nvSpPr>
        <p:spPr>
          <a:xfrm>
            <a:off x="457200" y="2487168"/>
            <a:ext cx="9144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w_tdt18"/>
          <p:cNvSpPr txBox="1"/>
          <p:nvPr/>
        </p:nvSpPr>
        <p:spPr>
          <a:xfrm>
            <a:off x="530352" y="2487168"/>
            <a:ext cx="804672" cy="310896"/>
          </a:xfrm>
          <a:prstGeom prst="rect">
            <a:avLst/>
          </a:prstGeom>
          <a:noFill/>
        </p:spPr>
        <p:txBody>
          <a:bodyPr wrap="square" lIns="0" tIns="0" rIns="0" bIns="0" anchor="ctr">
            <a:spAutoFit/>
          </a:bodyPr>
          <a:lstStyle/>
          <a:p>
            <a:pPr algn="l"/>
            <a:r>
              <a:rPr sz="950" b="0">
                <a:solidFill>
                  <a:srgbClr val="44403C"/>
                </a:solidFill>
                <a:latin typeface="Consolas"/>
              </a:rPr>
              <a:t>44</a:t>
            </a:r>
          </a:p>
        </p:txBody>
      </p:sp>
      <p:sp>
        <p:nvSpPr>
          <p:cNvPr id="20" name="a0w_td19"/>
          <p:cNvSpPr/>
          <p:nvPr/>
        </p:nvSpPr>
        <p:spPr>
          <a:xfrm>
            <a:off x="457200" y="2798064"/>
            <a:ext cx="91440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w_tdt20"/>
          <p:cNvSpPr txBox="1"/>
          <p:nvPr/>
        </p:nvSpPr>
        <p:spPr>
          <a:xfrm>
            <a:off x="530352" y="2798064"/>
            <a:ext cx="804672" cy="310896"/>
          </a:xfrm>
          <a:prstGeom prst="rect">
            <a:avLst/>
          </a:prstGeom>
          <a:noFill/>
        </p:spPr>
        <p:txBody>
          <a:bodyPr wrap="square" lIns="0" tIns="0" rIns="0" bIns="0" anchor="ctr">
            <a:spAutoFit/>
          </a:bodyPr>
          <a:lstStyle/>
          <a:p>
            <a:pPr algn="l"/>
            <a:r>
              <a:rPr sz="950" b="0">
                <a:solidFill>
                  <a:srgbClr val="44403C"/>
                </a:solidFill>
                <a:latin typeface="Consolas"/>
              </a:rPr>
              <a:t>45</a:t>
            </a:r>
          </a:p>
        </p:txBody>
      </p:sp>
      <p:sp>
        <p:nvSpPr>
          <p:cNvPr id="22" name="a0f_th21"/>
          <p:cNvSpPr/>
          <p:nvPr/>
        </p:nvSpPr>
        <p:spPr>
          <a:xfrm>
            <a:off x="1371600" y="1554480"/>
            <a:ext cx="114300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tht22"/>
          <p:cNvSpPr txBox="1"/>
          <p:nvPr/>
        </p:nvSpPr>
        <p:spPr>
          <a:xfrm>
            <a:off x="1444752" y="1554480"/>
            <a:ext cx="1033271" cy="310896"/>
          </a:xfrm>
          <a:prstGeom prst="rect">
            <a:avLst/>
          </a:prstGeom>
          <a:noFill/>
        </p:spPr>
        <p:txBody>
          <a:bodyPr wrap="square" lIns="0" tIns="0" rIns="0" bIns="0" anchor="ctr">
            <a:spAutoFit/>
          </a:bodyPr>
          <a:lstStyle/>
          <a:p>
            <a:pPr algn="l"/>
            <a:r>
              <a:rPr sz="850" b="1">
                <a:solidFill>
                  <a:srgbClr val="FFFFFF"/>
                </a:solidFill>
                <a:latin typeface="Segoe UI"/>
              </a:rPr>
              <a:t>location</a:t>
            </a:r>
          </a:p>
        </p:txBody>
      </p:sp>
      <p:sp>
        <p:nvSpPr>
          <p:cNvPr id="24" name="a0w_td23"/>
          <p:cNvSpPr/>
          <p:nvPr/>
        </p:nvSpPr>
        <p:spPr>
          <a:xfrm>
            <a:off x="1371600" y="1865376"/>
            <a:ext cx="11430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w_tdt24"/>
          <p:cNvSpPr txBox="1"/>
          <p:nvPr/>
        </p:nvSpPr>
        <p:spPr>
          <a:xfrm>
            <a:off x="1444752" y="1865376"/>
            <a:ext cx="1033271" cy="310896"/>
          </a:xfrm>
          <a:prstGeom prst="rect">
            <a:avLst/>
          </a:prstGeom>
          <a:noFill/>
        </p:spPr>
        <p:txBody>
          <a:bodyPr wrap="square" lIns="0" tIns="0" rIns="0" bIns="0" anchor="ctr">
            <a:spAutoFit/>
          </a:bodyPr>
          <a:lstStyle/>
          <a:p>
            <a:pPr algn="l"/>
            <a:r>
              <a:rPr sz="850" b="0">
                <a:solidFill>
                  <a:srgbClr val="44403C"/>
                </a:solidFill>
                <a:latin typeface="Segoe UI"/>
              </a:rPr>
              <a:t>kitchen</a:t>
            </a:r>
          </a:p>
        </p:txBody>
      </p:sp>
      <p:sp>
        <p:nvSpPr>
          <p:cNvPr id="26" name="a0w_td25"/>
          <p:cNvSpPr/>
          <p:nvPr/>
        </p:nvSpPr>
        <p:spPr>
          <a:xfrm>
            <a:off x="1371600" y="2176272"/>
            <a:ext cx="114300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0w_tdt26"/>
          <p:cNvSpPr txBox="1"/>
          <p:nvPr/>
        </p:nvSpPr>
        <p:spPr>
          <a:xfrm>
            <a:off x="1444752" y="2176272"/>
            <a:ext cx="1033271" cy="310896"/>
          </a:xfrm>
          <a:prstGeom prst="rect">
            <a:avLst/>
          </a:prstGeom>
          <a:noFill/>
        </p:spPr>
        <p:txBody>
          <a:bodyPr wrap="square" lIns="0" tIns="0" rIns="0" bIns="0" anchor="ctr">
            <a:spAutoFit/>
          </a:bodyPr>
          <a:lstStyle/>
          <a:p>
            <a:pPr algn="l"/>
            <a:r>
              <a:rPr sz="850" b="0">
                <a:solidFill>
                  <a:srgbClr val="44403C"/>
                </a:solidFill>
                <a:latin typeface="Segoe UI"/>
              </a:rPr>
              <a:t>bedroom</a:t>
            </a:r>
          </a:p>
        </p:txBody>
      </p:sp>
      <p:sp>
        <p:nvSpPr>
          <p:cNvPr id="28" name="a0w_td27"/>
          <p:cNvSpPr/>
          <p:nvPr/>
        </p:nvSpPr>
        <p:spPr>
          <a:xfrm>
            <a:off x="1371600" y="2487168"/>
            <a:ext cx="114300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w_tdt28"/>
          <p:cNvSpPr txBox="1"/>
          <p:nvPr/>
        </p:nvSpPr>
        <p:spPr>
          <a:xfrm>
            <a:off x="1444752" y="2487168"/>
            <a:ext cx="1033271" cy="310896"/>
          </a:xfrm>
          <a:prstGeom prst="rect">
            <a:avLst/>
          </a:prstGeom>
          <a:noFill/>
        </p:spPr>
        <p:txBody>
          <a:bodyPr wrap="square" lIns="0" tIns="0" rIns="0" bIns="0" anchor="ctr">
            <a:spAutoFit/>
          </a:bodyPr>
          <a:lstStyle/>
          <a:p>
            <a:pPr algn="l"/>
            <a:r>
              <a:rPr sz="850" b="0">
                <a:solidFill>
                  <a:srgbClr val="44403C"/>
                </a:solidFill>
                <a:latin typeface="Segoe UI"/>
              </a:rPr>
              <a:t>hallway</a:t>
            </a:r>
          </a:p>
        </p:txBody>
      </p:sp>
      <p:sp>
        <p:nvSpPr>
          <p:cNvPr id="30" name="a0w_td29"/>
          <p:cNvSpPr/>
          <p:nvPr/>
        </p:nvSpPr>
        <p:spPr>
          <a:xfrm>
            <a:off x="1371600" y="2798064"/>
            <a:ext cx="114300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0w_tdt30"/>
          <p:cNvSpPr txBox="1"/>
          <p:nvPr/>
        </p:nvSpPr>
        <p:spPr>
          <a:xfrm>
            <a:off x="1444752" y="2798064"/>
            <a:ext cx="1033271" cy="310896"/>
          </a:xfrm>
          <a:prstGeom prst="rect">
            <a:avLst/>
          </a:prstGeom>
          <a:noFill/>
        </p:spPr>
        <p:txBody>
          <a:bodyPr wrap="square" lIns="0" tIns="0" rIns="0" bIns="0" anchor="ctr">
            <a:spAutoFit/>
          </a:bodyPr>
          <a:lstStyle/>
          <a:p>
            <a:pPr algn="l"/>
            <a:r>
              <a:rPr sz="850" b="0">
                <a:solidFill>
                  <a:srgbClr val="44403C"/>
                </a:solidFill>
                <a:latin typeface="Segoe UI"/>
              </a:rPr>
              <a:t>study</a:t>
            </a:r>
          </a:p>
        </p:txBody>
      </p:sp>
      <p:sp>
        <p:nvSpPr>
          <p:cNvPr id="32" name="a0f_th31"/>
          <p:cNvSpPr/>
          <p:nvPr/>
        </p:nvSpPr>
        <p:spPr>
          <a:xfrm>
            <a:off x="2514600" y="1554480"/>
            <a:ext cx="128016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0f_tht32"/>
          <p:cNvSpPr txBox="1"/>
          <p:nvPr/>
        </p:nvSpPr>
        <p:spPr>
          <a:xfrm>
            <a:off x="2587752" y="1554480"/>
            <a:ext cx="1170431" cy="310896"/>
          </a:xfrm>
          <a:prstGeom prst="rect">
            <a:avLst/>
          </a:prstGeom>
          <a:noFill/>
        </p:spPr>
        <p:txBody>
          <a:bodyPr wrap="square" lIns="0" tIns="0" rIns="0" bIns="0" anchor="ctr">
            <a:spAutoFit/>
          </a:bodyPr>
          <a:lstStyle/>
          <a:p>
            <a:pPr algn="l"/>
            <a:r>
              <a:rPr sz="850" b="1">
                <a:solidFill>
                  <a:srgbClr val="FFFFFF"/>
                </a:solidFill>
                <a:latin typeface="Segoe UI"/>
              </a:rPr>
              <a:t>temperature (°C)</a:t>
            </a:r>
          </a:p>
        </p:txBody>
      </p:sp>
      <p:sp>
        <p:nvSpPr>
          <p:cNvPr id="34" name="a0w_td33"/>
          <p:cNvSpPr/>
          <p:nvPr/>
        </p:nvSpPr>
        <p:spPr>
          <a:xfrm>
            <a:off x="2514600" y="1865376"/>
            <a:ext cx="12801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0w_tdt34"/>
          <p:cNvSpPr txBox="1"/>
          <p:nvPr/>
        </p:nvSpPr>
        <p:spPr>
          <a:xfrm>
            <a:off x="2587752" y="1865376"/>
            <a:ext cx="1170431" cy="310896"/>
          </a:xfrm>
          <a:prstGeom prst="rect">
            <a:avLst/>
          </a:prstGeom>
          <a:noFill/>
        </p:spPr>
        <p:txBody>
          <a:bodyPr wrap="square" lIns="0" tIns="0" rIns="0" bIns="0" anchor="ctr">
            <a:spAutoFit/>
          </a:bodyPr>
          <a:lstStyle/>
          <a:p>
            <a:pPr algn="l"/>
            <a:r>
              <a:rPr sz="850" b="0">
                <a:solidFill>
                  <a:srgbClr val="44403C"/>
                </a:solidFill>
                <a:latin typeface="Segoe UI"/>
              </a:rPr>
              <a:t>22</a:t>
            </a:r>
          </a:p>
        </p:txBody>
      </p:sp>
      <p:sp>
        <p:nvSpPr>
          <p:cNvPr id="36" name="a0w_td35"/>
          <p:cNvSpPr/>
          <p:nvPr/>
        </p:nvSpPr>
        <p:spPr>
          <a:xfrm>
            <a:off x="2514600" y="2176272"/>
            <a:ext cx="128016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0w_tdt36"/>
          <p:cNvSpPr txBox="1"/>
          <p:nvPr/>
        </p:nvSpPr>
        <p:spPr>
          <a:xfrm>
            <a:off x="2587752" y="2176272"/>
            <a:ext cx="1170431" cy="310896"/>
          </a:xfrm>
          <a:prstGeom prst="rect">
            <a:avLst/>
          </a:prstGeom>
          <a:noFill/>
        </p:spPr>
        <p:txBody>
          <a:bodyPr wrap="square" lIns="0" tIns="0" rIns="0" bIns="0" anchor="ctr">
            <a:spAutoFit/>
          </a:bodyPr>
          <a:lstStyle/>
          <a:p>
            <a:pPr algn="l"/>
            <a:r>
              <a:rPr sz="850" b="0">
                <a:solidFill>
                  <a:srgbClr val="44403C"/>
                </a:solidFill>
                <a:latin typeface="Segoe UI"/>
              </a:rPr>
              <a:t>21</a:t>
            </a:r>
          </a:p>
        </p:txBody>
      </p:sp>
      <p:sp>
        <p:nvSpPr>
          <p:cNvPr id="38" name="a0w_td37"/>
          <p:cNvSpPr/>
          <p:nvPr/>
        </p:nvSpPr>
        <p:spPr>
          <a:xfrm>
            <a:off x="2514600" y="2487168"/>
            <a:ext cx="12801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0w_tdt38"/>
          <p:cNvSpPr txBox="1"/>
          <p:nvPr/>
        </p:nvSpPr>
        <p:spPr>
          <a:xfrm>
            <a:off x="2587752" y="2487168"/>
            <a:ext cx="1170431" cy="310896"/>
          </a:xfrm>
          <a:prstGeom prst="rect">
            <a:avLst/>
          </a:prstGeom>
          <a:noFill/>
        </p:spPr>
        <p:txBody>
          <a:bodyPr wrap="square" lIns="0" tIns="0" rIns="0" bIns="0" anchor="ctr">
            <a:spAutoFit/>
          </a:bodyPr>
          <a:lstStyle/>
          <a:p>
            <a:pPr algn="l"/>
            <a:r>
              <a:rPr sz="850" b="0">
                <a:solidFill>
                  <a:srgbClr val="44403C"/>
                </a:solidFill>
                <a:latin typeface="Segoe UI"/>
              </a:rPr>
              <a:t>20</a:t>
            </a:r>
          </a:p>
        </p:txBody>
      </p:sp>
      <p:sp>
        <p:nvSpPr>
          <p:cNvPr id="40" name="a0w_td39"/>
          <p:cNvSpPr/>
          <p:nvPr/>
        </p:nvSpPr>
        <p:spPr>
          <a:xfrm>
            <a:off x="2514600" y="2798064"/>
            <a:ext cx="128016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0w_tdt40"/>
          <p:cNvSpPr txBox="1"/>
          <p:nvPr/>
        </p:nvSpPr>
        <p:spPr>
          <a:xfrm>
            <a:off x="2587752" y="2798064"/>
            <a:ext cx="1170431" cy="310896"/>
          </a:xfrm>
          <a:prstGeom prst="rect">
            <a:avLst/>
          </a:prstGeom>
          <a:noFill/>
        </p:spPr>
        <p:txBody>
          <a:bodyPr wrap="square" lIns="0" tIns="0" rIns="0" bIns="0" anchor="ctr">
            <a:spAutoFit/>
          </a:bodyPr>
          <a:lstStyle/>
          <a:p>
            <a:pPr algn="l"/>
            <a:r>
              <a:rPr sz="850" b="0">
                <a:solidFill>
                  <a:srgbClr val="44403C"/>
                </a:solidFill>
                <a:latin typeface="Segoe UI"/>
              </a:rPr>
              <a:t>23</a:t>
            </a:r>
          </a:p>
        </p:txBody>
      </p:sp>
      <p:sp>
        <p:nvSpPr>
          <p:cNvPr id="42" name="a0f_th41"/>
          <p:cNvSpPr/>
          <p:nvPr/>
        </p:nvSpPr>
        <p:spPr>
          <a:xfrm>
            <a:off x="3794760" y="1554480"/>
            <a:ext cx="1508760" cy="31089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0f_tht42"/>
          <p:cNvSpPr txBox="1"/>
          <p:nvPr/>
        </p:nvSpPr>
        <p:spPr>
          <a:xfrm>
            <a:off x="3867912" y="1554480"/>
            <a:ext cx="1399031" cy="310896"/>
          </a:xfrm>
          <a:prstGeom prst="rect">
            <a:avLst/>
          </a:prstGeom>
          <a:noFill/>
        </p:spPr>
        <p:txBody>
          <a:bodyPr wrap="square" lIns="0" tIns="0" rIns="0" bIns="0" anchor="ctr">
            <a:spAutoFit/>
          </a:bodyPr>
          <a:lstStyle/>
          <a:p>
            <a:pPr algn="l"/>
            <a:r>
              <a:rPr sz="950" b="1">
                <a:solidFill>
                  <a:srgbClr val="FFFFFF"/>
                </a:solidFill>
                <a:latin typeface="Consolas"/>
              </a:rPr>
              <a:t>read_at</a:t>
            </a:r>
          </a:p>
        </p:txBody>
      </p:sp>
      <p:sp>
        <p:nvSpPr>
          <p:cNvPr id="44" name="a0w_td43"/>
          <p:cNvSpPr/>
          <p:nvPr/>
        </p:nvSpPr>
        <p:spPr>
          <a:xfrm>
            <a:off x="3794760" y="1865376"/>
            <a:ext cx="15087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0w_tdt44"/>
          <p:cNvSpPr txBox="1"/>
          <p:nvPr/>
        </p:nvSpPr>
        <p:spPr>
          <a:xfrm>
            <a:off x="3867912" y="1865376"/>
            <a:ext cx="1399031" cy="310896"/>
          </a:xfrm>
          <a:prstGeom prst="rect">
            <a:avLst/>
          </a:prstGeom>
          <a:noFill/>
        </p:spPr>
        <p:txBody>
          <a:bodyPr wrap="square" lIns="0" tIns="0" rIns="0" bIns="0" anchor="ctr">
            <a:spAutoFit/>
          </a:bodyPr>
          <a:lstStyle/>
          <a:p>
            <a:pPr algn="l"/>
            <a:r>
              <a:rPr sz="950" b="0">
                <a:solidFill>
                  <a:srgbClr val="44403C"/>
                </a:solidFill>
                <a:latin typeface="Consolas"/>
              </a:rPr>
              <a:t>09:00:00</a:t>
            </a:r>
          </a:p>
        </p:txBody>
      </p:sp>
      <p:sp>
        <p:nvSpPr>
          <p:cNvPr id="46" name="a0w_td45"/>
          <p:cNvSpPr/>
          <p:nvPr/>
        </p:nvSpPr>
        <p:spPr>
          <a:xfrm>
            <a:off x="3794760" y="2176272"/>
            <a:ext cx="150876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0w_tdt46"/>
          <p:cNvSpPr txBox="1"/>
          <p:nvPr/>
        </p:nvSpPr>
        <p:spPr>
          <a:xfrm>
            <a:off x="3867912" y="2176272"/>
            <a:ext cx="1399031" cy="310896"/>
          </a:xfrm>
          <a:prstGeom prst="rect">
            <a:avLst/>
          </a:prstGeom>
          <a:noFill/>
        </p:spPr>
        <p:txBody>
          <a:bodyPr wrap="square" lIns="0" tIns="0" rIns="0" bIns="0" anchor="ctr">
            <a:spAutoFit/>
          </a:bodyPr>
          <a:lstStyle/>
          <a:p>
            <a:pPr algn="l"/>
            <a:r>
              <a:rPr sz="950" b="0">
                <a:solidFill>
                  <a:srgbClr val="44403C"/>
                </a:solidFill>
                <a:latin typeface="Consolas"/>
              </a:rPr>
              <a:t>09:00:02</a:t>
            </a:r>
          </a:p>
        </p:txBody>
      </p:sp>
      <p:sp>
        <p:nvSpPr>
          <p:cNvPr id="48" name="a0w_td47"/>
          <p:cNvSpPr/>
          <p:nvPr/>
        </p:nvSpPr>
        <p:spPr>
          <a:xfrm>
            <a:off x="3794760" y="2487168"/>
            <a:ext cx="1508760" cy="31089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w_tdt48"/>
          <p:cNvSpPr txBox="1"/>
          <p:nvPr/>
        </p:nvSpPr>
        <p:spPr>
          <a:xfrm>
            <a:off x="3867912" y="2487168"/>
            <a:ext cx="1399031" cy="310896"/>
          </a:xfrm>
          <a:prstGeom prst="rect">
            <a:avLst/>
          </a:prstGeom>
          <a:noFill/>
        </p:spPr>
        <p:txBody>
          <a:bodyPr wrap="square" lIns="0" tIns="0" rIns="0" bIns="0" anchor="ctr">
            <a:spAutoFit/>
          </a:bodyPr>
          <a:lstStyle/>
          <a:p>
            <a:pPr algn="l"/>
            <a:r>
              <a:rPr sz="950" b="0">
                <a:solidFill>
                  <a:srgbClr val="44403C"/>
                </a:solidFill>
                <a:latin typeface="Consolas"/>
              </a:rPr>
              <a:t>09:00:04</a:t>
            </a:r>
          </a:p>
        </p:txBody>
      </p:sp>
      <p:sp>
        <p:nvSpPr>
          <p:cNvPr id="50" name="a0w_td49"/>
          <p:cNvSpPr/>
          <p:nvPr/>
        </p:nvSpPr>
        <p:spPr>
          <a:xfrm>
            <a:off x="3794760" y="2798064"/>
            <a:ext cx="1508760" cy="31089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0w_tdt50"/>
          <p:cNvSpPr txBox="1"/>
          <p:nvPr/>
        </p:nvSpPr>
        <p:spPr>
          <a:xfrm>
            <a:off x="3867912" y="2798064"/>
            <a:ext cx="1399031" cy="310896"/>
          </a:xfrm>
          <a:prstGeom prst="rect">
            <a:avLst/>
          </a:prstGeom>
          <a:noFill/>
        </p:spPr>
        <p:txBody>
          <a:bodyPr wrap="square" lIns="0" tIns="0" rIns="0" bIns="0" anchor="ctr">
            <a:spAutoFit/>
          </a:bodyPr>
          <a:lstStyle/>
          <a:p>
            <a:pPr algn="l"/>
            <a:r>
              <a:rPr sz="950" b="0">
                <a:solidFill>
                  <a:srgbClr val="44403C"/>
                </a:solidFill>
                <a:latin typeface="Consolas"/>
              </a:rPr>
              <a:t>09:01:10</a:t>
            </a:r>
          </a:p>
        </p:txBody>
      </p:sp>
      <p:sp>
        <p:nvSpPr>
          <p:cNvPr id="52" name="a1fd300_upd51"/>
          <p:cNvSpPr/>
          <p:nvPr/>
        </p:nvSpPr>
        <p:spPr>
          <a:xfrm>
            <a:off x="2514600" y="1865376"/>
            <a:ext cx="1280160" cy="310896"/>
          </a:xfrm>
          <a:prstGeom prst="rect">
            <a:avLst/>
          </a:prstGeom>
          <a:solidFill>
            <a:srgbClr val="FEF9C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1fd300_updt52"/>
          <p:cNvSpPr txBox="1"/>
          <p:nvPr/>
        </p:nvSpPr>
        <p:spPr>
          <a:xfrm>
            <a:off x="2587752" y="1865376"/>
            <a:ext cx="1170432" cy="310896"/>
          </a:xfrm>
          <a:prstGeom prst="rect">
            <a:avLst/>
          </a:prstGeom>
          <a:noFill/>
        </p:spPr>
        <p:txBody>
          <a:bodyPr wrap="square" lIns="0" tIns="0" rIns="0" bIns="0" anchor="ctr">
            <a:spAutoFit/>
          </a:bodyPr>
          <a:lstStyle/>
          <a:p>
            <a:pPr algn="l"/>
            <a:r>
              <a:rPr sz="850" b="1">
                <a:solidFill>
                  <a:srgbClr val="A16207"/>
                </a:solidFill>
                <a:latin typeface="Segoe UI"/>
              </a:rPr>
              <a:t>24</a:t>
            </a:r>
            <a:r>
              <a:rPr sz="850" b="0">
                <a:solidFill>
                  <a:srgbClr val="A8A29E"/>
                </a:solidFill>
                <a:latin typeface="Segoe UI"/>
              </a:rPr>
              <a:t>    was 22</a:t>
            </a:r>
          </a:p>
        </p:txBody>
      </p:sp>
      <p:sp>
        <p:nvSpPr>
          <p:cNvPr id="54" name="a1f_codebg53"/>
          <p:cNvSpPr/>
          <p:nvPr/>
        </p:nvSpPr>
        <p:spPr>
          <a:xfrm>
            <a:off x="457200" y="3218688"/>
            <a:ext cx="4846320" cy="722376"/>
          </a:xfrm>
          <a:prstGeom prst="roundRect">
            <a:avLst>
              <a:gd name="adj" fmla="val 10126"/>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1w_code54"/>
          <p:cNvSpPr txBox="1"/>
          <p:nvPr/>
        </p:nvSpPr>
        <p:spPr>
          <a:xfrm>
            <a:off x="603504" y="3364992"/>
            <a:ext cx="4553712" cy="214884"/>
          </a:xfrm>
          <a:prstGeom prst="rect">
            <a:avLst/>
          </a:prstGeom>
          <a:noFill/>
        </p:spPr>
        <p:txBody>
          <a:bodyPr wrap="none" lIns="0" tIns="0" rIns="0" bIns="0" anchor="ctr">
            <a:spAutoFit/>
          </a:bodyPr>
          <a:lstStyle/>
          <a:p>
            <a:pPr algn="l"/>
            <a:r>
              <a:rPr sz="950" b="1">
                <a:solidFill>
                  <a:srgbClr val="FDBA74"/>
                </a:solidFill>
                <a:latin typeface="Consolas"/>
              </a:rPr>
              <a:t>UPDATE thermostat_readings SET temperature = 24</a:t>
            </a:r>
          </a:p>
        </p:txBody>
      </p:sp>
      <p:sp>
        <p:nvSpPr>
          <p:cNvPr id="56" name="a1wd90_code55"/>
          <p:cNvSpPr txBox="1"/>
          <p:nvPr/>
        </p:nvSpPr>
        <p:spPr>
          <a:xfrm>
            <a:off x="603504" y="3579876"/>
            <a:ext cx="4553712" cy="214884"/>
          </a:xfrm>
          <a:prstGeom prst="rect">
            <a:avLst/>
          </a:prstGeom>
          <a:noFill/>
        </p:spPr>
        <p:txBody>
          <a:bodyPr wrap="none" lIns="0" tIns="0" rIns="0" bIns="0" anchor="ctr">
            <a:spAutoFit/>
          </a:bodyPr>
          <a:lstStyle/>
          <a:p>
            <a:pPr algn="l"/>
            <a:r>
              <a:rPr sz="950" b="1">
                <a:solidFill>
                  <a:srgbClr val="FDBA74"/>
                </a:solidFill>
                <a:latin typeface="Consolas"/>
              </a:rPr>
              <a:t>WHERE sensor_id = 42;</a:t>
            </a:r>
          </a:p>
        </p:txBody>
      </p:sp>
      <p:sp>
        <p:nvSpPr>
          <p:cNvPr id="57" name="a2u_card56"/>
          <p:cNvSpPr/>
          <p:nvPr/>
        </p:nvSpPr>
        <p:spPr>
          <a:xfrm>
            <a:off x="5532120" y="1280160"/>
            <a:ext cx="3154680" cy="2697480"/>
          </a:xfrm>
          <a:prstGeom prst="roundRect">
            <a:avLst>
              <a:gd name="adj" fmla="val 406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2u_acc57"/>
          <p:cNvSpPr/>
          <p:nvPr/>
        </p:nvSpPr>
        <p:spPr>
          <a:xfrm>
            <a:off x="5532120" y="1280160"/>
            <a:ext cx="50292" cy="26974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2u_hh58"/>
          <p:cNvSpPr txBox="1"/>
          <p:nvPr/>
        </p:nvSpPr>
        <p:spPr>
          <a:xfrm>
            <a:off x="5733288" y="1389888"/>
            <a:ext cx="2788920" cy="237744"/>
          </a:xfrm>
          <a:prstGeom prst="rect">
            <a:avLst/>
          </a:prstGeom>
          <a:noFill/>
        </p:spPr>
        <p:txBody>
          <a:bodyPr wrap="square" lIns="0" tIns="0" rIns="0" bIns="0" anchor="ctr">
            <a:spAutoFit/>
          </a:bodyPr>
          <a:lstStyle/>
          <a:p>
            <a:pPr algn="l"/>
            <a:r>
              <a:rPr sz="900" b="1">
                <a:solidFill>
                  <a:srgbClr val="E11D48"/>
                </a:solidFill>
                <a:latin typeface="Segoe UI"/>
              </a:rPr>
              <a:t>WHAT WE JUST LOST</a:t>
            </a:r>
          </a:p>
        </p:txBody>
      </p:sp>
      <p:sp>
        <p:nvSpPr>
          <p:cNvPr id="60" name="a2ud80_lost59"/>
          <p:cNvSpPr txBox="1"/>
          <p:nvPr/>
        </p:nvSpPr>
        <p:spPr>
          <a:xfrm>
            <a:off x="5733288" y="1664208"/>
            <a:ext cx="2788920" cy="658368"/>
          </a:xfrm>
          <a:prstGeom prst="rect">
            <a:avLst/>
          </a:prstGeom>
          <a:noFill/>
        </p:spPr>
        <p:txBody>
          <a:bodyPr wrap="square" lIns="0" tIns="0" rIns="0" bIns="0" anchor="t">
            <a:spAutoFit/>
          </a:bodyPr>
          <a:lstStyle/>
          <a:p>
            <a:pPr algn="l"/>
            <a:r>
              <a:rPr sz="950" b="0">
                <a:solidFill>
                  <a:srgbClr val="44403C"/>
                </a:solidFill>
                <a:latin typeface="Segoe UI"/>
              </a:rPr>
              <a:t>The old value. The table only knows the kitchen is 24 °C now - not that it was ever 22 °C.</a:t>
            </a:r>
          </a:p>
        </p:txBody>
      </p:sp>
      <p:sp>
        <p:nvSpPr>
          <p:cNvPr id="61" name="a2ud160_qh60"/>
          <p:cNvSpPr txBox="1"/>
          <p:nvPr/>
        </p:nvSpPr>
        <p:spPr>
          <a:xfrm>
            <a:off x="5733288" y="2395728"/>
            <a:ext cx="2788920" cy="237744"/>
          </a:xfrm>
          <a:prstGeom prst="rect">
            <a:avLst/>
          </a:prstGeom>
          <a:noFill/>
        </p:spPr>
        <p:txBody>
          <a:bodyPr wrap="square" lIns="0" tIns="0" rIns="0" bIns="0" anchor="ctr">
            <a:spAutoFit/>
          </a:bodyPr>
          <a:lstStyle/>
          <a:p>
            <a:pPr algn="l"/>
            <a:r>
              <a:rPr sz="900" b="1">
                <a:solidFill>
                  <a:srgbClr val="1C1917"/>
                </a:solidFill>
                <a:latin typeface="Segoe UI"/>
              </a:rPr>
              <a:t>Questions we can no longer answer:</a:t>
            </a:r>
          </a:p>
        </p:txBody>
      </p:sp>
      <p:sp>
        <p:nvSpPr>
          <p:cNvPr id="62" name="a2ud240_q61"/>
          <p:cNvSpPr/>
          <p:nvPr/>
        </p:nvSpPr>
        <p:spPr>
          <a:xfrm>
            <a:off x="5733288" y="2724912"/>
            <a:ext cx="2788920" cy="475488"/>
          </a:xfrm>
          <a:prstGeom prst="roundRect">
            <a:avLst>
              <a:gd name="adj" fmla="val 11538"/>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2ud240_qt62"/>
          <p:cNvSpPr txBox="1"/>
          <p:nvPr/>
        </p:nvSpPr>
        <p:spPr>
          <a:xfrm>
            <a:off x="5852160" y="2724912"/>
            <a:ext cx="2606040" cy="475488"/>
          </a:xfrm>
          <a:prstGeom prst="rect">
            <a:avLst/>
          </a:prstGeom>
          <a:noFill/>
        </p:spPr>
        <p:txBody>
          <a:bodyPr wrap="square" lIns="0" tIns="0" rIns="0" bIns="0" anchor="ctr">
            <a:spAutoFit/>
          </a:bodyPr>
          <a:lstStyle/>
          <a:p>
            <a:pPr algn="l"/>
            <a:r>
              <a:rPr sz="900" b="1">
                <a:solidFill>
                  <a:srgbClr val="9F1239"/>
                </a:solidFill>
                <a:latin typeface="Segoe UI"/>
              </a:rPr>
              <a:t>How quickly does the kitchen heat up?</a:t>
            </a:r>
          </a:p>
        </p:txBody>
      </p:sp>
      <p:sp>
        <p:nvSpPr>
          <p:cNvPr id="64" name="a2ud340_q63"/>
          <p:cNvSpPr/>
          <p:nvPr/>
        </p:nvSpPr>
        <p:spPr>
          <a:xfrm>
            <a:off x="5733288" y="3291840"/>
            <a:ext cx="2788920" cy="475488"/>
          </a:xfrm>
          <a:prstGeom prst="roundRect">
            <a:avLst>
              <a:gd name="adj" fmla="val 11538"/>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2ud340_qt64"/>
          <p:cNvSpPr txBox="1"/>
          <p:nvPr/>
        </p:nvSpPr>
        <p:spPr>
          <a:xfrm>
            <a:off x="5852160" y="3291840"/>
            <a:ext cx="2606040" cy="475488"/>
          </a:xfrm>
          <a:prstGeom prst="rect">
            <a:avLst/>
          </a:prstGeom>
          <a:noFill/>
        </p:spPr>
        <p:txBody>
          <a:bodyPr wrap="square" lIns="0" tIns="0" rIns="0" bIns="0" anchor="ctr">
            <a:spAutoFit/>
          </a:bodyPr>
          <a:lstStyle/>
          <a:p>
            <a:pPr algn="l"/>
            <a:r>
              <a:rPr sz="900" b="1">
                <a:solidFill>
                  <a:srgbClr val="9F1239"/>
                </a:solidFill>
                <a:latin typeface="Segoe UI"/>
              </a:rPr>
              <a:t>What time of day does it warm up?</a:t>
            </a:r>
          </a:p>
        </p:txBody>
      </p:sp>
      <p:sp>
        <p:nvSpPr>
          <p:cNvPr id="66" name="a3u_nb65"/>
          <p:cNvSpPr/>
          <p:nvPr/>
        </p:nvSpPr>
        <p:spPr>
          <a:xfrm>
            <a:off x="457200" y="4096512"/>
            <a:ext cx="8229600" cy="502920"/>
          </a:xfrm>
          <a:prstGeom prst="roundRect">
            <a:avLst>
              <a:gd name="adj" fmla="val 14545"/>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3u_nacc66"/>
          <p:cNvSpPr/>
          <p:nvPr/>
        </p:nvSpPr>
        <p:spPr>
          <a:xfrm>
            <a:off x="457200" y="4096512"/>
            <a:ext cx="54864" cy="5029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3u_nt67"/>
          <p:cNvSpPr txBox="1"/>
          <p:nvPr/>
        </p:nvSpPr>
        <p:spPr>
          <a:xfrm>
            <a:off x="658368" y="4096512"/>
            <a:ext cx="7827264" cy="502920"/>
          </a:xfrm>
          <a:prstGeom prst="rect">
            <a:avLst/>
          </a:prstGeom>
          <a:noFill/>
        </p:spPr>
        <p:txBody>
          <a:bodyPr wrap="square" lIns="0" tIns="0" rIns="0" bIns="0" anchor="ctr">
            <a:spAutoFit/>
          </a:bodyPr>
          <a:lstStyle/>
          <a:p>
            <a:pPr algn="l"/>
            <a:r>
              <a:rPr sz="900" b="1">
                <a:solidFill>
                  <a:srgbClr val="A16207"/>
                </a:solidFill>
                <a:latin typeface="Segoe UI"/>
              </a:rPr>
              <a:t>i  </a:t>
            </a:r>
            <a:r>
              <a:rPr sz="900" b="0">
                <a:solidFill>
                  <a:srgbClr val="44403C"/>
                </a:solidFill>
                <a:latin typeface="Segoe UI"/>
              </a:rPr>
              <a:t>Tables can be designed to keep history, but they are not a natural home for log-style data. The usual pattern: one row per thing, changed in place.</a:t>
            </a:r>
          </a:p>
        </p:txBody>
      </p:sp>
      <p:sp>
        <p:nvSpPr>
          <p:cNvPr id="69" name="ft6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70" name="ft6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ft7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72" name="ft7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22" presetClass="entr" presetSubtype="8"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par>
                                <p:cTn id="49" presetID="22" presetClass="entr" presetSubtype="8"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par>
                                <p:cTn id="52" presetID="22" presetClass="entr" presetSubtype="8"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500"/>
                                        <p:tgtEl>
                                          <p:spTgt spid="26"/>
                                        </p:tgtEl>
                                      </p:cBhvr>
                                    </p:animEffect>
                                  </p:childTnLst>
                                </p:cTn>
                              </p:par>
                              <p:par>
                                <p:cTn id="55" presetID="22" presetClass="entr" presetSubtype="8"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500"/>
                                        <p:tgtEl>
                                          <p:spTgt spid="27"/>
                                        </p:tgtEl>
                                      </p:cBhvr>
                                    </p:animEffect>
                                  </p:childTnLst>
                                </p:cTn>
                              </p:par>
                              <p:par>
                                <p:cTn id="58" presetID="22" presetClass="entr" presetSubtype="8"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par>
                                <p:cTn id="61" presetID="22" presetClass="entr" presetSubtype="8"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500"/>
                                        <p:tgtEl>
                                          <p:spTgt spid="29"/>
                                        </p:tgtEl>
                                      </p:cBhvr>
                                    </p:animEffect>
                                  </p:childTnLst>
                                </p:cTn>
                              </p:par>
                              <p:par>
                                <p:cTn id="64" presetID="22" presetClass="entr" presetSubtype="8"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par>
                                <p:cTn id="67" presetID="22" presetClass="entr" presetSubtype="8"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left)">
                                      <p:cBhvr>
                                        <p:cTn id="66" dur="500"/>
                                        <p:tgtEl>
                                          <p:spTgt spid="31"/>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wipe(left)">
                                      <p:cBhvr>
                                        <p:cTn id="75" dur="500"/>
                                        <p:tgtEl>
                                          <p:spTgt spid="34"/>
                                        </p:tgtEl>
                                      </p:cBhvr>
                                    </p:animEffect>
                                  </p:childTnLst>
                                </p:cTn>
                              </p:par>
                              <p:par>
                                <p:cTn id="79" presetID="22" presetClass="entr" presetSubtype="8"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wipe(left)">
                                      <p:cBhvr>
                                        <p:cTn id="78" dur="500"/>
                                        <p:tgtEl>
                                          <p:spTgt spid="35"/>
                                        </p:tgtEl>
                                      </p:cBhvr>
                                    </p:animEffect>
                                  </p:childTnLst>
                                </p:cTn>
                              </p:par>
                              <p:par>
                                <p:cTn id="82" presetID="22" presetClass="entr" presetSubtype="8"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left)">
                                      <p:cBhvr>
                                        <p:cTn id="81" dur="500"/>
                                        <p:tgtEl>
                                          <p:spTgt spid="36"/>
                                        </p:tgtEl>
                                      </p:cBhvr>
                                    </p:animEffect>
                                  </p:childTnLst>
                                </p:cTn>
                              </p:par>
                              <p:par>
                                <p:cTn id="85" presetID="22" presetClass="entr" presetSubtype="8"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wipe(left)">
                                      <p:cBhvr>
                                        <p:cTn id="84" dur="500"/>
                                        <p:tgtEl>
                                          <p:spTgt spid="37"/>
                                        </p:tgtEl>
                                      </p:cBhvr>
                                    </p:animEffect>
                                  </p:childTnLst>
                                </p:cTn>
                              </p:par>
                              <p:par>
                                <p:cTn id="88" presetID="22" presetClass="entr" presetSubtype="8"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wipe(left)">
                                      <p:cBhvr>
                                        <p:cTn id="87" dur="500"/>
                                        <p:tgtEl>
                                          <p:spTgt spid="38"/>
                                        </p:tgtEl>
                                      </p:cBhvr>
                                    </p:animEffect>
                                  </p:childTnLst>
                                </p:cTn>
                              </p:par>
                              <p:par>
                                <p:cTn id="91" presetID="22" presetClass="entr" presetSubtype="8"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wipe(left)">
                                      <p:cBhvr>
                                        <p:cTn id="90" dur="500"/>
                                        <p:tgtEl>
                                          <p:spTgt spid="39"/>
                                        </p:tgtEl>
                                      </p:cBhvr>
                                    </p:animEffect>
                                  </p:childTnLst>
                                </p:cTn>
                              </p:par>
                              <p:par>
                                <p:cTn id="94" presetID="22" presetClass="entr" presetSubtype="8"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wipe(left)">
                                      <p:cBhvr>
                                        <p:cTn id="93" dur="500"/>
                                        <p:tgtEl>
                                          <p:spTgt spid="40"/>
                                        </p:tgtEl>
                                      </p:cBhvr>
                                    </p:animEffect>
                                  </p:childTnLst>
                                </p:cTn>
                              </p:par>
                              <p:par>
                                <p:cTn id="97" presetID="22" presetClass="entr" presetSubtype="8" fill="hold" grpId="0"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wipe(left)">
                                      <p:cBhvr>
                                        <p:cTn id="96" dur="500"/>
                                        <p:tgtEl>
                                          <p:spTgt spid="41"/>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500"/>
                                        <p:tgtEl>
                                          <p:spTgt spid="42"/>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500"/>
                                        <p:tgtEl>
                                          <p:spTgt spid="43"/>
                                        </p:tgtEl>
                                      </p:cBhvr>
                                    </p:animEffect>
                                  </p:childTnLst>
                                </p:cTn>
                              </p:par>
                              <p:par>
                                <p:cTn id="106" presetID="22" presetClass="entr" presetSubtype="8"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wipe(left)">
                                      <p:cBhvr>
                                        <p:cTn id="105" dur="500"/>
                                        <p:tgtEl>
                                          <p:spTgt spid="44"/>
                                        </p:tgtEl>
                                      </p:cBhvr>
                                    </p:animEffect>
                                  </p:childTnLst>
                                </p:cTn>
                              </p:par>
                              <p:par>
                                <p:cTn id="109" presetID="22" presetClass="entr" presetSubtype="8" fill="hold" grpId="0" nodeType="with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wipe(left)">
                                      <p:cBhvr>
                                        <p:cTn id="108" dur="500"/>
                                        <p:tgtEl>
                                          <p:spTgt spid="45"/>
                                        </p:tgtEl>
                                      </p:cBhvr>
                                    </p:animEffect>
                                  </p:childTnLst>
                                </p:cTn>
                              </p:par>
                              <p:par>
                                <p:cTn id="112" presetID="22" presetClass="entr" presetSubtype="8" fill="hold" grpId="0" nodeType="with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wipe(left)">
                                      <p:cBhvr>
                                        <p:cTn id="111" dur="500"/>
                                        <p:tgtEl>
                                          <p:spTgt spid="46"/>
                                        </p:tgtEl>
                                      </p:cBhvr>
                                    </p:animEffect>
                                  </p:childTnLst>
                                </p:cTn>
                              </p:par>
                              <p:par>
                                <p:cTn id="115" presetID="22" presetClass="entr" presetSubtype="8" fill="hold" grpId="0" nodeType="withEffect">
                                  <p:stCondLst>
                                    <p:cond delay="0"/>
                                  </p:stCondLst>
                                  <p:childTnLst>
                                    <p:set>
                                      <p:cBhvr>
                                        <p:cTn id="113" dur="1" fill="hold">
                                          <p:stCondLst>
                                            <p:cond delay="0"/>
                                          </p:stCondLst>
                                        </p:cTn>
                                        <p:tgtEl>
                                          <p:spTgt spid="47"/>
                                        </p:tgtEl>
                                        <p:attrNameLst>
                                          <p:attrName>style.visibility</p:attrName>
                                        </p:attrNameLst>
                                      </p:cBhvr>
                                      <p:to>
                                        <p:strVal val="visible"/>
                                      </p:to>
                                    </p:set>
                                    <p:animEffect transition="in" filter="wipe(left)">
                                      <p:cBhvr>
                                        <p:cTn id="114" dur="500"/>
                                        <p:tgtEl>
                                          <p:spTgt spid="47"/>
                                        </p:tgtEl>
                                      </p:cBhvr>
                                    </p:animEffect>
                                  </p:childTnLst>
                                </p:cTn>
                              </p:par>
                              <p:par>
                                <p:cTn id="118" presetID="22" presetClass="entr" presetSubtype="8" fill="hold" grpId="0" nodeType="with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wipe(left)">
                                      <p:cBhvr>
                                        <p:cTn id="117" dur="500"/>
                                        <p:tgtEl>
                                          <p:spTgt spid="48"/>
                                        </p:tgtEl>
                                      </p:cBhvr>
                                    </p:animEffect>
                                  </p:childTnLst>
                                </p:cTn>
                              </p:par>
                              <p:par>
                                <p:cTn id="121" presetID="22" presetClass="entr" presetSubtype="8"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animEffect transition="in" filter="wipe(left)">
                                      <p:cBhvr>
                                        <p:cTn id="120" dur="500"/>
                                        <p:tgtEl>
                                          <p:spTgt spid="49"/>
                                        </p:tgtEl>
                                      </p:cBhvr>
                                    </p:animEffect>
                                  </p:childTnLst>
                                </p:cTn>
                              </p:par>
                              <p:par>
                                <p:cTn id="124" presetID="22" presetClass="entr" presetSubtype="8"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animEffect transition="in" filter="wipe(left)">
                                      <p:cBhvr>
                                        <p:cTn id="123" dur="500"/>
                                        <p:tgtEl>
                                          <p:spTgt spid="50"/>
                                        </p:tgtEl>
                                      </p:cBhvr>
                                    </p:animEffect>
                                  </p:childTnLst>
                                </p:cTn>
                              </p:par>
                              <p:par>
                                <p:cTn id="127" presetID="22" presetClass="entr" presetSubtype="8" fill="hold" grpId="0" nodeType="with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wipe(left)">
                                      <p:cBhvr>
                                        <p:cTn id="126" dur="500"/>
                                        <p:tgtEl>
                                          <p:spTgt spid="51"/>
                                        </p:tgtEl>
                                      </p:cBhvr>
                                    </p:animEffect>
                                  </p:childTnLst>
                                </p:cTn>
                              </p:par>
                            </p:childTnLst>
                          </p:cTn>
                        </p:par>
                      </p:childTnLst>
                    </p:cTn>
                  </p:par>
                  <p:par>
                    <p:cTn id="128" fill="hold">
                      <p:stCondLst>
                        <p:cond delay="indefinite"/>
                      </p:stCondLst>
                      <p:childTnLst>
                        <p:par>
                          <p:cTn id="129" fill="hold">
                            <p:stCondLst>
                              <p:cond delay="0"/>
                            </p:stCondLst>
                            <p:childTnLst>
                              <p:par>
                                <p:cTn id="132" presetID="10" presetClass="entr" presetSubtype="0" fill="hold" grpId="0" nodeType="click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fade">
                                      <p:cBhvr>
                                        <p:cTn id="131" dur="500"/>
                                        <p:tgtEl>
                                          <p:spTgt spid="54"/>
                                        </p:tgtEl>
                                      </p:cBhvr>
                                    </p:animEffect>
                                  </p:childTnLst>
                                </p:cTn>
                              </p:par>
                              <p:par>
                                <p:cTn id="135" presetID="22" presetClass="entr" presetSubtype="8" fill="hold" grpId="0" nodeType="withEffect">
                                  <p:stCondLst>
                                    <p:cond delay="0"/>
                                  </p:stCondLst>
                                  <p:childTnLst>
                                    <p:set>
                                      <p:cBhvr>
                                        <p:cTn id="133" dur="1" fill="hold">
                                          <p:stCondLst>
                                            <p:cond delay="0"/>
                                          </p:stCondLst>
                                        </p:cTn>
                                        <p:tgtEl>
                                          <p:spTgt spid="55"/>
                                        </p:tgtEl>
                                        <p:attrNameLst>
                                          <p:attrName>style.visibility</p:attrName>
                                        </p:attrNameLst>
                                      </p:cBhvr>
                                      <p:to>
                                        <p:strVal val="visible"/>
                                      </p:to>
                                    </p:set>
                                    <p:animEffect transition="in" filter="wipe(left)">
                                      <p:cBhvr>
                                        <p:cTn id="134" dur="500"/>
                                        <p:tgtEl>
                                          <p:spTgt spid="55"/>
                                        </p:tgtEl>
                                      </p:cBhvr>
                                    </p:animEffect>
                                  </p:childTnLst>
                                </p:cTn>
                              </p:par>
                              <p:par>
                                <p:cTn id="138" presetID="22" presetClass="entr" presetSubtype="8" fill="hold" grpId="0" nodeType="withEffect">
                                  <p:stCondLst>
                                    <p:cond delay="90"/>
                                  </p:stCondLst>
                                  <p:childTnLst>
                                    <p:set>
                                      <p:cBhvr>
                                        <p:cTn id="136" dur="1" fill="hold">
                                          <p:stCondLst>
                                            <p:cond delay="0"/>
                                          </p:stCondLst>
                                        </p:cTn>
                                        <p:tgtEl>
                                          <p:spTgt spid="56"/>
                                        </p:tgtEl>
                                        <p:attrNameLst>
                                          <p:attrName>style.visibility</p:attrName>
                                        </p:attrNameLst>
                                      </p:cBhvr>
                                      <p:to>
                                        <p:strVal val="visible"/>
                                      </p:to>
                                    </p:set>
                                    <p:animEffect transition="in" filter="wipe(left)">
                                      <p:cBhvr>
                                        <p:cTn id="137" dur="500"/>
                                        <p:tgtEl>
                                          <p:spTgt spid="56"/>
                                        </p:tgtEl>
                                      </p:cBhvr>
                                    </p:animEffect>
                                  </p:childTnLst>
                                </p:cTn>
                              </p:par>
                              <p:par>
                                <p:cTn id="141" presetID="10" presetClass="entr" presetSubtype="0" fill="hold" grpId="0" nodeType="withEffect">
                                  <p:stCondLst>
                                    <p:cond delay="300"/>
                                  </p:stCondLst>
                                  <p:childTnLst>
                                    <p:set>
                                      <p:cBhvr>
                                        <p:cTn id="139" dur="1" fill="hold">
                                          <p:stCondLst>
                                            <p:cond delay="0"/>
                                          </p:stCondLst>
                                        </p:cTn>
                                        <p:tgtEl>
                                          <p:spTgt spid="52"/>
                                        </p:tgtEl>
                                        <p:attrNameLst>
                                          <p:attrName>style.visibility</p:attrName>
                                        </p:attrNameLst>
                                      </p:cBhvr>
                                      <p:to>
                                        <p:strVal val="visible"/>
                                      </p:to>
                                    </p:set>
                                    <p:animEffect transition="in" filter="fade">
                                      <p:cBhvr>
                                        <p:cTn id="140" dur="500"/>
                                        <p:tgtEl>
                                          <p:spTgt spid="52"/>
                                        </p:tgtEl>
                                      </p:cBhvr>
                                    </p:animEffect>
                                  </p:childTnLst>
                                </p:cTn>
                              </p:par>
                              <p:par>
                                <p:cTn id="144" presetID="10" presetClass="entr" presetSubtype="0" fill="hold" grpId="0" nodeType="withEffect">
                                  <p:stCondLst>
                                    <p:cond delay="300"/>
                                  </p:stCondLst>
                                  <p:childTnLst>
                                    <p:set>
                                      <p:cBhvr>
                                        <p:cTn id="142" dur="1" fill="hold">
                                          <p:stCondLst>
                                            <p:cond delay="0"/>
                                          </p:stCondLst>
                                        </p:cTn>
                                        <p:tgtEl>
                                          <p:spTgt spid="53"/>
                                        </p:tgtEl>
                                        <p:attrNameLst>
                                          <p:attrName>style.visibility</p:attrName>
                                        </p:attrNameLst>
                                      </p:cBhvr>
                                      <p:to>
                                        <p:strVal val="visible"/>
                                      </p:to>
                                    </p:set>
                                    <p:animEffect transition="in" filter="fade">
                                      <p:cBhvr>
                                        <p:cTn id="143" dur="500"/>
                                        <p:tgtEl>
                                          <p:spTgt spid="53"/>
                                        </p:tgtEl>
                                      </p:cBhvr>
                                    </p:animEffect>
                                  </p:childTnLst>
                                </p:cTn>
                              </p:par>
                            </p:childTnLst>
                          </p:cTn>
                        </p:par>
                      </p:childTnLst>
                    </p:cTn>
                  </p:par>
                  <p:par>
                    <p:cTn id="145" fill="hold">
                      <p:stCondLst>
                        <p:cond delay="indefinite"/>
                      </p:stCondLst>
                      <p:childTnLst>
                        <p:par>
                          <p:cTn id="146" fill="hold">
                            <p:stCondLst>
                              <p:cond delay="0"/>
                            </p:stCondLst>
                            <p:childTnLst>
                              <p:par>
                                <p:cTn id="151" presetID="2" presetClass="entr" presetSubtype="4" fill="hold" grpId="0" nodeType="clickEffect">
                                  <p:stCondLst>
                                    <p:cond delay="0"/>
                                  </p:stCondLst>
                                  <p:childTnLst>
                                    <p:set>
                                      <p:cBhvr>
                                        <p:cTn id="147" dur="1" fill="hold">
                                          <p:stCondLst>
                                            <p:cond delay="0"/>
                                          </p:stCondLst>
                                        </p:cTn>
                                        <p:tgtEl>
                                          <p:spTgt spid="57"/>
                                        </p:tgtEl>
                                        <p:attrNameLst>
                                          <p:attrName>style.visibility</p:attrName>
                                        </p:attrNameLst>
                                      </p:cBhvr>
                                      <p:to>
                                        <p:strVal val="visible"/>
                                      </p:to>
                                    </p:set>
                                    <p:anim calcmode="lin" valueType="num">
                                      <p:cBhvr additive="base">
                                        <p:cTn id="148" dur="500" fill="hold"/>
                                        <p:tgtEl>
                                          <p:spTgt spid="57"/>
                                        </p:tgtEl>
                                        <p:attrNameLst>
                                          <p:attrName>ppt_x</p:attrName>
                                        </p:attrNameLst>
                                      </p:cBhvr>
                                      <p:tavLst>
                                        <p:tav tm="0">
                                          <p:val>
                                            <p:strVal val="#ppt_x"/>
                                          </p:val>
                                        </p:tav>
                                        <p:tav tm="100000">
                                          <p:val>
                                            <p:strVal val="#ppt_x"/>
                                          </p:val>
                                        </p:tav>
                                      </p:tavLst>
                                    </p:anim>
                                    <p:anim calcmode="lin" valueType="num">
                                      <p:cBhvr additive="base">
                                        <p:cTn id="149" dur="500" fill="hold"/>
                                        <p:tgtEl>
                                          <p:spTgt spid="57"/>
                                        </p:tgtEl>
                                        <p:attrNameLst>
                                          <p:attrName>ppt_y</p:attrName>
                                        </p:attrNameLst>
                                      </p:cBhvr>
                                      <p:tavLst>
                                        <p:tav tm="0">
                                          <p:val>
                                            <p:strVal val="#ppt_y+0.1"/>
                                          </p:val>
                                        </p:tav>
                                        <p:tav tm="100000">
                                          <p:val>
                                            <p:strVal val="#ppt_y"/>
                                          </p:val>
                                        </p:tav>
                                      </p:tavLst>
                                    </p:anim>
                                    <p:animEffect transition="in" filter="fade">
                                      <p:cBhvr>
                                        <p:cTn id="150" dur="500"/>
                                        <p:tgtEl>
                                          <p:spTgt spid="57"/>
                                        </p:tgtEl>
                                      </p:cBhvr>
                                    </p:animEffect>
                                  </p:childTnLst>
                                </p:cTn>
                              </p:par>
                              <p:par>
                                <p:cTn id="156" presetID="2" presetClass="entr" presetSubtype="4" fill="hold" grpId="0" nodeType="withEffect">
                                  <p:stCondLst>
                                    <p:cond delay="0"/>
                                  </p:stCondLst>
                                  <p:childTnLst>
                                    <p:set>
                                      <p:cBhvr>
                                        <p:cTn id="152" dur="1" fill="hold">
                                          <p:stCondLst>
                                            <p:cond delay="0"/>
                                          </p:stCondLst>
                                        </p:cTn>
                                        <p:tgtEl>
                                          <p:spTgt spid="58"/>
                                        </p:tgtEl>
                                        <p:attrNameLst>
                                          <p:attrName>style.visibility</p:attrName>
                                        </p:attrNameLst>
                                      </p:cBhvr>
                                      <p:to>
                                        <p:strVal val="visible"/>
                                      </p:to>
                                    </p:set>
                                    <p:anim calcmode="lin" valueType="num">
                                      <p:cBhvr additive="base">
                                        <p:cTn id="153" dur="500" fill="hold"/>
                                        <p:tgtEl>
                                          <p:spTgt spid="58"/>
                                        </p:tgtEl>
                                        <p:attrNameLst>
                                          <p:attrName>ppt_x</p:attrName>
                                        </p:attrNameLst>
                                      </p:cBhvr>
                                      <p:tavLst>
                                        <p:tav tm="0">
                                          <p:val>
                                            <p:strVal val="#ppt_x"/>
                                          </p:val>
                                        </p:tav>
                                        <p:tav tm="100000">
                                          <p:val>
                                            <p:strVal val="#ppt_x"/>
                                          </p:val>
                                        </p:tav>
                                      </p:tavLst>
                                    </p:anim>
                                    <p:anim calcmode="lin" valueType="num">
                                      <p:cBhvr additive="base">
                                        <p:cTn id="154" dur="500" fill="hold"/>
                                        <p:tgtEl>
                                          <p:spTgt spid="58"/>
                                        </p:tgtEl>
                                        <p:attrNameLst>
                                          <p:attrName>ppt_y</p:attrName>
                                        </p:attrNameLst>
                                      </p:cBhvr>
                                      <p:tavLst>
                                        <p:tav tm="0">
                                          <p:val>
                                            <p:strVal val="#ppt_y+0.1"/>
                                          </p:val>
                                        </p:tav>
                                        <p:tav tm="100000">
                                          <p:val>
                                            <p:strVal val="#ppt_y"/>
                                          </p:val>
                                        </p:tav>
                                      </p:tavLst>
                                    </p:anim>
                                    <p:animEffect transition="in" filter="fade">
                                      <p:cBhvr>
                                        <p:cTn id="155" dur="500"/>
                                        <p:tgtEl>
                                          <p:spTgt spid="58"/>
                                        </p:tgtEl>
                                      </p:cBhvr>
                                    </p:animEffect>
                                  </p:childTnLst>
                                </p:cTn>
                              </p:par>
                              <p:par>
                                <p:cTn id="161" presetID="2" presetClass="entr" presetSubtype="4" fill="hold" grpId="0" nodeType="withEffect">
                                  <p:stCondLst>
                                    <p:cond delay="0"/>
                                  </p:stCondLst>
                                  <p:childTnLst>
                                    <p:set>
                                      <p:cBhvr>
                                        <p:cTn id="157" dur="1" fill="hold">
                                          <p:stCondLst>
                                            <p:cond delay="0"/>
                                          </p:stCondLst>
                                        </p:cTn>
                                        <p:tgtEl>
                                          <p:spTgt spid="59"/>
                                        </p:tgtEl>
                                        <p:attrNameLst>
                                          <p:attrName>style.visibility</p:attrName>
                                        </p:attrNameLst>
                                      </p:cBhvr>
                                      <p:to>
                                        <p:strVal val="visible"/>
                                      </p:to>
                                    </p:set>
                                    <p:anim calcmode="lin" valueType="num">
                                      <p:cBhvr additive="base">
                                        <p:cTn id="158" dur="500" fill="hold"/>
                                        <p:tgtEl>
                                          <p:spTgt spid="59"/>
                                        </p:tgtEl>
                                        <p:attrNameLst>
                                          <p:attrName>ppt_x</p:attrName>
                                        </p:attrNameLst>
                                      </p:cBhvr>
                                      <p:tavLst>
                                        <p:tav tm="0">
                                          <p:val>
                                            <p:strVal val="#ppt_x"/>
                                          </p:val>
                                        </p:tav>
                                        <p:tav tm="100000">
                                          <p:val>
                                            <p:strVal val="#ppt_x"/>
                                          </p:val>
                                        </p:tav>
                                      </p:tavLst>
                                    </p:anim>
                                    <p:anim calcmode="lin" valueType="num">
                                      <p:cBhvr additive="base">
                                        <p:cTn id="159" dur="500" fill="hold"/>
                                        <p:tgtEl>
                                          <p:spTgt spid="59"/>
                                        </p:tgtEl>
                                        <p:attrNameLst>
                                          <p:attrName>ppt_y</p:attrName>
                                        </p:attrNameLst>
                                      </p:cBhvr>
                                      <p:tavLst>
                                        <p:tav tm="0">
                                          <p:val>
                                            <p:strVal val="#ppt_y+0.1"/>
                                          </p:val>
                                        </p:tav>
                                        <p:tav tm="100000">
                                          <p:val>
                                            <p:strVal val="#ppt_y"/>
                                          </p:val>
                                        </p:tav>
                                      </p:tavLst>
                                    </p:anim>
                                    <p:animEffect transition="in" filter="fade">
                                      <p:cBhvr>
                                        <p:cTn id="160" dur="500"/>
                                        <p:tgtEl>
                                          <p:spTgt spid="59"/>
                                        </p:tgtEl>
                                      </p:cBhvr>
                                    </p:animEffect>
                                  </p:childTnLst>
                                </p:cTn>
                              </p:par>
                              <p:par>
                                <p:cTn id="166" presetID="2" presetClass="entr" presetSubtype="4" fill="hold" grpId="0" nodeType="withEffect">
                                  <p:stCondLst>
                                    <p:cond delay="80"/>
                                  </p:stCondLst>
                                  <p:childTnLst>
                                    <p:set>
                                      <p:cBhvr>
                                        <p:cTn id="162" dur="1" fill="hold">
                                          <p:stCondLst>
                                            <p:cond delay="0"/>
                                          </p:stCondLst>
                                        </p:cTn>
                                        <p:tgtEl>
                                          <p:spTgt spid="60"/>
                                        </p:tgtEl>
                                        <p:attrNameLst>
                                          <p:attrName>style.visibility</p:attrName>
                                        </p:attrNameLst>
                                      </p:cBhvr>
                                      <p:to>
                                        <p:strVal val="visible"/>
                                      </p:to>
                                    </p:set>
                                    <p:anim calcmode="lin" valueType="num">
                                      <p:cBhvr additive="base">
                                        <p:cTn id="163" dur="500" fill="hold"/>
                                        <p:tgtEl>
                                          <p:spTgt spid="60"/>
                                        </p:tgtEl>
                                        <p:attrNameLst>
                                          <p:attrName>ppt_x</p:attrName>
                                        </p:attrNameLst>
                                      </p:cBhvr>
                                      <p:tavLst>
                                        <p:tav tm="0">
                                          <p:val>
                                            <p:strVal val="#ppt_x"/>
                                          </p:val>
                                        </p:tav>
                                        <p:tav tm="100000">
                                          <p:val>
                                            <p:strVal val="#ppt_x"/>
                                          </p:val>
                                        </p:tav>
                                      </p:tavLst>
                                    </p:anim>
                                    <p:anim calcmode="lin" valueType="num">
                                      <p:cBhvr additive="base">
                                        <p:cTn id="164" dur="500" fill="hold"/>
                                        <p:tgtEl>
                                          <p:spTgt spid="60"/>
                                        </p:tgtEl>
                                        <p:attrNameLst>
                                          <p:attrName>ppt_y</p:attrName>
                                        </p:attrNameLst>
                                      </p:cBhvr>
                                      <p:tavLst>
                                        <p:tav tm="0">
                                          <p:val>
                                            <p:strVal val="#ppt_y+0.1"/>
                                          </p:val>
                                        </p:tav>
                                        <p:tav tm="100000">
                                          <p:val>
                                            <p:strVal val="#ppt_y"/>
                                          </p:val>
                                        </p:tav>
                                      </p:tavLst>
                                    </p:anim>
                                    <p:animEffect transition="in" filter="fade">
                                      <p:cBhvr>
                                        <p:cTn id="165" dur="500"/>
                                        <p:tgtEl>
                                          <p:spTgt spid="60"/>
                                        </p:tgtEl>
                                      </p:cBhvr>
                                    </p:animEffect>
                                  </p:childTnLst>
                                </p:cTn>
                              </p:par>
                              <p:par>
                                <p:cTn id="171" presetID="2" presetClass="entr" presetSubtype="4" fill="hold" grpId="0" nodeType="withEffect">
                                  <p:stCondLst>
                                    <p:cond delay="160"/>
                                  </p:stCondLst>
                                  <p:childTnLst>
                                    <p:set>
                                      <p:cBhvr>
                                        <p:cTn id="167" dur="1" fill="hold">
                                          <p:stCondLst>
                                            <p:cond delay="0"/>
                                          </p:stCondLst>
                                        </p:cTn>
                                        <p:tgtEl>
                                          <p:spTgt spid="61"/>
                                        </p:tgtEl>
                                        <p:attrNameLst>
                                          <p:attrName>style.visibility</p:attrName>
                                        </p:attrNameLst>
                                      </p:cBhvr>
                                      <p:to>
                                        <p:strVal val="visible"/>
                                      </p:to>
                                    </p:set>
                                    <p:anim calcmode="lin" valueType="num">
                                      <p:cBhvr additive="base">
                                        <p:cTn id="168" dur="500" fill="hold"/>
                                        <p:tgtEl>
                                          <p:spTgt spid="61"/>
                                        </p:tgtEl>
                                        <p:attrNameLst>
                                          <p:attrName>ppt_x</p:attrName>
                                        </p:attrNameLst>
                                      </p:cBhvr>
                                      <p:tavLst>
                                        <p:tav tm="0">
                                          <p:val>
                                            <p:strVal val="#ppt_x"/>
                                          </p:val>
                                        </p:tav>
                                        <p:tav tm="100000">
                                          <p:val>
                                            <p:strVal val="#ppt_x"/>
                                          </p:val>
                                        </p:tav>
                                      </p:tavLst>
                                    </p:anim>
                                    <p:anim calcmode="lin" valueType="num">
                                      <p:cBhvr additive="base">
                                        <p:cTn id="169" dur="500" fill="hold"/>
                                        <p:tgtEl>
                                          <p:spTgt spid="61"/>
                                        </p:tgtEl>
                                        <p:attrNameLst>
                                          <p:attrName>ppt_y</p:attrName>
                                        </p:attrNameLst>
                                      </p:cBhvr>
                                      <p:tavLst>
                                        <p:tav tm="0">
                                          <p:val>
                                            <p:strVal val="#ppt_y+0.1"/>
                                          </p:val>
                                        </p:tav>
                                        <p:tav tm="100000">
                                          <p:val>
                                            <p:strVal val="#ppt_y"/>
                                          </p:val>
                                        </p:tav>
                                      </p:tavLst>
                                    </p:anim>
                                    <p:animEffect transition="in" filter="fade">
                                      <p:cBhvr>
                                        <p:cTn id="170" dur="500"/>
                                        <p:tgtEl>
                                          <p:spTgt spid="61"/>
                                        </p:tgtEl>
                                      </p:cBhvr>
                                    </p:animEffect>
                                  </p:childTnLst>
                                </p:cTn>
                              </p:par>
                              <p:par>
                                <p:cTn id="176" presetID="2" presetClass="entr" presetSubtype="4" fill="hold" grpId="0" nodeType="withEffect">
                                  <p:stCondLst>
                                    <p:cond delay="240"/>
                                  </p:stCondLst>
                                  <p:childTnLst>
                                    <p:set>
                                      <p:cBhvr>
                                        <p:cTn id="172" dur="1" fill="hold">
                                          <p:stCondLst>
                                            <p:cond delay="0"/>
                                          </p:stCondLst>
                                        </p:cTn>
                                        <p:tgtEl>
                                          <p:spTgt spid="62"/>
                                        </p:tgtEl>
                                        <p:attrNameLst>
                                          <p:attrName>style.visibility</p:attrName>
                                        </p:attrNameLst>
                                      </p:cBhvr>
                                      <p:to>
                                        <p:strVal val="visible"/>
                                      </p:to>
                                    </p:set>
                                    <p:anim calcmode="lin" valueType="num">
                                      <p:cBhvr additive="base">
                                        <p:cTn id="173" dur="500" fill="hold"/>
                                        <p:tgtEl>
                                          <p:spTgt spid="62"/>
                                        </p:tgtEl>
                                        <p:attrNameLst>
                                          <p:attrName>ppt_x</p:attrName>
                                        </p:attrNameLst>
                                      </p:cBhvr>
                                      <p:tavLst>
                                        <p:tav tm="0">
                                          <p:val>
                                            <p:strVal val="#ppt_x"/>
                                          </p:val>
                                        </p:tav>
                                        <p:tav tm="100000">
                                          <p:val>
                                            <p:strVal val="#ppt_x"/>
                                          </p:val>
                                        </p:tav>
                                      </p:tavLst>
                                    </p:anim>
                                    <p:anim calcmode="lin" valueType="num">
                                      <p:cBhvr additive="base">
                                        <p:cTn id="174" dur="500" fill="hold"/>
                                        <p:tgtEl>
                                          <p:spTgt spid="62"/>
                                        </p:tgtEl>
                                        <p:attrNameLst>
                                          <p:attrName>ppt_y</p:attrName>
                                        </p:attrNameLst>
                                      </p:cBhvr>
                                      <p:tavLst>
                                        <p:tav tm="0">
                                          <p:val>
                                            <p:strVal val="#ppt_y+0.1"/>
                                          </p:val>
                                        </p:tav>
                                        <p:tav tm="100000">
                                          <p:val>
                                            <p:strVal val="#ppt_y"/>
                                          </p:val>
                                        </p:tav>
                                      </p:tavLst>
                                    </p:anim>
                                    <p:animEffect transition="in" filter="fade">
                                      <p:cBhvr>
                                        <p:cTn id="175" dur="500"/>
                                        <p:tgtEl>
                                          <p:spTgt spid="62"/>
                                        </p:tgtEl>
                                      </p:cBhvr>
                                    </p:animEffect>
                                  </p:childTnLst>
                                </p:cTn>
                              </p:par>
                              <p:par>
                                <p:cTn id="181" presetID="2" presetClass="entr" presetSubtype="4" fill="hold" grpId="0" nodeType="withEffect">
                                  <p:stCondLst>
                                    <p:cond delay="240"/>
                                  </p:stCondLst>
                                  <p:childTnLst>
                                    <p:set>
                                      <p:cBhvr>
                                        <p:cTn id="177" dur="1" fill="hold">
                                          <p:stCondLst>
                                            <p:cond delay="0"/>
                                          </p:stCondLst>
                                        </p:cTn>
                                        <p:tgtEl>
                                          <p:spTgt spid="63"/>
                                        </p:tgtEl>
                                        <p:attrNameLst>
                                          <p:attrName>style.visibility</p:attrName>
                                        </p:attrNameLst>
                                      </p:cBhvr>
                                      <p:to>
                                        <p:strVal val="visible"/>
                                      </p:to>
                                    </p:set>
                                    <p:anim calcmode="lin" valueType="num">
                                      <p:cBhvr additive="base">
                                        <p:cTn id="178" dur="500" fill="hold"/>
                                        <p:tgtEl>
                                          <p:spTgt spid="63"/>
                                        </p:tgtEl>
                                        <p:attrNameLst>
                                          <p:attrName>ppt_x</p:attrName>
                                        </p:attrNameLst>
                                      </p:cBhvr>
                                      <p:tavLst>
                                        <p:tav tm="0">
                                          <p:val>
                                            <p:strVal val="#ppt_x"/>
                                          </p:val>
                                        </p:tav>
                                        <p:tav tm="100000">
                                          <p:val>
                                            <p:strVal val="#ppt_x"/>
                                          </p:val>
                                        </p:tav>
                                      </p:tavLst>
                                    </p:anim>
                                    <p:anim calcmode="lin" valueType="num">
                                      <p:cBhvr additive="base">
                                        <p:cTn id="179" dur="500" fill="hold"/>
                                        <p:tgtEl>
                                          <p:spTgt spid="63"/>
                                        </p:tgtEl>
                                        <p:attrNameLst>
                                          <p:attrName>ppt_y</p:attrName>
                                        </p:attrNameLst>
                                      </p:cBhvr>
                                      <p:tavLst>
                                        <p:tav tm="0">
                                          <p:val>
                                            <p:strVal val="#ppt_y+0.1"/>
                                          </p:val>
                                        </p:tav>
                                        <p:tav tm="100000">
                                          <p:val>
                                            <p:strVal val="#ppt_y"/>
                                          </p:val>
                                        </p:tav>
                                      </p:tavLst>
                                    </p:anim>
                                    <p:animEffect transition="in" filter="fade">
                                      <p:cBhvr>
                                        <p:cTn id="180" dur="500"/>
                                        <p:tgtEl>
                                          <p:spTgt spid="63"/>
                                        </p:tgtEl>
                                      </p:cBhvr>
                                    </p:animEffect>
                                  </p:childTnLst>
                                </p:cTn>
                              </p:par>
                              <p:par>
                                <p:cTn id="186" presetID="2" presetClass="entr" presetSubtype="4" fill="hold" grpId="0" nodeType="withEffect">
                                  <p:stCondLst>
                                    <p:cond delay="340"/>
                                  </p:stCondLst>
                                  <p:childTnLst>
                                    <p:set>
                                      <p:cBhvr>
                                        <p:cTn id="182" dur="1" fill="hold">
                                          <p:stCondLst>
                                            <p:cond delay="0"/>
                                          </p:stCondLst>
                                        </p:cTn>
                                        <p:tgtEl>
                                          <p:spTgt spid="64"/>
                                        </p:tgtEl>
                                        <p:attrNameLst>
                                          <p:attrName>style.visibility</p:attrName>
                                        </p:attrNameLst>
                                      </p:cBhvr>
                                      <p:to>
                                        <p:strVal val="visible"/>
                                      </p:to>
                                    </p:set>
                                    <p:anim calcmode="lin" valueType="num">
                                      <p:cBhvr additive="base">
                                        <p:cTn id="183" dur="500" fill="hold"/>
                                        <p:tgtEl>
                                          <p:spTgt spid="64"/>
                                        </p:tgtEl>
                                        <p:attrNameLst>
                                          <p:attrName>ppt_x</p:attrName>
                                        </p:attrNameLst>
                                      </p:cBhvr>
                                      <p:tavLst>
                                        <p:tav tm="0">
                                          <p:val>
                                            <p:strVal val="#ppt_x"/>
                                          </p:val>
                                        </p:tav>
                                        <p:tav tm="100000">
                                          <p:val>
                                            <p:strVal val="#ppt_x"/>
                                          </p:val>
                                        </p:tav>
                                      </p:tavLst>
                                    </p:anim>
                                    <p:anim calcmode="lin" valueType="num">
                                      <p:cBhvr additive="base">
                                        <p:cTn id="184" dur="500" fill="hold"/>
                                        <p:tgtEl>
                                          <p:spTgt spid="64"/>
                                        </p:tgtEl>
                                        <p:attrNameLst>
                                          <p:attrName>ppt_y</p:attrName>
                                        </p:attrNameLst>
                                      </p:cBhvr>
                                      <p:tavLst>
                                        <p:tav tm="0">
                                          <p:val>
                                            <p:strVal val="#ppt_y+0.1"/>
                                          </p:val>
                                        </p:tav>
                                        <p:tav tm="100000">
                                          <p:val>
                                            <p:strVal val="#ppt_y"/>
                                          </p:val>
                                        </p:tav>
                                      </p:tavLst>
                                    </p:anim>
                                    <p:animEffect transition="in" filter="fade">
                                      <p:cBhvr>
                                        <p:cTn id="185" dur="500"/>
                                        <p:tgtEl>
                                          <p:spTgt spid="64"/>
                                        </p:tgtEl>
                                      </p:cBhvr>
                                    </p:animEffect>
                                  </p:childTnLst>
                                </p:cTn>
                              </p:par>
                              <p:par>
                                <p:cTn id="191" presetID="2" presetClass="entr" presetSubtype="4" fill="hold" grpId="0" nodeType="withEffect">
                                  <p:stCondLst>
                                    <p:cond delay="340"/>
                                  </p:stCondLst>
                                  <p:childTnLst>
                                    <p:set>
                                      <p:cBhvr>
                                        <p:cTn id="187" dur="1" fill="hold">
                                          <p:stCondLst>
                                            <p:cond delay="0"/>
                                          </p:stCondLst>
                                        </p:cTn>
                                        <p:tgtEl>
                                          <p:spTgt spid="65"/>
                                        </p:tgtEl>
                                        <p:attrNameLst>
                                          <p:attrName>style.visibility</p:attrName>
                                        </p:attrNameLst>
                                      </p:cBhvr>
                                      <p:to>
                                        <p:strVal val="visible"/>
                                      </p:to>
                                    </p:set>
                                    <p:anim calcmode="lin" valueType="num">
                                      <p:cBhvr additive="base">
                                        <p:cTn id="188" dur="500" fill="hold"/>
                                        <p:tgtEl>
                                          <p:spTgt spid="65"/>
                                        </p:tgtEl>
                                        <p:attrNameLst>
                                          <p:attrName>ppt_x</p:attrName>
                                        </p:attrNameLst>
                                      </p:cBhvr>
                                      <p:tavLst>
                                        <p:tav tm="0">
                                          <p:val>
                                            <p:strVal val="#ppt_x"/>
                                          </p:val>
                                        </p:tav>
                                        <p:tav tm="100000">
                                          <p:val>
                                            <p:strVal val="#ppt_x"/>
                                          </p:val>
                                        </p:tav>
                                      </p:tavLst>
                                    </p:anim>
                                    <p:anim calcmode="lin" valueType="num">
                                      <p:cBhvr additive="base">
                                        <p:cTn id="189" dur="500" fill="hold"/>
                                        <p:tgtEl>
                                          <p:spTgt spid="65"/>
                                        </p:tgtEl>
                                        <p:attrNameLst>
                                          <p:attrName>ppt_y</p:attrName>
                                        </p:attrNameLst>
                                      </p:cBhvr>
                                      <p:tavLst>
                                        <p:tav tm="0">
                                          <p:val>
                                            <p:strVal val="#ppt_y+0.1"/>
                                          </p:val>
                                        </p:tav>
                                        <p:tav tm="100000">
                                          <p:val>
                                            <p:strVal val="#ppt_y"/>
                                          </p:val>
                                        </p:tav>
                                      </p:tavLst>
                                    </p:anim>
                                    <p:animEffect transition="in" filter="fade">
                                      <p:cBhvr>
                                        <p:cTn id="190" dur="500"/>
                                        <p:tgtEl>
                                          <p:spTgt spid="65"/>
                                        </p:tgtEl>
                                      </p:cBhvr>
                                    </p:animEffect>
                                  </p:childTnLst>
                                </p:cTn>
                              </p:par>
                            </p:childTnLst>
                          </p:cTn>
                        </p:par>
                      </p:childTnLst>
                    </p:cTn>
                  </p:par>
                  <p:par>
                    <p:cTn id="192" fill="hold">
                      <p:stCondLst>
                        <p:cond delay="indefinite"/>
                      </p:stCondLst>
                      <p:childTnLst>
                        <p:par>
                          <p:cTn id="193" fill="hold">
                            <p:stCondLst>
                              <p:cond delay="0"/>
                            </p:stCondLst>
                            <p:childTnLst>
                              <p:par>
                                <p:cTn id="198" presetID="2" presetClass="entr" presetSubtype="4" fill="hold" grpId="0" nodeType="clickEffect">
                                  <p:stCondLst>
                                    <p:cond delay="0"/>
                                  </p:stCondLst>
                                  <p:childTnLst>
                                    <p:set>
                                      <p:cBhvr>
                                        <p:cTn id="194" dur="1" fill="hold">
                                          <p:stCondLst>
                                            <p:cond delay="0"/>
                                          </p:stCondLst>
                                        </p:cTn>
                                        <p:tgtEl>
                                          <p:spTgt spid="66"/>
                                        </p:tgtEl>
                                        <p:attrNameLst>
                                          <p:attrName>style.visibility</p:attrName>
                                        </p:attrNameLst>
                                      </p:cBhvr>
                                      <p:to>
                                        <p:strVal val="visible"/>
                                      </p:to>
                                    </p:set>
                                    <p:anim calcmode="lin" valueType="num">
                                      <p:cBhvr additive="base">
                                        <p:cTn id="195" dur="500" fill="hold"/>
                                        <p:tgtEl>
                                          <p:spTgt spid="66"/>
                                        </p:tgtEl>
                                        <p:attrNameLst>
                                          <p:attrName>ppt_x</p:attrName>
                                        </p:attrNameLst>
                                      </p:cBhvr>
                                      <p:tavLst>
                                        <p:tav tm="0">
                                          <p:val>
                                            <p:strVal val="#ppt_x"/>
                                          </p:val>
                                        </p:tav>
                                        <p:tav tm="100000">
                                          <p:val>
                                            <p:strVal val="#ppt_x"/>
                                          </p:val>
                                        </p:tav>
                                      </p:tavLst>
                                    </p:anim>
                                    <p:anim calcmode="lin" valueType="num">
                                      <p:cBhvr additive="base">
                                        <p:cTn id="196" dur="500" fill="hold"/>
                                        <p:tgtEl>
                                          <p:spTgt spid="66"/>
                                        </p:tgtEl>
                                        <p:attrNameLst>
                                          <p:attrName>ppt_y</p:attrName>
                                        </p:attrNameLst>
                                      </p:cBhvr>
                                      <p:tavLst>
                                        <p:tav tm="0">
                                          <p:val>
                                            <p:strVal val="#ppt_y+0.1"/>
                                          </p:val>
                                        </p:tav>
                                        <p:tav tm="100000">
                                          <p:val>
                                            <p:strVal val="#ppt_y"/>
                                          </p:val>
                                        </p:tav>
                                      </p:tavLst>
                                    </p:anim>
                                    <p:animEffect transition="in" filter="fade">
                                      <p:cBhvr>
                                        <p:cTn id="197" dur="500"/>
                                        <p:tgtEl>
                                          <p:spTgt spid="66"/>
                                        </p:tgtEl>
                                      </p:cBhvr>
                                    </p:animEffect>
                                  </p:childTnLst>
                                </p:cTn>
                              </p:par>
                              <p:par>
                                <p:cTn id="203" presetID="2" presetClass="entr" presetSubtype="4" fill="hold" grpId="0" nodeType="withEffect">
                                  <p:stCondLst>
                                    <p:cond delay="0"/>
                                  </p:stCondLst>
                                  <p:childTnLst>
                                    <p:set>
                                      <p:cBhvr>
                                        <p:cTn id="199" dur="1" fill="hold">
                                          <p:stCondLst>
                                            <p:cond delay="0"/>
                                          </p:stCondLst>
                                        </p:cTn>
                                        <p:tgtEl>
                                          <p:spTgt spid="67"/>
                                        </p:tgtEl>
                                        <p:attrNameLst>
                                          <p:attrName>style.visibility</p:attrName>
                                        </p:attrNameLst>
                                      </p:cBhvr>
                                      <p:to>
                                        <p:strVal val="visible"/>
                                      </p:to>
                                    </p:set>
                                    <p:anim calcmode="lin" valueType="num">
                                      <p:cBhvr additive="base">
                                        <p:cTn id="200" dur="500" fill="hold"/>
                                        <p:tgtEl>
                                          <p:spTgt spid="67"/>
                                        </p:tgtEl>
                                        <p:attrNameLst>
                                          <p:attrName>ppt_x</p:attrName>
                                        </p:attrNameLst>
                                      </p:cBhvr>
                                      <p:tavLst>
                                        <p:tav tm="0">
                                          <p:val>
                                            <p:strVal val="#ppt_x"/>
                                          </p:val>
                                        </p:tav>
                                        <p:tav tm="100000">
                                          <p:val>
                                            <p:strVal val="#ppt_x"/>
                                          </p:val>
                                        </p:tav>
                                      </p:tavLst>
                                    </p:anim>
                                    <p:anim calcmode="lin" valueType="num">
                                      <p:cBhvr additive="base">
                                        <p:cTn id="201" dur="500" fill="hold"/>
                                        <p:tgtEl>
                                          <p:spTgt spid="67"/>
                                        </p:tgtEl>
                                        <p:attrNameLst>
                                          <p:attrName>ppt_y</p:attrName>
                                        </p:attrNameLst>
                                      </p:cBhvr>
                                      <p:tavLst>
                                        <p:tav tm="0">
                                          <p:val>
                                            <p:strVal val="#ppt_y+0.1"/>
                                          </p:val>
                                        </p:tav>
                                        <p:tav tm="100000">
                                          <p:val>
                                            <p:strVal val="#ppt_y"/>
                                          </p:val>
                                        </p:tav>
                                      </p:tavLst>
                                    </p:anim>
                                    <p:animEffect transition="in" filter="fade">
                                      <p:cBhvr>
                                        <p:cTn id="202" dur="500"/>
                                        <p:tgtEl>
                                          <p:spTgt spid="67"/>
                                        </p:tgtEl>
                                      </p:cBhvr>
                                    </p:animEffect>
                                  </p:childTnLst>
                                </p:cTn>
                              </p:par>
                              <p:par>
                                <p:cTn id="208" presetID="2" presetClass="entr" presetSubtype="4" fill="hold" grpId="0" nodeType="withEffect">
                                  <p:stCondLst>
                                    <p:cond delay="0"/>
                                  </p:stCondLst>
                                  <p:childTnLst>
                                    <p:set>
                                      <p:cBhvr>
                                        <p:cTn id="204" dur="1" fill="hold">
                                          <p:stCondLst>
                                            <p:cond delay="0"/>
                                          </p:stCondLst>
                                        </p:cTn>
                                        <p:tgtEl>
                                          <p:spTgt spid="68"/>
                                        </p:tgtEl>
                                        <p:attrNameLst>
                                          <p:attrName>style.visibility</p:attrName>
                                        </p:attrNameLst>
                                      </p:cBhvr>
                                      <p:to>
                                        <p:strVal val="visible"/>
                                      </p:to>
                                    </p:set>
                                    <p:anim calcmode="lin" valueType="num">
                                      <p:cBhvr additive="base">
                                        <p:cTn id="205" dur="500" fill="hold"/>
                                        <p:tgtEl>
                                          <p:spTgt spid="68"/>
                                        </p:tgtEl>
                                        <p:attrNameLst>
                                          <p:attrName>ppt_x</p:attrName>
                                        </p:attrNameLst>
                                      </p:cBhvr>
                                      <p:tavLst>
                                        <p:tav tm="0">
                                          <p:val>
                                            <p:strVal val="#ppt_x"/>
                                          </p:val>
                                        </p:tav>
                                        <p:tav tm="100000">
                                          <p:val>
                                            <p:strVal val="#ppt_x"/>
                                          </p:val>
                                        </p:tav>
                                      </p:tavLst>
                                    </p:anim>
                                    <p:anim calcmode="lin" valueType="num">
                                      <p:cBhvr additive="base">
                                        <p:cTn id="206" dur="500" fill="hold"/>
                                        <p:tgtEl>
                                          <p:spTgt spid="68"/>
                                        </p:tgtEl>
                                        <p:attrNameLst>
                                          <p:attrName>ppt_y</p:attrName>
                                        </p:attrNameLst>
                                      </p:cBhvr>
                                      <p:tavLst>
                                        <p:tav tm="0">
                                          <p:val>
                                            <p:strVal val="#ppt_y+0.1"/>
                                          </p:val>
                                        </p:tav>
                                        <p:tav tm="100000">
                                          <p:val>
                                            <p:strVal val="#ppt_y"/>
                                          </p:val>
                                        </p:tav>
                                      </p:tavLst>
                                    </p:anim>
                                    <p:animEffect transition="in" filter="fade">
                                      <p:cBhvr>
                                        <p:cTn id="20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Uses a Log Instead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different abstraction: not tables, but logs</a:t>
            </a:r>
          </a:p>
        </p:txBody>
      </p:sp>
      <p:sp>
        <p:nvSpPr>
          <p:cNvPr id="11" name="a1f_lb10"/>
          <p:cNvSpPr txBox="1"/>
          <p:nvPr/>
        </p:nvSpPr>
        <p:spPr>
          <a:xfrm>
            <a:off x="731520" y="1280160"/>
            <a:ext cx="4937760" cy="201168"/>
          </a:xfrm>
          <a:prstGeom prst="rect">
            <a:avLst/>
          </a:prstGeom>
          <a:noFill/>
        </p:spPr>
        <p:txBody>
          <a:bodyPr wrap="square" lIns="0" tIns="0" rIns="0" bIns="0" anchor="ctr">
            <a:spAutoFit/>
          </a:bodyPr>
          <a:lstStyle/>
          <a:p>
            <a:pPr algn="l"/>
            <a:r>
              <a:rPr sz="850" b="1">
                <a:solidFill>
                  <a:srgbClr val="1C1917"/>
                </a:solidFill>
                <a:latin typeface="Segoe UI"/>
              </a:rPr>
              <a:t>a log  ·  a sequence of messages (also called events)</a:t>
            </a:r>
          </a:p>
        </p:txBody>
      </p:sp>
      <p:sp>
        <p:nvSpPr>
          <p:cNvPr id="12" name="a1w_cell11"/>
          <p:cNvSpPr/>
          <p:nvPr/>
        </p:nvSpPr>
        <p:spPr>
          <a:xfrm>
            <a:off x="731520" y="1691640"/>
            <a:ext cx="731520" cy="54864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_cellt12"/>
          <p:cNvSpPr txBox="1"/>
          <p:nvPr/>
        </p:nvSpPr>
        <p:spPr>
          <a:xfrm>
            <a:off x="731520" y="1691640"/>
            <a:ext cx="731520" cy="548640"/>
          </a:xfrm>
          <a:prstGeom prst="rect">
            <a:avLst/>
          </a:prstGeom>
          <a:noFill/>
        </p:spPr>
        <p:txBody>
          <a:bodyPr wrap="square" lIns="0" tIns="0" rIns="0" bIns="0" anchor="ctr">
            <a:spAutoFit/>
          </a:bodyPr>
          <a:lstStyle/>
          <a:p>
            <a:pPr algn="ctr"/>
            <a:r>
              <a:rPr sz="1100" b="1">
                <a:solidFill>
                  <a:srgbClr val="C2410C"/>
                </a:solidFill>
                <a:latin typeface="Consolas"/>
              </a:rPr>
              <a:t>0</a:t>
            </a:r>
          </a:p>
        </p:txBody>
      </p:sp>
      <p:sp>
        <p:nvSpPr>
          <p:cNvPr id="14" name="a1wd60_cell13"/>
          <p:cNvSpPr/>
          <p:nvPr/>
        </p:nvSpPr>
        <p:spPr>
          <a:xfrm>
            <a:off x="1463040" y="1691640"/>
            <a:ext cx="731520" cy="54864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60_cellt14"/>
          <p:cNvSpPr txBox="1"/>
          <p:nvPr/>
        </p:nvSpPr>
        <p:spPr>
          <a:xfrm>
            <a:off x="1463040" y="1691640"/>
            <a:ext cx="731520" cy="548640"/>
          </a:xfrm>
          <a:prstGeom prst="rect">
            <a:avLst/>
          </a:prstGeom>
          <a:noFill/>
        </p:spPr>
        <p:txBody>
          <a:bodyPr wrap="square" lIns="0" tIns="0" rIns="0" bIns="0" anchor="ctr">
            <a:spAutoFit/>
          </a:bodyPr>
          <a:lstStyle/>
          <a:p>
            <a:pPr algn="ctr"/>
            <a:r>
              <a:rPr sz="1100" b="1">
                <a:solidFill>
                  <a:srgbClr val="C2410C"/>
                </a:solidFill>
                <a:latin typeface="Consolas"/>
              </a:rPr>
              <a:t>1</a:t>
            </a:r>
          </a:p>
        </p:txBody>
      </p:sp>
      <p:sp>
        <p:nvSpPr>
          <p:cNvPr id="16" name="a1wd120_cell15"/>
          <p:cNvSpPr/>
          <p:nvPr/>
        </p:nvSpPr>
        <p:spPr>
          <a:xfrm>
            <a:off x="2194560" y="1691640"/>
            <a:ext cx="731520" cy="54864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120_cellt16"/>
          <p:cNvSpPr txBox="1"/>
          <p:nvPr/>
        </p:nvSpPr>
        <p:spPr>
          <a:xfrm>
            <a:off x="2194560" y="1691640"/>
            <a:ext cx="731520" cy="548640"/>
          </a:xfrm>
          <a:prstGeom prst="rect">
            <a:avLst/>
          </a:prstGeom>
          <a:noFill/>
        </p:spPr>
        <p:txBody>
          <a:bodyPr wrap="square" lIns="0" tIns="0" rIns="0" bIns="0" anchor="ctr">
            <a:spAutoFit/>
          </a:bodyPr>
          <a:lstStyle/>
          <a:p>
            <a:pPr algn="ctr"/>
            <a:r>
              <a:rPr sz="1100" b="1">
                <a:solidFill>
                  <a:srgbClr val="C2410C"/>
                </a:solidFill>
                <a:latin typeface="Consolas"/>
              </a:rPr>
              <a:t>2</a:t>
            </a:r>
          </a:p>
        </p:txBody>
      </p:sp>
      <p:sp>
        <p:nvSpPr>
          <p:cNvPr id="18" name="a1wd180_cell17"/>
          <p:cNvSpPr/>
          <p:nvPr/>
        </p:nvSpPr>
        <p:spPr>
          <a:xfrm>
            <a:off x="2926080" y="1691640"/>
            <a:ext cx="731520" cy="54864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180_cellt18"/>
          <p:cNvSpPr txBox="1"/>
          <p:nvPr/>
        </p:nvSpPr>
        <p:spPr>
          <a:xfrm>
            <a:off x="2926080" y="1691640"/>
            <a:ext cx="731520" cy="548640"/>
          </a:xfrm>
          <a:prstGeom prst="rect">
            <a:avLst/>
          </a:prstGeom>
          <a:noFill/>
        </p:spPr>
        <p:txBody>
          <a:bodyPr wrap="square" lIns="0" tIns="0" rIns="0" bIns="0" anchor="ctr">
            <a:spAutoFit/>
          </a:bodyPr>
          <a:lstStyle/>
          <a:p>
            <a:pPr algn="ctr"/>
            <a:r>
              <a:rPr sz="1100" b="1">
                <a:solidFill>
                  <a:srgbClr val="C2410C"/>
                </a:solidFill>
                <a:latin typeface="Consolas"/>
              </a:rPr>
              <a:t>3</a:t>
            </a:r>
          </a:p>
        </p:txBody>
      </p:sp>
      <p:sp>
        <p:nvSpPr>
          <p:cNvPr id="20" name="a1wd240_cell19"/>
          <p:cNvSpPr/>
          <p:nvPr/>
        </p:nvSpPr>
        <p:spPr>
          <a:xfrm>
            <a:off x="3657600" y="1691640"/>
            <a:ext cx="731520" cy="54864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240_cellt20"/>
          <p:cNvSpPr txBox="1"/>
          <p:nvPr/>
        </p:nvSpPr>
        <p:spPr>
          <a:xfrm>
            <a:off x="3657600" y="1691640"/>
            <a:ext cx="731520" cy="548640"/>
          </a:xfrm>
          <a:prstGeom prst="rect">
            <a:avLst/>
          </a:prstGeom>
          <a:noFill/>
        </p:spPr>
        <p:txBody>
          <a:bodyPr wrap="square" lIns="0" tIns="0" rIns="0" bIns="0" anchor="ctr">
            <a:spAutoFit/>
          </a:bodyPr>
          <a:lstStyle/>
          <a:p>
            <a:pPr algn="ctr"/>
            <a:r>
              <a:rPr sz="1100" b="1">
                <a:solidFill>
                  <a:srgbClr val="C2410C"/>
                </a:solidFill>
                <a:latin typeface="Consolas"/>
              </a:rPr>
              <a:t>4</a:t>
            </a:r>
          </a:p>
        </p:txBody>
      </p:sp>
      <p:sp>
        <p:nvSpPr>
          <p:cNvPr id="22" name="a1wd300_cell21"/>
          <p:cNvSpPr/>
          <p:nvPr/>
        </p:nvSpPr>
        <p:spPr>
          <a:xfrm>
            <a:off x="4389120" y="1691640"/>
            <a:ext cx="731520" cy="54864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300_cellt22"/>
          <p:cNvSpPr txBox="1"/>
          <p:nvPr/>
        </p:nvSpPr>
        <p:spPr>
          <a:xfrm>
            <a:off x="4389120" y="1691640"/>
            <a:ext cx="731520" cy="548640"/>
          </a:xfrm>
          <a:prstGeom prst="rect">
            <a:avLst/>
          </a:prstGeom>
          <a:noFill/>
        </p:spPr>
        <p:txBody>
          <a:bodyPr wrap="square" lIns="0" tIns="0" rIns="0" bIns="0" anchor="ctr">
            <a:spAutoFit/>
          </a:bodyPr>
          <a:lstStyle/>
          <a:p>
            <a:pPr algn="ctr"/>
            <a:r>
              <a:rPr sz="1100" b="1">
                <a:solidFill>
                  <a:srgbClr val="C2410C"/>
                </a:solidFill>
                <a:latin typeface="Consolas"/>
              </a:rPr>
              <a:t>5</a:t>
            </a:r>
          </a:p>
        </p:txBody>
      </p:sp>
      <p:sp>
        <p:nvSpPr>
          <p:cNvPr id="24" name="a1wd360_cell23"/>
          <p:cNvSpPr/>
          <p:nvPr/>
        </p:nvSpPr>
        <p:spPr>
          <a:xfrm>
            <a:off x="5120640" y="1691640"/>
            <a:ext cx="731520" cy="54864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360_cellt24"/>
          <p:cNvSpPr txBox="1"/>
          <p:nvPr/>
        </p:nvSpPr>
        <p:spPr>
          <a:xfrm>
            <a:off x="5120640" y="1691640"/>
            <a:ext cx="731520" cy="548640"/>
          </a:xfrm>
          <a:prstGeom prst="rect">
            <a:avLst/>
          </a:prstGeom>
          <a:noFill/>
        </p:spPr>
        <p:txBody>
          <a:bodyPr wrap="square" lIns="0" tIns="0" rIns="0" bIns="0" anchor="ctr">
            <a:spAutoFit/>
          </a:bodyPr>
          <a:lstStyle/>
          <a:p>
            <a:pPr algn="ctr"/>
            <a:r>
              <a:rPr sz="1100" b="1">
                <a:solidFill>
                  <a:srgbClr val="C2410C"/>
                </a:solidFill>
                <a:latin typeface="Consolas"/>
              </a:rPr>
              <a:t>6</a:t>
            </a:r>
          </a:p>
        </p:txBody>
      </p:sp>
      <p:sp>
        <p:nvSpPr>
          <p:cNvPr id="26" name="a2u_cell25"/>
          <p:cNvSpPr/>
          <p:nvPr/>
        </p:nvSpPr>
        <p:spPr>
          <a:xfrm>
            <a:off x="5852160" y="1691640"/>
            <a:ext cx="731520" cy="548640"/>
          </a:xfrm>
          <a:prstGeom prst="rect">
            <a:avLst/>
          </a:prstGeom>
          <a:solidFill>
            <a:srgbClr val="EA580C"/>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cellt26"/>
          <p:cNvSpPr txBox="1"/>
          <p:nvPr/>
        </p:nvSpPr>
        <p:spPr>
          <a:xfrm>
            <a:off x="5852160" y="1691640"/>
            <a:ext cx="731520" cy="548640"/>
          </a:xfrm>
          <a:prstGeom prst="rect">
            <a:avLst/>
          </a:prstGeom>
          <a:noFill/>
        </p:spPr>
        <p:txBody>
          <a:bodyPr wrap="square" lIns="0" tIns="0" rIns="0" bIns="0" anchor="ctr">
            <a:spAutoFit/>
          </a:bodyPr>
          <a:lstStyle/>
          <a:p>
            <a:pPr algn="ctr"/>
            <a:r>
              <a:rPr sz="1100" b="1">
                <a:solidFill>
                  <a:srgbClr val="FFFFFF"/>
                </a:solidFill>
                <a:latin typeface="Consolas"/>
              </a:rPr>
              <a:t>7</a:t>
            </a:r>
          </a:p>
        </p:txBody>
      </p:sp>
      <p:cxnSp>
        <p:nvCxnSpPr>
          <p:cNvPr id="28" name="a2u_ar27"/>
          <p:cNvCxnSpPr/>
          <p:nvPr/>
        </p:nvCxnSpPr>
        <p:spPr>
          <a:xfrm>
            <a:off x="6217920" y="1371600"/>
            <a:ext cx="0" cy="292608"/>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2u_lb28"/>
          <p:cNvSpPr txBox="1"/>
          <p:nvPr/>
        </p:nvSpPr>
        <p:spPr>
          <a:xfrm>
            <a:off x="6675120" y="1691640"/>
            <a:ext cx="2011680" cy="548640"/>
          </a:xfrm>
          <a:prstGeom prst="rect">
            <a:avLst/>
          </a:prstGeom>
          <a:noFill/>
        </p:spPr>
        <p:txBody>
          <a:bodyPr wrap="square" lIns="0" tIns="0" rIns="0" bIns="0" anchor="ctr">
            <a:spAutoFit/>
          </a:bodyPr>
          <a:lstStyle/>
          <a:p>
            <a:pPr algn="l"/>
            <a:r>
              <a:rPr sz="900" b="1">
                <a:solidFill>
                  <a:srgbClr val="C2410C"/>
                </a:solidFill>
                <a:latin typeface="Segoe UI"/>
              </a:rPr>
              <a:t>new messages are added to the END</a:t>
            </a:r>
          </a:p>
        </p:txBody>
      </p:sp>
      <p:cxnSp>
        <p:nvCxnSpPr>
          <p:cNvPr id="30" name="a3f_wr29"/>
          <p:cNvCxnSpPr/>
          <p:nvPr/>
        </p:nvCxnSpPr>
        <p:spPr>
          <a:xfrm>
            <a:off x="731520" y="2395728"/>
            <a:ext cx="5120640" cy="0"/>
          </a:xfrm>
          <a:prstGeom prst="line">
            <a:avLst/>
          </a:prstGeom>
          <a:ln w="15875">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1" name="a3f_wr30"/>
          <p:cNvCxnSpPr/>
          <p:nvPr/>
        </p:nvCxnSpPr>
        <p:spPr>
          <a:xfrm>
            <a:off x="731520" y="2304288"/>
            <a:ext cx="0" cy="91440"/>
          </a:xfrm>
          <a:prstGeom prst="line">
            <a:avLst/>
          </a:prstGeom>
          <a:ln w="15875">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2" name="a3f_wr31"/>
          <p:cNvCxnSpPr/>
          <p:nvPr/>
        </p:nvCxnSpPr>
        <p:spPr>
          <a:xfrm>
            <a:off x="5852160" y="2304288"/>
            <a:ext cx="0" cy="91440"/>
          </a:xfrm>
          <a:prstGeom prst="line">
            <a:avLst/>
          </a:prstGeom>
          <a:ln w="15875">
            <a:solidFill>
              <a:srgbClr val="E11D48"/>
            </a:solidFill>
          </a:ln>
        </p:spPr>
        <p:style>
          <a:lnRef idx="2">
            <a:schemeClr val="accent1"/>
          </a:lnRef>
          <a:fillRef idx="0">
            <a:schemeClr val="accent1"/>
          </a:fillRef>
          <a:effectRef idx="1">
            <a:schemeClr val="accent1"/>
          </a:effectRef>
          <a:fontRef idx="minor">
            <a:schemeClr val="tx1"/>
          </a:fontRef>
        </p:style>
      </p:cxnSp>
      <p:sp>
        <p:nvSpPr>
          <p:cNvPr id="33" name="a3f_lb32"/>
          <p:cNvSpPr txBox="1"/>
          <p:nvPr/>
        </p:nvSpPr>
        <p:spPr>
          <a:xfrm>
            <a:off x="731520" y="2468880"/>
            <a:ext cx="5120640" cy="201168"/>
          </a:xfrm>
          <a:prstGeom prst="rect">
            <a:avLst/>
          </a:prstGeom>
          <a:noFill/>
        </p:spPr>
        <p:txBody>
          <a:bodyPr wrap="square" lIns="0" tIns="0" rIns="0" bIns="0" anchor="ctr">
            <a:spAutoFit/>
          </a:bodyPr>
          <a:lstStyle/>
          <a:p>
            <a:pPr algn="ctr"/>
            <a:r>
              <a:rPr sz="900" b="1">
                <a:solidFill>
                  <a:srgbClr val="9F1239"/>
                </a:solidFill>
                <a:latin typeface="Segoe UI"/>
              </a:rPr>
              <a:t>already written  -  never changed</a:t>
            </a:r>
          </a:p>
        </p:txBody>
      </p:sp>
      <p:sp>
        <p:nvSpPr>
          <p:cNvPr id="34" name="a4u_band33"/>
          <p:cNvSpPr/>
          <p:nvPr/>
        </p:nvSpPr>
        <p:spPr>
          <a:xfrm>
            <a:off x="457200" y="2971800"/>
            <a:ext cx="8229600" cy="658368"/>
          </a:xfrm>
          <a:prstGeom prst="roundRect">
            <a:avLst>
              <a:gd name="adj" fmla="val 11111"/>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4u_bandt34"/>
          <p:cNvSpPr txBox="1"/>
          <p:nvPr/>
        </p:nvSpPr>
        <p:spPr>
          <a:xfrm>
            <a:off x="548640" y="2971800"/>
            <a:ext cx="8046720" cy="658368"/>
          </a:xfrm>
          <a:prstGeom prst="rect">
            <a:avLst/>
          </a:prstGeom>
          <a:noFill/>
        </p:spPr>
        <p:txBody>
          <a:bodyPr wrap="square" lIns="0" tIns="0" rIns="0" bIns="0" anchor="ctr">
            <a:spAutoFit/>
          </a:bodyPr>
          <a:lstStyle/>
          <a:p>
            <a:pPr algn="ctr"/>
            <a:r>
              <a:rPr sz="1550" b="1">
                <a:solidFill>
                  <a:srgbClr val="FFFFFF"/>
                </a:solidFill>
                <a:latin typeface="Segoe UI"/>
              </a:rPr>
              <a:t>In Kafka, these logs are called  </a:t>
            </a:r>
            <a:r>
              <a:rPr sz="1550" b="1" spc="200">
                <a:solidFill>
                  <a:srgbClr val="FFFFFF"/>
                </a:solidFill>
                <a:latin typeface="Segoe UI"/>
              </a:rPr>
              <a:t>TOPICS</a:t>
            </a:r>
          </a:p>
        </p:txBody>
      </p:sp>
      <p:sp>
        <p:nvSpPr>
          <p:cNvPr id="36" name="a5u_nb35"/>
          <p:cNvSpPr/>
          <p:nvPr/>
        </p:nvSpPr>
        <p:spPr>
          <a:xfrm>
            <a:off x="457200" y="384048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nacc36"/>
          <p:cNvSpPr/>
          <p:nvPr/>
        </p:nvSpPr>
        <p:spPr>
          <a:xfrm>
            <a:off x="457200" y="384048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5u_nt37"/>
          <p:cNvSpPr txBox="1"/>
          <p:nvPr/>
        </p:nvSpPr>
        <p:spPr>
          <a:xfrm>
            <a:off x="658368" y="384048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Topics are where Kafka stores messages. 'Message' and 'event' are both used for the items in a topic.</a:t>
            </a:r>
          </a:p>
        </p:txBody>
      </p:sp>
      <p:sp>
        <p:nvSpPr>
          <p:cNvPr id="39" name="ft3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40" name="ft3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ft4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42" name="ft4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22" presetClass="entr" presetSubtype="8"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500"/>
                                        <p:tgtEl>
                                          <p:spTgt spid="12"/>
                                        </p:tgtEl>
                                      </p:cBhvr>
                                    </p:animEffect>
                                  </p:childTnLst>
                                </p:cTn>
                              </p:par>
                              <p:par>
                                <p:cTn id="13" presetID="22" presetClass="entr" presetSubtype="8"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6" presetID="22" presetClass="entr" presetSubtype="8" fill="hold" grpId="0" nodeType="withEffect">
                                  <p:stCondLst>
                                    <p:cond delay="6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2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12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18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18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24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24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30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30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6" presetID="22" presetClass="entr" presetSubtype="8" fill="hold" grpId="0" nodeType="withEffect">
                                  <p:stCondLst>
                                    <p:cond delay="36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par>
                                <p:cTn id="49" presetID="22" presetClass="entr" presetSubtype="8" fill="hold" grpId="0" nodeType="withEffect">
                                  <p:stCondLst>
                                    <p:cond delay="36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ppt_y+0.1"/>
                                          </p:val>
                                        </p:tav>
                                        <p:tav tm="100000">
                                          <p:val>
                                            <p:strVal val="#ppt_y"/>
                                          </p:val>
                                        </p:tav>
                                      </p:tavLst>
                                    </p:anim>
                                    <p:animEffect transition="in" filter="fade">
                                      <p:cBhvr>
                                        <p:cTn id="55" dur="500"/>
                                        <p:tgtEl>
                                          <p:spTgt spid="26"/>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500" fill="hold"/>
                                        <p:tgtEl>
                                          <p:spTgt spid="27"/>
                                        </p:tgtEl>
                                        <p:attrNameLst>
                                          <p:attrName>ppt_x</p:attrName>
                                        </p:attrNameLst>
                                      </p:cBhvr>
                                      <p:tavLst>
                                        <p:tav tm="0">
                                          <p:val>
                                            <p:strVal val="#ppt_x"/>
                                          </p:val>
                                        </p:tav>
                                        <p:tav tm="100000">
                                          <p:val>
                                            <p:strVal val="#ppt_x"/>
                                          </p:val>
                                        </p:tav>
                                      </p:tavLst>
                                    </p:anim>
                                    <p:anim calcmode="lin" valueType="num">
                                      <p:cBhvr additive="base">
                                        <p:cTn id="59" dur="500" fill="hold"/>
                                        <p:tgtEl>
                                          <p:spTgt spid="27"/>
                                        </p:tgtEl>
                                        <p:attrNameLst>
                                          <p:attrName>ppt_y</p:attrName>
                                        </p:attrNameLst>
                                      </p:cBhvr>
                                      <p:tavLst>
                                        <p:tav tm="0">
                                          <p:val>
                                            <p:strVal val="#ppt_y+0.1"/>
                                          </p:val>
                                        </p:tav>
                                        <p:tav tm="100000">
                                          <p:val>
                                            <p:strVal val="#ppt_y"/>
                                          </p:val>
                                        </p:tav>
                                      </p:tavLst>
                                    </p:anim>
                                    <p:animEffect transition="in" filter="fade">
                                      <p:cBhvr>
                                        <p:cTn id="60" dur="500"/>
                                        <p:tgtEl>
                                          <p:spTgt spid="27"/>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additive="base">
                                        <p:cTn id="63" dur="500" fill="hold"/>
                                        <p:tgtEl>
                                          <p:spTgt spid="28"/>
                                        </p:tgtEl>
                                        <p:attrNameLst>
                                          <p:attrName>ppt_x</p:attrName>
                                        </p:attrNameLst>
                                      </p:cBhvr>
                                      <p:tavLst>
                                        <p:tav tm="0">
                                          <p:val>
                                            <p:strVal val="#ppt_x"/>
                                          </p:val>
                                        </p:tav>
                                        <p:tav tm="100000">
                                          <p:val>
                                            <p:strVal val="#ppt_x"/>
                                          </p:val>
                                        </p:tav>
                                      </p:tavLst>
                                    </p:anim>
                                    <p:anim calcmode="lin" valueType="num">
                                      <p:cBhvr additive="base">
                                        <p:cTn id="64" dur="500" fill="hold"/>
                                        <p:tgtEl>
                                          <p:spTgt spid="28"/>
                                        </p:tgtEl>
                                        <p:attrNameLst>
                                          <p:attrName>ppt_y</p:attrName>
                                        </p:attrNameLst>
                                      </p:cBhvr>
                                      <p:tavLst>
                                        <p:tav tm="0">
                                          <p:val>
                                            <p:strVal val="#ppt_y+0.1"/>
                                          </p:val>
                                        </p:tav>
                                        <p:tav tm="100000">
                                          <p:val>
                                            <p:strVal val="#ppt_y"/>
                                          </p:val>
                                        </p:tav>
                                      </p:tavLst>
                                    </p:anim>
                                    <p:animEffect transition="in" filter="fade">
                                      <p:cBhvr>
                                        <p:cTn id="65" dur="500"/>
                                        <p:tgtEl>
                                          <p:spTgt spid="28"/>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 calcmode="lin" valueType="num">
                                      <p:cBhvr additive="base">
                                        <p:cTn id="68" dur="500" fill="hold"/>
                                        <p:tgtEl>
                                          <p:spTgt spid="29"/>
                                        </p:tgtEl>
                                        <p:attrNameLst>
                                          <p:attrName>ppt_x</p:attrName>
                                        </p:attrNameLst>
                                      </p:cBhvr>
                                      <p:tavLst>
                                        <p:tav tm="0">
                                          <p:val>
                                            <p:strVal val="#ppt_x"/>
                                          </p:val>
                                        </p:tav>
                                        <p:tav tm="100000">
                                          <p:val>
                                            <p:strVal val="#ppt_x"/>
                                          </p:val>
                                        </p:tav>
                                      </p:tavLst>
                                    </p:anim>
                                    <p:anim calcmode="lin" valueType="num">
                                      <p:cBhvr additive="base">
                                        <p:cTn id="69" dur="500" fill="hold"/>
                                        <p:tgtEl>
                                          <p:spTgt spid="29"/>
                                        </p:tgtEl>
                                        <p:attrNameLst>
                                          <p:attrName>ppt_y</p:attrName>
                                        </p:attrNameLst>
                                      </p:cBhvr>
                                      <p:tavLst>
                                        <p:tav tm="0">
                                          <p:val>
                                            <p:strVal val="#ppt_y+0.1"/>
                                          </p:val>
                                        </p:tav>
                                        <p:tav tm="100000">
                                          <p:val>
                                            <p:strVal val="#ppt_y"/>
                                          </p:val>
                                        </p:tav>
                                      </p:tavLst>
                                    </p:anim>
                                    <p:animEffect transition="in" filter="fade">
                                      <p:cBhvr>
                                        <p:cTn id="70" dur="500"/>
                                        <p:tgtEl>
                                          <p:spTgt spid="29"/>
                                        </p:tgtEl>
                                      </p:cBhvr>
                                    </p:animEffect>
                                  </p:childTnLst>
                                </p:cTn>
                              </p:par>
                            </p:childTnLst>
                          </p:cTn>
                        </p:par>
                      </p:childTnLst>
                    </p:cTn>
                  </p:par>
                  <p:par>
                    <p:cTn id="72" fill="hold">
                      <p:stCondLst>
                        <p:cond delay="indefinite"/>
                      </p:stCondLst>
                      <p:childTnLst>
                        <p:par>
                          <p:cTn id="73" fill="hold">
                            <p:stCondLst>
                              <p:cond delay="0"/>
                            </p:stCondLst>
                            <p:childTnLst>
                              <p:par>
                                <p:cTn id="76" presetID="10"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5" presetID="10" presetClass="entr" presetSubtype="0" fill="hold" grpId="0"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cTn>
                              </p:par>
                            </p:childTnLst>
                          </p:cTn>
                        </p:par>
                      </p:childTnLst>
                    </p:cTn>
                  </p:par>
                  <p:par>
                    <p:cTn id="86" fill="hold">
                      <p:stCondLst>
                        <p:cond delay="indefinite"/>
                      </p:stCondLst>
                      <p:childTnLst>
                        <p:par>
                          <p:cTn id="87" fill="hold">
                            <p:stCondLst>
                              <p:cond delay="0"/>
                            </p:stCondLst>
                            <p:childTnLst>
                              <p:par>
                                <p:cTn id="92" presetID="2" presetClass="entr" presetSubtype="4" fill="hold" grpId="0" nodeType="clickEffect">
                                  <p:stCondLst>
                                    <p:cond delay="0"/>
                                  </p:stCondLst>
                                  <p:childTnLst>
                                    <p:set>
                                      <p:cBhvr>
                                        <p:cTn id="88" dur="1" fill="hold">
                                          <p:stCondLst>
                                            <p:cond delay="0"/>
                                          </p:stCondLst>
                                        </p:cTn>
                                        <p:tgtEl>
                                          <p:spTgt spid="34"/>
                                        </p:tgtEl>
                                        <p:attrNameLst>
                                          <p:attrName>style.visibility</p:attrName>
                                        </p:attrNameLst>
                                      </p:cBhvr>
                                      <p:to>
                                        <p:strVal val="visible"/>
                                      </p:to>
                                    </p:set>
                                    <p:anim calcmode="lin" valueType="num">
                                      <p:cBhvr additive="base">
                                        <p:cTn id="89" dur="500" fill="hold"/>
                                        <p:tgtEl>
                                          <p:spTgt spid="34"/>
                                        </p:tgtEl>
                                        <p:attrNameLst>
                                          <p:attrName>ppt_x</p:attrName>
                                        </p:attrNameLst>
                                      </p:cBhvr>
                                      <p:tavLst>
                                        <p:tav tm="0">
                                          <p:val>
                                            <p:strVal val="#ppt_x"/>
                                          </p:val>
                                        </p:tav>
                                        <p:tav tm="100000">
                                          <p:val>
                                            <p:strVal val="#ppt_x"/>
                                          </p:val>
                                        </p:tav>
                                      </p:tavLst>
                                    </p:anim>
                                    <p:anim calcmode="lin" valueType="num">
                                      <p:cBhvr additive="base">
                                        <p:cTn id="90" dur="500" fill="hold"/>
                                        <p:tgtEl>
                                          <p:spTgt spid="34"/>
                                        </p:tgtEl>
                                        <p:attrNameLst>
                                          <p:attrName>ppt_y</p:attrName>
                                        </p:attrNameLst>
                                      </p:cBhvr>
                                      <p:tavLst>
                                        <p:tav tm="0">
                                          <p:val>
                                            <p:strVal val="#ppt_y+0.1"/>
                                          </p:val>
                                        </p:tav>
                                        <p:tav tm="100000">
                                          <p:val>
                                            <p:strVal val="#ppt_y"/>
                                          </p:val>
                                        </p:tav>
                                      </p:tavLst>
                                    </p:anim>
                                    <p:animEffect transition="in" filter="fade">
                                      <p:cBhvr>
                                        <p:cTn id="91" dur="500"/>
                                        <p:tgtEl>
                                          <p:spTgt spid="34"/>
                                        </p:tgtEl>
                                      </p:cBhvr>
                                    </p:animEffect>
                                  </p:childTnLst>
                                </p:cTn>
                              </p:par>
                              <p:par>
                                <p:cTn id="97" presetID="2" presetClass="entr" presetSubtype="4"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 calcmode="lin" valueType="num">
                                      <p:cBhvr additive="base">
                                        <p:cTn id="94" dur="500" fill="hold"/>
                                        <p:tgtEl>
                                          <p:spTgt spid="35"/>
                                        </p:tgtEl>
                                        <p:attrNameLst>
                                          <p:attrName>ppt_x</p:attrName>
                                        </p:attrNameLst>
                                      </p:cBhvr>
                                      <p:tavLst>
                                        <p:tav tm="0">
                                          <p:val>
                                            <p:strVal val="#ppt_x"/>
                                          </p:val>
                                        </p:tav>
                                        <p:tav tm="100000">
                                          <p:val>
                                            <p:strVal val="#ppt_x"/>
                                          </p:val>
                                        </p:tav>
                                      </p:tavLst>
                                    </p:anim>
                                    <p:anim calcmode="lin" valueType="num">
                                      <p:cBhvr additive="base">
                                        <p:cTn id="95" dur="500" fill="hold"/>
                                        <p:tgtEl>
                                          <p:spTgt spid="35"/>
                                        </p:tgtEl>
                                        <p:attrNameLst>
                                          <p:attrName>ppt_y</p:attrName>
                                        </p:attrNameLst>
                                      </p:cBhvr>
                                      <p:tavLst>
                                        <p:tav tm="0">
                                          <p:val>
                                            <p:strVal val="#ppt_y+0.1"/>
                                          </p:val>
                                        </p:tav>
                                        <p:tav tm="100000">
                                          <p:val>
                                            <p:strVal val="#ppt_y"/>
                                          </p:val>
                                        </p:tav>
                                      </p:tavLst>
                                    </p:anim>
                                    <p:animEffect transition="in" filter="fade">
                                      <p:cBhvr>
                                        <p:cTn id="96" dur="500"/>
                                        <p:tgtEl>
                                          <p:spTgt spid="35"/>
                                        </p:tgtEl>
                                      </p:cBhvr>
                                    </p:animEffect>
                                  </p:childTnLst>
                                </p:cTn>
                              </p:par>
                            </p:childTnLst>
                          </p:cTn>
                        </p:par>
                      </p:childTnLst>
                    </p:cTn>
                  </p:par>
                  <p:par>
                    <p:cTn id="98" fill="hold">
                      <p:stCondLst>
                        <p:cond delay="indefinite"/>
                      </p:stCondLst>
                      <p:childTnLst>
                        <p:par>
                          <p:cTn id="99" fill="hold">
                            <p:stCondLst>
                              <p:cond delay="0"/>
                            </p:stCondLst>
                            <p:childTnLst>
                              <p:par>
                                <p:cTn id="104" presetID="2" presetClass="entr" presetSubtype="4" fill="hold" grpId="0" nodeType="clickEffect">
                                  <p:stCondLst>
                                    <p:cond delay="0"/>
                                  </p:stCondLst>
                                  <p:childTnLst>
                                    <p:set>
                                      <p:cBhvr>
                                        <p:cTn id="100" dur="1" fill="hold">
                                          <p:stCondLst>
                                            <p:cond delay="0"/>
                                          </p:stCondLst>
                                        </p:cTn>
                                        <p:tgtEl>
                                          <p:spTgt spid="36"/>
                                        </p:tgtEl>
                                        <p:attrNameLst>
                                          <p:attrName>style.visibility</p:attrName>
                                        </p:attrNameLst>
                                      </p:cBhvr>
                                      <p:to>
                                        <p:strVal val="visible"/>
                                      </p:to>
                                    </p:set>
                                    <p:anim calcmode="lin" valueType="num">
                                      <p:cBhvr additive="base">
                                        <p:cTn id="101" dur="500" fill="hold"/>
                                        <p:tgtEl>
                                          <p:spTgt spid="36"/>
                                        </p:tgtEl>
                                        <p:attrNameLst>
                                          <p:attrName>ppt_x</p:attrName>
                                        </p:attrNameLst>
                                      </p:cBhvr>
                                      <p:tavLst>
                                        <p:tav tm="0">
                                          <p:val>
                                            <p:strVal val="#ppt_x"/>
                                          </p:val>
                                        </p:tav>
                                        <p:tav tm="100000">
                                          <p:val>
                                            <p:strVal val="#ppt_x"/>
                                          </p:val>
                                        </p:tav>
                                      </p:tavLst>
                                    </p:anim>
                                    <p:anim calcmode="lin" valueType="num">
                                      <p:cBhvr additive="base">
                                        <p:cTn id="102" dur="500" fill="hold"/>
                                        <p:tgtEl>
                                          <p:spTgt spid="36"/>
                                        </p:tgtEl>
                                        <p:attrNameLst>
                                          <p:attrName>ppt_y</p:attrName>
                                        </p:attrNameLst>
                                      </p:cBhvr>
                                      <p:tavLst>
                                        <p:tav tm="0">
                                          <p:val>
                                            <p:strVal val="#ppt_y+0.1"/>
                                          </p:val>
                                        </p:tav>
                                        <p:tav tm="100000">
                                          <p:val>
                                            <p:strVal val="#ppt_y"/>
                                          </p:val>
                                        </p:tav>
                                      </p:tavLst>
                                    </p:anim>
                                    <p:animEffect transition="in" filter="fade">
                                      <p:cBhvr>
                                        <p:cTn id="103" dur="500"/>
                                        <p:tgtEl>
                                          <p:spTgt spid="36"/>
                                        </p:tgtEl>
                                      </p:cBhvr>
                                    </p:animEffect>
                                  </p:childTnLst>
                                </p:cTn>
                              </p:par>
                              <p:par>
                                <p:cTn id="109" presetID="2" presetClass="entr" presetSubtype="4"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 calcmode="lin" valueType="num">
                                      <p:cBhvr additive="base">
                                        <p:cTn id="106" dur="500" fill="hold"/>
                                        <p:tgtEl>
                                          <p:spTgt spid="37"/>
                                        </p:tgtEl>
                                        <p:attrNameLst>
                                          <p:attrName>ppt_x</p:attrName>
                                        </p:attrNameLst>
                                      </p:cBhvr>
                                      <p:tavLst>
                                        <p:tav tm="0">
                                          <p:val>
                                            <p:strVal val="#ppt_x"/>
                                          </p:val>
                                        </p:tav>
                                        <p:tav tm="100000">
                                          <p:val>
                                            <p:strVal val="#ppt_x"/>
                                          </p:val>
                                        </p:tav>
                                      </p:tavLst>
                                    </p:anim>
                                    <p:anim calcmode="lin" valueType="num">
                                      <p:cBhvr additive="base">
                                        <p:cTn id="107" dur="500" fill="hold"/>
                                        <p:tgtEl>
                                          <p:spTgt spid="37"/>
                                        </p:tgtEl>
                                        <p:attrNameLst>
                                          <p:attrName>ppt_y</p:attrName>
                                        </p:attrNameLst>
                                      </p:cBhvr>
                                      <p:tavLst>
                                        <p:tav tm="0">
                                          <p:val>
                                            <p:strVal val="#ppt_y+0.1"/>
                                          </p:val>
                                        </p:tav>
                                        <p:tav tm="100000">
                                          <p:val>
                                            <p:strVal val="#ppt_y"/>
                                          </p:val>
                                        </p:tav>
                                      </p:tavLst>
                                    </p:anim>
                                    <p:animEffect transition="in" filter="fade">
                                      <p:cBhvr>
                                        <p:cTn id="108" dur="500"/>
                                        <p:tgtEl>
                                          <p:spTgt spid="37"/>
                                        </p:tgtEl>
                                      </p:cBhvr>
                                    </p:animEffect>
                                  </p:childTnLst>
                                </p:cTn>
                              </p:par>
                              <p:par>
                                <p:cTn id="114" presetID="2" presetClass="entr" presetSubtype="4"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 calcmode="lin" valueType="num">
                                      <p:cBhvr additive="base">
                                        <p:cTn id="111" dur="500" fill="hold"/>
                                        <p:tgtEl>
                                          <p:spTgt spid="38"/>
                                        </p:tgtEl>
                                        <p:attrNameLst>
                                          <p:attrName>ppt_x</p:attrName>
                                        </p:attrNameLst>
                                      </p:cBhvr>
                                      <p:tavLst>
                                        <p:tav tm="0">
                                          <p:val>
                                            <p:strVal val="#ppt_x"/>
                                          </p:val>
                                        </p:tav>
                                        <p:tav tm="100000">
                                          <p:val>
                                            <p:strVal val="#ppt_x"/>
                                          </p:val>
                                        </p:tav>
                                      </p:tavLst>
                                    </p:anim>
                                    <p:anim calcmode="lin" valueType="num">
                                      <p:cBhvr additive="base">
                                        <p:cTn id="112" dur="500" fill="hold"/>
                                        <p:tgtEl>
                                          <p:spTgt spid="38"/>
                                        </p:tgtEl>
                                        <p:attrNameLst>
                                          <p:attrName>ppt_y</p:attrName>
                                        </p:attrNameLst>
                                      </p:cBhvr>
                                      <p:tavLst>
                                        <p:tav tm="0">
                                          <p:val>
                                            <p:strVal val="#ppt_y+0.1"/>
                                          </p:val>
                                        </p:tav>
                                        <p:tav tm="100000">
                                          <p:val>
                                            <p:strVal val="#ppt_y"/>
                                          </p:val>
                                        </p:tav>
                                      </p:tavLst>
                                    </p:anim>
                                    <p:animEffect transition="in" filter="fade">
                                      <p:cBhvr>
                                        <p:cTn id="1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Messages Are Immutable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defining characteristic of messages in Kafka</a:t>
            </a:r>
          </a:p>
        </p:txBody>
      </p:sp>
      <p:sp>
        <p:nvSpPr>
          <p:cNvPr id="11" name="a1u_card10"/>
          <p:cNvSpPr/>
          <p:nvPr/>
        </p:nvSpPr>
        <p:spPr>
          <a:xfrm>
            <a:off x="457200" y="1325880"/>
            <a:ext cx="4937760" cy="621792"/>
          </a:xfrm>
          <a:prstGeom prst="roundRect">
            <a:avLst>
              <a:gd name="adj" fmla="val 1764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pill11"/>
          <p:cNvSpPr/>
          <p:nvPr/>
        </p:nvSpPr>
        <p:spPr>
          <a:xfrm>
            <a:off x="621792" y="1472184"/>
            <a:ext cx="731520" cy="329184"/>
          </a:xfrm>
          <a:prstGeom prst="roundRect">
            <a:avLst>
              <a:gd name="adj" fmla="val 50000"/>
            </a:avLst>
          </a:prstGeom>
          <a:solidFill>
            <a:srgbClr val="DCFCE7"/>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15803D"/>
                </a:solidFill>
                <a:latin typeface="Segoe UI"/>
              </a:rPr>
              <a:t>YES</a:t>
            </a:r>
          </a:p>
        </p:txBody>
      </p:sp>
      <p:sp>
        <p:nvSpPr>
          <p:cNvPr id="13" name="a1u_rt12"/>
          <p:cNvSpPr txBox="1"/>
          <p:nvPr/>
        </p:nvSpPr>
        <p:spPr>
          <a:xfrm>
            <a:off x="1536192" y="1325880"/>
            <a:ext cx="3749039" cy="621792"/>
          </a:xfrm>
          <a:prstGeom prst="rect">
            <a:avLst/>
          </a:prstGeom>
          <a:noFill/>
        </p:spPr>
        <p:txBody>
          <a:bodyPr wrap="square" lIns="0" tIns="0" rIns="0" bIns="0" anchor="ctr">
            <a:spAutoFit/>
          </a:bodyPr>
          <a:lstStyle/>
          <a:p>
            <a:pPr algn="l"/>
            <a:r>
              <a:rPr sz="1150" b="1">
                <a:solidFill>
                  <a:srgbClr val="1C1917"/>
                </a:solidFill>
                <a:latin typeface="Segoe UI"/>
              </a:rPr>
              <a:t>Append a new message to the end of a topic</a:t>
            </a:r>
          </a:p>
        </p:txBody>
      </p:sp>
      <p:sp>
        <p:nvSpPr>
          <p:cNvPr id="14" name="a2u_card13"/>
          <p:cNvSpPr/>
          <p:nvPr/>
        </p:nvSpPr>
        <p:spPr>
          <a:xfrm>
            <a:off x="457200" y="2075688"/>
            <a:ext cx="4937760" cy="621792"/>
          </a:xfrm>
          <a:prstGeom prst="roundRect">
            <a:avLst>
              <a:gd name="adj" fmla="val 1764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pill14"/>
          <p:cNvSpPr/>
          <p:nvPr/>
        </p:nvSpPr>
        <p:spPr>
          <a:xfrm>
            <a:off x="621792" y="2221992"/>
            <a:ext cx="731520" cy="329184"/>
          </a:xfrm>
          <a:prstGeom prst="roundRect">
            <a:avLst>
              <a:gd name="adj" fmla="val 50000"/>
            </a:avLst>
          </a:prstGeom>
          <a:solidFill>
            <a:srgbClr val="DCFCE7"/>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15803D"/>
                </a:solidFill>
                <a:latin typeface="Segoe UI"/>
              </a:rPr>
              <a:t>YES</a:t>
            </a:r>
          </a:p>
        </p:txBody>
      </p:sp>
      <p:sp>
        <p:nvSpPr>
          <p:cNvPr id="16" name="a2u_rt15"/>
          <p:cNvSpPr txBox="1"/>
          <p:nvPr/>
        </p:nvSpPr>
        <p:spPr>
          <a:xfrm>
            <a:off x="1536192" y="2075688"/>
            <a:ext cx="3749039" cy="621792"/>
          </a:xfrm>
          <a:prstGeom prst="rect">
            <a:avLst/>
          </a:prstGeom>
          <a:noFill/>
        </p:spPr>
        <p:txBody>
          <a:bodyPr wrap="square" lIns="0" tIns="0" rIns="0" bIns="0" anchor="ctr">
            <a:spAutoFit/>
          </a:bodyPr>
          <a:lstStyle/>
          <a:p>
            <a:pPr algn="l"/>
            <a:r>
              <a:rPr sz="1150" b="1">
                <a:solidFill>
                  <a:srgbClr val="1C1917"/>
                </a:solidFill>
                <a:latin typeface="Segoe UI"/>
              </a:rPr>
              <a:t>Forget old messages - Kafka can let them go</a:t>
            </a:r>
          </a:p>
        </p:txBody>
      </p:sp>
      <p:sp>
        <p:nvSpPr>
          <p:cNvPr id="17" name="a3u_card16"/>
          <p:cNvSpPr/>
          <p:nvPr/>
        </p:nvSpPr>
        <p:spPr>
          <a:xfrm>
            <a:off x="457200" y="2825496"/>
            <a:ext cx="4937760" cy="621792"/>
          </a:xfrm>
          <a:prstGeom prst="roundRect">
            <a:avLst>
              <a:gd name="adj" fmla="val 1764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3u_pill17"/>
          <p:cNvSpPr/>
          <p:nvPr/>
        </p:nvSpPr>
        <p:spPr>
          <a:xfrm>
            <a:off x="621792" y="2971800"/>
            <a:ext cx="731520" cy="329184"/>
          </a:xfrm>
          <a:prstGeom prst="roundRect">
            <a:avLst>
              <a:gd name="adj" fmla="val 50000"/>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E11D48"/>
                </a:solidFill>
                <a:latin typeface="Segoe UI"/>
              </a:rPr>
              <a:t>NO</a:t>
            </a:r>
          </a:p>
        </p:txBody>
      </p:sp>
      <p:sp>
        <p:nvSpPr>
          <p:cNvPr id="19" name="a3u_rt18"/>
          <p:cNvSpPr txBox="1"/>
          <p:nvPr/>
        </p:nvSpPr>
        <p:spPr>
          <a:xfrm>
            <a:off x="1536192" y="2825496"/>
            <a:ext cx="3749039" cy="621792"/>
          </a:xfrm>
          <a:prstGeom prst="rect">
            <a:avLst/>
          </a:prstGeom>
          <a:noFill/>
        </p:spPr>
        <p:txBody>
          <a:bodyPr wrap="square" lIns="0" tIns="0" rIns="0" bIns="0" anchor="ctr">
            <a:spAutoFit/>
          </a:bodyPr>
          <a:lstStyle/>
          <a:p>
            <a:pPr algn="l"/>
            <a:r>
              <a:rPr sz="1150" b="1">
                <a:solidFill>
                  <a:srgbClr val="1C1917"/>
                </a:solidFill>
                <a:latin typeface="Segoe UI"/>
              </a:rPr>
              <a:t>Change a message after it has been written</a:t>
            </a:r>
          </a:p>
        </p:txBody>
      </p:sp>
      <p:sp>
        <p:nvSpPr>
          <p:cNvPr id="20" name="a4u_card19"/>
          <p:cNvSpPr/>
          <p:nvPr/>
        </p:nvSpPr>
        <p:spPr>
          <a:xfrm>
            <a:off x="5577840" y="1325880"/>
            <a:ext cx="3108960" cy="2121408"/>
          </a:xfrm>
          <a:prstGeom prst="roundRect">
            <a:avLst>
              <a:gd name="adj" fmla="val 517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4u_qa20"/>
          <p:cNvSpPr/>
          <p:nvPr/>
        </p:nvSpPr>
        <p:spPr>
          <a:xfrm>
            <a:off x="5577840" y="1325880"/>
            <a:ext cx="54864" cy="21214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4u_q21"/>
          <p:cNvSpPr txBox="1"/>
          <p:nvPr/>
        </p:nvSpPr>
        <p:spPr>
          <a:xfrm>
            <a:off x="5806440" y="1481328"/>
            <a:ext cx="2743200" cy="868680"/>
          </a:xfrm>
          <a:prstGeom prst="rect">
            <a:avLst/>
          </a:prstGeom>
          <a:noFill/>
        </p:spPr>
        <p:txBody>
          <a:bodyPr wrap="square" lIns="0" tIns="0" rIns="0" bIns="0" anchor="t">
            <a:spAutoFit/>
          </a:bodyPr>
          <a:lstStyle/>
          <a:p>
            <a:pPr algn="l"/>
            <a:r>
              <a:rPr sz="1750" b="1" i="1">
                <a:solidFill>
                  <a:srgbClr val="C2410C"/>
                </a:solidFill>
                <a:latin typeface="Segoe UI"/>
              </a:rPr>
              <a:t>"You don't get to rewrite history."</a:t>
            </a:r>
          </a:p>
        </p:txBody>
      </p:sp>
      <p:sp>
        <p:nvSpPr>
          <p:cNvPr id="23" name="a4u_qs22"/>
          <p:cNvSpPr txBox="1"/>
          <p:nvPr/>
        </p:nvSpPr>
        <p:spPr>
          <a:xfrm>
            <a:off x="5806440" y="2331720"/>
            <a:ext cx="2743200" cy="237744"/>
          </a:xfrm>
          <a:prstGeom prst="rect">
            <a:avLst/>
          </a:prstGeom>
          <a:noFill/>
        </p:spPr>
        <p:txBody>
          <a:bodyPr wrap="square" lIns="0" tIns="0" rIns="0" bIns="0" anchor="ctr">
            <a:spAutoFit/>
          </a:bodyPr>
          <a:lstStyle/>
          <a:p>
            <a:pPr algn="l"/>
            <a:r>
              <a:rPr sz="850" b="0">
                <a:solidFill>
                  <a:srgbClr val="78716C"/>
                </a:solidFill>
                <a:latin typeface="Segoe UI"/>
              </a:rPr>
              <a:t>Tim Berglund, Apache Kafka 101</a:t>
            </a:r>
          </a:p>
        </p:txBody>
      </p:sp>
      <p:sp>
        <p:nvSpPr>
          <p:cNvPr id="24" name="a4ud120_qb23"/>
          <p:cNvSpPr txBox="1"/>
          <p:nvPr/>
        </p:nvSpPr>
        <p:spPr>
          <a:xfrm>
            <a:off x="5806440" y="2670048"/>
            <a:ext cx="2743200" cy="685800"/>
          </a:xfrm>
          <a:prstGeom prst="rect">
            <a:avLst/>
          </a:prstGeom>
          <a:noFill/>
        </p:spPr>
        <p:txBody>
          <a:bodyPr wrap="square" lIns="0" tIns="0" rIns="0" bIns="0" anchor="t">
            <a:spAutoFit/>
          </a:bodyPr>
          <a:lstStyle/>
          <a:p>
            <a:pPr algn="l"/>
            <a:r>
              <a:rPr sz="900" b="0">
                <a:solidFill>
                  <a:srgbClr val="44403C"/>
                </a:solidFill>
                <a:latin typeface="Segoe UI"/>
              </a:rPr>
              <a:t>A message records an event. The event has happened - so the message stays exactly as it was written.</a:t>
            </a:r>
          </a:p>
        </p:txBody>
      </p:sp>
      <p:sp>
        <p:nvSpPr>
          <p:cNvPr id="25" name="a5u_nb24"/>
          <p:cNvSpPr/>
          <p:nvPr/>
        </p:nvSpPr>
        <p:spPr>
          <a:xfrm>
            <a:off x="457200" y="379476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5u_nacc25"/>
          <p:cNvSpPr/>
          <p:nvPr/>
        </p:nvSpPr>
        <p:spPr>
          <a:xfrm>
            <a:off x="457200" y="379476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5u_nt26"/>
          <p:cNvSpPr txBox="1"/>
          <p:nvPr/>
        </p:nvSpPr>
        <p:spPr>
          <a:xfrm>
            <a:off x="658368" y="3794760"/>
            <a:ext cx="7827264" cy="566928"/>
          </a:xfrm>
          <a:prstGeom prst="rect">
            <a:avLst/>
          </a:prstGeom>
          <a:noFill/>
        </p:spPr>
        <p:txBody>
          <a:bodyPr wrap="square" lIns="0" tIns="0" rIns="0" bIns="0" anchor="ctr">
            <a:spAutoFit/>
          </a:bodyPr>
          <a:lstStyle/>
          <a:p>
            <a:pPr algn="l"/>
            <a:r>
              <a:rPr sz="950" b="1">
                <a:solidFill>
                  <a:srgbClr val="C2410C"/>
                </a:solidFill>
                <a:latin typeface="Segoe UI"/>
              </a:rPr>
              <a:t>NEXT  </a:t>
            </a:r>
            <a:r>
              <a:rPr sz="950" b="0">
                <a:solidFill>
                  <a:srgbClr val="44403C"/>
                </a:solidFill>
                <a:latin typeface="Segoe UI"/>
              </a:rPr>
              <a:t>Immutable does not mean stuck. A few slides on, we change data the Kafka way - by writing a new topic.</a:t>
            </a:r>
          </a:p>
        </p:txBody>
      </p:sp>
      <p:sp>
        <p:nvSpPr>
          <p:cNvPr id="28" name="ft2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29" name="ft2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ft2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31" name="ft3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ppt_y+0.1"/>
                                          </p:val>
                                        </p:tav>
                                        <p:tav tm="100000">
                                          <p:val>
                                            <p:strVal val="#ppt_y"/>
                                          </p:val>
                                        </p:tav>
                                      </p:tavLst>
                                    </p:anim>
                                    <p:animEffect transition="in" filter="fade">
                                      <p:cBhvr>
                                        <p:cTn id="25" dur="500"/>
                                        <p:tgtEl>
                                          <p:spTgt spid="14"/>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43" presetID="2" presetClass="entr" presetSubtype="4"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ppt_x"/>
                                          </p:val>
                                        </p:tav>
                                        <p:tav tm="100000">
                                          <p:val>
                                            <p:strVal val="#ppt_x"/>
                                          </p:val>
                                        </p:tav>
                                      </p:tavLst>
                                    </p:anim>
                                    <p:anim calcmode="lin" valueType="num">
                                      <p:cBhvr additive="base">
                                        <p:cTn id="41" dur="500" fill="hold"/>
                                        <p:tgtEl>
                                          <p:spTgt spid="17"/>
                                        </p:tgtEl>
                                        <p:attrNameLst>
                                          <p:attrName>ppt_y</p:attrName>
                                        </p:attrNameLst>
                                      </p:cBhvr>
                                      <p:tavLst>
                                        <p:tav tm="0">
                                          <p:val>
                                            <p:strVal val="#ppt_y+0.1"/>
                                          </p:val>
                                        </p:tav>
                                        <p:tav tm="100000">
                                          <p:val>
                                            <p:strVal val="#ppt_y"/>
                                          </p:val>
                                        </p:tav>
                                      </p:tavLst>
                                    </p:anim>
                                    <p:animEffect transition="in" filter="fade">
                                      <p:cBhvr>
                                        <p:cTn id="42" dur="500"/>
                                        <p:tgtEl>
                                          <p:spTgt spid="17"/>
                                        </p:tgtEl>
                                      </p:cBhvr>
                                    </p:animEffect>
                                  </p:childTnLst>
                                </p:cTn>
                              </p:par>
                              <p:par>
                                <p:cTn id="48" presetID="2" presetClass="entr" presetSubtype="4"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ppt_y+0.1"/>
                                          </p:val>
                                        </p:tav>
                                        <p:tav tm="100000">
                                          <p:val>
                                            <p:strVal val="#ppt_y"/>
                                          </p:val>
                                        </p:tav>
                                      </p:tavLst>
                                    </p:anim>
                                    <p:animEffect transition="in" filter="fade">
                                      <p:cBhvr>
                                        <p:cTn id="47" dur="500"/>
                                        <p:tgtEl>
                                          <p:spTgt spid="18"/>
                                        </p:tgtEl>
                                      </p:cBhvr>
                                    </p:animEffect>
                                  </p:childTnLst>
                                </p:cTn>
                              </p:par>
                              <p:par>
                                <p:cTn id="53"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60" presetID="2" presetClass="entr" presetSubtype="4"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ppt_y+0.1"/>
                                          </p:val>
                                        </p:tav>
                                        <p:tav tm="100000">
                                          <p:val>
                                            <p:strVal val="#ppt_y"/>
                                          </p:val>
                                        </p:tav>
                                      </p:tavLst>
                                    </p:anim>
                                    <p:animEffect transition="in" filter="fade">
                                      <p:cBhvr>
                                        <p:cTn id="59" dur="500"/>
                                        <p:tgtEl>
                                          <p:spTgt spid="20"/>
                                        </p:tgtEl>
                                      </p:cBhvr>
                                    </p:animEffect>
                                  </p:childTnLst>
                                </p:cTn>
                              </p:par>
                              <p:par>
                                <p:cTn id="65" presetID="2" presetClass="entr" presetSubtype="4"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fill="hold"/>
                                        <p:tgtEl>
                                          <p:spTgt spid="21"/>
                                        </p:tgtEl>
                                        <p:attrNameLst>
                                          <p:attrName>ppt_x</p:attrName>
                                        </p:attrNameLst>
                                      </p:cBhvr>
                                      <p:tavLst>
                                        <p:tav tm="0">
                                          <p:val>
                                            <p:strVal val="#ppt_x"/>
                                          </p:val>
                                        </p:tav>
                                        <p:tav tm="100000">
                                          <p:val>
                                            <p:strVal val="#ppt_x"/>
                                          </p:val>
                                        </p:tav>
                                      </p:tavLst>
                                    </p:anim>
                                    <p:anim calcmode="lin" valueType="num">
                                      <p:cBhvr additive="base">
                                        <p:cTn id="63" dur="500" fill="hold"/>
                                        <p:tgtEl>
                                          <p:spTgt spid="21"/>
                                        </p:tgtEl>
                                        <p:attrNameLst>
                                          <p:attrName>ppt_y</p:attrName>
                                        </p:attrNameLst>
                                      </p:cBhvr>
                                      <p:tavLst>
                                        <p:tav tm="0">
                                          <p:val>
                                            <p:strVal val="#ppt_y+0.1"/>
                                          </p:val>
                                        </p:tav>
                                        <p:tav tm="100000">
                                          <p:val>
                                            <p:strVal val="#ppt_y"/>
                                          </p:val>
                                        </p:tav>
                                      </p:tavLst>
                                    </p:anim>
                                    <p:animEffect transition="in" filter="fade">
                                      <p:cBhvr>
                                        <p:cTn id="64" dur="500"/>
                                        <p:tgtEl>
                                          <p:spTgt spid="21"/>
                                        </p:tgtEl>
                                      </p:cBhvr>
                                    </p:animEffect>
                                  </p:childTnLst>
                                </p:cTn>
                              </p:par>
                              <p:par>
                                <p:cTn id="70"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ppt_y+0.1"/>
                                          </p:val>
                                        </p:tav>
                                        <p:tav tm="100000">
                                          <p:val>
                                            <p:strVal val="#ppt_y"/>
                                          </p:val>
                                        </p:tav>
                                      </p:tavLst>
                                    </p:anim>
                                    <p:animEffect transition="in" filter="fade">
                                      <p:cBhvr>
                                        <p:cTn id="69" dur="500"/>
                                        <p:tgtEl>
                                          <p:spTgt spid="22"/>
                                        </p:tgtEl>
                                      </p:cBhvr>
                                    </p:animEffect>
                                  </p:childTnLst>
                                </p:cTn>
                              </p:par>
                              <p:par>
                                <p:cTn id="75" presetID="2" presetClass="entr" presetSubtype="4"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12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childTnLst>
                          </p:cTn>
                        </p:par>
                      </p:childTnLst>
                    </p:cTn>
                  </p:par>
                  <p:par>
                    <p:cTn id="81" fill="hold">
                      <p:stCondLst>
                        <p:cond delay="indefinite"/>
                      </p:stCondLst>
                      <p:childTnLst>
                        <p:par>
                          <p:cTn id="82" fill="hold">
                            <p:stCondLst>
                              <p:cond delay="0"/>
                            </p:stCondLst>
                            <p:childTnLst>
                              <p:par>
                                <p:cTn id="87" presetID="2" presetClass="entr" presetSubtype="4" fill="hold" grpId="0" nodeType="clickEffect">
                                  <p:stCondLst>
                                    <p:cond delay="0"/>
                                  </p:stCondLst>
                                  <p:childTnLst>
                                    <p:set>
                                      <p:cBhvr>
                                        <p:cTn id="83" dur="1" fill="hold">
                                          <p:stCondLst>
                                            <p:cond delay="0"/>
                                          </p:stCondLst>
                                        </p:cTn>
                                        <p:tgtEl>
                                          <p:spTgt spid="25"/>
                                        </p:tgtEl>
                                        <p:attrNameLst>
                                          <p:attrName>style.visibility</p:attrName>
                                        </p:attrNameLst>
                                      </p:cBhvr>
                                      <p:to>
                                        <p:strVal val="visible"/>
                                      </p:to>
                                    </p:set>
                                    <p:anim calcmode="lin" valueType="num">
                                      <p:cBhvr additive="base">
                                        <p:cTn id="84" dur="500" fill="hold"/>
                                        <p:tgtEl>
                                          <p:spTgt spid="25"/>
                                        </p:tgtEl>
                                        <p:attrNameLst>
                                          <p:attrName>ppt_x</p:attrName>
                                        </p:attrNameLst>
                                      </p:cBhvr>
                                      <p:tavLst>
                                        <p:tav tm="0">
                                          <p:val>
                                            <p:strVal val="#ppt_x"/>
                                          </p:val>
                                        </p:tav>
                                        <p:tav tm="100000">
                                          <p:val>
                                            <p:strVal val="#ppt_x"/>
                                          </p:val>
                                        </p:tav>
                                      </p:tavLst>
                                    </p:anim>
                                    <p:anim calcmode="lin" valueType="num">
                                      <p:cBhvr additive="base">
                                        <p:cTn id="85" dur="500" fill="hold"/>
                                        <p:tgtEl>
                                          <p:spTgt spid="25"/>
                                        </p:tgtEl>
                                        <p:attrNameLst>
                                          <p:attrName>ppt_y</p:attrName>
                                        </p:attrNameLst>
                                      </p:cBhvr>
                                      <p:tavLst>
                                        <p:tav tm="0">
                                          <p:val>
                                            <p:strVal val="#ppt_y+0.1"/>
                                          </p:val>
                                        </p:tav>
                                        <p:tav tm="100000">
                                          <p:val>
                                            <p:strVal val="#ppt_y"/>
                                          </p:val>
                                        </p:tav>
                                      </p:tavLst>
                                    </p:anim>
                                    <p:animEffect transition="in" filter="fade">
                                      <p:cBhvr>
                                        <p:cTn id="86" dur="500"/>
                                        <p:tgtEl>
                                          <p:spTgt spid="25"/>
                                        </p:tgtEl>
                                      </p:cBhvr>
                                    </p:animEffect>
                                  </p:childTnLst>
                                </p:cTn>
                              </p:par>
                              <p:par>
                                <p:cTn id="92" presetID="2" presetClass="entr" presetSubtype="4"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ppt_x"/>
                                          </p:val>
                                        </p:tav>
                                        <p:tav tm="100000">
                                          <p:val>
                                            <p:strVal val="#ppt_x"/>
                                          </p:val>
                                        </p:tav>
                                      </p:tavLst>
                                    </p:anim>
                                    <p:anim calcmode="lin" valueType="num">
                                      <p:cBhvr additive="base">
                                        <p:cTn id="90" dur="500" fill="hold"/>
                                        <p:tgtEl>
                                          <p:spTgt spid="26"/>
                                        </p:tgtEl>
                                        <p:attrNameLst>
                                          <p:attrName>ppt_y</p:attrName>
                                        </p:attrNameLst>
                                      </p:cBhvr>
                                      <p:tavLst>
                                        <p:tav tm="0">
                                          <p:val>
                                            <p:strVal val="#ppt_y+0.1"/>
                                          </p:val>
                                        </p:tav>
                                        <p:tav tm="100000">
                                          <p:val>
                                            <p:strVal val="#ppt_y"/>
                                          </p:val>
                                        </p:tav>
                                      </p:tavLst>
                                    </p:anim>
                                    <p:animEffect transition="in" filter="fade">
                                      <p:cBhvr>
                                        <p:cTn id="91" dur="500"/>
                                        <p:tgtEl>
                                          <p:spTgt spid="26"/>
                                        </p:tgtEl>
                                      </p:cBhvr>
                                    </p:animEffect>
                                  </p:childTnLst>
                                </p:cTn>
                              </p:par>
                              <p:par>
                                <p:cTn id="97" presetID="2" presetClass="entr" presetSubtype="4"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fill="hold"/>
                                        <p:tgtEl>
                                          <p:spTgt spid="27"/>
                                        </p:tgtEl>
                                        <p:attrNameLst>
                                          <p:attrName>ppt_x</p:attrName>
                                        </p:attrNameLst>
                                      </p:cBhvr>
                                      <p:tavLst>
                                        <p:tav tm="0">
                                          <p:val>
                                            <p:strVal val="#ppt_x"/>
                                          </p:val>
                                        </p:tav>
                                        <p:tav tm="100000">
                                          <p:val>
                                            <p:strVal val="#ppt_x"/>
                                          </p:val>
                                        </p:tav>
                                      </p:tavLst>
                                    </p:anim>
                                    <p:anim calcmode="lin" valueType="num">
                                      <p:cBhvr additive="base">
                                        <p:cTn id="95" dur="500" fill="hold"/>
                                        <p:tgtEl>
                                          <p:spTgt spid="27"/>
                                        </p:tgtEl>
                                        <p:attrNameLst>
                                          <p:attrName>ppt_y</p:attrName>
                                        </p:attrNameLst>
                                      </p:cBhvr>
                                      <p:tavLst>
                                        <p:tav tm="0">
                                          <p:val>
                                            <p:strVal val="#ppt_y+0.1"/>
                                          </p:val>
                                        </p:tav>
                                        <p:tav tm="100000">
                                          <p:val>
                                            <p:strVal val="#ppt_y"/>
                                          </p:val>
                                        </p:tav>
                                      </p:tavLst>
                                    </p:anim>
                                    <p:animEffect transition="in" filter="fade">
                                      <p:cBhvr>
                                        <p:cTn id="9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Thermostat Readings as a Topic</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Each message is one sensor reading, appended as it arrives</a:t>
            </a:r>
          </a:p>
        </p:txBody>
      </p:sp>
      <p:sp>
        <p:nvSpPr>
          <p:cNvPr id="11" name="a1f_codebg10"/>
          <p:cNvSpPr/>
          <p:nvPr/>
        </p:nvSpPr>
        <p:spPr>
          <a:xfrm>
            <a:off x="457200" y="1280160"/>
            <a:ext cx="5166360" cy="1737360"/>
          </a:xfrm>
          <a:prstGeom prst="roundRect">
            <a:avLst>
              <a:gd name="adj" fmla="val 4210"/>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621792" y="1335024"/>
            <a:ext cx="4837176" cy="219456"/>
          </a:xfrm>
          <a:prstGeom prst="rect">
            <a:avLst/>
          </a:prstGeom>
          <a:noFill/>
        </p:spPr>
        <p:txBody>
          <a:bodyPr wrap="square" lIns="0" tIns="0" rIns="0" bIns="0" anchor="ctr">
            <a:spAutoFit/>
          </a:bodyPr>
          <a:lstStyle/>
          <a:p>
            <a:pPr algn="l"/>
            <a:r>
              <a:rPr sz="950" b="1">
                <a:solidFill>
                  <a:srgbClr val="A8A29E"/>
                </a:solidFill>
                <a:latin typeface="Consolas"/>
              </a:rPr>
              <a:t>topic: thermostat_readings</a:t>
            </a:r>
          </a:p>
        </p:txBody>
      </p:sp>
      <p:sp>
        <p:nvSpPr>
          <p:cNvPr id="13" name="a1f_codesep12"/>
          <p:cNvSpPr/>
          <p:nvPr/>
        </p:nvSpPr>
        <p:spPr>
          <a:xfrm>
            <a:off x="621792" y="1609343"/>
            <a:ext cx="4837176"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621792" y="1719072"/>
            <a:ext cx="4837176" cy="274320"/>
          </a:xfrm>
          <a:prstGeom prst="rect">
            <a:avLst/>
          </a:prstGeom>
          <a:noFill/>
        </p:spPr>
        <p:txBody>
          <a:bodyPr wrap="none" lIns="0" tIns="0" rIns="0" bIns="0" anchor="ctr">
            <a:spAutoFit/>
          </a:bodyPr>
          <a:lstStyle/>
          <a:p>
            <a:pPr algn="l"/>
            <a:r>
              <a:rPr sz="950" b="0">
                <a:solidFill>
                  <a:srgbClr val="E7E5E4"/>
                </a:solidFill>
                <a:latin typeface="Consolas"/>
              </a:rPr>
              <a:t>0  {"sensor_id": 42, "location": "kitchen", "temperature": 22}</a:t>
            </a:r>
          </a:p>
        </p:txBody>
      </p:sp>
      <p:sp>
        <p:nvSpPr>
          <p:cNvPr id="15" name="a1wd150_code14"/>
          <p:cNvSpPr txBox="1"/>
          <p:nvPr/>
        </p:nvSpPr>
        <p:spPr>
          <a:xfrm>
            <a:off x="621792" y="1993391"/>
            <a:ext cx="4837176" cy="274320"/>
          </a:xfrm>
          <a:prstGeom prst="rect">
            <a:avLst/>
          </a:prstGeom>
          <a:noFill/>
        </p:spPr>
        <p:txBody>
          <a:bodyPr wrap="none" lIns="0" tIns="0" rIns="0" bIns="0" anchor="ctr">
            <a:spAutoFit/>
          </a:bodyPr>
          <a:lstStyle/>
          <a:p>
            <a:pPr algn="l"/>
            <a:r>
              <a:rPr sz="950" b="0">
                <a:solidFill>
                  <a:srgbClr val="E7E5E4"/>
                </a:solidFill>
                <a:latin typeface="Consolas"/>
              </a:rPr>
              <a:t>1  {"sensor_id": 43, "location": "bedroom", "temperature": 21}</a:t>
            </a:r>
          </a:p>
        </p:txBody>
      </p:sp>
      <p:sp>
        <p:nvSpPr>
          <p:cNvPr id="16" name="a1wd300_code15"/>
          <p:cNvSpPr txBox="1"/>
          <p:nvPr/>
        </p:nvSpPr>
        <p:spPr>
          <a:xfrm>
            <a:off x="621792" y="2267712"/>
            <a:ext cx="4837176" cy="274320"/>
          </a:xfrm>
          <a:prstGeom prst="rect">
            <a:avLst/>
          </a:prstGeom>
          <a:noFill/>
        </p:spPr>
        <p:txBody>
          <a:bodyPr wrap="none" lIns="0" tIns="0" rIns="0" bIns="0" anchor="ctr">
            <a:spAutoFit/>
          </a:bodyPr>
          <a:lstStyle/>
          <a:p>
            <a:pPr algn="l"/>
            <a:r>
              <a:rPr sz="950" b="0">
                <a:solidFill>
                  <a:srgbClr val="E7E5E4"/>
                </a:solidFill>
                <a:latin typeface="Consolas"/>
              </a:rPr>
              <a:t>2  {"sensor_id": 44, "location": "hallway", "temperature": 20}</a:t>
            </a:r>
          </a:p>
        </p:txBody>
      </p:sp>
      <p:sp>
        <p:nvSpPr>
          <p:cNvPr id="17" name="a2w_new16"/>
          <p:cNvSpPr txBox="1"/>
          <p:nvPr/>
        </p:nvSpPr>
        <p:spPr>
          <a:xfrm>
            <a:off x="621792" y="2542032"/>
            <a:ext cx="4846320" cy="274320"/>
          </a:xfrm>
          <a:prstGeom prst="rect">
            <a:avLst/>
          </a:prstGeom>
          <a:noFill/>
        </p:spPr>
        <p:txBody>
          <a:bodyPr wrap="none" lIns="0" tIns="0" rIns="0" bIns="0" anchor="ctr">
            <a:spAutoFit/>
          </a:bodyPr>
          <a:lstStyle/>
          <a:p>
            <a:pPr algn="l"/>
            <a:r>
              <a:rPr sz="950" b="1">
                <a:solidFill>
                  <a:srgbClr val="FDBA74"/>
                </a:solidFill>
                <a:latin typeface="Consolas"/>
              </a:rPr>
              <a:t>3  {"sensor_id": 42, "location": "kitchen", "temperature": 24}</a:t>
            </a:r>
          </a:p>
        </p:txBody>
      </p:sp>
      <p:sp>
        <p:nvSpPr>
          <p:cNvPr id="18" name="a2ud200_lb17"/>
          <p:cNvSpPr txBox="1"/>
          <p:nvPr/>
        </p:nvSpPr>
        <p:spPr>
          <a:xfrm>
            <a:off x="457200" y="3072384"/>
            <a:ext cx="5166360" cy="201168"/>
          </a:xfrm>
          <a:prstGeom prst="rect">
            <a:avLst/>
          </a:prstGeom>
          <a:noFill/>
        </p:spPr>
        <p:txBody>
          <a:bodyPr wrap="square" lIns="0" tIns="0" rIns="0" bIns="0" anchor="ctr">
            <a:spAutoFit/>
          </a:bodyPr>
          <a:lstStyle/>
          <a:p>
            <a:pPr algn="l"/>
            <a:r>
              <a:rPr sz="850" b="1">
                <a:solidFill>
                  <a:srgbClr val="C2410C"/>
                </a:solidFill>
                <a:latin typeface="Segoe UI"/>
              </a:rPr>
              <a:t>a new reading from the kitchen - added to the end</a:t>
            </a:r>
          </a:p>
        </p:txBody>
      </p:sp>
      <p:sp>
        <p:nvSpPr>
          <p:cNvPr id="19" name="a3u_card18"/>
          <p:cNvSpPr/>
          <p:nvPr/>
        </p:nvSpPr>
        <p:spPr>
          <a:xfrm>
            <a:off x="5806440" y="1280160"/>
            <a:ext cx="2880360" cy="1024128"/>
          </a:xfrm>
          <a:prstGeom prst="roundRect">
            <a:avLst>
              <a:gd name="adj" fmla="val 10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acc19"/>
          <p:cNvSpPr/>
          <p:nvPr/>
        </p:nvSpPr>
        <p:spPr>
          <a:xfrm>
            <a:off x="5806440" y="1280160"/>
            <a:ext cx="50292" cy="10241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hh20"/>
          <p:cNvSpPr txBox="1"/>
          <p:nvPr/>
        </p:nvSpPr>
        <p:spPr>
          <a:xfrm>
            <a:off x="6007607" y="1389888"/>
            <a:ext cx="2514600" cy="237744"/>
          </a:xfrm>
          <a:prstGeom prst="rect">
            <a:avLst/>
          </a:prstGeom>
          <a:noFill/>
        </p:spPr>
        <p:txBody>
          <a:bodyPr wrap="square" lIns="0" tIns="0" rIns="0" bIns="0" anchor="ctr">
            <a:spAutoFit/>
          </a:bodyPr>
          <a:lstStyle/>
          <a:p>
            <a:pPr algn="l"/>
            <a:r>
              <a:rPr sz="900" b="1">
                <a:solidFill>
                  <a:srgbClr val="E11D48"/>
                </a:solidFill>
                <a:latin typeface="Segoe UI"/>
              </a:rPr>
              <a:t>A TABLE KEEPS</a:t>
            </a:r>
          </a:p>
        </p:txBody>
      </p:sp>
      <p:sp>
        <p:nvSpPr>
          <p:cNvPr id="22" name="a3ud80_tk21"/>
          <p:cNvSpPr txBox="1"/>
          <p:nvPr/>
        </p:nvSpPr>
        <p:spPr>
          <a:xfrm>
            <a:off x="6007608" y="1609344"/>
            <a:ext cx="2560320" cy="274320"/>
          </a:xfrm>
          <a:prstGeom prst="rect">
            <a:avLst/>
          </a:prstGeom>
          <a:noFill/>
        </p:spPr>
        <p:txBody>
          <a:bodyPr wrap="square" lIns="0" tIns="0" rIns="0" bIns="0" anchor="ctr">
            <a:spAutoFit/>
          </a:bodyPr>
          <a:lstStyle/>
          <a:p>
            <a:pPr algn="l"/>
            <a:r>
              <a:rPr sz="1100" b="1">
                <a:solidFill>
                  <a:srgbClr val="1C1917"/>
                </a:solidFill>
                <a:latin typeface="Consolas"/>
              </a:rPr>
              <a:t>kitchen: 24 °C</a:t>
            </a:r>
          </a:p>
        </p:txBody>
      </p:sp>
      <p:sp>
        <p:nvSpPr>
          <p:cNvPr id="23" name="a3ud80_tk222"/>
          <p:cNvSpPr txBox="1"/>
          <p:nvPr/>
        </p:nvSpPr>
        <p:spPr>
          <a:xfrm>
            <a:off x="6007608" y="1901952"/>
            <a:ext cx="2560320" cy="274320"/>
          </a:xfrm>
          <a:prstGeom prst="rect">
            <a:avLst/>
          </a:prstGeom>
          <a:noFill/>
        </p:spPr>
        <p:txBody>
          <a:bodyPr wrap="square" lIns="0" tIns="0" rIns="0" bIns="0" anchor="ctr">
            <a:spAutoFit/>
          </a:bodyPr>
          <a:lstStyle/>
          <a:p>
            <a:pPr algn="l"/>
            <a:r>
              <a:rPr sz="900" b="0">
                <a:solidFill>
                  <a:srgbClr val="78716C"/>
                </a:solidFill>
                <a:latin typeface="Segoe UI"/>
              </a:rPr>
              <a:t>only the latest value</a:t>
            </a:r>
          </a:p>
        </p:txBody>
      </p:sp>
      <p:sp>
        <p:nvSpPr>
          <p:cNvPr id="24" name="a3ud150_card23"/>
          <p:cNvSpPr/>
          <p:nvPr/>
        </p:nvSpPr>
        <p:spPr>
          <a:xfrm>
            <a:off x="5806440" y="2414016"/>
            <a:ext cx="2880360" cy="1024128"/>
          </a:xfrm>
          <a:prstGeom prst="roundRect">
            <a:avLst>
              <a:gd name="adj" fmla="val 10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d150_acc24"/>
          <p:cNvSpPr/>
          <p:nvPr/>
        </p:nvSpPr>
        <p:spPr>
          <a:xfrm>
            <a:off x="5806440" y="2414016"/>
            <a:ext cx="50292" cy="10241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3ud150_hh25"/>
          <p:cNvSpPr txBox="1"/>
          <p:nvPr/>
        </p:nvSpPr>
        <p:spPr>
          <a:xfrm>
            <a:off x="6007607" y="2523744"/>
            <a:ext cx="2514600" cy="237744"/>
          </a:xfrm>
          <a:prstGeom prst="rect">
            <a:avLst/>
          </a:prstGeom>
          <a:noFill/>
        </p:spPr>
        <p:txBody>
          <a:bodyPr wrap="square" lIns="0" tIns="0" rIns="0" bIns="0" anchor="ctr">
            <a:spAutoFit/>
          </a:bodyPr>
          <a:lstStyle/>
          <a:p>
            <a:pPr algn="l"/>
            <a:r>
              <a:rPr sz="900" b="1">
                <a:solidFill>
                  <a:srgbClr val="0E7490"/>
                </a:solidFill>
                <a:latin typeface="Segoe UI"/>
              </a:rPr>
              <a:t>THE TOPIC KEEPS</a:t>
            </a:r>
          </a:p>
        </p:txBody>
      </p:sp>
      <p:sp>
        <p:nvSpPr>
          <p:cNvPr id="27" name="a3ud230_tp26"/>
          <p:cNvSpPr txBox="1"/>
          <p:nvPr/>
        </p:nvSpPr>
        <p:spPr>
          <a:xfrm>
            <a:off x="6007608" y="2743200"/>
            <a:ext cx="2560320" cy="274320"/>
          </a:xfrm>
          <a:prstGeom prst="rect">
            <a:avLst/>
          </a:prstGeom>
          <a:noFill/>
        </p:spPr>
        <p:txBody>
          <a:bodyPr wrap="square" lIns="0" tIns="0" rIns="0" bIns="0" anchor="ctr">
            <a:spAutoFit/>
          </a:bodyPr>
          <a:lstStyle/>
          <a:p>
            <a:pPr algn="l"/>
            <a:r>
              <a:rPr sz="1100" b="1">
                <a:solidFill>
                  <a:srgbClr val="1C1917"/>
                </a:solidFill>
                <a:latin typeface="Consolas"/>
              </a:rPr>
              <a:t>kitchen: 22 °C, then 24 °C</a:t>
            </a:r>
          </a:p>
        </p:txBody>
      </p:sp>
      <p:sp>
        <p:nvSpPr>
          <p:cNvPr id="28" name="a3ud230_tp227"/>
          <p:cNvSpPr txBox="1"/>
          <p:nvPr/>
        </p:nvSpPr>
        <p:spPr>
          <a:xfrm>
            <a:off x="6007608" y="3035808"/>
            <a:ext cx="2560320" cy="274320"/>
          </a:xfrm>
          <a:prstGeom prst="rect">
            <a:avLst/>
          </a:prstGeom>
          <a:noFill/>
        </p:spPr>
        <p:txBody>
          <a:bodyPr wrap="square" lIns="0" tIns="0" rIns="0" bIns="0" anchor="ctr">
            <a:spAutoFit/>
          </a:bodyPr>
          <a:lstStyle/>
          <a:p>
            <a:pPr algn="l"/>
            <a:r>
              <a:rPr sz="900" b="0">
                <a:solidFill>
                  <a:srgbClr val="78716C"/>
                </a:solidFill>
                <a:latin typeface="Segoe UI"/>
              </a:rPr>
              <a:t>the whole history, in order</a:t>
            </a:r>
          </a:p>
        </p:txBody>
      </p:sp>
      <p:sp>
        <p:nvSpPr>
          <p:cNvPr id="29" name="a4u_nb28"/>
          <p:cNvSpPr/>
          <p:nvPr/>
        </p:nvSpPr>
        <p:spPr>
          <a:xfrm>
            <a:off x="457200" y="3611880"/>
            <a:ext cx="8229600" cy="640080"/>
          </a:xfrm>
          <a:prstGeom prst="roundRect">
            <a:avLst>
              <a:gd name="adj" fmla="val 11428"/>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4u_nacc29"/>
          <p:cNvSpPr/>
          <p:nvPr/>
        </p:nvSpPr>
        <p:spPr>
          <a:xfrm>
            <a:off x="457200" y="3611880"/>
            <a:ext cx="54864" cy="6400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4u_nt30"/>
          <p:cNvSpPr txBox="1"/>
          <p:nvPr/>
        </p:nvSpPr>
        <p:spPr>
          <a:xfrm>
            <a:off x="658368" y="3611880"/>
            <a:ext cx="7827264" cy="640080"/>
          </a:xfrm>
          <a:prstGeom prst="rect">
            <a:avLst/>
          </a:prstGeom>
          <a:noFill/>
        </p:spPr>
        <p:txBody>
          <a:bodyPr wrap="square" lIns="0" tIns="0" rIns="0" bIns="0" anchor="ctr">
            <a:spAutoFit/>
          </a:bodyPr>
          <a:lstStyle/>
          <a:p>
            <a:pPr algn="l"/>
            <a:r>
              <a:rPr sz="950" b="1">
                <a:solidFill>
                  <a:srgbClr val="A16207"/>
                </a:solidFill>
                <a:latin typeface="Segoe UI"/>
              </a:rPr>
              <a:t>i  </a:t>
            </a:r>
            <a:r>
              <a:rPr sz="950" b="0">
                <a:solidFill>
                  <a:srgbClr val="44403C"/>
                </a:solidFill>
                <a:latin typeface="Segoe UI"/>
              </a:rPr>
              <a:t>JSON is used here because it is easy to read on a slide. Messages can be in many formats - Avro, for example, which is simply less pleasant to look at.</a:t>
            </a:r>
          </a:p>
        </p:txBody>
      </p:sp>
      <p:sp>
        <p:nvSpPr>
          <p:cNvPr id="32" name="ft3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33" name="ft3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ft3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35" name="ft3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15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30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7" presetID="22" presetClass="entr" presetSubtype="8"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par>
                                <p:cTn id="32" presetID="2" presetClass="entr" presetSubtype="4" fill="hold" grpId="0" nodeType="withEffect">
                                  <p:stCondLst>
                                    <p:cond delay="20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ppt_y+0.1"/>
                                          </p:val>
                                        </p:tav>
                                        <p:tav tm="100000">
                                          <p:val>
                                            <p:strVal val="#ppt_y"/>
                                          </p:val>
                                        </p:tav>
                                      </p:tavLst>
                                    </p:anim>
                                    <p:animEffect transition="in" filter="fade">
                                      <p:cBhvr>
                                        <p:cTn id="31"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9" presetID="2" presetClass="entr" presetSubtype="4"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ppt_y+0.1"/>
                                          </p:val>
                                        </p:tav>
                                        <p:tav tm="100000">
                                          <p:val>
                                            <p:strVal val="#ppt_y"/>
                                          </p:val>
                                        </p:tav>
                                      </p:tavLst>
                                    </p:anim>
                                    <p:animEffect transition="in" filter="fade">
                                      <p:cBhvr>
                                        <p:cTn id="38" dur="500"/>
                                        <p:tgtEl>
                                          <p:spTgt spid="19"/>
                                        </p:tgtEl>
                                      </p:cBhvr>
                                    </p:animEffect>
                                  </p:childTnLst>
                                </p:cTn>
                              </p:par>
                              <p:par>
                                <p:cTn id="44"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ppt_y+0.1"/>
                                          </p:val>
                                        </p:tav>
                                        <p:tav tm="100000">
                                          <p:val>
                                            <p:strVal val="#ppt_y"/>
                                          </p:val>
                                        </p:tav>
                                      </p:tavLst>
                                    </p:anim>
                                    <p:animEffect transition="in" filter="fade">
                                      <p:cBhvr>
                                        <p:cTn id="43" dur="500"/>
                                        <p:tgtEl>
                                          <p:spTgt spid="20"/>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ppt_y+0.1"/>
                                          </p:val>
                                        </p:tav>
                                        <p:tav tm="100000">
                                          <p:val>
                                            <p:strVal val="#ppt_y"/>
                                          </p:val>
                                        </p:tav>
                                      </p:tavLst>
                                    </p:anim>
                                    <p:animEffect transition="in" filter="fade">
                                      <p:cBhvr>
                                        <p:cTn id="48" dur="500"/>
                                        <p:tgtEl>
                                          <p:spTgt spid="21"/>
                                        </p:tgtEl>
                                      </p:cBhvr>
                                    </p:animEffect>
                                  </p:childTnLst>
                                </p:cTn>
                              </p:par>
                              <p:par>
                                <p:cTn id="54" presetID="2" presetClass="entr" presetSubtype="4" fill="hold" grpId="0" nodeType="withEffect">
                                  <p:stCondLst>
                                    <p:cond delay="8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ppt_y+0.1"/>
                                          </p:val>
                                        </p:tav>
                                        <p:tav tm="100000">
                                          <p:val>
                                            <p:strVal val="#ppt_y"/>
                                          </p:val>
                                        </p:tav>
                                      </p:tavLst>
                                    </p:anim>
                                    <p:animEffect transition="in" filter="fade">
                                      <p:cBhvr>
                                        <p:cTn id="53" dur="500"/>
                                        <p:tgtEl>
                                          <p:spTgt spid="22"/>
                                        </p:tgtEl>
                                      </p:cBhvr>
                                    </p:animEffect>
                                  </p:childTnLst>
                                </p:cTn>
                              </p:par>
                              <p:par>
                                <p:cTn id="59" presetID="2" presetClass="entr" presetSubtype="4" fill="hold" grpId="0" nodeType="withEffect">
                                  <p:stCondLst>
                                    <p:cond delay="80"/>
                                  </p:stCondLst>
                                  <p:childTnLst>
                                    <p:set>
                                      <p:cBhvr>
                                        <p:cTn id="55" dur="1" fill="hold">
                                          <p:stCondLst>
                                            <p:cond delay="0"/>
                                          </p:stCondLst>
                                        </p:cTn>
                                        <p:tgtEl>
                                          <p:spTgt spid="23"/>
                                        </p:tgtEl>
                                        <p:attrNameLst>
                                          <p:attrName>style.visibility</p:attrName>
                                        </p:attrNameLst>
                                      </p:cBhvr>
                                      <p:to>
                                        <p:strVal val="visible"/>
                                      </p:to>
                                    </p:set>
                                    <p:anim calcmode="lin" valueType="num">
                                      <p:cBhvr additive="base">
                                        <p:cTn id="56" dur="500" fill="hold"/>
                                        <p:tgtEl>
                                          <p:spTgt spid="23"/>
                                        </p:tgtEl>
                                        <p:attrNameLst>
                                          <p:attrName>ppt_x</p:attrName>
                                        </p:attrNameLst>
                                      </p:cBhvr>
                                      <p:tavLst>
                                        <p:tav tm="0">
                                          <p:val>
                                            <p:strVal val="#ppt_x"/>
                                          </p:val>
                                        </p:tav>
                                        <p:tav tm="100000">
                                          <p:val>
                                            <p:strVal val="#ppt_x"/>
                                          </p:val>
                                        </p:tav>
                                      </p:tavLst>
                                    </p:anim>
                                    <p:anim calcmode="lin" valueType="num">
                                      <p:cBhvr additive="base">
                                        <p:cTn id="57" dur="500" fill="hold"/>
                                        <p:tgtEl>
                                          <p:spTgt spid="23"/>
                                        </p:tgtEl>
                                        <p:attrNameLst>
                                          <p:attrName>ppt_y</p:attrName>
                                        </p:attrNameLst>
                                      </p:cBhvr>
                                      <p:tavLst>
                                        <p:tav tm="0">
                                          <p:val>
                                            <p:strVal val="#ppt_y+0.1"/>
                                          </p:val>
                                        </p:tav>
                                        <p:tav tm="100000">
                                          <p:val>
                                            <p:strVal val="#ppt_y"/>
                                          </p:val>
                                        </p:tav>
                                      </p:tavLst>
                                    </p:anim>
                                    <p:animEffect transition="in" filter="fade">
                                      <p:cBhvr>
                                        <p:cTn id="58" dur="500"/>
                                        <p:tgtEl>
                                          <p:spTgt spid="23"/>
                                        </p:tgtEl>
                                      </p:cBhvr>
                                    </p:animEffect>
                                  </p:childTnLst>
                                </p:cTn>
                              </p:par>
                              <p:par>
                                <p:cTn id="64" presetID="2" presetClass="entr" presetSubtype="4" fill="hold" grpId="0" nodeType="withEffect">
                                  <p:stCondLst>
                                    <p:cond delay="15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ppt_y+0.1"/>
                                          </p:val>
                                        </p:tav>
                                        <p:tav tm="100000">
                                          <p:val>
                                            <p:strVal val="#ppt_y"/>
                                          </p:val>
                                        </p:tav>
                                      </p:tavLst>
                                    </p:anim>
                                    <p:animEffect transition="in" filter="fade">
                                      <p:cBhvr>
                                        <p:cTn id="63" dur="500"/>
                                        <p:tgtEl>
                                          <p:spTgt spid="24"/>
                                        </p:tgtEl>
                                      </p:cBhvr>
                                    </p:animEffect>
                                  </p:childTnLst>
                                </p:cTn>
                              </p:par>
                              <p:par>
                                <p:cTn id="69" presetID="2" presetClass="entr" presetSubtype="4" fill="hold" grpId="0" nodeType="withEffect">
                                  <p:stCondLst>
                                    <p:cond delay="15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500" fill="hold"/>
                                        <p:tgtEl>
                                          <p:spTgt spid="25"/>
                                        </p:tgtEl>
                                        <p:attrNameLst>
                                          <p:attrName>ppt_x</p:attrName>
                                        </p:attrNameLst>
                                      </p:cBhvr>
                                      <p:tavLst>
                                        <p:tav tm="0">
                                          <p:val>
                                            <p:strVal val="#ppt_x"/>
                                          </p:val>
                                        </p:tav>
                                        <p:tav tm="100000">
                                          <p:val>
                                            <p:strVal val="#ppt_x"/>
                                          </p:val>
                                        </p:tav>
                                      </p:tavLst>
                                    </p:anim>
                                    <p:anim calcmode="lin" valueType="num">
                                      <p:cBhvr additive="base">
                                        <p:cTn id="67" dur="500" fill="hold"/>
                                        <p:tgtEl>
                                          <p:spTgt spid="25"/>
                                        </p:tgtEl>
                                        <p:attrNameLst>
                                          <p:attrName>ppt_y</p:attrName>
                                        </p:attrNameLst>
                                      </p:cBhvr>
                                      <p:tavLst>
                                        <p:tav tm="0">
                                          <p:val>
                                            <p:strVal val="#ppt_y+0.1"/>
                                          </p:val>
                                        </p:tav>
                                        <p:tav tm="100000">
                                          <p:val>
                                            <p:strVal val="#ppt_y"/>
                                          </p:val>
                                        </p:tav>
                                      </p:tavLst>
                                    </p:anim>
                                    <p:animEffect transition="in" filter="fade">
                                      <p:cBhvr>
                                        <p:cTn id="68" dur="500"/>
                                        <p:tgtEl>
                                          <p:spTgt spid="25"/>
                                        </p:tgtEl>
                                      </p:cBhvr>
                                    </p:animEffect>
                                  </p:childTnLst>
                                </p:cTn>
                              </p:par>
                              <p:par>
                                <p:cTn id="74" presetID="2" presetClass="entr" presetSubtype="4" fill="hold" grpId="0" nodeType="withEffect">
                                  <p:stCondLst>
                                    <p:cond delay="15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500" fill="hold"/>
                                        <p:tgtEl>
                                          <p:spTgt spid="26"/>
                                        </p:tgtEl>
                                        <p:attrNameLst>
                                          <p:attrName>ppt_x</p:attrName>
                                        </p:attrNameLst>
                                      </p:cBhvr>
                                      <p:tavLst>
                                        <p:tav tm="0">
                                          <p:val>
                                            <p:strVal val="#ppt_x"/>
                                          </p:val>
                                        </p:tav>
                                        <p:tav tm="100000">
                                          <p:val>
                                            <p:strVal val="#ppt_x"/>
                                          </p:val>
                                        </p:tav>
                                      </p:tavLst>
                                    </p:anim>
                                    <p:anim calcmode="lin" valueType="num">
                                      <p:cBhvr additive="base">
                                        <p:cTn id="72" dur="500" fill="hold"/>
                                        <p:tgtEl>
                                          <p:spTgt spid="26"/>
                                        </p:tgtEl>
                                        <p:attrNameLst>
                                          <p:attrName>ppt_y</p:attrName>
                                        </p:attrNameLst>
                                      </p:cBhvr>
                                      <p:tavLst>
                                        <p:tav tm="0">
                                          <p:val>
                                            <p:strVal val="#ppt_y+0.1"/>
                                          </p:val>
                                        </p:tav>
                                        <p:tav tm="100000">
                                          <p:val>
                                            <p:strVal val="#ppt_y"/>
                                          </p:val>
                                        </p:tav>
                                      </p:tavLst>
                                    </p:anim>
                                    <p:animEffect transition="in" filter="fade">
                                      <p:cBhvr>
                                        <p:cTn id="73" dur="500"/>
                                        <p:tgtEl>
                                          <p:spTgt spid="26"/>
                                        </p:tgtEl>
                                      </p:cBhvr>
                                    </p:animEffect>
                                  </p:childTnLst>
                                </p:cTn>
                              </p:par>
                              <p:par>
                                <p:cTn id="79" presetID="2" presetClass="entr" presetSubtype="4" fill="hold" grpId="0" nodeType="withEffect">
                                  <p:stCondLst>
                                    <p:cond delay="230"/>
                                  </p:stCondLst>
                                  <p:childTnLst>
                                    <p:set>
                                      <p:cBhvr>
                                        <p:cTn id="75" dur="1" fill="hold">
                                          <p:stCondLst>
                                            <p:cond delay="0"/>
                                          </p:stCondLst>
                                        </p:cTn>
                                        <p:tgtEl>
                                          <p:spTgt spid="27"/>
                                        </p:tgtEl>
                                        <p:attrNameLst>
                                          <p:attrName>style.visibility</p:attrName>
                                        </p:attrNameLst>
                                      </p:cBhvr>
                                      <p:to>
                                        <p:strVal val="visible"/>
                                      </p:to>
                                    </p:set>
                                    <p:anim calcmode="lin" valueType="num">
                                      <p:cBhvr additive="base">
                                        <p:cTn id="76" dur="500" fill="hold"/>
                                        <p:tgtEl>
                                          <p:spTgt spid="27"/>
                                        </p:tgtEl>
                                        <p:attrNameLst>
                                          <p:attrName>ppt_x</p:attrName>
                                        </p:attrNameLst>
                                      </p:cBhvr>
                                      <p:tavLst>
                                        <p:tav tm="0">
                                          <p:val>
                                            <p:strVal val="#ppt_x"/>
                                          </p:val>
                                        </p:tav>
                                        <p:tav tm="100000">
                                          <p:val>
                                            <p:strVal val="#ppt_x"/>
                                          </p:val>
                                        </p:tav>
                                      </p:tavLst>
                                    </p:anim>
                                    <p:anim calcmode="lin" valueType="num">
                                      <p:cBhvr additive="base">
                                        <p:cTn id="77" dur="500" fill="hold"/>
                                        <p:tgtEl>
                                          <p:spTgt spid="27"/>
                                        </p:tgtEl>
                                        <p:attrNameLst>
                                          <p:attrName>ppt_y</p:attrName>
                                        </p:attrNameLst>
                                      </p:cBhvr>
                                      <p:tavLst>
                                        <p:tav tm="0">
                                          <p:val>
                                            <p:strVal val="#ppt_y+0.1"/>
                                          </p:val>
                                        </p:tav>
                                        <p:tav tm="100000">
                                          <p:val>
                                            <p:strVal val="#ppt_y"/>
                                          </p:val>
                                        </p:tav>
                                      </p:tavLst>
                                    </p:anim>
                                    <p:animEffect transition="in" filter="fade">
                                      <p:cBhvr>
                                        <p:cTn id="78" dur="500"/>
                                        <p:tgtEl>
                                          <p:spTgt spid="27"/>
                                        </p:tgtEl>
                                      </p:cBhvr>
                                    </p:animEffect>
                                  </p:childTnLst>
                                </p:cTn>
                              </p:par>
                              <p:par>
                                <p:cTn id="84" presetID="2" presetClass="entr" presetSubtype="4" fill="hold" grpId="0" nodeType="withEffect">
                                  <p:stCondLst>
                                    <p:cond delay="230"/>
                                  </p:stCondLst>
                                  <p:childTnLst>
                                    <p:set>
                                      <p:cBhvr>
                                        <p:cTn id="80" dur="1" fill="hold">
                                          <p:stCondLst>
                                            <p:cond delay="0"/>
                                          </p:stCondLst>
                                        </p:cTn>
                                        <p:tgtEl>
                                          <p:spTgt spid="28"/>
                                        </p:tgtEl>
                                        <p:attrNameLst>
                                          <p:attrName>style.visibility</p:attrName>
                                        </p:attrNameLst>
                                      </p:cBhvr>
                                      <p:to>
                                        <p:strVal val="visible"/>
                                      </p:to>
                                    </p:set>
                                    <p:anim calcmode="lin" valueType="num">
                                      <p:cBhvr additive="base">
                                        <p:cTn id="81" dur="500" fill="hold"/>
                                        <p:tgtEl>
                                          <p:spTgt spid="28"/>
                                        </p:tgtEl>
                                        <p:attrNameLst>
                                          <p:attrName>ppt_x</p:attrName>
                                        </p:attrNameLst>
                                      </p:cBhvr>
                                      <p:tavLst>
                                        <p:tav tm="0">
                                          <p:val>
                                            <p:strVal val="#ppt_x"/>
                                          </p:val>
                                        </p:tav>
                                        <p:tav tm="100000">
                                          <p:val>
                                            <p:strVal val="#ppt_x"/>
                                          </p:val>
                                        </p:tav>
                                      </p:tavLst>
                                    </p:anim>
                                    <p:anim calcmode="lin" valueType="num">
                                      <p:cBhvr additive="base">
                                        <p:cTn id="82" dur="500" fill="hold"/>
                                        <p:tgtEl>
                                          <p:spTgt spid="28"/>
                                        </p:tgtEl>
                                        <p:attrNameLst>
                                          <p:attrName>ppt_y</p:attrName>
                                        </p:attrNameLst>
                                      </p:cBhvr>
                                      <p:tavLst>
                                        <p:tav tm="0">
                                          <p:val>
                                            <p:strVal val="#ppt_y+0.1"/>
                                          </p:val>
                                        </p:tav>
                                        <p:tav tm="100000">
                                          <p:val>
                                            <p:strVal val="#ppt_y"/>
                                          </p:val>
                                        </p:tav>
                                      </p:tavLst>
                                    </p:anim>
                                    <p:animEffect transition="in" filter="fade">
                                      <p:cBhvr>
                                        <p:cTn id="83" dur="500"/>
                                        <p:tgtEl>
                                          <p:spTgt spid="28"/>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9"/>
                                        </p:tgtEl>
                                        <p:attrNameLst>
                                          <p:attrName>style.visibility</p:attrName>
                                        </p:attrNameLst>
                                      </p:cBhvr>
                                      <p:to>
                                        <p:strVal val="visible"/>
                                      </p:to>
                                    </p:set>
                                    <p:anim calcmode="lin" valueType="num">
                                      <p:cBhvr additive="base">
                                        <p:cTn id="88" dur="500" fill="hold"/>
                                        <p:tgtEl>
                                          <p:spTgt spid="29"/>
                                        </p:tgtEl>
                                        <p:attrNameLst>
                                          <p:attrName>ppt_x</p:attrName>
                                        </p:attrNameLst>
                                      </p:cBhvr>
                                      <p:tavLst>
                                        <p:tav tm="0">
                                          <p:val>
                                            <p:strVal val="#ppt_x"/>
                                          </p:val>
                                        </p:tav>
                                        <p:tav tm="100000">
                                          <p:val>
                                            <p:strVal val="#ppt_x"/>
                                          </p:val>
                                        </p:tav>
                                      </p:tavLst>
                                    </p:anim>
                                    <p:anim calcmode="lin" valueType="num">
                                      <p:cBhvr additive="base">
                                        <p:cTn id="89" dur="500" fill="hold"/>
                                        <p:tgtEl>
                                          <p:spTgt spid="29"/>
                                        </p:tgtEl>
                                        <p:attrNameLst>
                                          <p:attrName>ppt_y</p:attrName>
                                        </p:attrNameLst>
                                      </p:cBhvr>
                                      <p:tavLst>
                                        <p:tav tm="0">
                                          <p:val>
                                            <p:strVal val="#ppt_y+0.1"/>
                                          </p:val>
                                        </p:tav>
                                        <p:tav tm="100000">
                                          <p:val>
                                            <p:strVal val="#ppt_y"/>
                                          </p:val>
                                        </p:tav>
                                      </p:tavLst>
                                    </p:anim>
                                    <p:animEffect transition="in" filter="fade">
                                      <p:cBhvr>
                                        <p:cTn id="90" dur="500"/>
                                        <p:tgtEl>
                                          <p:spTgt spid="29"/>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 calcmode="lin" valueType="num">
                                      <p:cBhvr additive="base">
                                        <p:cTn id="93" dur="500" fill="hold"/>
                                        <p:tgtEl>
                                          <p:spTgt spid="30"/>
                                        </p:tgtEl>
                                        <p:attrNameLst>
                                          <p:attrName>ppt_x</p:attrName>
                                        </p:attrNameLst>
                                      </p:cBhvr>
                                      <p:tavLst>
                                        <p:tav tm="0">
                                          <p:val>
                                            <p:strVal val="#ppt_x"/>
                                          </p:val>
                                        </p:tav>
                                        <p:tav tm="100000">
                                          <p:val>
                                            <p:strVal val="#ppt_x"/>
                                          </p:val>
                                        </p:tav>
                                      </p:tavLst>
                                    </p:anim>
                                    <p:anim calcmode="lin" valueType="num">
                                      <p:cBhvr additive="base">
                                        <p:cTn id="94" dur="500" fill="hold"/>
                                        <p:tgtEl>
                                          <p:spTgt spid="30"/>
                                        </p:tgtEl>
                                        <p:attrNameLst>
                                          <p:attrName>ppt_y</p:attrName>
                                        </p:attrNameLst>
                                      </p:cBhvr>
                                      <p:tavLst>
                                        <p:tav tm="0">
                                          <p:val>
                                            <p:strVal val="#ppt_y+0.1"/>
                                          </p:val>
                                        </p:tav>
                                        <p:tav tm="100000">
                                          <p:val>
                                            <p:strVal val="#ppt_y"/>
                                          </p:val>
                                        </p:tav>
                                      </p:tavLst>
                                    </p:anim>
                                    <p:animEffect transition="in" filter="fade">
                                      <p:cBhvr>
                                        <p:cTn id="95" dur="500"/>
                                        <p:tgtEl>
                                          <p:spTgt spid="30"/>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 calcmode="lin" valueType="num">
                                      <p:cBhvr additive="base">
                                        <p:cTn id="98" dur="500" fill="hold"/>
                                        <p:tgtEl>
                                          <p:spTgt spid="31"/>
                                        </p:tgtEl>
                                        <p:attrNameLst>
                                          <p:attrName>ppt_x</p:attrName>
                                        </p:attrNameLst>
                                      </p:cBhvr>
                                      <p:tavLst>
                                        <p:tav tm="0">
                                          <p:val>
                                            <p:strVal val="#ppt_x"/>
                                          </p:val>
                                        </p:tav>
                                        <p:tav tm="100000">
                                          <p:val>
                                            <p:strVal val="#ppt_x"/>
                                          </p:val>
                                        </p:tav>
                                      </p:tavLst>
                                    </p:anim>
                                    <p:anim calcmode="lin" valueType="num">
                                      <p:cBhvr additive="base">
                                        <p:cTn id="99" dur="500" fill="hold"/>
                                        <p:tgtEl>
                                          <p:spTgt spid="31"/>
                                        </p:tgtEl>
                                        <p:attrNameLst>
                                          <p:attrName>ppt_y</p:attrName>
                                        </p:attrNameLst>
                                      </p:cBhvr>
                                      <p:tavLst>
                                        <p:tav tm="0">
                                          <p:val>
                                            <p:strVal val="#ppt_y+0.1"/>
                                          </p:val>
                                        </p:tav>
                                        <p:tav tm="100000">
                                          <p:val>
                                            <p:strVal val="#ppt_y"/>
                                          </p:val>
                                        </p:tav>
                                      </p:tavLst>
                                    </p:anim>
                                    <p:animEffect transition="in" filter="fade">
                                      <p:cBhvr>
                                        <p:cTn id="10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One Topic? You Will Have Thousands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database has many tables - a Kafka cluster has many topics</a:t>
            </a:r>
          </a:p>
        </p:txBody>
      </p:sp>
      <p:sp>
        <p:nvSpPr>
          <p:cNvPr id="11" name="a1u_card10"/>
          <p:cNvSpPr/>
          <p:nvPr/>
        </p:nvSpPr>
        <p:spPr>
          <a:xfrm>
            <a:off x="457200" y="1280160"/>
            <a:ext cx="8229600" cy="2514600"/>
          </a:xfrm>
          <a:prstGeom prst="roundRect">
            <a:avLst>
              <a:gd name="adj" fmla="val 436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kc11"/>
          <p:cNvSpPr txBox="1"/>
          <p:nvPr/>
        </p:nvSpPr>
        <p:spPr>
          <a:xfrm>
            <a:off x="658368" y="1371600"/>
            <a:ext cx="3657600" cy="219456"/>
          </a:xfrm>
          <a:prstGeom prst="rect">
            <a:avLst/>
          </a:prstGeom>
          <a:noFill/>
        </p:spPr>
        <p:txBody>
          <a:bodyPr wrap="square" lIns="0" tIns="0" rIns="0" bIns="0" anchor="ctr">
            <a:spAutoFit/>
          </a:bodyPr>
          <a:lstStyle/>
          <a:p>
            <a:pPr algn="l"/>
            <a:r>
              <a:rPr sz="850" b="1" spc="160">
                <a:solidFill>
                  <a:srgbClr val="78716C"/>
                </a:solidFill>
                <a:latin typeface="Segoe UI"/>
              </a:rPr>
              <a:t>KAFKA CLUSTER</a:t>
            </a:r>
          </a:p>
        </p:txBody>
      </p:sp>
      <p:sp>
        <p:nvSpPr>
          <p:cNvPr id="13" name="a1u_tn12"/>
          <p:cNvSpPr txBox="1"/>
          <p:nvPr/>
        </p:nvSpPr>
        <p:spPr>
          <a:xfrm>
            <a:off x="685800" y="1691640"/>
            <a:ext cx="2377440" cy="219456"/>
          </a:xfrm>
          <a:prstGeom prst="rect">
            <a:avLst/>
          </a:prstGeom>
          <a:noFill/>
        </p:spPr>
        <p:txBody>
          <a:bodyPr wrap="square" lIns="0" tIns="0" rIns="0" bIns="0" anchor="ctr">
            <a:spAutoFit/>
          </a:bodyPr>
          <a:lstStyle/>
          <a:p>
            <a:pPr algn="l"/>
            <a:r>
              <a:rPr sz="950" b="1">
                <a:solidFill>
                  <a:srgbClr val="1C1917"/>
                </a:solidFill>
                <a:latin typeface="Consolas"/>
              </a:rPr>
              <a:t>thermostat_readings</a:t>
            </a:r>
          </a:p>
        </p:txBody>
      </p:sp>
      <p:sp>
        <p:nvSpPr>
          <p:cNvPr id="14" name="a1u_pill13"/>
          <p:cNvSpPr/>
          <p:nvPr/>
        </p:nvSpPr>
        <p:spPr>
          <a:xfrm>
            <a:off x="3200400" y="1700784"/>
            <a:ext cx="1051560" cy="20116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C2410C"/>
                </a:solidFill>
                <a:latin typeface="Consolas"/>
              </a:rPr>
              <a:t>JSON</a:t>
            </a:r>
          </a:p>
        </p:txBody>
      </p:sp>
      <p:sp>
        <p:nvSpPr>
          <p:cNvPr id="15" name="a1u_cell14"/>
          <p:cNvSpPr/>
          <p:nvPr/>
        </p:nvSpPr>
        <p:spPr>
          <a:xfrm>
            <a:off x="685800"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_cellt15"/>
          <p:cNvSpPr txBox="1"/>
          <p:nvPr/>
        </p:nvSpPr>
        <p:spPr>
          <a:xfrm>
            <a:off x="685800"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0</a:t>
            </a:r>
          </a:p>
        </p:txBody>
      </p:sp>
      <p:sp>
        <p:nvSpPr>
          <p:cNvPr id="17" name="a1u_cell16"/>
          <p:cNvSpPr/>
          <p:nvPr/>
        </p:nvSpPr>
        <p:spPr>
          <a:xfrm>
            <a:off x="978408"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_cellt17"/>
          <p:cNvSpPr txBox="1"/>
          <p:nvPr/>
        </p:nvSpPr>
        <p:spPr>
          <a:xfrm>
            <a:off x="978408"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1</a:t>
            </a:r>
          </a:p>
        </p:txBody>
      </p:sp>
      <p:sp>
        <p:nvSpPr>
          <p:cNvPr id="19" name="a1u_cell18"/>
          <p:cNvSpPr/>
          <p:nvPr/>
        </p:nvSpPr>
        <p:spPr>
          <a:xfrm>
            <a:off x="1271016"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_cellt19"/>
          <p:cNvSpPr txBox="1"/>
          <p:nvPr/>
        </p:nvSpPr>
        <p:spPr>
          <a:xfrm>
            <a:off x="1271016"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2</a:t>
            </a:r>
          </a:p>
        </p:txBody>
      </p:sp>
      <p:sp>
        <p:nvSpPr>
          <p:cNvPr id="21" name="a1u_cell20"/>
          <p:cNvSpPr/>
          <p:nvPr/>
        </p:nvSpPr>
        <p:spPr>
          <a:xfrm>
            <a:off x="1563624"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_cellt21"/>
          <p:cNvSpPr txBox="1"/>
          <p:nvPr/>
        </p:nvSpPr>
        <p:spPr>
          <a:xfrm>
            <a:off x="1563624"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3</a:t>
            </a:r>
          </a:p>
        </p:txBody>
      </p:sp>
      <p:sp>
        <p:nvSpPr>
          <p:cNvPr id="23" name="a1u_cell22"/>
          <p:cNvSpPr/>
          <p:nvPr/>
        </p:nvSpPr>
        <p:spPr>
          <a:xfrm>
            <a:off x="1856232"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_cellt23"/>
          <p:cNvSpPr txBox="1"/>
          <p:nvPr/>
        </p:nvSpPr>
        <p:spPr>
          <a:xfrm>
            <a:off x="1856232"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4</a:t>
            </a:r>
          </a:p>
        </p:txBody>
      </p:sp>
      <p:sp>
        <p:nvSpPr>
          <p:cNvPr id="25" name="a1u_cell24"/>
          <p:cNvSpPr/>
          <p:nvPr/>
        </p:nvSpPr>
        <p:spPr>
          <a:xfrm>
            <a:off x="2148840"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_cellt25"/>
          <p:cNvSpPr txBox="1"/>
          <p:nvPr/>
        </p:nvSpPr>
        <p:spPr>
          <a:xfrm>
            <a:off x="2148840"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5</a:t>
            </a:r>
          </a:p>
        </p:txBody>
      </p:sp>
      <p:sp>
        <p:nvSpPr>
          <p:cNvPr id="27" name="a1u_cell26"/>
          <p:cNvSpPr/>
          <p:nvPr/>
        </p:nvSpPr>
        <p:spPr>
          <a:xfrm>
            <a:off x="2441448"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u_cellt27"/>
          <p:cNvSpPr txBox="1"/>
          <p:nvPr/>
        </p:nvSpPr>
        <p:spPr>
          <a:xfrm>
            <a:off x="2441448"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6</a:t>
            </a:r>
          </a:p>
        </p:txBody>
      </p:sp>
      <p:sp>
        <p:nvSpPr>
          <p:cNvPr id="29" name="a1u_cell28"/>
          <p:cNvSpPr/>
          <p:nvPr/>
        </p:nvSpPr>
        <p:spPr>
          <a:xfrm>
            <a:off x="2734056"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u_cellt29"/>
          <p:cNvSpPr txBox="1"/>
          <p:nvPr/>
        </p:nvSpPr>
        <p:spPr>
          <a:xfrm>
            <a:off x="2734056"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7</a:t>
            </a:r>
          </a:p>
        </p:txBody>
      </p:sp>
      <p:sp>
        <p:nvSpPr>
          <p:cNvPr id="31" name="a1u_cell30"/>
          <p:cNvSpPr/>
          <p:nvPr/>
        </p:nvSpPr>
        <p:spPr>
          <a:xfrm>
            <a:off x="3026664"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u_cellt31"/>
          <p:cNvSpPr txBox="1"/>
          <p:nvPr/>
        </p:nvSpPr>
        <p:spPr>
          <a:xfrm>
            <a:off x="3026664"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8</a:t>
            </a:r>
          </a:p>
        </p:txBody>
      </p:sp>
      <p:sp>
        <p:nvSpPr>
          <p:cNvPr id="33" name="a1u_cell32"/>
          <p:cNvSpPr/>
          <p:nvPr/>
        </p:nvSpPr>
        <p:spPr>
          <a:xfrm>
            <a:off x="3319272"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u_cellt33"/>
          <p:cNvSpPr txBox="1"/>
          <p:nvPr/>
        </p:nvSpPr>
        <p:spPr>
          <a:xfrm>
            <a:off x="3319272"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9</a:t>
            </a:r>
          </a:p>
        </p:txBody>
      </p:sp>
      <p:sp>
        <p:nvSpPr>
          <p:cNvPr id="35" name="a1u_cell34"/>
          <p:cNvSpPr/>
          <p:nvPr/>
        </p:nvSpPr>
        <p:spPr>
          <a:xfrm>
            <a:off x="3611880" y="1956816"/>
            <a:ext cx="292608" cy="256032"/>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u_cellt35"/>
          <p:cNvSpPr txBox="1"/>
          <p:nvPr/>
        </p:nvSpPr>
        <p:spPr>
          <a:xfrm>
            <a:off x="3611880" y="1956816"/>
            <a:ext cx="292608" cy="256032"/>
          </a:xfrm>
          <a:prstGeom prst="rect">
            <a:avLst/>
          </a:prstGeom>
          <a:noFill/>
        </p:spPr>
        <p:txBody>
          <a:bodyPr wrap="square" lIns="0" tIns="0" rIns="0" bIns="0" anchor="ctr">
            <a:spAutoFit/>
          </a:bodyPr>
          <a:lstStyle/>
          <a:p>
            <a:pPr algn="ctr"/>
            <a:r>
              <a:rPr sz="700" b="1">
                <a:solidFill>
                  <a:srgbClr val="C2410C"/>
                </a:solidFill>
                <a:latin typeface="Consolas"/>
              </a:rPr>
              <a:t>10</a:t>
            </a:r>
          </a:p>
        </p:txBody>
      </p:sp>
      <p:sp>
        <p:nvSpPr>
          <p:cNvPr id="37" name="a1ud120_tn36"/>
          <p:cNvSpPr txBox="1"/>
          <p:nvPr/>
        </p:nvSpPr>
        <p:spPr>
          <a:xfrm>
            <a:off x="4709160" y="1691640"/>
            <a:ext cx="2377440" cy="219456"/>
          </a:xfrm>
          <a:prstGeom prst="rect">
            <a:avLst/>
          </a:prstGeom>
          <a:noFill/>
        </p:spPr>
        <p:txBody>
          <a:bodyPr wrap="square" lIns="0" tIns="0" rIns="0" bIns="0" anchor="ctr">
            <a:spAutoFit/>
          </a:bodyPr>
          <a:lstStyle/>
          <a:p>
            <a:pPr algn="l"/>
            <a:r>
              <a:rPr sz="950" b="1">
                <a:solidFill>
                  <a:srgbClr val="1C1917"/>
                </a:solidFill>
                <a:latin typeface="Consolas"/>
              </a:rPr>
              <a:t>hot_locations</a:t>
            </a:r>
          </a:p>
        </p:txBody>
      </p:sp>
      <p:sp>
        <p:nvSpPr>
          <p:cNvPr id="38" name="a1ud120_pill37"/>
          <p:cNvSpPr/>
          <p:nvPr/>
        </p:nvSpPr>
        <p:spPr>
          <a:xfrm>
            <a:off x="7223760" y="1700784"/>
            <a:ext cx="1051560" cy="201168"/>
          </a:xfrm>
          <a:prstGeom prst="roundRect">
            <a:avLst>
              <a:gd name="adj" fmla="val 50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9F1239"/>
                </a:solidFill>
                <a:latin typeface="Consolas"/>
              </a:rPr>
              <a:t>JSON</a:t>
            </a:r>
          </a:p>
        </p:txBody>
      </p:sp>
      <p:sp>
        <p:nvSpPr>
          <p:cNvPr id="39" name="a1ud120_cell38"/>
          <p:cNvSpPr/>
          <p:nvPr/>
        </p:nvSpPr>
        <p:spPr>
          <a:xfrm>
            <a:off x="4709160" y="1956816"/>
            <a:ext cx="292608" cy="256032"/>
          </a:xfrm>
          <a:prstGeom prst="rect">
            <a:avLst/>
          </a:prstGeom>
          <a:solidFill>
            <a:srgbClr val="FFE4E6"/>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ud120_cellt39"/>
          <p:cNvSpPr txBox="1"/>
          <p:nvPr/>
        </p:nvSpPr>
        <p:spPr>
          <a:xfrm>
            <a:off x="4709160" y="1956816"/>
            <a:ext cx="292608" cy="256032"/>
          </a:xfrm>
          <a:prstGeom prst="rect">
            <a:avLst/>
          </a:prstGeom>
          <a:noFill/>
        </p:spPr>
        <p:txBody>
          <a:bodyPr wrap="square" lIns="0" tIns="0" rIns="0" bIns="0" anchor="ctr">
            <a:spAutoFit/>
          </a:bodyPr>
          <a:lstStyle/>
          <a:p>
            <a:pPr algn="ctr"/>
            <a:r>
              <a:rPr sz="700" b="1">
                <a:solidFill>
                  <a:srgbClr val="9F1239"/>
                </a:solidFill>
                <a:latin typeface="Consolas"/>
              </a:rPr>
              <a:t>0</a:t>
            </a:r>
          </a:p>
        </p:txBody>
      </p:sp>
      <p:sp>
        <p:nvSpPr>
          <p:cNvPr id="41" name="a1ud120_cell40"/>
          <p:cNvSpPr/>
          <p:nvPr/>
        </p:nvSpPr>
        <p:spPr>
          <a:xfrm>
            <a:off x="5001768" y="1956816"/>
            <a:ext cx="292608" cy="256032"/>
          </a:xfrm>
          <a:prstGeom prst="rect">
            <a:avLst/>
          </a:prstGeom>
          <a:solidFill>
            <a:srgbClr val="FFE4E6"/>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ud120_cellt41"/>
          <p:cNvSpPr txBox="1"/>
          <p:nvPr/>
        </p:nvSpPr>
        <p:spPr>
          <a:xfrm>
            <a:off x="5001768" y="1956816"/>
            <a:ext cx="292608" cy="256032"/>
          </a:xfrm>
          <a:prstGeom prst="rect">
            <a:avLst/>
          </a:prstGeom>
          <a:noFill/>
        </p:spPr>
        <p:txBody>
          <a:bodyPr wrap="square" lIns="0" tIns="0" rIns="0" bIns="0" anchor="ctr">
            <a:spAutoFit/>
          </a:bodyPr>
          <a:lstStyle/>
          <a:p>
            <a:pPr algn="ctr"/>
            <a:r>
              <a:rPr sz="700" b="1">
                <a:solidFill>
                  <a:srgbClr val="9F1239"/>
                </a:solidFill>
                <a:latin typeface="Consolas"/>
              </a:rPr>
              <a:t>1</a:t>
            </a:r>
          </a:p>
        </p:txBody>
      </p:sp>
      <p:sp>
        <p:nvSpPr>
          <p:cNvPr id="43" name="a1ud120_cell42"/>
          <p:cNvSpPr/>
          <p:nvPr/>
        </p:nvSpPr>
        <p:spPr>
          <a:xfrm>
            <a:off x="5294376" y="1956816"/>
            <a:ext cx="292608" cy="256032"/>
          </a:xfrm>
          <a:prstGeom prst="rect">
            <a:avLst/>
          </a:prstGeom>
          <a:solidFill>
            <a:srgbClr val="FFE4E6"/>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ud120_cellt43"/>
          <p:cNvSpPr txBox="1"/>
          <p:nvPr/>
        </p:nvSpPr>
        <p:spPr>
          <a:xfrm>
            <a:off x="5294376" y="1956816"/>
            <a:ext cx="292608" cy="256032"/>
          </a:xfrm>
          <a:prstGeom prst="rect">
            <a:avLst/>
          </a:prstGeom>
          <a:noFill/>
        </p:spPr>
        <p:txBody>
          <a:bodyPr wrap="square" lIns="0" tIns="0" rIns="0" bIns="0" anchor="ctr">
            <a:spAutoFit/>
          </a:bodyPr>
          <a:lstStyle/>
          <a:p>
            <a:pPr algn="ctr"/>
            <a:r>
              <a:rPr sz="700" b="1">
                <a:solidFill>
                  <a:srgbClr val="9F1239"/>
                </a:solidFill>
                <a:latin typeface="Consolas"/>
              </a:rPr>
              <a:t>2</a:t>
            </a:r>
          </a:p>
        </p:txBody>
      </p:sp>
      <p:sp>
        <p:nvSpPr>
          <p:cNvPr id="45" name="a1ud120_cell44"/>
          <p:cNvSpPr/>
          <p:nvPr/>
        </p:nvSpPr>
        <p:spPr>
          <a:xfrm>
            <a:off x="5586984" y="1956816"/>
            <a:ext cx="292608" cy="256032"/>
          </a:xfrm>
          <a:prstGeom prst="rect">
            <a:avLst/>
          </a:prstGeom>
          <a:solidFill>
            <a:srgbClr val="FFE4E6"/>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1ud120_cellt45"/>
          <p:cNvSpPr txBox="1"/>
          <p:nvPr/>
        </p:nvSpPr>
        <p:spPr>
          <a:xfrm>
            <a:off x="5586984" y="1956816"/>
            <a:ext cx="292608" cy="256032"/>
          </a:xfrm>
          <a:prstGeom prst="rect">
            <a:avLst/>
          </a:prstGeom>
          <a:noFill/>
        </p:spPr>
        <p:txBody>
          <a:bodyPr wrap="square" lIns="0" tIns="0" rIns="0" bIns="0" anchor="ctr">
            <a:spAutoFit/>
          </a:bodyPr>
          <a:lstStyle/>
          <a:p>
            <a:pPr algn="ctr"/>
            <a:r>
              <a:rPr sz="700" b="1">
                <a:solidFill>
                  <a:srgbClr val="9F1239"/>
                </a:solidFill>
                <a:latin typeface="Consolas"/>
              </a:rPr>
              <a:t>3</a:t>
            </a:r>
          </a:p>
        </p:txBody>
      </p:sp>
      <p:sp>
        <p:nvSpPr>
          <p:cNvPr id="47" name="a2ud120_tn46"/>
          <p:cNvSpPr txBox="1"/>
          <p:nvPr/>
        </p:nvSpPr>
        <p:spPr>
          <a:xfrm>
            <a:off x="685800" y="2350008"/>
            <a:ext cx="2377440" cy="219456"/>
          </a:xfrm>
          <a:prstGeom prst="rect">
            <a:avLst/>
          </a:prstGeom>
          <a:noFill/>
        </p:spPr>
        <p:txBody>
          <a:bodyPr wrap="square" lIns="0" tIns="0" rIns="0" bIns="0" anchor="ctr">
            <a:spAutoFit/>
          </a:bodyPr>
          <a:lstStyle/>
          <a:p>
            <a:pPr algn="l"/>
            <a:r>
              <a:rPr sz="950" b="1">
                <a:solidFill>
                  <a:srgbClr val="1C1917"/>
                </a:solidFill>
                <a:latin typeface="Consolas"/>
              </a:rPr>
              <a:t>orders</a:t>
            </a:r>
          </a:p>
        </p:txBody>
      </p:sp>
      <p:sp>
        <p:nvSpPr>
          <p:cNvPr id="48" name="a2ud120_pill47"/>
          <p:cNvSpPr/>
          <p:nvPr/>
        </p:nvSpPr>
        <p:spPr>
          <a:xfrm>
            <a:off x="3200400" y="2359152"/>
            <a:ext cx="1051560" cy="20116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0E7490"/>
                </a:solidFill>
                <a:latin typeface="Consolas"/>
              </a:rPr>
              <a:t>Avro</a:t>
            </a:r>
          </a:p>
        </p:txBody>
      </p:sp>
      <p:sp>
        <p:nvSpPr>
          <p:cNvPr id="49" name="a2ud120_cell48"/>
          <p:cNvSpPr/>
          <p:nvPr/>
        </p:nvSpPr>
        <p:spPr>
          <a:xfrm>
            <a:off x="685800"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2ud120_cellt49"/>
          <p:cNvSpPr txBox="1"/>
          <p:nvPr/>
        </p:nvSpPr>
        <p:spPr>
          <a:xfrm>
            <a:off x="685800"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0</a:t>
            </a:r>
          </a:p>
        </p:txBody>
      </p:sp>
      <p:sp>
        <p:nvSpPr>
          <p:cNvPr id="51" name="a2ud120_cell50"/>
          <p:cNvSpPr/>
          <p:nvPr/>
        </p:nvSpPr>
        <p:spPr>
          <a:xfrm>
            <a:off x="978408"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2ud120_cellt51"/>
          <p:cNvSpPr txBox="1"/>
          <p:nvPr/>
        </p:nvSpPr>
        <p:spPr>
          <a:xfrm>
            <a:off x="978408"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1</a:t>
            </a:r>
          </a:p>
        </p:txBody>
      </p:sp>
      <p:sp>
        <p:nvSpPr>
          <p:cNvPr id="53" name="a2ud120_cell52"/>
          <p:cNvSpPr/>
          <p:nvPr/>
        </p:nvSpPr>
        <p:spPr>
          <a:xfrm>
            <a:off x="1271016"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ud120_cellt53"/>
          <p:cNvSpPr txBox="1"/>
          <p:nvPr/>
        </p:nvSpPr>
        <p:spPr>
          <a:xfrm>
            <a:off x="1271016"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2</a:t>
            </a:r>
          </a:p>
        </p:txBody>
      </p:sp>
      <p:sp>
        <p:nvSpPr>
          <p:cNvPr id="55" name="a2ud120_cell54"/>
          <p:cNvSpPr/>
          <p:nvPr/>
        </p:nvSpPr>
        <p:spPr>
          <a:xfrm>
            <a:off x="1563624"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2ud120_cellt55"/>
          <p:cNvSpPr txBox="1"/>
          <p:nvPr/>
        </p:nvSpPr>
        <p:spPr>
          <a:xfrm>
            <a:off x="1563624"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3</a:t>
            </a:r>
          </a:p>
        </p:txBody>
      </p:sp>
      <p:sp>
        <p:nvSpPr>
          <p:cNvPr id="57" name="a2ud120_cell56"/>
          <p:cNvSpPr/>
          <p:nvPr/>
        </p:nvSpPr>
        <p:spPr>
          <a:xfrm>
            <a:off x="1856232"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2ud120_cellt57"/>
          <p:cNvSpPr txBox="1"/>
          <p:nvPr/>
        </p:nvSpPr>
        <p:spPr>
          <a:xfrm>
            <a:off x="1856232"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4</a:t>
            </a:r>
          </a:p>
        </p:txBody>
      </p:sp>
      <p:sp>
        <p:nvSpPr>
          <p:cNvPr id="59" name="a2ud120_cell58"/>
          <p:cNvSpPr/>
          <p:nvPr/>
        </p:nvSpPr>
        <p:spPr>
          <a:xfrm>
            <a:off x="2148840"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2ud120_cellt59"/>
          <p:cNvSpPr txBox="1"/>
          <p:nvPr/>
        </p:nvSpPr>
        <p:spPr>
          <a:xfrm>
            <a:off x="2148840"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5</a:t>
            </a:r>
          </a:p>
        </p:txBody>
      </p:sp>
      <p:sp>
        <p:nvSpPr>
          <p:cNvPr id="61" name="a2ud120_cell60"/>
          <p:cNvSpPr/>
          <p:nvPr/>
        </p:nvSpPr>
        <p:spPr>
          <a:xfrm>
            <a:off x="2441448"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2ud120_cellt61"/>
          <p:cNvSpPr txBox="1"/>
          <p:nvPr/>
        </p:nvSpPr>
        <p:spPr>
          <a:xfrm>
            <a:off x="2441448"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6</a:t>
            </a:r>
          </a:p>
        </p:txBody>
      </p:sp>
      <p:sp>
        <p:nvSpPr>
          <p:cNvPr id="63" name="a2ud120_cell62"/>
          <p:cNvSpPr/>
          <p:nvPr/>
        </p:nvSpPr>
        <p:spPr>
          <a:xfrm>
            <a:off x="2734056"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2ud120_cellt63"/>
          <p:cNvSpPr txBox="1"/>
          <p:nvPr/>
        </p:nvSpPr>
        <p:spPr>
          <a:xfrm>
            <a:off x="2734056"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7</a:t>
            </a:r>
          </a:p>
        </p:txBody>
      </p:sp>
      <p:sp>
        <p:nvSpPr>
          <p:cNvPr id="65" name="a2ud120_cell64"/>
          <p:cNvSpPr/>
          <p:nvPr/>
        </p:nvSpPr>
        <p:spPr>
          <a:xfrm>
            <a:off x="3026664" y="2615184"/>
            <a:ext cx="292608" cy="256032"/>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2ud120_cellt65"/>
          <p:cNvSpPr txBox="1"/>
          <p:nvPr/>
        </p:nvSpPr>
        <p:spPr>
          <a:xfrm>
            <a:off x="3026664" y="2615184"/>
            <a:ext cx="292608" cy="256032"/>
          </a:xfrm>
          <a:prstGeom prst="rect">
            <a:avLst/>
          </a:prstGeom>
          <a:noFill/>
        </p:spPr>
        <p:txBody>
          <a:bodyPr wrap="square" lIns="0" tIns="0" rIns="0" bIns="0" anchor="ctr">
            <a:spAutoFit/>
          </a:bodyPr>
          <a:lstStyle/>
          <a:p>
            <a:pPr algn="ctr"/>
            <a:r>
              <a:rPr sz="700" b="1">
                <a:solidFill>
                  <a:srgbClr val="0E7490"/>
                </a:solidFill>
                <a:latin typeface="Consolas"/>
              </a:rPr>
              <a:t>8</a:t>
            </a:r>
          </a:p>
        </p:txBody>
      </p:sp>
      <p:sp>
        <p:nvSpPr>
          <p:cNvPr id="67" name="a2ud240_tn66"/>
          <p:cNvSpPr txBox="1"/>
          <p:nvPr/>
        </p:nvSpPr>
        <p:spPr>
          <a:xfrm>
            <a:off x="4709160" y="2350008"/>
            <a:ext cx="2377440" cy="219456"/>
          </a:xfrm>
          <a:prstGeom prst="rect">
            <a:avLst/>
          </a:prstGeom>
          <a:noFill/>
        </p:spPr>
        <p:txBody>
          <a:bodyPr wrap="square" lIns="0" tIns="0" rIns="0" bIns="0" anchor="ctr">
            <a:spAutoFit/>
          </a:bodyPr>
          <a:lstStyle/>
          <a:p>
            <a:pPr algn="l"/>
            <a:r>
              <a:rPr sz="950" b="1">
                <a:solidFill>
                  <a:srgbClr val="1C1917"/>
                </a:solidFill>
                <a:latin typeface="Consolas"/>
              </a:rPr>
              <a:t>payments</a:t>
            </a:r>
          </a:p>
        </p:txBody>
      </p:sp>
      <p:sp>
        <p:nvSpPr>
          <p:cNvPr id="68" name="a2ud240_pill67"/>
          <p:cNvSpPr/>
          <p:nvPr/>
        </p:nvSpPr>
        <p:spPr>
          <a:xfrm>
            <a:off x="7223760" y="2359152"/>
            <a:ext cx="1051560" cy="201168"/>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A16207"/>
                </a:solidFill>
                <a:latin typeface="Consolas"/>
              </a:rPr>
              <a:t>Avro</a:t>
            </a:r>
          </a:p>
        </p:txBody>
      </p:sp>
      <p:sp>
        <p:nvSpPr>
          <p:cNvPr id="69" name="a2ud240_cell68"/>
          <p:cNvSpPr/>
          <p:nvPr/>
        </p:nvSpPr>
        <p:spPr>
          <a:xfrm>
            <a:off x="4709160" y="2615184"/>
            <a:ext cx="292608" cy="256032"/>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a2ud240_cellt69"/>
          <p:cNvSpPr txBox="1"/>
          <p:nvPr/>
        </p:nvSpPr>
        <p:spPr>
          <a:xfrm>
            <a:off x="4709160" y="2615184"/>
            <a:ext cx="292608" cy="256032"/>
          </a:xfrm>
          <a:prstGeom prst="rect">
            <a:avLst/>
          </a:prstGeom>
          <a:noFill/>
        </p:spPr>
        <p:txBody>
          <a:bodyPr wrap="square" lIns="0" tIns="0" rIns="0" bIns="0" anchor="ctr">
            <a:spAutoFit/>
          </a:bodyPr>
          <a:lstStyle/>
          <a:p>
            <a:pPr algn="ctr"/>
            <a:r>
              <a:rPr sz="700" b="1">
                <a:solidFill>
                  <a:srgbClr val="A16207"/>
                </a:solidFill>
                <a:latin typeface="Consolas"/>
              </a:rPr>
              <a:t>0</a:t>
            </a:r>
          </a:p>
        </p:txBody>
      </p:sp>
      <p:sp>
        <p:nvSpPr>
          <p:cNvPr id="71" name="a2ud240_cell70"/>
          <p:cNvSpPr/>
          <p:nvPr/>
        </p:nvSpPr>
        <p:spPr>
          <a:xfrm>
            <a:off x="5001768" y="2615184"/>
            <a:ext cx="292608" cy="256032"/>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a2ud240_cellt71"/>
          <p:cNvSpPr txBox="1"/>
          <p:nvPr/>
        </p:nvSpPr>
        <p:spPr>
          <a:xfrm>
            <a:off x="5001768" y="2615184"/>
            <a:ext cx="292608" cy="256032"/>
          </a:xfrm>
          <a:prstGeom prst="rect">
            <a:avLst/>
          </a:prstGeom>
          <a:noFill/>
        </p:spPr>
        <p:txBody>
          <a:bodyPr wrap="square" lIns="0" tIns="0" rIns="0" bIns="0" anchor="ctr">
            <a:spAutoFit/>
          </a:bodyPr>
          <a:lstStyle/>
          <a:p>
            <a:pPr algn="ctr"/>
            <a:r>
              <a:rPr sz="700" b="1">
                <a:solidFill>
                  <a:srgbClr val="A16207"/>
                </a:solidFill>
                <a:latin typeface="Consolas"/>
              </a:rPr>
              <a:t>1</a:t>
            </a:r>
          </a:p>
        </p:txBody>
      </p:sp>
      <p:sp>
        <p:nvSpPr>
          <p:cNvPr id="73" name="a2ud240_cell72"/>
          <p:cNvSpPr/>
          <p:nvPr/>
        </p:nvSpPr>
        <p:spPr>
          <a:xfrm>
            <a:off x="5294376" y="2615184"/>
            <a:ext cx="292608" cy="256032"/>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a2ud240_cellt73"/>
          <p:cNvSpPr txBox="1"/>
          <p:nvPr/>
        </p:nvSpPr>
        <p:spPr>
          <a:xfrm>
            <a:off x="5294376" y="2615184"/>
            <a:ext cx="292608" cy="256032"/>
          </a:xfrm>
          <a:prstGeom prst="rect">
            <a:avLst/>
          </a:prstGeom>
          <a:noFill/>
        </p:spPr>
        <p:txBody>
          <a:bodyPr wrap="square" lIns="0" tIns="0" rIns="0" bIns="0" anchor="ctr">
            <a:spAutoFit/>
          </a:bodyPr>
          <a:lstStyle/>
          <a:p>
            <a:pPr algn="ctr"/>
            <a:r>
              <a:rPr sz="700" b="1">
                <a:solidFill>
                  <a:srgbClr val="A16207"/>
                </a:solidFill>
                <a:latin typeface="Consolas"/>
              </a:rPr>
              <a:t>2</a:t>
            </a:r>
          </a:p>
        </p:txBody>
      </p:sp>
      <p:sp>
        <p:nvSpPr>
          <p:cNvPr id="75" name="a2ud240_cell74"/>
          <p:cNvSpPr/>
          <p:nvPr/>
        </p:nvSpPr>
        <p:spPr>
          <a:xfrm>
            <a:off x="5586984" y="2615184"/>
            <a:ext cx="292608" cy="256032"/>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a2ud240_cellt75"/>
          <p:cNvSpPr txBox="1"/>
          <p:nvPr/>
        </p:nvSpPr>
        <p:spPr>
          <a:xfrm>
            <a:off x="5586984" y="2615184"/>
            <a:ext cx="292608" cy="256032"/>
          </a:xfrm>
          <a:prstGeom prst="rect">
            <a:avLst/>
          </a:prstGeom>
          <a:noFill/>
        </p:spPr>
        <p:txBody>
          <a:bodyPr wrap="square" lIns="0" tIns="0" rIns="0" bIns="0" anchor="ctr">
            <a:spAutoFit/>
          </a:bodyPr>
          <a:lstStyle/>
          <a:p>
            <a:pPr algn="ctr"/>
            <a:r>
              <a:rPr sz="700" b="1">
                <a:solidFill>
                  <a:srgbClr val="A16207"/>
                </a:solidFill>
                <a:latin typeface="Consolas"/>
              </a:rPr>
              <a:t>3</a:t>
            </a:r>
          </a:p>
        </p:txBody>
      </p:sp>
      <p:sp>
        <p:nvSpPr>
          <p:cNvPr id="77" name="a2ud240_cell76"/>
          <p:cNvSpPr/>
          <p:nvPr/>
        </p:nvSpPr>
        <p:spPr>
          <a:xfrm>
            <a:off x="5879592" y="2615184"/>
            <a:ext cx="292608" cy="256032"/>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a2ud240_cellt77"/>
          <p:cNvSpPr txBox="1"/>
          <p:nvPr/>
        </p:nvSpPr>
        <p:spPr>
          <a:xfrm>
            <a:off x="5879592" y="2615184"/>
            <a:ext cx="292608" cy="256032"/>
          </a:xfrm>
          <a:prstGeom prst="rect">
            <a:avLst/>
          </a:prstGeom>
          <a:noFill/>
        </p:spPr>
        <p:txBody>
          <a:bodyPr wrap="square" lIns="0" tIns="0" rIns="0" bIns="0" anchor="ctr">
            <a:spAutoFit/>
          </a:bodyPr>
          <a:lstStyle/>
          <a:p>
            <a:pPr algn="ctr"/>
            <a:r>
              <a:rPr sz="700" b="1">
                <a:solidFill>
                  <a:srgbClr val="A16207"/>
                </a:solidFill>
                <a:latin typeface="Consolas"/>
              </a:rPr>
              <a:t>4</a:t>
            </a:r>
          </a:p>
        </p:txBody>
      </p:sp>
      <p:sp>
        <p:nvSpPr>
          <p:cNvPr id="79" name="a2ud240_cell78"/>
          <p:cNvSpPr/>
          <p:nvPr/>
        </p:nvSpPr>
        <p:spPr>
          <a:xfrm>
            <a:off x="6172200" y="2615184"/>
            <a:ext cx="292608" cy="256032"/>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a2ud240_cellt79"/>
          <p:cNvSpPr txBox="1"/>
          <p:nvPr/>
        </p:nvSpPr>
        <p:spPr>
          <a:xfrm>
            <a:off x="6172200" y="2615184"/>
            <a:ext cx="292608" cy="256032"/>
          </a:xfrm>
          <a:prstGeom prst="rect">
            <a:avLst/>
          </a:prstGeom>
          <a:noFill/>
        </p:spPr>
        <p:txBody>
          <a:bodyPr wrap="square" lIns="0" tIns="0" rIns="0" bIns="0" anchor="ctr">
            <a:spAutoFit/>
          </a:bodyPr>
          <a:lstStyle/>
          <a:p>
            <a:pPr algn="ctr"/>
            <a:r>
              <a:rPr sz="700" b="1">
                <a:solidFill>
                  <a:srgbClr val="A16207"/>
                </a:solidFill>
                <a:latin typeface="Consolas"/>
              </a:rPr>
              <a:t>5</a:t>
            </a:r>
          </a:p>
        </p:txBody>
      </p:sp>
      <p:sp>
        <p:nvSpPr>
          <p:cNvPr id="81" name="a2ud240_cell80"/>
          <p:cNvSpPr/>
          <p:nvPr/>
        </p:nvSpPr>
        <p:spPr>
          <a:xfrm>
            <a:off x="6464808" y="2615184"/>
            <a:ext cx="292608" cy="256032"/>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a2ud240_cellt81"/>
          <p:cNvSpPr txBox="1"/>
          <p:nvPr/>
        </p:nvSpPr>
        <p:spPr>
          <a:xfrm>
            <a:off x="6464808" y="2615184"/>
            <a:ext cx="292608" cy="256032"/>
          </a:xfrm>
          <a:prstGeom prst="rect">
            <a:avLst/>
          </a:prstGeom>
          <a:noFill/>
        </p:spPr>
        <p:txBody>
          <a:bodyPr wrap="square" lIns="0" tIns="0" rIns="0" bIns="0" anchor="ctr">
            <a:spAutoFit/>
          </a:bodyPr>
          <a:lstStyle/>
          <a:p>
            <a:pPr algn="ctr"/>
            <a:r>
              <a:rPr sz="700" b="1">
                <a:solidFill>
                  <a:srgbClr val="A16207"/>
                </a:solidFill>
                <a:latin typeface="Consolas"/>
              </a:rPr>
              <a:t>6</a:t>
            </a:r>
          </a:p>
        </p:txBody>
      </p:sp>
      <p:sp>
        <p:nvSpPr>
          <p:cNvPr id="83" name="a2ud240_tn82"/>
          <p:cNvSpPr txBox="1"/>
          <p:nvPr/>
        </p:nvSpPr>
        <p:spPr>
          <a:xfrm>
            <a:off x="685800" y="3008376"/>
            <a:ext cx="2377440" cy="219456"/>
          </a:xfrm>
          <a:prstGeom prst="rect">
            <a:avLst/>
          </a:prstGeom>
          <a:noFill/>
        </p:spPr>
        <p:txBody>
          <a:bodyPr wrap="square" lIns="0" tIns="0" rIns="0" bIns="0" anchor="ctr">
            <a:spAutoFit/>
          </a:bodyPr>
          <a:lstStyle/>
          <a:p>
            <a:pPr algn="l"/>
            <a:r>
              <a:rPr sz="950" b="1">
                <a:solidFill>
                  <a:srgbClr val="1C1917"/>
                </a:solidFill>
                <a:latin typeface="Consolas"/>
              </a:rPr>
              <a:t>page_views</a:t>
            </a:r>
          </a:p>
        </p:txBody>
      </p:sp>
      <p:sp>
        <p:nvSpPr>
          <p:cNvPr id="84" name="a2ud240_pill83"/>
          <p:cNvSpPr/>
          <p:nvPr/>
        </p:nvSpPr>
        <p:spPr>
          <a:xfrm>
            <a:off x="3200400" y="3017520"/>
            <a:ext cx="1051560" cy="20116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4F46E5"/>
                </a:solidFill>
                <a:latin typeface="Consolas"/>
              </a:rPr>
              <a:t>Protobuf</a:t>
            </a:r>
          </a:p>
        </p:txBody>
      </p:sp>
      <p:sp>
        <p:nvSpPr>
          <p:cNvPr id="85" name="a2ud240_cell84"/>
          <p:cNvSpPr/>
          <p:nvPr/>
        </p:nvSpPr>
        <p:spPr>
          <a:xfrm>
            <a:off x="685800"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a2ud240_cellt85"/>
          <p:cNvSpPr txBox="1"/>
          <p:nvPr/>
        </p:nvSpPr>
        <p:spPr>
          <a:xfrm>
            <a:off x="685800"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0</a:t>
            </a:r>
          </a:p>
        </p:txBody>
      </p:sp>
      <p:sp>
        <p:nvSpPr>
          <p:cNvPr id="87" name="a2ud240_cell86"/>
          <p:cNvSpPr/>
          <p:nvPr/>
        </p:nvSpPr>
        <p:spPr>
          <a:xfrm>
            <a:off x="978408"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a2ud240_cellt87"/>
          <p:cNvSpPr txBox="1"/>
          <p:nvPr/>
        </p:nvSpPr>
        <p:spPr>
          <a:xfrm>
            <a:off x="978408"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1</a:t>
            </a:r>
          </a:p>
        </p:txBody>
      </p:sp>
      <p:sp>
        <p:nvSpPr>
          <p:cNvPr id="89" name="a2ud240_cell88"/>
          <p:cNvSpPr/>
          <p:nvPr/>
        </p:nvSpPr>
        <p:spPr>
          <a:xfrm>
            <a:off x="1271016"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a2ud240_cellt89"/>
          <p:cNvSpPr txBox="1"/>
          <p:nvPr/>
        </p:nvSpPr>
        <p:spPr>
          <a:xfrm>
            <a:off x="1271016"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2</a:t>
            </a:r>
          </a:p>
        </p:txBody>
      </p:sp>
      <p:sp>
        <p:nvSpPr>
          <p:cNvPr id="91" name="a2ud240_cell90"/>
          <p:cNvSpPr/>
          <p:nvPr/>
        </p:nvSpPr>
        <p:spPr>
          <a:xfrm>
            <a:off x="1563624"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a2ud240_cellt91"/>
          <p:cNvSpPr txBox="1"/>
          <p:nvPr/>
        </p:nvSpPr>
        <p:spPr>
          <a:xfrm>
            <a:off x="1563624"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3</a:t>
            </a:r>
          </a:p>
        </p:txBody>
      </p:sp>
      <p:sp>
        <p:nvSpPr>
          <p:cNvPr id="93" name="a2ud240_cell92"/>
          <p:cNvSpPr/>
          <p:nvPr/>
        </p:nvSpPr>
        <p:spPr>
          <a:xfrm>
            <a:off x="1856232"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a2ud240_cellt93"/>
          <p:cNvSpPr txBox="1"/>
          <p:nvPr/>
        </p:nvSpPr>
        <p:spPr>
          <a:xfrm>
            <a:off x="1856232"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4</a:t>
            </a:r>
          </a:p>
        </p:txBody>
      </p:sp>
      <p:sp>
        <p:nvSpPr>
          <p:cNvPr id="95" name="a2ud240_cell94"/>
          <p:cNvSpPr/>
          <p:nvPr/>
        </p:nvSpPr>
        <p:spPr>
          <a:xfrm>
            <a:off x="2148840"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a2ud240_cellt95"/>
          <p:cNvSpPr txBox="1"/>
          <p:nvPr/>
        </p:nvSpPr>
        <p:spPr>
          <a:xfrm>
            <a:off x="2148840"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5</a:t>
            </a:r>
          </a:p>
        </p:txBody>
      </p:sp>
      <p:sp>
        <p:nvSpPr>
          <p:cNvPr id="97" name="a2ud240_cell96"/>
          <p:cNvSpPr/>
          <p:nvPr/>
        </p:nvSpPr>
        <p:spPr>
          <a:xfrm>
            <a:off x="2441448"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a2ud240_cellt97"/>
          <p:cNvSpPr txBox="1"/>
          <p:nvPr/>
        </p:nvSpPr>
        <p:spPr>
          <a:xfrm>
            <a:off x="2441448"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6</a:t>
            </a:r>
          </a:p>
        </p:txBody>
      </p:sp>
      <p:sp>
        <p:nvSpPr>
          <p:cNvPr id="99" name="a2ud240_cell98"/>
          <p:cNvSpPr/>
          <p:nvPr/>
        </p:nvSpPr>
        <p:spPr>
          <a:xfrm>
            <a:off x="2734056"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a2ud240_cellt99"/>
          <p:cNvSpPr txBox="1"/>
          <p:nvPr/>
        </p:nvSpPr>
        <p:spPr>
          <a:xfrm>
            <a:off x="2734056"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7</a:t>
            </a:r>
          </a:p>
        </p:txBody>
      </p:sp>
      <p:sp>
        <p:nvSpPr>
          <p:cNvPr id="101" name="a2ud240_cell100"/>
          <p:cNvSpPr/>
          <p:nvPr/>
        </p:nvSpPr>
        <p:spPr>
          <a:xfrm>
            <a:off x="3026664"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a2ud240_cellt101"/>
          <p:cNvSpPr txBox="1"/>
          <p:nvPr/>
        </p:nvSpPr>
        <p:spPr>
          <a:xfrm>
            <a:off x="3026664"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8</a:t>
            </a:r>
          </a:p>
        </p:txBody>
      </p:sp>
      <p:sp>
        <p:nvSpPr>
          <p:cNvPr id="103" name="a2ud240_cell102"/>
          <p:cNvSpPr/>
          <p:nvPr/>
        </p:nvSpPr>
        <p:spPr>
          <a:xfrm>
            <a:off x="3319272"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a2ud240_cellt103"/>
          <p:cNvSpPr txBox="1"/>
          <p:nvPr/>
        </p:nvSpPr>
        <p:spPr>
          <a:xfrm>
            <a:off x="3319272"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9</a:t>
            </a:r>
          </a:p>
        </p:txBody>
      </p:sp>
      <p:sp>
        <p:nvSpPr>
          <p:cNvPr id="105" name="a2ud240_cell104"/>
          <p:cNvSpPr/>
          <p:nvPr/>
        </p:nvSpPr>
        <p:spPr>
          <a:xfrm>
            <a:off x="3611880"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a2ud240_cellt105"/>
          <p:cNvSpPr txBox="1"/>
          <p:nvPr/>
        </p:nvSpPr>
        <p:spPr>
          <a:xfrm>
            <a:off x="3611880"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10</a:t>
            </a:r>
          </a:p>
        </p:txBody>
      </p:sp>
      <p:sp>
        <p:nvSpPr>
          <p:cNvPr id="107" name="a2ud240_cell106"/>
          <p:cNvSpPr/>
          <p:nvPr/>
        </p:nvSpPr>
        <p:spPr>
          <a:xfrm>
            <a:off x="3904487" y="3273552"/>
            <a:ext cx="292608" cy="256032"/>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a2ud240_cellt107"/>
          <p:cNvSpPr txBox="1"/>
          <p:nvPr/>
        </p:nvSpPr>
        <p:spPr>
          <a:xfrm>
            <a:off x="3904487" y="3273552"/>
            <a:ext cx="292608" cy="256032"/>
          </a:xfrm>
          <a:prstGeom prst="rect">
            <a:avLst/>
          </a:prstGeom>
          <a:noFill/>
        </p:spPr>
        <p:txBody>
          <a:bodyPr wrap="square" lIns="0" tIns="0" rIns="0" bIns="0" anchor="ctr">
            <a:spAutoFit/>
          </a:bodyPr>
          <a:lstStyle/>
          <a:p>
            <a:pPr algn="ctr"/>
            <a:r>
              <a:rPr sz="700" b="1">
                <a:solidFill>
                  <a:srgbClr val="4F46E5"/>
                </a:solidFill>
                <a:latin typeface="Consolas"/>
              </a:rPr>
              <a:t>11</a:t>
            </a:r>
          </a:p>
        </p:txBody>
      </p:sp>
      <p:sp>
        <p:nvSpPr>
          <p:cNvPr id="109" name="a2ud360_tn108"/>
          <p:cNvSpPr txBox="1"/>
          <p:nvPr/>
        </p:nvSpPr>
        <p:spPr>
          <a:xfrm>
            <a:off x="4709160" y="3008376"/>
            <a:ext cx="2377440" cy="219456"/>
          </a:xfrm>
          <a:prstGeom prst="rect">
            <a:avLst/>
          </a:prstGeom>
          <a:noFill/>
        </p:spPr>
        <p:txBody>
          <a:bodyPr wrap="square" lIns="0" tIns="0" rIns="0" bIns="0" anchor="ctr">
            <a:spAutoFit/>
          </a:bodyPr>
          <a:lstStyle/>
          <a:p>
            <a:pPr algn="l"/>
            <a:r>
              <a:rPr sz="950" b="1">
                <a:solidFill>
                  <a:srgbClr val="1C1917"/>
                </a:solidFill>
                <a:latin typeface="Consolas"/>
              </a:rPr>
              <a:t>user_signups</a:t>
            </a:r>
          </a:p>
        </p:txBody>
      </p:sp>
      <p:sp>
        <p:nvSpPr>
          <p:cNvPr id="110" name="a2ud360_pill109"/>
          <p:cNvSpPr/>
          <p:nvPr/>
        </p:nvSpPr>
        <p:spPr>
          <a:xfrm>
            <a:off x="7223760" y="3017520"/>
            <a:ext cx="1051560" cy="201168"/>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15803D"/>
                </a:solidFill>
                <a:latin typeface="Consolas"/>
              </a:rPr>
              <a:t>JSON Schema</a:t>
            </a:r>
          </a:p>
        </p:txBody>
      </p:sp>
      <p:sp>
        <p:nvSpPr>
          <p:cNvPr id="111" name="a2ud360_cell110"/>
          <p:cNvSpPr/>
          <p:nvPr/>
        </p:nvSpPr>
        <p:spPr>
          <a:xfrm>
            <a:off x="4709160" y="3273552"/>
            <a:ext cx="292608" cy="256032"/>
          </a:xfrm>
          <a:prstGeom prst="rect">
            <a:avLst/>
          </a:prstGeom>
          <a:solidFill>
            <a:srgbClr val="DCFCE7"/>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a2ud360_cellt111"/>
          <p:cNvSpPr txBox="1"/>
          <p:nvPr/>
        </p:nvSpPr>
        <p:spPr>
          <a:xfrm>
            <a:off x="4709160" y="3273552"/>
            <a:ext cx="292608" cy="256032"/>
          </a:xfrm>
          <a:prstGeom prst="rect">
            <a:avLst/>
          </a:prstGeom>
          <a:noFill/>
        </p:spPr>
        <p:txBody>
          <a:bodyPr wrap="square" lIns="0" tIns="0" rIns="0" bIns="0" anchor="ctr">
            <a:spAutoFit/>
          </a:bodyPr>
          <a:lstStyle/>
          <a:p>
            <a:pPr algn="ctr"/>
            <a:r>
              <a:rPr sz="700" b="1">
                <a:solidFill>
                  <a:srgbClr val="15803D"/>
                </a:solidFill>
                <a:latin typeface="Consolas"/>
              </a:rPr>
              <a:t>0</a:t>
            </a:r>
          </a:p>
        </p:txBody>
      </p:sp>
      <p:sp>
        <p:nvSpPr>
          <p:cNvPr id="113" name="a2ud360_cell112"/>
          <p:cNvSpPr/>
          <p:nvPr/>
        </p:nvSpPr>
        <p:spPr>
          <a:xfrm>
            <a:off x="5001768" y="3273552"/>
            <a:ext cx="292608" cy="256032"/>
          </a:xfrm>
          <a:prstGeom prst="rect">
            <a:avLst/>
          </a:prstGeom>
          <a:solidFill>
            <a:srgbClr val="DCFCE7"/>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a2ud360_cellt113"/>
          <p:cNvSpPr txBox="1"/>
          <p:nvPr/>
        </p:nvSpPr>
        <p:spPr>
          <a:xfrm>
            <a:off x="5001768" y="3273552"/>
            <a:ext cx="292608" cy="256032"/>
          </a:xfrm>
          <a:prstGeom prst="rect">
            <a:avLst/>
          </a:prstGeom>
          <a:noFill/>
        </p:spPr>
        <p:txBody>
          <a:bodyPr wrap="square" lIns="0" tIns="0" rIns="0" bIns="0" anchor="ctr">
            <a:spAutoFit/>
          </a:bodyPr>
          <a:lstStyle/>
          <a:p>
            <a:pPr algn="ctr"/>
            <a:r>
              <a:rPr sz="700" b="1">
                <a:solidFill>
                  <a:srgbClr val="15803D"/>
                </a:solidFill>
                <a:latin typeface="Consolas"/>
              </a:rPr>
              <a:t>1</a:t>
            </a:r>
          </a:p>
        </p:txBody>
      </p:sp>
      <p:sp>
        <p:nvSpPr>
          <p:cNvPr id="115" name="a2ud360_cell114"/>
          <p:cNvSpPr/>
          <p:nvPr/>
        </p:nvSpPr>
        <p:spPr>
          <a:xfrm>
            <a:off x="5294376" y="3273552"/>
            <a:ext cx="292608" cy="256032"/>
          </a:xfrm>
          <a:prstGeom prst="rect">
            <a:avLst/>
          </a:prstGeom>
          <a:solidFill>
            <a:srgbClr val="DCFCE7"/>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a2ud360_cellt115"/>
          <p:cNvSpPr txBox="1"/>
          <p:nvPr/>
        </p:nvSpPr>
        <p:spPr>
          <a:xfrm>
            <a:off x="5294376" y="3273552"/>
            <a:ext cx="292608" cy="256032"/>
          </a:xfrm>
          <a:prstGeom prst="rect">
            <a:avLst/>
          </a:prstGeom>
          <a:noFill/>
        </p:spPr>
        <p:txBody>
          <a:bodyPr wrap="square" lIns="0" tIns="0" rIns="0" bIns="0" anchor="ctr">
            <a:spAutoFit/>
          </a:bodyPr>
          <a:lstStyle/>
          <a:p>
            <a:pPr algn="ctr"/>
            <a:r>
              <a:rPr sz="700" b="1">
                <a:solidFill>
                  <a:srgbClr val="15803D"/>
                </a:solidFill>
                <a:latin typeface="Consolas"/>
              </a:rPr>
              <a:t>2</a:t>
            </a:r>
          </a:p>
        </p:txBody>
      </p:sp>
      <p:sp>
        <p:nvSpPr>
          <p:cNvPr id="117" name="a2ud360_cell116"/>
          <p:cNvSpPr/>
          <p:nvPr/>
        </p:nvSpPr>
        <p:spPr>
          <a:xfrm>
            <a:off x="5586984" y="3273552"/>
            <a:ext cx="292608" cy="256032"/>
          </a:xfrm>
          <a:prstGeom prst="rect">
            <a:avLst/>
          </a:prstGeom>
          <a:solidFill>
            <a:srgbClr val="DCFCE7"/>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a2ud360_cellt117"/>
          <p:cNvSpPr txBox="1"/>
          <p:nvPr/>
        </p:nvSpPr>
        <p:spPr>
          <a:xfrm>
            <a:off x="5586984" y="3273552"/>
            <a:ext cx="292608" cy="256032"/>
          </a:xfrm>
          <a:prstGeom prst="rect">
            <a:avLst/>
          </a:prstGeom>
          <a:noFill/>
        </p:spPr>
        <p:txBody>
          <a:bodyPr wrap="square" lIns="0" tIns="0" rIns="0" bIns="0" anchor="ctr">
            <a:spAutoFit/>
          </a:bodyPr>
          <a:lstStyle/>
          <a:p>
            <a:pPr algn="ctr"/>
            <a:r>
              <a:rPr sz="700" b="1">
                <a:solidFill>
                  <a:srgbClr val="15803D"/>
                </a:solidFill>
                <a:latin typeface="Consolas"/>
              </a:rPr>
              <a:t>3</a:t>
            </a:r>
          </a:p>
        </p:txBody>
      </p:sp>
      <p:sp>
        <p:nvSpPr>
          <p:cNvPr id="119" name="a2ud360_cell118"/>
          <p:cNvSpPr/>
          <p:nvPr/>
        </p:nvSpPr>
        <p:spPr>
          <a:xfrm>
            <a:off x="5879592" y="3273552"/>
            <a:ext cx="292608" cy="256032"/>
          </a:xfrm>
          <a:prstGeom prst="rect">
            <a:avLst/>
          </a:prstGeom>
          <a:solidFill>
            <a:srgbClr val="DCFCE7"/>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a2ud360_cellt119"/>
          <p:cNvSpPr txBox="1"/>
          <p:nvPr/>
        </p:nvSpPr>
        <p:spPr>
          <a:xfrm>
            <a:off x="5879592" y="3273552"/>
            <a:ext cx="292608" cy="256032"/>
          </a:xfrm>
          <a:prstGeom prst="rect">
            <a:avLst/>
          </a:prstGeom>
          <a:noFill/>
        </p:spPr>
        <p:txBody>
          <a:bodyPr wrap="square" lIns="0" tIns="0" rIns="0" bIns="0" anchor="ctr">
            <a:spAutoFit/>
          </a:bodyPr>
          <a:lstStyle/>
          <a:p>
            <a:pPr algn="ctr"/>
            <a:r>
              <a:rPr sz="700" b="1">
                <a:solidFill>
                  <a:srgbClr val="15803D"/>
                </a:solidFill>
                <a:latin typeface="Consolas"/>
              </a:rPr>
              <a:t>4</a:t>
            </a:r>
          </a:p>
        </p:txBody>
      </p:sp>
      <p:sp>
        <p:nvSpPr>
          <p:cNvPr id="121" name="a2ud500_lb120"/>
          <p:cNvSpPr txBox="1"/>
          <p:nvPr/>
        </p:nvSpPr>
        <p:spPr>
          <a:xfrm>
            <a:off x="4709160" y="3456432"/>
            <a:ext cx="3749039" cy="201168"/>
          </a:xfrm>
          <a:prstGeom prst="rect">
            <a:avLst/>
          </a:prstGeom>
          <a:noFill/>
        </p:spPr>
        <p:txBody>
          <a:bodyPr wrap="square" lIns="0" tIns="0" rIns="0" bIns="0" anchor="ctr">
            <a:spAutoFit/>
          </a:bodyPr>
          <a:lstStyle/>
          <a:p>
            <a:pPr algn="r"/>
            <a:r>
              <a:rPr sz="950" b="1">
                <a:solidFill>
                  <a:srgbClr val="78716C"/>
                </a:solidFill>
                <a:latin typeface="Segoe UI"/>
              </a:rPr>
              <a:t>+ thousands more</a:t>
            </a:r>
          </a:p>
        </p:txBody>
      </p:sp>
      <p:sp>
        <p:nvSpPr>
          <p:cNvPr id="122" name="a3u_nb121"/>
          <p:cNvSpPr/>
          <p:nvPr/>
        </p:nvSpPr>
        <p:spPr>
          <a:xfrm>
            <a:off x="457200" y="3977639"/>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a3u_nacc122"/>
          <p:cNvSpPr/>
          <p:nvPr/>
        </p:nvSpPr>
        <p:spPr>
          <a:xfrm>
            <a:off x="457200" y="3977639"/>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a3u_nt123"/>
          <p:cNvSpPr txBox="1"/>
          <p:nvPr/>
        </p:nvSpPr>
        <p:spPr>
          <a:xfrm>
            <a:off x="658368" y="3977639"/>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Different topics hold different data, in different formats, for different purposes - that is how you keep a cluster organized.</a:t>
            </a:r>
          </a:p>
        </p:txBody>
      </p:sp>
      <p:sp>
        <p:nvSpPr>
          <p:cNvPr id="125" name="ft12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126" name="ft12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ft12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128" name="ft12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par>
                                <p:cTn id="114" presetID="2" presetClass="entr" presetSubtype="4"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ppt_y+0.1"/>
                                          </p:val>
                                        </p:tav>
                                        <p:tav tm="100000">
                                          <p:val>
                                            <p:strVal val="#ppt_y"/>
                                          </p:val>
                                        </p:tav>
                                      </p:tavLst>
                                    </p:anim>
                                    <p:animEffect transition="in" filter="fade">
                                      <p:cBhvr>
                                        <p:cTn id="113" dur="500"/>
                                        <p:tgtEl>
                                          <p:spTgt spid="32"/>
                                        </p:tgtEl>
                                      </p:cBhvr>
                                    </p:animEffect>
                                  </p:childTnLst>
                                </p:cTn>
                              </p:par>
                              <p:par>
                                <p:cTn id="119" presetID="2" presetClass="entr" presetSubtype="4" fill="hold" grpId="0" nodeType="withEffect">
                                  <p:stCondLst>
                                    <p:cond delay="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ppt_y+0.1"/>
                                          </p:val>
                                        </p:tav>
                                        <p:tav tm="100000">
                                          <p:val>
                                            <p:strVal val="#ppt_y"/>
                                          </p:val>
                                        </p:tav>
                                      </p:tavLst>
                                    </p:anim>
                                    <p:animEffect transition="in" filter="fade">
                                      <p:cBhvr>
                                        <p:cTn id="123" dur="500"/>
                                        <p:tgtEl>
                                          <p:spTgt spid="34"/>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ppt_x</p:attrName>
                                        </p:attrNameLst>
                                      </p:cBhvr>
                                      <p:tavLst>
                                        <p:tav tm="0">
                                          <p:val>
                                            <p:strVal val="#ppt_x"/>
                                          </p:val>
                                        </p:tav>
                                        <p:tav tm="100000">
                                          <p:val>
                                            <p:strVal val="#ppt_x"/>
                                          </p:val>
                                        </p:tav>
                                      </p:tavLst>
                                    </p:anim>
                                    <p:anim calcmode="lin" valueType="num">
                                      <p:cBhvr additive="base">
                                        <p:cTn id="127" dur="500" fill="hold"/>
                                        <p:tgtEl>
                                          <p:spTgt spid="35"/>
                                        </p:tgtEl>
                                        <p:attrNameLst>
                                          <p:attrName>ppt_y</p:attrName>
                                        </p:attrNameLst>
                                      </p:cBhvr>
                                      <p:tavLst>
                                        <p:tav tm="0">
                                          <p:val>
                                            <p:strVal val="#ppt_y+0.1"/>
                                          </p:val>
                                        </p:tav>
                                        <p:tav tm="100000">
                                          <p:val>
                                            <p:strVal val="#ppt_y"/>
                                          </p:val>
                                        </p:tav>
                                      </p:tavLst>
                                    </p:anim>
                                    <p:animEffect transition="in" filter="fade">
                                      <p:cBhvr>
                                        <p:cTn id="128" dur="500"/>
                                        <p:tgtEl>
                                          <p:spTgt spid="35"/>
                                        </p:tgtEl>
                                      </p:cBhvr>
                                    </p:animEffect>
                                  </p:childTnLst>
                                </p:cTn>
                              </p:par>
                              <p:par>
                                <p:cTn id="134" presetID="2" presetClass="entr" presetSubtype="4" fill="hold" grpId="0" nodeType="withEffect">
                                  <p:stCondLst>
                                    <p:cond delay="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500" fill="hold"/>
                                        <p:tgtEl>
                                          <p:spTgt spid="36"/>
                                        </p:tgtEl>
                                        <p:attrNameLst>
                                          <p:attrName>ppt_x</p:attrName>
                                        </p:attrNameLst>
                                      </p:cBhvr>
                                      <p:tavLst>
                                        <p:tav tm="0">
                                          <p:val>
                                            <p:strVal val="#ppt_x"/>
                                          </p:val>
                                        </p:tav>
                                        <p:tav tm="100000">
                                          <p:val>
                                            <p:strVal val="#ppt_x"/>
                                          </p:val>
                                        </p:tav>
                                      </p:tavLst>
                                    </p:anim>
                                    <p:anim calcmode="lin" valueType="num">
                                      <p:cBhvr additive="base">
                                        <p:cTn id="132" dur="500" fill="hold"/>
                                        <p:tgtEl>
                                          <p:spTgt spid="36"/>
                                        </p:tgtEl>
                                        <p:attrNameLst>
                                          <p:attrName>ppt_y</p:attrName>
                                        </p:attrNameLst>
                                      </p:cBhvr>
                                      <p:tavLst>
                                        <p:tav tm="0">
                                          <p:val>
                                            <p:strVal val="#ppt_y+0.1"/>
                                          </p:val>
                                        </p:tav>
                                        <p:tav tm="100000">
                                          <p:val>
                                            <p:strVal val="#ppt_y"/>
                                          </p:val>
                                        </p:tav>
                                      </p:tavLst>
                                    </p:anim>
                                    <p:animEffect transition="in" filter="fade">
                                      <p:cBhvr>
                                        <p:cTn id="133" dur="500"/>
                                        <p:tgtEl>
                                          <p:spTgt spid="36"/>
                                        </p:tgtEl>
                                      </p:cBhvr>
                                    </p:animEffect>
                                  </p:childTnLst>
                                </p:cTn>
                              </p:par>
                              <p:par>
                                <p:cTn id="139" presetID="2" presetClass="entr" presetSubtype="4" fill="hold" grpId="0" nodeType="withEffect">
                                  <p:stCondLst>
                                    <p:cond delay="12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ppt_y+0.1"/>
                                          </p:val>
                                        </p:tav>
                                        <p:tav tm="100000">
                                          <p:val>
                                            <p:strVal val="#ppt_y"/>
                                          </p:val>
                                        </p:tav>
                                      </p:tavLst>
                                    </p:anim>
                                    <p:animEffect transition="in" filter="fade">
                                      <p:cBhvr>
                                        <p:cTn id="138" dur="500"/>
                                        <p:tgtEl>
                                          <p:spTgt spid="37"/>
                                        </p:tgtEl>
                                      </p:cBhvr>
                                    </p:animEffect>
                                  </p:childTnLst>
                                </p:cTn>
                              </p:par>
                              <p:par>
                                <p:cTn id="144" presetID="2" presetClass="entr" presetSubtype="4" fill="hold" grpId="0" nodeType="withEffect">
                                  <p:stCondLst>
                                    <p:cond delay="120"/>
                                  </p:stCondLst>
                                  <p:childTnLst>
                                    <p:set>
                                      <p:cBhvr>
                                        <p:cTn id="140" dur="1" fill="hold">
                                          <p:stCondLst>
                                            <p:cond delay="0"/>
                                          </p:stCondLst>
                                        </p:cTn>
                                        <p:tgtEl>
                                          <p:spTgt spid="38"/>
                                        </p:tgtEl>
                                        <p:attrNameLst>
                                          <p:attrName>style.visibility</p:attrName>
                                        </p:attrNameLst>
                                      </p:cBhvr>
                                      <p:to>
                                        <p:strVal val="visible"/>
                                      </p:to>
                                    </p:set>
                                    <p:anim calcmode="lin" valueType="num">
                                      <p:cBhvr additive="base">
                                        <p:cTn id="141" dur="500" fill="hold"/>
                                        <p:tgtEl>
                                          <p:spTgt spid="38"/>
                                        </p:tgtEl>
                                        <p:attrNameLst>
                                          <p:attrName>ppt_x</p:attrName>
                                        </p:attrNameLst>
                                      </p:cBhvr>
                                      <p:tavLst>
                                        <p:tav tm="0">
                                          <p:val>
                                            <p:strVal val="#ppt_x"/>
                                          </p:val>
                                        </p:tav>
                                        <p:tav tm="100000">
                                          <p:val>
                                            <p:strVal val="#ppt_x"/>
                                          </p:val>
                                        </p:tav>
                                      </p:tavLst>
                                    </p:anim>
                                    <p:anim calcmode="lin" valueType="num">
                                      <p:cBhvr additive="base">
                                        <p:cTn id="142" dur="500" fill="hold"/>
                                        <p:tgtEl>
                                          <p:spTgt spid="38"/>
                                        </p:tgtEl>
                                        <p:attrNameLst>
                                          <p:attrName>ppt_y</p:attrName>
                                        </p:attrNameLst>
                                      </p:cBhvr>
                                      <p:tavLst>
                                        <p:tav tm="0">
                                          <p:val>
                                            <p:strVal val="#ppt_y+0.1"/>
                                          </p:val>
                                        </p:tav>
                                        <p:tav tm="100000">
                                          <p:val>
                                            <p:strVal val="#ppt_y"/>
                                          </p:val>
                                        </p:tav>
                                      </p:tavLst>
                                    </p:anim>
                                    <p:animEffect transition="in" filter="fade">
                                      <p:cBhvr>
                                        <p:cTn id="143" dur="500"/>
                                        <p:tgtEl>
                                          <p:spTgt spid="38"/>
                                        </p:tgtEl>
                                      </p:cBhvr>
                                    </p:animEffect>
                                  </p:childTnLst>
                                </p:cTn>
                              </p:par>
                              <p:par>
                                <p:cTn id="149" presetID="2" presetClass="entr" presetSubtype="4" fill="hold" grpId="0" nodeType="withEffect">
                                  <p:stCondLst>
                                    <p:cond delay="120"/>
                                  </p:stCondLst>
                                  <p:childTnLst>
                                    <p:set>
                                      <p:cBhvr>
                                        <p:cTn id="145" dur="1" fill="hold">
                                          <p:stCondLst>
                                            <p:cond delay="0"/>
                                          </p:stCondLst>
                                        </p:cTn>
                                        <p:tgtEl>
                                          <p:spTgt spid="39"/>
                                        </p:tgtEl>
                                        <p:attrNameLst>
                                          <p:attrName>style.visibility</p:attrName>
                                        </p:attrNameLst>
                                      </p:cBhvr>
                                      <p:to>
                                        <p:strVal val="visible"/>
                                      </p:to>
                                    </p:set>
                                    <p:anim calcmode="lin" valueType="num">
                                      <p:cBhvr additive="base">
                                        <p:cTn id="146" dur="500" fill="hold"/>
                                        <p:tgtEl>
                                          <p:spTgt spid="39"/>
                                        </p:tgtEl>
                                        <p:attrNameLst>
                                          <p:attrName>ppt_x</p:attrName>
                                        </p:attrNameLst>
                                      </p:cBhvr>
                                      <p:tavLst>
                                        <p:tav tm="0">
                                          <p:val>
                                            <p:strVal val="#ppt_x"/>
                                          </p:val>
                                        </p:tav>
                                        <p:tav tm="100000">
                                          <p:val>
                                            <p:strVal val="#ppt_x"/>
                                          </p:val>
                                        </p:tav>
                                      </p:tavLst>
                                    </p:anim>
                                    <p:anim calcmode="lin" valueType="num">
                                      <p:cBhvr additive="base">
                                        <p:cTn id="147" dur="500" fill="hold"/>
                                        <p:tgtEl>
                                          <p:spTgt spid="39"/>
                                        </p:tgtEl>
                                        <p:attrNameLst>
                                          <p:attrName>ppt_y</p:attrName>
                                        </p:attrNameLst>
                                      </p:cBhvr>
                                      <p:tavLst>
                                        <p:tav tm="0">
                                          <p:val>
                                            <p:strVal val="#ppt_y+0.1"/>
                                          </p:val>
                                        </p:tav>
                                        <p:tav tm="100000">
                                          <p:val>
                                            <p:strVal val="#ppt_y"/>
                                          </p:val>
                                        </p:tav>
                                      </p:tavLst>
                                    </p:anim>
                                    <p:animEffect transition="in" filter="fade">
                                      <p:cBhvr>
                                        <p:cTn id="148" dur="500"/>
                                        <p:tgtEl>
                                          <p:spTgt spid="39"/>
                                        </p:tgtEl>
                                      </p:cBhvr>
                                    </p:animEffect>
                                  </p:childTnLst>
                                </p:cTn>
                              </p:par>
                              <p:par>
                                <p:cTn id="154" presetID="2" presetClass="entr" presetSubtype="4" fill="hold" grpId="0" nodeType="withEffect">
                                  <p:stCondLst>
                                    <p:cond delay="120"/>
                                  </p:stCondLst>
                                  <p:childTnLst>
                                    <p:set>
                                      <p:cBhvr>
                                        <p:cTn id="150" dur="1" fill="hold">
                                          <p:stCondLst>
                                            <p:cond delay="0"/>
                                          </p:stCondLst>
                                        </p:cTn>
                                        <p:tgtEl>
                                          <p:spTgt spid="40"/>
                                        </p:tgtEl>
                                        <p:attrNameLst>
                                          <p:attrName>style.visibility</p:attrName>
                                        </p:attrNameLst>
                                      </p:cBhvr>
                                      <p:to>
                                        <p:strVal val="visible"/>
                                      </p:to>
                                    </p:set>
                                    <p:anim calcmode="lin" valueType="num">
                                      <p:cBhvr additive="base">
                                        <p:cTn id="151" dur="500" fill="hold"/>
                                        <p:tgtEl>
                                          <p:spTgt spid="40"/>
                                        </p:tgtEl>
                                        <p:attrNameLst>
                                          <p:attrName>ppt_x</p:attrName>
                                        </p:attrNameLst>
                                      </p:cBhvr>
                                      <p:tavLst>
                                        <p:tav tm="0">
                                          <p:val>
                                            <p:strVal val="#ppt_x"/>
                                          </p:val>
                                        </p:tav>
                                        <p:tav tm="100000">
                                          <p:val>
                                            <p:strVal val="#ppt_x"/>
                                          </p:val>
                                        </p:tav>
                                      </p:tavLst>
                                    </p:anim>
                                    <p:anim calcmode="lin" valueType="num">
                                      <p:cBhvr additive="base">
                                        <p:cTn id="152" dur="500" fill="hold"/>
                                        <p:tgtEl>
                                          <p:spTgt spid="40"/>
                                        </p:tgtEl>
                                        <p:attrNameLst>
                                          <p:attrName>ppt_y</p:attrName>
                                        </p:attrNameLst>
                                      </p:cBhvr>
                                      <p:tavLst>
                                        <p:tav tm="0">
                                          <p:val>
                                            <p:strVal val="#ppt_y+0.1"/>
                                          </p:val>
                                        </p:tav>
                                        <p:tav tm="100000">
                                          <p:val>
                                            <p:strVal val="#ppt_y"/>
                                          </p:val>
                                        </p:tav>
                                      </p:tavLst>
                                    </p:anim>
                                    <p:animEffect transition="in" filter="fade">
                                      <p:cBhvr>
                                        <p:cTn id="153" dur="500"/>
                                        <p:tgtEl>
                                          <p:spTgt spid="40"/>
                                        </p:tgtEl>
                                      </p:cBhvr>
                                    </p:animEffect>
                                  </p:childTnLst>
                                </p:cTn>
                              </p:par>
                              <p:par>
                                <p:cTn id="159" presetID="2" presetClass="entr" presetSubtype="4" fill="hold" grpId="0" nodeType="withEffect">
                                  <p:stCondLst>
                                    <p:cond delay="120"/>
                                  </p:stCondLst>
                                  <p:childTnLst>
                                    <p:set>
                                      <p:cBhvr>
                                        <p:cTn id="155" dur="1" fill="hold">
                                          <p:stCondLst>
                                            <p:cond delay="0"/>
                                          </p:stCondLst>
                                        </p:cTn>
                                        <p:tgtEl>
                                          <p:spTgt spid="41"/>
                                        </p:tgtEl>
                                        <p:attrNameLst>
                                          <p:attrName>style.visibility</p:attrName>
                                        </p:attrNameLst>
                                      </p:cBhvr>
                                      <p:to>
                                        <p:strVal val="visible"/>
                                      </p:to>
                                    </p:set>
                                    <p:anim calcmode="lin" valueType="num">
                                      <p:cBhvr additive="base">
                                        <p:cTn id="156" dur="500" fill="hold"/>
                                        <p:tgtEl>
                                          <p:spTgt spid="41"/>
                                        </p:tgtEl>
                                        <p:attrNameLst>
                                          <p:attrName>ppt_x</p:attrName>
                                        </p:attrNameLst>
                                      </p:cBhvr>
                                      <p:tavLst>
                                        <p:tav tm="0">
                                          <p:val>
                                            <p:strVal val="#ppt_x"/>
                                          </p:val>
                                        </p:tav>
                                        <p:tav tm="100000">
                                          <p:val>
                                            <p:strVal val="#ppt_x"/>
                                          </p:val>
                                        </p:tav>
                                      </p:tavLst>
                                    </p:anim>
                                    <p:anim calcmode="lin" valueType="num">
                                      <p:cBhvr additive="base">
                                        <p:cTn id="157" dur="500" fill="hold"/>
                                        <p:tgtEl>
                                          <p:spTgt spid="41"/>
                                        </p:tgtEl>
                                        <p:attrNameLst>
                                          <p:attrName>ppt_y</p:attrName>
                                        </p:attrNameLst>
                                      </p:cBhvr>
                                      <p:tavLst>
                                        <p:tav tm="0">
                                          <p:val>
                                            <p:strVal val="#ppt_y+0.1"/>
                                          </p:val>
                                        </p:tav>
                                        <p:tav tm="100000">
                                          <p:val>
                                            <p:strVal val="#ppt_y"/>
                                          </p:val>
                                        </p:tav>
                                      </p:tavLst>
                                    </p:anim>
                                    <p:animEffect transition="in" filter="fade">
                                      <p:cBhvr>
                                        <p:cTn id="158" dur="500"/>
                                        <p:tgtEl>
                                          <p:spTgt spid="41"/>
                                        </p:tgtEl>
                                      </p:cBhvr>
                                    </p:animEffect>
                                  </p:childTnLst>
                                </p:cTn>
                              </p:par>
                              <p:par>
                                <p:cTn id="164" presetID="2" presetClass="entr" presetSubtype="4" fill="hold" grpId="0" nodeType="withEffect">
                                  <p:stCondLst>
                                    <p:cond delay="120"/>
                                  </p:stCondLst>
                                  <p:childTnLst>
                                    <p:set>
                                      <p:cBhvr>
                                        <p:cTn id="160" dur="1" fill="hold">
                                          <p:stCondLst>
                                            <p:cond delay="0"/>
                                          </p:stCondLst>
                                        </p:cTn>
                                        <p:tgtEl>
                                          <p:spTgt spid="42"/>
                                        </p:tgtEl>
                                        <p:attrNameLst>
                                          <p:attrName>style.visibility</p:attrName>
                                        </p:attrNameLst>
                                      </p:cBhvr>
                                      <p:to>
                                        <p:strVal val="visible"/>
                                      </p:to>
                                    </p:set>
                                    <p:anim calcmode="lin" valueType="num">
                                      <p:cBhvr additive="base">
                                        <p:cTn id="161" dur="500" fill="hold"/>
                                        <p:tgtEl>
                                          <p:spTgt spid="42"/>
                                        </p:tgtEl>
                                        <p:attrNameLst>
                                          <p:attrName>ppt_x</p:attrName>
                                        </p:attrNameLst>
                                      </p:cBhvr>
                                      <p:tavLst>
                                        <p:tav tm="0">
                                          <p:val>
                                            <p:strVal val="#ppt_x"/>
                                          </p:val>
                                        </p:tav>
                                        <p:tav tm="100000">
                                          <p:val>
                                            <p:strVal val="#ppt_x"/>
                                          </p:val>
                                        </p:tav>
                                      </p:tavLst>
                                    </p:anim>
                                    <p:anim calcmode="lin" valueType="num">
                                      <p:cBhvr additive="base">
                                        <p:cTn id="162" dur="500" fill="hold"/>
                                        <p:tgtEl>
                                          <p:spTgt spid="42"/>
                                        </p:tgtEl>
                                        <p:attrNameLst>
                                          <p:attrName>ppt_y</p:attrName>
                                        </p:attrNameLst>
                                      </p:cBhvr>
                                      <p:tavLst>
                                        <p:tav tm="0">
                                          <p:val>
                                            <p:strVal val="#ppt_y+0.1"/>
                                          </p:val>
                                        </p:tav>
                                        <p:tav tm="100000">
                                          <p:val>
                                            <p:strVal val="#ppt_y"/>
                                          </p:val>
                                        </p:tav>
                                      </p:tavLst>
                                    </p:anim>
                                    <p:animEffect transition="in" filter="fade">
                                      <p:cBhvr>
                                        <p:cTn id="163" dur="500"/>
                                        <p:tgtEl>
                                          <p:spTgt spid="42"/>
                                        </p:tgtEl>
                                      </p:cBhvr>
                                    </p:animEffect>
                                  </p:childTnLst>
                                </p:cTn>
                              </p:par>
                              <p:par>
                                <p:cTn id="169" presetID="2" presetClass="entr" presetSubtype="4" fill="hold" grpId="0" nodeType="withEffect">
                                  <p:stCondLst>
                                    <p:cond delay="120"/>
                                  </p:stCondLst>
                                  <p:childTnLst>
                                    <p:set>
                                      <p:cBhvr>
                                        <p:cTn id="165" dur="1" fill="hold">
                                          <p:stCondLst>
                                            <p:cond delay="0"/>
                                          </p:stCondLst>
                                        </p:cTn>
                                        <p:tgtEl>
                                          <p:spTgt spid="43"/>
                                        </p:tgtEl>
                                        <p:attrNameLst>
                                          <p:attrName>style.visibility</p:attrName>
                                        </p:attrNameLst>
                                      </p:cBhvr>
                                      <p:to>
                                        <p:strVal val="visible"/>
                                      </p:to>
                                    </p:set>
                                    <p:anim calcmode="lin" valueType="num">
                                      <p:cBhvr additive="base">
                                        <p:cTn id="166" dur="500" fill="hold"/>
                                        <p:tgtEl>
                                          <p:spTgt spid="43"/>
                                        </p:tgtEl>
                                        <p:attrNameLst>
                                          <p:attrName>ppt_x</p:attrName>
                                        </p:attrNameLst>
                                      </p:cBhvr>
                                      <p:tavLst>
                                        <p:tav tm="0">
                                          <p:val>
                                            <p:strVal val="#ppt_x"/>
                                          </p:val>
                                        </p:tav>
                                        <p:tav tm="100000">
                                          <p:val>
                                            <p:strVal val="#ppt_x"/>
                                          </p:val>
                                        </p:tav>
                                      </p:tavLst>
                                    </p:anim>
                                    <p:anim calcmode="lin" valueType="num">
                                      <p:cBhvr additive="base">
                                        <p:cTn id="167" dur="500" fill="hold"/>
                                        <p:tgtEl>
                                          <p:spTgt spid="43"/>
                                        </p:tgtEl>
                                        <p:attrNameLst>
                                          <p:attrName>ppt_y</p:attrName>
                                        </p:attrNameLst>
                                      </p:cBhvr>
                                      <p:tavLst>
                                        <p:tav tm="0">
                                          <p:val>
                                            <p:strVal val="#ppt_y+0.1"/>
                                          </p:val>
                                        </p:tav>
                                        <p:tav tm="100000">
                                          <p:val>
                                            <p:strVal val="#ppt_y"/>
                                          </p:val>
                                        </p:tav>
                                      </p:tavLst>
                                    </p:anim>
                                    <p:animEffect transition="in" filter="fade">
                                      <p:cBhvr>
                                        <p:cTn id="168" dur="500"/>
                                        <p:tgtEl>
                                          <p:spTgt spid="43"/>
                                        </p:tgtEl>
                                      </p:cBhvr>
                                    </p:animEffect>
                                  </p:childTnLst>
                                </p:cTn>
                              </p:par>
                              <p:par>
                                <p:cTn id="174" presetID="2" presetClass="entr" presetSubtype="4" fill="hold" grpId="0" nodeType="withEffect">
                                  <p:stCondLst>
                                    <p:cond delay="120"/>
                                  </p:stCondLst>
                                  <p:childTnLst>
                                    <p:set>
                                      <p:cBhvr>
                                        <p:cTn id="170" dur="1" fill="hold">
                                          <p:stCondLst>
                                            <p:cond delay="0"/>
                                          </p:stCondLst>
                                        </p:cTn>
                                        <p:tgtEl>
                                          <p:spTgt spid="44"/>
                                        </p:tgtEl>
                                        <p:attrNameLst>
                                          <p:attrName>style.visibility</p:attrName>
                                        </p:attrNameLst>
                                      </p:cBhvr>
                                      <p:to>
                                        <p:strVal val="visible"/>
                                      </p:to>
                                    </p:set>
                                    <p:anim calcmode="lin" valueType="num">
                                      <p:cBhvr additive="base">
                                        <p:cTn id="171" dur="500" fill="hold"/>
                                        <p:tgtEl>
                                          <p:spTgt spid="44"/>
                                        </p:tgtEl>
                                        <p:attrNameLst>
                                          <p:attrName>ppt_x</p:attrName>
                                        </p:attrNameLst>
                                      </p:cBhvr>
                                      <p:tavLst>
                                        <p:tav tm="0">
                                          <p:val>
                                            <p:strVal val="#ppt_x"/>
                                          </p:val>
                                        </p:tav>
                                        <p:tav tm="100000">
                                          <p:val>
                                            <p:strVal val="#ppt_x"/>
                                          </p:val>
                                        </p:tav>
                                      </p:tavLst>
                                    </p:anim>
                                    <p:anim calcmode="lin" valueType="num">
                                      <p:cBhvr additive="base">
                                        <p:cTn id="172" dur="500" fill="hold"/>
                                        <p:tgtEl>
                                          <p:spTgt spid="44"/>
                                        </p:tgtEl>
                                        <p:attrNameLst>
                                          <p:attrName>ppt_y</p:attrName>
                                        </p:attrNameLst>
                                      </p:cBhvr>
                                      <p:tavLst>
                                        <p:tav tm="0">
                                          <p:val>
                                            <p:strVal val="#ppt_y+0.1"/>
                                          </p:val>
                                        </p:tav>
                                        <p:tav tm="100000">
                                          <p:val>
                                            <p:strVal val="#ppt_y"/>
                                          </p:val>
                                        </p:tav>
                                      </p:tavLst>
                                    </p:anim>
                                    <p:animEffect transition="in" filter="fade">
                                      <p:cBhvr>
                                        <p:cTn id="173" dur="500"/>
                                        <p:tgtEl>
                                          <p:spTgt spid="44"/>
                                        </p:tgtEl>
                                      </p:cBhvr>
                                    </p:animEffect>
                                  </p:childTnLst>
                                </p:cTn>
                              </p:par>
                              <p:par>
                                <p:cTn id="179" presetID="2" presetClass="entr" presetSubtype="4" fill="hold" grpId="0" nodeType="withEffect">
                                  <p:stCondLst>
                                    <p:cond delay="120"/>
                                  </p:stCondLst>
                                  <p:childTnLst>
                                    <p:set>
                                      <p:cBhvr>
                                        <p:cTn id="175" dur="1" fill="hold">
                                          <p:stCondLst>
                                            <p:cond delay="0"/>
                                          </p:stCondLst>
                                        </p:cTn>
                                        <p:tgtEl>
                                          <p:spTgt spid="45"/>
                                        </p:tgtEl>
                                        <p:attrNameLst>
                                          <p:attrName>style.visibility</p:attrName>
                                        </p:attrNameLst>
                                      </p:cBhvr>
                                      <p:to>
                                        <p:strVal val="visible"/>
                                      </p:to>
                                    </p:set>
                                    <p:anim calcmode="lin" valueType="num">
                                      <p:cBhvr additive="base">
                                        <p:cTn id="176" dur="500" fill="hold"/>
                                        <p:tgtEl>
                                          <p:spTgt spid="45"/>
                                        </p:tgtEl>
                                        <p:attrNameLst>
                                          <p:attrName>ppt_x</p:attrName>
                                        </p:attrNameLst>
                                      </p:cBhvr>
                                      <p:tavLst>
                                        <p:tav tm="0">
                                          <p:val>
                                            <p:strVal val="#ppt_x"/>
                                          </p:val>
                                        </p:tav>
                                        <p:tav tm="100000">
                                          <p:val>
                                            <p:strVal val="#ppt_x"/>
                                          </p:val>
                                        </p:tav>
                                      </p:tavLst>
                                    </p:anim>
                                    <p:anim calcmode="lin" valueType="num">
                                      <p:cBhvr additive="base">
                                        <p:cTn id="177" dur="500" fill="hold"/>
                                        <p:tgtEl>
                                          <p:spTgt spid="45"/>
                                        </p:tgtEl>
                                        <p:attrNameLst>
                                          <p:attrName>ppt_y</p:attrName>
                                        </p:attrNameLst>
                                      </p:cBhvr>
                                      <p:tavLst>
                                        <p:tav tm="0">
                                          <p:val>
                                            <p:strVal val="#ppt_y+0.1"/>
                                          </p:val>
                                        </p:tav>
                                        <p:tav tm="100000">
                                          <p:val>
                                            <p:strVal val="#ppt_y"/>
                                          </p:val>
                                        </p:tav>
                                      </p:tavLst>
                                    </p:anim>
                                    <p:animEffect transition="in" filter="fade">
                                      <p:cBhvr>
                                        <p:cTn id="178" dur="500"/>
                                        <p:tgtEl>
                                          <p:spTgt spid="45"/>
                                        </p:tgtEl>
                                      </p:cBhvr>
                                    </p:animEffect>
                                  </p:childTnLst>
                                </p:cTn>
                              </p:par>
                              <p:par>
                                <p:cTn id="184" presetID="2" presetClass="entr" presetSubtype="4" fill="hold" grpId="0" nodeType="withEffect">
                                  <p:stCondLst>
                                    <p:cond delay="120"/>
                                  </p:stCondLst>
                                  <p:childTnLst>
                                    <p:set>
                                      <p:cBhvr>
                                        <p:cTn id="180" dur="1" fill="hold">
                                          <p:stCondLst>
                                            <p:cond delay="0"/>
                                          </p:stCondLst>
                                        </p:cTn>
                                        <p:tgtEl>
                                          <p:spTgt spid="46"/>
                                        </p:tgtEl>
                                        <p:attrNameLst>
                                          <p:attrName>style.visibility</p:attrName>
                                        </p:attrNameLst>
                                      </p:cBhvr>
                                      <p:to>
                                        <p:strVal val="visible"/>
                                      </p:to>
                                    </p:set>
                                    <p:anim calcmode="lin" valueType="num">
                                      <p:cBhvr additive="base">
                                        <p:cTn id="181" dur="500" fill="hold"/>
                                        <p:tgtEl>
                                          <p:spTgt spid="46"/>
                                        </p:tgtEl>
                                        <p:attrNameLst>
                                          <p:attrName>ppt_x</p:attrName>
                                        </p:attrNameLst>
                                      </p:cBhvr>
                                      <p:tavLst>
                                        <p:tav tm="0">
                                          <p:val>
                                            <p:strVal val="#ppt_x"/>
                                          </p:val>
                                        </p:tav>
                                        <p:tav tm="100000">
                                          <p:val>
                                            <p:strVal val="#ppt_x"/>
                                          </p:val>
                                        </p:tav>
                                      </p:tavLst>
                                    </p:anim>
                                    <p:anim calcmode="lin" valueType="num">
                                      <p:cBhvr additive="base">
                                        <p:cTn id="182" dur="500" fill="hold"/>
                                        <p:tgtEl>
                                          <p:spTgt spid="46"/>
                                        </p:tgtEl>
                                        <p:attrNameLst>
                                          <p:attrName>ppt_y</p:attrName>
                                        </p:attrNameLst>
                                      </p:cBhvr>
                                      <p:tavLst>
                                        <p:tav tm="0">
                                          <p:val>
                                            <p:strVal val="#ppt_y+0.1"/>
                                          </p:val>
                                        </p:tav>
                                        <p:tav tm="100000">
                                          <p:val>
                                            <p:strVal val="#ppt_y"/>
                                          </p:val>
                                        </p:tav>
                                      </p:tavLst>
                                    </p:anim>
                                    <p:animEffect transition="in" filter="fade">
                                      <p:cBhvr>
                                        <p:cTn id="183" dur="500"/>
                                        <p:tgtEl>
                                          <p:spTgt spid="46"/>
                                        </p:tgtEl>
                                      </p:cBhvr>
                                    </p:animEffect>
                                  </p:childTnLst>
                                </p:cTn>
                              </p:par>
                            </p:childTnLst>
                          </p:cTn>
                        </p:par>
                      </p:childTnLst>
                    </p:cTn>
                  </p:par>
                  <p:par>
                    <p:cTn id="185" fill="hold">
                      <p:stCondLst>
                        <p:cond delay="indefinite"/>
                      </p:stCondLst>
                      <p:childTnLst>
                        <p:par>
                          <p:cTn id="186" fill="hold">
                            <p:stCondLst>
                              <p:cond delay="0"/>
                            </p:stCondLst>
                            <p:childTnLst>
                              <p:par>
                                <p:cTn id="191" presetID="2" presetClass="entr" presetSubtype="4" fill="hold" grpId="0" nodeType="clickEffect">
                                  <p:stCondLst>
                                    <p:cond delay="12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par>
                                <p:cTn id="196" presetID="2" presetClass="entr" presetSubtype="4" fill="hold" grpId="0" nodeType="withEffect">
                                  <p:stCondLst>
                                    <p:cond delay="12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ppt_x"/>
                                          </p:val>
                                        </p:tav>
                                        <p:tav tm="100000">
                                          <p:val>
                                            <p:strVal val="#ppt_x"/>
                                          </p:val>
                                        </p:tav>
                                      </p:tavLst>
                                    </p:anim>
                                    <p:anim calcmode="lin" valueType="num">
                                      <p:cBhvr additive="base">
                                        <p:cTn id="194" dur="500" fill="hold"/>
                                        <p:tgtEl>
                                          <p:spTgt spid="48"/>
                                        </p:tgtEl>
                                        <p:attrNameLst>
                                          <p:attrName>ppt_y</p:attrName>
                                        </p:attrNameLst>
                                      </p:cBhvr>
                                      <p:tavLst>
                                        <p:tav tm="0">
                                          <p:val>
                                            <p:strVal val="#ppt_y+0.1"/>
                                          </p:val>
                                        </p:tav>
                                        <p:tav tm="100000">
                                          <p:val>
                                            <p:strVal val="#ppt_y"/>
                                          </p:val>
                                        </p:tav>
                                      </p:tavLst>
                                    </p:anim>
                                    <p:animEffect transition="in" filter="fade">
                                      <p:cBhvr>
                                        <p:cTn id="195" dur="500"/>
                                        <p:tgtEl>
                                          <p:spTgt spid="48"/>
                                        </p:tgtEl>
                                      </p:cBhvr>
                                    </p:animEffect>
                                  </p:childTnLst>
                                </p:cTn>
                              </p:par>
                              <p:par>
                                <p:cTn id="201" presetID="2" presetClass="entr" presetSubtype="4" fill="hold" grpId="0" nodeType="withEffect">
                                  <p:stCondLst>
                                    <p:cond delay="120"/>
                                  </p:stCondLst>
                                  <p:childTnLst>
                                    <p:set>
                                      <p:cBhvr>
                                        <p:cTn id="197" dur="1" fill="hold">
                                          <p:stCondLst>
                                            <p:cond delay="0"/>
                                          </p:stCondLst>
                                        </p:cTn>
                                        <p:tgtEl>
                                          <p:spTgt spid="49"/>
                                        </p:tgtEl>
                                        <p:attrNameLst>
                                          <p:attrName>style.visibility</p:attrName>
                                        </p:attrNameLst>
                                      </p:cBhvr>
                                      <p:to>
                                        <p:strVal val="visible"/>
                                      </p:to>
                                    </p:set>
                                    <p:anim calcmode="lin" valueType="num">
                                      <p:cBhvr additive="base">
                                        <p:cTn id="198" dur="500" fill="hold"/>
                                        <p:tgtEl>
                                          <p:spTgt spid="49"/>
                                        </p:tgtEl>
                                        <p:attrNameLst>
                                          <p:attrName>ppt_x</p:attrName>
                                        </p:attrNameLst>
                                      </p:cBhvr>
                                      <p:tavLst>
                                        <p:tav tm="0">
                                          <p:val>
                                            <p:strVal val="#ppt_x"/>
                                          </p:val>
                                        </p:tav>
                                        <p:tav tm="100000">
                                          <p:val>
                                            <p:strVal val="#ppt_x"/>
                                          </p:val>
                                        </p:tav>
                                      </p:tavLst>
                                    </p:anim>
                                    <p:anim calcmode="lin" valueType="num">
                                      <p:cBhvr additive="base">
                                        <p:cTn id="199" dur="500" fill="hold"/>
                                        <p:tgtEl>
                                          <p:spTgt spid="49"/>
                                        </p:tgtEl>
                                        <p:attrNameLst>
                                          <p:attrName>ppt_y</p:attrName>
                                        </p:attrNameLst>
                                      </p:cBhvr>
                                      <p:tavLst>
                                        <p:tav tm="0">
                                          <p:val>
                                            <p:strVal val="#ppt_y+0.1"/>
                                          </p:val>
                                        </p:tav>
                                        <p:tav tm="100000">
                                          <p:val>
                                            <p:strVal val="#ppt_y"/>
                                          </p:val>
                                        </p:tav>
                                      </p:tavLst>
                                    </p:anim>
                                    <p:animEffect transition="in" filter="fade">
                                      <p:cBhvr>
                                        <p:cTn id="200" dur="500"/>
                                        <p:tgtEl>
                                          <p:spTgt spid="49"/>
                                        </p:tgtEl>
                                      </p:cBhvr>
                                    </p:animEffect>
                                  </p:childTnLst>
                                </p:cTn>
                              </p:par>
                              <p:par>
                                <p:cTn id="206" presetID="2" presetClass="entr" presetSubtype="4" fill="hold" grpId="0" nodeType="withEffect">
                                  <p:stCondLst>
                                    <p:cond delay="12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ppt_y+0.1"/>
                                          </p:val>
                                        </p:tav>
                                        <p:tav tm="100000">
                                          <p:val>
                                            <p:strVal val="#ppt_y"/>
                                          </p:val>
                                        </p:tav>
                                      </p:tavLst>
                                    </p:anim>
                                    <p:animEffect transition="in" filter="fade">
                                      <p:cBhvr>
                                        <p:cTn id="205" dur="500"/>
                                        <p:tgtEl>
                                          <p:spTgt spid="50"/>
                                        </p:tgtEl>
                                      </p:cBhvr>
                                    </p:animEffect>
                                  </p:childTnLst>
                                </p:cTn>
                              </p:par>
                              <p:par>
                                <p:cTn id="211" presetID="2" presetClass="entr" presetSubtype="4" fill="hold" grpId="0" nodeType="withEffect">
                                  <p:stCondLst>
                                    <p:cond delay="120"/>
                                  </p:stCondLst>
                                  <p:childTnLst>
                                    <p:set>
                                      <p:cBhvr>
                                        <p:cTn id="207" dur="1" fill="hold">
                                          <p:stCondLst>
                                            <p:cond delay="0"/>
                                          </p:stCondLst>
                                        </p:cTn>
                                        <p:tgtEl>
                                          <p:spTgt spid="51"/>
                                        </p:tgtEl>
                                        <p:attrNameLst>
                                          <p:attrName>style.visibility</p:attrName>
                                        </p:attrNameLst>
                                      </p:cBhvr>
                                      <p:to>
                                        <p:strVal val="visible"/>
                                      </p:to>
                                    </p:set>
                                    <p:anim calcmode="lin" valueType="num">
                                      <p:cBhvr additive="base">
                                        <p:cTn id="208" dur="500" fill="hold"/>
                                        <p:tgtEl>
                                          <p:spTgt spid="51"/>
                                        </p:tgtEl>
                                        <p:attrNameLst>
                                          <p:attrName>ppt_x</p:attrName>
                                        </p:attrNameLst>
                                      </p:cBhvr>
                                      <p:tavLst>
                                        <p:tav tm="0">
                                          <p:val>
                                            <p:strVal val="#ppt_x"/>
                                          </p:val>
                                        </p:tav>
                                        <p:tav tm="100000">
                                          <p:val>
                                            <p:strVal val="#ppt_x"/>
                                          </p:val>
                                        </p:tav>
                                      </p:tavLst>
                                    </p:anim>
                                    <p:anim calcmode="lin" valueType="num">
                                      <p:cBhvr additive="base">
                                        <p:cTn id="209" dur="500" fill="hold"/>
                                        <p:tgtEl>
                                          <p:spTgt spid="51"/>
                                        </p:tgtEl>
                                        <p:attrNameLst>
                                          <p:attrName>ppt_y</p:attrName>
                                        </p:attrNameLst>
                                      </p:cBhvr>
                                      <p:tavLst>
                                        <p:tav tm="0">
                                          <p:val>
                                            <p:strVal val="#ppt_y+0.1"/>
                                          </p:val>
                                        </p:tav>
                                        <p:tav tm="100000">
                                          <p:val>
                                            <p:strVal val="#ppt_y"/>
                                          </p:val>
                                        </p:tav>
                                      </p:tavLst>
                                    </p:anim>
                                    <p:animEffect transition="in" filter="fade">
                                      <p:cBhvr>
                                        <p:cTn id="210" dur="500"/>
                                        <p:tgtEl>
                                          <p:spTgt spid="51"/>
                                        </p:tgtEl>
                                      </p:cBhvr>
                                    </p:animEffect>
                                  </p:childTnLst>
                                </p:cTn>
                              </p:par>
                              <p:par>
                                <p:cTn id="216" presetID="2" presetClass="entr" presetSubtype="4" fill="hold" grpId="0" nodeType="withEffect">
                                  <p:stCondLst>
                                    <p:cond delay="12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00" fill="hold"/>
                                        <p:tgtEl>
                                          <p:spTgt spid="52"/>
                                        </p:tgtEl>
                                        <p:attrNameLst>
                                          <p:attrName>ppt_x</p:attrName>
                                        </p:attrNameLst>
                                      </p:cBhvr>
                                      <p:tavLst>
                                        <p:tav tm="0">
                                          <p:val>
                                            <p:strVal val="#ppt_x"/>
                                          </p:val>
                                        </p:tav>
                                        <p:tav tm="100000">
                                          <p:val>
                                            <p:strVal val="#ppt_x"/>
                                          </p:val>
                                        </p:tav>
                                      </p:tavLst>
                                    </p:anim>
                                    <p:anim calcmode="lin" valueType="num">
                                      <p:cBhvr additive="base">
                                        <p:cTn id="214" dur="500" fill="hold"/>
                                        <p:tgtEl>
                                          <p:spTgt spid="52"/>
                                        </p:tgtEl>
                                        <p:attrNameLst>
                                          <p:attrName>ppt_y</p:attrName>
                                        </p:attrNameLst>
                                      </p:cBhvr>
                                      <p:tavLst>
                                        <p:tav tm="0">
                                          <p:val>
                                            <p:strVal val="#ppt_y+0.1"/>
                                          </p:val>
                                        </p:tav>
                                        <p:tav tm="100000">
                                          <p:val>
                                            <p:strVal val="#ppt_y"/>
                                          </p:val>
                                        </p:tav>
                                      </p:tavLst>
                                    </p:anim>
                                    <p:animEffect transition="in" filter="fade">
                                      <p:cBhvr>
                                        <p:cTn id="215" dur="500"/>
                                        <p:tgtEl>
                                          <p:spTgt spid="52"/>
                                        </p:tgtEl>
                                      </p:cBhvr>
                                    </p:animEffect>
                                  </p:childTnLst>
                                </p:cTn>
                              </p:par>
                              <p:par>
                                <p:cTn id="221" presetID="2" presetClass="entr" presetSubtype="4" fill="hold" grpId="0" nodeType="withEffect">
                                  <p:stCondLst>
                                    <p:cond delay="12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6" presetID="2" presetClass="entr" presetSubtype="4" fill="hold" grpId="0" nodeType="withEffect">
                                  <p:stCondLst>
                                    <p:cond delay="12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par>
                                <p:cTn id="231" presetID="2" presetClass="entr" presetSubtype="4" fill="hold" grpId="0" nodeType="withEffect">
                                  <p:stCondLst>
                                    <p:cond delay="120"/>
                                  </p:stCondLst>
                                  <p:childTnLst>
                                    <p:set>
                                      <p:cBhvr>
                                        <p:cTn id="227" dur="1" fill="hold">
                                          <p:stCondLst>
                                            <p:cond delay="0"/>
                                          </p:stCondLst>
                                        </p:cTn>
                                        <p:tgtEl>
                                          <p:spTgt spid="55"/>
                                        </p:tgtEl>
                                        <p:attrNameLst>
                                          <p:attrName>style.visibility</p:attrName>
                                        </p:attrNameLst>
                                      </p:cBhvr>
                                      <p:to>
                                        <p:strVal val="visible"/>
                                      </p:to>
                                    </p:set>
                                    <p:anim calcmode="lin" valueType="num">
                                      <p:cBhvr additive="base">
                                        <p:cTn id="228" dur="500" fill="hold"/>
                                        <p:tgtEl>
                                          <p:spTgt spid="55"/>
                                        </p:tgtEl>
                                        <p:attrNameLst>
                                          <p:attrName>ppt_x</p:attrName>
                                        </p:attrNameLst>
                                      </p:cBhvr>
                                      <p:tavLst>
                                        <p:tav tm="0">
                                          <p:val>
                                            <p:strVal val="#ppt_x"/>
                                          </p:val>
                                        </p:tav>
                                        <p:tav tm="100000">
                                          <p:val>
                                            <p:strVal val="#ppt_x"/>
                                          </p:val>
                                        </p:tav>
                                      </p:tavLst>
                                    </p:anim>
                                    <p:anim calcmode="lin" valueType="num">
                                      <p:cBhvr additive="base">
                                        <p:cTn id="229" dur="500" fill="hold"/>
                                        <p:tgtEl>
                                          <p:spTgt spid="55"/>
                                        </p:tgtEl>
                                        <p:attrNameLst>
                                          <p:attrName>ppt_y</p:attrName>
                                        </p:attrNameLst>
                                      </p:cBhvr>
                                      <p:tavLst>
                                        <p:tav tm="0">
                                          <p:val>
                                            <p:strVal val="#ppt_y+0.1"/>
                                          </p:val>
                                        </p:tav>
                                        <p:tav tm="100000">
                                          <p:val>
                                            <p:strVal val="#ppt_y"/>
                                          </p:val>
                                        </p:tav>
                                      </p:tavLst>
                                    </p:anim>
                                    <p:animEffect transition="in" filter="fade">
                                      <p:cBhvr>
                                        <p:cTn id="230" dur="500"/>
                                        <p:tgtEl>
                                          <p:spTgt spid="55"/>
                                        </p:tgtEl>
                                      </p:cBhvr>
                                    </p:animEffect>
                                  </p:childTnLst>
                                </p:cTn>
                              </p:par>
                              <p:par>
                                <p:cTn id="236" presetID="2" presetClass="entr" presetSubtype="4" fill="hold" grpId="0" nodeType="withEffect">
                                  <p:stCondLst>
                                    <p:cond delay="120"/>
                                  </p:stCondLst>
                                  <p:childTnLst>
                                    <p:set>
                                      <p:cBhvr>
                                        <p:cTn id="232" dur="1" fill="hold">
                                          <p:stCondLst>
                                            <p:cond delay="0"/>
                                          </p:stCondLst>
                                        </p:cTn>
                                        <p:tgtEl>
                                          <p:spTgt spid="56"/>
                                        </p:tgtEl>
                                        <p:attrNameLst>
                                          <p:attrName>style.visibility</p:attrName>
                                        </p:attrNameLst>
                                      </p:cBhvr>
                                      <p:to>
                                        <p:strVal val="visible"/>
                                      </p:to>
                                    </p:set>
                                    <p:anim calcmode="lin" valueType="num">
                                      <p:cBhvr additive="base">
                                        <p:cTn id="233" dur="500" fill="hold"/>
                                        <p:tgtEl>
                                          <p:spTgt spid="56"/>
                                        </p:tgtEl>
                                        <p:attrNameLst>
                                          <p:attrName>ppt_x</p:attrName>
                                        </p:attrNameLst>
                                      </p:cBhvr>
                                      <p:tavLst>
                                        <p:tav tm="0">
                                          <p:val>
                                            <p:strVal val="#ppt_x"/>
                                          </p:val>
                                        </p:tav>
                                        <p:tav tm="100000">
                                          <p:val>
                                            <p:strVal val="#ppt_x"/>
                                          </p:val>
                                        </p:tav>
                                      </p:tavLst>
                                    </p:anim>
                                    <p:anim calcmode="lin" valueType="num">
                                      <p:cBhvr additive="base">
                                        <p:cTn id="234" dur="500" fill="hold"/>
                                        <p:tgtEl>
                                          <p:spTgt spid="56"/>
                                        </p:tgtEl>
                                        <p:attrNameLst>
                                          <p:attrName>ppt_y</p:attrName>
                                        </p:attrNameLst>
                                      </p:cBhvr>
                                      <p:tavLst>
                                        <p:tav tm="0">
                                          <p:val>
                                            <p:strVal val="#ppt_y+0.1"/>
                                          </p:val>
                                        </p:tav>
                                        <p:tav tm="100000">
                                          <p:val>
                                            <p:strVal val="#ppt_y"/>
                                          </p:val>
                                        </p:tav>
                                      </p:tavLst>
                                    </p:anim>
                                    <p:animEffect transition="in" filter="fade">
                                      <p:cBhvr>
                                        <p:cTn id="235" dur="500"/>
                                        <p:tgtEl>
                                          <p:spTgt spid="56"/>
                                        </p:tgtEl>
                                      </p:cBhvr>
                                    </p:animEffect>
                                  </p:childTnLst>
                                </p:cTn>
                              </p:par>
                              <p:par>
                                <p:cTn id="241" presetID="2" presetClass="entr" presetSubtype="4" fill="hold" grpId="0" nodeType="withEffect">
                                  <p:stCondLst>
                                    <p:cond delay="120"/>
                                  </p:stCondLst>
                                  <p:childTnLst>
                                    <p:set>
                                      <p:cBhvr>
                                        <p:cTn id="237" dur="1" fill="hold">
                                          <p:stCondLst>
                                            <p:cond delay="0"/>
                                          </p:stCondLst>
                                        </p:cTn>
                                        <p:tgtEl>
                                          <p:spTgt spid="57"/>
                                        </p:tgtEl>
                                        <p:attrNameLst>
                                          <p:attrName>style.visibility</p:attrName>
                                        </p:attrNameLst>
                                      </p:cBhvr>
                                      <p:to>
                                        <p:strVal val="visible"/>
                                      </p:to>
                                    </p:set>
                                    <p:anim calcmode="lin" valueType="num">
                                      <p:cBhvr additive="base">
                                        <p:cTn id="238" dur="500" fill="hold"/>
                                        <p:tgtEl>
                                          <p:spTgt spid="57"/>
                                        </p:tgtEl>
                                        <p:attrNameLst>
                                          <p:attrName>ppt_x</p:attrName>
                                        </p:attrNameLst>
                                      </p:cBhvr>
                                      <p:tavLst>
                                        <p:tav tm="0">
                                          <p:val>
                                            <p:strVal val="#ppt_x"/>
                                          </p:val>
                                        </p:tav>
                                        <p:tav tm="100000">
                                          <p:val>
                                            <p:strVal val="#ppt_x"/>
                                          </p:val>
                                        </p:tav>
                                      </p:tavLst>
                                    </p:anim>
                                    <p:anim calcmode="lin" valueType="num">
                                      <p:cBhvr additive="base">
                                        <p:cTn id="239" dur="500" fill="hold"/>
                                        <p:tgtEl>
                                          <p:spTgt spid="57"/>
                                        </p:tgtEl>
                                        <p:attrNameLst>
                                          <p:attrName>ppt_y</p:attrName>
                                        </p:attrNameLst>
                                      </p:cBhvr>
                                      <p:tavLst>
                                        <p:tav tm="0">
                                          <p:val>
                                            <p:strVal val="#ppt_y+0.1"/>
                                          </p:val>
                                        </p:tav>
                                        <p:tav tm="100000">
                                          <p:val>
                                            <p:strVal val="#ppt_y"/>
                                          </p:val>
                                        </p:tav>
                                      </p:tavLst>
                                    </p:anim>
                                    <p:animEffect transition="in" filter="fade">
                                      <p:cBhvr>
                                        <p:cTn id="240" dur="500"/>
                                        <p:tgtEl>
                                          <p:spTgt spid="57"/>
                                        </p:tgtEl>
                                      </p:cBhvr>
                                    </p:animEffect>
                                  </p:childTnLst>
                                </p:cTn>
                              </p:par>
                              <p:par>
                                <p:cTn id="246" presetID="2" presetClass="entr" presetSubtype="4" fill="hold" grpId="0" nodeType="withEffect">
                                  <p:stCondLst>
                                    <p:cond delay="120"/>
                                  </p:stCondLst>
                                  <p:childTnLst>
                                    <p:set>
                                      <p:cBhvr>
                                        <p:cTn id="242" dur="1" fill="hold">
                                          <p:stCondLst>
                                            <p:cond delay="0"/>
                                          </p:stCondLst>
                                        </p:cTn>
                                        <p:tgtEl>
                                          <p:spTgt spid="58"/>
                                        </p:tgtEl>
                                        <p:attrNameLst>
                                          <p:attrName>style.visibility</p:attrName>
                                        </p:attrNameLst>
                                      </p:cBhvr>
                                      <p:to>
                                        <p:strVal val="visible"/>
                                      </p:to>
                                    </p:set>
                                    <p:anim calcmode="lin" valueType="num">
                                      <p:cBhvr additive="base">
                                        <p:cTn id="243" dur="500" fill="hold"/>
                                        <p:tgtEl>
                                          <p:spTgt spid="58"/>
                                        </p:tgtEl>
                                        <p:attrNameLst>
                                          <p:attrName>ppt_x</p:attrName>
                                        </p:attrNameLst>
                                      </p:cBhvr>
                                      <p:tavLst>
                                        <p:tav tm="0">
                                          <p:val>
                                            <p:strVal val="#ppt_x"/>
                                          </p:val>
                                        </p:tav>
                                        <p:tav tm="100000">
                                          <p:val>
                                            <p:strVal val="#ppt_x"/>
                                          </p:val>
                                        </p:tav>
                                      </p:tavLst>
                                    </p:anim>
                                    <p:anim calcmode="lin" valueType="num">
                                      <p:cBhvr additive="base">
                                        <p:cTn id="244" dur="500" fill="hold"/>
                                        <p:tgtEl>
                                          <p:spTgt spid="58"/>
                                        </p:tgtEl>
                                        <p:attrNameLst>
                                          <p:attrName>ppt_y</p:attrName>
                                        </p:attrNameLst>
                                      </p:cBhvr>
                                      <p:tavLst>
                                        <p:tav tm="0">
                                          <p:val>
                                            <p:strVal val="#ppt_y+0.1"/>
                                          </p:val>
                                        </p:tav>
                                        <p:tav tm="100000">
                                          <p:val>
                                            <p:strVal val="#ppt_y"/>
                                          </p:val>
                                        </p:tav>
                                      </p:tavLst>
                                    </p:anim>
                                    <p:animEffect transition="in" filter="fade">
                                      <p:cBhvr>
                                        <p:cTn id="245" dur="500"/>
                                        <p:tgtEl>
                                          <p:spTgt spid="58"/>
                                        </p:tgtEl>
                                      </p:cBhvr>
                                    </p:animEffect>
                                  </p:childTnLst>
                                </p:cTn>
                              </p:par>
                              <p:par>
                                <p:cTn id="251" presetID="2" presetClass="entr" presetSubtype="4" fill="hold" grpId="0" nodeType="withEffect">
                                  <p:stCondLst>
                                    <p:cond delay="120"/>
                                  </p:stCondLst>
                                  <p:childTnLst>
                                    <p:set>
                                      <p:cBhvr>
                                        <p:cTn id="247" dur="1" fill="hold">
                                          <p:stCondLst>
                                            <p:cond delay="0"/>
                                          </p:stCondLst>
                                        </p:cTn>
                                        <p:tgtEl>
                                          <p:spTgt spid="59"/>
                                        </p:tgtEl>
                                        <p:attrNameLst>
                                          <p:attrName>style.visibility</p:attrName>
                                        </p:attrNameLst>
                                      </p:cBhvr>
                                      <p:to>
                                        <p:strVal val="visible"/>
                                      </p:to>
                                    </p:set>
                                    <p:anim calcmode="lin" valueType="num">
                                      <p:cBhvr additive="base">
                                        <p:cTn id="248" dur="500" fill="hold"/>
                                        <p:tgtEl>
                                          <p:spTgt spid="59"/>
                                        </p:tgtEl>
                                        <p:attrNameLst>
                                          <p:attrName>ppt_x</p:attrName>
                                        </p:attrNameLst>
                                      </p:cBhvr>
                                      <p:tavLst>
                                        <p:tav tm="0">
                                          <p:val>
                                            <p:strVal val="#ppt_x"/>
                                          </p:val>
                                        </p:tav>
                                        <p:tav tm="100000">
                                          <p:val>
                                            <p:strVal val="#ppt_x"/>
                                          </p:val>
                                        </p:tav>
                                      </p:tavLst>
                                    </p:anim>
                                    <p:anim calcmode="lin" valueType="num">
                                      <p:cBhvr additive="base">
                                        <p:cTn id="249" dur="500" fill="hold"/>
                                        <p:tgtEl>
                                          <p:spTgt spid="59"/>
                                        </p:tgtEl>
                                        <p:attrNameLst>
                                          <p:attrName>ppt_y</p:attrName>
                                        </p:attrNameLst>
                                      </p:cBhvr>
                                      <p:tavLst>
                                        <p:tav tm="0">
                                          <p:val>
                                            <p:strVal val="#ppt_y+0.1"/>
                                          </p:val>
                                        </p:tav>
                                        <p:tav tm="100000">
                                          <p:val>
                                            <p:strVal val="#ppt_y"/>
                                          </p:val>
                                        </p:tav>
                                      </p:tavLst>
                                    </p:anim>
                                    <p:animEffect transition="in" filter="fade">
                                      <p:cBhvr>
                                        <p:cTn id="250" dur="500"/>
                                        <p:tgtEl>
                                          <p:spTgt spid="59"/>
                                        </p:tgtEl>
                                      </p:cBhvr>
                                    </p:animEffect>
                                  </p:childTnLst>
                                </p:cTn>
                              </p:par>
                              <p:par>
                                <p:cTn id="256" presetID="2" presetClass="entr" presetSubtype="4" fill="hold" grpId="0" nodeType="withEffect">
                                  <p:stCondLst>
                                    <p:cond delay="120"/>
                                  </p:stCondLst>
                                  <p:childTnLst>
                                    <p:set>
                                      <p:cBhvr>
                                        <p:cTn id="252" dur="1" fill="hold">
                                          <p:stCondLst>
                                            <p:cond delay="0"/>
                                          </p:stCondLst>
                                        </p:cTn>
                                        <p:tgtEl>
                                          <p:spTgt spid="60"/>
                                        </p:tgtEl>
                                        <p:attrNameLst>
                                          <p:attrName>style.visibility</p:attrName>
                                        </p:attrNameLst>
                                      </p:cBhvr>
                                      <p:to>
                                        <p:strVal val="visible"/>
                                      </p:to>
                                    </p:set>
                                    <p:anim calcmode="lin" valueType="num">
                                      <p:cBhvr additive="base">
                                        <p:cTn id="253" dur="500" fill="hold"/>
                                        <p:tgtEl>
                                          <p:spTgt spid="60"/>
                                        </p:tgtEl>
                                        <p:attrNameLst>
                                          <p:attrName>ppt_x</p:attrName>
                                        </p:attrNameLst>
                                      </p:cBhvr>
                                      <p:tavLst>
                                        <p:tav tm="0">
                                          <p:val>
                                            <p:strVal val="#ppt_x"/>
                                          </p:val>
                                        </p:tav>
                                        <p:tav tm="100000">
                                          <p:val>
                                            <p:strVal val="#ppt_x"/>
                                          </p:val>
                                        </p:tav>
                                      </p:tavLst>
                                    </p:anim>
                                    <p:anim calcmode="lin" valueType="num">
                                      <p:cBhvr additive="base">
                                        <p:cTn id="254" dur="500" fill="hold"/>
                                        <p:tgtEl>
                                          <p:spTgt spid="60"/>
                                        </p:tgtEl>
                                        <p:attrNameLst>
                                          <p:attrName>ppt_y</p:attrName>
                                        </p:attrNameLst>
                                      </p:cBhvr>
                                      <p:tavLst>
                                        <p:tav tm="0">
                                          <p:val>
                                            <p:strVal val="#ppt_y+0.1"/>
                                          </p:val>
                                        </p:tav>
                                        <p:tav tm="100000">
                                          <p:val>
                                            <p:strVal val="#ppt_y"/>
                                          </p:val>
                                        </p:tav>
                                      </p:tavLst>
                                    </p:anim>
                                    <p:animEffect transition="in" filter="fade">
                                      <p:cBhvr>
                                        <p:cTn id="255" dur="500"/>
                                        <p:tgtEl>
                                          <p:spTgt spid="60"/>
                                        </p:tgtEl>
                                      </p:cBhvr>
                                    </p:animEffect>
                                  </p:childTnLst>
                                </p:cTn>
                              </p:par>
                              <p:par>
                                <p:cTn id="261" presetID="2" presetClass="entr" presetSubtype="4" fill="hold" grpId="0" nodeType="withEffect">
                                  <p:stCondLst>
                                    <p:cond delay="120"/>
                                  </p:stCondLst>
                                  <p:childTnLst>
                                    <p:set>
                                      <p:cBhvr>
                                        <p:cTn id="257" dur="1" fill="hold">
                                          <p:stCondLst>
                                            <p:cond delay="0"/>
                                          </p:stCondLst>
                                        </p:cTn>
                                        <p:tgtEl>
                                          <p:spTgt spid="61"/>
                                        </p:tgtEl>
                                        <p:attrNameLst>
                                          <p:attrName>style.visibility</p:attrName>
                                        </p:attrNameLst>
                                      </p:cBhvr>
                                      <p:to>
                                        <p:strVal val="visible"/>
                                      </p:to>
                                    </p:set>
                                    <p:anim calcmode="lin" valueType="num">
                                      <p:cBhvr additive="base">
                                        <p:cTn id="258" dur="500" fill="hold"/>
                                        <p:tgtEl>
                                          <p:spTgt spid="61"/>
                                        </p:tgtEl>
                                        <p:attrNameLst>
                                          <p:attrName>ppt_x</p:attrName>
                                        </p:attrNameLst>
                                      </p:cBhvr>
                                      <p:tavLst>
                                        <p:tav tm="0">
                                          <p:val>
                                            <p:strVal val="#ppt_x"/>
                                          </p:val>
                                        </p:tav>
                                        <p:tav tm="100000">
                                          <p:val>
                                            <p:strVal val="#ppt_x"/>
                                          </p:val>
                                        </p:tav>
                                      </p:tavLst>
                                    </p:anim>
                                    <p:anim calcmode="lin" valueType="num">
                                      <p:cBhvr additive="base">
                                        <p:cTn id="259" dur="500" fill="hold"/>
                                        <p:tgtEl>
                                          <p:spTgt spid="61"/>
                                        </p:tgtEl>
                                        <p:attrNameLst>
                                          <p:attrName>ppt_y</p:attrName>
                                        </p:attrNameLst>
                                      </p:cBhvr>
                                      <p:tavLst>
                                        <p:tav tm="0">
                                          <p:val>
                                            <p:strVal val="#ppt_y+0.1"/>
                                          </p:val>
                                        </p:tav>
                                        <p:tav tm="100000">
                                          <p:val>
                                            <p:strVal val="#ppt_y"/>
                                          </p:val>
                                        </p:tav>
                                      </p:tavLst>
                                    </p:anim>
                                    <p:animEffect transition="in" filter="fade">
                                      <p:cBhvr>
                                        <p:cTn id="260" dur="500"/>
                                        <p:tgtEl>
                                          <p:spTgt spid="61"/>
                                        </p:tgtEl>
                                      </p:cBhvr>
                                    </p:animEffect>
                                  </p:childTnLst>
                                </p:cTn>
                              </p:par>
                              <p:par>
                                <p:cTn id="266" presetID="2" presetClass="entr" presetSubtype="4" fill="hold" grpId="0" nodeType="withEffect">
                                  <p:stCondLst>
                                    <p:cond delay="120"/>
                                  </p:stCondLst>
                                  <p:childTnLst>
                                    <p:set>
                                      <p:cBhvr>
                                        <p:cTn id="262" dur="1" fill="hold">
                                          <p:stCondLst>
                                            <p:cond delay="0"/>
                                          </p:stCondLst>
                                        </p:cTn>
                                        <p:tgtEl>
                                          <p:spTgt spid="62"/>
                                        </p:tgtEl>
                                        <p:attrNameLst>
                                          <p:attrName>style.visibility</p:attrName>
                                        </p:attrNameLst>
                                      </p:cBhvr>
                                      <p:to>
                                        <p:strVal val="visible"/>
                                      </p:to>
                                    </p:set>
                                    <p:anim calcmode="lin" valueType="num">
                                      <p:cBhvr additive="base">
                                        <p:cTn id="263" dur="500" fill="hold"/>
                                        <p:tgtEl>
                                          <p:spTgt spid="62"/>
                                        </p:tgtEl>
                                        <p:attrNameLst>
                                          <p:attrName>ppt_x</p:attrName>
                                        </p:attrNameLst>
                                      </p:cBhvr>
                                      <p:tavLst>
                                        <p:tav tm="0">
                                          <p:val>
                                            <p:strVal val="#ppt_x"/>
                                          </p:val>
                                        </p:tav>
                                        <p:tav tm="100000">
                                          <p:val>
                                            <p:strVal val="#ppt_x"/>
                                          </p:val>
                                        </p:tav>
                                      </p:tavLst>
                                    </p:anim>
                                    <p:anim calcmode="lin" valueType="num">
                                      <p:cBhvr additive="base">
                                        <p:cTn id="264" dur="500" fill="hold"/>
                                        <p:tgtEl>
                                          <p:spTgt spid="62"/>
                                        </p:tgtEl>
                                        <p:attrNameLst>
                                          <p:attrName>ppt_y</p:attrName>
                                        </p:attrNameLst>
                                      </p:cBhvr>
                                      <p:tavLst>
                                        <p:tav tm="0">
                                          <p:val>
                                            <p:strVal val="#ppt_y+0.1"/>
                                          </p:val>
                                        </p:tav>
                                        <p:tav tm="100000">
                                          <p:val>
                                            <p:strVal val="#ppt_y"/>
                                          </p:val>
                                        </p:tav>
                                      </p:tavLst>
                                    </p:anim>
                                    <p:animEffect transition="in" filter="fade">
                                      <p:cBhvr>
                                        <p:cTn id="265" dur="500"/>
                                        <p:tgtEl>
                                          <p:spTgt spid="62"/>
                                        </p:tgtEl>
                                      </p:cBhvr>
                                    </p:animEffect>
                                  </p:childTnLst>
                                </p:cTn>
                              </p:par>
                              <p:par>
                                <p:cTn id="271" presetID="2" presetClass="entr" presetSubtype="4" fill="hold" grpId="0" nodeType="withEffect">
                                  <p:stCondLst>
                                    <p:cond delay="120"/>
                                  </p:stCondLst>
                                  <p:childTnLst>
                                    <p:set>
                                      <p:cBhvr>
                                        <p:cTn id="267" dur="1" fill="hold">
                                          <p:stCondLst>
                                            <p:cond delay="0"/>
                                          </p:stCondLst>
                                        </p:cTn>
                                        <p:tgtEl>
                                          <p:spTgt spid="63"/>
                                        </p:tgtEl>
                                        <p:attrNameLst>
                                          <p:attrName>style.visibility</p:attrName>
                                        </p:attrNameLst>
                                      </p:cBhvr>
                                      <p:to>
                                        <p:strVal val="visible"/>
                                      </p:to>
                                    </p:set>
                                    <p:anim calcmode="lin" valueType="num">
                                      <p:cBhvr additive="base">
                                        <p:cTn id="268" dur="500" fill="hold"/>
                                        <p:tgtEl>
                                          <p:spTgt spid="63"/>
                                        </p:tgtEl>
                                        <p:attrNameLst>
                                          <p:attrName>ppt_x</p:attrName>
                                        </p:attrNameLst>
                                      </p:cBhvr>
                                      <p:tavLst>
                                        <p:tav tm="0">
                                          <p:val>
                                            <p:strVal val="#ppt_x"/>
                                          </p:val>
                                        </p:tav>
                                        <p:tav tm="100000">
                                          <p:val>
                                            <p:strVal val="#ppt_x"/>
                                          </p:val>
                                        </p:tav>
                                      </p:tavLst>
                                    </p:anim>
                                    <p:anim calcmode="lin" valueType="num">
                                      <p:cBhvr additive="base">
                                        <p:cTn id="269" dur="500" fill="hold"/>
                                        <p:tgtEl>
                                          <p:spTgt spid="63"/>
                                        </p:tgtEl>
                                        <p:attrNameLst>
                                          <p:attrName>ppt_y</p:attrName>
                                        </p:attrNameLst>
                                      </p:cBhvr>
                                      <p:tavLst>
                                        <p:tav tm="0">
                                          <p:val>
                                            <p:strVal val="#ppt_y+0.1"/>
                                          </p:val>
                                        </p:tav>
                                        <p:tav tm="100000">
                                          <p:val>
                                            <p:strVal val="#ppt_y"/>
                                          </p:val>
                                        </p:tav>
                                      </p:tavLst>
                                    </p:anim>
                                    <p:animEffect transition="in" filter="fade">
                                      <p:cBhvr>
                                        <p:cTn id="270" dur="500"/>
                                        <p:tgtEl>
                                          <p:spTgt spid="63"/>
                                        </p:tgtEl>
                                      </p:cBhvr>
                                    </p:animEffect>
                                  </p:childTnLst>
                                </p:cTn>
                              </p:par>
                              <p:par>
                                <p:cTn id="276" presetID="2" presetClass="entr" presetSubtype="4" fill="hold" grpId="0" nodeType="withEffect">
                                  <p:stCondLst>
                                    <p:cond delay="120"/>
                                  </p:stCondLst>
                                  <p:childTnLst>
                                    <p:set>
                                      <p:cBhvr>
                                        <p:cTn id="272" dur="1" fill="hold">
                                          <p:stCondLst>
                                            <p:cond delay="0"/>
                                          </p:stCondLst>
                                        </p:cTn>
                                        <p:tgtEl>
                                          <p:spTgt spid="64"/>
                                        </p:tgtEl>
                                        <p:attrNameLst>
                                          <p:attrName>style.visibility</p:attrName>
                                        </p:attrNameLst>
                                      </p:cBhvr>
                                      <p:to>
                                        <p:strVal val="visible"/>
                                      </p:to>
                                    </p:set>
                                    <p:anim calcmode="lin" valueType="num">
                                      <p:cBhvr additive="base">
                                        <p:cTn id="273" dur="500" fill="hold"/>
                                        <p:tgtEl>
                                          <p:spTgt spid="64"/>
                                        </p:tgtEl>
                                        <p:attrNameLst>
                                          <p:attrName>ppt_x</p:attrName>
                                        </p:attrNameLst>
                                      </p:cBhvr>
                                      <p:tavLst>
                                        <p:tav tm="0">
                                          <p:val>
                                            <p:strVal val="#ppt_x"/>
                                          </p:val>
                                        </p:tav>
                                        <p:tav tm="100000">
                                          <p:val>
                                            <p:strVal val="#ppt_x"/>
                                          </p:val>
                                        </p:tav>
                                      </p:tavLst>
                                    </p:anim>
                                    <p:anim calcmode="lin" valueType="num">
                                      <p:cBhvr additive="base">
                                        <p:cTn id="274" dur="500" fill="hold"/>
                                        <p:tgtEl>
                                          <p:spTgt spid="64"/>
                                        </p:tgtEl>
                                        <p:attrNameLst>
                                          <p:attrName>ppt_y</p:attrName>
                                        </p:attrNameLst>
                                      </p:cBhvr>
                                      <p:tavLst>
                                        <p:tav tm="0">
                                          <p:val>
                                            <p:strVal val="#ppt_y+0.1"/>
                                          </p:val>
                                        </p:tav>
                                        <p:tav tm="100000">
                                          <p:val>
                                            <p:strVal val="#ppt_y"/>
                                          </p:val>
                                        </p:tav>
                                      </p:tavLst>
                                    </p:anim>
                                    <p:animEffect transition="in" filter="fade">
                                      <p:cBhvr>
                                        <p:cTn id="275" dur="500"/>
                                        <p:tgtEl>
                                          <p:spTgt spid="64"/>
                                        </p:tgtEl>
                                      </p:cBhvr>
                                    </p:animEffect>
                                  </p:childTnLst>
                                </p:cTn>
                              </p:par>
                              <p:par>
                                <p:cTn id="281" presetID="2" presetClass="entr" presetSubtype="4" fill="hold" grpId="0" nodeType="withEffect">
                                  <p:stCondLst>
                                    <p:cond delay="120"/>
                                  </p:stCondLst>
                                  <p:childTnLst>
                                    <p:set>
                                      <p:cBhvr>
                                        <p:cTn id="277" dur="1" fill="hold">
                                          <p:stCondLst>
                                            <p:cond delay="0"/>
                                          </p:stCondLst>
                                        </p:cTn>
                                        <p:tgtEl>
                                          <p:spTgt spid="65"/>
                                        </p:tgtEl>
                                        <p:attrNameLst>
                                          <p:attrName>style.visibility</p:attrName>
                                        </p:attrNameLst>
                                      </p:cBhvr>
                                      <p:to>
                                        <p:strVal val="visible"/>
                                      </p:to>
                                    </p:set>
                                    <p:anim calcmode="lin" valueType="num">
                                      <p:cBhvr additive="base">
                                        <p:cTn id="278" dur="500" fill="hold"/>
                                        <p:tgtEl>
                                          <p:spTgt spid="65"/>
                                        </p:tgtEl>
                                        <p:attrNameLst>
                                          <p:attrName>ppt_x</p:attrName>
                                        </p:attrNameLst>
                                      </p:cBhvr>
                                      <p:tavLst>
                                        <p:tav tm="0">
                                          <p:val>
                                            <p:strVal val="#ppt_x"/>
                                          </p:val>
                                        </p:tav>
                                        <p:tav tm="100000">
                                          <p:val>
                                            <p:strVal val="#ppt_x"/>
                                          </p:val>
                                        </p:tav>
                                      </p:tavLst>
                                    </p:anim>
                                    <p:anim calcmode="lin" valueType="num">
                                      <p:cBhvr additive="base">
                                        <p:cTn id="279" dur="500" fill="hold"/>
                                        <p:tgtEl>
                                          <p:spTgt spid="65"/>
                                        </p:tgtEl>
                                        <p:attrNameLst>
                                          <p:attrName>ppt_y</p:attrName>
                                        </p:attrNameLst>
                                      </p:cBhvr>
                                      <p:tavLst>
                                        <p:tav tm="0">
                                          <p:val>
                                            <p:strVal val="#ppt_y+0.1"/>
                                          </p:val>
                                        </p:tav>
                                        <p:tav tm="100000">
                                          <p:val>
                                            <p:strVal val="#ppt_y"/>
                                          </p:val>
                                        </p:tav>
                                      </p:tavLst>
                                    </p:anim>
                                    <p:animEffect transition="in" filter="fade">
                                      <p:cBhvr>
                                        <p:cTn id="280" dur="500"/>
                                        <p:tgtEl>
                                          <p:spTgt spid="65"/>
                                        </p:tgtEl>
                                      </p:cBhvr>
                                    </p:animEffect>
                                  </p:childTnLst>
                                </p:cTn>
                              </p:par>
                              <p:par>
                                <p:cTn id="286" presetID="2" presetClass="entr" presetSubtype="4" fill="hold" grpId="0" nodeType="withEffect">
                                  <p:stCondLst>
                                    <p:cond delay="120"/>
                                  </p:stCondLst>
                                  <p:childTnLst>
                                    <p:set>
                                      <p:cBhvr>
                                        <p:cTn id="282" dur="1" fill="hold">
                                          <p:stCondLst>
                                            <p:cond delay="0"/>
                                          </p:stCondLst>
                                        </p:cTn>
                                        <p:tgtEl>
                                          <p:spTgt spid="66"/>
                                        </p:tgtEl>
                                        <p:attrNameLst>
                                          <p:attrName>style.visibility</p:attrName>
                                        </p:attrNameLst>
                                      </p:cBhvr>
                                      <p:to>
                                        <p:strVal val="visible"/>
                                      </p:to>
                                    </p:set>
                                    <p:anim calcmode="lin" valueType="num">
                                      <p:cBhvr additive="base">
                                        <p:cTn id="283" dur="500" fill="hold"/>
                                        <p:tgtEl>
                                          <p:spTgt spid="66"/>
                                        </p:tgtEl>
                                        <p:attrNameLst>
                                          <p:attrName>ppt_x</p:attrName>
                                        </p:attrNameLst>
                                      </p:cBhvr>
                                      <p:tavLst>
                                        <p:tav tm="0">
                                          <p:val>
                                            <p:strVal val="#ppt_x"/>
                                          </p:val>
                                        </p:tav>
                                        <p:tav tm="100000">
                                          <p:val>
                                            <p:strVal val="#ppt_x"/>
                                          </p:val>
                                        </p:tav>
                                      </p:tavLst>
                                    </p:anim>
                                    <p:anim calcmode="lin" valueType="num">
                                      <p:cBhvr additive="base">
                                        <p:cTn id="284" dur="500" fill="hold"/>
                                        <p:tgtEl>
                                          <p:spTgt spid="66"/>
                                        </p:tgtEl>
                                        <p:attrNameLst>
                                          <p:attrName>ppt_y</p:attrName>
                                        </p:attrNameLst>
                                      </p:cBhvr>
                                      <p:tavLst>
                                        <p:tav tm="0">
                                          <p:val>
                                            <p:strVal val="#ppt_y+0.1"/>
                                          </p:val>
                                        </p:tav>
                                        <p:tav tm="100000">
                                          <p:val>
                                            <p:strVal val="#ppt_y"/>
                                          </p:val>
                                        </p:tav>
                                      </p:tavLst>
                                    </p:anim>
                                    <p:animEffect transition="in" filter="fade">
                                      <p:cBhvr>
                                        <p:cTn id="285" dur="500"/>
                                        <p:tgtEl>
                                          <p:spTgt spid="66"/>
                                        </p:tgtEl>
                                      </p:cBhvr>
                                    </p:animEffect>
                                  </p:childTnLst>
                                </p:cTn>
                              </p:par>
                              <p:par>
                                <p:cTn id="291" presetID="2" presetClass="entr" presetSubtype="4" fill="hold" grpId="0" nodeType="withEffect">
                                  <p:stCondLst>
                                    <p:cond delay="240"/>
                                  </p:stCondLst>
                                  <p:childTnLst>
                                    <p:set>
                                      <p:cBhvr>
                                        <p:cTn id="287" dur="1" fill="hold">
                                          <p:stCondLst>
                                            <p:cond delay="0"/>
                                          </p:stCondLst>
                                        </p:cTn>
                                        <p:tgtEl>
                                          <p:spTgt spid="67"/>
                                        </p:tgtEl>
                                        <p:attrNameLst>
                                          <p:attrName>style.visibility</p:attrName>
                                        </p:attrNameLst>
                                      </p:cBhvr>
                                      <p:to>
                                        <p:strVal val="visible"/>
                                      </p:to>
                                    </p:set>
                                    <p:anim calcmode="lin" valueType="num">
                                      <p:cBhvr additive="base">
                                        <p:cTn id="288" dur="500" fill="hold"/>
                                        <p:tgtEl>
                                          <p:spTgt spid="67"/>
                                        </p:tgtEl>
                                        <p:attrNameLst>
                                          <p:attrName>ppt_x</p:attrName>
                                        </p:attrNameLst>
                                      </p:cBhvr>
                                      <p:tavLst>
                                        <p:tav tm="0">
                                          <p:val>
                                            <p:strVal val="#ppt_x"/>
                                          </p:val>
                                        </p:tav>
                                        <p:tav tm="100000">
                                          <p:val>
                                            <p:strVal val="#ppt_x"/>
                                          </p:val>
                                        </p:tav>
                                      </p:tavLst>
                                    </p:anim>
                                    <p:anim calcmode="lin" valueType="num">
                                      <p:cBhvr additive="base">
                                        <p:cTn id="289" dur="500" fill="hold"/>
                                        <p:tgtEl>
                                          <p:spTgt spid="67"/>
                                        </p:tgtEl>
                                        <p:attrNameLst>
                                          <p:attrName>ppt_y</p:attrName>
                                        </p:attrNameLst>
                                      </p:cBhvr>
                                      <p:tavLst>
                                        <p:tav tm="0">
                                          <p:val>
                                            <p:strVal val="#ppt_y+0.1"/>
                                          </p:val>
                                        </p:tav>
                                        <p:tav tm="100000">
                                          <p:val>
                                            <p:strVal val="#ppt_y"/>
                                          </p:val>
                                        </p:tav>
                                      </p:tavLst>
                                    </p:anim>
                                    <p:animEffect transition="in" filter="fade">
                                      <p:cBhvr>
                                        <p:cTn id="290" dur="500"/>
                                        <p:tgtEl>
                                          <p:spTgt spid="67"/>
                                        </p:tgtEl>
                                      </p:cBhvr>
                                    </p:animEffect>
                                  </p:childTnLst>
                                </p:cTn>
                              </p:par>
                              <p:par>
                                <p:cTn id="296" presetID="2" presetClass="entr" presetSubtype="4" fill="hold" grpId="0" nodeType="withEffect">
                                  <p:stCondLst>
                                    <p:cond delay="240"/>
                                  </p:stCondLst>
                                  <p:childTnLst>
                                    <p:set>
                                      <p:cBhvr>
                                        <p:cTn id="292" dur="1" fill="hold">
                                          <p:stCondLst>
                                            <p:cond delay="0"/>
                                          </p:stCondLst>
                                        </p:cTn>
                                        <p:tgtEl>
                                          <p:spTgt spid="68"/>
                                        </p:tgtEl>
                                        <p:attrNameLst>
                                          <p:attrName>style.visibility</p:attrName>
                                        </p:attrNameLst>
                                      </p:cBhvr>
                                      <p:to>
                                        <p:strVal val="visible"/>
                                      </p:to>
                                    </p:set>
                                    <p:anim calcmode="lin" valueType="num">
                                      <p:cBhvr additive="base">
                                        <p:cTn id="293" dur="500" fill="hold"/>
                                        <p:tgtEl>
                                          <p:spTgt spid="68"/>
                                        </p:tgtEl>
                                        <p:attrNameLst>
                                          <p:attrName>ppt_x</p:attrName>
                                        </p:attrNameLst>
                                      </p:cBhvr>
                                      <p:tavLst>
                                        <p:tav tm="0">
                                          <p:val>
                                            <p:strVal val="#ppt_x"/>
                                          </p:val>
                                        </p:tav>
                                        <p:tav tm="100000">
                                          <p:val>
                                            <p:strVal val="#ppt_x"/>
                                          </p:val>
                                        </p:tav>
                                      </p:tavLst>
                                    </p:anim>
                                    <p:anim calcmode="lin" valueType="num">
                                      <p:cBhvr additive="base">
                                        <p:cTn id="294" dur="500" fill="hold"/>
                                        <p:tgtEl>
                                          <p:spTgt spid="68"/>
                                        </p:tgtEl>
                                        <p:attrNameLst>
                                          <p:attrName>ppt_y</p:attrName>
                                        </p:attrNameLst>
                                      </p:cBhvr>
                                      <p:tavLst>
                                        <p:tav tm="0">
                                          <p:val>
                                            <p:strVal val="#ppt_y+0.1"/>
                                          </p:val>
                                        </p:tav>
                                        <p:tav tm="100000">
                                          <p:val>
                                            <p:strVal val="#ppt_y"/>
                                          </p:val>
                                        </p:tav>
                                      </p:tavLst>
                                    </p:anim>
                                    <p:animEffect transition="in" filter="fade">
                                      <p:cBhvr>
                                        <p:cTn id="295" dur="500"/>
                                        <p:tgtEl>
                                          <p:spTgt spid="68"/>
                                        </p:tgtEl>
                                      </p:cBhvr>
                                    </p:animEffect>
                                  </p:childTnLst>
                                </p:cTn>
                              </p:par>
                              <p:par>
                                <p:cTn id="301" presetID="2" presetClass="entr" presetSubtype="4" fill="hold" grpId="0" nodeType="withEffect">
                                  <p:stCondLst>
                                    <p:cond delay="240"/>
                                  </p:stCondLst>
                                  <p:childTnLst>
                                    <p:set>
                                      <p:cBhvr>
                                        <p:cTn id="297" dur="1" fill="hold">
                                          <p:stCondLst>
                                            <p:cond delay="0"/>
                                          </p:stCondLst>
                                        </p:cTn>
                                        <p:tgtEl>
                                          <p:spTgt spid="69"/>
                                        </p:tgtEl>
                                        <p:attrNameLst>
                                          <p:attrName>style.visibility</p:attrName>
                                        </p:attrNameLst>
                                      </p:cBhvr>
                                      <p:to>
                                        <p:strVal val="visible"/>
                                      </p:to>
                                    </p:set>
                                    <p:anim calcmode="lin" valueType="num">
                                      <p:cBhvr additive="base">
                                        <p:cTn id="298" dur="500" fill="hold"/>
                                        <p:tgtEl>
                                          <p:spTgt spid="69"/>
                                        </p:tgtEl>
                                        <p:attrNameLst>
                                          <p:attrName>ppt_x</p:attrName>
                                        </p:attrNameLst>
                                      </p:cBhvr>
                                      <p:tavLst>
                                        <p:tav tm="0">
                                          <p:val>
                                            <p:strVal val="#ppt_x"/>
                                          </p:val>
                                        </p:tav>
                                        <p:tav tm="100000">
                                          <p:val>
                                            <p:strVal val="#ppt_x"/>
                                          </p:val>
                                        </p:tav>
                                      </p:tavLst>
                                    </p:anim>
                                    <p:anim calcmode="lin" valueType="num">
                                      <p:cBhvr additive="base">
                                        <p:cTn id="299" dur="500" fill="hold"/>
                                        <p:tgtEl>
                                          <p:spTgt spid="69"/>
                                        </p:tgtEl>
                                        <p:attrNameLst>
                                          <p:attrName>ppt_y</p:attrName>
                                        </p:attrNameLst>
                                      </p:cBhvr>
                                      <p:tavLst>
                                        <p:tav tm="0">
                                          <p:val>
                                            <p:strVal val="#ppt_y+0.1"/>
                                          </p:val>
                                        </p:tav>
                                        <p:tav tm="100000">
                                          <p:val>
                                            <p:strVal val="#ppt_y"/>
                                          </p:val>
                                        </p:tav>
                                      </p:tavLst>
                                    </p:anim>
                                    <p:animEffect transition="in" filter="fade">
                                      <p:cBhvr>
                                        <p:cTn id="300" dur="500"/>
                                        <p:tgtEl>
                                          <p:spTgt spid="69"/>
                                        </p:tgtEl>
                                      </p:cBhvr>
                                    </p:animEffect>
                                  </p:childTnLst>
                                </p:cTn>
                              </p:par>
                              <p:par>
                                <p:cTn id="306" presetID="2" presetClass="entr" presetSubtype="4" fill="hold" grpId="0" nodeType="withEffect">
                                  <p:stCondLst>
                                    <p:cond delay="240"/>
                                  </p:stCondLst>
                                  <p:childTnLst>
                                    <p:set>
                                      <p:cBhvr>
                                        <p:cTn id="302" dur="1" fill="hold">
                                          <p:stCondLst>
                                            <p:cond delay="0"/>
                                          </p:stCondLst>
                                        </p:cTn>
                                        <p:tgtEl>
                                          <p:spTgt spid="70"/>
                                        </p:tgtEl>
                                        <p:attrNameLst>
                                          <p:attrName>style.visibility</p:attrName>
                                        </p:attrNameLst>
                                      </p:cBhvr>
                                      <p:to>
                                        <p:strVal val="visible"/>
                                      </p:to>
                                    </p:set>
                                    <p:anim calcmode="lin" valueType="num">
                                      <p:cBhvr additive="base">
                                        <p:cTn id="303" dur="500" fill="hold"/>
                                        <p:tgtEl>
                                          <p:spTgt spid="70"/>
                                        </p:tgtEl>
                                        <p:attrNameLst>
                                          <p:attrName>ppt_x</p:attrName>
                                        </p:attrNameLst>
                                      </p:cBhvr>
                                      <p:tavLst>
                                        <p:tav tm="0">
                                          <p:val>
                                            <p:strVal val="#ppt_x"/>
                                          </p:val>
                                        </p:tav>
                                        <p:tav tm="100000">
                                          <p:val>
                                            <p:strVal val="#ppt_x"/>
                                          </p:val>
                                        </p:tav>
                                      </p:tavLst>
                                    </p:anim>
                                    <p:anim calcmode="lin" valueType="num">
                                      <p:cBhvr additive="base">
                                        <p:cTn id="304" dur="500" fill="hold"/>
                                        <p:tgtEl>
                                          <p:spTgt spid="70"/>
                                        </p:tgtEl>
                                        <p:attrNameLst>
                                          <p:attrName>ppt_y</p:attrName>
                                        </p:attrNameLst>
                                      </p:cBhvr>
                                      <p:tavLst>
                                        <p:tav tm="0">
                                          <p:val>
                                            <p:strVal val="#ppt_y+0.1"/>
                                          </p:val>
                                        </p:tav>
                                        <p:tav tm="100000">
                                          <p:val>
                                            <p:strVal val="#ppt_y"/>
                                          </p:val>
                                        </p:tav>
                                      </p:tavLst>
                                    </p:anim>
                                    <p:animEffect transition="in" filter="fade">
                                      <p:cBhvr>
                                        <p:cTn id="305" dur="500"/>
                                        <p:tgtEl>
                                          <p:spTgt spid="70"/>
                                        </p:tgtEl>
                                      </p:cBhvr>
                                    </p:animEffect>
                                  </p:childTnLst>
                                </p:cTn>
                              </p:par>
                              <p:par>
                                <p:cTn id="311" presetID="2" presetClass="entr" presetSubtype="4" fill="hold" grpId="0" nodeType="withEffect">
                                  <p:stCondLst>
                                    <p:cond delay="240"/>
                                  </p:stCondLst>
                                  <p:childTnLst>
                                    <p:set>
                                      <p:cBhvr>
                                        <p:cTn id="307" dur="1" fill="hold">
                                          <p:stCondLst>
                                            <p:cond delay="0"/>
                                          </p:stCondLst>
                                        </p:cTn>
                                        <p:tgtEl>
                                          <p:spTgt spid="71"/>
                                        </p:tgtEl>
                                        <p:attrNameLst>
                                          <p:attrName>style.visibility</p:attrName>
                                        </p:attrNameLst>
                                      </p:cBhvr>
                                      <p:to>
                                        <p:strVal val="visible"/>
                                      </p:to>
                                    </p:set>
                                    <p:anim calcmode="lin" valueType="num">
                                      <p:cBhvr additive="base">
                                        <p:cTn id="308" dur="500" fill="hold"/>
                                        <p:tgtEl>
                                          <p:spTgt spid="71"/>
                                        </p:tgtEl>
                                        <p:attrNameLst>
                                          <p:attrName>ppt_x</p:attrName>
                                        </p:attrNameLst>
                                      </p:cBhvr>
                                      <p:tavLst>
                                        <p:tav tm="0">
                                          <p:val>
                                            <p:strVal val="#ppt_x"/>
                                          </p:val>
                                        </p:tav>
                                        <p:tav tm="100000">
                                          <p:val>
                                            <p:strVal val="#ppt_x"/>
                                          </p:val>
                                        </p:tav>
                                      </p:tavLst>
                                    </p:anim>
                                    <p:anim calcmode="lin" valueType="num">
                                      <p:cBhvr additive="base">
                                        <p:cTn id="309" dur="500" fill="hold"/>
                                        <p:tgtEl>
                                          <p:spTgt spid="71"/>
                                        </p:tgtEl>
                                        <p:attrNameLst>
                                          <p:attrName>ppt_y</p:attrName>
                                        </p:attrNameLst>
                                      </p:cBhvr>
                                      <p:tavLst>
                                        <p:tav tm="0">
                                          <p:val>
                                            <p:strVal val="#ppt_y+0.1"/>
                                          </p:val>
                                        </p:tav>
                                        <p:tav tm="100000">
                                          <p:val>
                                            <p:strVal val="#ppt_y"/>
                                          </p:val>
                                        </p:tav>
                                      </p:tavLst>
                                    </p:anim>
                                    <p:animEffect transition="in" filter="fade">
                                      <p:cBhvr>
                                        <p:cTn id="310" dur="500"/>
                                        <p:tgtEl>
                                          <p:spTgt spid="71"/>
                                        </p:tgtEl>
                                      </p:cBhvr>
                                    </p:animEffect>
                                  </p:childTnLst>
                                </p:cTn>
                              </p:par>
                              <p:par>
                                <p:cTn id="316" presetID="2" presetClass="entr" presetSubtype="4" fill="hold" grpId="0" nodeType="withEffect">
                                  <p:stCondLst>
                                    <p:cond delay="240"/>
                                  </p:stCondLst>
                                  <p:childTnLst>
                                    <p:set>
                                      <p:cBhvr>
                                        <p:cTn id="312" dur="1" fill="hold">
                                          <p:stCondLst>
                                            <p:cond delay="0"/>
                                          </p:stCondLst>
                                        </p:cTn>
                                        <p:tgtEl>
                                          <p:spTgt spid="72"/>
                                        </p:tgtEl>
                                        <p:attrNameLst>
                                          <p:attrName>style.visibility</p:attrName>
                                        </p:attrNameLst>
                                      </p:cBhvr>
                                      <p:to>
                                        <p:strVal val="visible"/>
                                      </p:to>
                                    </p:set>
                                    <p:anim calcmode="lin" valueType="num">
                                      <p:cBhvr additive="base">
                                        <p:cTn id="313" dur="500" fill="hold"/>
                                        <p:tgtEl>
                                          <p:spTgt spid="72"/>
                                        </p:tgtEl>
                                        <p:attrNameLst>
                                          <p:attrName>ppt_x</p:attrName>
                                        </p:attrNameLst>
                                      </p:cBhvr>
                                      <p:tavLst>
                                        <p:tav tm="0">
                                          <p:val>
                                            <p:strVal val="#ppt_x"/>
                                          </p:val>
                                        </p:tav>
                                        <p:tav tm="100000">
                                          <p:val>
                                            <p:strVal val="#ppt_x"/>
                                          </p:val>
                                        </p:tav>
                                      </p:tavLst>
                                    </p:anim>
                                    <p:anim calcmode="lin" valueType="num">
                                      <p:cBhvr additive="base">
                                        <p:cTn id="314" dur="500" fill="hold"/>
                                        <p:tgtEl>
                                          <p:spTgt spid="72"/>
                                        </p:tgtEl>
                                        <p:attrNameLst>
                                          <p:attrName>ppt_y</p:attrName>
                                        </p:attrNameLst>
                                      </p:cBhvr>
                                      <p:tavLst>
                                        <p:tav tm="0">
                                          <p:val>
                                            <p:strVal val="#ppt_y+0.1"/>
                                          </p:val>
                                        </p:tav>
                                        <p:tav tm="100000">
                                          <p:val>
                                            <p:strVal val="#ppt_y"/>
                                          </p:val>
                                        </p:tav>
                                      </p:tavLst>
                                    </p:anim>
                                    <p:animEffect transition="in" filter="fade">
                                      <p:cBhvr>
                                        <p:cTn id="315" dur="500"/>
                                        <p:tgtEl>
                                          <p:spTgt spid="72"/>
                                        </p:tgtEl>
                                      </p:cBhvr>
                                    </p:animEffect>
                                  </p:childTnLst>
                                </p:cTn>
                              </p:par>
                              <p:par>
                                <p:cTn id="321" presetID="2" presetClass="entr" presetSubtype="4" fill="hold" grpId="0" nodeType="withEffect">
                                  <p:stCondLst>
                                    <p:cond delay="240"/>
                                  </p:stCondLst>
                                  <p:childTnLst>
                                    <p:set>
                                      <p:cBhvr>
                                        <p:cTn id="317" dur="1" fill="hold">
                                          <p:stCondLst>
                                            <p:cond delay="0"/>
                                          </p:stCondLst>
                                        </p:cTn>
                                        <p:tgtEl>
                                          <p:spTgt spid="73"/>
                                        </p:tgtEl>
                                        <p:attrNameLst>
                                          <p:attrName>style.visibility</p:attrName>
                                        </p:attrNameLst>
                                      </p:cBhvr>
                                      <p:to>
                                        <p:strVal val="visible"/>
                                      </p:to>
                                    </p:set>
                                    <p:anim calcmode="lin" valueType="num">
                                      <p:cBhvr additive="base">
                                        <p:cTn id="318" dur="500" fill="hold"/>
                                        <p:tgtEl>
                                          <p:spTgt spid="73"/>
                                        </p:tgtEl>
                                        <p:attrNameLst>
                                          <p:attrName>ppt_x</p:attrName>
                                        </p:attrNameLst>
                                      </p:cBhvr>
                                      <p:tavLst>
                                        <p:tav tm="0">
                                          <p:val>
                                            <p:strVal val="#ppt_x"/>
                                          </p:val>
                                        </p:tav>
                                        <p:tav tm="100000">
                                          <p:val>
                                            <p:strVal val="#ppt_x"/>
                                          </p:val>
                                        </p:tav>
                                      </p:tavLst>
                                    </p:anim>
                                    <p:anim calcmode="lin" valueType="num">
                                      <p:cBhvr additive="base">
                                        <p:cTn id="319" dur="500" fill="hold"/>
                                        <p:tgtEl>
                                          <p:spTgt spid="73"/>
                                        </p:tgtEl>
                                        <p:attrNameLst>
                                          <p:attrName>ppt_y</p:attrName>
                                        </p:attrNameLst>
                                      </p:cBhvr>
                                      <p:tavLst>
                                        <p:tav tm="0">
                                          <p:val>
                                            <p:strVal val="#ppt_y+0.1"/>
                                          </p:val>
                                        </p:tav>
                                        <p:tav tm="100000">
                                          <p:val>
                                            <p:strVal val="#ppt_y"/>
                                          </p:val>
                                        </p:tav>
                                      </p:tavLst>
                                    </p:anim>
                                    <p:animEffect transition="in" filter="fade">
                                      <p:cBhvr>
                                        <p:cTn id="320" dur="500"/>
                                        <p:tgtEl>
                                          <p:spTgt spid="73"/>
                                        </p:tgtEl>
                                      </p:cBhvr>
                                    </p:animEffect>
                                  </p:childTnLst>
                                </p:cTn>
                              </p:par>
                              <p:par>
                                <p:cTn id="326" presetID="2" presetClass="entr" presetSubtype="4" fill="hold" grpId="0" nodeType="withEffect">
                                  <p:stCondLst>
                                    <p:cond delay="240"/>
                                  </p:stCondLst>
                                  <p:childTnLst>
                                    <p:set>
                                      <p:cBhvr>
                                        <p:cTn id="322" dur="1" fill="hold">
                                          <p:stCondLst>
                                            <p:cond delay="0"/>
                                          </p:stCondLst>
                                        </p:cTn>
                                        <p:tgtEl>
                                          <p:spTgt spid="74"/>
                                        </p:tgtEl>
                                        <p:attrNameLst>
                                          <p:attrName>style.visibility</p:attrName>
                                        </p:attrNameLst>
                                      </p:cBhvr>
                                      <p:to>
                                        <p:strVal val="visible"/>
                                      </p:to>
                                    </p:set>
                                    <p:anim calcmode="lin" valueType="num">
                                      <p:cBhvr additive="base">
                                        <p:cTn id="323" dur="500" fill="hold"/>
                                        <p:tgtEl>
                                          <p:spTgt spid="74"/>
                                        </p:tgtEl>
                                        <p:attrNameLst>
                                          <p:attrName>ppt_x</p:attrName>
                                        </p:attrNameLst>
                                      </p:cBhvr>
                                      <p:tavLst>
                                        <p:tav tm="0">
                                          <p:val>
                                            <p:strVal val="#ppt_x"/>
                                          </p:val>
                                        </p:tav>
                                        <p:tav tm="100000">
                                          <p:val>
                                            <p:strVal val="#ppt_x"/>
                                          </p:val>
                                        </p:tav>
                                      </p:tavLst>
                                    </p:anim>
                                    <p:anim calcmode="lin" valueType="num">
                                      <p:cBhvr additive="base">
                                        <p:cTn id="324" dur="500" fill="hold"/>
                                        <p:tgtEl>
                                          <p:spTgt spid="74"/>
                                        </p:tgtEl>
                                        <p:attrNameLst>
                                          <p:attrName>ppt_y</p:attrName>
                                        </p:attrNameLst>
                                      </p:cBhvr>
                                      <p:tavLst>
                                        <p:tav tm="0">
                                          <p:val>
                                            <p:strVal val="#ppt_y+0.1"/>
                                          </p:val>
                                        </p:tav>
                                        <p:tav tm="100000">
                                          <p:val>
                                            <p:strVal val="#ppt_y"/>
                                          </p:val>
                                        </p:tav>
                                      </p:tavLst>
                                    </p:anim>
                                    <p:animEffect transition="in" filter="fade">
                                      <p:cBhvr>
                                        <p:cTn id="325" dur="500"/>
                                        <p:tgtEl>
                                          <p:spTgt spid="74"/>
                                        </p:tgtEl>
                                      </p:cBhvr>
                                    </p:animEffect>
                                  </p:childTnLst>
                                </p:cTn>
                              </p:par>
                              <p:par>
                                <p:cTn id="331" presetID="2" presetClass="entr" presetSubtype="4" fill="hold" grpId="0" nodeType="withEffect">
                                  <p:stCondLst>
                                    <p:cond delay="240"/>
                                  </p:stCondLst>
                                  <p:childTnLst>
                                    <p:set>
                                      <p:cBhvr>
                                        <p:cTn id="327" dur="1" fill="hold">
                                          <p:stCondLst>
                                            <p:cond delay="0"/>
                                          </p:stCondLst>
                                        </p:cTn>
                                        <p:tgtEl>
                                          <p:spTgt spid="75"/>
                                        </p:tgtEl>
                                        <p:attrNameLst>
                                          <p:attrName>style.visibility</p:attrName>
                                        </p:attrNameLst>
                                      </p:cBhvr>
                                      <p:to>
                                        <p:strVal val="visible"/>
                                      </p:to>
                                    </p:set>
                                    <p:anim calcmode="lin" valueType="num">
                                      <p:cBhvr additive="base">
                                        <p:cTn id="328" dur="500" fill="hold"/>
                                        <p:tgtEl>
                                          <p:spTgt spid="75"/>
                                        </p:tgtEl>
                                        <p:attrNameLst>
                                          <p:attrName>ppt_x</p:attrName>
                                        </p:attrNameLst>
                                      </p:cBhvr>
                                      <p:tavLst>
                                        <p:tav tm="0">
                                          <p:val>
                                            <p:strVal val="#ppt_x"/>
                                          </p:val>
                                        </p:tav>
                                        <p:tav tm="100000">
                                          <p:val>
                                            <p:strVal val="#ppt_x"/>
                                          </p:val>
                                        </p:tav>
                                      </p:tavLst>
                                    </p:anim>
                                    <p:anim calcmode="lin" valueType="num">
                                      <p:cBhvr additive="base">
                                        <p:cTn id="329" dur="500" fill="hold"/>
                                        <p:tgtEl>
                                          <p:spTgt spid="75"/>
                                        </p:tgtEl>
                                        <p:attrNameLst>
                                          <p:attrName>ppt_y</p:attrName>
                                        </p:attrNameLst>
                                      </p:cBhvr>
                                      <p:tavLst>
                                        <p:tav tm="0">
                                          <p:val>
                                            <p:strVal val="#ppt_y+0.1"/>
                                          </p:val>
                                        </p:tav>
                                        <p:tav tm="100000">
                                          <p:val>
                                            <p:strVal val="#ppt_y"/>
                                          </p:val>
                                        </p:tav>
                                      </p:tavLst>
                                    </p:anim>
                                    <p:animEffect transition="in" filter="fade">
                                      <p:cBhvr>
                                        <p:cTn id="330" dur="500"/>
                                        <p:tgtEl>
                                          <p:spTgt spid="75"/>
                                        </p:tgtEl>
                                      </p:cBhvr>
                                    </p:animEffect>
                                  </p:childTnLst>
                                </p:cTn>
                              </p:par>
                              <p:par>
                                <p:cTn id="336" presetID="2" presetClass="entr" presetSubtype="4" fill="hold" grpId="0" nodeType="withEffect">
                                  <p:stCondLst>
                                    <p:cond delay="240"/>
                                  </p:stCondLst>
                                  <p:childTnLst>
                                    <p:set>
                                      <p:cBhvr>
                                        <p:cTn id="332" dur="1" fill="hold">
                                          <p:stCondLst>
                                            <p:cond delay="0"/>
                                          </p:stCondLst>
                                        </p:cTn>
                                        <p:tgtEl>
                                          <p:spTgt spid="76"/>
                                        </p:tgtEl>
                                        <p:attrNameLst>
                                          <p:attrName>style.visibility</p:attrName>
                                        </p:attrNameLst>
                                      </p:cBhvr>
                                      <p:to>
                                        <p:strVal val="visible"/>
                                      </p:to>
                                    </p:set>
                                    <p:anim calcmode="lin" valueType="num">
                                      <p:cBhvr additive="base">
                                        <p:cTn id="333" dur="500" fill="hold"/>
                                        <p:tgtEl>
                                          <p:spTgt spid="76"/>
                                        </p:tgtEl>
                                        <p:attrNameLst>
                                          <p:attrName>ppt_x</p:attrName>
                                        </p:attrNameLst>
                                      </p:cBhvr>
                                      <p:tavLst>
                                        <p:tav tm="0">
                                          <p:val>
                                            <p:strVal val="#ppt_x"/>
                                          </p:val>
                                        </p:tav>
                                        <p:tav tm="100000">
                                          <p:val>
                                            <p:strVal val="#ppt_x"/>
                                          </p:val>
                                        </p:tav>
                                      </p:tavLst>
                                    </p:anim>
                                    <p:anim calcmode="lin" valueType="num">
                                      <p:cBhvr additive="base">
                                        <p:cTn id="334" dur="500" fill="hold"/>
                                        <p:tgtEl>
                                          <p:spTgt spid="76"/>
                                        </p:tgtEl>
                                        <p:attrNameLst>
                                          <p:attrName>ppt_y</p:attrName>
                                        </p:attrNameLst>
                                      </p:cBhvr>
                                      <p:tavLst>
                                        <p:tav tm="0">
                                          <p:val>
                                            <p:strVal val="#ppt_y+0.1"/>
                                          </p:val>
                                        </p:tav>
                                        <p:tav tm="100000">
                                          <p:val>
                                            <p:strVal val="#ppt_y"/>
                                          </p:val>
                                        </p:tav>
                                      </p:tavLst>
                                    </p:anim>
                                    <p:animEffect transition="in" filter="fade">
                                      <p:cBhvr>
                                        <p:cTn id="335" dur="500"/>
                                        <p:tgtEl>
                                          <p:spTgt spid="76"/>
                                        </p:tgtEl>
                                      </p:cBhvr>
                                    </p:animEffect>
                                  </p:childTnLst>
                                </p:cTn>
                              </p:par>
                              <p:par>
                                <p:cTn id="341" presetID="2" presetClass="entr" presetSubtype="4" fill="hold" grpId="0" nodeType="withEffect">
                                  <p:stCondLst>
                                    <p:cond delay="240"/>
                                  </p:stCondLst>
                                  <p:childTnLst>
                                    <p:set>
                                      <p:cBhvr>
                                        <p:cTn id="337" dur="1" fill="hold">
                                          <p:stCondLst>
                                            <p:cond delay="0"/>
                                          </p:stCondLst>
                                        </p:cTn>
                                        <p:tgtEl>
                                          <p:spTgt spid="77"/>
                                        </p:tgtEl>
                                        <p:attrNameLst>
                                          <p:attrName>style.visibility</p:attrName>
                                        </p:attrNameLst>
                                      </p:cBhvr>
                                      <p:to>
                                        <p:strVal val="visible"/>
                                      </p:to>
                                    </p:set>
                                    <p:anim calcmode="lin" valueType="num">
                                      <p:cBhvr additive="base">
                                        <p:cTn id="338" dur="500" fill="hold"/>
                                        <p:tgtEl>
                                          <p:spTgt spid="77"/>
                                        </p:tgtEl>
                                        <p:attrNameLst>
                                          <p:attrName>ppt_x</p:attrName>
                                        </p:attrNameLst>
                                      </p:cBhvr>
                                      <p:tavLst>
                                        <p:tav tm="0">
                                          <p:val>
                                            <p:strVal val="#ppt_x"/>
                                          </p:val>
                                        </p:tav>
                                        <p:tav tm="100000">
                                          <p:val>
                                            <p:strVal val="#ppt_x"/>
                                          </p:val>
                                        </p:tav>
                                      </p:tavLst>
                                    </p:anim>
                                    <p:anim calcmode="lin" valueType="num">
                                      <p:cBhvr additive="base">
                                        <p:cTn id="339" dur="500" fill="hold"/>
                                        <p:tgtEl>
                                          <p:spTgt spid="77"/>
                                        </p:tgtEl>
                                        <p:attrNameLst>
                                          <p:attrName>ppt_y</p:attrName>
                                        </p:attrNameLst>
                                      </p:cBhvr>
                                      <p:tavLst>
                                        <p:tav tm="0">
                                          <p:val>
                                            <p:strVal val="#ppt_y+0.1"/>
                                          </p:val>
                                        </p:tav>
                                        <p:tav tm="100000">
                                          <p:val>
                                            <p:strVal val="#ppt_y"/>
                                          </p:val>
                                        </p:tav>
                                      </p:tavLst>
                                    </p:anim>
                                    <p:animEffect transition="in" filter="fade">
                                      <p:cBhvr>
                                        <p:cTn id="340" dur="500"/>
                                        <p:tgtEl>
                                          <p:spTgt spid="77"/>
                                        </p:tgtEl>
                                      </p:cBhvr>
                                    </p:animEffect>
                                  </p:childTnLst>
                                </p:cTn>
                              </p:par>
                              <p:par>
                                <p:cTn id="346" presetID="2" presetClass="entr" presetSubtype="4" fill="hold" grpId="0" nodeType="withEffect">
                                  <p:stCondLst>
                                    <p:cond delay="240"/>
                                  </p:stCondLst>
                                  <p:childTnLst>
                                    <p:set>
                                      <p:cBhvr>
                                        <p:cTn id="342" dur="1" fill="hold">
                                          <p:stCondLst>
                                            <p:cond delay="0"/>
                                          </p:stCondLst>
                                        </p:cTn>
                                        <p:tgtEl>
                                          <p:spTgt spid="78"/>
                                        </p:tgtEl>
                                        <p:attrNameLst>
                                          <p:attrName>style.visibility</p:attrName>
                                        </p:attrNameLst>
                                      </p:cBhvr>
                                      <p:to>
                                        <p:strVal val="visible"/>
                                      </p:to>
                                    </p:set>
                                    <p:anim calcmode="lin" valueType="num">
                                      <p:cBhvr additive="base">
                                        <p:cTn id="343" dur="500" fill="hold"/>
                                        <p:tgtEl>
                                          <p:spTgt spid="78"/>
                                        </p:tgtEl>
                                        <p:attrNameLst>
                                          <p:attrName>ppt_x</p:attrName>
                                        </p:attrNameLst>
                                      </p:cBhvr>
                                      <p:tavLst>
                                        <p:tav tm="0">
                                          <p:val>
                                            <p:strVal val="#ppt_x"/>
                                          </p:val>
                                        </p:tav>
                                        <p:tav tm="100000">
                                          <p:val>
                                            <p:strVal val="#ppt_x"/>
                                          </p:val>
                                        </p:tav>
                                      </p:tavLst>
                                    </p:anim>
                                    <p:anim calcmode="lin" valueType="num">
                                      <p:cBhvr additive="base">
                                        <p:cTn id="344" dur="500" fill="hold"/>
                                        <p:tgtEl>
                                          <p:spTgt spid="78"/>
                                        </p:tgtEl>
                                        <p:attrNameLst>
                                          <p:attrName>ppt_y</p:attrName>
                                        </p:attrNameLst>
                                      </p:cBhvr>
                                      <p:tavLst>
                                        <p:tav tm="0">
                                          <p:val>
                                            <p:strVal val="#ppt_y+0.1"/>
                                          </p:val>
                                        </p:tav>
                                        <p:tav tm="100000">
                                          <p:val>
                                            <p:strVal val="#ppt_y"/>
                                          </p:val>
                                        </p:tav>
                                      </p:tavLst>
                                    </p:anim>
                                    <p:animEffect transition="in" filter="fade">
                                      <p:cBhvr>
                                        <p:cTn id="345" dur="500"/>
                                        <p:tgtEl>
                                          <p:spTgt spid="78"/>
                                        </p:tgtEl>
                                      </p:cBhvr>
                                    </p:animEffect>
                                  </p:childTnLst>
                                </p:cTn>
                              </p:par>
                              <p:par>
                                <p:cTn id="351" presetID="2" presetClass="entr" presetSubtype="4" fill="hold" grpId="0" nodeType="withEffect">
                                  <p:stCondLst>
                                    <p:cond delay="240"/>
                                  </p:stCondLst>
                                  <p:childTnLst>
                                    <p:set>
                                      <p:cBhvr>
                                        <p:cTn id="347" dur="1" fill="hold">
                                          <p:stCondLst>
                                            <p:cond delay="0"/>
                                          </p:stCondLst>
                                        </p:cTn>
                                        <p:tgtEl>
                                          <p:spTgt spid="79"/>
                                        </p:tgtEl>
                                        <p:attrNameLst>
                                          <p:attrName>style.visibility</p:attrName>
                                        </p:attrNameLst>
                                      </p:cBhvr>
                                      <p:to>
                                        <p:strVal val="visible"/>
                                      </p:to>
                                    </p:set>
                                    <p:anim calcmode="lin" valueType="num">
                                      <p:cBhvr additive="base">
                                        <p:cTn id="348" dur="500" fill="hold"/>
                                        <p:tgtEl>
                                          <p:spTgt spid="79"/>
                                        </p:tgtEl>
                                        <p:attrNameLst>
                                          <p:attrName>ppt_x</p:attrName>
                                        </p:attrNameLst>
                                      </p:cBhvr>
                                      <p:tavLst>
                                        <p:tav tm="0">
                                          <p:val>
                                            <p:strVal val="#ppt_x"/>
                                          </p:val>
                                        </p:tav>
                                        <p:tav tm="100000">
                                          <p:val>
                                            <p:strVal val="#ppt_x"/>
                                          </p:val>
                                        </p:tav>
                                      </p:tavLst>
                                    </p:anim>
                                    <p:anim calcmode="lin" valueType="num">
                                      <p:cBhvr additive="base">
                                        <p:cTn id="349" dur="500" fill="hold"/>
                                        <p:tgtEl>
                                          <p:spTgt spid="79"/>
                                        </p:tgtEl>
                                        <p:attrNameLst>
                                          <p:attrName>ppt_y</p:attrName>
                                        </p:attrNameLst>
                                      </p:cBhvr>
                                      <p:tavLst>
                                        <p:tav tm="0">
                                          <p:val>
                                            <p:strVal val="#ppt_y+0.1"/>
                                          </p:val>
                                        </p:tav>
                                        <p:tav tm="100000">
                                          <p:val>
                                            <p:strVal val="#ppt_y"/>
                                          </p:val>
                                        </p:tav>
                                      </p:tavLst>
                                    </p:anim>
                                    <p:animEffect transition="in" filter="fade">
                                      <p:cBhvr>
                                        <p:cTn id="350" dur="500"/>
                                        <p:tgtEl>
                                          <p:spTgt spid="79"/>
                                        </p:tgtEl>
                                      </p:cBhvr>
                                    </p:animEffect>
                                  </p:childTnLst>
                                </p:cTn>
                              </p:par>
                              <p:par>
                                <p:cTn id="356" presetID="2" presetClass="entr" presetSubtype="4" fill="hold" grpId="0" nodeType="withEffect">
                                  <p:stCondLst>
                                    <p:cond delay="240"/>
                                  </p:stCondLst>
                                  <p:childTnLst>
                                    <p:set>
                                      <p:cBhvr>
                                        <p:cTn id="352" dur="1" fill="hold">
                                          <p:stCondLst>
                                            <p:cond delay="0"/>
                                          </p:stCondLst>
                                        </p:cTn>
                                        <p:tgtEl>
                                          <p:spTgt spid="80"/>
                                        </p:tgtEl>
                                        <p:attrNameLst>
                                          <p:attrName>style.visibility</p:attrName>
                                        </p:attrNameLst>
                                      </p:cBhvr>
                                      <p:to>
                                        <p:strVal val="visible"/>
                                      </p:to>
                                    </p:set>
                                    <p:anim calcmode="lin" valueType="num">
                                      <p:cBhvr additive="base">
                                        <p:cTn id="353" dur="500" fill="hold"/>
                                        <p:tgtEl>
                                          <p:spTgt spid="80"/>
                                        </p:tgtEl>
                                        <p:attrNameLst>
                                          <p:attrName>ppt_x</p:attrName>
                                        </p:attrNameLst>
                                      </p:cBhvr>
                                      <p:tavLst>
                                        <p:tav tm="0">
                                          <p:val>
                                            <p:strVal val="#ppt_x"/>
                                          </p:val>
                                        </p:tav>
                                        <p:tav tm="100000">
                                          <p:val>
                                            <p:strVal val="#ppt_x"/>
                                          </p:val>
                                        </p:tav>
                                      </p:tavLst>
                                    </p:anim>
                                    <p:anim calcmode="lin" valueType="num">
                                      <p:cBhvr additive="base">
                                        <p:cTn id="354" dur="500" fill="hold"/>
                                        <p:tgtEl>
                                          <p:spTgt spid="80"/>
                                        </p:tgtEl>
                                        <p:attrNameLst>
                                          <p:attrName>ppt_y</p:attrName>
                                        </p:attrNameLst>
                                      </p:cBhvr>
                                      <p:tavLst>
                                        <p:tav tm="0">
                                          <p:val>
                                            <p:strVal val="#ppt_y+0.1"/>
                                          </p:val>
                                        </p:tav>
                                        <p:tav tm="100000">
                                          <p:val>
                                            <p:strVal val="#ppt_y"/>
                                          </p:val>
                                        </p:tav>
                                      </p:tavLst>
                                    </p:anim>
                                    <p:animEffect transition="in" filter="fade">
                                      <p:cBhvr>
                                        <p:cTn id="355" dur="500"/>
                                        <p:tgtEl>
                                          <p:spTgt spid="80"/>
                                        </p:tgtEl>
                                      </p:cBhvr>
                                    </p:animEffect>
                                  </p:childTnLst>
                                </p:cTn>
                              </p:par>
                              <p:par>
                                <p:cTn id="361" presetID="2" presetClass="entr" presetSubtype="4" fill="hold" grpId="0" nodeType="withEffect">
                                  <p:stCondLst>
                                    <p:cond delay="240"/>
                                  </p:stCondLst>
                                  <p:childTnLst>
                                    <p:set>
                                      <p:cBhvr>
                                        <p:cTn id="357" dur="1" fill="hold">
                                          <p:stCondLst>
                                            <p:cond delay="0"/>
                                          </p:stCondLst>
                                        </p:cTn>
                                        <p:tgtEl>
                                          <p:spTgt spid="81"/>
                                        </p:tgtEl>
                                        <p:attrNameLst>
                                          <p:attrName>style.visibility</p:attrName>
                                        </p:attrNameLst>
                                      </p:cBhvr>
                                      <p:to>
                                        <p:strVal val="visible"/>
                                      </p:to>
                                    </p:set>
                                    <p:anim calcmode="lin" valueType="num">
                                      <p:cBhvr additive="base">
                                        <p:cTn id="358" dur="500" fill="hold"/>
                                        <p:tgtEl>
                                          <p:spTgt spid="81"/>
                                        </p:tgtEl>
                                        <p:attrNameLst>
                                          <p:attrName>ppt_x</p:attrName>
                                        </p:attrNameLst>
                                      </p:cBhvr>
                                      <p:tavLst>
                                        <p:tav tm="0">
                                          <p:val>
                                            <p:strVal val="#ppt_x"/>
                                          </p:val>
                                        </p:tav>
                                        <p:tav tm="100000">
                                          <p:val>
                                            <p:strVal val="#ppt_x"/>
                                          </p:val>
                                        </p:tav>
                                      </p:tavLst>
                                    </p:anim>
                                    <p:anim calcmode="lin" valueType="num">
                                      <p:cBhvr additive="base">
                                        <p:cTn id="359" dur="500" fill="hold"/>
                                        <p:tgtEl>
                                          <p:spTgt spid="81"/>
                                        </p:tgtEl>
                                        <p:attrNameLst>
                                          <p:attrName>ppt_y</p:attrName>
                                        </p:attrNameLst>
                                      </p:cBhvr>
                                      <p:tavLst>
                                        <p:tav tm="0">
                                          <p:val>
                                            <p:strVal val="#ppt_y+0.1"/>
                                          </p:val>
                                        </p:tav>
                                        <p:tav tm="100000">
                                          <p:val>
                                            <p:strVal val="#ppt_y"/>
                                          </p:val>
                                        </p:tav>
                                      </p:tavLst>
                                    </p:anim>
                                    <p:animEffect transition="in" filter="fade">
                                      <p:cBhvr>
                                        <p:cTn id="360" dur="500"/>
                                        <p:tgtEl>
                                          <p:spTgt spid="81"/>
                                        </p:tgtEl>
                                      </p:cBhvr>
                                    </p:animEffect>
                                  </p:childTnLst>
                                </p:cTn>
                              </p:par>
                              <p:par>
                                <p:cTn id="366" presetID="2" presetClass="entr" presetSubtype="4" fill="hold" grpId="0" nodeType="withEffect">
                                  <p:stCondLst>
                                    <p:cond delay="240"/>
                                  </p:stCondLst>
                                  <p:childTnLst>
                                    <p:set>
                                      <p:cBhvr>
                                        <p:cTn id="362" dur="1" fill="hold">
                                          <p:stCondLst>
                                            <p:cond delay="0"/>
                                          </p:stCondLst>
                                        </p:cTn>
                                        <p:tgtEl>
                                          <p:spTgt spid="82"/>
                                        </p:tgtEl>
                                        <p:attrNameLst>
                                          <p:attrName>style.visibility</p:attrName>
                                        </p:attrNameLst>
                                      </p:cBhvr>
                                      <p:to>
                                        <p:strVal val="visible"/>
                                      </p:to>
                                    </p:set>
                                    <p:anim calcmode="lin" valueType="num">
                                      <p:cBhvr additive="base">
                                        <p:cTn id="363" dur="500" fill="hold"/>
                                        <p:tgtEl>
                                          <p:spTgt spid="82"/>
                                        </p:tgtEl>
                                        <p:attrNameLst>
                                          <p:attrName>ppt_x</p:attrName>
                                        </p:attrNameLst>
                                      </p:cBhvr>
                                      <p:tavLst>
                                        <p:tav tm="0">
                                          <p:val>
                                            <p:strVal val="#ppt_x"/>
                                          </p:val>
                                        </p:tav>
                                        <p:tav tm="100000">
                                          <p:val>
                                            <p:strVal val="#ppt_x"/>
                                          </p:val>
                                        </p:tav>
                                      </p:tavLst>
                                    </p:anim>
                                    <p:anim calcmode="lin" valueType="num">
                                      <p:cBhvr additive="base">
                                        <p:cTn id="364" dur="500" fill="hold"/>
                                        <p:tgtEl>
                                          <p:spTgt spid="82"/>
                                        </p:tgtEl>
                                        <p:attrNameLst>
                                          <p:attrName>ppt_y</p:attrName>
                                        </p:attrNameLst>
                                      </p:cBhvr>
                                      <p:tavLst>
                                        <p:tav tm="0">
                                          <p:val>
                                            <p:strVal val="#ppt_y+0.1"/>
                                          </p:val>
                                        </p:tav>
                                        <p:tav tm="100000">
                                          <p:val>
                                            <p:strVal val="#ppt_y"/>
                                          </p:val>
                                        </p:tav>
                                      </p:tavLst>
                                    </p:anim>
                                    <p:animEffect transition="in" filter="fade">
                                      <p:cBhvr>
                                        <p:cTn id="365" dur="500"/>
                                        <p:tgtEl>
                                          <p:spTgt spid="82"/>
                                        </p:tgtEl>
                                      </p:cBhvr>
                                    </p:animEffect>
                                  </p:childTnLst>
                                </p:cTn>
                              </p:par>
                              <p:par>
                                <p:cTn id="371" presetID="2" presetClass="entr" presetSubtype="4" fill="hold" grpId="0" nodeType="withEffect">
                                  <p:stCondLst>
                                    <p:cond delay="240"/>
                                  </p:stCondLst>
                                  <p:childTnLst>
                                    <p:set>
                                      <p:cBhvr>
                                        <p:cTn id="367" dur="1" fill="hold">
                                          <p:stCondLst>
                                            <p:cond delay="0"/>
                                          </p:stCondLst>
                                        </p:cTn>
                                        <p:tgtEl>
                                          <p:spTgt spid="83"/>
                                        </p:tgtEl>
                                        <p:attrNameLst>
                                          <p:attrName>style.visibility</p:attrName>
                                        </p:attrNameLst>
                                      </p:cBhvr>
                                      <p:to>
                                        <p:strVal val="visible"/>
                                      </p:to>
                                    </p:set>
                                    <p:anim calcmode="lin" valueType="num">
                                      <p:cBhvr additive="base">
                                        <p:cTn id="368" dur="500" fill="hold"/>
                                        <p:tgtEl>
                                          <p:spTgt spid="83"/>
                                        </p:tgtEl>
                                        <p:attrNameLst>
                                          <p:attrName>ppt_x</p:attrName>
                                        </p:attrNameLst>
                                      </p:cBhvr>
                                      <p:tavLst>
                                        <p:tav tm="0">
                                          <p:val>
                                            <p:strVal val="#ppt_x"/>
                                          </p:val>
                                        </p:tav>
                                        <p:tav tm="100000">
                                          <p:val>
                                            <p:strVal val="#ppt_x"/>
                                          </p:val>
                                        </p:tav>
                                      </p:tavLst>
                                    </p:anim>
                                    <p:anim calcmode="lin" valueType="num">
                                      <p:cBhvr additive="base">
                                        <p:cTn id="369" dur="500" fill="hold"/>
                                        <p:tgtEl>
                                          <p:spTgt spid="83"/>
                                        </p:tgtEl>
                                        <p:attrNameLst>
                                          <p:attrName>ppt_y</p:attrName>
                                        </p:attrNameLst>
                                      </p:cBhvr>
                                      <p:tavLst>
                                        <p:tav tm="0">
                                          <p:val>
                                            <p:strVal val="#ppt_y+0.1"/>
                                          </p:val>
                                        </p:tav>
                                        <p:tav tm="100000">
                                          <p:val>
                                            <p:strVal val="#ppt_y"/>
                                          </p:val>
                                        </p:tav>
                                      </p:tavLst>
                                    </p:anim>
                                    <p:animEffect transition="in" filter="fade">
                                      <p:cBhvr>
                                        <p:cTn id="370" dur="500"/>
                                        <p:tgtEl>
                                          <p:spTgt spid="83"/>
                                        </p:tgtEl>
                                      </p:cBhvr>
                                    </p:animEffect>
                                  </p:childTnLst>
                                </p:cTn>
                              </p:par>
                              <p:par>
                                <p:cTn id="376" presetID="2" presetClass="entr" presetSubtype="4" fill="hold" grpId="0" nodeType="withEffect">
                                  <p:stCondLst>
                                    <p:cond delay="240"/>
                                  </p:stCondLst>
                                  <p:childTnLst>
                                    <p:set>
                                      <p:cBhvr>
                                        <p:cTn id="372" dur="1" fill="hold">
                                          <p:stCondLst>
                                            <p:cond delay="0"/>
                                          </p:stCondLst>
                                        </p:cTn>
                                        <p:tgtEl>
                                          <p:spTgt spid="84"/>
                                        </p:tgtEl>
                                        <p:attrNameLst>
                                          <p:attrName>style.visibility</p:attrName>
                                        </p:attrNameLst>
                                      </p:cBhvr>
                                      <p:to>
                                        <p:strVal val="visible"/>
                                      </p:to>
                                    </p:set>
                                    <p:anim calcmode="lin" valueType="num">
                                      <p:cBhvr additive="base">
                                        <p:cTn id="373" dur="500" fill="hold"/>
                                        <p:tgtEl>
                                          <p:spTgt spid="84"/>
                                        </p:tgtEl>
                                        <p:attrNameLst>
                                          <p:attrName>ppt_x</p:attrName>
                                        </p:attrNameLst>
                                      </p:cBhvr>
                                      <p:tavLst>
                                        <p:tav tm="0">
                                          <p:val>
                                            <p:strVal val="#ppt_x"/>
                                          </p:val>
                                        </p:tav>
                                        <p:tav tm="100000">
                                          <p:val>
                                            <p:strVal val="#ppt_x"/>
                                          </p:val>
                                        </p:tav>
                                      </p:tavLst>
                                    </p:anim>
                                    <p:anim calcmode="lin" valueType="num">
                                      <p:cBhvr additive="base">
                                        <p:cTn id="374" dur="500" fill="hold"/>
                                        <p:tgtEl>
                                          <p:spTgt spid="84"/>
                                        </p:tgtEl>
                                        <p:attrNameLst>
                                          <p:attrName>ppt_y</p:attrName>
                                        </p:attrNameLst>
                                      </p:cBhvr>
                                      <p:tavLst>
                                        <p:tav tm="0">
                                          <p:val>
                                            <p:strVal val="#ppt_y+0.1"/>
                                          </p:val>
                                        </p:tav>
                                        <p:tav tm="100000">
                                          <p:val>
                                            <p:strVal val="#ppt_y"/>
                                          </p:val>
                                        </p:tav>
                                      </p:tavLst>
                                    </p:anim>
                                    <p:animEffect transition="in" filter="fade">
                                      <p:cBhvr>
                                        <p:cTn id="375" dur="500"/>
                                        <p:tgtEl>
                                          <p:spTgt spid="84"/>
                                        </p:tgtEl>
                                      </p:cBhvr>
                                    </p:animEffect>
                                  </p:childTnLst>
                                </p:cTn>
                              </p:par>
                              <p:par>
                                <p:cTn id="381" presetID="2" presetClass="entr" presetSubtype="4" fill="hold" grpId="0" nodeType="withEffect">
                                  <p:stCondLst>
                                    <p:cond delay="240"/>
                                  </p:stCondLst>
                                  <p:childTnLst>
                                    <p:set>
                                      <p:cBhvr>
                                        <p:cTn id="377" dur="1" fill="hold">
                                          <p:stCondLst>
                                            <p:cond delay="0"/>
                                          </p:stCondLst>
                                        </p:cTn>
                                        <p:tgtEl>
                                          <p:spTgt spid="85"/>
                                        </p:tgtEl>
                                        <p:attrNameLst>
                                          <p:attrName>style.visibility</p:attrName>
                                        </p:attrNameLst>
                                      </p:cBhvr>
                                      <p:to>
                                        <p:strVal val="visible"/>
                                      </p:to>
                                    </p:set>
                                    <p:anim calcmode="lin" valueType="num">
                                      <p:cBhvr additive="base">
                                        <p:cTn id="378" dur="500" fill="hold"/>
                                        <p:tgtEl>
                                          <p:spTgt spid="85"/>
                                        </p:tgtEl>
                                        <p:attrNameLst>
                                          <p:attrName>ppt_x</p:attrName>
                                        </p:attrNameLst>
                                      </p:cBhvr>
                                      <p:tavLst>
                                        <p:tav tm="0">
                                          <p:val>
                                            <p:strVal val="#ppt_x"/>
                                          </p:val>
                                        </p:tav>
                                        <p:tav tm="100000">
                                          <p:val>
                                            <p:strVal val="#ppt_x"/>
                                          </p:val>
                                        </p:tav>
                                      </p:tavLst>
                                    </p:anim>
                                    <p:anim calcmode="lin" valueType="num">
                                      <p:cBhvr additive="base">
                                        <p:cTn id="379" dur="500" fill="hold"/>
                                        <p:tgtEl>
                                          <p:spTgt spid="85"/>
                                        </p:tgtEl>
                                        <p:attrNameLst>
                                          <p:attrName>ppt_y</p:attrName>
                                        </p:attrNameLst>
                                      </p:cBhvr>
                                      <p:tavLst>
                                        <p:tav tm="0">
                                          <p:val>
                                            <p:strVal val="#ppt_y+0.1"/>
                                          </p:val>
                                        </p:tav>
                                        <p:tav tm="100000">
                                          <p:val>
                                            <p:strVal val="#ppt_y"/>
                                          </p:val>
                                        </p:tav>
                                      </p:tavLst>
                                    </p:anim>
                                    <p:animEffect transition="in" filter="fade">
                                      <p:cBhvr>
                                        <p:cTn id="380" dur="500"/>
                                        <p:tgtEl>
                                          <p:spTgt spid="85"/>
                                        </p:tgtEl>
                                      </p:cBhvr>
                                    </p:animEffect>
                                  </p:childTnLst>
                                </p:cTn>
                              </p:par>
                              <p:par>
                                <p:cTn id="386" presetID="2" presetClass="entr" presetSubtype="4" fill="hold" grpId="0" nodeType="withEffect">
                                  <p:stCondLst>
                                    <p:cond delay="240"/>
                                  </p:stCondLst>
                                  <p:childTnLst>
                                    <p:set>
                                      <p:cBhvr>
                                        <p:cTn id="382" dur="1" fill="hold">
                                          <p:stCondLst>
                                            <p:cond delay="0"/>
                                          </p:stCondLst>
                                        </p:cTn>
                                        <p:tgtEl>
                                          <p:spTgt spid="86"/>
                                        </p:tgtEl>
                                        <p:attrNameLst>
                                          <p:attrName>style.visibility</p:attrName>
                                        </p:attrNameLst>
                                      </p:cBhvr>
                                      <p:to>
                                        <p:strVal val="visible"/>
                                      </p:to>
                                    </p:set>
                                    <p:anim calcmode="lin" valueType="num">
                                      <p:cBhvr additive="base">
                                        <p:cTn id="383" dur="500" fill="hold"/>
                                        <p:tgtEl>
                                          <p:spTgt spid="86"/>
                                        </p:tgtEl>
                                        <p:attrNameLst>
                                          <p:attrName>ppt_x</p:attrName>
                                        </p:attrNameLst>
                                      </p:cBhvr>
                                      <p:tavLst>
                                        <p:tav tm="0">
                                          <p:val>
                                            <p:strVal val="#ppt_x"/>
                                          </p:val>
                                        </p:tav>
                                        <p:tav tm="100000">
                                          <p:val>
                                            <p:strVal val="#ppt_x"/>
                                          </p:val>
                                        </p:tav>
                                      </p:tavLst>
                                    </p:anim>
                                    <p:anim calcmode="lin" valueType="num">
                                      <p:cBhvr additive="base">
                                        <p:cTn id="384" dur="500" fill="hold"/>
                                        <p:tgtEl>
                                          <p:spTgt spid="86"/>
                                        </p:tgtEl>
                                        <p:attrNameLst>
                                          <p:attrName>ppt_y</p:attrName>
                                        </p:attrNameLst>
                                      </p:cBhvr>
                                      <p:tavLst>
                                        <p:tav tm="0">
                                          <p:val>
                                            <p:strVal val="#ppt_y+0.1"/>
                                          </p:val>
                                        </p:tav>
                                        <p:tav tm="100000">
                                          <p:val>
                                            <p:strVal val="#ppt_y"/>
                                          </p:val>
                                        </p:tav>
                                      </p:tavLst>
                                    </p:anim>
                                    <p:animEffect transition="in" filter="fade">
                                      <p:cBhvr>
                                        <p:cTn id="385" dur="500"/>
                                        <p:tgtEl>
                                          <p:spTgt spid="86"/>
                                        </p:tgtEl>
                                      </p:cBhvr>
                                    </p:animEffect>
                                  </p:childTnLst>
                                </p:cTn>
                              </p:par>
                              <p:par>
                                <p:cTn id="391" presetID="2" presetClass="entr" presetSubtype="4" fill="hold" grpId="0" nodeType="withEffect">
                                  <p:stCondLst>
                                    <p:cond delay="240"/>
                                  </p:stCondLst>
                                  <p:childTnLst>
                                    <p:set>
                                      <p:cBhvr>
                                        <p:cTn id="387" dur="1" fill="hold">
                                          <p:stCondLst>
                                            <p:cond delay="0"/>
                                          </p:stCondLst>
                                        </p:cTn>
                                        <p:tgtEl>
                                          <p:spTgt spid="87"/>
                                        </p:tgtEl>
                                        <p:attrNameLst>
                                          <p:attrName>style.visibility</p:attrName>
                                        </p:attrNameLst>
                                      </p:cBhvr>
                                      <p:to>
                                        <p:strVal val="visible"/>
                                      </p:to>
                                    </p:set>
                                    <p:anim calcmode="lin" valueType="num">
                                      <p:cBhvr additive="base">
                                        <p:cTn id="388" dur="500" fill="hold"/>
                                        <p:tgtEl>
                                          <p:spTgt spid="87"/>
                                        </p:tgtEl>
                                        <p:attrNameLst>
                                          <p:attrName>ppt_x</p:attrName>
                                        </p:attrNameLst>
                                      </p:cBhvr>
                                      <p:tavLst>
                                        <p:tav tm="0">
                                          <p:val>
                                            <p:strVal val="#ppt_x"/>
                                          </p:val>
                                        </p:tav>
                                        <p:tav tm="100000">
                                          <p:val>
                                            <p:strVal val="#ppt_x"/>
                                          </p:val>
                                        </p:tav>
                                      </p:tavLst>
                                    </p:anim>
                                    <p:anim calcmode="lin" valueType="num">
                                      <p:cBhvr additive="base">
                                        <p:cTn id="389" dur="500" fill="hold"/>
                                        <p:tgtEl>
                                          <p:spTgt spid="87"/>
                                        </p:tgtEl>
                                        <p:attrNameLst>
                                          <p:attrName>ppt_y</p:attrName>
                                        </p:attrNameLst>
                                      </p:cBhvr>
                                      <p:tavLst>
                                        <p:tav tm="0">
                                          <p:val>
                                            <p:strVal val="#ppt_y+0.1"/>
                                          </p:val>
                                        </p:tav>
                                        <p:tav tm="100000">
                                          <p:val>
                                            <p:strVal val="#ppt_y"/>
                                          </p:val>
                                        </p:tav>
                                      </p:tavLst>
                                    </p:anim>
                                    <p:animEffect transition="in" filter="fade">
                                      <p:cBhvr>
                                        <p:cTn id="390" dur="500"/>
                                        <p:tgtEl>
                                          <p:spTgt spid="87"/>
                                        </p:tgtEl>
                                      </p:cBhvr>
                                    </p:animEffect>
                                  </p:childTnLst>
                                </p:cTn>
                              </p:par>
                              <p:par>
                                <p:cTn id="396" presetID="2" presetClass="entr" presetSubtype="4" fill="hold" grpId="0" nodeType="withEffect">
                                  <p:stCondLst>
                                    <p:cond delay="240"/>
                                  </p:stCondLst>
                                  <p:childTnLst>
                                    <p:set>
                                      <p:cBhvr>
                                        <p:cTn id="392" dur="1" fill="hold">
                                          <p:stCondLst>
                                            <p:cond delay="0"/>
                                          </p:stCondLst>
                                        </p:cTn>
                                        <p:tgtEl>
                                          <p:spTgt spid="88"/>
                                        </p:tgtEl>
                                        <p:attrNameLst>
                                          <p:attrName>style.visibility</p:attrName>
                                        </p:attrNameLst>
                                      </p:cBhvr>
                                      <p:to>
                                        <p:strVal val="visible"/>
                                      </p:to>
                                    </p:set>
                                    <p:anim calcmode="lin" valueType="num">
                                      <p:cBhvr additive="base">
                                        <p:cTn id="393" dur="500" fill="hold"/>
                                        <p:tgtEl>
                                          <p:spTgt spid="88"/>
                                        </p:tgtEl>
                                        <p:attrNameLst>
                                          <p:attrName>ppt_x</p:attrName>
                                        </p:attrNameLst>
                                      </p:cBhvr>
                                      <p:tavLst>
                                        <p:tav tm="0">
                                          <p:val>
                                            <p:strVal val="#ppt_x"/>
                                          </p:val>
                                        </p:tav>
                                        <p:tav tm="100000">
                                          <p:val>
                                            <p:strVal val="#ppt_x"/>
                                          </p:val>
                                        </p:tav>
                                      </p:tavLst>
                                    </p:anim>
                                    <p:anim calcmode="lin" valueType="num">
                                      <p:cBhvr additive="base">
                                        <p:cTn id="394" dur="500" fill="hold"/>
                                        <p:tgtEl>
                                          <p:spTgt spid="88"/>
                                        </p:tgtEl>
                                        <p:attrNameLst>
                                          <p:attrName>ppt_y</p:attrName>
                                        </p:attrNameLst>
                                      </p:cBhvr>
                                      <p:tavLst>
                                        <p:tav tm="0">
                                          <p:val>
                                            <p:strVal val="#ppt_y+0.1"/>
                                          </p:val>
                                        </p:tav>
                                        <p:tav tm="100000">
                                          <p:val>
                                            <p:strVal val="#ppt_y"/>
                                          </p:val>
                                        </p:tav>
                                      </p:tavLst>
                                    </p:anim>
                                    <p:animEffect transition="in" filter="fade">
                                      <p:cBhvr>
                                        <p:cTn id="395" dur="500"/>
                                        <p:tgtEl>
                                          <p:spTgt spid="88"/>
                                        </p:tgtEl>
                                      </p:cBhvr>
                                    </p:animEffect>
                                  </p:childTnLst>
                                </p:cTn>
                              </p:par>
                              <p:par>
                                <p:cTn id="401" presetID="2" presetClass="entr" presetSubtype="4" fill="hold" grpId="0" nodeType="withEffect">
                                  <p:stCondLst>
                                    <p:cond delay="240"/>
                                  </p:stCondLst>
                                  <p:childTnLst>
                                    <p:set>
                                      <p:cBhvr>
                                        <p:cTn id="397" dur="1" fill="hold">
                                          <p:stCondLst>
                                            <p:cond delay="0"/>
                                          </p:stCondLst>
                                        </p:cTn>
                                        <p:tgtEl>
                                          <p:spTgt spid="89"/>
                                        </p:tgtEl>
                                        <p:attrNameLst>
                                          <p:attrName>style.visibility</p:attrName>
                                        </p:attrNameLst>
                                      </p:cBhvr>
                                      <p:to>
                                        <p:strVal val="visible"/>
                                      </p:to>
                                    </p:set>
                                    <p:anim calcmode="lin" valueType="num">
                                      <p:cBhvr additive="base">
                                        <p:cTn id="398" dur="500" fill="hold"/>
                                        <p:tgtEl>
                                          <p:spTgt spid="89"/>
                                        </p:tgtEl>
                                        <p:attrNameLst>
                                          <p:attrName>ppt_x</p:attrName>
                                        </p:attrNameLst>
                                      </p:cBhvr>
                                      <p:tavLst>
                                        <p:tav tm="0">
                                          <p:val>
                                            <p:strVal val="#ppt_x"/>
                                          </p:val>
                                        </p:tav>
                                        <p:tav tm="100000">
                                          <p:val>
                                            <p:strVal val="#ppt_x"/>
                                          </p:val>
                                        </p:tav>
                                      </p:tavLst>
                                    </p:anim>
                                    <p:anim calcmode="lin" valueType="num">
                                      <p:cBhvr additive="base">
                                        <p:cTn id="399" dur="500" fill="hold"/>
                                        <p:tgtEl>
                                          <p:spTgt spid="89"/>
                                        </p:tgtEl>
                                        <p:attrNameLst>
                                          <p:attrName>ppt_y</p:attrName>
                                        </p:attrNameLst>
                                      </p:cBhvr>
                                      <p:tavLst>
                                        <p:tav tm="0">
                                          <p:val>
                                            <p:strVal val="#ppt_y+0.1"/>
                                          </p:val>
                                        </p:tav>
                                        <p:tav tm="100000">
                                          <p:val>
                                            <p:strVal val="#ppt_y"/>
                                          </p:val>
                                        </p:tav>
                                      </p:tavLst>
                                    </p:anim>
                                    <p:animEffect transition="in" filter="fade">
                                      <p:cBhvr>
                                        <p:cTn id="400" dur="500"/>
                                        <p:tgtEl>
                                          <p:spTgt spid="89"/>
                                        </p:tgtEl>
                                      </p:cBhvr>
                                    </p:animEffect>
                                  </p:childTnLst>
                                </p:cTn>
                              </p:par>
                              <p:par>
                                <p:cTn id="406" presetID="2" presetClass="entr" presetSubtype="4" fill="hold" grpId="0" nodeType="withEffect">
                                  <p:stCondLst>
                                    <p:cond delay="240"/>
                                  </p:stCondLst>
                                  <p:childTnLst>
                                    <p:set>
                                      <p:cBhvr>
                                        <p:cTn id="402" dur="1" fill="hold">
                                          <p:stCondLst>
                                            <p:cond delay="0"/>
                                          </p:stCondLst>
                                        </p:cTn>
                                        <p:tgtEl>
                                          <p:spTgt spid="90"/>
                                        </p:tgtEl>
                                        <p:attrNameLst>
                                          <p:attrName>style.visibility</p:attrName>
                                        </p:attrNameLst>
                                      </p:cBhvr>
                                      <p:to>
                                        <p:strVal val="visible"/>
                                      </p:to>
                                    </p:set>
                                    <p:anim calcmode="lin" valueType="num">
                                      <p:cBhvr additive="base">
                                        <p:cTn id="403" dur="500" fill="hold"/>
                                        <p:tgtEl>
                                          <p:spTgt spid="90"/>
                                        </p:tgtEl>
                                        <p:attrNameLst>
                                          <p:attrName>ppt_x</p:attrName>
                                        </p:attrNameLst>
                                      </p:cBhvr>
                                      <p:tavLst>
                                        <p:tav tm="0">
                                          <p:val>
                                            <p:strVal val="#ppt_x"/>
                                          </p:val>
                                        </p:tav>
                                        <p:tav tm="100000">
                                          <p:val>
                                            <p:strVal val="#ppt_x"/>
                                          </p:val>
                                        </p:tav>
                                      </p:tavLst>
                                    </p:anim>
                                    <p:anim calcmode="lin" valueType="num">
                                      <p:cBhvr additive="base">
                                        <p:cTn id="404" dur="500" fill="hold"/>
                                        <p:tgtEl>
                                          <p:spTgt spid="90"/>
                                        </p:tgtEl>
                                        <p:attrNameLst>
                                          <p:attrName>ppt_y</p:attrName>
                                        </p:attrNameLst>
                                      </p:cBhvr>
                                      <p:tavLst>
                                        <p:tav tm="0">
                                          <p:val>
                                            <p:strVal val="#ppt_y+0.1"/>
                                          </p:val>
                                        </p:tav>
                                        <p:tav tm="100000">
                                          <p:val>
                                            <p:strVal val="#ppt_y"/>
                                          </p:val>
                                        </p:tav>
                                      </p:tavLst>
                                    </p:anim>
                                    <p:animEffect transition="in" filter="fade">
                                      <p:cBhvr>
                                        <p:cTn id="405" dur="500"/>
                                        <p:tgtEl>
                                          <p:spTgt spid="90"/>
                                        </p:tgtEl>
                                      </p:cBhvr>
                                    </p:animEffect>
                                  </p:childTnLst>
                                </p:cTn>
                              </p:par>
                              <p:par>
                                <p:cTn id="411" presetID="2" presetClass="entr" presetSubtype="4" fill="hold" grpId="0" nodeType="withEffect">
                                  <p:stCondLst>
                                    <p:cond delay="240"/>
                                  </p:stCondLst>
                                  <p:childTnLst>
                                    <p:set>
                                      <p:cBhvr>
                                        <p:cTn id="407" dur="1" fill="hold">
                                          <p:stCondLst>
                                            <p:cond delay="0"/>
                                          </p:stCondLst>
                                        </p:cTn>
                                        <p:tgtEl>
                                          <p:spTgt spid="91"/>
                                        </p:tgtEl>
                                        <p:attrNameLst>
                                          <p:attrName>style.visibility</p:attrName>
                                        </p:attrNameLst>
                                      </p:cBhvr>
                                      <p:to>
                                        <p:strVal val="visible"/>
                                      </p:to>
                                    </p:set>
                                    <p:anim calcmode="lin" valueType="num">
                                      <p:cBhvr additive="base">
                                        <p:cTn id="408" dur="500" fill="hold"/>
                                        <p:tgtEl>
                                          <p:spTgt spid="91"/>
                                        </p:tgtEl>
                                        <p:attrNameLst>
                                          <p:attrName>ppt_x</p:attrName>
                                        </p:attrNameLst>
                                      </p:cBhvr>
                                      <p:tavLst>
                                        <p:tav tm="0">
                                          <p:val>
                                            <p:strVal val="#ppt_x"/>
                                          </p:val>
                                        </p:tav>
                                        <p:tav tm="100000">
                                          <p:val>
                                            <p:strVal val="#ppt_x"/>
                                          </p:val>
                                        </p:tav>
                                      </p:tavLst>
                                    </p:anim>
                                    <p:anim calcmode="lin" valueType="num">
                                      <p:cBhvr additive="base">
                                        <p:cTn id="409" dur="500" fill="hold"/>
                                        <p:tgtEl>
                                          <p:spTgt spid="91"/>
                                        </p:tgtEl>
                                        <p:attrNameLst>
                                          <p:attrName>ppt_y</p:attrName>
                                        </p:attrNameLst>
                                      </p:cBhvr>
                                      <p:tavLst>
                                        <p:tav tm="0">
                                          <p:val>
                                            <p:strVal val="#ppt_y+0.1"/>
                                          </p:val>
                                        </p:tav>
                                        <p:tav tm="100000">
                                          <p:val>
                                            <p:strVal val="#ppt_y"/>
                                          </p:val>
                                        </p:tav>
                                      </p:tavLst>
                                    </p:anim>
                                    <p:animEffect transition="in" filter="fade">
                                      <p:cBhvr>
                                        <p:cTn id="410" dur="500"/>
                                        <p:tgtEl>
                                          <p:spTgt spid="91"/>
                                        </p:tgtEl>
                                      </p:cBhvr>
                                    </p:animEffect>
                                  </p:childTnLst>
                                </p:cTn>
                              </p:par>
                              <p:par>
                                <p:cTn id="416" presetID="2" presetClass="entr" presetSubtype="4" fill="hold" grpId="0" nodeType="withEffect">
                                  <p:stCondLst>
                                    <p:cond delay="240"/>
                                  </p:stCondLst>
                                  <p:childTnLst>
                                    <p:set>
                                      <p:cBhvr>
                                        <p:cTn id="412" dur="1" fill="hold">
                                          <p:stCondLst>
                                            <p:cond delay="0"/>
                                          </p:stCondLst>
                                        </p:cTn>
                                        <p:tgtEl>
                                          <p:spTgt spid="92"/>
                                        </p:tgtEl>
                                        <p:attrNameLst>
                                          <p:attrName>style.visibility</p:attrName>
                                        </p:attrNameLst>
                                      </p:cBhvr>
                                      <p:to>
                                        <p:strVal val="visible"/>
                                      </p:to>
                                    </p:set>
                                    <p:anim calcmode="lin" valueType="num">
                                      <p:cBhvr additive="base">
                                        <p:cTn id="413" dur="500" fill="hold"/>
                                        <p:tgtEl>
                                          <p:spTgt spid="92"/>
                                        </p:tgtEl>
                                        <p:attrNameLst>
                                          <p:attrName>ppt_x</p:attrName>
                                        </p:attrNameLst>
                                      </p:cBhvr>
                                      <p:tavLst>
                                        <p:tav tm="0">
                                          <p:val>
                                            <p:strVal val="#ppt_x"/>
                                          </p:val>
                                        </p:tav>
                                        <p:tav tm="100000">
                                          <p:val>
                                            <p:strVal val="#ppt_x"/>
                                          </p:val>
                                        </p:tav>
                                      </p:tavLst>
                                    </p:anim>
                                    <p:anim calcmode="lin" valueType="num">
                                      <p:cBhvr additive="base">
                                        <p:cTn id="414" dur="500" fill="hold"/>
                                        <p:tgtEl>
                                          <p:spTgt spid="92"/>
                                        </p:tgtEl>
                                        <p:attrNameLst>
                                          <p:attrName>ppt_y</p:attrName>
                                        </p:attrNameLst>
                                      </p:cBhvr>
                                      <p:tavLst>
                                        <p:tav tm="0">
                                          <p:val>
                                            <p:strVal val="#ppt_y+0.1"/>
                                          </p:val>
                                        </p:tav>
                                        <p:tav tm="100000">
                                          <p:val>
                                            <p:strVal val="#ppt_y"/>
                                          </p:val>
                                        </p:tav>
                                      </p:tavLst>
                                    </p:anim>
                                    <p:animEffect transition="in" filter="fade">
                                      <p:cBhvr>
                                        <p:cTn id="415" dur="500"/>
                                        <p:tgtEl>
                                          <p:spTgt spid="92"/>
                                        </p:tgtEl>
                                      </p:cBhvr>
                                    </p:animEffect>
                                  </p:childTnLst>
                                </p:cTn>
                              </p:par>
                              <p:par>
                                <p:cTn id="421" presetID="2" presetClass="entr" presetSubtype="4" fill="hold" grpId="0" nodeType="withEffect">
                                  <p:stCondLst>
                                    <p:cond delay="240"/>
                                  </p:stCondLst>
                                  <p:childTnLst>
                                    <p:set>
                                      <p:cBhvr>
                                        <p:cTn id="417" dur="1" fill="hold">
                                          <p:stCondLst>
                                            <p:cond delay="0"/>
                                          </p:stCondLst>
                                        </p:cTn>
                                        <p:tgtEl>
                                          <p:spTgt spid="93"/>
                                        </p:tgtEl>
                                        <p:attrNameLst>
                                          <p:attrName>style.visibility</p:attrName>
                                        </p:attrNameLst>
                                      </p:cBhvr>
                                      <p:to>
                                        <p:strVal val="visible"/>
                                      </p:to>
                                    </p:set>
                                    <p:anim calcmode="lin" valueType="num">
                                      <p:cBhvr additive="base">
                                        <p:cTn id="418" dur="500" fill="hold"/>
                                        <p:tgtEl>
                                          <p:spTgt spid="93"/>
                                        </p:tgtEl>
                                        <p:attrNameLst>
                                          <p:attrName>ppt_x</p:attrName>
                                        </p:attrNameLst>
                                      </p:cBhvr>
                                      <p:tavLst>
                                        <p:tav tm="0">
                                          <p:val>
                                            <p:strVal val="#ppt_x"/>
                                          </p:val>
                                        </p:tav>
                                        <p:tav tm="100000">
                                          <p:val>
                                            <p:strVal val="#ppt_x"/>
                                          </p:val>
                                        </p:tav>
                                      </p:tavLst>
                                    </p:anim>
                                    <p:anim calcmode="lin" valueType="num">
                                      <p:cBhvr additive="base">
                                        <p:cTn id="419" dur="500" fill="hold"/>
                                        <p:tgtEl>
                                          <p:spTgt spid="93"/>
                                        </p:tgtEl>
                                        <p:attrNameLst>
                                          <p:attrName>ppt_y</p:attrName>
                                        </p:attrNameLst>
                                      </p:cBhvr>
                                      <p:tavLst>
                                        <p:tav tm="0">
                                          <p:val>
                                            <p:strVal val="#ppt_y+0.1"/>
                                          </p:val>
                                        </p:tav>
                                        <p:tav tm="100000">
                                          <p:val>
                                            <p:strVal val="#ppt_y"/>
                                          </p:val>
                                        </p:tav>
                                      </p:tavLst>
                                    </p:anim>
                                    <p:animEffect transition="in" filter="fade">
                                      <p:cBhvr>
                                        <p:cTn id="420" dur="500"/>
                                        <p:tgtEl>
                                          <p:spTgt spid="93"/>
                                        </p:tgtEl>
                                      </p:cBhvr>
                                    </p:animEffect>
                                  </p:childTnLst>
                                </p:cTn>
                              </p:par>
                              <p:par>
                                <p:cTn id="426" presetID="2" presetClass="entr" presetSubtype="4" fill="hold" grpId="0" nodeType="withEffect">
                                  <p:stCondLst>
                                    <p:cond delay="240"/>
                                  </p:stCondLst>
                                  <p:childTnLst>
                                    <p:set>
                                      <p:cBhvr>
                                        <p:cTn id="422" dur="1" fill="hold">
                                          <p:stCondLst>
                                            <p:cond delay="0"/>
                                          </p:stCondLst>
                                        </p:cTn>
                                        <p:tgtEl>
                                          <p:spTgt spid="94"/>
                                        </p:tgtEl>
                                        <p:attrNameLst>
                                          <p:attrName>style.visibility</p:attrName>
                                        </p:attrNameLst>
                                      </p:cBhvr>
                                      <p:to>
                                        <p:strVal val="visible"/>
                                      </p:to>
                                    </p:set>
                                    <p:anim calcmode="lin" valueType="num">
                                      <p:cBhvr additive="base">
                                        <p:cTn id="423" dur="500" fill="hold"/>
                                        <p:tgtEl>
                                          <p:spTgt spid="94"/>
                                        </p:tgtEl>
                                        <p:attrNameLst>
                                          <p:attrName>ppt_x</p:attrName>
                                        </p:attrNameLst>
                                      </p:cBhvr>
                                      <p:tavLst>
                                        <p:tav tm="0">
                                          <p:val>
                                            <p:strVal val="#ppt_x"/>
                                          </p:val>
                                        </p:tav>
                                        <p:tav tm="100000">
                                          <p:val>
                                            <p:strVal val="#ppt_x"/>
                                          </p:val>
                                        </p:tav>
                                      </p:tavLst>
                                    </p:anim>
                                    <p:anim calcmode="lin" valueType="num">
                                      <p:cBhvr additive="base">
                                        <p:cTn id="424" dur="500" fill="hold"/>
                                        <p:tgtEl>
                                          <p:spTgt spid="94"/>
                                        </p:tgtEl>
                                        <p:attrNameLst>
                                          <p:attrName>ppt_y</p:attrName>
                                        </p:attrNameLst>
                                      </p:cBhvr>
                                      <p:tavLst>
                                        <p:tav tm="0">
                                          <p:val>
                                            <p:strVal val="#ppt_y+0.1"/>
                                          </p:val>
                                        </p:tav>
                                        <p:tav tm="100000">
                                          <p:val>
                                            <p:strVal val="#ppt_y"/>
                                          </p:val>
                                        </p:tav>
                                      </p:tavLst>
                                    </p:anim>
                                    <p:animEffect transition="in" filter="fade">
                                      <p:cBhvr>
                                        <p:cTn id="425" dur="500"/>
                                        <p:tgtEl>
                                          <p:spTgt spid="94"/>
                                        </p:tgtEl>
                                      </p:cBhvr>
                                    </p:animEffect>
                                  </p:childTnLst>
                                </p:cTn>
                              </p:par>
                              <p:par>
                                <p:cTn id="431" presetID="2" presetClass="entr" presetSubtype="4" fill="hold" grpId="0" nodeType="withEffect">
                                  <p:stCondLst>
                                    <p:cond delay="240"/>
                                  </p:stCondLst>
                                  <p:childTnLst>
                                    <p:set>
                                      <p:cBhvr>
                                        <p:cTn id="427" dur="1" fill="hold">
                                          <p:stCondLst>
                                            <p:cond delay="0"/>
                                          </p:stCondLst>
                                        </p:cTn>
                                        <p:tgtEl>
                                          <p:spTgt spid="95"/>
                                        </p:tgtEl>
                                        <p:attrNameLst>
                                          <p:attrName>style.visibility</p:attrName>
                                        </p:attrNameLst>
                                      </p:cBhvr>
                                      <p:to>
                                        <p:strVal val="visible"/>
                                      </p:to>
                                    </p:set>
                                    <p:anim calcmode="lin" valueType="num">
                                      <p:cBhvr additive="base">
                                        <p:cTn id="428" dur="500" fill="hold"/>
                                        <p:tgtEl>
                                          <p:spTgt spid="95"/>
                                        </p:tgtEl>
                                        <p:attrNameLst>
                                          <p:attrName>ppt_x</p:attrName>
                                        </p:attrNameLst>
                                      </p:cBhvr>
                                      <p:tavLst>
                                        <p:tav tm="0">
                                          <p:val>
                                            <p:strVal val="#ppt_x"/>
                                          </p:val>
                                        </p:tav>
                                        <p:tav tm="100000">
                                          <p:val>
                                            <p:strVal val="#ppt_x"/>
                                          </p:val>
                                        </p:tav>
                                      </p:tavLst>
                                    </p:anim>
                                    <p:anim calcmode="lin" valueType="num">
                                      <p:cBhvr additive="base">
                                        <p:cTn id="429" dur="500" fill="hold"/>
                                        <p:tgtEl>
                                          <p:spTgt spid="95"/>
                                        </p:tgtEl>
                                        <p:attrNameLst>
                                          <p:attrName>ppt_y</p:attrName>
                                        </p:attrNameLst>
                                      </p:cBhvr>
                                      <p:tavLst>
                                        <p:tav tm="0">
                                          <p:val>
                                            <p:strVal val="#ppt_y+0.1"/>
                                          </p:val>
                                        </p:tav>
                                        <p:tav tm="100000">
                                          <p:val>
                                            <p:strVal val="#ppt_y"/>
                                          </p:val>
                                        </p:tav>
                                      </p:tavLst>
                                    </p:anim>
                                    <p:animEffect transition="in" filter="fade">
                                      <p:cBhvr>
                                        <p:cTn id="430" dur="500"/>
                                        <p:tgtEl>
                                          <p:spTgt spid="95"/>
                                        </p:tgtEl>
                                      </p:cBhvr>
                                    </p:animEffect>
                                  </p:childTnLst>
                                </p:cTn>
                              </p:par>
                              <p:par>
                                <p:cTn id="436" presetID="2" presetClass="entr" presetSubtype="4" fill="hold" grpId="0" nodeType="withEffect">
                                  <p:stCondLst>
                                    <p:cond delay="240"/>
                                  </p:stCondLst>
                                  <p:childTnLst>
                                    <p:set>
                                      <p:cBhvr>
                                        <p:cTn id="432" dur="1" fill="hold">
                                          <p:stCondLst>
                                            <p:cond delay="0"/>
                                          </p:stCondLst>
                                        </p:cTn>
                                        <p:tgtEl>
                                          <p:spTgt spid="96"/>
                                        </p:tgtEl>
                                        <p:attrNameLst>
                                          <p:attrName>style.visibility</p:attrName>
                                        </p:attrNameLst>
                                      </p:cBhvr>
                                      <p:to>
                                        <p:strVal val="visible"/>
                                      </p:to>
                                    </p:set>
                                    <p:anim calcmode="lin" valueType="num">
                                      <p:cBhvr additive="base">
                                        <p:cTn id="433" dur="500" fill="hold"/>
                                        <p:tgtEl>
                                          <p:spTgt spid="96"/>
                                        </p:tgtEl>
                                        <p:attrNameLst>
                                          <p:attrName>ppt_x</p:attrName>
                                        </p:attrNameLst>
                                      </p:cBhvr>
                                      <p:tavLst>
                                        <p:tav tm="0">
                                          <p:val>
                                            <p:strVal val="#ppt_x"/>
                                          </p:val>
                                        </p:tav>
                                        <p:tav tm="100000">
                                          <p:val>
                                            <p:strVal val="#ppt_x"/>
                                          </p:val>
                                        </p:tav>
                                      </p:tavLst>
                                    </p:anim>
                                    <p:anim calcmode="lin" valueType="num">
                                      <p:cBhvr additive="base">
                                        <p:cTn id="434" dur="500" fill="hold"/>
                                        <p:tgtEl>
                                          <p:spTgt spid="96"/>
                                        </p:tgtEl>
                                        <p:attrNameLst>
                                          <p:attrName>ppt_y</p:attrName>
                                        </p:attrNameLst>
                                      </p:cBhvr>
                                      <p:tavLst>
                                        <p:tav tm="0">
                                          <p:val>
                                            <p:strVal val="#ppt_y+0.1"/>
                                          </p:val>
                                        </p:tav>
                                        <p:tav tm="100000">
                                          <p:val>
                                            <p:strVal val="#ppt_y"/>
                                          </p:val>
                                        </p:tav>
                                      </p:tavLst>
                                    </p:anim>
                                    <p:animEffect transition="in" filter="fade">
                                      <p:cBhvr>
                                        <p:cTn id="435" dur="500"/>
                                        <p:tgtEl>
                                          <p:spTgt spid="96"/>
                                        </p:tgtEl>
                                      </p:cBhvr>
                                    </p:animEffect>
                                  </p:childTnLst>
                                </p:cTn>
                              </p:par>
                              <p:par>
                                <p:cTn id="441" presetID="2" presetClass="entr" presetSubtype="4" fill="hold" grpId="0" nodeType="withEffect">
                                  <p:stCondLst>
                                    <p:cond delay="240"/>
                                  </p:stCondLst>
                                  <p:childTnLst>
                                    <p:set>
                                      <p:cBhvr>
                                        <p:cTn id="437" dur="1" fill="hold">
                                          <p:stCondLst>
                                            <p:cond delay="0"/>
                                          </p:stCondLst>
                                        </p:cTn>
                                        <p:tgtEl>
                                          <p:spTgt spid="97"/>
                                        </p:tgtEl>
                                        <p:attrNameLst>
                                          <p:attrName>style.visibility</p:attrName>
                                        </p:attrNameLst>
                                      </p:cBhvr>
                                      <p:to>
                                        <p:strVal val="visible"/>
                                      </p:to>
                                    </p:set>
                                    <p:anim calcmode="lin" valueType="num">
                                      <p:cBhvr additive="base">
                                        <p:cTn id="438" dur="500" fill="hold"/>
                                        <p:tgtEl>
                                          <p:spTgt spid="97"/>
                                        </p:tgtEl>
                                        <p:attrNameLst>
                                          <p:attrName>ppt_x</p:attrName>
                                        </p:attrNameLst>
                                      </p:cBhvr>
                                      <p:tavLst>
                                        <p:tav tm="0">
                                          <p:val>
                                            <p:strVal val="#ppt_x"/>
                                          </p:val>
                                        </p:tav>
                                        <p:tav tm="100000">
                                          <p:val>
                                            <p:strVal val="#ppt_x"/>
                                          </p:val>
                                        </p:tav>
                                      </p:tavLst>
                                    </p:anim>
                                    <p:anim calcmode="lin" valueType="num">
                                      <p:cBhvr additive="base">
                                        <p:cTn id="439" dur="500" fill="hold"/>
                                        <p:tgtEl>
                                          <p:spTgt spid="97"/>
                                        </p:tgtEl>
                                        <p:attrNameLst>
                                          <p:attrName>ppt_y</p:attrName>
                                        </p:attrNameLst>
                                      </p:cBhvr>
                                      <p:tavLst>
                                        <p:tav tm="0">
                                          <p:val>
                                            <p:strVal val="#ppt_y+0.1"/>
                                          </p:val>
                                        </p:tav>
                                        <p:tav tm="100000">
                                          <p:val>
                                            <p:strVal val="#ppt_y"/>
                                          </p:val>
                                        </p:tav>
                                      </p:tavLst>
                                    </p:anim>
                                    <p:animEffect transition="in" filter="fade">
                                      <p:cBhvr>
                                        <p:cTn id="440" dur="500"/>
                                        <p:tgtEl>
                                          <p:spTgt spid="97"/>
                                        </p:tgtEl>
                                      </p:cBhvr>
                                    </p:animEffect>
                                  </p:childTnLst>
                                </p:cTn>
                              </p:par>
                              <p:par>
                                <p:cTn id="446" presetID="2" presetClass="entr" presetSubtype="4" fill="hold" grpId="0" nodeType="withEffect">
                                  <p:stCondLst>
                                    <p:cond delay="240"/>
                                  </p:stCondLst>
                                  <p:childTnLst>
                                    <p:set>
                                      <p:cBhvr>
                                        <p:cTn id="442" dur="1" fill="hold">
                                          <p:stCondLst>
                                            <p:cond delay="0"/>
                                          </p:stCondLst>
                                        </p:cTn>
                                        <p:tgtEl>
                                          <p:spTgt spid="98"/>
                                        </p:tgtEl>
                                        <p:attrNameLst>
                                          <p:attrName>style.visibility</p:attrName>
                                        </p:attrNameLst>
                                      </p:cBhvr>
                                      <p:to>
                                        <p:strVal val="visible"/>
                                      </p:to>
                                    </p:set>
                                    <p:anim calcmode="lin" valueType="num">
                                      <p:cBhvr additive="base">
                                        <p:cTn id="443" dur="500" fill="hold"/>
                                        <p:tgtEl>
                                          <p:spTgt spid="98"/>
                                        </p:tgtEl>
                                        <p:attrNameLst>
                                          <p:attrName>ppt_x</p:attrName>
                                        </p:attrNameLst>
                                      </p:cBhvr>
                                      <p:tavLst>
                                        <p:tav tm="0">
                                          <p:val>
                                            <p:strVal val="#ppt_x"/>
                                          </p:val>
                                        </p:tav>
                                        <p:tav tm="100000">
                                          <p:val>
                                            <p:strVal val="#ppt_x"/>
                                          </p:val>
                                        </p:tav>
                                      </p:tavLst>
                                    </p:anim>
                                    <p:anim calcmode="lin" valueType="num">
                                      <p:cBhvr additive="base">
                                        <p:cTn id="444" dur="500" fill="hold"/>
                                        <p:tgtEl>
                                          <p:spTgt spid="98"/>
                                        </p:tgtEl>
                                        <p:attrNameLst>
                                          <p:attrName>ppt_y</p:attrName>
                                        </p:attrNameLst>
                                      </p:cBhvr>
                                      <p:tavLst>
                                        <p:tav tm="0">
                                          <p:val>
                                            <p:strVal val="#ppt_y+0.1"/>
                                          </p:val>
                                        </p:tav>
                                        <p:tav tm="100000">
                                          <p:val>
                                            <p:strVal val="#ppt_y"/>
                                          </p:val>
                                        </p:tav>
                                      </p:tavLst>
                                    </p:anim>
                                    <p:animEffect transition="in" filter="fade">
                                      <p:cBhvr>
                                        <p:cTn id="445" dur="500"/>
                                        <p:tgtEl>
                                          <p:spTgt spid="98"/>
                                        </p:tgtEl>
                                      </p:cBhvr>
                                    </p:animEffect>
                                  </p:childTnLst>
                                </p:cTn>
                              </p:par>
                              <p:par>
                                <p:cTn id="451" presetID="2" presetClass="entr" presetSubtype="4" fill="hold" grpId="0" nodeType="withEffect">
                                  <p:stCondLst>
                                    <p:cond delay="240"/>
                                  </p:stCondLst>
                                  <p:childTnLst>
                                    <p:set>
                                      <p:cBhvr>
                                        <p:cTn id="447" dur="1" fill="hold">
                                          <p:stCondLst>
                                            <p:cond delay="0"/>
                                          </p:stCondLst>
                                        </p:cTn>
                                        <p:tgtEl>
                                          <p:spTgt spid="99"/>
                                        </p:tgtEl>
                                        <p:attrNameLst>
                                          <p:attrName>style.visibility</p:attrName>
                                        </p:attrNameLst>
                                      </p:cBhvr>
                                      <p:to>
                                        <p:strVal val="visible"/>
                                      </p:to>
                                    </p:set>
                                    <p:anim calcmode="lin" valueType="num">
                                      <p:cBhvr additive="base">
                                        <p:cTn id="448" dur="500" fill="hold"/>
                                        <p:tgtEl>
                                          <p:spTgt spid="99"/>
                                        </p:tgtEl>
                                        <p:attrNameLst>
                                          <p:attrName>ppt_x</p:attrName>
                                        </p:attrNameLst>
                                      </p:cBhvr>
                                      <p:tavLst>
                                        <p:tav tm="0">
                                          <p:val>
                                            <p:strVal val="#ppt_x"/>
                                          </p:val>
                                        </p:tav>
                                        <p:tav tm="100000">
                                          <p:val>
                                            <p:strVal val="#ppt_x"/>
                                          </p:val>
                                        </p:tav>
                                      </p:tavLst>
                                    </p:anim>
                                    <p:anim calcmode="lin" valueType="num">
                                      <p:cBhvr additive="base">
                                        <p:cTn id="449" dur="500" fill="hold"/>
                                        <p:tgtEl>
                                          <p:spTgt spid="99"/>
                                        </p:tgtEl>
                                        <p:attrNameLst>
                                          <p:attrName>ppt_y</p:attrName>
                                        </p:attrNameLst>
                                      </p:cBhvr>
                                      <p:tavLst>
                                        <p:tav tm="0">
                                          <p:val>
                                            <p:strVal val="#ppt_y+0.1"/>
                                          </p:val>
                                        </p:tav>
                                        <p:tav tm="100000">
                                          <p:val>
                                            <p:strVal val="#ppt_y"/>
                                          </p:val>
                                        </p:tav>
                                      </p:tavLst>
                                    </p:anim>
                                    <p:animEffect transition="in" filter="fade">
                                      <p:cBhvr>
                                        <p:cTn id="450" dur="500"/>
                                        <p:tgtEl>
                                          <p:spTgt spid="99"/>
                                        </p:tgtEl>
                                      </p:cBhvr>
                                    </p:animEffect>
                                  </p:childTnLst>
                                </p:cTn>
                              </p:par>
                              <p:par>
                                <p:cTn id="456" presetID="2" presetClass="entr" presetSubtype="4" fill="hold" grpId="0" nodeType="withEffect">
                                  <p:stCondLst>
                                    <p:cond delay="240"/>
                                  </p:stCondLst>
                                  <p:childTnLst>
                                    <p:set>
                                      <p:cBhvr>
                                        <p:cTn id="452" dur="1" fill="hold">
                                          <p:stCondLst>
                                            <p:cond delay="0"/>
                                          </p:stCondLst>
                                        </p:cTn>
                                        <p:tgtEl>
                                          <p:spTgt spid="100"/>
                                        </p:tgtEl>
                                        <p:attrNameLst>
                                          <p:attrName>style.visibility</p:attrName>
                                        </p:attrNameLst>
                                      </p:cBhvr>
                                      <p:to>
                                        <p:strVal val="visible"/>
                                      </p:to>
                                    </p:set>
                                    <p:anim calcmode="lin" valueType="num">
                                      <p:cBhvr additive="base">
                                        <p:cTn id="453" dur="500" fill="hold"/>
                                        <p:tgtEl>
                                          <p:spTgt spid="100"/>
                                        </p:tgtEl>
                                        <p:attrNameLst>
                                          <p:attrName>ppt_x</p:attrName>
                                        </p:attrNameLst>
                                      </p:cBhvr>
                                      <p:tavLst>
                                        <p:tav tm="0">
                                          <p:val>
                                            <p:strVal val="#ppt_x"/>
                                          </p:val>
                                        </p:tav>
                                        <p:tav tm="100000">
                                          <p:val>
                                            <p:strVal val="#ppt_x"/>
                                          </p:val>
                                        </p:tav>
                                      </p:tavLst>
                                    </p:anim>
                                    <p:anim calcmode="lin" valueType="num">
                                      <p:cBhvr additive="base">
                                        <p:cTn id="454" dur="500" fill="hold"/>
                                        <p:tgtEl>
                                          <p:spTgt spid="100"/>
                                        </p:tgtEl>
                                        <p:attrNameLst>
                                          <p:attrName>ppt_y</p:attrName>
                                        </p:attrNameLst>
                                      </p:cBhvr>
                                      <p:tavLst>
                                        <p:tav tm="0">
                                          <p:val>
                                            <p:strVal val="#ppt_y+0.1"/>
                                          </p:val>
                                        </p:tav>
                                        <p:tav tm="100000">
                                          <p:val>
                                            <p:strVal val="#ppt_y"/>
                                          </p:val>
                                        </p:tav>
                                      </p:tavLst>
                                    </p:anim>
                                    <p:animEffect transition="in" filter="fade">
                                      <p:cBhvr>
                                        <p:cTn id="455" dur="500"/>
                                        <p:tgtEl>
                                          <p:spTgt spid="100"/>
                                        </p:tgtEl>
                                      </p:cBhvr>
                                    </p:animEffect>
                                  </p:childTnLst>
                                </p:cTn>
                              </p:par>
                              <p:par>
                                <p:cTn id="461" presetID="2" presetClass="entr" presetSubtype="4" fill="hold" grpId="0" nodeType="withEffect">
                                  <p:stCondLst>
                                    <p:cond delay="240"/>
                                  </p:stCondLst>
                                  <p:childTnLst>
                                    <p:set>
                                      <p:cBhvr>
                                        <p:cTn id="457" dur="1" fill="hold">
                                          <p:stCondLst>
                                            <p:cond delay="0"/>
                                          </p:stCondLst>
                                        </p:cTn>
                                        <p:tgtEl>
                                          <p:spTgt spid="101"/>
                                        </p:tgtEl>
                                        <p:attrNameLst>
                                          <p:attrName>style.visibility</p:attrName>
                                        </p:attrNameLst>
                                      </p:cBhvr>
                                      <p:to>
                                        <p:strVal val="visible"/>
                                      </p:to>
                                    </p:set>
                                    <p:anim calcmode="lin" valueType="num">
                                      <p:cBhvr additive="base">
                                        <p:cTn id="458" dur="500" fill="hold"/>
                                        <p:tgtEl>
                                          <p:spTgt spid="101"/>
                                        </p:tgtEl>
                                        <p:attrNameLst>
                                          <p:attrName>ppt_x</p:attrName>
                                        </p:attrNameLst>
                                      </p:cBhvr>
                                      <p:tavLst>
                                        <p:tav tm="0">
                                          <p:val>
                                            <p:strVal val="#ppt_x"/>
                                          </p:val>
                                        </p:tav>
                                        <p:tav tm="100000">
                                          <p:val>
                                            <p:strVal val="#ppt_x"/>
                                          </p:val>
                                        </p:tav>
                                      </p:tavLst>
                                    </p:anim>
                                    <p:anim calcmode="lin" valueType="num">
                                      <p:cBhvr additive="base">
                                        <p:cTn id="459" dur="500" fill="hold"/>
                                        <p:tgtEl>
                                          <p:spTgt spid="101"/>
                                        </p:tgtEl>
                                        <p:attrNameLst>
                                          <p:attrName>ppt_y</p:attrName>
                                        </p:attrNameLst>
                                      </p:cBhvr>
                                      <p:tavLst>
                                        <p:tav tm="0">
                                          <p:val>
                                            <p:strVal val="#ppt_y+0.1"/>
                                          </p:val>
                                        </p:tav>
                                        <p:tav tm="100000">
                                          <p:val>
                                            <p:strVal val="#ppt_y"/>
                                          </p:val>
                                        </p:tav>
                                      </p:tavLst>
                                    </p:anim>
                                    <p:animEffect transition="in" filter="fade">
                                      <p:cBhvr>
                                        <p:cTn id="460" dur="500"/>
                                        <p:tgtEl>
                                          <p:spTgt spid="101"/>
                                        </p:tgtEl>
                                      </p:cBhvr>
                                    </p:animEffect>
                                  </p:childTnLst>
                                </p:cTn>
                              </p:par>
                              <p:par>
                                <p:cTn id="466" presetID="2" presetClass="entr" presetSubtype="4" fill="hold" grpId="0" nodeType="withEffect">
                                  <p:stCondLst>
                                    <p:cond delay="240"/>
                                  </p:stCondLst>
                                  <p:childTnLst>
                                    <p:set>
                                      <p:cBhvr>
                                        <p:cTn id="462" dur="1" fill="hold">
                                          <p:stCondLst>
                                            <p:cond delay="0"/>
                                          </p:stCondLst>
                                        </p:cTn>
                                        <p:tgtEl>
                                          <p:spTgt spid="102"/>
                                        </p:tgtEl>
                                        <p:attrNameLst>
                                          <p:attrName>style.visibility</p:attrName>
                                        </p:attrNameLst>
                                      </p:cBhvr>
                                      <p:to>
                                        <p:strVal val="visible"/>
                                      </p:to>
                                    </p:set>
                                    <p:anim calcmode="lin" valueType="num">
                                      <p:cBhvr additive="base">
                                        <p:cTn id="463" dur="500" fill="hold"/>
                                        <p:tgtEl>
                                          <p:spTgt spid="102"/>
                                        </p:tgtEl>
                                        <p:attrNameLst>
                                          <p:attrName>ppt_x</p:attrName>
                                        </p:attrNameLst>
                                      </p:cBhvr>
                                      <p:tavLst>
                                        <p:tav tm="0">
                                          <p:val>
                                            <p:strVal val="#ppt_x"/>
                                          </p:val>
                                        </p:tav>
                                        <p:tav tm="100000">
                                          <p:val>
                                            <p:strVal val="#ppt_x"/>
                                          </p:val>
                                        </p:tav>
                                      </p:tavLst>
                                    </p:anim>
                                    <p:anim calcmode="lin" valueType="num">
                                      <p:cBhvr additive="base">
                                        <p:cTn id="464" dur="500" fill="hold"/>
                                        <p:tgtEl>
                                          <p:spTgt spid="102"/>
                                        </p:tgtEl>
                                        <p:attrNameLst>
                                          <p:attrName>ppt_y</p:attrName>
                                        </p:attrNameLst>
                                      </p:cBhvr>
                                      <p:tavLst>
                                        <p:tav tm="0">
                                          <p:val>
                                            <p:strVal val="#ppt_y+0.1"/>
                                          </p:val>
                                        </p:tav>
                                        <p:tav tm="100000">
                                          <p:val>
                                            <p:strVal val="#ppt_y"/>
                                          </p:val>
                                        </p:tav>
                                      </p:tavLst>
                                    </p:anim>
                                    <p:animEffect transition="in" filter="fade">
                                      <p:cBhvr>
                                        <p:cTn id="465" dur="500"/>
                                        <p:tgtEl>
                                          <p:spTgt spid="102"/>
                                        </p:tgtEl>
                                      </p:cBhvr>
                                    </p:animEffect>
                                  </p:childTnLst>
                                </p:cTn>
                              </p:par>
                              <p:par>
                                <p:cTn id="471" presetID="2" presetClass="entr" presetSubtype="4" fill="hold" grpId="0" nodeType="withEffect">
                                  <p:stCondLst>
                                    <p:cond delay="240"/>
                                  </p:stCondLst>
                                  <p:childTnLst>
                                    <p:set>
                                      <p:cBhvr>
                                        <p:cTn id="467" dur="1" fill="hold">
                                          <p:stCondLst>
                                            <p:cond delay="0"/>
                                          </p:stCondLst>
                                        </p:cTn>
                                        <p:tgtEl>
                                          <p:spTgt spid="103"/>
                                        </p:tgtEl>
                                        <p:attrNameLst>
                                          <p:attrName>style.visibility</p:attrName>
                                        </p:attrNameLst>
                                      </p:cBhvr>
                                      <p:to>
                                        <p:strVal val="visible"/>
                                      </p:to>
                                    </p:set>
                                    <p:anim calcmode="lin" valueType="num">
                                      <p:cBhvr additive="base">
                                        <p:cTn id="468" dur="500" fill="hold"/>
                                        <p:tgtEl>
                                          <p:spTgt spid="103"/>
                                        </p:tgtEl>
                                        <p:attrNameLst>
                                          <p:attrName>ppt_x</p:attrName>
                                        </p:attrNameLst>
                                      </p:cBhvr>
                                      <p:tavLst>
                                        <p:tav tm="0">
                                          <p:val>
                                            <p:strVal val="#ppt_x"/>
                                          </p:val>
                                        </p:tav>
                                        <p:tav tm="100000">
                                          <p:val>
                                            <p:strVal val="#ppt_x"/>
                                          </p:val>
                                        </p:tav>
                                      </p:tavLst>
                                    </p:anim>
                                    <p:anim calcmode="lin" valueType="num">
                                      <p:cBhvr additive="base">
                                        <p:cTn id="469" dur="500" fill="hold"/>
                                        <p:tgtEl>
                                          <p:spTgt spid="103"/>
                                        </p:tgtEl>
                                        <p:attrNameLst>
                                          <p:attrName>ppt_y</p:attrName>
                                        </p:attrNameLst>
                                      </p:cBhvr>
                                      <p:tavLst>
                                        <p:tav tm="0">
                                          <p:val>
                                            <p:strVal val="#ppt_y+0.1"/>
                                          </p:val>
                                        </p:tav>
                                        <p:tav tm="100000">
                                          <p:val>
                                            <p:strVal val="#ppt_y"/>
                                          </p:val>
                                        </p:tav>
                                      </p:tavLst>
                                    </p:anim>
                                    <p:animEffect transition="in" filter="fade">
                                      <p:cBhvr>
                                        <p:cTn id="470" dur="500"/>
                                        <p:tgtEl>
                                          <p:spTgt spid="103"/>
                                        </p:tgtEl>
                                      </p:cBhvr>
                                    </p:animEffect>
                                  </p:childTnLst>
                                </p:cTn>
                              </p:par>
                              <p:par>
                                <p:cTn id="476" presetID="2" presetClass="entr" presetSubtype="4" fill="hold" grpId="0" nodeType="withEffect">
                                  <p:stCondLst>
                                    <p:cond delay="240"/>
                                  </p:stCondLst>
                                  <p:childTnLst>
                                    <p:set>
                                      <p:cBhvr>
                                        <p:cTn id="472" dur="1" fill="hold">
                                          <p:stCondLst>
                                            <p:cond delay="0"/>
                                          </p:stCondLst>
                                        </p:cTn>
                                        <p:tgtEl>
                                          <p:spTgt spid="104"/>
                                        </p:tgtEl>
                                        <p:attrNameLst>
                                          <p:attrName>style.visibility</p:attrName>
                                        </p:attrNameLst>
                                      </p:cBhvr>
                                      <p:to>
                                        <p:strVal val="visible"/>
                                      </p:to>
                                    </p:set>
                                    <p:anim calcmode="lin" valueType="num">
                                      <p:cBhvr additive="base">
                                        <p:cTn id="473" dur="500" fill="hold"/>
                                        <p:tgtEl>
                                          <p:spTgt spid="104"/>
                                        </p:tgtEl>
                                        <p:attrNameLst>
                                          <p:attrName>ppt_x</p:attrName>
                                        </p:attrNameLst>
                                      </p:cBhvr>
                                      <p:tavLst>
                                        <p:tav tm="0">
                                          <p:val>
                                            <p:strVal val="#ppt_x"/>
                                          </p:val>
                                        </p:tav>
                                        <p:tav tm="100000">
                                          <p:val>
                                            <p:strVal val="#ppt_x"/>
                                          </p:val>
                                        </p:tav>
                                      </p:tavLst>
                                    </p:anim>
                                    <p:anim calcmode="lin" valueType="num">
                                      <p:cBhvr additive="base">
                                        <p:cTn id="474" dur="500" fill="hold"/>
                                        <p:tgtEl>
                                          <p:spTgt spid="104"/>
                                        </p:tgtEl>
                                        <p:attrNameLst>
                                          <p:attrName>ppt_y</p:attrName>
                                        </p:attrNameLst>
                                      </p:cBhvr>
                                      <p:tavLst>
                                        <p:tav tm="0">
                                          <p:val>
                                            <p:strVal val="#ppt_y+0.1"/>
                                          </p:val>
                                        </p:tav>
                                        <p:tav tm="100000">
                                          <p:val>
                                            <p:strVal val="#ppt_y"/>
                                          </p:val>
                                        </p:tav>
                                      </p:tavLst>
                                    </p:anim>
                                    <p:animEffect transition="in" filter="fade">
                                      <p:cBhvr>
                                        <p:cTn id="475" dur="500"/>
                                        <p:tgtEl>
                                          <p:spTgt spid="104"/>
                                        </p:tgtEl>
                                      </p:cBhvr>
                                    </p:animEffect>
                                  </p:childTnLst>
                                </p:cTn>
                              </p:par>
                              <p:par>
                                <p:cTn id="481" presetID="2" presetClass="entr" presetSubtype="4" fill="hold" grpId="0" nodeType="withEffect">
                                  <p:stCondLst>
                                    <p:cond delay="240"/>
                                  </p:stCondLst>
                                  <p:childTnLst>
                                    <p:set>
                                      <p:cBhvr>
                                        <p:cTn id="477" dur="1" fill="hold">
                                          <p:stCondLst>
                                            <p:cond delay="0"/>
                                          </p:stCondLst>
                                        </p:cTn>
                                        <p:tgtEl>
                                          <p:spTgt spid="105"/>
                                        </p:tgtEl>
                                        <p:attrNameLst>
                                          <p:attrName>style.visibility</p:attrName>
                                        </p:attrNameLst>
                                      </p:cBhvr>
                                      <p:to>
                                        <p:strVal val="visible"/>
                                      </p:to>
                                    </p:set>
                                    <p:anim calcmode="lin" valueType="num">
                                      <p:cBhvr additive="base">
                                        <p:cTn id="478" dur="500" fill="hold"/>
                                        <p:tgtEl>
                                          <p:spTgt spid="105"/>
                                        </p:tgtEl>
                                        <p:attrNameLst>
                                          <p:attrName>ppt_x</p:attrName>
                                        </p:attrNameLst>
                                      </p:cBhvr>
                                      <p:tavLst>
                                        <p:tav tm="0">
                                          <p:val>
                                            <p:strVal val="#ppt_x"/>
                                          </p:val>
                                        </p:tav>
                                        <p:tav tm="100000">
                                          <p:val>
                                            <p:strVal val="#ppt_x"/>
                                          </p:val>
                                        </p:tav>
                                      </p:tavLst>
                                    </p:anim>
                                    <p:anim calcmode="lin" valueType="num">
                                      <p:cBhvr additive="base">
                                        <p:cTn id="479" dur="500" fill="hold"/>
                                        <p:tgtEl>
                                          <p:spTgt spid="105"/>
                                        </p:tgtEl>
                                        <p:attrNameLst>
                                          <p:attrName>ppt_y</p:attrName>
                                        </p:attrNameLst>
                                      </p:cBhvr>
                                      <p:tavLst>
                                        <p:tav tm="0">
                                          <p:val>
                                            <p:strVal val="#ppt_y+0.1"/>
                                          </p:val>
                                        </p:tav>
                                        <p:tav tm="100000">
                                          <p:val>
                                            <p:strVal val="#ppt_y"/>
                                          </p:val>
                                        </p:tav>
                                      </p:tavLst>
                                    </p:anim>
                                    <p:animEffect transition="in" filter="fade">
                                      <p:cBhvr>
                                        <p:cTn id="480" dur="500"/>
                                        <p:tgtEl>
                                          <p:spTgt spid="105"/>
                                        </p:tgtEl>
                                      </p:cBhvr>
                                    </p:animEffect>
                                  </p:childTnLst>
                                </p:cTn>
                              </p:par>
                              <p:par>
                                <p:cTn id="486" presetID="2" presetClass="entr" presetSubtype="4" fill="hold" grpId="0" nodeType="withEffect">
                                  <p:stCondLst>
                                    <p:cond delay="240"/>
                                  </p:stCondLst>
                                  <p:childTnLst>
                                    <p:set>
                                      <p:cBhvr>
                                        <p:cTn id="482" dur="1" fill="hold">
                                          <p:stCondLst>
                                            <p:cond delay="0"/>
                                          </p:stCondLst>
                                        </p:cTn>
                                        <p:tgtEl>
                                          <p:spTgt spid="106"/>
                                        </p:tgtEl>
                                        <p:attrNameLst>
                                          <p:attrName>style.visibility</p:attrName>
                                        </p:attrNameLst>
                                      </p:cBhvr>
                                      <p:to>
                                        <p:strVal val="visible"/>
                                      </p:to>
                                    </p:set>
                                    <p:anim calcmode="lin" valueType="num">
                                      <p:cBhvr additive="base">
                                        <p:cTn id="483" dur="500" fill="hold"/>
                                        <p:tgtEl>
                                          <p:spTgt spid="106"/>
                                        </p:tgtEl>
                                        <p:attrNameLst>
                                          <p:attrName>ppt_x</p:attrName>
                                        </p:attrNameLst>
                                      </p:cBhvr>
                                      <p:tavLst>
                                        <p:tav tm="0">
                                          <p:val>
                                            <p:strVal val="#ppt_x"/>
                                          </p:val>
                                        </p:tav>
                                        <p:tav tm="100000">
                                          <p:val>
                                            <p:strVal val="#ppt_x"/>
                                          </p:val>
                                        </p:tav>
                                      </p:tavLst>
                                    </p:anim>
                                    <p:anim calcmode="lin" valueType="num">
                                      <p:cBhvr additive="base">
                                        <p:cTn id="484" dur="500" fill="hold"/>
                                        <p:tgtEl>
                                          <p:spTgt spid="106"/>
                                        </p:tgtEl>
                                        <p:attrNameLst>
                                          <p:attrName>ppt_y</p:attrName>
                                        </p:attrNameLst>
                                      </p:cBhvr>
                                      <p:tavLst>
                                        <p:tav tm="0">
                                          <p:val>
                                            <p:strVal val="#ppt_y+0.1"/>
                                          </p:val>
                                        </p:tav>
                                        <p:tav tm="100000">
                                          <p:val>
                                            <p:strVal val="#ppt_y"/>
                                          </p:val>
                                        </p:tav>
                                      </p:tavLst>
                                    </p:anim>
                                    <p:animEffect transition="in" filter="fade">
                                      <p:cBhvr>
                                        <p:cTn id="485" dur="500"/>
                                        <p:tgtEl>
                                          <p:spTgt spid="106"/>
                                        </p:tgtEl>
                                      </p:cBhvr>
                                    </p:animEffect>
                                  </p:childTnLst>
                                </p:cTn>
                              </p:par>
                              <p:par>
                                <p:cTn id="491" presetID="2" presetClass="entr" presetSubtype="4" fill="hold" grpId="0" nodeType="withEffect">
                                  <p:stCondLst>
                                    <p:cond delay="240"/>
                                  </p:stCondLst>
                                  <p:childTnLst>
                                    <p:set>
                                      <p:cBhvr>
                                        <p:cTn id="487" dur="1" fill="hold">
                                          <p:stCondLst>
                                            <p:cond delay="0"/>
                                          </p:stCondLst>
                                        </p:cTn>
                                        <p:tgtEl>
                                          <p:spTgt spid="107"/>
                                        </p:tgtEl>
                                        <p:attrNameLst>
                                          <p:attrName>style.visibility</p:attrName>
                                        </p:attrNameLst>
                                      </p:cBhvr>
                                      <p:to>
                                        <p:strVal val="visible"/>
                                      </p:to>
                                    </p:set>
                                    <p:anim calcmode="lin" valueType="num">
                                      <p:cBhvr additive="base">
                                        <p:cTn id="488" dur="500" fill="hold"/>
                                        <p:tgtEl>
                                          <p:spTgt spid="107"/>
                                        </p:tgtEl>
                                        <p:attrNameLst>
                                          <p:attrName>ppt_x</p:attrName>
                                        </p:attrNameLst>
                                      </p:cBhvr>
                                      <p:tavLst>
                                        <p:tav tm="0">
                                          <p:val>
                                            <p:strVal val="#ppt_x"/>
                                          </p:val>
                                        </p:tav>
                                        <p:tav tm="100000">
                                          <p:val>
                                            <p:strVal val="#ppt_x"/>
                                          </p:val>
                                        </p:tav>
                                      </p:tavLst>
                                    </p:anim>
                                    <p:anim calcmode="lin" valueType="num">
                                      <p:cBhvr additive="base">
                                        <p:cTn id="489" dur="500" fill="hold"/>
                                        <p:tgtEl>
                                          <p:spTgt spid="107"/>
                                        </p:tgtEl>
                                        <p:attrNameLst>
                                          <p:attrName>ppt_y</p:attrName>
                                        </p:attrNameLst>
                                      </p:cBhvr>
                                      <p:tavLst>
                                        <p:tav tm="0">
                                          <p:val>
                                            <p:strVal val="#ppt_y+0.1"/>
                                          </p:val>
                                        </p:tav>
                                        <p:tav tm="100000">
                                          <p:val>
                                            <p:strVal val="#ppt_y"/>
                                          </p:val>
                                        </p:tav>
                                      </p:tavLst>
                                    </p:anim>
                                    <p:animEffect transition="in" filter="fade">
                                      <p:cBhvr>
                                        <p:cTn id="490" dur="500"/>
                                        <p:tgtEl>
                                          <p:spTgt spid="107"/>
                                        </p:tgtEl>
                                      </p:cBhvr>
                                    </p:animEffect>
                                  </p:childTnLst>
                                </p:cTn>
                              </p:par>
                              <p:par>
                                <p:cTn id="496" presetID="2" presetClass="entr" presetSubtype="4" fill="hold" grpId="0" nodeType="withEffect">
                                  <p:stCondLst>
                                    <p:cond delay="240"/>
                                  </p:stCondLst>
                                  <p:childTnLst>
                                    <p:set>
                                      <p:cBhvr>
                                        <p:cTn id="492" dur="1" fill="hold">
                                          <p:stCondLst>
                                            <p:cond delay="0"/>
                                          </p:stCondLst>
                                        </p:cTn>
                                        <p:tgtEl>
                                          <p:spTgt spid="108"/>
                                        </p:tgtEl>
                                        <p:attrNameLst>
                                          <p:attrName>style.visibility</p:attrName>
                                        </p:attrNameLst>
                                      </p:cBhvr>
                                      <p:to>
                                        <p:strVal val="visible"/>
                                      </p:to>
                                    </p:set>
                                    <p:anim calcmode="lin" valueType="num">
                                      <p:cBhvr additive="base">
                                        <p:cTn id="493" dur="500" fill="hold"/>
                                        <p:tgtEl>
                                          <p:spTgt spid="108"/>
                                        </p:tgtEl>
                                        <p:attrNameLst>
                                          <p:attrName>ppt_x</p:attrName>
                                        </p:attrNameLst>
                                      </p:cBhvr>
                                      <p:tavLst>
                                        <p:tav tm="0">
                                          <p:val>
                                            <p:strVal val="#ppt_x"/>
                                          </p:val>
                                        </p:tav>
                                        <p:tav tm="100000">
                                          <p:val>
                                            <p:strVal val="#ppt_x"/>
                                          </p:val>
                                        </p:tav>
                                      </p:tavLst>
                                    </p:anim>
                                    <p:anim calcmode="lin" valueType="num">
                                      <p:cBhvr additive="base">
                                        <p:cTn id="494" dur="500" fill="hold"/>
                                        <p:tgtEl>
                                          <p:spTgt spid="108"/>
                                        </p:tgtEl>
                                        <p:attrNameLst>
                                          <p:attrName>ppt_y</p:attrName>
                                        </p:attrNameLst>
                                      </p:cBhvr>
                                      <p:tavLst>
                                        <p:tav tm="0">
                                          <p:val>
                                            <p:strVal val="#ppt_y+0.1"/>
                                          </p:val>
                                        </p:tav>
                                        <p:tav tm="100000">
                                          <p:val>
                                            <p:strVal val="#ppt_y"/>
                                          </p:val>
                                        </p:tav>
                                      </p:tavLst>
                                    </p:anim>
                                    <p:animEffect transition="in" filter="fade">
                                      <p:cBhvr>
                                        <p:cTn id="495" dur="500"/>
                                        <p:tgtEl>
                                          <p:spTgt spid="108"/>
                                        </p:tgtEl>
                                      </p:cBhvr>
                                    </p:animEffect>
                                  </p:childTnLst>
                                </p:cTn>
                              </p:par>
                              <p:par>
                                <p:cTn id="501" presetID="2" presetClass="entr" presetSubtype="4" fill="hold" grpId="0" nodeType="withEffect">
                                  <p:stCondLst>
                                    <p:cond delay="360"/>
                                  </p:stCondLst>
                                  <p:childTnLst>
                                    <p:set>
                                      <p:cBhvr>
                                        <p:cTn id="497" dur="1" fill="hold">
                                          <p:stCondLst>
                                            <p:cond delay="0"/>
                                          </p:stCondLst>
                                        </p:cTn>
                                        <p:tgtEl>
                                          <p:spTgt spid="109"/>
                                        </p:tgtEl>
                                        <p:attrNameLst>
                                          <p:attrName>style.visibility</p:attrName>
                                        </p:attrNameLst>
                                      </p:cBhvr>
                                      <p:to>
                                        <p:strVal val="visible"/>
                                      </p:to>
                                    </p:set>
                                    <p:anim calcmode="lin" valueType="num">
                                      <p:cBhvr additive="base">
                                        <p:cTn id="498" dur="500" fill="hold"/>
                                        <p:tgtEl>
                                          <p:spTgt spid="109"/>
                                        </p:tgtEl>
                                        <p:attrNameLst>
                                          <p:attrName>ppt_x</p:attrName>
                                        </p:attrNameLst>
                                      </p:cBhvr>
                                      <p:tavLst>
                                        <p:tav tm="0">
                                          <p:val>
                                            <p:strVal val="#ppt_x"/>
                                          </p:val>
                                        </p:tav>
                                        <p:tav tm="100000">
                                          <p:val>
                                            <p:strVal val="#ppt_x"/>
                                          </p:val>
                                        </p:tav>
                                      </p:tavLst>
                                    </p:anim>
                                    <p:anim calcmode="lin" valueType="num">
                                      <p:cBhvr additive="base">
                                        <p:cTn id="499" dur="500" fill="hold"/>
                                        <p:tgtEl>
                                          <p:spTgt spid="109"/>
                                        </p:tgtEl>
                                        <p:attrNameLst>
                                          <p:attrName>ppt_y</p:attrName>
                                        </p:attrNameLst>
                                      </p:cBhvr>
                                      <p:tavLst>
                                        <p:tav tm="0">
                                          <p:val>
                                            <p:strVal val="#ppt_y+0.1"/>
                                          </p:val>
                                        </p:tav>
                                        <p:tav tm="100000">
                                          <p:val>
                                            <p:strVal val="#ppt_y"/>
                                          </p:val>
                                        </p:tav>
                                      </p:tavLst>
                                    </p:anim>
                                    <p:animEffect transition="in" filter="fade">
                                      <p:cBhvr>
                                        <p:cTn id="500" dur="500"/>
                                        <p:tgtEl>
                                          <p:spTgt spid="109"/>
                                        </p:tgtEl>
                                      </p:cBhvr>
                                    </p:animEffect>
                                  </p:childTnLst>
                                </p:cTn>
                              </p:par>
                              <p:par>
                                <p:cTn id="506" presetID="2" presetClass="entr" presetSubtype="4" fill="hold" grpId="0" nodeType="withEffect">
                                  <p:stCondLst>
                                    <p:cond delay="360"/>
                                  </p:stCondLst>
                                  <p:childTnLst>
                                    <p:set>
                                      <p:cBhvr>
                                        <p:cTn id="502" dur="1" fill="hold">
                                          <p:stCondLst>
                                            <p:cond delay="0"/>
                                          </p:stCondLst>
                                        </p:cTn>
                                        <p:tgtEl>
                                          <p:spTgt spid="110"/>
                                        </p:tgtEl>
                                        <p:attrNameLst>
                                          <p:attrName>style.visibility</p:attrName>
                                        </p:attrNameLst>
                                      </p:cBhvr>
                                      <p:to>
                                        <p:strVal val="visible"/>
                                      </p:to>
                                    </p:set>
                                    <p:anim calcmode="lin" valueType="num">
                                      <p:cBhvr additive="base">
                                        <p:cTn id="503" dur="500" fill="hold"/>
                                        <p:tgtEl>
                                          <p:spTgt spid="110"/>
                                        </p:tgtEl>
                                        <p:attrNameLst>
                                          <p:attrName>ppt_x</p:attrName>
                                        </p:attrNameLst>
                                      </p:cBhvr>
                                      <p:tavLst>
                                        <p:tav tm="0">
                                          <p:val>
                                            <p:strVal val="#ppt_x"/>
                                          </p:val>
                                        </p:tav>
                                        <p:tav tm="100000">
                                          <p:val>
                                            <p:strVal val="#ppt_x"/>
                                          </p:val>
                                        </p:tav>
                                      </p:tavLst>
                                    </p:anim>
                                    <p:anim calcmode="lin" valueType="num">
                                      <p:cBhvr additive="base">
                                        <p:cTn id="504" dur="500" fill="hold"/>
                                        <p:tgtEl>
                                          <p:spTgt spid="110"/>
                                        </p:tgtEl>
                                        <p:attrNameLst>
                                          <p:attrName>ppt_y</p:attrName>
                                        </p:attrNameLst>
                                      </p:cBhvr>
                                      <p:tavLst>
                                        <p:tav tm="0">
                                          <p:val>
                                            <p:strVal val="#ppt_y+0.1"/>
                                          </p:val>
                                        </p:tav>
                                        <p:tav tm="100000">
                                          <p:val>
                                            <p:strVal val="#ppt_y"/>
                                          </p:val>
                                        </p:tav>
                                      </p:tavLst>
                                    </p:anim>
                                    <p:animEffect transition="in" filter="fade">
                                      <p:cBhvr>
                                        <p:cTn id="505" dur="500"/>
                                        <p:tgtEl>
                                          <p:spTgt spid="110"/>
                                        </p:tgtEl>
                                      </p:cBhvr>
                                    </p:animEffect>
                                  </p:childTnLst>
                                </p:cTn>
                              </p:par>
                              <p:par>
                                <p:cTn id="511" presetID="2" presetClass="entr" presetSubtype="4" fill="hold" grpId="0" nodeType="withEffect">
                                  <p:stCondLst>
                                    <p:cond delay="360"/>
                                  </p:stCondLst>
                                  <p:childTnLst>
                                    <p:set>
                                      <p:cBhvr>
                                        <p:cTn id="507" dur="1" fill="hold">
                                          <p:stCondLst>
                                            <p:cond delay="0"/>
                                          </p:stCondLst>
                                        </p:cTn>
                                        <p:tgtEl>
                                          <p:spTgt spid="111"/>
                                        </p:tgtEl>
                                        <p:attrNameLst>
                                          <p:attrName>style.visibility</p:attrName>
                                        </p:attrNameLst>
                                      </p:cBhvr>
                                      <p:to>
                                        <p:strVal val="visible"/>
                                      </p:to>
                                    </p:set>
                                    <p:anim calcmode="lin" valueType="num">
                                      <p:cBhvr additive="base">
                                        <p:cTn id="508" dur="500" fill="hold"/>
                                        <p:tgtEl>
                                          <p:spTgt spid="111"/>
                                        </p:tgtEl>
                                        <p:attrNameLst>
                                          <p:attrName>ppt_x</p:attrName>
                                        </p:attrNameLst>
                                      </p:cBhvr>
                                      <p:tavLst>
                                        <p:tav tm="0">
                                          <p:val>
                                            <p:strVal val="#ppt_x"/>
                                          </p:val>
                                        </p:tav>
                                        <p:tav tm="100000">
                                          <p:val>
                                            <p:strVal val="#ppt_x"/>
                                          </p:val>
                                        </p:tav>
                                      </p:tavLst>
                                    </p:anim>
                                    <p:anim calcmode="lin" valueType="num">
                                      <p:cBhvr additive="base">
                                        <p:cTn id="509" dur="500" fill="hold"/>
                                        <p:tgtEl>
                                          <p:spTgt spid="111"/>
                                        </p:tgtEl>
                                        <p:attrNameLst>
                                          <p:attrName>ppt_y</p:attrName>
                                        </p:attrNameLst>
                                      </p:cBhvr>
                                      <p:tavLst>
                                        <p:tav tm="0">
                                          <p:val>
                                            <p:strVal val="#ppt_y+0.1"/>
                                          </p:val>
                                        </p:tav>
                                        <p:tav tm="100000">
                                          <p:val>
                                            <p:strVal val="#ppt_y"/>
                                          </p:val>
                                        </p:tav>
                                      </p:tavLst>
                                    </p:anim>
                                    <p:animEffect transition="in" filter="fade">
                                      <p:cBhvr>
                                        <p:cTn id="510" dur="500"/>
                                        <p:tgtEl>
                                          <p:spTgt spid="111"/>
                                        </p:tgtEl>
                                      </p:cBhvr>
                                    </p:animEffect>
                                  </p:childTnLst>
                                </p:cTn>
                              </p:par>
                              <p:par>
                                <p:cTn id="516" presetID="2" presetClass="entr" presetSubtype="4" fill="hold" grpId="0" nodeType="withEffect">
                                  <p:stCondLst>
                                    <p:cond delay="360"/>
                                  </p:stCondLst>
                                  <p:childTnLst>
                                    <p:set>
                                      <p:cBhvr>
                                        <p:cTn id="512" dur="1" fill="hold">
                                          <p:stCondLst>
                                            <p:cond delay="0"/>
                                          </p:stCondLst>
                                        </p:cTn>
                                        <p:tgtEl>
                                          <p:spTgt spid="112"/>
                                        </p:tgtEl>
                                        <p:attrNameLst>
                                          <p:attrName>style.visibility</p:attrName>
                                        </p:attrNameLst>
                                      </p:cBhvr>
                                      <p:to>
                                        <p:strVal val="visible"/>
                                      </p:to>
                                    </p:set>
                                    <p:anim calcmode="lin" valueType="num">
                                      <p:cBhvr additive="base">
                                        <p:cTn id="513" dur="500" fill="hold"/>
                                        <p:tgtEl>
                                          <p:spTgt spid="112"/>
                                        </p:tgtEl>
                                        <p:attrNameLst>
                                          <p:attrName>ppt_x</p:attrName>
                                        </p:attrNameLst>
                                      </p:cBhvr>
                                      <p:tavLst>
                                        <p:tav tm="0">
                                          <p:val>
                                            <p:strVal val="#ppt_x"/>
                                          </p:val>
                                        </p:tav>
                                        <p:tav tm="100000">
                                          <p:val>
                                            <p:strVal val="#ppt_x"/>
                                          </p:val>
                                        </p:tav>
                                      </p:tavLst>
                                    </p:anim>
                                    <p:anim calcmode="lin" valueType="num">
                                      <p:cBhvr additive="base">
                                        <p:cTn id="514" dur="500" fill="hold"/>
                                        <p:tgtEl>
                                          <p:spTgt spid="112"/>
                                        </p:tgtEl>
                                        <p:attrNameLst>
                                          <p:attrName>ppt_y</p:attrName>
                                        </p:attrNameLst>
                                      </p:cBhvr>
                                      <p:tavLst>
                                        <p:tav tm="0">
                                          <p:val>
                                            <p:strVal val="#ppt_y+0.1"/>
                                          </p:val>
                                        </p:tav>
                                        <p:tav tm="100000">
                                          <p:val>
                                            <p:strVal val="#ppt_y"/>
                                          </p:val>
                                        </p:tav>
                                      </p:tavLst>
                                    </p:anim>
                                    <p:animEffect transition="in" filter="fade">
                                      <p:cBhvr>
                                        <p:cTn id="515" dur="500"/>
                                        <p:tgtEl>
                                          <p:spTgt spid="112"/>
                                        </p:tgtEl>
                                      </p:cBhvr>
                                    </p:animEffect>
                                  </p:childTnLst>
                                </p:cTn>
                              </p:par>
                              <p:par>
                                <p:cTn id="521" presetID="2" presetClass="entr" presetSubtype="4" fill="hold" grpId="0" nodeType="withEffect">
                                  <p:stCondLst>
                                    <p:cond delay="360"/>
                                  </p:stCondLst>
                                  <p:childTnLst>
                                    <p:set>
                                      <p:cBhvr>
                                        <p:cTn id="517" dur="1" fill="hold">
                                          <p:stCondLst>
                                            <p:cond delay="0"/>
                                          </p:stCondLst>
                                        </p:cTn>
                                        <p:tgtEl>
                                          <p:spTgt spid="113"/>
                                        </p:tgtEl>
                                        <p:attrNameLst>
                                          <p:attrName>style.visibility</p:attrName>
                                        </p:attrNameLst>
                                      </p:cBhvr>
                                      <p:to>
                                        <p:strVal val="visible"/>
                                      </p:to>
                                    </p:set>
                                    <p:anim calcmode="lin" valueType="num">
                                      <p:cBhvr additive="base">
                                        <p:cTn id="518" dur="500" fill="hold"/>
                                        <p:tgtEl>
                                          <p:spTgt spid="113"/>
                                        </p:tgtEl>
                                        <p:attrNameLst>
                                          <p:attrName>ppt_x</p:attrName>
                                        </p:attrNameLst>
                                      </p:cBhvr>
                                      <p:tavLst>
                                        <p:tav tm="0">
                                          <p:val>
                                            <p:strVal val="#ppt_x"/>
                                          </p:val>
                                        </p:tav>
                                        <p:tav tm="100000">
                                          <p:val>
                                            <p:strVal val="#ppt_x"/>
                                          </p:val>
                                        </p:tav>
                                      </p:tavLst>
                                    </p:anim>
                                    <p:anim calcmode="lin" valueType="num">
                                      <p:cBhvr additive="base">
                                        <p:cTn id="519" dur="500" fill="hold"/>
                                        <p:tgtEl>
                                          <p:spTgt spid="113"/>
                                        </p:tgtEl>
                                        <p:attrNameLst>
                                          <p:attrName>ppt_y</p:attrName>
                                        </p:attrNameLst>
                                      </p:cBhvr>
                                      <p:tavLst>
                                        <p:tav tm="0">
                                          <p:val>
                                            <p:strVal val="#ppt_y+0.1"/>
                                          </p:val>
                                        </p:tav>
                                        <p:tav tm="100000">
                                          <p:val>
                                            <p:strVal val="#ppt_y"/>
                                          </p:val>
                                        </p:tav>
                                      </p:tavLst>
                                    </p:anim>
                                    <p:animEffect transition="in" filter="fade">
                                      <p:cBhvr>
                                        <p:cTn id="520" dur="500"/>
                                        <p:tgtEl>
                                          <p:spTgt spid="113"/>
                                        </p:tgtEl>
                                      </p:cBhvr>
                                    </p:animEffect>
                                  </p:childTnLst>
                                </p:cTn>
                              </p:par>
                              <p:par>
                                <p:cTn id="526" presetID="2" presetClass="entr" presetSubtype="4" fill="hold" grpId="0" nodeType="withEffect">
                                  <p:stCondLst>
                                    <p:cond delay="360"/>
                                  </p:stCondLst>
                                  <p:childTnLst>
                                    <p:set>
                                      <p:cBhvr>
                                        <p:cTn id="522" dur="1" fill="hold">
                                          <p:stCondLst>
                                            <p:cond delay="0"/>
                                          </p:stCondLst>
                                        </p:cTn>
                                        <p:tgtEl>
                                          <p:spTgt spid="114"/>
                                        </p:tgtEl>
                                        <p:attrNameLst>
                                          <p:attrName>style.visibility</p:attrName>
                                        </p:attrNameLst>
                                      </p:cBhvr>
                                      <p:to>
                                        <p:strVal val="visible"/>
                                      </p:to>
                                    </p:set>
                                    <p:anim calcmode="lin" valueType="num">
                                      <p:cBhvr additive="base">
                                        <p:cTn id="523" dur="500" fill="hold"/>
                                        <p:tgtEl>
                                          <p:spTgt spid="114"/>
                                        </p:tgtEl>
                                        <p:attrNameLst>
                                          <p:attrName>ppt_x</p:attrName>
                                        </p:attrNameLst>
                                      </p:cBhvr>
                                      <p:tavLst>
                                        <p:tav tm="0">
                                          <p:val>
                                            <p:strVal val="#ppt_x"/>
                                          </p:val>
                                        </p:tav>
                                        <p:tav tm="100000">
                                          <p:val>
                                            <p:strVal val="#ppt_x"/>
                                          </p:val>
                                        </p:tav>
                                      </p:tavLst>
                                    </p:anim>
                                    <p:anim calcmode="lin" valueType="num">
                                      <p:cBhvr additive="base">
                                        <p:cTn id="524" dur="500" fill="hold"/>
                                        <p:tgtEl>
                                          <p:spTgt spid="114"/>
                                        </p:tgtEl>
                                        <p:attrNameLst>
                                          <p:attrName>ppt_y</p:attrName>
                                        </p:attrNameLst>
                                      </p:cBhvr>
                                      <p:tavLst>
                                        <p:tav tm="0">
                                          <p:val>
                                            <p:strVal val="#ppt_y+0.1"/>
                                          </p:val>
                                        </p:tav>
                                        <p:tav tm="100000">
                                          <p:val>
                                            <p:strVal val="#ppt_y"/>
                                          </p:val>
                                        </p:tav>
                                      </p:tavLst>
                                    </p:anim>
                                    <p:animEffect transition="in" filter="fade">
                                      <p:cBhvr>
                                        <p:cTn id="525" dur="500"/>
                                        <p:tgtEl>
                                          <p:spTgt spid="114"/>
                                        </p:tgtEl>
                                      </p:cBhvr>
                                    </p:animEffect>
                                  </p:childTnLst>
                                </p:cTn>
                              </p:par>
                              <p:par>
                                <p:cTn id="531" presetID="2" presetClass="entr" presetSubtype="4" fill="hold" grpId="0" nodeType="withEffect">
                                  <p:stCondLst>
                                    <p:cond delay="360"/>
                                  </p:stCondLst>
                                  <p:childTnLst>
                                    <p:set>
                                      <p:cBhvr>
                                        <p:cTn id="527" dur="1" fill="hold">
                                          <p:stCondLst>
                                            <p:cond delay="0"/>
                                          </p:stCondLst>
                                        </p:cTn>
                                        <p:tgtEl>
                                          <p:spTgt spid="115"/>
                                        </p:tgtEl>
                                        <p:attrNameLst>
                                          <p:attrName>style.visibility</p:attrName>
                                        </p:attrNameLst>
                                      </p:cBhvr>
                                      <p:to>
                                        <p:strVal val="visible"/>
                                      </p:to>
                                    </p:set>
                                    <p:anim calcmode="lin" valueType="num">
                                      <p:cBhvr additive="base">
                                        <p:cTn id="528" dur="500" fill="hold"/>
                                        <p:tgtEl>
                                          <p:spTgt spid="115"/>
                                        </p:tgtEl>
                                        <p:attrNameLst>
                                          <p:attrName>ppt_x</p:attrName>
                                        </p:attrNameLst>
                                      </p:cBhvr>
                                      <p:tavLst>
                                        <p:tav tm="0">
                                          <p:val>
                                            <p:strVal val="#ppt_x"/>
                                          </p:val>
                                        </p:tav>
                                        <p:tav tm="100000">
                                          <p:val>
                                            <p:strVal val="#ppt_x"/>
                                          </p:val>
                                        </p:tav>
                                      </p:tavLst>
                                    </p:anim>
                                    <p:anim calcmode="lin" valueType="num">
                                      <p:cBhvr additive="base">
                                        <p:cTn id="529" dur="500" fill="hold"/>
                                        <p:tgtEl>
                                          <p:spTgt spid="115"/>
                                        </p:tgtEl>
                                        <p:attrNameLst>
                                          <p:attrName>ppt_y</p:attrName>
                                        </p:attrNameLst>
                                      </p:cBhvr>
                                      <p:tavLst>
                                        <p:tav tm="0">
                                          <p:val>
                                            <p:strVal val="#ppt_y+0.1"/>
                                          </p:val>
                                        </p:tav>
                                        <p:tav tm="100000">
                                          <p:val>
                                            <p:strVal val="#ppt_y"/>
                                          </p:val>
                                        </p:tav>
                                      </p:tavLst>
                                    </p:anim>
                                    <p:animEffect transition="in" filter="fade">
                                      <p:cBhvr>
                                        <p:cTn id="530" dur="500"/>
                                        <p:tgtEl>
                                          <p:spTgt spid="115"/>
                                        </p:tgtEl>
                                      </p:cBhvr>
                                    </p:animEffect>
                                  </p:childTnLst>
                                </p:cTn>
                              </p:par>
                              <p:par>
                                <p:cTn id="536" presetID="2" presetClass="entr" presetSubtype="4" fill="hold" grpId="0" nodeType="withEffect">
                                  <p:stCondLst>
                                    <p:cond delay="360"/>
                                  </p:stCondLst>
                                  <p:childTnLst>
                                    <p:set>
                                      <p:cBhvr>
                                        <p:cTn id="532" dur="1" fill="hold">
                                          <p:stCondLst>
                                            <p:cond delay="0"/>
                                          </p:stCondLst>
                                        </p:cTn>
                                        <p:tgtEl>
                                          <p:spTgt spid="116"/>
                                        </p:tgtEl>
                                        <p:attrNameLst>
                                          <p:attrName>style.visibility</p:attrName>
                                        </p:attrNameLst>
                                      </p:cBhvr>
                                      <p:to>
                                        <p:strVal val="visible"/>
                                      </p:to>
                                    </p:set>
                                    <p:anim calcmode="lin" valueType="num">
                                      <p:cBhvr additive="base">
                                        <p:cTn id="533" dur="500" fill="hold"/>
                                        <p:tgtEl>
                                          <p:spTgt spid="116"/>
                                        </p:tgtEl>
                                        <p:attrNameLst>
                                          <p:attrName>ppt_x</p:attrName>
                                        </p:attrNameLst>
                                      </p:cBhvr>
                                      <p:tavLst>
                                        <p:tav tm="0">
                                          <p:val>
                                            <p:strVal val="#ppt_x"/>
                                          </p:val>
                                        </p:tav>
                                        <p:tav tm="100000">
                                          <p:val>
                                            <p:strVal val="#ppt_x"/>
                                          </p:val>
                                        </p:tav>
                                      </p:tavLst>
                                    </p:anim>
                                    <p:anim calcmode="lin" valueType="num">
                                      <p:cBhvr additive="base">
                                        <p:cTn id="534" dur="500" fill="hold"/>
                                        <p:tgtEl>
                                          <p:spTgt spid="116"/>
                                        </p:tgtEl>
                                        <p:attrNameLst>
                                          <p:attrName>ppt_y</p:attrName>
                                        </p:attrNameLst>
                                      </p:cBhvr>
                                      <p:tavLst>
                                        <p:tav tm="0">
                                          <p:val>
                                            <p:strVal val="#ppt_y+0.1"/>
                                          </p:val>
                                        </p:tav>
                                        <p:tav tm="100000">
                                          <p:val>
                                            <p:strVal val="#ppt_y"/>
                                          </p:val>
                                        </p:tav>
                                      </p:tavLst>
                                    </p:anim>
                                    <p:animEffect transition="in" filter="fade">
                                      <p:cBhvr>
                                        <p:cTn id="535" dur="500"/>
                                        <p:tgtEl>
                                          <p:spTgt spid="116"/>
                                        </p:tgtEl>
                                      </p:cBhvr>
                                    </p:animEffect>
                                  </p:childTnLst>
                                </p:cTn>
                              </p:par>
                              <p:par>
                                <p:cTn id="541" presetID="2" presetClass="entr" presetSubtype="4" fill="hold" grpId="0" nodeType="withEffect">
                                  <p:stCondLst>
                                    <p:cond delay="360"/>
                                  </p:stCondLst>
                                  <p:childTnLst>
                                    <p:set>
                                      <p:cBhvr>
                                        <p:cTn id="537" dur="1" fill="hold">
                                          <p:stCondLst>
                                            <p:cond delay="0"/>
                                          </p:stCondLst>
                                        </p:cTn>
                                        <p:tgtEl>
                                          <p:spTgt spid="117"/>
                                        </p:tgtEl>
                                        <p:attrNameLst>
                                          <p:attrName>style.visibility</p:attrName>
                                        </p:attrNameLst>
                                      </p:cBhvr>
                                      <p:to>
                                        <p:strVal val="visible"/>
                                      </p:to>
                                    </p:set>
                                    <p:anim calcmode="lin" valueType="num">
                                      <p:cBhvr additive="base">
                                        <p:cTn id="538" dur="500" fill="hold"/>
                                        <p:tgtEl>
                                          <p:spTgt spid="117"/>
                                        </p:tgtEl>
                                        <p:attrNameLst>
                                          <p:attrName>ppt_x</p:attrName>
                                        </p:attrNameLst>
                                      </p:cBhvr>
                                      <p:tavLst>
                                        <p:tav tm="0">
                                          <p:val>
                                            <p:strVal val="#ppt_x"/>
                                          </p:val>
                                        </p:tav>
                                        <p:tav tm="100000">
                                          <p:val>
                                            <p:strVal val="#ppt_x"/>
                                          </p:val>
                                        </p:tav>
                                      </p:tavLst>
                                    </p:anim>
                                    <p:anim calcmode="lin" valueType="num">
                                      <p:cBhvr additive="base">
                                        <p:cTn id="539" dur="500" fill="hold"/>
                                        <p:tgtEl>
                                          <p:spTgt spid="117"/>
                                        </p:tgtEl>
                                        <p:attrNameLst>
                                          <p:attrName>ppt_y</p:attrName>
                                        </p:attrNameLst>
                                      </p:cBhvr>
                                      <p:tavLst>
                                        <p:tav tm="0">
                                          <p:val>
                                            <p:strVal val="#ppt_y+0.1"/>
                                          </p:val>
                                        </p:tav>
                                        <p:tav tm="100000">
                                          <p:val>
                                            <p:strVal val="#ppt_y"/>
                                          </p:val>
                                        </p:tav>
                                      </p:tavLst>
                                    </p:anim>
                                    <p:animEffect transition="in" filter="fade">
                                      <p:cBhvr>
                                        <p:cTn id="540" dur="500"/>
                                        <p:tgtEl>
                                          <p:spTgt spid="117"/>
                                        </p:tgtEl>
                                      </p:cBhvr>
                                    </p:animEffect>
                                  </p:childTnLst>
                                </p:cTn>
                              </p:par>
                              <p:par>
                                <p:cTn id="546" presetID="2" presetClass="entr" presetSubtype="4" fill="hold" grpId="0" nodeType="withEffect">
                                  <p:stCondLst>
                                    <p:cond delay="360"/>
                                  </p:stCondLst>
                                  <p:childTnLst>
                                    <p:set>
                                      <p:cBhvr>
                                        <p:cTn id="542" dur="1" fill="hold">
                                          <p:stCondLst>
                                            <p:cond delay="0"/>
                                          </p:stCondLst>
                                        </p:cTn>
                                        <p:tgtEl>
                                          <p:spTgt spid="118"/>
                                        </p:tgtEl>
                                        <p:attrNameLst>
                                          <p:attrName>style.visibility</p:attrName>
                                        </p:attrNameLst>
                                      </p:cBhvr>
                                      <p:to>
                                        <p:strVal val="visible"/>
                                      </p:to>
                                    </p:set>
                                    <p:anim calcmode="lin" valueType="num">
                                      <p:cBhvr additive="base">
                                        <p:cTn id="543" dur="500" fill="hold"/>
                                        <p:tgtEl>
                                          <p:spTgt spid="118"/>
                                        </p:tgtEl>
                                        <p:attrNameLst>
                                          <p:attrName>ppt_x</p:attrName>
                                        </p:attrNameLst>
                                      </p:cBhvr>
                                      <p:tavLst>
                                        <p:tav tm="0">
                                          <p:val>
                                            <p:strVal val="#ppt_x"/>
                                          </p:val>
                                        </p:tav>
                                        <p:tav tm="100000">
                                          <p:val>
                                            <p:strVal val="#ppt_x"/>
                                          </p:val>
                                        </p:tav>
                                      </p:tavLst>
                                    </p:anim>
                                    <p:anim calcmode="lin" valueType="num">
                                      <p:cBhvr additive="base">
                                        <p:cTn id="544" dur="500" fill="hold"/>
                                        <p:tgtEl>
                                          <p:spTgt spid="118"/>
                                        </p:tgtEl>
                                        <p:attrNameLst>
                                          <p:attrName>ppt_y</p:attrName>
                                        </p:attrNameLst>
                                      </p:cBhvr>
                                      <p:tavLst>
                                        <p:tav tm="0">
                                          <p:val>
                                            <p:strVal val="#ppt_y+0.1"/>
                                          </p:val>
                                        </p:tav>
                                        <p:tav tm="100000">
                                          <p:val>
                                            <p:strVal val="#ppt_y"/>
                                          </p:val>
                                        </p:tav>
                                      </p:tavLst>
                                    </p:anim>
                                    <p:animEffect transition="in" filter="fade">
                                      <p:cBhvr>
                                        <p:cTn id="545" dur="500"/>
                                        <p:tgtEl>
                                          <p:spTgt spid="118"/>
                                        </p:tgtEl>
                                      </p:cBhvr>
                                    </p:animEffect>
                                  </p:childTnLst>
                                </p:cTn>
                              </p:par>
                              <p:par>
                                <p:cTn id="551" presetID="2" presetClass="entr" presetSubtype="4" fill="hold" grpId="0" nodeType="withEffect">
                                  <p:stCondLst>
                                    <p:cond delay="360"/>
                                  </p:stCondLst>
                                  <p:childTnLst>
                                    <p:set>
                                      <p:cBhvr>
                                        <p:cTn id="547" dur="1" fill="hold">
                                          <p:stCondLst>
                                            <p:cond delay="0"/>
                                          </p:stCondLst>
                                        </p:cTn>
                                        <p:tgtEl>
                                          <p:spTgt spid="119"/>
                                        </p:tgtEl>
                                        <p:attrNameLst>
                                          <p:attrName>style.visibility</p:attrName>
                                        </p:attrNameLst>
                                      </p:cBhvr>
                                      <p:to>
                                        <p:strVal val="visible"/>
                                      </p:to>
                                    </p:set>
                                    <p:anim calcmode="lin" valueType="num">
                                      <p:cBhvr additive="base">
                                        <p:cTn id="548" dur="500" fill="hold"/>
                                        <p:tgtEl>
                                          <p:spTgt spid="119"/>
                                        </p:tgtEl>
                                        <p:attrNameLst>
                                          <p:attrName>ppt_x</p:attrName>
                                        </p:attrNameLst>
                                      </p:cBhvr>
                                      <p:tavLst>
                                        <p:tav tm="0">
                                          <p:val>
                                            <p:strVal val="#ppt_x"/>
                                          </p:val>
                                        </p:tav>
                                        <p:tav tm="100000">
                                          <p:val>
                                            <p:strVal val="#ppt_x"/>
                                          </p:val>
                                        </p:tav>
                                      </p:tavLst>
                                    </p:anim>
                                    <p:anim calcmode="lin" valueType="num">
                                      <p:cBhvr additive="base">
                                        <p:cTn id="549" dur="500" fill="hold"/>
                                        <p:tgtEl>
                                          <p:spTgt spid="119"/>
                                        </p:tgtEl>
                                        <p:attrNameLst>
                                          <p:attrName>ppt_y</p:attrName>
                                        </p:attrNameLst>
                                      </p:cBhvr>
                                      <p:tavLst>
                                        <p:tav tm="0">
                                          <p:val>
                                            <p:strVal val="#ppt_y+0.1"/>
                                          </p:val>
                                        </p:tav>
                                        <p:tav tm="100000">
                                          <p:val>
                                            <p:strVal val="#ppt_y"/>
                                          </p:val>
                                        </p:tav>
                                      </p:tavLst>
                                    </p:anim>
                                    <p:animEffect transition="in" filter="fade">
                                      <p:cBhvr>
                                        <p:cTn id="550" dur="500"/>
                                        <p:tgtEl>
                                          <p:spTgt spid="119"/>
                                        </p:tgtEl>
                                      </p:cBhvr>
                                    </p:animEffect>
                                  </p:childTnLst>
                                </p:cTn>
                              </p:par>
                              <p:par>
                                <p:cTn id="556" presetID="2" presetClass="entr" presetSubtype="4" fill="hold" grpId="0" nodeType="withEffect">
                                  <p:stCondLst>
                                    <p:cond delay="360"/>
                                  </p:stCondLst>
                                  <p:childTnLst>
                                    <p:set>
                                      <p:cBhvr>
                                        <p:cTn id="552" dur="1" fill="hold">
                                          <p:stCondLst>
                                            <p:cond delay="0"/>
                                          </p:stCondLst>
                                        </p:cTn>
                                        <p:tgtEl>
                                          <p:spTgt spid="120"/>
                                        </p:tgtEl>
                                        <p:attrNameLst>
                                          <p:attrName>style.visibility</p:attrName>
                                        </p:attrNameLst>
                                      </p:cBhvr>
                                      <p:to>
                                        <p:strVal val="visible"/>
                                      </p:to>
                                    </p:set>
                                    <p:anim calcmode="lin" valueType="num">
                                      <p:cBhvr additive="base">
                                        <p:cTn id="553" dur="500" fill="hold"/>
                                        <p:tgtEl>
                                          <p:spTgt spid="120"/>
                                        </p:tgtEl>
                                        <p:attrNameLst>
                                          <p:attrName>ppt_x</p:attrName>
                                        </p:attrNameLst>
                                      </p:cBhvr>
                                      <p:tavLst>
                                        <p:tav tm="0">
                                          <p:val>
                                            <p:strVal val="#ppt_x"/>
                                          </p:val>
                                        </p:tav>
                                        <p:tav tm="100000">
                                          <p:val>
                                            <p:strVal val="#ppt_x"/>
                                          </p:val>
                                        </p:tav>
                                      </p:tavLst>
                                    </p:anim>
                                    <p:anim calcmode="lin" valueType="num">
                                      <p:cBhvr additive="base">
                                        <p:cTn id="554" dur="500" fill="hold"/>
                                        <p:tgtEl>
                                          <p:spTgt spid="120"/>
                                        </p:tgtEl>
                                        <p:attrNameLst>
                                          <p:attrName>ppt_y</p:attrName>
                                        </p:attrNameLst>
                                      </p:cBhvr>
                                      <p:tavLst>
                                        <p:tav tm="0">
                                          <p:val>
                                            <p:strVal val="#ppt_y+0.1"/>
                                          </p:val>
                                        </p:tav>
                                        <p:tav tm="100000">
                                          <p:val>
                                            <p:strVal val="#ppt_y"/>
                                          </p:val>
                                        </p:tav>
                                      </p:tavLst>
                                    </p:anim>
                                    <p:animEffect transition="in" filter="fade">
                                      <p:cBhvr>
                                        <p:cTn id="555" dur="500"/>
                                        <p:tgtEl>
                                          <p:spTgt spid="120"/>
                                        </p:tgtEl>
                                      </p:cBhvr>
                                    </p:animEffect>
                                  </p:childTnLst>
                                </p:cTn>
                              </p:par>
                              <p:par>
                                <p:cTn id="561" presetID="2" presetClass="entr" presetSubtype="4" fill="hold" grpId="0" nodeType="withEffect">
                                  <p:stCondLst>
                                    <p:cond delay="500"/>
                                  </p:stCondLst>
                                  <p:childTnLst>
                                    <p:set>
                                      <p:cBhvr>
                                        <p:cTn id="557" dur="1" fill="hold">
                                          <p:stCondLst>
                                            <p:cond delay="0"/>
                                          </p:stCondLst>
                                        </p:cTn>
                                        <p:tgtEl>
                                          <p:spTgt spid="121"/>
                                        </p:tgtEl>
                                        <p:attrNameLst>
                                          <p:attrName>style.visibility</p:attrName>
                                        </p:attrNameLst>
                                      </p:cBhvr>
                                      <p:to>
                                        <p:strVal val="visible"/>
                                      </p:to>
                                    </p:set>
                                    <p:anim calcmode="lin" valueType="num">
                                      <p:cBhvr additive="base">
                                        <p:cTn id="558" dur="500" fill="hold"/>
                                        <p:tgtEl>
                                          <p:spTgt spid="121"/>
                                        </p:tgtEl>
                                        <p:attrNameLst>
                                          <p:attrName>ppt_x</p:attrName>
                                        </p:attrNameLst>
                                      </p:cBhvr>
                                      <p:tavLst>
                                        <p:tav tm="0">
                                          <p:val>
                                            <p:strVal val="#ppt_x"/>
                                          </p:val>
                                        </p:tav>
                                        <p:tav tm="100000">
                                          <p:val>
                                            <p:strVal val="#ppt_x"/>
                                          </p:val>
                                        </p:tav>
                                      </p:tavLst>
                                    </p:anim>
                                    <p:anim calcmode="lin" valueType="num">
                                      <p:cBhvr additive="base">
                                        <p:cTn id="559" dur="500" fill="hold"/>
                                        <p:tgtEl>
                                          <p:spTgt spid="121"/>
                                        </p:tgtEl>
                                        <p:attrNameLst>
                                          <p:attrName>ppt_y</p:attrName>
                                        </p:attrNameLst>
                                      </p:cBhvr>
                                      <p:tavLst>
                                        <p:tav tm="0">
                                          <p:val>
                                            <p:strVal val="#ppt_y+0.1"/>
                                          </p:val>
                                        </p:tav>
                                        <p:tav tm="100000">
                                          <p:val>
                                            <p:strVal val="#ppt_y"/>
                                          </p:val>
                                        </p:tav>
                                      </p:tavLst>
                                    </p:anim>
                                    <p:animEffect transition="in" filter="fade">
                                      <p:cBhvr>
                                        <p:cTn id="560" dur="500"/>
                                        <p:tgtEl>
                                          <p:spTgt spid="121"/>
                                        </p:tgtEl>
                                      </p:cBhvr>
                                    </p:animEffect>
                                  </p:childTnLst>
                                </p:cTn>
                              </p:par>
                            </p:childTnLst>
                          </p:cTn>
                        </p:par>
                      </p:childTnLst>
                    </p:cTn>
                  </p:par>
                  <p:par>
                    <p:cTn id="562" fill="hold">
                      <p:stCondLst>
                        <p:cond delay="indefinite"/>
                      </p:stCondLst>
                      <p:childTnLst>
                        <p:par>
                          <p:cTn id="563" fill="hold">
                            <p:stCondLst>
                              <p:cond delay="0"/>
                            </p:stCondLst>
                            <p:childTnLst>
                              <p:par>
                                <p:cTn id="568" presetID="2" presetClass="entr" presetSubtype="4" fill="hold" grpId="0" nodeType="clickEffect">
                                  <p:stCondLst>
                                    <p:cond delay="0"/>
                                  </p:stCondLst>
                                  <p:childTnLst>
                                    <p:set>
                                      <p:cBhvr>
                                        <p:cTn id="564" dur="1" fill="hold">
                                          <p:stCondLst>
                                            <p:cond delay="0"/>
                                          </p:stCondLst>
                                        </p:cTn>
                                        <p:tgtEl>
                                          <p:spTgt spid="122"/>
                                        </p:tgtEl>
                                        <p:attrNameLst>
                                          <p:attrName>style.visibility</p:attrName>
                                        </p:attrNameLst>
                                      </p:cBhvr>
                                      <p:to>
                                        <p:strVal val="visible"/>
                                      </p:to>
                                    </p:set>
                                    <p:anim calcmode="lin" valueType="num">
                                      <p:cBhvr additive="base">
                                        <p:cTn id="565" dur="500" fill="hold"/>
                                        <p:tgtEl>
                                          <p:spTgt spid="122"/>
                                        </p:tgtEl>
                                        <p:attrNameLst>
                                          <p:attrName>ppt_x</p:attrName>
                                        </p:attrNameLst>
                                      </p:cBhvr>
                                      <p:tavLst>
                                        <p:tav tm="0">
                                          <p:val>
                                            <p:strVal val="#ppt_x"/>
                                          </p:val>
                                        </p:tav>
                                        <p:tav tm="100000">
                                          <p:val>
                                            <p:strVal val="#ppt_x"/>
                                          </p:val>
                                        </p:tav>
                                      </p:tavLst>
                                    </p:anim>
                                    <p:anim calcmode="lin" valueType="num">
                                      <p:cBhvr additive="base">
                                        <p:cTn id="566" dur="500" fill="hold"/>
                                        <p:tgtEl>
                                          <p:spTgt spid="122"/>
                                        </p:tgtEl>
                                        <p:attrNameLst>
                                          <p:attrName>ppt_y</p:attrName>
                                        </p:attrNameLst>
                                      </p:cBhvr>
                                      <p:tavLst>
                                        <p:tav tm="0">
                                          <p:val>
                                            <p:strVal val="#ppt_y+0.1"/>
                                          </p:val>
                                        </p:tav>
                                        <p:tav tm="100000">
                                          <p:val>
                                            <p:strVal val="#ppt_y"/>
                                          </p:val>
                                        </p:tav>
                                      </p:tavLst>
                                    </p:anim>
                                    <p:animEffect transition="in" filter="fade">
                                      <p:cBhvr>
                                        <p:cTn id="567" dur="500"/>
                                        <p:tgtEl>
                                          <p:spTgt spid="122"/>
                                        </p:tgtEl>
                                      </p:cBhvr>
                                    </p:animEffect>
                                  </p:childTnLst>
                                </p:cTn>
                              </p:par>
                              <p:par>
                                <p:cTn id="573" presetID="2" presetClass="entr" presetSubtype="4" fill="hold" grpId="0" nodeType="withEffect">
                                  <p:stCondLst>
                                    <p:cond delay="0"/>
                                  </p:stCondLst>
                                  <p:childTnLst>
                                    <p:set>
                                      <p:cBhvr>
                                        <p:cTn id="569" dur="1" fill="hold">
                                          <p:stCondLst>
                                            <p:cond delay="0"/>
                                          </p:stCondLst>
                                        </p:cTn>
                                        <p:tgtEl>
                                          <p:spTgt spid="123"/>
                                        </p:tgtEl>
                                        <p:attrNameLst>
                                          <p:attrName>style.visibility</p:attrName>
                                        </p:attrNameLst>
                                      </p:cBhvr>
                                      <p:to>
                                        <p:strVal val="visible"/>
                                      </p:to>
                                    </p:set>
                                    <p:anim calcmode="lin" valueType="num">
                                      <p:cBhvr additive="base">
                                        <p:cTn id="570" dur="500" fill="hold"/>
                                        <p:tgtEl>
                                          <p:spTgt spid="123"/>
                                        </p:tgtEl>
                                        <p:attrNameLst>
                                          <p:attrName>ppt_x</p:attrName>
                                        </p:attrNameLst>
                                      </p:cBhvr>
                                      <p:tavLst>
                                        <p:tav tm="0">
                                          <p:val>
                                            <p:strVal val="#ppt_x"/>
                                          </p:val>
                                        </p:tav>
                                        <p:tav tm="100000">
                                          <p:val>
                                            <p:strVal val="#ppt_x"/>
                                          </p:val>
                                        </p:tav>
                                      </p:tavLst>
                                    </p:anim>
                                    <p:anim calcmode="lin" valueType="num">
                                      <p:cBhvr additive="base">
                                        <p:cTn id="571" dur="500" fill="hold"/>
                                        <p:tgtEl>
                                          <p:spTgt spid="123"/>
                                        </p:tgtEl>
                                        <p:attrNameLst>
                                          <p:attrName>ppt_y</p:attrName>
                                        </p:attrNameLst>
                                      </p:cBhvr>
                                      <p:tavLst>
                                        <p:tav tm="0">
                                          <p:val>
                                            <p:strVal val="#ppt_y+0.1"/>
                                          </p:val>
                                        </p:tav>
                                        <p:tav tm="100000">
                                          <p:val>
                                            <p:strVal val="#ppt_y"/>
                                          </p:val>
                                        </p:tav>
                                      </p:tavLst>
                                    </p:anim>
                                    <p:animEffect transition="in" filter="fade">
                                      <p:cBhvr>
                                        <p:cTn id="572" dur="500"/>
                                        <p:tgtEl>
                                          <p:spTgt spid="123"/>
                                        </p:tgtEl>
                                      </p:cBhvr>
                                    </p:animEffect>
                                  </p:childTnLst>
                                </p:cTn>
                              </p:par>
                              <p:par>
                                <p:cTn id="578" presetID="2" presetClass="entr" presetSubtype="4" fill="hold" grpId="0" nodeType="withEffect">
                                  <p:stCondLst>
                                    <p:cond delay="0"/>
                                  </p:stCondLst>
                                  <p:childTnLst>
                                    <p:set>
                                      <p:cBhvr>
                                        <p:cTn id="574" dur="1" fill="hold">
                                          <p:stCondLst>
                                            <p:cond delay="0"/>
                                          </p:stCondLst>
                                        </p:cTn>
                                        <p:tgtEl>
                                          <p:spTgt spid="124"/>
                                        </p:tgtEl>
                                        <p:attrNameLst>
                                          <p:attrName>style.visibility</p:attrName>
                                        </p:attrNameLst>
                                      </p:cBhvr>
                                      <p:to>
                                        <p:strVal val="visible"/>
                                      </p:to>
                                    </p:set>
                                    <p:anim calcmode="lin" valueType="num">
                                      <p:cBhvr additive="base">
                                        <p:cTn id="575" dur="500" fill="hold"/>
                                        <p:tgtEl>
                                          <p:spTgt spid="124"/>
                                        </p:tgtEl>
                                        <p:attrNameLst>
                                          <p:attrName>ppt_x</p:attrName>
                                        </p:attrNameLst>
                                      </p:cBhvr>
                                      <p:tavLst>
                                        <p:tav tm="0">
                                          <p:val>
                                            <p:strVal val="#ppt_x"/>
                                          </p:val>
                                        </p:tav>
                                        <p:tav tm="100000">
                                          <p:val>
                                            <p:strVal val="#ppt_x"/>
                                          </p:val>
                                        </p:tav>
                                      </p:tavLst>
                                    </p:anim>
                                    <p:anim calcmode="lin" valueType="num">
                                      <p:cBhvr additive="base">
                                        <p:cTn id="576" dur="500" fill="hold"/>
                                        <p:tgtEl>
                                          <p:spTgt spid="124"/>
                                        </p:tgtEl>
                                        <p:attrNameLst>
                                          <p:attrName>ppt_y</p:attrName>
                                        </p:attrNameLst>
                                      </p:cBhvr>
                                      <p:tavLst>
                                        <p:tav tm="0">
                                          <p:val>
                                            <p:strVal val="#ppt_y+0.1"/>
                                          </p:val>
                                        </p:tav>
                                        <p:tav tm="100000">
                                          <p:val>
                                            <p:strVal val="#ppt_y"/>
                                          </p:val>
                                        </p:tav>
                                      </p:tavLst>
                                    </p:anim>
                                    <p:animEffect transition="in" filter="fade">
                                      <p:cBhvr>
                                        <p:cTn id="57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Inside Kafka, a Message Is Just Bytes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does not look inside your messages - it is schema-less</a:t>
            </a:r>
          </a:p>
        </p:txBody>
      </p:sp>
      <p:sp>
        <p:nvSpPr>
          <p:cNvPr id="11" name="a1u_nd10"/>
          <p:cNvSpPr/>
          <p:nvPr/>
        </p:nvSpPr>
        <p:spPr>
          <a:xfrm>
            <a:off x="457200" y="1325880"/>
            <a:ext cx="2331720" cy="960120"/>
          </a:xfrm>
          <a:prstGeom prst="roundRect">
            <a:avLst>
              <a:gd name="adj" fmla="val 7619"/>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62456"/>
            <a:ext cx="2240279" cy="461772"/>
          </a:xfrm>
          <a:prstGeom prst="rect">
            <a:avLst/>
          </a:prstGeom>
          <a:noFill/>
        </p:spPr>
        <p:txBody>
          <a:bodyPr wrap="square" lIns="0" tIns="0" rIns="0" bIns="0" anchor="b">
            <a:spAutoFit/>
          </a:bodyPr>
          <a:lstStyle/>
          <a:p>
            <a:pPr algn="ctr"/>
            <a:r>
              <a:rPr sz="1200" b="1">
                <a:solidFill>
                  <a:srgbClr val="1C1917"/>
                </a:solidFill>
                <a:latin typeface="Segoe UI"/>
              </a:rPr>
              <a:t>Your data</a:t>
            </a:r>
          </a:p>
        </p:txBody>
      </p:sp>
      <p:sp>
        <p:nvSpPr>
          <p:cNvPr id="13" name="a1u_nds12"/>
          <p:cNvSpPr txBox="1"/>
          <p:nvPr/>
        </p:nvSpPr>
        <p:spPr>
          <a:xfrm>
            <a:off x="502920" y="1833372"/>
            <a:ext cx="2240279" cy="416052"/>
          </a:xfrm>
          <a:prstGeom prst="rect">
            <a:avLst/>
          </a:prstGeom>
          <a:noFill/>
        </p:spPr>
        <p:txBody>
          <a:bodyPr wrap="square" lIns="0" tIns="0" rIns="0" bIns="0" anchor="t">
            <a:spAutoFit/>
          </a:bodyPr>
          <a:lstStyle/>
          <a:p>
            <a:pPr algn="ctr"/>
            <a:r>
              <a:rPr sz="850" b="0">
                <a:solidFill>
                  <a:srgbClr val="EA580C"/>
                </a:solidFill>
                <a:latin typeface="Segoe UI"/>
              </a:rPr>
              <a:t>JSON · Avro · Protobuf</a:t>
            </a:r>
          </a:p>
        </p:txBody>
      </p:sp>
      <p:cxnSp>
        <p:nvCxnSpPr>
          <p:cNvPr id="14" name="a1ud200_ar13"/>
          <p:cNvCxnSpPr/>
          <p:nvPr/>
        </p:nvCxnSpPr>
        <p:spPr>
          <a:xfrm>
            <a:off x="2816352" y="1810512"/>
            <a:ext cx="49377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200_lb14"/>
          <p:cNvSpPr txBox="1"/>
          <p:nvPr/>
        </p:nvSpPr>
        <p:spPr>
          <a:xfrm>
            <a:off x="2697480" y="1517904"/>
            <a:ext cx="731520" cy="201168"/>
          </a:xfrm>
          <a:prstGeom prst="rect">
            <a:avLst/>
          </a:prstGeom>
          <a:noFill/>
        </p:spPr>
        <p:txBody>
          <a:bodyPr wrap="square" lIns="0" tIns="0" rIns="0" bIns="0" anchor="ctr">
            <a:spAutoFit/>
          </a:bodyPr>
          <a:lstStyle/>
          <a:p>
            <a:pPr algn="ctr"/>
            <a:r>
              <a:rPr sz="800" b="1">
                <a:solidFill>
                  <a:srgbClr val="C2410C"/>
                </a:solidFill>
                <a:latin typeface="Segoe UI"/>
              </a:rPr>
              <a:t>serialize</a:t>
            </a:r>
          </a:p>
        </p:txBody>
      </p:sp>
      <p:sp>
        <p:nvSpPr>
          <p:cNvPr id="16" name="a1ud300_bytes15"/>
          <p:cNvSpPr/>
          <p:nvPr/>
        </p:nvSpPr>
        <p:spPr>
          <a:xfrm>
            <a:off x="3337560" y="1325880"/>
            <a:ext cx="2468880" cy="960120"/>
          </a:xfrm>
          <a:prstGeom prst="roundRect">
            <a:avLst>
              <a:gd name="adj" fmla="val 7619"/>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300_bt16"/>
          <p:cNvSpPr txBox="1"/>
          <p:nvPr/>
        </p:nvSpPr>
        <p:spPr>
          <a:xfrm>
            <a:off x="3474720" y="1389888"/>
            <a:ext cx="2194560" cy="822960"/>
          </a:xfrm>
          <a:prstGeom prst="rect">
            <a:avLst/>
          </a:prstGeom>
          <a:noFill/>
        </p:spPr>
        <p:txBody>
          <a:bodyPr wrap="square" lIns="0" tIns="0" rIns="0" bIns="0" anchor="ctr">
            <a:spAutoFit/>
          </a:bodyPr>
          <a:lstStyle/>
          <a:p>
            <a:pPr algn="l"/>
            <a:r>
              <a:rPr sz="1050" b="0">
                <a:solidFill>
                  <a:srgbClr val="22D3EE"/>
                </a:solidFill>
                <a:latin typeface="Consolas"/>
              </a:rPr>
              <a:t>7b 22 73 65 6e 73</a:t>
            </a:r>
          </a:p>
          <a:p>
            <a:pPr algn="l"/>
            <a:r>
              <a:rPr sz="1050" b="0">
                <a:solidFill>
                  <a:srgbClr val="22D3EE"/>
                </a:solidFill>
                <a:latin typeface="Consolas"/>
              </a:rPr>
              <a:t>6f 72 5f 69 64 22 ...</a:t>
            </a:r>
          </a:p>
          <a:p>
            <a:pPr algn="l"/>
            <a:r>
              <a:rPr sz="850" b="0">
                <a:solidFill>
                  <a:srgbClr val="A8A29E"/>
                </a:solidFill>
                <a:latin typeface="Consolas"/>
              </a:rPr>
              <a:t>= {"sensor_id" ...</a:t>
            </a:r>
          </a:p>
        </p:txBody>
      </p:sp>
      <p:cxnSp>
        <p:nvCxnSpPr>
          <p:cNvPr id="18" name="a1ud450_ar17"/>
          <p:cNvCxnSpPr/>
          <p:nvPr/>
        </p:nvCxnSpPr>
        <p:spPr>
          <a:xfrm>
            <a:off x="5833872" y="1810512"/>
            <a:ext cx="49377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1ud450_nd18"/>
          <p:cNvSpPr/>
          <p:nvPr/>
        </p:nvSpPr>
        <p:spPr>
          <a:xfrm>
            <a:off x="6355080" y="1325880"/>
            <a:ext cx="2331720" cy="960120"/>
          </a:xfrm>
          <a:prstGeom prst="roundRect">
            <a:avLst>
              <a:gd name="adj" fmla="val 7619"/>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450_ndt19"/>
          <p:cNvSpPr txBox="1"/>
          <p:nvPr/>
        </p:nvSpPr>
        <p:spPr>
          <a:xfrm>
            <a:off x="6400800" y="1362456"/>
            <a:ext cx="2240279" cy="461772"/>
          </a:xfrm>
          <a:prstGeom prst="rect">
            <a:avLst/>
          </a:prstGeom>
          <a:noFill/>
        </p:spPr>
        <p:txBody>
          <a:bodyPr wrap="square" lIns="0" tIns="0" rIns="0" bIns="0" anchor="b">
            <a:spAutoFit/>
          </a:bodyPr>
          <a:lstStyle/>
          <a:p>
            <a:pPr algn="ctr"/>
            <a:r>
              <a:rPr sz="1200" b="1">
                <a:solidFill>
                  <a:srgbClr val="1C1917"/>
                </a:solidFill>
                <a:latin typeface="Segoe UI"/>
              </a:rPr>
              <a:t>Kafka topic</a:t>
            </a:r>
          </a:p>
        </p:txBody>
      </p:sp>
      <p:sp>
        <p:nvSpPr>
          <p:cNvPr id="21" name="a1ud450_nds20"/>
          <p:cNvSpPr txBox="1"/>
          <p:nvPr/>
        </p:nvSpPr>
        <p:spPr>
          <a:xfrm>
            <a:off x="6400800" y="1833372"/>
            <a:ext cx="2240279" cy="416052"/>
          </a:xfrm>
          <a:prstGeom prst="rect">
            <a:avLst/>
          </a:prstGeom>
          <a:noFill/>
        </p:spPr>
        <p:txBody>
          <a:bodyPr wrap="square" lIns="0" tIns="0" rIns="0" bIns="0" anchor="t">
            <a:spAutoFit/>
          </a:bodyPr>
          <a:lstStyle/>
          <a:p>
            <a:pPr algn="ctr"/>
            <a:r>
              <a:rPr sz="850" b="0">
                <a:solidFill>
                  <a:srgbClr val="0E7490"/>
                </a:solidFill>
                <a:latin typeface="Segoe UI"/>
              </a:rPr>
              <a:t>stores the bytes - never looks inside</a:t>
            </a:r>
          </a:p>
        </p:txBody>
      </p:sp>
      <p:sp>
        <p:nvSpPr>
          <p:cNvPr id="22" name="a2u_card21"/>
          <p:cNvSpPr/>
          <p:nvPr/>
        </p:nvSpPr>
        <p:spPr>
          <a:xfrm>
            <a:off x="457200" y="2514600"/>
            <a:ext cx="4023360"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acc22"/>
          <p:cNvSpPr/>
          <p:nvPr/>
        </p:nvSpPr>
        <p:spPr>
          <a:xfrm>
            <a:off x="457200" y="2514600"/>
            <a:ext cx="50292" cy="13258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hh23"/>
          <p:cNvSpPr txBox="1"/>
          <p:nvPr/>
        </p:nvSpPr>
        <p:spPr>
          <a:xfrm>
            <a:off x="658368" y="2624328"/>
            <a:ext cx="3657600" cy="237744"/>
          </a:xfrm>
          <a:prstGeom prst="rect">
            <a:avLst/>
          </a:prstGeom>
          <a:noFill/>
        </p:spPr>
        <p:txBody>
          <a:bodyPr wrap="square" lIns="0" tIns="0" rIns="0" bIns="0" anchor="ctr">
            <a:spAutoFit/>
          </a:bodyPr>
          <a:lstStyle/>
          <a:p>
            <a:pPr algn="l"/>
            <a:r>
              <a:rPr sz="900" b="1">
                <a:solidFill>
                  <a:srgbClr val="0E7490"/>
                </a:solidFill>
                <a:latin typeface="Segoe UI"/>
              </a:rPr>
              <a:t>INSIDE KAFKA  ·  SCHEMA-LESS</a:t>
            </a:r>
          </a:p>
        </p:txBody>
      </p:sp>
      <p:sp>
        <p:nvSpPr>
          <p:cNvPr id="25" name="a2ud80_dot24"/>
          <p:cNvSpPr/>
          <p:nvPr/>
        </p:nvSpPr>
        <p:spPr>
          <a:xfrm>
            <a:off x="658368" y="306781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80_b25"/>
          <p:cNvSpPr txBox="1"/>
          <p:nvPr/>
        </p:nvSpPr>
        <p:spPr>
          <a:xfrm>
            <a:off x="877824" y="2971800"/>
            <a:ext cx="3401568" cy="292608"/>
          </a:xfrm>
          <a:prstGeom prst="rect">
            <a:avLst/>
          </a:prstGeom>
          <a:noFill/>
        </p:spPr>
        <p:txBody>
          <a:bodyPr wrap="square" lIns="0" tIns="0" rIns="0" bIns="0" anchor="t">
            <a:spAutoFit/>
          </a:bodyPr>
          <a:lstStyle/>
          <a:p>
            <a:pPr algn="l"/>
            <a:r>
              <a:rPr sz="950" b="0">
                <a:solidFill>
                  <a:srgbClr val="44403C"/>
                </a:solidFill>
                <a:latin typeface="Segoe UI"/>
              </a:rPr>
              <a:t>Every message is just an array of bytes</a:t>
            </a:r>
          </a:p>
        </p:txBody>
      </p:sp>
      <p:sp>
        <p:nvSpPr>
          <p:cNvPr id="27" name="a2ud180_dot26"/>
          <p:cNvSpPr/>
          <p:nvPr/>
        </p:nvSpPr>
        <p:spPr>
          <a:xfrm>
            <a:off x="658368" y="339699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180_b27"/>
          <p:cNvSpPr txBox="1"/>
          <p:nvPr/>
        </p:nvSpPr>
        <p:spPr>
          <a:xfrm>
            <a:off x="877824" y="3300984"/>
            <a:ext cx="3401568" cy="292608"/>
          </a:xfrm>
          <a:prstGeom prst="rect">
            <a:avLst/>
          </a:prstGeom>
          <a:noFill/>
        </p:spPr>
        <p:txBody>
          <a:bodyPr wrap="square" lIns="0" tIns="0" rIns="0" bIns="0" anchor="t">
            <a:spAutoFit/>
          </a:bodyPr>
          <a:lstStyle/>
          <a:p>
            <a:pPr algn="l"/>
            <a:r>
              <a:rPr sz="950" b="0">
                <a:solidFill>
                  <a:srgbClr val="44403C"/>
                </a:solidFill>
                <a:latin typeface="Segoe UI"/>
              </a:rPr>
              <a:t>Anything at all can go in</a:t>
            </a:r>
          </a:p>
        </p:txBody>
      </p:sp>
      <p:sp>
        <p:nvSpPr>
          <p:cNvPr id="29" name="a3u_card28"/>
          <p:cNvSpPr/>
          <p:nvPr/>
        </p:nvSpPr>
        <p:spPr>
          <a:xfrm>
            <a:off x="4663440" y="2514600"/>
            <a:ext cx="4023360"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acc29"/>
          <p:cNvSpPr/>
          <p:nvPr/>
        </p:nvSpPr>
        <p:spPr>
          <a:xfrm>
            <a:off x="4663440" y="2514600"/>
            <a:ext cx="50292" cy="13258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hh30"/>
          <p:cNvSpPr txBox="1"/>
          <p:nvPr/>
        </p:nvSpPr>
        <p:spPr>
          <a:xfrm>
            <a:off x="4864607" y="2624328"/>
            <a:ext cx="3657600" cy="237744"/>
          </a:xfrm>
          <a:prstGeom prst="rect">
            <a:avLst/>
          </a:prstGeom>
          <a:noFill/>
        </p:spPr>
        <p:txBody>
          <a:bodyPr wrap="square" lIns="0" tIns="0" rIns="0" bIns="0" anchor="ctr">
            <a:spAutoFit/>
          </a:bodyPr>
          <a:lstStyle/>
          <a:p>
            <a:pPr algn="l"/>
            <a:r>
              <a:rPr sz="900" b="1">
                <a:solidFill>
                  <a:srgbClr val="EA580C"/>
                </a:solidFill>
                <a:latin typeface="Segoe UI"/>
              </a:rPr>
              <a:t>OUTSIDE KAFKA  ·  YOUR APPLICATIONS</a:t>
            </a:r>
          </a:p>
        </p:txBody>
      </p:sp>
      <p:sp>
        <p:nvSpPr>
          <p:cNvPr id="32" name="a3ud80_dot31"/>
          <p:cNvSpPr/>
          <p:nvPr/>
        </p:nvSpPr>
        <p:spPr>
          <a:xfrm>
            <a:off x="4864607" y="306781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d80_b32"/>
          <p:cNvSpPr txBox="1"/>
          <p:nvPr/>
        </p:nvSpPr>
        <p:spPr>
          <a:xfrm>
            <a:off x="5084064" y="2971800"/>
            <a:ext cx="3401568" cy="292608"/>
          </a:xfrm>
          <a:prstGeom prst="rect">
            <a:avLst/>
          </a:prstGeom>
          <a:noFill/>
        </p:spPr>
        <p:txBody>
          <a:bodyPr wrap="square" lIns="0" tIns="0" rIns="0" bIns="0" anchor="t">
            <a:spAutoFit/>
          </a:bodyPr>
          <a:lstStyle/>
          <a:p>
            <a:pPr algn="l"/>
            <a:r>
              <a:rPr sz="950" b="0">
                <a:solidFill>
                  <a:srgbClr val="44403C"/>
                </a:solidFill>
                <a:latin typeface="Segoe UI"/>
              </a:rPr>
              <a:t>Nobody wants to work with raw bytes</a:t>
            </a:r>
          </a:p>
        </p:txBody>
      </p:sp>
      <p:sp>
        <p:nvSpPr>
          <p:cNvPr id="34" name="a3ud180_dot33"/>
          <p:cNvSpPr/>
          <p:nvPr/>
        </p:nvSpPr>
        <p:spPr>
          <a:xfrm>
            <a:off x="4864607" y="3396996"/>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d180_b34"/>
          <p:cNvSpPr txBox="1"/>
          <p:nvPr/>
        </p:nvSpPr>
        <p:spPr>
          <a:xfrm>
            <a:off x="5084064" y="3300984"/>
            <a:ext cx="3401568" cy="292608"/>
          </a:xfrm>
          <a:prstGeom prst="rect">
            <a:avLst/>
          </a:prstGeom>
          <a:noFill/>
        </p:spPr>
        <p:txBody>
          <a:bodyPr wrap="square" lIns="0" tIns="0" rIns="0" bIns="0" anchor="t">
            <a:spAutoFit/>
          </a:bodyPr>
          <a:lstStyle/>
          <a:p>
            <a:pPr algn="l"/>
            <a:r>
              <a:rPr sz="950" b="0">
                <a:solidFill>
                  <a:srgbClr val="44403C"/>
                </a:solidFill>
                <a:latin typeface="Segoe UI"/>
              </a:rPr>
              <a:t>Schema tools: Avro, Protocol Buffers, JSON Schema</a:t>
            </a:r>
          </a:p>
        </p:txBody>
      </p:sp>
      <p:sp>
        <p:nvSpPr>
          <p:cNvPr id="36" name="a4u_nb35"/>
          <p:cNvSpPr/>
          <p:nvPr/>
        </p:nvSpPr>
        <p:spPr>
          <a:xfrm>
            <a:off x="457200" y="4023360"/>
            <a:ext cx="8229600" cy="502920"/>
          </a:xfrm>
          <a:prstGeom prst="roundRect">
            <a:avLst>
              <a:gd name="adj" fmla="val 14545"/>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acc36"/>
          <p:cNvSpPr/>
          <p:nvPr/>
        </p:nvSpPr>
        <p:spPr>
          <a:xfrm>
            <a:off x="457200" y="4023360"/>
            <a:ext cx="54864" cy="5029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nt37"/>
          <p:cNvSpPr txBox="1"/>
          <p:nvPr/>
        </p:nvSpPr>
        <p:spPr>
          <a:xfrm>
            <a:off x="658368" y="4023360"/>
            <a:ext cx="7827264" cy="502920"/>
          </a:xfrm>
          <a:prstGeom prst="rect">
            <a:avLst/>
          </a:prstGeom>
          <a:noFill/>
        </p:spPr>
        <p:txBody>
          <a:bodyPr wrap="square" lIns="0" tIns="0" rIns="0" bIns="0" anchor="ctr">
            <a:spAutoFit/>
          </a:bodyPr>
          <a:lstStyle/>
          <a:p>
            <a:pPr algn="l"/>
            <a:r>
              <a:rPr sz="950" b="1">
                <a:solidFill>
                  <a:srgbClr val="4F46E5"/>
                </a:solidFill>
                <a:latin typeface="Segoe UI"/>
              </a:rPr>
              <a:t>LATER  </a:t>
            </a:r>
            <a:r>
              <a:rPr sz="950" b="0">
                <a:solidFill>
                  <a:srgbClr val="44403C"/>
                </a:solidFill>
                <a:latin typeface="Segoe UI"/>
              </a:rPr>
              <a:t>Schemas get a module of their own later in the course: Schema Registry.</a:t>
            </a:r>
          </a:p>
        </p:txBody>
      </p:sp>
      <p:sp>
        <p:nvSpPr>
          <p:cNvPr id="39" name="ft3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40" name="ft3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ft4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42" name="ft4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2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3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3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45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45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45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45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6" presetID="2" presetClass="entr" presetSubtype="4"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8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8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8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18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8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8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18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18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childTnLst>
                          </p:cTn>
                        </p:par>
                      </p:childTnLst>
                    </p:cTn>
                  </p:par>
                  <p:par>
                    <p:cTn id="134" fill="hold">
                      <p:stCondLst>
                        <p:cond delay="indefinite"/>
                      </p:stCondLst>
                      <p:childTnLst>
                        <p:par>
                          <p:cTn id="135" fill="hold">
                            <p:stCondLst>
                              <p:cond delay="0"/>
                            </p:stCondLst>
                            <p:childTnLst>
                              <p:par>
                                <p:cTn id="140" presetID="2" presetClass="entr" presetSubtype="4" fill="hold" grpId="0" nodeType="click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ppt_x</p:attrName>
                                        </p:attrNameLst>
                                      </p:cBhvr>
                                      <p:tavLst>
                                        <p:tav tm="0">
                                          <p:val>
                                            <p:strVal val="#ppt_x"/>
                                          </p:val>
                                        </p:tav>
                                        <p:tav tm="100000">
                                          <p:val>
                                            <p:strVal val="#ppt_x"/>
                                          </p:val>
                                        </p:tav>
                                      </p:tavLst>
                                    </p:anim>
                                    <p:anim calcmode="lin" valueType="num">
                                      <p:cBhvr additive="base">
                                        <p:cTn id="138" dur="500" fill="hold"/>
                                        <p:tgtEl>
                                          <p:spTgt spid="36"/>
                                        </p:tgtEl>
                                        <p:attrNameLst>
                                          <p:attrName>ppt_y</p:attrName>
                                        </p:attrNameLst>
                                      </p:cBhvr>
                                      <p:tavLst>
                                        <p:tav tm="0">
                                          <p:val>
                                            <p:strVal val="#ppt_y+0.1"/>
                                          </p:val>
                                        </p:tav>
                                        <p:tav tm="100000">
                                          <p:val>
                                            <p:strVal val="#ppt_y"/>
                                          </p:val>
                                        </p:tav>
                                      </p:tavLst>
                                    </p:anim>
                                    <p:animEffect transition="in" filter="fade">
                                      <p:cBhvr>
                                        <p:cTn id="139" dur="500"/>
                                        <p:tgtEl>
                                          <p:spTgt spid="36"/>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ppt_x"/>
                                          </p:val>
                                        </p:tav>
                                        <p:tav tm="100000">
                                          <p:val>
                                            <p:strVal val="#ppt_x"/>
                                          </p:val>
                                        </p:tav>
                                      </p:tavLst>
                                    </p:anim>
                                    <p:anim calcmode="lin" valueType="num">
                                      <p:cBhvr additive="base">
                                        <p:cTn id="143" dur="500" fill="hold"/>
                                        <p:tgtEl>
                                          <p:spTgt spid="37"/>
                                        </p:tgtEl>
                                        <p:attrNameLst>
                                          <p:attrName>ppt_y</p:attrName>
                                        </p:attrNameLst>
                                      </p:cBhvr>
                                      <p:tavLst>
                                        <p:tav tm="0">
                                          <p:val>
                                            <p:strVal val="#ppt_y+0.1"/>
                                          </p:val>
                                        </p:tav>
                                        <p:tav tm="100000">
                                          <p:val>
                                            <p:strVal val="#ppt_y"/>
                                          </p:val>
                                        </p:tav>
                                      </p:tavLst>
                                    </p:anim>
                                    <p:animEffect transition="in" filter="fade">
                                      <p:cBhvr>
                                        <p:cTn id="144" dur="500"/>
                                        <p:tgtEl>
                                          <p:spTgt spid="37"/>
                                        </p:tgtEl>
                                      </p:cBhvr>
                                    </p:animEffect>
                                  </p:childTnLst>
                                </p:cTn>
                              </p:par>
                              <p:par>
                                <p:cTn id="150" presetID="2" presetClass="entr" presetSubtype="4" fill="hold" grpId="0" nodeType="withEffect">
                                  <p:stCondLst>
                                    <p:cond delay="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ppt_x</p:attrName>
                                        </p:attrNameLst>
                                      </p:cBhvr>
                                      <p:tavLst>
                                        <p:tav tm="0">
                                          <p:val>
                                            <p:strVal val="#ppt_x"/>
                                          </p:val>
                                        </p:tav>
                                        <p:tav tm="100000">
                                          <p:val>
                                            <p:strVal val="#ppt_x"/>
                                          </p:val>
                                        </p:tav>
                                      </p:tavLst>
                                    </p:anim>
                                    <p:anim calcmode="lin" valueType="num">
                                      <p:cBhvr additive="base">
                                        <p:cTn id="148" dur="500" fill="hold"/>
                                        <p:tgtEl>
                                          <p:spTgt spid="38"/>
                                        </p:tgtEl>
                                        <p:attrNameLst>
                                          <p:attrName>ppt_y</p:attrName>
                                        </p:attrNameLst>
                                      </p:cBhvr>
                                      <p:tavLst>
                                        <p:tav tm="0">
                                          <p:val>
                                            <p:strVal val="#ppt_y+0.1"/>
                                          </p:val>
                                        </p:tav>
                                        <p:tav tm="100000">
                                          <p:val>
                                            <p:strVal val="#ppt_y"/>
                                          </p:val>
                                        </p:tav>
                                      </p:tavLst>
                                    </p:anim>
                                    <p:animEffect transition="in" filter="fade">
                                      <p:cBhvr>
                                        <p:cTn id="14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Immutable - But You Can Still Transform It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Make a copy: read one topic, write the result to a new topic</a:t>
            </a:r>
          </a:p>
        </p:txBody>
      </p:sp>
      <p:sp>
        <p:nvSpPr>
          <p:cNvPr id="11" name="a1f_lb10"/>
          <p:cNvSpPr txBox="1"/>
          <p:nvPr/>
        </p:nvSpPr>
        <p:spPr>
          <a:xfrm>
            <a:off x="548640" y="1280160"/>
            <a:ext cx="3657600" cy="201168"/>
          </a:xfrm>
          <a:prstGeom prst="rect">
            <a:avLst/>
          </a:prstGeom>
          <a:noFill/>
        </p:spPr>
        <p:txBody>
          <a:bodyPr wrap="square" lIns="0" tIns="0" rIns="0" bIns="0" anchor="ctr">
            <a:spAutoFit/>
          </a:bodyPr>
          <a:lstStyle/>
          <a:p>
            <a:pPr algn="l"/>
            <a:r>
              <a:rPr sz="1000" b="1">
                <a:solidFill>
                  <a:srgbClr val="1C1917"/>
                </a:solidFill>
                <a:latin typeface="Consolas"/>
              </a:rPr>
              <a:t>thermostat_readings</a:t>
            </a:r>
          </a:p>
        </p:txBody>
      </p:sp>
      <p:sp>
        <p:nvSpPr>
          <p:cNvPr id="12" name="a1w_cell11"/>
          <p:cNvSpPr/>
          <p:nvPr/>
        </p:nvSpPr>
        <p:spPr>
          <a:xfrm>
            <a:off x="548640" y="1536192"/>
            <a:ext cx="713232"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_cellt12"/>
          <p:cNvSpPr txBox="1"/>
          <p:nvPr/>
        </p:nvSpPr>
        <p:spPr>
          <a:xfrm>
            <a:off x="548640" y="1536192"/>
            <a:ext cx="713232" cy="420624"/>
          </a:xfrm>
          <a:prstGeom prst="rect">
            <a:avLst/>
          </a:prstGeom>
          <a:noFill/>
        </p:spPr>
        <p:txBody>
          <a:bodyPr wrap="square" lIns="0" tIns="0" rIns="0" bIns="0" anchor="ctr">
            <a:spAutoFit/>
          </a:bodyPr>
          <a:lstStyle/>
          <a:p>
            <a:pPr algn="ctr"/>
            <a:r>
              <a:rPr sz="1000" b="1">
                <a:solidFill>
                  <a:srgbClr val="C2410C"/>
                </a:solidFill>
                <a:latin typeface="Consolas"/>
              </a:rPr>
              <a:t>22°</a:t>
            </a:r>
          </a:p>
        </p:txBody>
      </p:sp>
      <p:sp>
        <p:nvSpPr>
          <p:cNvPr id="14" name="a1wd60_cell13"/>
          <p:cNvSpPr/>
          <p:nvPr/>
        </p:nvSpPr>
        <p:spPr>
          <a:xfrm>
            <a:off x="1261872" y="1536192"/>
            <a:ext cx="713232"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60_cellt14"/>
          <p:cNvSpPr txBox="1"/>
          <p:nvPr/>
        </p:nvSpPr>
        <p:spPr>
          <a:xfrm>
            <a:off x="1261872" y="1536192"/>
            <a:ext cx="713232" cy="420624"/>
          </a:xfrm>
          <a:prstGeom prst="rect">
            <a:avLst/>
          </a:prstGeom>
          <a:noFill/>
        </p:spPr>
        <p:txBody>
          <a:bodyPr wrap="square" lIns="0" tIns="0" rIns="0" bIns="0" anchor="ctr">
            <a:spAutoFit/>
          </a:bodyPr>
          <a:lstStyle/>
          <a:p>
            <a:pPr algn="ctr"/>
            <a:r>
              <a:rPr sz="1000" b="1">
                <a:solidFill>
                  <a:srgbClr val="C2410C"/>
                </a:solidFill>
                <a:latin typeface="Consolas"/>
              </a:rPr>
              <a:t>21°</a:t>
            </a:r>
          </a:p>
        </p:txBody>
      </p:sp>
      <p:sp>
        <p:nvSpPr>
          <p:cNvPr id="16" name="a1wd120_cell15"/>
          <p:cNvSpPr/>
          <p:nvPr/>
        </p:nvSpPr>
        <p:spPr>
          <a:xfrm>
            <a:off x="1975104" y="1536192"/>
            <a:ext cx="713232" cy="420624"/>
          </a:xfrm>
          <a:prstGeom prst="rect">
            <a:avLst/>
          </a:prstGeom>
          <a:solidFill>
            <a:srgbClr val="FFE4E6"/>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120_cellt16"/>
          <p:cNvSpPr txBox="1"/>
          <p:nvPr/>
        </p:nvSpPr>
        <p:spPr>
          <a:xfrm>
            <a:off x="1975104" y="1536192"/>
            <a:ext cx="713232" cy="420624"/>
          </a:xfrm>
          <a:prstGeom prst="rect">
            <a:avLst/>
          </a:prstGeom>
          <a:noFill/>
        </p:spPr>
        <p:txBody>
          <a:bodyPr wrap="square" lIns="0" tIns="0" rIns="0" bIns="0" anchor="ctr">
            <a:spAutoFit/>
          </a:bodyPr>
          <a:lstStyle/>
          <a:p>
            <a:pPr algn="ctr"/>
            <a:r>
              <a:rPr sz="1000" b="1">
                <a:solidFill>
                  <a:srgbClr val="9F1239"/>
                </a:solidFill>
                <a:latin typeface="Consolas"/>
              </a:rPr>
              <a:t>31°</a:t>
            </a:r>
          </a:p>
        </p:txBody>
      </p:sp>
      <p:sp>
        <p:nvSpPr>
          <p:cNvPr id="18" name="a1wd180_cell17"/>
          <p:cNvSpPr/>
          <p:nvPr/>
        </p:nvSpPr>
        <p:spPr>
          <a:xfrm>
            <a:off x="2688336" y="1536192"/>
            <a:ext cx="713232"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180_cellt18"/>
          <p:cNvSpPr txBox="1"/>
          <p:nvPr/>
        </p:nvSpPr>
        <p:spPr>
          <a:xfrm>
            <a:off x="2688336" y="1536192"/>
            <a:ext cx="713232" cy="420624"/>
          </a:xfrm>
          <a:prstGeom prst="rect">
            <a:avLst/>
          </a:prstGeom>
          <a:noFill/>
        </p:spPr>
        <p:txBody>
          <a:bodyPr wrap="square" lIns="0" tIns="0" rIns="0" bIns="0" anchor="ctr">
            <a:spAutoFit/>
          </a:bodyPr>
          <a:lstStyle/>
          <a:p>
            <a:pPr algn="ctr"/>
            <a:r>
              <a:rPr sz="1000" b="1">
                <a:solidFill>
                  <a:srgbClr val="C2410C"/>
                </a:solidFill>
                <a:latin typeface="Consolas"/>
              </a:rPr>
              <a:t>24°</a:t>
            </a:r>
          </a:p>
        </p:txBody>
      </p:sp>
      <p:sp>
        <p:nvSpPr>
          <p:cNvPr id="20" name="a1wd240_cell19"/>
          <p:cNvSpPr/>
          <p:nvPr/>
        </p:nvSpPr>
        <p:spPr>
          <a:xfrm>
            <a:off x="3401568" y="1536192"/>
            <a:ext cx="713232" cy="420624"/>
          </a:xfrm>
          <a:prstGeom prst="rect">
            <a:avLst/>
          </a:prstGeom>
          <a:solidFill>
            <a:srgbClr val="FFE4E6"/>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240_cellt20"/>
          <p:cNvSpPr txBox="1"/>
          <p:nvPr/>
        </p:nvSpPr>
        <p:spPr>
          <a:xfrm>
            <a:off x="3401568" y="1536192"/>
            <a:ext cx="713232" cy="420624"/>
          </a:xfrm>
          <a:prstGeom prst="rect">
            <a:avLst/>
          </a:prstGeom>
          <a:noFill/>
        </p:spPr>
        <p:txBody>
          <a:bodyPr wrap="square" lIns="0" tIns="0" rIns="0" bIns="0" anchor="ctr">
            <a:spAutoFit/>
          </a:bodyPr>
          <a:lstStyle/>
          <a:p>
            <a:pPr algn="ctr"/>
            <a:r>
              <a:rPr sz="1000" b="1">
                <a:solidFill>
                  <a:srgbClr val="9F1239"/>
                </a:solidFill>
                <a:latin typeface="Consolas"/>
              </a:rPr>
              <a:t>34°</a:t>
            </a:r>
          </a:p>
        </p:txBody>
      </p:sp>
      <p:sp>
        <p:nvSpPr>
          <p:cNvPr id="22" name="a1wd300_cell21"/>
          <p:cNvSpPr/>
          <p:nvPr/>
        </p:nvSpPr>
        <p:spPr>
          <a:xfrm>
            <a:off x="4114800" y="1536192"/>
            <a:ext cx="713232"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300_cellt22"/>
          <p:cNvSpPr txBox="1"/>
          <p:nvPr/>
        </p:nvSpPr>
        <p:spPr>
          <a:xfrm>
            <a:off x="4114800" y="1536192"/>
            <a:ext cx="713232" cy="420624"/>
          </a:xfrm>
          <a:prstGeom prst="rect">
            <a:avLst/>
          </a:prstGeom>
          <a:noFill/>
        </p:spPr>
        <p:txBody>
          <a:bodyPr wrap="square" lIns="0" tIns="0" rIns="0" bIns="0" anchor="ctr">
            <a:spAutoFit/>
          </a:bodyPr>
          <a:lstStyle/>
          <a:p>
            <a:pPr algn="ctr"/>
            <a:r>
              <a:rPr sz="1000" b="1">
                <a:solidFill>
                  <a:srgbClr val="C2410C"/>
                </a:solidFill>
                <a:latin typeface="Consolas"/>
              </a:rPr>
              <a:t>20°</a:t>
            </a:r>
          </a:p>
        </p:txBody>
      </p:sp>
      <p:cxnSp>
        <p:nvCxnSpPr>
          <p:cNvPr id="24" name="a2u_ar23"/>
          <p:cNvCxnSpPr/>
          <p:nvPr/>
        </p:nvCxnSpPr>
        <p:spPr>
          <a:xfrm>
            <a:off x="2688336" y="1984248"/>
            <a:ext cx="0" cy="283464"/>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2u_nd24"/>
          <p:cNvSpPr/>
          <p:nvPr/>
        </p:nvSpPr>
        <p:spPr>
          <a:xfrm>
            <a:off x="1408176" y="2286000"/>
            <a:ext cx="2560320" cy="502920"/>
          </a:xfrm>
          <a:prstGeom prst="roundRect">
            <a:avLst>
              <a:gd name="adj" fmla="val 14545"/>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dt25"/>
          <p:cNvSpPr txBox="1"/>
          <p:nvPr/>
        </p:nvSpPr>
        <p:spPr>
          <a:xfrm>
            <a:off x="1453896" y="2286000"/>
            <a:ext cx="2468879" cy="502920"/>
          </a:xfrm>
          <a:prstGeom prst="rect">
            <a:avLst/>
          </a:prstGeom>
          <a:noFill/>
        </p:spPr>
        <p:txBody>
          <a:bodyPr wrap="square" lIns="0" tIns="0" rIns="0" bIns="0" anchor="ctr">
            <a:spAutoFit/>
          </a:bodyPr>
          <a:lstStyle/>
          <a:p>
            <a:pPr algn="ctr"/>
            <a:r>
              <a:rPr sz="950" b="1">
                <a:solidFill>
                  <a:srgbClr val="1C1917"/>
                </a:solidFill>
                <a:latin typeface="Segoe UI"/>
              </a:rPr>
              <a:t>filter:  temperature &gt; 30</a:t>
            </a:r>
          </a:p>
        </p:txBody>
      </p:sp>
      <p:cxnSp>
        <p:nvCxnSpPr>
          <p:cNvPr id="27" name="a3u_ar26"/>
          <p:cNvCxnSpPr/>
          <p:nvPr/>
        </p:nvCxnSpPr>
        <p:spPr>
          <a:xfrm>
            <a:off x="2688336" y="2807208"/>
            <a:ext cx="0" cy="283464"/>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a3u_lb27"/>
          <p:cNvSpPr txBox="1"/>
          <p:nvPr/>
        </p:nvSpPr>
        <p:spPr>
          <a:xfrm>
            <a:off x="548640" y="3108960"/>
            <a:ext cx="3657600" cy="201168"/>
          </a:xfrm>
          <a:prstGeom prst="rect">
            <a:avLst/>
          </a:prstGeom>
          <a:noFill/>
        </p:spPr>
        <p:txBody>
          <a:bodyPr wrap="square" lIns="0" tIns="0" rIns="0" bIns="0" anchor="ctr">
            <a:spAutoFit/>
          </a:bodyPr>
          <a:lstStyle/>
          <a:p>
            <a:pPr algn="l"/>
            <a:r>
              <a:rPr sz="1000" b="1">
                <a:solidFill>
                  <a:srgbClr val="9F1239"/>
                </a:solidFill>
                <a:latin typeface="Consolas"/>
              </a:rPr>
              <a:t>hot_locations  (a new topic)</a:t>
            </a:r>
          </a:p>
        </p:txBody>
      </p:sp>
      <p:sp>
        <p:nvSpPr>
          <p:cNvPr id="29" name="a3ud100_cell28"/>
          <p:cNvSpPr/>
          <p:nvPr/>
        </p:nvSpPr>
        <p:spPr>
          <a:xfrm>
            <a:off x="548640" y="3364992"/>
            <a:ext cx="713232" cy="420624"/>
          </a:xfrm>
          <a:prstGeom prst="rect">
            <a:avLst/>
          </a:prstGeom>
          <a:solidFill>
            <a:srgbClr val="FFE4E6"/>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100_cellt29"/>
          <p:cNvSpPr txBox="1"/>
          <p:nvPr/>
        </p:nvSpPr>
        <p:spPr>
          <a:xfrm>
            <a:off x="548640" y="3364992"/>
            <a:ext cx="713232" cy="420624"/>
          </a:xfrm>
          <a:prstGeom prst="rect">
            <a:avLst/>
          </a:prstGeom>
          <a:noFill/>
        </p:spPr>
        <p:txBody>
          <a:bodyPr wrap="square" lIns="0" tIns="0" rIns="0" bIns="0" anchor="ctr">
            <a:spAutoFit/>
          </a:bodyPr>
          <a:lstStyle/>
          <a:p>
            <a:pPr algn="ctr"/>
            <a:r>
              <a:rPr sz="1000" b="1">
                <a:solidFill>
                  <a:srgbClr val="9F1239"/>
                </a:solidFill>
                <a:latin typeface="Consolas"/>
              </a:rPr>
              <a:t>31°</a:t>
            </a:r>
          </a:p>
        </p:txBody>
      </p:sp>
      <p:sp>
        <p:nvSpPr>
          <p:cNvPr id="31" name="a3ud200_cell30"/>
          <p:cNvSpPr/>
          <p:nvPr/>
        </p:nvSpPr>
        <p:spPr>
          <a:xfrm>
            <a:off x="1261872" y="3364992"/>
            <a:ext cx="713232" cy="420624"/>
          </a:xfrm>
          <a:prstGeom prst="rect">
            <a:avLst/>
          </a:prstGeom>
          <a:solidFill>
            <a:srgbClr val="FFE4E6"/>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d200_cellt31"/>
          <p:cNvSpPr txBox="1"/>
          <p:nvPr/>
        </p:nvSpPr>
        <p:spPr>
          <a:xfrm>
            <a:off x="1261872" y="3364992"/>
            <a:ext cx="713232" cy="420624"/>
          </a:xfrm>
          <a:prstGeom prst="rect">
            <a:avLst/>
          </a:prstGeom>
          <a:noFill/>
        </p:spPr>
        <p:txBody>
          <a:bodyPr wrap="square" lIns="0" tIns="0" rIns="0" bIns="0" anchor="ctr">
            <a:spAutoFit/>
          </a:bodyPr>
          <a:lstStyle/>
          <a:p>
            <a:pPr algn="ctr"/>
            <a:r>
              <a:rPr sz="1000" b="1">
                <a:solidFill>
                  <a:srgbClr val="9F1239"/>
                </a:solidFill>
                <a:latin typeface="Consolas"/>
              </a:rPr>
              <a:t>34°</a:t>
            </a:r>
          </a:p>
        </p:txBody>
      </p:sp>
      <p:sp>
        <p:nvSpPr>
          <p:cNvPr id="33" name="a2f_codebg32"/>
          <p:cNvSpPr/>
          <p:nvPr/>
        </p:nvSpPr>
        <p:spPr>
          <a:xfrm>
            <a:off x="5440680" y="1280160"/>
            <a:ext cx="3246120" cy="1481328"/>
          </a:xfrm>
          <a:prstGeom prst="roundRect">
            <a:avLst>
              <a:gd name="adj" fmla="val 4938"/>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f_codeh33"/>
          <p:cNvSpPr txBox="1"/>
          <p:nvPr/>
        </p:nvSpPr>
        <p:spPr>
          <a:xfrm>
            <a:off x="5586984" y="1335024"/>
            <a:ext cx="2953512" cy="219456"/>
          </a:xfrm>
          <a:prstGeom prst="rect">
            <a:avLst/>
          </a:prstGeom>
          <a:noFill/>
        </p:spPr>
        <p:txBody>
          <a:bodyPr wrap="square" lIns="0" tIns="0" rIns="0" bIns="0" anchor="ctr">
            <a:spAutoFit/>
          </a:bodyPr>
          <a:lstStyle/>
          <a:p>
            <a:pPr algn="l"/>
            <a:r>
              <a:rPr sz="950" b="1">
                <a:solidFill>
                  <a:srgbClr val="A8A29E"/>
                </a:solidFill>
                <a:latin typeface="Consolas"/>
              </a:rPr>
              <a:t>stream processing, in SQL</a:t>
            </a:r>
          </a:p>
        </p:txBody>
      </p:sp>
      <p:sp>
        <p:nvSpPr>
          <p:cNvPr id="35" name="a2f_codesep34"/>
          <p:cNvSpPr/>
          <p:nvPr/>
        </p:nvSpPr>
        <p:spPr>
          <a:xfrm>
            <a:off x="5586984" y="1609343"/>
            <a:ext cx="2953512"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w_code35"/>
          <p:cNvSpPr txBox="1"/>
          <p:nvPr/>
        </p:nvSpPr>
        <p:spPr>
          <a:xfrm>
            <a:off x="5586984" y="1700784"/>
            <a:ext cx="2953512" cy="228600"/>
          </a:xfrm>
          <a:prstGeom prst="rect">
            <a:avLst/>
          </a:prstGeom>
          <a:noFill/>
        </p:spPr>
        <p:txBody>
          <a:bodyPr wrap="none" lIns="0" tIns="0" rIns="0" bIns="0" anchor="ctr">
            <a:spAutoFit/>
          </a:bodyPr>
          <a:lstStyle/>
          <a:p>
            <a:pPr algn="l"/>
            <a:r>
              <a:rPr sz="1000" b="1">
                <a:solidFill>
                  <a:srgbClr val="FDBA74"/>
                </a:solidFill>
                <a:latin typeface="Consolas"/>
              </a:rPr>
              <a:t>INSERT INTO hot_locations</a:t>
            </a:r>
          </a:p>
        </p:txBody>
      </p:sp>
      <p:sp>
        <p:nvSpPr>
          <p:cNvPr id="37" name="a2wd90_code36"/>
          <p:cNvSpPr txBox="1"/>
          <p:nvPr/>
        </p:nvSpPr>
        <p:spPr>
          <a:xfrm>
            <a:off x="5586984" y="1929384"/>
            <a:ext cx="2953512" cy="228600"/>
          </a:xfrm>
          <a:prstGeom prst="rect">
            <a:avLst/>
          </a:prstGeom>
          <a:noFill/>
        </p:spPr>
        <p:txBody>
          <a:bodyPr wrap="none" lIns="0" tIns="0" rIns="0" bIns="0" anchor="ctr">
            <a:spAutoFit/>
          </a:bodyPr>
          <a:lstStyle/>
          <a:p>
            <a:pPr algn="l"/>
            <a:r>
              <a:rPr sz="1000" b="1">
                <a:solidFill>
                  <a:srgbClr val="FDBA74"/>
                </a:solidFill>
                <a:latin typeface="Consolas"/>
              </a:rPr>
              <a:t>SELECT *</a:t>
            </a:r>
          </a:p>
        </p:txBody>
      </p:sp>
      <p:sp>
        <p:nvSpPr>
          <p:cNvPr id="38" name="a2wd180_code37"/>
          <p:cNvSpPr txBox="1"/>
          <p:nvPr/>
        </p:nvSpPr>
        <p:spPr>
          <a:xfrm>
            <a:off x="5586984" y="2157984"/>
            <a:ext cx="2953512" cy="228600"/>
          </a:xfrm>
          <a:prstGeom prst="rect">
            <a:avLst/>
          </a:prstGeom>
          <a:noFill/>
        </p:spPr>
        <p:txBody>
          <a:bodyPr wrap="none" lIns="0" tIns="0" rIns="0" bIns="0" anchor="ctr">
            <a:spAutoFit/>
          </a:bodyPr>
          <a:lstStyle/>
          <a:p>
            <a:pPr algn="l"/>
            <a:r>
              <a:rPr sz="1000" b="0">
                <a:solidFill>
                  <a:srgbClr val="E7E5E4"/>
                </a:solidFill>
                <a:latin typeface="Consolas"/>
              </a:rPr>
              <a:t>FROM thermostat_readings</a:t>
            </a:r>
          </a:p>
        </p:txBody>
      </p:sp>
      <p:sp>
        <p:nvSpPr>
          <p:cNvPr id="39" name="a2wd270_code38"/>
          <p:cNvSpPr txBox="1"/>
          <p:nvPr/>
        </p:nvSpPr>
        <p:spPr>
          <a:xfrm>
            <a:off x="5586984" y="2386584"/>
            <a:ext cx="2953512" cy="228600"/>
          </a:xfrm>
          <a:prstGeom prst="rect">
            <a:avLst/>
          </a:prstGeom>
          <a:noFill/>
        </p:spPr>
        <p:txBody>
          <a:bodyPr wrap="none" lIns="0" tIns="0" rIns="0" bIns="0" anchor="ctr">
            <a:spAutoFit/>
          </a:bodyPr>
          <a:lstStyle/>
          <a:p>
            <a:pPr algn="l"/>
            <a:r>
              <a:rPr sz="1000" b="0">
                <a:solidFill>
                  <a:srgbClr val="E7E5E4"/>
                </a:solidFill>
                <a:latin typeface="Consolas"/>
              </a:rPr>
              <a:t>WHERE temperature &gt; 30;</a:t>
            </a:r>
          </a:p>
        </p:txBody>
      </p:sp>
      <p:sp>
        <p:nvSpPr>
          <p:cNvPr id="40" name="a3ud200_qx39"/>
          <p:cNvSpPr txBox="1"/>
          <p:nvPr/>
        </p:nvSpPr>
        <p:spPr>
          <a:xfrm>
            <a:off x="5440680" y="2880360"/>
            <a:ext cx="3246120" cy="822960"/>
          </a:xfrm>
          <a:prstGeom prst="rect">
            <a:avLst/>
          </a:prstGeom>
          <a:noFill/>
        </p:spPr>
        <p:txBody>
          <a:bodyPr wrap="square" lIns="0" tIns="0" rIns="0" bIns="0" anchor="t">
            <a:spAutoFit/>
          </a:bodyPr>
          <a:lstStyle/>
          <a:p>
            <a:pPr algn="l"/>
            <a:r>
              <a:rPr sz="900" b="0">
                <a:solidFill>
                  <a:srgbClr val="44403C"/>
                </a:solidFill>
                <a:latin typeface="Segoe UI"/>
              </a:rPr>
              <a:t>The query reads the events of the first topic, keeps only the hot readings and writes them to a second topic. The first topic is untouched.</a:t>
            </a:r>
          </a:p>
        </p:txBody>
      </p:sp>
      <p:sp>
        <p:nvSpPr>
          <p:cNvPr id="41" name="a4u_nb40"/>
          <p:cNvSpPr/>
          <p:nvPr/>
        </p:nvSpPr>
        <p:spPr>
          <a:xfrm>
            <a:off x="457200" y="3977639"/>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u_nacc41"/>
          <p:cNvSpPr/>
          <p:nvPr/>
        </p:nvSpPr>
        <p:spPr>
          <a:xfrm>
            <a:off x="457200" y="3977639"/>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_nt42"/>
          <p:cNvSpPr txBox="1"/>
          <p:nvPr/>
        </p:nvSpPr>
        <p:spPr>
          <a:xfrm>
            <a:off x="658368" y="3977639"/>
            <a:ext cx="7827264" cy="566928"/>
          </a:xfrm>
          <a:prstGeom prst="rect">
            <a:avLst/>
          </a:prstGeom>
          <a:noFill/>
        </p:spPr>
        <p:txBody>
          <a:bodyPr wrap="square" lIns="0" tIns="0" rIns="0" bIns="0" anchor="ctr">
            <a:spAutoFit/>
          </a:bodyPr>
          <a:lstStyle/>
          <a:p>
            <a:pPr algn="l"/>
            <a:r>
              <a:rPr sz="950" b="1">
                <a:solidFill>
                  <a:srgbClr val="C2410C"/>
                </a:solidFill>
                <a:latin typeface="Segoe UI"/>
              </a:rPr>
              <a:t>i  </a:t>
            </a:r>
            <a:r>
              <a:rPr sz="950" b="0">
                <a:solidFill>
                  <a:srgbClr val="44403C"/>
                </a:solidFill>
                <a:latin typeface="Segoe UI"/>
              </a:rPr>
              <a:t>Copying is how immutable data is always changed - even in programming languages built around immutability. How this SQL runs is covered in Stream Processing.</a:t>
            </a:r>
          </a:p>
        </p:txBody>
      </p:sp>
      <p:sp>
        <p:nvSpPr>
          <p:cNvPr id="44" name="ft4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45" name="ft4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ft4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47" name="ft4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22" presetClass="entr" presetSubtype="8"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500"/>
                                        <p:tgtEl>
                                          <p:spTgt spid="12"/>
                                        </p:tgtEl>
                                      </p:cBhvr>
                                    </p:animEffect>
                                  </p:childTnLst>
                                </p:cTn>
                              </p:par>
                              <p:par>
                                <p:cTn id="13" presetID="22" presetClass="entr" presetSubtype="8"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6" presetID="22" presetClass="entr" presetSubtype="8" fill="hold" grpId="0" nodeType="withEffect">
                                  <p:stCondLst>
                                    <p:cond delay="6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2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12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18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18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24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24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30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30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50" presetID="2" presetClass="entr" presetSubtype="4"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ppt_y+0.1"/>
                                          </p:val>
                                        </p:tav>
                                        <p:tav tm="100000">
                                          <p:val>
                                            <p:strVal val="#ppt_y"/>
                                          </p:val>
                                        </p:tav>
                                      </p:tavLst>
                                    </p:anim>
                                    <p:animEffect transition="in" filter="fade">
                                      <p:cBhvr>
                                        <p:cTn id="49" dur="500"/>
                                        <p:tgtEl>
                                          <p:spTgt spid="24"/>
                                        </p:tgtEl>
                                      </p:cBhvr>
                                    </p:animEffect>
                                  </p:childTnLst>
                                </p:cTn>
                              </p:par>
                              <p:par>
                                <p:cTn id="55" presetID="2" presetClass="entr" presetSubtype="4"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additive="base">
                                        <p:cTn id="52" dur="500" fill="hold"/>
                                        <p:tgtEl>
                                          <p:spTgt spid="25"/>
                                        </p:tgtEl>
                                        <p:attrNameLst>
                                          <p:attrName>ppt_x</p:attrName>
                                        </p:attrNameLst>
                                      </p:cBhvr>
                                      <p:tavLst>
                                        <p:tav tm="0">
                                          <p:val>
                                            <p:strVal val="#ppt_x"/>
                                          </p:val>
                                        </p:tav>
                                        <p:tav tm="100000">
                                          <p:val>
                                            <p:strVal val="#ppt_x"/>
                                          </p:val>
                                        </p:tav>
                                      </p:tavLst>
                                    </p:anim>
                                    <p:anim calcmode="lin" valueType="num">
                                      <p:cBhvr additive="base">
                                        <p:cTn id="53" dur="500" fill="hold"/>
                                        <p:tgtEl>
                                          <p:spTgt spid="25"/>
                                        </p:tgtEl>
                                        <p:attrNameLst>
                                          <p:attrName>ppt_y</p:attrName>
                                        </p:attrNameLst>
                                      </p:cBhvr>
                                      <p:tavLst>
                                        <p:tav tm="0">
                                          <p:val>
                                            <p:strVal val="#ppt_y+0.1"/>
                                          </p:val>
                                        </p:tav>
                                        <p:tav tm="100000">
                                          <p:val>
                                            <p:strVal val="#ppt_y"/>
                                          </p:val>
                                        </p:tav>
                                      </p:tavLst>
                                    </p:anim>
                                    <p:animEffect transition="in" filter="fade">
                                      <p:cBhvr>
                                        <p:cTn id="54" dur="500"/>
                                        <p:tgtEl>
                                          <p:spTgt spid="25"/>
                                        </p:tgtEl>
                                      </p:cBhvr>
                                    </p:animEffect>
                                  </p:childTnLst>
                                </p:cTn>
                              </p:par>
                              <p:par>
                                <p:cTn id="60" presetID="2" presetClass="entr" presetSubtype="4"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500" fill="hold"/>
                                        <p:tgtEl>
                                          <p:spTgt spid="26"/>
                                        </p:tgtEl>
                                        <p:attrNameLst>
                                          <p:attrName>ppt_x</p:attrName>
                                        </p:attrNameLst>
                                      </p:cBhvr>
                                      <p:tavLst>
                                        <p:tav tm="0">
                                          <p:val>
                                            <p:strVal val="#ppt_x"/>
                                          </p:val>
                                        </p:tav>
                                        <p:tav tm="100000">
                                          <p:val>
                                            <p:strVal val="#ppt_x"/>
                                          </p:val>
                                        </p:tav>
                                      </p:tavLst>
                                    </p:anim>
                                    <p:anim calcmode="lin" valueType="num">
                                      <p:cBhvr additive="base">
                                        <p:cTn id="58" dur="500" fill="hold"/>
                                        <p:tgtEl>
                                          <p:spTgt spid="26"/>
                                        </p:tgtEl>
                                        <p:attrNameLst>
                                          <p:attrName>ppt_y</p:attrName>
                                        </p:attrNameLst>
                                      </p:cBhvr>
                                      <p:tavLst>
                                        <p:tav tm="0">
                                          <p:val>
                                            <p:strVal val="#ppt_y+0.1"/>
                                          </p:val>
                                        </p:tav>
                                        <p:tav tm="100000">
                                          <p:val>
                                            <p:strVal val="#ppt_y"/>
                                          </p:val>
                                        </p:tav>
                                      </p:tavLst>
                                    </p:anim>
                                    <p:animEffect transition="in" filter="fade">
                                      <p:cBhvr>
                                        <p:cTn id="59" dur="500"/>
                                        <p:tgtEl>
                                          <p:spTgt spid="26"/>
                                        </p:tgtEl>
                                      </p:cBhvr>
                                    </p:animEffect>
                                  </p:childTnLst>
                                </p:cTn>
                              </p:par>
                              <p:par>
                                <p:cTn id="63"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par>
                                <p:cTn id="66" presetID="10"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par>
                                <p:cTn id="69"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par>
                                <p:cTn id="72" presetID="22" presetClass="entr" presetSubtype="8"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left)">
                                      <p:cBhvr>
                                        <p:cTn id="71" dur="500"/>
                                        <p:tgtEl>
                                          <p:spTgt spid="36"/>
                                        </p:tgtEl>
                                      </p:cBhvr>
                                    </p:animEffect>
                                  </p:childTnLst>
                                </p:cTn>
                              </p:par>
                              <p:par>
                                <p:cTn id="75" presetID="22" presetClass="entr" presetSubtype="8" fill="hold" grpId="0" nodeType="withEffect">
                                  <p:stCondLst>
                                    <p:cond delay="90"/>
                                  </p:stCondLst>
                                  <p:childTnLst>
                                    <p:set>
                                      <p:cBhvr>
                                        <p:cTn id="73" dur="1" fill="hold">
                                          <p:stCondLst>
                                            <p:cond delay="0"/>
                                          </p:stCondLst>
                                        </p:cTn>
                                        <p:tgtEl>
                                          <p:spTgt spid="37"/>
                                        </p:tgtEl>
                                        <p:attrNameLst>
                                          <p:attrName>style.visibility</p:attrName>
                                        </p:attrNameLst>
                                      </p:cBhvr>
                                      <p:to>
                                        <p:strVal val="visible"/>
                                      </p:to>
                                    </p:set>
                                    <p:animEffect transition="in" filter="wipe(left)">
                                      <p:cBhvr>
                                        <p:cTn id="74" dur="500"/>
                                        <p:tgtEl>
                                          <p:spTgt spid="37"/>
                                        </p:tgtEl>
                                      </p:cBhvr>
                                    </p:animEffect>
                                  </p:childTnLst>
                                </p:cTn>
                              </p:par>
                              <p:par>
                                <p:cTn id="78" presetID="22" presetClass="entr" presetSubtype="8" fill="hold" grpId="0" nodeType="withEffect">
                                  <p:stCondLst>
                                    <p:cond delay="180"/>
                                  </p:stCondLst>
                                  <p:childTnLst>
                                    <p:set>
                                      <p:cBhvr>
                                        <p:cTn id="76" dur="1" fill="hold">
                                          <p:stCondLst>
                                            <p:cond delay="0"/>
                                          </p:stCondLst>
                                        </p:cTn>
                                        <p:tgtEl>
                                          <p:spTgt spid="38"/>
                                        </p:tgtEl>
                                        <p:attrNameLst>
                                          <p:attrName>style.visibility</p:attrName>
                                        </p:attrNameLst>
                                      </p:cBhvr>
                                      <p:to>
                                        <p:strVal val="visible"/>
                                      </p:to>
                                    </p:set>
                                    <p:animEffect transition="in" filter="wipe(left)">
                                      <p:cBhvr>
                                        <p:cTn id="77" dur="500"/>
                                        <p:tgtEl>
                                          <p:spTgt spid="38"/>
                                        </p:tgtEl>
                                      </p:cBhvr>
                                    </p:animEffect>
                                  </p:childTnLst>
                                </p:cTn>
                              </p:par>
                              <p:par>
                                <p:cTn id="81" presetID="22" presetClass="entr" presetSubtype="8" fill="hold" grpId="0" nodeType="withEffect">
                                  <p:stCondLst>
                                    <p:cond delay="270"/>
                                  </p:stCondLst>
                                  <p:childTnLst>
                                    <p:set>
                                      <p:cBhvr>
                                        <p:cTn id="79" dur="1" fill="hold">
                                          <p:stCondLst>
                                            <p:cond delay="0"/>
                                          </p:stCondLst>
                                        </p:cTn>
                                        <p:tgtEl>
                                          <p:spTgt spid="39"/>
                                        </p:tgtEl>
                                        <p:attrNameLst>
                                          <p:attrName>style.visibility</p:attrName>
                                        </p:attrNameLst>
                                      </p:cBhvr>
                                      <p:to>
                                        <p:strVal val="visible"/>
                                      </p:to>
                                    </p:set>
                                    <p:animEffect transition="in" filter="wipe(left)">
                                      <p:cBhvr>
                                        <p:cTn id="80" dur="500"/>
                                        <p:tgtEl>
                                          <p:spTgt spid="39"/>
                                        </p:tgtEl>
                                      </p:cBhvr>
                                    </p:animEffect>
                                  </p:childTnLst>
                                </p:cTn>
                              </p:par>
                            </p:childTnLst>
                          </p:cTn>
                        </p:par>
                      </p:childTnLst>
                    </p:cTn>
                  </p:par>
                  <p:par>
                    <p:cTn id="82" fill="hold">
                      <p:stCondLst>
                        <p:cond delay="indefinite"/>
                      </p:stCondLst>
                      <p:childTnLst>
                        <p:par>
                          <p:cTn id="83" fill="hold">
                            <p:stCondLst>
                              <p:cond delay="0"/>
                            </p:stCondLst>
                            <p:childTnLst>
                              <p:par>
                                <p:cTn id="88" presetID="2" presetClass="entr" presetSubtype="4"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500" fill="hold"/>
                                        <p:tgtEl>
                                          <p:spTgt spid="27"/>
                                        </p:tgtEl>
                                        <p:attrNameLst>
                                          <p:attrName>ppt_x</p:attrName>
                                        </p:attrNameLst>
                                      </p:cBhvr>
                                      <p:tavLst>
                                        <p:tav tm="0">
                                          <p:val>
                                            <p:strVal val="#ppt_x"/>
                                          </p:val>
                                        </p:tav>
                                        <p:tav tm="100000">
                                          <p:val>
                                            <p:strVal val="#ppt_x"/>
                                          </p:val>
                                        </p:tav>
                                      </p:tavLst>
                                    </p:anim>
                                    <p:anim calcmode="lin" valueType="num">
                                      <p:cBhvr additive="base">
                                        <p:cTn id="86" dur="500" fill="hold"/>
                                        <p:tgtEl>
                                          <p:spTgt spid="27"/>
                                        </p:tgtEl>
                                        <p:attrNameLst>
                                          <p:attrName>ppt_y</p:attrName>
                                        </p:attrNameLst>
                                      </p:cBhvr>
                                      <p:tavLst>
                                        <p:tav tm="0">
                                          <p:val>
                                            <p:strVal val="#ppt_y+0.1"/>
                                          </p:val>
                                        </p:tav>
                                        <p:tav tm="100000">
                                          <p:val>
                                            <p:strVal val="#ppt_y"/>
                                          </p:val>
                                        </p:tav>
                                      </p:tavLst>
                                    </p:anim>
                                    <p:animEffect transition="in" filter="fade">
                                      <p:cBhvr>
                                        <p:cTn id="87" dur="500"/>
                                        <p:tgtEl>
                                          <p:spTgt spid="27"/>
                                        </p:tgtEl>
                                      </p:cBhvr>
                                    </p:animEffect>
                                  </p:childTnLst>
                                </p:cTn>
                              </p:par>
                              <p:par>
                                <p:cTn id="93" presetID="2" presetClass="entr" presetSubtype="4"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500" fill="hold"/>
                                        <p:tgtEl>
                                          <p:spTgt spid="28"/>
                                        </p:tgtEl>
                                        <p:attrNameLst>
                                          <p:attrName>ppt_x</p:attrName>
                                        </p:attrNameLst>
                                      </p:cBhvr>
                                      <p:tavLst>
                                        <p:tav tm="0">
                                          <p:val>
                                            <p:strVal val="#ppt_x"/>
                                          </p:val>
                                        </p:tav>
                                        <p:tav tm="100000">
                                          <p:val>
                                            <p:strVal val="#ppt_x"/>
                                          </p:val>
                                        </p:tav>
                                      </p:tavLst>
                                    </p:anim>
                                    <p:anim calcmode="lin" valueType="num">
                                      <p:cBhvr additive="base">
                                        <p:cTn id="91" dur="500" fill="hold"/>
                                        <p:tgtEl>
                                          <p:spTgt spid="28"/>
                                        </p:tgtEl>
                                        <p:attrNameLst>
                                          <p:attrName>ppt_y</p:attrName>
                                        </p:attrNameLst>
                                      </p:cBhvr>
                                      <p:tavLst>
                                        <p:tav tm="0">
                                          <p:val>
                                            <p:strVal val="#ppt_y+0.1"/>
                                          </p:val>
                                        </p:tav>
                                        <p:tav tm="100000">
                                          <p:val>
                                            <p:strVal val="#ppt_y"/>
                                          </p:val>
                                        </p:tav>
                                      </p:tavLst>
                                    </p:anim>
                                    <p:animEffect transition="in" filter="fade">
                                      <p:cBhvr>
                                        <p:cTn id="92" dur="500"/>
                                        <p:tgtEl>
                                          <p:spTgt spid="28"/>
                                        </p:tgtEl>
                                      </p:cBhvr>
                                    </p:animEffect>
                                  </p:childTnLst>
                                </p:cTn>
                              </p:par>
                              <p:par>
                                <p:cTn id="98" presetID="2" presetClass="entr" presetSubtype="4" fill="hold" grpId="0" nodeType="withEffect">
                                  <p:stCondLst>
                                    <p:cond delay="10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ppt_y+0.1"/>
                                          </p:val>
                                        </p:tav>
                                        <p:tav tm="100000">
                                          <p:val>
                                            <p:strVal val="#ppt_y"/>
                                          </p:val>
                                        </p:tav>
                                      </p:tavLst>
                                    </p:anim>
                                    <p:animEffect transition="in" filter="fade">
                                      <p:cBhvr>
                                        <p:cTn id="97" dur="500"/>
                                        <p:tgtEl>
                                          <p:spTgt spid="29"/>
                                        </p:tgtEl>
                                      </p:cBhvr>
                                    </p:animEffect>
                                  </p:childTnLst>
                                </p:cTn>
                              </p:par>
                              <p:par>
                                <p:cTn id="103" presetID="2" presetClass="entr" presetSubtype="4" fill="hold" grpId="0" nodeType="withEffect">
                                  <p:stCondLst>
                                    <p:cond delay="100"/>
                                  </p:stCondLst>
                                  <p:childTnLst>
                                    <p:set>
                                      <p:cBhvr>
                                        <p:cTn id="99" dur="1" fill="hold">
                                          <p:stCondLst>
                                            <p:cond delay="0"/>
                                          </p:stCondLst>
                                        </p:cTn>
                                        <p:tgtEl>
                                          <p:spTgt spid="30"/>
                                        </p:tgtEl>
                                        <p:attrNameLst>
                                          <p:attrName>style.visibility</p:attrName>
                                        </p:attrNameLst>
                                      </p:cBhvr>
                                      <p:to>
                                        <p:strVal val="visible"/>
                                      </p:to>
                                    </p:set>
                                    <p:anim calcmode="lin" valueType="num">
                                      <p:cBhvr additive="base">
                                        <p:cTn id="100" dur="500" fill="hold"/>
                                        <p:tgtEl>
                                          <p:spTgt spid="30"/>
                                        </p:tgtEl>
                                        <p:attrNameLst>
                                          <p:attrName>ppt_x</p:attrName>
                                        </p:attrNameLst>
                                      </p:cBhvr>
                                      <p:tavLst>
                                        <p:tav tm="0">
                                          <p:val>
                                            <p:strVal val="#ppt_x"/>
                                          </p:val>
                                        </p:tav>
                                        <p:tav tm="100000">
                                          <p:val>
                                            <p:strVal val="#ppt_x"/>
                                          </p:val>
                                        </p:tav>
                                      </p:tavLst>
                                    </p:anim>
                                    <p:anim calcmode="lin" valueType="num">
                                      <p:cBhvr additive="base">
                                        <p:cTn id="101" dur="500" fill="hold"/>
                                        <p:tgtEl>
                                          <p:spTgt spid="30"/>
                                        </p:tgtEl>
                                        <p:attrNameLst>
                                          <p:attrName>ppt_y</p:attrName>
                                        </p:attrNameLst>
                                      </p:cBhvr>
                                      <p:tavLst>
                                        <p:tav tm="0">
                                          <p:val>
                                            <p:strVal val="#ppt_y+0.1"/>
                                          </p:val>
                                        </p:tav>
                                        <p:tav tm="100000">
                                          <p:val>
                                            <p:strVal val="#ppt_y"/>
                                          </p:val>
                                        </p:tav>
                                      </p:tavLst>
                                    </p:anim>
                                    <p:animEffect transition="in" filter="fade">
                                      <p:cBhvr>
                                        <p:cTn id="102" dur="500"/>
                                        <p:tgtEl>
                                          <p:spTgt spid="30"/>
                                        </p:tgtEl>
                                      </p:cBhvr>
                                    </p:animEffect>
                                  </p:childTnLst>
                                </p:cTn>
                              </p:par>
                              <p:par>
                                <p:cTn id="108" presetID="2" presetClass="entr" presetSubtype="4" fill="hold" grpId="0" nodeType="withEffect">
                                  <p:stCondLst>
                                    <p:cond delay="200"/>
                                  </p:stCondLst>
                                  <p:childTnLst>
                                    <p:set>
                                      <p:cBhvr>
                                        <p:cTn id="104" dur="1" fill="hold">
                                          <p:stCondLst>
                                            <p:cond delay="0"/>
                                          </p:stCondLst>
                                        </p:cTn>
                                        <p:tgtEl>
                                          <p:spTgt spid="31"/>
                                        </p:tgtEl>
                                        <p:attrNameLst>
                                          <p:attrName>style.visibility</p:attrName>
                                        </p:attrNameLst>
                                      </p:cBhvr>
                                      <p:to>
                                        <p:strVal val="visible"/>
                                      </p:to>
                                    </p:set>
                                    <p:anim calcmode="lin" valueType="num">
                                      <p:cBhvr additive="base">
                                        <p:cTn id="105" dur="500" fill="hold"/>
                                        <p:tgtEl>
                                          <p:spTgt spid="31"/>
                                        </p:tgtEl>
                                        <p:attrNameLst>
                                          <p:attrName>ppt_x</p:attrName>
                                        </p:attrNameLst>
                                      </p:cBhvr>
                                      <p:tavLst>
                                        <p:tav tm="0">
                                          <p:val>
                                            <p:strVal val="#ppt_x"/>
                                          </p:val>
                                        </p:tav>
                                        <p:tav tm="100000">
                                          <p:val>
                                            <p:strVal val="#ppt_x"/>
                                          </p:val>
                                        </p:tav>
                                      </p:tavLst>
                                    </p:anim>
                                    <p:anim calcmode="lin" valueType="num">
                                      <p:cBhvr additive="base">
                                        <p:cTn id="106" dur="500" fill="hold"/>
                                        <p:tgtEl>
                                          <p:spTgt spid="31"/>
                                        </p:tgtEl>
                                        <p:attrNameLst>
                                          <p:attrName>ppt_y</p:attrName>
                                        </p:attrNameLst>
                                      </p:cBhvr>
                                      <p:tavLst>
                                        <p:tav tm="0">
                                          <p:val>
                                            <p:strVal val="#ppt_y+0.1"/>
                                          </p:val>
                                        </p:tav>
                                        <p:tav tm="100000">
                                          <p:val>
                                            <p:strVal val="#ppt_y"/>
                                          </p:val>
                                        </p:tav>
                                      </p:tavLst>
                                    </p:anim>
                                    <p:animEffect transition="in" filter="fade">
                                      <p:cBhvr>
                                        <p:cTn id="107" dur="500"/>
                                        <p:tgtEl>
                                          <p:spTgt spid="31"/>
                                        </p:tgtEl>
                                      </p:cBhvr>
                                    </p:animEffect>
                                  </p:childTnLst>
                                </p:cTn>
                              </p:par>
                              <p:par>
                                <p:cTn id="113" presetID="2" presetClass="entr" presetSubtype="4" fill="hold" grpId="0" nodeType="withEffect">
                                  <p:stCondLst>
                                    <p:cond delay="200"/>
                                  </p:stCondLst>
                                  <p:childTnLst>
                                    <p:set>
                                      <p:cBhvr>
                                        <p:cTn id="109" dur="1" fill="hold">
                                          <p:stCondLst>
                                            <p:cond delay="0"/>
                                          </p:stCondLst>
                                        </p:cTn>
                                        <p:tgtEl>
                                          <p:spTgt spid="32"/>
                                        </p:tgtEl>
                                        <p:attrNameLst>
                                          <p:attrName>style.visibility</p:attrName>
                                        </p:attrNameLst>
                                      </p:cBhvr>
                                      <p:to>
                                        <p:strVal val="visible"/>
                                      </p:to>
                                    </p:set>
                                    <p:anim calcmode="lin" valueType="num">
                                      <p:cBhvr additive="base">
                                        <p:cTn id="110" dur="500" fill="hold"/>
                                        <p:tgtEl>
                                          <p:spTgt spid="32"/>
                                        </p:tgtEl>
                                        <p:attrNameLst>
                                          <p:attrName>ppt_x</p:attrName>
                                        </p:attrNameLst>
                                      </p:cBhvr>
                                      <p:tavLst>
                                        <p:tav tm="0">
                                          <p:val>
                                            <p:strVal val="#ppt_x"/>
                                          </p:val>
                                        </p:tav>
                                        <p:tav tm="100000">
                                          <p:val>
                                            <p:strVal val="#ppt_x"/>
                                          </p:val>
                                        </p:tav>
                                      </p:tavLst>
                                    </p:anim>
                                    <p:anim calcmode="lin" valueType="num">
                                      <p:cBhvr additive="base">
                                        <p:cTn id="111" dur="500" fill="hold"/>
                                        <p:tgtEl>
                                          <p:spTgt spid="32"/>
                                        </p:tgtEl>
                                        <p:attrNameLst>
                                          <p:attrName>ppt_y</p:attrName>
                                        </p:attrNameLst>
                                      </p:cBhvr>
                                      <p:tavLst>
                                        <p:tav tm="0">
                                          <p:val>
                                            <p:strVal val="#ppt_y+0.1"/>
                                          </p:val>
                                        </p:tav>
                                        <p:tav tm="100000">
                                          <p:val>
                                            <p:strVal val="#ppt_y"/>
                                          </p:val>
                                        </p:tav>
                                      </p:tavLst>
                                    </p:anim>
                                    <p:animEffect transition="in" filter="fade">
                                      <p:cBhvr>
                                        <p:cTn id="112" dur="500"/>
                                        <p:tgtEl>
                                          <p:spTgt spid="32"/>
                                        </p:tgtEl>
                                      </p:cBhvr>
                                    </p:animEffect>
                                  </p:childTnLst>
                                </p:cTn>
                              </p:par>
                              <p:par>
                                <p:cTn id="118" presetID="2" presetClass="entr" presetSubtype="4" fill="hold" grpId="0" nodeType="withEffect">
                                  <p:stCondLst>
                                    <p:cond delay="200"/>
                                  </p:stCondLst>
                                  <p:childTnLst>
                                    <p:set>
                                      <p:cBhvr>
                                        <p:cTn id="114" dur="1" fill="hold">
                                          <p:stCondLst>
                                            <p:cond delay="0"/>
                                          </p:stCondLst>
                                        </p:cTn>
                                        <p:tgtEl>
                                          <p:spTgt spid="40"/>
                                        </p:tgtEl>
                                        <p:attrNameLst>
                                          <p:attrName>style.visibility</p:attrName>
                                        </p:attrNameLst>
                                      </p:cBhvr>
                                      <p:to>
                                        <p:strVal val="visible"/>
                                      </p:to>
                                    </p:set>
                                    <p:anim calcmode="lin" valueType="num">
                                      <p:cBhvr additive="base">
                                        <p:cTn id="115" dur="500" fill="hold"/>
                                        <p:tgtEl>
                                          <p:spTgt spid="40"/>
                                        </p:tgtEl>
                                        <p:attrNameLst>
                                          <p:attrName>ppt_x</p:attrName>
                                        </p:attrNameLst>
                                      </p:cBhvr>
                                      <p:tavLst>
                                        <p:tav tm="0">
                                          <p:val>
                                            <p:strVal val="#ppt_x"/>
                                          </p:val>
                                        </p:tav>
                                        <p:tav tm="100000">
                                          <p:val>
                                            <p:strVal val="#ppt_x"/>
                                          </p:val>
                                        </p:tav>
                                      </p:tavLst>
                                    </p:anim>
                                    <p:anim calcmode="lin" valueType="num">
                                      <p:cBhvr additive="base">
                                        <p:cTn id="116" dur="500" fill="hold"/>
                                        <p:tgtEl>
                                          <p:spTgt spid="40"/>
                                        </p:tgtEl>
                                        <p:attrNameLst>
                                          <p:attrName>ppt_y</p:attrName>
                                        </p:attrNameLst>
                                      </p:cBhvr>
                                      <p:tavLst>
                                        <p:tav tm="0">
                                          <p:val>
                                            <p:strVal val="#ppt_y+0.1"/>
                                          </p:val>
                                        </p:tav>
                                        <p:tav tm="100000">
                                          <p:val>
                                            <p:strVal val="#ppt_y"/>
                                          </p:val>
                                        </p:tav>
                                      </p:tavLst>
                                    </p:anim>
                                    <p:animEffect transition="in" filter="fade">
                                      <p:cBhvr>
                                        <p:cTn id="117" dur="500"/>
                                        <p:tgtEl>
                                          <p:spTgt spid="40"/>
                                        </p:tgtEl>
                                      </p:cBhvr>
                                    </p:animEffect>
                                  </p:childTnLst>
                                </p:cTn>
                              </p:par>
                            </p:childTnLst>
                          </p:cTn>
                        </p:par>
                      </p:childTnLst>
                    </p:cTn>
                  </p:par>
                  <p:par>
                    <p:cTn id="119" fill="hold">
                      <p:stCondLst>
                        <p:cond delay="indefinite"/>
                      </p:stCondLst>
                      <p:childTnLst>
                        <p:par>
                          <p:cTn id="120" fill="hold">
                            <p:stCondLst>
                              <p:cond delay="0"/>
                            </p:stCondLst>
                            <p:childTnLst>
                              <p:par>
                                <p:cTn id="125" presetID="2" presetClass="entr" presetSubtype="4" fill="hold" grpId="0" nodeType="clickEffect">
                                  <p:stCondLst>
                                    <p:cond delay="0"/>
                                  </p:stCondLst>
                                  <p:childTnLst>
                                    <p:set>
                                      <p:cBhvr>
                                        <p:cTn id="121" dur="1" fill="hold">
                                          <p:stCondLst>
                                            <p:cond delay="0"/>
                                          </p:stCondLst>
                                        </p:cTn>
                                        <p:tgtEl>
                                          <p:spTgt spid="41"/>
                                        </p:tgtEl>
                                        <p:attrNameLst>
                                          <p:attrName>style.visibility</p:attrName>
                                        </p:attrNameLst>
                                      </p:cBhvr>
                                      <p:to>
                                        <p:strVal val="visible"/>
                                      </p:to>
                                    </p:set>
                                    <p:anim calcmode="lin" valueType="num">
                                      <p:cBhvr additive="base">
                                        <p:cTn id="122" dur="500" fill="hold"/>
                                        <p:tgtEl>
                                          <p:spTgt spid="41"/>
                                        </p:tgtEl>
                                        <p:attrNameLst>
                                          <p:attrName>ppt_x</p:attrName>
                                        </p:attrNameLst>
                                      </p:cBhvr>
                                      <p:tavLst>
                                        <p:tav tm="0">
                                          <p:val>
                                            <p:strVal val="#ppt_x"/>
                                          </p:val>
                                        </p:tav>
                                        <p:tav tm="100000">
                                          <p:val>
                                            <p:strVal val="#ppt_x"/>
                                          </p:val>
                                        </p:tav>
                                      </p:tavLst>
                                    </p:anim>
                                    <p:anim calcmode="lin" valueType="num">
                                      <p:cBhvr additive="base">
                                        <p:cTn id="123" dur="500" fill="hold"/>
                                        <p:tgtEl>
                                          <p:spTgt spid="41"/>
                                        </p:tgtEl>
                                        <p:attrNameLst>
                                          <p:attrName>ppt_y</p:attrName>
                                        </p:attrNameLst>
                                      </p:cBhvr>
                                      <p:tavLst>
                                        <p:tav tm="0">
                                          <p:val>
                                            <p:strVal val="#ppt_y+0.1"/>
                                          </p:val>
                                        </p:tav>
                                        <p:tav tm="100000">
                                          <p:val>
                                            <p:strVal val="#ppt_y"/>
                                          </p:val>
                                        </p:tav>
                                      </p:tavLst>
                                    </p:anim>
                                    <p:animEffect transition="in" filter="fade">
                                      <p:cBhvr>
                                        <p:cTn id="124" dur="500"/>
                                        <p:tgtEl>
                                          <p:spTgt spid="41"/>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 calcmode="lin" valueType="num">
                                      <p:cBhvr additive="base">
                                        <p:cTn id="127" dur="500" fill="hold"/>
                                        <p:tgtEl>
                                          <p:spTgt spid="42"/>
                                        </p:tgtEl>
                                        <p:attrNameLst>
                                          <p:attrName>ppt_x</p:attrName>
                                        </p:attrNameLst>
                                      </p:cBhvr>
                                      <p:tavLst>
                                        <p:tav tm="0">
                                          <p:val>
                                            <p:strVal val="#ppt_x"/>
                                          </p:val>
                                        </p:tav>
                                        <p:tav tm="100000">
                                          <p:val>
                                            <p:strVal val="#ppt_x"/>
                                          </p:val>
                                        </p:tav>
                                      </p:tavLst>
                                    </p:anim>
                                    <p:anim calcmode="lin" valueType="num">
                                      <p:cBhvr additive="base">
                                        <p:cTn id="128" dur="500" fill="hold"/>
                                        <p:tgtEl>
                                          <p:spTgt spid="42"/>
                                        </p:tgtEl>
                                        <p:attrNameLst>
                                          <p:attrName>ppt_y</p:attrName>
                                        </p:attrNameLst>
                                      </p:cBhvr>
                                      <p:tavLst>
                                        <p:tav tm="0">
                                          <p:val>
                                            <p:strVal val="#ppt_y+0.1"/>
                                          </p:val>
                                        </p:tav>
                                        <p:tav tm="100000">
                                          <p:val>
                                            <p:strVal val="#ppt_y"/>
                                          </p:val>
                                        </p:tav>
                                      </p:tavLst>
                                    </p:anim>
                                    <p:animEffect transition="in" filter="fade">
                                      <p:cBhvr>
                                        <p:cTn id="129" dur="500"/>
                                        <p:tgtEl>
                                          <p:spTgt spid="42"/>
                                        </p:tgtEl>
                                      </p:cBhvr>
                                    </p:animEffect>
                                  </p:childTnLst>
                                </p:cTn>
                              </p:par>
                              <p:par>
                                <p:cTn id="135" presetID="2" presetClass="entr" presetSubtype="4" fill="hold" grpId="0" nodeType="withEffect">
                                  <p:stCondLst>
                                    <p:cond delay="0"/>
                                  </p:stCondLst>
                                  <p:childTnLst>
                                    <p:set>
                                      <p:cBhvr>
                                        <p:cTn id="131" dur="1" fill="hold">
                                          <p:stCondLst>
                                            <p:cond delay="0"/>
                                          </p:stCondLst>
                                        </p:cTn>
                                        <p:tgtEl>
                                          <p:spTgt spid="43"/>
                                        </p:tgtEl>
                                        <p:attrNameLst>
                                          <p:attrName>style.visibility</p:attrName>
                                        </p:attrNameLst>
                                      </p:cBhvr>
                                      <p:to>
                                        <p:strVal val="visible"/>
                                      </p:to>
                                    </p:set>
                                    <p:anim calcmode="lin" valueType="num">
                                      <p:cBhvr additive="base">
                                        <p:cTn id="132" dur="500" fill="hold"/>
                                        <p:tgtEl>
                                          <p:spTgt spid="43"/>
                                        </p:tgtEl>
                                        <p:attrNameLst>
                                          <p:attrName>ppt_x</p:attrName>
                                        </p:attrNameLst>
                                      </p:cBhvr>
                                      <p:tavLst>
                                        <p:tav tm="0">
                                          <p:val>
                                            <p:strVal val="#ppt_x"/>
                                          </p:val>
                                        </p:tav>
                                        <p:tav tm="100000">
                                          <p:val>
                                            <p:strVal val="#ppt_x"/>
                                          </p:val>
                                        </p:tav>
                                      </p:tavLst>
                                    </p:anim>
                                    <p:anim calcmode="lin" valueType="num">
                                      <p:cBhvr additive="base">
                                        <p:cTn id="133" dur="500" fill="hold"/>
                                        <p:tgtEl>
                                          <p:spTgt spid="43"/>
                                        </p:tgtEl>
                                        <p:attrNameLst>
                                          <p:attrName>ppt_y</p:attrName>
                                        </p:attrNameLst>
                                      </p:cBhvr>
                                      <p:tavLst>
                                        <p:tav tm="0">
                                          <p:val>
                                            <p:strVal val="#ppt_y+0.1"/>
                                          </p:val>
                                        </p:tav>
                                        <p:tav tm="100000">
                                          <p:val>
                                            <p:strVal val="#ppt_y"/>
                                          </p:val>
                                        </p:tav>
                                      </p:tavLst>
                                    </p:anim>
                                    <p:animEffect transition="in" filter="fade">
                                      <p:cBhvr>
                                        <p:cTn id="13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 Topic Is a Log, Not a Queue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has no queues - and the difference matters a lot</a:t>
            </a:r>
          </a:p>
        </p:txBody>
      </p:sp>
      <p:sp>
        <p:nvSpPr>
          <p:cNvPr id="11" name="a1u_card10"/>
          <p:cNvSpPr/>
          <p:nvPr/>
        </p:nvSpPr>
        <p:spPr>
          <a:xfrm>
            <a:off x="457200" y="1280160"/>
            <a:ext cx="4023360" cy="2606040"/>
          </a:xfrm>
          <a:prstGeom prst="roundRect">
            <a:avLst>
              <a:gd name="adj" fmla="val 421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50292" cy="260604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89888"/>
            <a:ext cx="3657600" cy="237744"/>
          </a:xfrm>
          <a:prstGeom prst="rect">
            <a:avLst/>
          </a:prstGeom>
          <a:noFill/>
        </p:spPr>
        <p:txBody>
          <a:bodyPr wrap="square" lIns="0" tIns="0" rIns="0" bIns="0" anchor="ctr">
            <a:spAutoFit/>
          </a:bodyPr>
          <a:lstStyle/>
          <a:p>
            <a:pPr algn="l"/>
            <a:r>
              <a:rPr sz="900" b="1">
                <a:solidFill>
                  <a:srgbClr val="A16207"/>
                </a:solidFill>
                <a:latin typeface="Segoe UI"/>
              </a:rPr>
              <a:t>A QUEUE</a:t>
            </a:r>
          </a:p>
        </p:txBody>
      </p:sp>
      <p:sp>
        <p:nvSpPr>
          <p:cNvPr id="14" name="a1ud80_cell13"/>
          <p:cNvSpPr/>
          <p:nvPr/>
        </p:nvSpPr>
        <p:spPr>
          <a:xfrm>
            <a:off x="685800" y="1719072"/>
            <a:ext cx="566928" cy="384048"/>
          </a:xfrm>
          <a:prstGeom prst="rect">
            <a:avLst/>
          </a:prstGeom>
          <a:solidFill>
            <a:srgbClr val="E7E5E0"/>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cellt14"/>
          <p:cNvSpPr txBox="1"/>
          <p:nvPr/>
        </p:nvSpPr>
        <p:spPr>
          <a:xfrm>
            <a:off x="685800" y="1719072"/>
            <a:ext cx="566928" cy="384048"/>
          </a:xfrm>
          <a:prstGeom prst="rect">
            <a:avLst/>
          </a:prstGeom>
          <a:noFill/>
        </p:spPr>
        <p:txBody>
          <a:bodyPr wrap="square" lIns="0" tIns="0" rIns="0" bIns="0" anchor="ctr">
            <a:spAutoFit/>
          </a:bodyPr>
          <a:lstStyle/>
          <a:p>
            <a:pPr algn="ctr"/>
            <a:r>
              <a:rPr sz="950" b="1">
                <a:solidFill>
                  <a:srgbClr val="A8A29E"/>
                </a:solidFill>
                <a:latin typeface="Consolas"/>
              </a:rPr>
              <a:t>m1</a:t>
            </a:r>
          </a:p>
        </p:txBody>
      </p:sp>
      <p:sp>
        <p:nvSpPr>
          <p:cNvPr id="16" name="a1ud80_cell15"/>
          <p:cNvSpPr/>
          <p:nvPr/>
        </p:nvSpPr>
        <p:spPr>
          <a:xfrm>
            <a:off x="1252728" y="1719072"/>
            <a:ext cx="566928" cy="384048"/>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80_cellt16"/>
          <p:cNvSpPr txBox="1"/>
          <p:nvPr/>
        </p:nvSpPr>
        <p:spPr>
          <a:xfrm>
            <a:off x="1252728" y="1719072"/>
            <a:ext cx="566928" cy="384048"/>
          </a:xfrm>
          <a:prstGeom prst="rect">
            <a:avLst/>
          </a:prstGeom>
          <a:noFill/>
        </p:spPr>
        <p:txBody>
          <a:bodyPr wrap="square" lIns="0" tIns="0" rIns="0" bIns="0" anchor="ctr">
            <a:spAutoFit/>
          </a:bodyPr>
          <a:lstStyle/>
          <a:p>
            <a:pPr algn="ctr"/>
            <a:r>
              <a:rPr sz="950" b="1">
                <a:solidFill>
                  <a:srgbClr val="A16207"/>
                </a:solidFill>
                <a:latin typeface="Consolas"/>
              </a:rPr>
              <a:t>m2</a:t>
            </a:r>
          </a:p>
        </p:txBody>
      </p:sp>
      <p:sp>
        <p:nvSpPr>
          <p:cNvPr id="18" name="a1ud80_cell17"/>
          <p:cNvSpPr/>
          <p:nvPr/>
        </p:nvSpPr>
        <p:spPr>
          <a:xfrm>
            <a:off x="1819656" y="1719072"/>
            <a:ext cx="566928" cy="384048"/>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80_cellt18"/>
          <p:cNvSpPr txBox="1"/>
          <p:nvPr/>
        </p:nvSpPr>
        <p:spPr>
          <a:xfrm>
            <a:off x="1819656" y="1719072"/>
            <a:ext cx="566928" cy="384048"/>
          </a:xfrm>
          <a:prstGeom prst="rect">
            <a:avLst/>
          </a:prstGeom>
          <a:noFill/>
        </p:spPr>
        <p:txBody>
          <a:bodyPr wrap="square" lIns="0" tIns="0" rIns="0" bIns="0" anchor="ctr">
            <a:spAutoFit/>
          </a:bodyPr>
          <a:lstStyle/>
          <a:p>
            <a:pPr algn="ctr"/>
            <a:r>
              <a:rPr sz="950" b="1">
                <a:solidFill>
                  <a:srgbClr val="A16207"/>
                </a:solidFill>
                <a:latin typeface="Consolas"/>
              </a:rPr>
              <a:t>m3</a:t>
            </a:r>
          </a:p>
        </p:txBody>
      </p:sp>
      <p:sp>
        <p:nvSpPr>
          <p:cNvPr id="20" name="a1ud80_cell19"/>
          <p:cNvSpPr/>
          <p:nvPr/>
        </p:nvSpPr>
        <p:spPr>
          <a:xfrm>
            <a:off x="2386584" y="1719072"/>
            <a:ext cx="566928" cy="384048"/>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80_cellt20"/>
          <p:cNvSpPr txBox="1"/>
          <p:nvPr/>
        </p:nvSpPr>
        <p:spPr>
          <a:xfrm>
            <a:off x="2386584" y="1719072"/>
            <a:ext cx="566928" cy="384048"/>
          </a:xfrm>
          <a:prstGeom prst="rect">
            <a:avLst/>
          </a:prstGeom>
          <a:noFill/>
        </p:spPr>
        <p:txBody>
          <a:bodyPr wrap="square" lIns="0" tIns="0" rIns="0" bIns="0" anchor="ctr">
            <a:spAutoFit/>
          </a:bodyPr>
          <a:lstStyle/>
          <a:p>
            <a:pPr algn="ctr"/>
            <a:r>
              <a:rPr sz="950" b="1">
                <a:solidFill>
                  <a:srgbClr val="A16207"/>
                </a:solidFill>
                <a:latin typeface="Consolas"/>
              </a:rPr>
              <a:t>m4</a:t>
            </a:r>
          </a:p>
        </p:txBody>
      </p:sp>
      <p:sp>
        <p:nvSpPr>
          <p:cNvPr id="22" name="a1ud160_nd21"/>
          <p:cNvSpPr/>
          <p:nvPr/>
        </p:nvSpPr>
        <p:spPr>
          <a:xfrm>
            <a:off x="685800" y="2331720"/>
            <a:ext cx="1188720" cy="365760"/>
          </a:xfrm>
          <a:prstGeom prst="roundRect">
            <a:avLst>
              <a:gd name="adj" fmla="val 20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160_ndt22"/>
          <p:cNvSpPr txBox="1"/>
          <p:nvPr/>
        </p:nvSpPr>
        <p:spPr>
          <a:xfrm>
            <a:off x="731520" y="2331720"/>
            <a:ext cx="1097280" cy="365760"/>
          </a:xfrm>
          <a:prstGeom prst="rect">
            <a:avLst/>
          </a:prstGeom>
          <a:noFill/>
        </p:spPr>
        <p:txBody>
          <a:bodyPr wrap="square" lIns="0" tIns="0" rIns="0" bIns="0" anchor="ctr">
            <a:spAutoFit/>
          </a:bodyPr>
          <a:lstStyle/>
          <a:p>
            <a:pPr algn="ctr"/>
            <a:r>
              <a:rPr sz="850" b="1">
                <a:solidFill>
                  <a:srgbClr val="1C1917"/>
                </a:solidFill>
                <a:latin typeface="Segoe UI"/>
              </a:rPr>
              <a:t>reader</a:t>
            </a:r>
          </a:p>
        </p:txBody>
      </p:sp>
      <p:cxnSp>
        <p:nvCxnSpPr>
          <p:cNvPr id="24" name="a1ud160_ar23"/>
          <p:cNvCxnSpPr/>
          <p:nvPr/>
        </p:nvCxnSpPr>
        <p:spPr>
          <a:xfrm flipV="1">
            <a:off x="969264" y="2130552"/>
            <a:ext cx="0" cy="18288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1ud160_lb24"/>
          <p:cNvSpPr txBox="1"/>
          <p:nvPr/>
        </p:nvSpPr>
        <p:spPr>
          <a:xfrm>
            <a:off x="1965960" y="2331720"/>
            <a:ext cx="2377440" cy="365760"/>
          </a:xfrm>
          <a:prstGeom prst="rect">
            <a:avLst/>
          </a:prstGeom>
          <a:noFill/>
        </p:spPr>
        <p:txBody>
          <a:bodyPr wrap="square" lIns="0" tIns="0" rIns="0" bIns="0" anchor="ctr">
            <a:spAutoFit/>
          </a:bodyPr>
          <a:lstStyle/>
          <a:p>
            <a:pPr algn="l"/>
            <a:r>
              <a:rPr sz="850" b="1">
                <a:solidFill>
                  <a:srgbClr val="A16207"/>
                </a:solidFill>
                <a:latin typeface="Segoe UI"/>
              </a:rPr>
              <a:t>read m1 - and m1 is gone</a:t>
            </a:r>
          </a:p>
        </p:txBody>
      </p:sp>
      <p:sp>
        <p:nvSpPr>
          <p:cNvPr id="26" name="a1ud250_dot25"/>
          <p:cNvSpPr/>
          <p:nvPr/>
        </p:nvSpPr>
        <p:spPr>
          <a:xfrm>
            <a:off x="658368" y="2930652"/>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250_b26"/>
          <p:cNvSpPr txBox="1"/>
          <p:nvPr/>
        </p:nvSpPr>
        <p:spPr>
          <a:xfrm>
            <a:off x="877824" y="2834640"/>
            <a:ext cx="3438144" cy="292608"/>
          </a:xfrm>
          <a:prstGeom prst="rect">
            <a:avLst/>
          </a:prstGeom>
          <a:noFill/>
        </p:spPr>
        <p:txBody>
          <a:bodyPr wrap="square" lIns="0" tIns="0" rIns="0" bIns="0" anchor="t">
            <a:spAutoFit/>
          </a:bodyPr>
          <a:lstStyle/>
          <a:p>
            <a:pPr algn="l"/>
            <a:r>
              <a:rPr sz="950" b="0">
                <a:solidFill>
                  <a:srgbClr val="44403C"/>
                </a:solidFill>
                <a:latin typeface="Segoe UI"/>
              </a:rPr>
              <a:t>Reading takes the item out</a:t>
            </a:r>
          </a:p>
        </p:txBody>
      </p:sp>
      <p:sp>
        <p:nvSpPr>
          <p:cNvPr id="28" name="a1ud340_dot27"/>
          <p:cNvSpPr/>
          <p:nvPr/>
        </p:nvSpPr>
        <p:spPr>
          <a:xfrm>
            <a:off x="658368" y="3259836"/>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340_b28"/>
          <p:cNvSpPr txBox="1"/>
          <p:nvPr/>
        </p:nvSpPr>
        <p:spPr>
          <a:xfrm>
            <a:off x="877824" y="3163824"/>
            <a:ext cx="3438144" cy="292608"/>
          </a:xfrm>
          <a:prstGeom prst="rect">
            <a:avLst/>
          </a:prstGeom>
          <a:noFill/>
        </p:spPr>
        <p:txBody>
          <a:bodyPr wrap="square" lIns="0" tIns="0" rIns="0" bIns="0" anchor="t">
            <a:spAutoFit/>
          </a:bodyPr>
          <a:lstStyle/>
          <a:p>
            <a:pPr algn="l"/>
            <a:r>
              <a:rPr sz="950" b="0">
                <a:solidFill>
                  <a:srgbClr val="44403C"/>
                </a:solidFill>
                <a:latin typeface="Segoe UI"/>
              </a:rPr>
              <a:t>Nobody else can read it</a:t>
            </a:r>
          </a:p>
        </p:txBody>
      </p:sp>
      <p:sp>
        <p:nvSpPr>
          <p:cNvPr id="30" name="a1ud430_dot29"/>
          <p:cNvSpPr/>
          <p:nvPr/>
        </p:nvSpPr>
        <p:spPr>
          <a:xfrm>
            <a:off x="658368" y="3589020"/>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ud430_b30"/>
          <p:cNvSpPr txBox="1"/>
          <p:nvPr/>
        </p:nvSpPr>
        <p:spPr>
          <a:xfrm>
            <a:off x="877824" y="3493008"/>
            <a:ext cx="3438144" cy="292608"/>
          </a:xfrm>
          <a:prstGeom prst="rect">
            <a:avLst/>
          </a:prstGeom>
          <a:noFill/>
        </p:spPr>
        <p:txBody>
          <a:bodyPr wrap="square" lIns="0" tIns="0" rIns="0" bIns="0" anchor="t">
            <a:spAutoFit/>
          </a:bodyPr>
          <a:lstStyle/>
          <a:p>
            <a:pPr algn="l"/>
            <a:r>
              <a:rPr sz="950" b="0">
                <a:solidFill>
                  <a:srgbClr val="44403C"/>
                </a:solidFill>
                <a:latin typeface="Segoe UI"/>
              </a:rPr>
              <a:t>The data is short-lived</a:t>
            </a:r>
          </a:p>
        </p:txBody>
      </p:sp>
      <p:sp>
        <p:nvSpPr>
          <p:cNvPr id="32" name="a2u_card31"/>
          <p:cNvSpPr/>
          <p:nvPr/>
        </p:nvSpPr>
        <p:spPr>
          <a:xfrm>
            <a:off x="4663440" y="1280160"/>
            <a:ext cx="4023360" cy="2606040"/>
          </a:xfrm>
          <a:prstGeom prst="roundRect">
            <a:avLst>
              <a:gd name="adj" fmla="val 421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_acc32"/>
          <p:cNvSpPr/>
          <p:nvPr/>
        </p:nvSpPr>
        <p:spPr>
          <a:xfrm>
            <a:off x="4663440" y="1280160"/>
            <a:ext cx="50292" cy="26060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u_hh33"/>
          <p:cNvSpPr txBox="1"/>
          <p:nvPr/>
        </p:nvSpPr>
        <p:spPr>
          <a:xfrm>
            <a:off x="4864607" y="1389888"/>
            <a:ext cx="3657600" cy="237744"/>
          </a:xfrm>
          <a:prstGeom prst="rect">
            <a:avLst/>
          </a:prstGeom>
          <a:noFill/>
        </p:spPr>
        <p:txBody>
          <a:bodyPr wrap="square" lIns="0" tIns="0" rIns="0" bIns="0" anchor="ctr">
            <a:spAutoFit/>
          </a:bodyPr>
          <a:lstStyle/>
          <a:p>
            <a:pPr algn="l"/>
            <a:r>
              <a:rPr sz="900" b="1">
                <a:solidFill>
                  <a:srgbClr val="0E7490"/>
                </a:solidFill>
                <a:latin typeface="Segoe UI"/>
              </a:rPr>
              <a:t>A LOG  ·  A KAFKA TOPIC</a:t>
            </a:r>
          </a:p>
        </p:txBody>
      </p:sp>
      <p:sp>
        <p:nvSpPr>
          <p:cNvPr id="35" name="a2ud80_cell34"/>
          <p:cNvSpPr/>
          <p:nvPr/>
        </p:nvSpPr>
        <p:spPr>
          <a:xfrm>
            <a:off x="4892040" y="1719072"/>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d80_cellt35"/>
          <p:cNvSpPr txBox="1"/>
          <p:nvPr/>
        </p:nvSpPr>
        <p:spPr>
          <a:xfrm>
            <a:off x="4892040" y="1719072"/>
            <a:ext cx="566928" cy="384048"/>
          </a:xfrm>
          <a:prstGeom prst="rect">
            <a:avLst/>
          </a:prstGeom>
          <a:noFill/>
        </p:spPr>
        <p:txBody>
          <a:bodyPr wrap="square" lIns="0" tIns="0" rIns="0" bIns="0" anchor="ctr">
            <a:spAutoFit/>
          </a:bodyPr>
          <a:lstStyle/>
          <a:p>
            <a:pPr algn="ctr"/>
            <a:r>
              <a:rPr sz="950" b="1">
                <a:solidFill>
                  <a:srgbClr val="0E7490"/>
                </a:solidFill>
                <a:latin typeface="Consolas"/>
              </a:rPr>
              <a:t>0</a:t>
            </a:r>
          </a:p>
        </p:txBody>
      </p:sp>
      <p:sp>
        <p:nvSpPr>
          <p:cNvPr id="37" name="a2ud80_cell36"/>
          <p:cNvSpPr/>
          <p:nvPr/>
        </p:nvSpPr>
        <p:spPr>
          <a:xfrm>
            <a:off x="5458968" y="1719072"/>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ud80_cellt37"/>
          <p:cNvSpPr txBox="1"/>
          <p:nvPr/>
        </p:nvSpPr>
        <p:spPr>
          <a:xfrm>
            <a:off x="5458968" y="1719072"/>
            <a:ext cx="566928" cy="384048"/>
          </a:xfrm>
          <a:prstGeom prst="rect">
            <a:avLst/>
          </a:prstGeom>
          <a:noFill/>
        </p:spPr>
        <p:txBody>
          <a:bodyPr wrap="square" lIns="0" tIns="0" rIns="0" bIns="0" anchor="ctr">
            <a:spAutoFit/>
          </a:bodyPr>
          <a:lstStyle/>
          <a:p>
            <a:pPr algn="ctr"/>
            <a:r>
              <a:rPr sz="950" b="1">
                <a:solidFill>
                  <a:srgbClr val="0E7490"/>
                </a:solidFill>
                <a:latin typeface="Consolas"/>
              </a:rPr>
              <a:t>1</a:t>
            </a:r>
          </a:p>
        </p:txBody>
      </p:sp>
      <p:sp>
        <p:nvSpPr>
          <p:cNvPr id="39" name="a2ud80_cell38"/>
          <p:cNvSpPr/>
          <p:nvPr/>
        </p:nvSpPr>
        <p:spPr>
          <a:xfrm>
            <a:off x="6025896" y="1719072"/>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d80_cellt39"/>
          <p:cNvSpPr txBox="1"/>
          <p:nvPr/>
        </p:nvSpPr>
        <p:spPr>
          <a:xfrm>
            <a:off x="6025896" y="1719072"/>
            <a:ext cx="566928" cy="384048"/>
          </a:xfrm>
          <a:prstGeom prst="rect">
            <a:avLst/>
          </a:prstGeom>
          <a:noFill/>
        </p:spPr>
        <p:txBody>
          <a:bodyPr wrap="square" lIns="0" tIns="0" rIns="0" bIns="0" anchor="ctr">
            <a:spAutoFit/>
          </a:bodyPr>
          <a:lstStyle/>
          <a:p>
            <a:pPr algn="ctr"/>
            <a:r>
              <a:rPr sz="950" b="1">
                <a:solidFill>
                  <a:srgbClr val="0E7490"/>
                </a:solidFill>
                <a:latin typeface="Consolas"/>
              </a:rPr>
              <a:t>2</a:t>
            </a:r>
          </a:p>
        </p:txBody>
      </p:sp>
      <p:sp>
        <p:nvSpPr>
          <p:cNvPr id="41" name="a2ud80_cell40"/>
          <p:cNvSpPr/>
          <p:nvPr/>
        </p:nvSpPr>
        <p:spPr>
          <a:xfrm>
            <a:off x="6592823" y="1719072"/>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ud80_cellt41"/>
          <p:cNvSpPr txBox="1"/>
          <p:nvPr/>
        </p:nvSpPr>
        <p:spPr>
          <a:xfrm>
            <a:off x="6592823" y="1719072"/>
            <a:ext cx="566928" cy="384048"/>
          </a:xfrm>
          <a:prstGeom prst="rect">
            <a:avLst/>
          </a:prstGeom>
          <a:noFill/>
        </p:spPr>
        <p:txBody>
          <a:bodyPr wrap="square" lIns="0" tIns="0" rIns="0" bIns="0" anchor="ctr">
            <a:spAutoFit/>
          </a:bodyPr>
          <a:lstStyle/>
          <a:p>
            <a:pPr algn="ctr"/>
            <a:r>
              <a:rPr sz="950" b="1">
                <a:solidFill>
                  <a:srgbClr val="0E7490"/>
                </a:solidFill>
                <a:latin typeface="Consolas"/>
              </a:rPr>
              <a:t>3</a:t>
            </a:r>
          </a:p>
        </p:txBody>
      </p:sp>
      <p:sp>
        <p:nvSpPr>
          <p:cNvPr id="43" name="a2ud80_cell42"/>
          <p:cNvSpPr/>
          <p:nvPr/>
        </p:nvSpPr>
        <p:spPr>
          <a:xfrm>
            <a:off x="7159752" y="1719072"/>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ud80_cellt43"/>
          <p:cNvSpPr txBox="1"/>
          <p:nvPr/>
        </p:nvSpPr>
        <p:spPr>
          <a:xfrm>
            <a:off x="7159752" y="1719072"/>
            <a:ext cx="566928" cy="384048"/>
          </a:xfrm>
          <a:prstGeom prst="rect">
            <a:avLst/>
          </a:prstGeom>
          <a:noFill/>
        </p:spPr>
        <p:txBody>
          <a:bodyPr wrap="square" lIns="0" tIns="0" rIns="0" bIns="0" anchor="ctr">
            <a:spAutoFit/>
          </a:bodyPr>
          <a:lstStyle/>
          <a:p>
            <a:pPr algn="ctr"/>
            <a:r>
              <a:rPr sz="950" b="1">
                <a:solidFill>
                  <a:srgbClr val="0E7490"/>
                </a:solidFill>
                <a:latin typeface="Consolas"/>
              </a:rPr>
              <a:t>4</a:t>
            </a:r>
          </a:p>
        </p:txBody>
      </p:sp>
      <p:sp>
        <p:nvSpPr>
          <p:cNvPr id="45" name="a2ud80_cell44"/>
          <p:cNvSpPr/>
          <p:nvPr/>
        </p:nvSpPr>
        <p:spPr>
          <a:xfrm>
            <a:off x="7726679" y="1719072"/>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ud80_cellt45"/>
          <p:cNvSpPr txBox="1"/>
          <p:nvPr/>
        </p:nvSpPr>
        <p:spPr>
          <a:xfrm>
            <a:off x="7726679" y="1719072"/>
            <a:ext cx="566928" cy="384048"/>
          </a:xfrm>
          <a:prstGeom prst="rect">
            <a:avLst/>
          </a:prstGeom>
          <a:noFill/>
        </p:spPr>
        <p:txBody>
          <a:bodyPr wrap="square" lIns="0" tIns="0" rIns="0" bIns="0" anchor="ctr">
            <a:spAutoFit/>
          </a:bodyPr>
          <a:lstStyle/>
          <a:p>
            <a:pPr algn="ctr"/>
            <a:r>
              <a:rPr sz="950" b="1">
                <a:solidFill>
                  <a:srgbClr val="0E7490"/>
                </a:solidFill>
                <a:latin typeface="Consolas"/>
              </a:rPr>
              <a:t>5</a:t>
            </a:r>
          </a:p>
        </p:txBody>
      </p:sp>
      <p:sp>
        <p:nvSpPr>
          <p:cNvPr id="47" name="a2ud160_nd46"/>
          <p:cNvSpPr/>
          <p:nvPr/>
        </p:nvSpPr>
        <p:spPr>
          <a:xfrm>
            <a:off x="5175503" y="2331720"/>
            <a:ext cx="1133856" cy="365760"/>
          </a:xfrm>
          <a:prstGeom prst="roundRect">
            <a:avLst>
              <a:gd name="adj" fmla="val 2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ud160_ndt47"/>
          <p:cNvSpPr txBox="1"/>
          <p:nvPr/>
        </p:nvSpPr>
        <p:spPr>
          <a:xfrm>
            <a:off x="5221223" y="2331720"/>
            <a:ext cx="1042415" cy="365760"/>
          </a:xfrm>
          <a:prstGeom prst="rect">
            <a:avLst/>
          </a:prstGeom>
          <a:noFill/>
        </p:spPr>
        <p:txBody>
          <a:bodyPr wrap="square" lIns="0" tIns="0" rIns="0" bIns="0" anchor="ctr">
            <a:spAutoFit/>
          </a:bodyPr>
          <a:lstStyle/>
          <a:p>
            <a:pPr algn="ctr"/>
            <a:r>
              <a:rPr sz="850" b="1">
                <a:solidFill>
                  <a:srgbClr val="1C1917"/>
                </a:solidFill>
                <a:latin typeface="Segoe UI"/>
              </a:rPr>
              <a:t>reader A</a:t>
            </a:r>
          </a:p>
        </p:txBody>
      </p:sp>
      <p:cxnSp>
        <p:nvCxnSpPr>
          <p:cNvPr id="49" name="a2ud160_ar48"/>
          <p:cNvCxnSpPr/>
          <p:nvPr/>
        </p:nvCxnSpPr>
        <p:spPr>
          <a:xfrm flipV="1">
            <a:off x="5742431" y="2130552"/>
            <a:ext cx="0" cy="18288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a2ud240_nd49"/>
          <p:cNvSpPr/>
          <p:nvPr/>
        </p:nvSpPr>
        <p:spPr>
          <a:xfrm>
            <a:off x="6876288" y="2331720"/>
            <a:ext cx="1133856" cy="365760"/>
          </a:xfrm>
          <a:prstGeom prst="roundRect">
            <a:avLst>
              <a:gd name="adj" fmla="val 20000"/>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2ud240_ndt50"/>
          <p:cNvSpPr txBox="1"/>
          <p:nvPr/>
        </p:nvSpPr>
        <p:spPr>
          <a:xfrm>
            <a:off x="6922008" y="2331720"/>
            <a:ext cx="1042415" cy="365760"/>
          </a:xfrm>
          <a:prstGeom prst="rect">
            <a:avLst/>
          </a:prstGeom>
          <a:noFill/>
        </p:spPr>
        <p:txBody>
          <a:bodyPr wrap="square" lIns="0" tIns="0" rIns="0" bIns="0" anchor="ctr">
            <a:spAutoFit/>
          </a:bodyPr>
          <a:lstStyle/>
          <a:p>
            <a:pPr algn="ctr"/>
            <a:r>
              <a:rPr sz="850" b="1">
                <a:solidFill>
                  <a:srgbClr val="1C1917"/>
                </a:solidFill>
                <a:latin typeface="Segoe UI"/>
              </a:rPr>
              <a:t>reader B</a:t>
            </a:r>
          </a:p>
        </p:txBody>
      </p:sp>
      <p:cxnSp>
        <p:nvCxnSpPr>
          <p:cNvPr id="52" name="a2ud240_ar51"/>
          <p:cNvCxnSpPr/>
          <p:nvPr/>
        </p:nvCxnSpPr>
        <p:spPr>
          <a:xfrm flipV="1">
            <a:off x="7443216" y="2130552"/>
            <a:ext cx="0" cy="182880"/>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a2ud300_dot52"/>
          <p:cNvSpPr/>
          <p:nvPr/>
        </p:nvSpPr>
        <p:spPr>
          <a:xfrm>
            <a:off x="4864608" y="293065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ud300_b53"/>
          <p:cNvSpPr txBox="1"/>
          <p:nvPr/>
        </p:nvSpPr>
        <p:spPr>
          <a:xfrm>
            <a:off x="5084064" y="2834640"/>
            <a:ext cx="3438144" cy="292608"/>
          </a:xfrm>
          <a:prstGeom prst="rect">
            <a:avLst/>
          </a:prstGeom>
          <a:noFill/>
        </p:spPr>
        <p:txBody>
          <a:bodyPr wrap="square" lIns="0" tIns="0" rIns="0" bIns="0" anchor="t">
            <a:spAutoFit/>
          </a:bodyPr>
          <a:lstStyle/>
          <a:p>
            <a:pPr algn="l"/>
            <a:r>
              <a:rPr sz="950" b="0">
                <a:solidFill>
                  <a:srgbClr val="44403C"/>
                </a:solidFill>
                <a:latin typeface="Segoe UI"/>
              </a:rPr>
              <a:t>Reading leaves the message where it is</a:t>
            </a:r>
          </a:p>
        </p:txBody>
      </p:sp>
      <p:sp>
        <p:nvSpPr>
          <p:cNvPr id="55" name="a2ud390_dot54"/>
          <p:cNvSpPr/>
          <p:nvPr/>
        </p:nvSpPr>
        <p:spPr>
          <a:xfrm>
            <a:off x="4864608" y="325983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2ud390_b55"/>
          <p:cNvSpPr txBox="1"/>
          <p:nvPr/>
        </p:nvSpPr>
        <p:spPr>
          <a:xfrm>
            <a:off x="5084064" y="3163824"/>
            <a:ext cx="3438144" cy="292608"/>
          </a:xfrm>
          <a:prstGeom prst="rect">
            <a:avLst/>
          </a:prstGeom>
          <a:noFill/>
        </p:spPr>
        <p:txBody>
          <a:bodyPr wrap="square" lIns="0" tIns="0" rIns="0" bIns="0" anchor="t">
            <a:spAutoFit/>
          </a:bodyPr>
          <a:lstStyle/>
          <a:p>
            <a:pPr algn="l"/>
            <a:r>
              <a:rPr sz="950" b="0">
                <a:solidFill>
                  <a:srgbClr val="44403C"/>
                </a:solidFill>
                <a:latin typeface="Segoe UI"/>
              </a:rPr>
              <a:t>Read it again - and others can read it too</a:t>
            </a:r>
          </a:p>
        </p:txBody>
      </p:sp>
      <p:sp>
        <p:nvSpPr>
          <p:cNvPr id="57" name="a2ud480_dot56"/>
          <p:cNvSpPr/>
          <p:nvPr/>
        </p:nvSpPr>
        <p:spPr>
          <a:xfrm>
            <a:off x="4864608" y="358902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2ud480_b57"/>
          <p:cNvSpPr txBox="1"/>
          <p:nvPr/>
        </p:nvSpPr>
        <p:spPr>
          <a:xfrm>
            <a:off x="5084064" y="3493008"/>
            <a:ext cx="3438144" cy="292608"/>
          </a:xfrm>
          <a:prstGeom prst="rect">
            <a:avLst/>
          </a:prstGeom>
          <a:noFill/>
        </p:spPr>
        <p:txBody>
          <a:bodyPr wrap="square" lIns="0" tIns="0" rIns="0" bIns="0" anchor="t">
            <a:spAutoFit/>
          </a:bodyPr>
          <a:lstStyle/>
          <a:p>
            <a:pPr algn="l"/>
            <a:r>
              <a:rPr sz="950" b="0">
                <a:solidFill>
                  <a:srgbClr val="44403C"/>
                </a:solidFill>
                <a:latin typeface="Segoe UI"/>
              </a:rPr>
              <a:t>An ordered sequence of immutable records</a:t>
            </a:r>
          </a:p>
        </p:txBody>
      </p:sp>
      <p:sp>
        <p:nvSpPr>
          <p:cNvPr id="59" name="a3u_nb58"/>
          <p:cNvSpPr/>
          <p:nvPr/>
        </p:nvSpPr>
        <p:spPr>
          <a:xfrm>
            <a:off x="457200" y="4041648"/>
            <a:ext cx="8229600" cy="548640"/>
          </a:xfrm>
          <a:prstGeom prst="roundRect">
            <a:avLst>
              <a:gd name="adj" fmla="val 13333"/>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3u_nacc59"/>
          <p:cNvSpPr/>
          <p:nvPr/>
        </p:nvSpPr>
        <p:spPr>
          <a:xfrm>
            <a:off x="457200" y="4041648"/>
            <a:ext cx="54864" cy="5486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3u_nt60"/>
          <p:cNvSpPr txBox="1"/>
          <p:nvPr/>
        </p:nvSpPr>
        <p:spPr>
          <a:xfrm>
            <a:off x="658368" y="4041648"/>
            <a:ext cx="7827264" cy="548640"/>
          </a:xfrm>
          <a:prstGeom prst="rect">
            <a:avLst/>
          </a:prstGeom>
          <a:noFill/>
        </p:spPr>
        <p:txBody>
          <a:bodyPr wrap="square" lIns="0" tIns="0" rIns="0" bIns="0" anchor="ctr">
            <a:spAutoFit/>
          </a:bodyPr>
          <a:lstStyle/>
          <a:p>
            <a:pPr algn="l"/>
            <a:r>
              <a:rPr sz="950" b="1">
                <a:solidFill>
                  <a:srgbClr val="9F1239"/>
                </a:solidFill>
                <a:latin typeface="Segoe UI"/>
              </a:rPr>
              <a:t>!  </a:t>
            </a:r>
            <a:r>
              <a:rPr sz="950" b="0">
                <a:solidFill>
                  <a:srgbClr val="44403C"/>
                </a:solidFill>
                <a:latin typeface="Segoe UI"/>
              </a:rPr>
              <a:t>Please avoid the phrase 'Kafka queue'. A topic is a log - and later modules show how much depends on that.</a:t>
            </a:r>
          </a:p>
        </p:txBody>
      </p:sp>
      <p:sp>
        <p:nvSpPr>
          <p:cNvPr id="62" name="ft6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63" name="ft6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ft6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65" name="ft6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8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8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16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16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16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16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25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25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34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34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43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43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8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8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8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8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8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8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8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8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8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8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8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par>
                                <p:cTn id="186" presetID="2" presetClass="entr" presetSubtype="4" fill="hold" grpId="0" nodeType="withEffect">
                                  <p:stCondLst>
                                    <p:cond delay="8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ppt_y+0.1"/>
                                          </p:val>
                                        </p:tav>
                                        <p:tav tm="100000">
                                          <p:val>
                                            <p:strVal val="#ppt_y"/>
                                          </p:val>
                                        </p:tav>
                                      </p:tavLst>
                                    </p:anim>
                                    <p:animEffect transition="in" filter="fade">
                                      <p:cBhvr>
                                        <p:cTn id="185" dur="500"/>
                                        <p:tgtEl>
                                          <p:spTgt spid="46"/>
                                        </p:tgtEl>
                                      </p:cBhvr>
                                    </p:animEffect>
                                  </p:childTnLst>
                                </p:cTn>
                              </p:par>
                              <p:par>
                                <p:cTn id="191" presetID="2" presetClass="entr" presetSubtype="4" fill="hold" grpId="0" nodeType="withEffect">
                                  <p:stCondLst>
                                    <p:cond delay="16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par>
                                <p:cTn id="196" presetID="2" presetClass="entr" presetSubtype="4" fill="hold" grpId="0" nodeType="withEffect">
                                  <p:stCondLst>
                                    <p:cond delay="16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ppt_x"/>
                                          </p:val>
                                        </p:tav>
                                        <p:tav tm="100000">
                                          <p:val>
                                            <p:strVal val="#ppt_x"/>
                                          </p:val>
                                        </p:tav>
                                      </p:tavLst>
                                    </p:anim>
                                    <p:anim calcmode="lin" valueType="num">
                                      <p:cBhvr additive="base">
                                        <p:cTn id="194" dur="500" fill="hold"/>
                                        <p:tgtEl>
                                          <p:spTgt spid="48"/>
                                        </p:tgtEl>
                                        <p:attrNameLst>
                                          <p:attrName>ppt_y</p:attrName>
                                        </p:attrNameLst>
                                      </p:cBhvr>
                                      <p:tavLst>
                                        <p:tav tm="0">
                                          <p:val>
                                            <p:strVal val="#ppt_y+0.1"/>
                                          </p:val>
                                        </p:tav>
                                        <p:tav tm="100000">
                                          <p:val>
                                            <p:strVal val="#ppt_y"/>
                                          </p:val>
                                        </p:tav>
                                      </p:tavLst>
                                    </p:anim>
                                    <p:animEffect transition="in" filter="fade">
                                      <p:cBhvr>
                                        <p:cTn id="195" dur="500"/>
                                        <p:tgtEl>
                                          <p:spTgt spid="48"/>
                                        </p:tgtEl>
                                      </p:cBhvr>
                                    </p:animEffect>
                                  </p:childTnLst>
                                </p:cTn>
                              </p:par>
                              <p:par>
                                <p:cTn id="201" presetID="2" presetClass="entr" presetSubtype="4" fill="hold" grpId="0" nodeType="withEffect">
                                  <p:stCondLst>
                                    <p:cond delay="160"/>
                                  </p:stCondLst>
                                  <p:childTnLst>
                                    <p:set>
                                      <p:cBhvr>
                                        <p:cTn id="197" dur="1" fill="hold">
                                          <p:stCondLst>
                                            <p:cond delay="0"/>
                                          </p:stCondLst>
                                        </p:cTn>
                                        <p:tgtEl>
                                          <p:spTgt spid="49"/>
                                        </p:tgtEl>
                                        <p:attrNameLst>
                                          <p:attrName>style.visibility</p:attrName>
                                        </p:attrNameLst>
                                      </p:cBhvr>
                                      <p:to>
                                        <p:strVal val="visible"/>
                                      </p:to>
                                    </p:set>
                                    <p:anim calcmode="lin" valueType="num">
                                      <p:cBhvr additive="base">
                                        <p:cTn id="198" dur="500" fill="hold"/>
                                        <p:tgtEl>
                                          <p:spTgt spid="49"/>
                                        </p:tgtEl>
                                        <p:attrNameLst>
                                          <p:attrName>ppt_x</p:attrName>
                                        </p:attrNameLst>
                                      </p:cBhvr>
                                      <p:tavLst>
                                        <p:tav tm="0">
                                          <p:val>
                                            <p:strVal val="#ppt_x"/>
                                          </p:val>
                                        </p:tav>
                                        <p:tav tm="100000">
                                          <p:val>
                                            <p:strVal val="#ppt_x"/>
                                          </p:val>
                                        </p:tav>
                                      </p:tavLst>
                                    </p:anim>
                                    <p:anim calcmode="lin" valueType="num">
                                      <p:cBhvr additive="base">
                                        <p:cTn id="199" dur="500" fill="hold"/>
                                        <p:tgtEl>
                                          <p:spTgt spid="49"/>
                                        </p:tgtEl>
                                        <p:attrNameLst>
                                          <p:attrName>ppt_y</p:attrName>
                                        </p:attrNameLst>
                                      </p:cBhvr>
                                      <p:tavLst>
                                        <p:tav tm="0">
                                          <p:val>
                                            <p:strVal val="#ppt_y+0.1"/>
                                          </p:val>
                                        </p:tav>
                                        <p:tav tm="100000">
                                          <p:val>
                                            <p:strVal val="#ppt_y"/>
                                          </p:val>
                                        </p:tav>
                                      </p:tavLst>
                                    </p:anim>
                                    <p:animEffect transition="in" filter="fade">
                                      <p:cBhvr>
                                        <p:cTn id="200" dur="500"/>
                                        <p:tgtEl>
                                          <p:spTgt spid="49"/>
                                        </p:tgtEl>
                                      </p:cBhvr>
                                    </p:animEffect>
                                  </p:childTnLst>
                                </p:cTn>
                              </p:par>
                              <p:par>
                                <p:cTn id="206" presetID="2" presetClass="entr" presetSubtype="4" fill="hold" grpId="0" nodeType="withEffect">
                                  <p:stCondLst>
                                    <p:cond delay="24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ppt_y+0.1"/>
                                          </p:val>
                                        </p:tav>
                                        <p:tav tm="100000">
                                          <p:val>
                                            <p:strVal val="#ppt_y"/>
                                          </p:val>
                                        </p:tav>
                                      </p:tavLst>
                                    </p:anim>
                                    <p:animEffect transition="in" filter="fade">
                                      <p:cBhvr>
                                        <p:cTn id="205" dur="500"/>
                                        <p:tgtEl>
                                          <p:spTgt spid="50"/>
                                        </p:tgtEl>
                                      </p:cBhvr>
                                    </p:animEffect>
                                  </p:childTnLst>
                                </p:cTn>
                              </p:par>
                              <p:par>
                                <p:cTn id="211" presetID="2" presetClass="entr" presetSubtype="4" fill="hold" grpId="0" nodeType="withEffect">
                                  <p:stCondLst>
                                    <p:cond delay="240"/>
                                  </p:stCondLst>
                                  <p:childTnLst>
                                    <p:set>
                                      <p:cBhvr>
                                        <p:cTn id="207" dur="1" fill="hold">
                                          <p:stCondLst>
                                            <p:cond delay="0"/>
                                          </p:stCondLst>
                                        </p:cTn>
                                        <p:tgtEl>
                                          <p:spTgt spid="51"/>
                                        </p:tgtEl>
                                        <p:attrNameLst>
                                          <p:attrName>style.visibility</p:attrName>
                                        </p:attrNameLst>
                                      </p:cBhvr>
                                      <p:to>
                                        <p:strVal val="visible"/>
                                      </p:to>
                                    </p:set>
                                    <p:anim calcmode="lin" valueType="num">
                                      <p:cBhvr additive="base">
                                        <p:cTn id="208" dur="500" fill="hold"/>
                                        <p:tgtEl>
                                          <p:spTgt spid="51"/>
                                        </p:tgtEl>
                                        <p:attrNameLst>
                                          <p:attrName>ppt_x</p:attrName>
                                        </p:attrNameLst>
                                      </p:cBhvr>
                                      <p:tavLst>
                                        <p:tav tm="0">
                                          <p:val>
                                            <p:strVal val="#ppt_x"/>
                                          </p:val>
                                        </p:tav>
                                        <p:tav tm="100000">
                                          <p:val>
                                            <p:strVal val="#ppt_x"/>
                                          </p:val>
                                        </p:tav>
                                      </p:tavLst>
                                    </p:anim>
                                    <p:anim calcmode="lin" valueType="num">
                                      <p:cBhvr additive="base">
                                        <p:cTn id="209" dur="500" fill="hold"/>
                                        <p:tgtEl>
                                          <p:spTgt spid="51"/>
                                        </p:tgtEl>
                                        <p:attrNameLst>
                                          <p:attrName>ppt_y</p:attrName>
                                        </p:attrNameLst>
                                      </p:cBhvr>
                                      <p:tavLst>
                                        <p:tav tm="0">
                                          <p:val>
                                            <p:strVal val="#ppt_y+0.1"/>
                                          </p:val>
                                        </p:tav>
                                        <p:tav tm="100000">
                                          <p:val>
                                            <p:strVal val="#ppt_y"/>
                                          </p:val>
                                        </p:tav>
                                      </p:tavLst>
                                    </p:anim>
                                    <p:animEffect transition="in" filter="fade">
                                      <p:cBhvr>
                                        <p:cTn id="210" dur="500"/>
                                        <p:tgtEl>
                                          <p:spTgt spid="51"/>
                                        </p:tgtEl>
                                      </p:cBhvr>
                                    </p:animEffect>
                                  </p:childTnLst>
                                </p:cTn>
                              </p:par>
                              <p:par>
                                <p:cTn id="216" presetID="2" presetClass="entr" presetSubtype="4" fill="hold" grpId="0" nodeType="withEffect">
                                  <p:stCondLst>
                                    <p:cond delay="24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00" fill="hold"/>
                                        <p:tgtEl>
                                          <p:spTgt spid="52"/>
                                        </p:tgtEl>
                                        <p:attrNameLst>
                                          <p:attrName>ppt_x</p:attrName>
                                        </p:attrNameLst>
                                      </p:cBhvr>
                                      <p:tavLst>
                                        <p:tav tm="0">
                                          <p:val>
                                            <p:strVal val="#ppt_x"/>
                                          </p:val>
                                        </p:tav>
                                        <p:tav tm="100000">
                                          <p:val>
                                            <p:strVal val="#ppt_x"/>
                                          </p:val>
                                        </p:tav>
                                      </p:tavLst>
                                    </p:anim>
                                    <p:anim calcmode="lin" valueType="num">
                                      <p:cBhvr additive="base">
                                        <p:cTn id="214" dur="500" fill="hold"/>
                                        <p:tgtEl>
                                          <p:spTgt spid="52"/>
                                        </p:tgtEl>
                                        <p:attrNameLst>
                                          <p:attrName>ppt_y</p:attrName>
                                        </p:attrNameLst>
                                      </p:cBhvr>
                                      <p:tavLst>
                                        <p:tav tm="0">
                                          <p:val>
                                            <p:strVal val="#ppt_y+0.1"/>
                                          </p:val>
                                        </p:tav>
                                        <p:tav tm="100000">
                                          <p:val>
                                            <p:strVal val="#ppt_y"/>
                                          </p:val>
                                        </p:tav>
                                      </p:tavLst>
                                    </p:anim>
                                    <p:animEffect transition="in" filter="fade">
                                      <p:cBhvr>
                                        <p:cTn id="215" dur="500"/>
                                        <p:tgtEl>
                                          <p:spTgt spid="52"/>
                                        </p:tgtEl>
                                      </p:cBhvr>
                                    </p:animEffect>
                                  </p:childTnLst>
                                </p:cTn>
                              </p:par>
                              <p:par>
                                <p:cTn id="221" presetID="2" presetClass="entr" presetSubtype="4" fill="hold" grpId="0" nodeType="withEffect">
                                  <p:stCondLst>
                                    <p:cond delay="30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6" presetID="2" presetClass="entr" presetSubtype="4" fill="hold" grpId="0" nodeType="withEffect">
                                  <p:stCondLst>
                                    <p:cond delay="30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par>
                                <p:cTn id="231" presetID="2" presetClass="entr" presetSubtype="4" fill="hold" grpId="0" nodeType="withEffect">
                                  <p:stCondLst>
                                    <p:cond delay="390"/>
                                  </p:stCondLst>
                                  <p:childTnLst>
                                    <p:set>
                                      <p:cBhvr>
                                        <p:cTn id="227" dur="1" fill="hold">
                                          <p:stCondLst>
                                            <p:cond delay="0"/>
                                          </p:stCondLst>
                                        </p:cTn>
                                        <p:tgtEl>
                                          <p:spTgt spid="55"/>
                                        </p:tgtEl>
                                        <p:attrNameLst>
                                          <p:attrName>style.visibility</p:attrName>
                                        </p:attrNameLst>
                                      </p:cBhvr>
                                      <p:to>
                                        <p:strVal val="visible"/>
                                      </p:to>
                                    </p:set>
                                    <p:anim calcmode="lin" valueType="num">
                                      <p:cBhvr additive="base">
                                        <p:cTn id="228" dur="500" fill="hold"/>
                                        <p:tgtEl>
                                          <p:spTgt spid="55"/>
                                        </p:tgtEl>
                                        <p:attrNameLst>
                                          <p:attrName>ppt_x</p:attrName>
                                        </p:attrNameLst>
                                      </p:cBhvr>
                                      <p:tavLst>
                                        <p:tav tm="0">
                                          <p:val>
                                            <p:strVal val="#ppt_x"/>
                                          </p:val>
                                        </p:tav>
                                        <p:tav tm="100000">
                                          <p:val>
                                            <p:strVal val="#ppt_x"/>
                                          </p:val>
                                        </p:tav>
                                      </p:tavLst>
                                    </p:anim>
                                    <p:anim calcmode="lin" valueType="num">
                                      <p:cBhvr additive="base">
                                        <p:cTn id="229" dur="500" fill="hold"/>
                                        <p:tgtEl>
                                          <p:spTgt spid="55"/>
                                        </p:tgtEl>
                                        <p:attrNameLst>
                                          <p:attrName>ppt_y</p:attrName>
                                        </p:attrNameLst>
                                      </p:cBhvr>
                                      <p:tavLst>
                                        <p:tav tm="0">
                                          <p:val>
                                            <p:strVal val="#ppt_y+0.1"/>
                                          </p:val>
                                        </p:tav>
                                        <p:tav tm="100000">
                                          <p:val>
                                            <p:strVal val="#ppt_y"/>
                                          </p:val>
                                        </p:tav>
                                      </p:tavLst>
                                    </p:anim>
                                    <p:animEffect transition="in" filter="fade">
                                      <p:cBhvr>
                                        <p:cTn id="230" dur="500"/>
                                        <p:tgtEl>
                                          <p:spTgt spid="55"/>
                                        </p:tgtEl>
                                      </p:cBhvr>
                                    </p:animEffect>
                                  </p:childTnLst>
                                </p:cTn>
                              </p:par>
                              <p:par>
                                <p:cTn id="236" presetID="2" presetClass="entr" presetSubtype="4" fill="hold" grpId="0" nodeType="withEffect">
                                  <p:stCondLst>
                                    <p:cond delay="390"/>
                                  </p:stCondLst>
                                  <p:childTnLst>
                                    <p:set>
                                      <p:cBhvr>
                                        <p:cTn id="232" dur="1" fill="hold">
                                          <p:stCondLst>
                                            <p:cond delay="0"/>
                                          </p:stCondLst>
                                        </p:cTn>
                                        <p:tgtEl>
                                          <p:spTgt spid="56"/>
                                        </p:tgtEl>
                                        <p:attrNameLst>
                                          <p:attrName>style.visibility</p:attrName>
                                        </p:attrNameLst>
                                      </p:cBhvr>
                                      <p:to>
                                        <p:strVal val="visible"/>
                                      </p:to>
                                    </p:set>
                                    <p:anim calcmode="lin" valueType="num">
                                      <p:cBhvr additive="base">
                                        <p:cTn id="233" dur="500" fill="hold"/>
                                        <p:tgtEl>
                                          <p:spTgt spid="56"/>
                                        </p:tgtEl>
                                        <p:attrNameLst>
                                          <p:attrName>ppt_x</p:attrName>
                                        </p:attrNameLst>
                                      </p:cBhvr>
                                      <p:tavLst>
                                        <p:tav tm="0">
                                          <p:val>
                                            <p:strVal val="#ppt_x"/>
                                          </p:val>
                                        </p:tav>
                                        <p:tav tm="100000">
                                          <p:val>
                                            <p:strVal val="#ppt_x"/>
                                          </p:val>
                                        </p:tav>
                                      </p:tavLst>
                                    </p:anim>
                                    <p:anim calcmode="lin" valueType="num">
                                      <p:cBhvr additive="base">
                                        <p:cTn id="234" dur="500" fill="hold"/>
                                        <p:tgtEl>
                                          <p:spTgt spid="56"/>
                                        </p:tgtEl>
                                        <p:attrNameLst>
                                          <p:attrName>ppt_y</p:attrName>
                                        </p:attrNameLst>
                                      </p:cBhvr>
                                      <p:tavLst>
                                        <p:tav tm="0">
                                          <p:val>
                                            <p:strVal val="#ppt_y+0.1"/>
                                          </p:val>
                                        </p:tav>
                                        <p:tav tm="100000">
                                          <p:val>
                                            <p:strVal val="#ppt_y"/>
                                          </p:val>
                                        </p:tav>
                                      </p:tavLst>
                                    </p:anim>
                                    <p:animEffect transition="in" filter="fade">
                                      <p:cBhvr>
                                        <p:cTn id="235" dur="500"/>
                                        <p:tgtEl>
                                          <p:spTgt spid="56"/>
                                        </p:tgtEl>
                                      </p:cBhvr>
                                    </p:animEffect>
                                  </p:childTnLst>
                                </p:cTn>
                              </p:par>
                              <p:par>
                                <p:cTn id="241" presetID="2" presetClass="entr" presetSubtype="4" fill="hold" grpId="0" nodeType="withEffect">
                                  <p:stCondLst>
                                    <p:cond delay="480"/>
                                  </p:stCondLst>
                                  <p:childTnLst>
                                    <p:set>
                                      <p:cBhvr>
                                        <p:cTn id="237" dur="1" fill="hold">
                                          <p:stCondLst>
                                            <p:cond delay="0"/>
                                          </p:stCondLst>
                                        </p:cTn>
                                        <p:tgtEl>
                                          <p:spTgt spid="57"/>
                                        </p:tgtEl>
                                        <p:attrNameLst>
                                          <p:attrName>style.visibility</p:attrName>
                                        </p:attrNameLst>
                                      </p:cBhvr>
                                      <p:to>
                                        <p:strVal val="visible"/>
                                      </p:to>
                                    </p:set>
                                    <p:anim calcmode="lin" valueType="num">
                                      <p:cBhvr additive="base">
                                        <p:cTn id="238" dur="500" fill="hold"/>
                                        <p:tgtEl>
                                          <p:spTgt spid="57"/>
                                        </p:tgtEl>
                                        <p:attrNameLst>
                                          <p:attrName>ppt_x</p:attrName>
                                        </p:attrNameLst>
                                      </p:cBhvr>
                                      <p:tavLst>
                                        <p:tav tm="0">
                                          <p:val>
                                            <p:strVal val="#ppt_x"/>
                                          </p:val>
                                        </p:tav>
                                        <p:tav tm="100000">
                                          <p:val>
                                            <p:strVal val="#ppt_x"/>
                                          </p:val>
                                        </p:tav>
                                      </p:tavLst>
                                    </p:anim>
                                    <p:anim calcmode="lin" valueType="num">
                                      <p:cBhvr additive="base">
                                        <p:cTn id="239" dur="500" fill="hold"/>
                                        <p:tgtEl>
                                          <p:spTgt spid="57"/>
                                        </p:tgtEl>
                                        <p:attrNameLst>
                                          <p:attrName>ppt_y</p:attrName>
                                        </p:attrNameLst>
                                      </p:cBhvr>
                                      <p:tavLst>
                                        <p:tav tm="0">
                                          <p:val>
                                            <p:strVal val="#ppt_y+0.1"/>
                                          </p:val>
                                        </p:tav>
                                        <p:tav tm="100000">
                                          <p:val>
                                            <p:strVal val="#ppt_y"/>
                                          </p:val>
                                        </p:tav>
                                      </p:tavLst>
                                    </p:anim>
                                    <p:animEffect transition="in" filter="fade">
                                      <p:cBhvr>
                                        <p:cTn id="240" dur="500"/>
                                        <p:tgtEl>
                                          <p:spTgt spid="57"/>
                                        </p:tgtEl>
                                      </p:cBhvr>
                                    </p:animEffect>
                                  </p:childTnLst>
                                </p:cTn>
                              </p:par>
                              <p:par>
                                <p:cTn id="246" presetID="2" presetClass="entr" presetSubtype="4" fill="hold" grpId="0" nodeType="withEffect">
                                  <p:stCondLst>
                                    <p:cond delay="480"/>
                                  </p:stCondLst>
                                  <p:childTnLst>
                                    <p:set>
                                      <p:cBhvr>
                                        <p:cTn id="242" dur="1" fill="hold">
                                          <p:stCondLst>
                                            <p:cond delay="0"/>
                                          </p:stCondLst>
                                        </p:cTn>
                                        <p:tgtEl>
                                          <p:spTgt spid="58"/>
                                        </p:tgtEl>
                                        <p:attrNameLst>
                                          <p:attrName>style.visibility</p:attrName>
                                        </p:attrNameLst>
                                      </p:cBhvr>
                                      <p:to>
                                        <p:strVal val="visible"/>
                                      </p:to>
                                    </p:set>
                                    <p:anim calcmode="lin" valueType="num">
                                      <p:cBhvr additive="base">
                                        <p:cTn id="243" dur="500" fill="hold"/>
                                        <p:tgtEl>
                                          <p:spTgt spid="58"/>
                                        </p:tgtEl>
                                        <p:attrNameLst>
                                          <p:attrName>ppt_x</p:attrName>
                                        </p:attrNameLst>
                                      </p:cBhvr>
                                      <p:tavLst>
                                        <p:tav tm="0">
                                          <p:val>
                                            <p:strVal val="#ppt_x"/>
                                          </p:val>
                                        </p:tav>
                                        <p:tav tm="100000">
                                          <p:val>
                                            <p:strVal val="#ppt_x"/>
                                          </p:val>
                                        </p:tav>
                                      </p:tavLst>
                                    </p:anim>
                                    <p:anim calcmode="lin" valueType="num">
                                      <p:cBhvr additive="base">
                                        <p:cTn id="244" dur="500" fill="hold"/>
                                        <p:tgtEl>
                                          <p:spTgt spid="58"/>
                                        </p:tgtEl>
                                        <p:attrNameLst>
                                          <p:attrName>ppt_y</p:attrName>
                                        </p:attrNameLst>
                                      </p:cBhvr>
                                      <p:tavLst>
                                        <p:tav tm="0">
                                          <p:val>
                                            <p:strVal val="#ppt_y+0.1"/>
                                          </p:val>
                                        </p:tav>
                                        <p:tav tm="100000">
                                          <p:val>
                                            <p:strVal val="#ppt_y"/>
                                          </p:val>
                                        </p:tav>
                                      </p:tavLst>
                                    </p:anim>
                                    <p:animEffect transition="in" filter="fade">
                                      <p:cBhvr>
                                        <p:cTn id="245" dur="500"/>
                                        <p:tgtEl>
                                          <p:spTgt spid="58"/>
                                        </p:tgtEl>
                                      </p:cBhvr>
                                    </p:animEffect>
                                  </p:childTnLst>
                                </p:cTn>
                              </p:par>
                            </p:childTnLst>
                          </p:cTn>
                        </p:par>
                      </p:childTnLst>
                    </p:cTn>
                  </p:par>
                  <p:par>
                    <p:cTn id="247" fill="hold">
                      <p:stCondLst>
                        <p:cond delay="indefinite"/>
                      </p:stCondLst>
                      <p:childTnLst>
                        <p:par>
                          <p:cTn id="248" fill="hold">
                            <p:stCondLst>
                              <p:cond delay="0"/>
                            </p:stCondLst>
                            <p:childTnLst>
                              <p:par>
                                <p:cTn id="253" presetID="2" presetClass="entr" presetSubtype="4" fill="hold" grpId="0" nodeType="clickEffect">
                                  <p:stCondLst>
                                    <p:cond delay="0"/>
                                  </p:stCondLst>
                                  <p:childTnLst>
                                    <p:set>
                                      <p:cBhvr>
                                        <p:cTn id="249" dur="1" fill="hold">
                                          <p:stCondLst>
                                            <p:cond delay="0"/>
                                          </p:stCondLst>
                                        </p:cTn>
                                        <p:tgtEl>
                                          <p:spTgt spid="59"/>
                                        </p:tgtEl>
                                        <p:attrNameLst>
                                          <p:attrName>style.visibility</p:attrName>
                                        </p:attrNameLst>
                                      </p:cBhvr>
                                      <p:to>
                                        <p:strVal val="visible"/>
                                      </p:to>
                                    </p:set>
                                    <p:anim calcmode="lin" valueType="num">
                                      <p:cBhvr additive="base">
                                        <p:cTn id="250" dur="500" fill="hold"/>
                                        <p:tgtEl>
                                          <p:spTgt spid="59"/>
                                        </p:tgtEl>
                                        <p:attrNameLst>
                                          <p:attrName>ppt_x</p:attrName>
                                        </p:attrNameLst>
                                      </p:cBhvr>
                                      <p:tavLst>
                                        <p:tav tm="0">
                                          <p:val>
                                            <p:strVal val="#ppt_x"/>
                                          </p:val>
                                        </p:tav>
                                        <p:tav tm="100000">
                                          <p:val>
                                            <p:strVal val="#ppt_x"/>
                                          </p:val>
                                        </p:tav>
                                      </p:tavLst>
                                    </p:anim>
                                    <p:anim calcmode="lin" valueType="num">
                                      <p:cBhvr additive="base">
                                        <p:cTn id="251" dur="500" fill="hold"/>
                                        <p:tgtEl>
                                          <p:spTgt spid="59"/>
                                        </p:tgtEl>
                                        <p:attrNameLst>
                                          <p:attrName>ppt_y</p:attrName>
                                        </p:attrNameLst>
                                      </p:cBhvr>
                                      <p:tavLst>
                                        <p:tav tm="0">
                                          <p:val>
                                            <p:strVal val="#ppt_y+0.1"/>
                                          </p:val>
                                        </p:tav>
                                        <p:tav tm="100000">
                                          <p:val>
                                            <p:strVal val="#ppt_y"/>
                                          </p:val>
                                        </p:tav>
                                      </p:tavLst>
                                    </p:anim>
                                    <p:animEffect transition="in" filter="fade">
                                      <p:cBhvr>
                                        <p:cTn id="252" dur="500"/>
                                        <p:tgtEl>
                                          <p:spTgt spid="59"/>
                                        </p:tgtEl>
                                      </p:cBhvr>
                                    </p:animEffect>
                                  </p:childTnLst>
                                </p:cTn>
                              </p:par>
                              <p:par>
                                <p:cTn id="258" presetID="2" presetClass="entr" presetSubtype="4" fill="hold" grpId="0" nodeType="withEffect">
                                  <p:stCondLst>
                                    <p:cond delay="0"/>
                                  </p:stCondLst>
                                  <p:childTnLst>
                                    <p:set>
                                      <p:cBhvr>
                                        <p:cTn id="254" dur="1" fill="hold">
                                          <p:stCondLst>
                                            <p:cond delay="0"/>
                                          </p:stCondLst>
                                        </p:cTn>
                                        <p:tgtEl>
                                          <p:spTgt spid="60"/>
                                        </p:tgtEl>
                                        <p:attrNameLst>
                                          <p:attrName>style.visibility</p:attrName>
                                        </p:attrNameLst>
                                      </p:cBhvr>
                                      <p:to>
                                        <p:strVal val="visible"/>
                                      </p:to>
                                    </p:set>
                                    <p:anim calcmode="lin" valueType="num">
                                      <p:cBhvr additive="base">
                                        <p:cTn id="255" dur="500" fill="hold"/>
                                        <p:tgtEl>
                                          <p:spTgt spid="60"/>
                                        </p:tgtEl>
                                        <p:attrNameLst>
                                          <p:attrName>ppt_x</p:attrName>
                                        </p:attrNameLst>
                                      </p:cBhvr>
                                      <p:tavLst>
                                        <p:tav tm="0">
                                          <p:val>
                                            <p:strVal val="#ppt_x"/>
                                          </p:val>
                                        </p:tav>
                                        <p:tav tm="100000">
                                          <p:val>
                                            <p:strVal val="#ppt_x"/>
                                          </p:val>
                                        </p:tav>
                                      </p:tavLst>
                                    </p:anim>
                                    <p:anim calcmode="lin" valueType="num">
                                      <p:cBhvr additive="base">
                                        <p:cTn id="256" dur="500" fill="hold"/>
                                        <p:tgtEl>
                                          <p:spTgt spid="60"/>
                                        </p:tgtEl>
                                        <p:attrNameLst>
                                          <p:attrName>ppt_y</p:attrName>
                                        </p:attrNameLst>
                                      </p:cBhvr>
                                      <p:tavLst>
                                        <p:tav tm="0">
                                          <p:val>
                                            <p:strVal val="#ppt_y+0.1"/>
                                          </p:val>
                                        </p:tav>
                                        <p:tav tm="100000">
                                          <p:val>
                                            <p:strVal val="#ppt_y"/>
                                          </p:val>
                                        </p:tav>
                                      </p:tavLst>
                                    </p:anim>
                                    <p:animEffect transition="in" filter="fade">
                                      <p:cBhvr>
                                        <p:cTn id="257" dur="500"/>
                                        <p:tgtEl>
                                          <p:spTgt spid="60"/>
                                        </p:tgtEl>
                                      </p:cBhvr>
                                    </p:animEffect>
                                  </p:childTnLst>
                                </p:cTn>
                              </p:par>
                              <p:par>
                                <p:cTn id="263" presetID="2" presetClass="entr" presetSubtype="4" fill="hold" grpId="0" nodeType="withEffect">
                                  <p:stCondLst>
                                    <p:cond delay="0"/>
                                  </p:stCondLst>
                                  <p:childTnLst>
                                    <p:set>
                                      <p:cBhvr>
                                        <p:cTn id="259" dur="1" fill="hold">
                                          <p:stCondLst>
                                            <p:cond delay="0"/>
                                          </p:stCondLst>
                                        </p:cTn>
                                        <p:tgtEl>
                                          <p:spTgt spid="61"/>
                                        </p:tgtEl>
                                        <p:attrNameLst>
                                          <p:attrName>style.visibility</p:attrName>
                                        </p:attrNameLst>
                                      </p:cBhvr>
                                      <p:to>
                                        <p:strVal val="visible"/>
                                      </p:to>
                                    </p:set>
                                    <p:anim calcmode="lin" valueType="num">
                                      <p:cBhvr additive="base">
                                        <p:cTn id="260" dur="500" fill="hold"/>
                                        <p:tgtEl>
                                          <p:spTgt spid="61"/>
                                        </p:tgtEl>
                                        <p:attrNameLst>
                                          <p:attrName>ppt_x</p:attrName>
                                        </p:attrNameLst>
                                      </p:cBhvr>
                                      <p:tavLst>
                                        <p:tav tm="0">
                                          <p:val>
                                            <p:strVal val="#ppt_x"/>
                                          </p:val>
                                        </p:tav>
                                        <p:tav tm="100000">
                                          <p:val>
                                            <p:strVal val="#ppt_x"/>
                                          </p:val>
                                        </p:tav>
                                      </p:tavLst>
                                    </p:anim>
                                    <p:anim calcmode="lin" valueType="num">
                                      <p:cBhvr additive="base">
                                        <p:cTn id="261" dur="500" fill="hold"/>
                                        <p:tgtEl>
                                          <p:spTgt spid="61"/>
                                        </p:tgtEl>
                                        <p:attrNameLst>
                                          <p:attrName>ppt_y</p:attrName>
                                        </p:attrNameLst>
                                      </p:cBhvr>
                                      <p:tavLst>
                                        <p:tav tm="0">
                                          <p:val>
                                            <p:strVal val="#ppt_y+0.1"/>
                                          </p:val>
                                        </p:tav>
                                        <p:tav tm="100000">
                                          <p:val>
                                            <p:strVal val="#ppt_y"/>
                                          </p:val>
                                        </p:tav>
                                      </p:tavLst>
                                    </p:anim>
                                    <p:animEffect transition="in" filter="fade">
                                      <p:cBhvr>
                                        <p:cTn id="26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Inside a Message: The Value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one part every message must have</a:t>
            </a:r>
          </a:p>
        </p:txBody>
      </p:sp>
      <p:sp>
        <p:nvSpPr>
          <p:cNvPr id="11" name="a0f_card10"/>
          <p:cNvSpPr/>
          <p:nvPr/>
        </p:nvSpPr>
        <p:spPr>
          <a:xfrm>
            <a:off x="457200" y="1261872"/>
            <a:ext cx="4297680" cy="3218688"/>
          </a:xfrm>
          <a:prstGeom prst="roundRect">
            <a:avLst>
              <a:gd name="adj" fmla="val 34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mh11"/>
          <p:cNvSpPr txBox="1"/>
          <p:nvPr/>
        </p:nvSpPr>
        <p:spPr>
          <a:xfrm>
            <a:off x="640080" y="1353312"/>
            <a:ext cx="3931920" cy="219456"/>
          </a:xfrm>
          <a:prstGeom prst="rect">
            <a:avLst/>
          </a:prstGeom>
          <a:noFill/>
        </p:spPr>
        <p:txBody>
          <a:bodyPr wrap="square" lIns="0" tIns="0" rIns="0" bIns="0" anchor="ctr">
            <a:spAutoFit/>
          </a:bodyPr>
          <a:lstStyle/>
          <a:p>
            <a:pPr algn="l"/>
            <a:r>
              <a:rPr sz="850" b="1" spc="160">
                <a:solidFill>
                  <a:srgbClr val="78716C"/>
                </a:solidFill>
                <a:latin typeface="Segoe UI"/>
              </a:rPr>
              <a:t>ONE MESSAGE</a:t>
            </a:r>
          </a:p>
        </p:txBody>
      </p:sp>
      <p:sp>
        <p:nvSpPr>
          <p:cNvPr id="13" name="a0f_mk12"/>
          <p:cNvSpPr txBox="1"/>
          <p:nvPr/>
        </p:nvSpPr>
        <p:spPr>
          <a:xfrm>
            <a:off x="713232" y="1645919"/>
            <a:ext cx="960120" cy="283464"/>
          </a:xfrm>
          <a:prstGeom prst="rect">
            <a:avLst/>
          </a:prstGeom>
          <a:noFill/>
        </p:spPr>
        <p:txBody>
          <a:bodyPr wrap="square" lIns="0" tIns="0" rIns="0" bIns="0" anchor="ctr">
            <a:spAutoFit/>
          </a:bodyPr>
          <a:lstStyle/>
          <a:p>
            <a:pPr algn="l"/>
            <a:r>
              <a:rPr sz="950" b="1">
                <a:solidFill>
                  <a:srgbClr val="78716C"/>
                </a:solidFill>
                <a:latin typeface="Consolas"/>
              </a:rPr>
              <a:t>key</a:t>
            </a:r>
          </a:p>
        </p:txBody>
      </p:sp>
      <p:sp>
        <p:nvSpPr>
          <p:cNvPr id="14" name="a0f_mv13"/>
          <p:cNvSpPr txBox="1"/>
          <p:nvPr/>
        </p:nvSpPr>
        <p:spPr>
          <a:xfrm>
            <a:off x="1719072" y="1645919"/>
            <a:ext cx="2880360" cy="283464"/>
          </a:xfrm>
          <a:prstGeom prst="rect">
            <a:avLst/>
          </a:prstGeom>
          <a:noFill/>
        </p:spPr>
        <p:txBody>
          <a:bodyPr wrap="square" lIns="0" tIns="0" rIns="0" bIns="0" anchor="ctr">
            <a:spAutoFit/>
          </a:bodyPr>
          <a:lstStyle/>
          <a:p>
            <a:pPr algn="l"/>
            <a:r>
              <a:rPr sz="950" b="0">
                <a:solidFill>
                  <a:srgbClr val="A8A29E"/>
                </a:solidFill>
                <a:latin typeface="Consolas"/>
              </a:rPr>
              <a:t>42</a:t>
            </a:r>
          </a:p>
        </p:txBody>
      </p:sp>
      <p:sp>
        <p:nvSpPr>
          <p:cNvPr id="15" name="a0f_mhi14"/>
          <p:cNvSpPr/>
          <p:nvPr/>
        </p:nvSpPr>
        <p:spPr>
          <a:xfrm>
            <a:off x="566928" y="1975103"/>
            <a:ext cx="4078224" cy="1069848"/>
          </a:xfrm>
          <a:prstGeom prst="roundRect">
            <a:avLst>
              <a:gd name="adj" fmla="val 427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_mha15"/>
          <p:cNvSpPr/>
          <p:nvPr/>
        </p:nvSpPr>
        <p:spPr>
          <a:xfrm>
            <a:off x="566928" y="1975103"/>
            <a:ext cx="45720" cy="106984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mk16"/>
          <p:cNvSpPr txBox="1"/>
          <p:nvPr/>
        </p:nvSpPr>
        <p:spPr>
          <a:xfrm>
            <a:off x="713232" y="1975103"/>
            <a:ext cx="960120" cy="283464"/>
          </a:xfrm>
          <a:prstGeom prst="rect">
            <a:avLst/>
          </a:prstGeom>
          <a:noFill/>
        </p:spPr>
        <p:txBody>
          <a:bodyPr wrap="square" lIns="0" tIns="0" rIns="0" bIns="0" anchor="ctr">
            <a:spAutoFit/>
          </a:bodyPr>
          <a:lstStyle/>
          <a:p>
            <a:pPr algn="l"/>
            <a:r>
              <a:rPr sz="950" b="1">
                <a:solidFill>
                  <a:srgbClr val="C2410C"/>
                </a:solidFill>
                <a:latin typeface="Consolas"/>
              </a:rPr>
              <a:t>value</a:t>
            </a:r>
          </a:p>
        </p:txBody>
      </p:sp>
      <p:sp>
        <p:nvSpPr>
          <p:cNvPr id="18" name="a0f_mv17"/>
          <p:cNvSpPr txBox="1"/>
          <p:nvPr/>
        </p:nvSpPr>
        <p:spPr>
          <a:xfrm>
            <a:off x="1719072" y="2011679"/>
            <a:ext cx="2880360" cy="1024127"/>
          </a:xfrm>
          <a:prstGeom prst="rect">
            <a:avLst/>
          </a:prstGeom>
          <a:noFill/>
        </p:spPr>
        <p:txBody>
          <a:bodyPr wrap="square" lIns="0" tIns="0" rIns="0" bIns="0" anchor="t">
            <a:spAutoFit/>
          </a:bodyPr>
          <a:lstStyle/>
          <a:p>
            <a:pPr algn="l"/>
            <a:r>
              <a:rPr sz="900" b="0">
                <a:solidFill>
                  <a:srgbClr val="1C1917"/>
                </a:solidFill>
                <a:latin typeface="Consolas"/>
              </a:rPr>
              <a:t>{</a:t>
            </a:r>
          </a:p>
          <a:p>
            <a:pPr algn="l"/>
            <a:r>
              <a:rPr sz="900" b="0">
                <a:solidFill>
                  <a:srgbClr val="1C1917"/>
                </a:solidFill>
                <a:latin typeface="Consolas"/>
              </a:rPr>
              <a:t>  "sensor_id": 42,</a:t>
            </a:r>
          </a:p>
          <a:p>
            <a:pPr algn="l"/>
            <a:r>
              <a:rPr sz="900" b="0">
                <a:solidFill>
                  <a:srgbClr val="1C1917"/>
                </a:solidFill>
                <a:latin typeface="Consolas"/>
              </a:rPr>
              <a:t>  "location": "kitchen",</a:t>
            </a:r>
          </a:p>
          <a:p>
            <a:pPr algn="l"/>
            <a:r>
              <a:rPr sz="900" b="0">
                <a:solidFill>
                  <a:srgbClr val="1C1917"/>
                </a:solidFill>
                <a:latin typeface="Consolas"/>
              </a:rPr>
              <a:t>  "temperature": 24,</a:t>
            </a:r>
          </a:p>
          <a:p>
            <a:pPr algn="l"/>
            <a:r>
              <a:rPr sz="900" b="0">
                <a:solidFill>
                  <a:srgbClr val="1C1917"/>
                </a:solidFill>
                <a:latin typeface="Consolas"/>
              </a:rPr>
              <a:t>  "read_at": "2025-06-12T14:05:09Z"</a:t>
            </a:r>
          </a:p>
          <a:p>
            <a:pPr algn="l"/>
            <a:r>
              <a:rPr sz="900" b="0">
                <a:solidFill>
                  <a:srgbClr val="1C1917"/>
                </a:solidFill>
                <a:latin typeface="Consolas"/>
              </a:rPr>
              <a:t>}</a:t>
            </a:r>
          </a:p>
        </p:txBody>
      </p:sp>
      <p:sp>
        <p:nvSpPr>
          <p:cNvPr id="19" name="a0f_mk18"/>
          <p:cNvSpPr txBox="1"/>
          <p:nvPr/>
        </p:nvSpPr>
        <p:spPr>
          <a:xfrm>
            <a:off x="713232" y="3090672"/>
            <a:ext cx="960120" cy="283464"/>
          </a:xfrm>
          <a:prstGeom prst="rect">
            <a:avLst/>
          </a:prstGeom>
          <a:noFill/>
        </p:spPr>
        <p:txBody>
          <a:bodyPr wrap="square" lIns="0" tIns="0" rIns="0" bIns="0" anchor="ctr">
            <a:spAutoFit/>
          </a:bodyPr>
          <a:lstStyle/>
          <a:p>
            <a:pPr algn="l"/>
            <a:r>
              <a:rPr sz="950" b="1">
                <a:solidFill>
                  <a:srgbClr val="78716C"/>
                </a:solidFill>
                <a:latin typeface="Consolas"/>
              </a:rPr>
              <a:t>timestamp</a:t>
            </a:r>
          </a:p>
        </p:txBody>
      </p:sp>
      <p:sp>
        <p:nvSpPr>
          <p:cNvPr id="20" name="a0f_mv19"/>
          <p:cNvSpPr txBox="1"/>
          <p:nvPr/>
        </p:nvSpPr>
        <p:spPr>
          <a:xfrm>
            <a:off x="1719072" y="3090672"/>
            <a:ext cx="2880360" cy="283464"/>
          </a:xfrm>
          <a:prstGeom prst="rect">
            <a:avLst/>
          </a:prstGeom>
          <a:noFill/>
        </p:spPr>
        <p:txBody>
          <a:bodyPr wrap="square" lIns="0" tIns="0" rIns="0" bIns="0" anchor="ctr">
            <a:spAutoFit/>
          </a:bodyPr>
          <a:lstStyle/>
          <a:p>
            <a:pPr algn="l"/>
            <a:r>
              <a:rPr sz="950" b="0">
                <a:solidFill>
                  <a:srgbClr val="A8A29E"/>
                </a:solidFill>
                <a:latin typeface="Consolas"/>
              </a:rPr>
              <a:t>2025-06-12 14:05:09.000</a:t>
            </a:r>
          </a:p>
        </p:txBody>
      </p:sp>
      <p:sp>
        <p:nvSpPr>
          <p:cNvPr id="21" name="a0f_mk20"/>
          <p:cNvSpPr txBox="1"/>
          <p:nvPr/>
        </p:nvSpPr>
        <p:spPr>
          <a:xfrm>
            <a:off x="713232" y="3419856"/>
            <a:ext cx="960120" cy="283464"/>
          </a:xfrm>
          <a:prstGeom prst="rect">
            <a:avLst/>
          </a:prstGeom>
          <a:noFill/>
        </p:spPr>
        <p:txBody>
          <a:bodyPr wrap="square" lIns="0" tIns="0" rIns="0" bIns="0" anchor="ctr">
            <a:spAutoFit/>
          </a:bodyPr>
          <a:lstStyle/>
          <a:p>
            <a:pPr algn="l"/>
            <a:r>
              <a:rPr sz="950" b="1">
                <a:solidFill>
                  <a:srgbClr val="78716C"/>
                </a:solidFill>
                <a:latin typeface="Consolas"/>
              </a:rPr>
              <a:t>headers</a:t>
            </a:r>
          </a:p>
        </p:txBody>
      </p:sp>
      <p:sp>
        <p:nvSpPr>
          <p:cNvPr id="22" name="a0f_mv21"/>
          <p:cNvSpPr txBox="1"/>
          <p:nvPr/>
        </p:nvSpPr>
        <p:spPr>
          <a:xfrm>
            <a:off x="1719072" y="3419856"/>
            <a:ext cx="2880360" cy="283464"/>
          </a:xfrm>
          <a:prstGeom prst="rect">
            <a:avLst/>
          </a:prstGeom>
          <a:noFill/>
        </p:spPr>
        <p:txBody>
          <a:bodyPr wrap="square" lIns="0" tIns="0" rIns="0" bIns="0" anchor="ctr">
            <a:spAutoFit/>
          </a:bodyPr>
          <a:lstStyle/>
          <a:p>
            <a:pPr algn="l"/>
            <a:r>
              <a:rPr sz="950" b="0">
                <a:solidFill>
                  <a:srgbClr val="A8A29E"/>
                </a:solidFill>
                <a:latin typeface="Consolas"/>
              </a:rPr>
              <a:t>firmware = 2.4.1   hub = home-7</a:t>
            </a:r>
          </a:p>
        </p:txBody>
      </p:sp>
      <p:sp>
        <p:nvSpPr>
          <p:cNvPr id="23" name="a0f_mk22"/>
          <p:cNvSpPr txBox="1"/>
          <p:nvPr/>
        </p:nvSpPr>
        <p:spPr>
          <a:xfrm>
            <a:off x="713232" y="3749039"/>
            <a:ext cx="960120" cy="283464"/>
          </a:xfrm>
          <a:prstGeom prst="rect">
            <a:avLst/>
          </a:prstGeom>
          <a:noFill/>
        </p:spPr>
        <p:txBody>
          <a:bodyPr wrap="square" lIns="0" tIns="0" rIns="0" bIns="0" anchor="ctr">
            <a:spAutoFit/>
          </a:bodyPr>
          <a:lstStyle/>
          <a:p>
            <a:pPr algn="l"/>
            <a:r>
              <a:rPr sz="950" b="1">
                <a:solidFill>
                  <a:srgbClr val="78716C"/>
                </a:solidFill>
                <a:latin typeface="Consolas"/>
              </a:rPr>
              <a:t>topic</a:t>
            </a:r>
          </a:p>
        </p:txBody>
      </p:sp>
      <p:sp>
        <p:nvSpPr>
          <p:cNvPr id="24" name="a0f_mv23"/>
          <p:cNvSpPr txBox="1"/>
          <p:nvPr/>
        </p:nvSpPr>
        <p:spPr>
          <a:xfrm>
            <a:off x="1719072" y="3749039"/>
            <a:ext cx="2880360" cy="283464"/>
          </a:xfrm>
          <a:prstGeom prst="rect">
            <a:avLst/>
          </a:prstGeom>
          <a:noFill/>
        </p:spPr>
        <p:txBody>
          <a:bodyPr wrap="square" lIns="0" tIns="0" rIns="0" bIns="0" anchor="ctr">
            <a:spAutoFit/>
          </a:bodyPr>
          <a:lstStyle/>
          <a:p>
            <a:pPr algn="l"/>
            <a:r>
              <a:rPr sz="950" b="0">
                <a:solidFill>
                  <a:srgbClr val="A8A29E"/>
                </a:solidFill>
                <a:latin typeface="Consolas"/>
              </a:rPr>
              <a:t>thermostat_readings</a:t>
            </a:r>
          </a:p>
        </p:txBody>
      </p:sp>
      <p:sp>
        <p:nvSpPr>
          <p:cNvPr id="25" name="a0f_mk24"/>
          <p:cNvSpPr txBox="1"/>
          <p:nvPr/>
        </p:nvSpPr>
        <p:spPr>
          <a:xfrm>
            <a:off x="713232" y="4078224"/>
            <a:ext cx="960120" cy="283464"/>
          </a:xfrm>
          <a:prstGeom prst="rect">
            <a:avLst/>
          </a:prstGeom>
          <a:noFill/>
        </p:spPr>
        <p:txBody>
          <a:bodyPr wrap="square" lIns="0" tIns="0" rIns="0" bIns="0" anchor="ctr">
            <a:spAutoFit/>
          </a:bodyPr>
          <a:lstStyle/>
          <a:p>
            <a:pPr algn="l"/>
            <a:r>
              <a:rPr sz="950" b="1">
                <a:solidFill>
                  <a:srgbClr val="78716C"/>
                </a:solidFill>
                <a:latin typeface="Consolas"/>
              </a:rPr>
              <a:t>offset</a:t>
            </a:r>
          </a:p>
        </p:txBody>
      </p:sp>
      <p:sp>
        <p:nvSpPr>
          <p:cNvPr id="26" name="a0f_mv25"/>
          <p:cNvSpPr txBox="1"/>
          <p:nvPr/>
        </p:nvSpPr>
        <p:spPr>
          <a:xfrm>
            <a:off x="1719072" y="4078224"/>
            <a:ext cx="2880360" cy="283464"/>
          </a:xfrm>
          <a:prstGeom prst="rect">
            <a:avLst/>
          </a:prstGeom>
          <a:noFill/>
        </p:spPr>
        <p:txBody>
          <a:bodyPr wrap="square" lIns="0" tIns="0" rIns="0" bIns="0" anchor="ctr">
            <a:spAutoFit/>
          </a:bodyPr>
          <a:lstStyle/>
          <a:p>
            <a:pPr algn="l"/>
            <a:r>
              <a:rPr sz="950" b="0">
                <a:solidFill>
                  <a:srgbClr val="A8A29E"/>
                </a:solidFill>
                <a:latin typeface="Consolas"/>
              </a:rPr>
              <a:t>5</a:t>
            </a:r>
          </a:p>
        </p:txBody>
      </p:sp>
      <p:sp>
        <p:nvSpPr>
          <p:cNvPr id="27" name="a1f_sh26"/>
          <p:cNvSpPr txBox="1"/>
          <p:nvPr/>
        </p:nvSpPr>
        <p:spPr>
          <a:xfrm>
            <a:off x="4983480" y="1280160"/>
            <a:ext cx="3703320" cy="256032"/>
          </a:xfrm>
          <a:prstGeom prst="rect">
            <a:avLst/>
          </a:prstGeom>
          <a:noFill/>
        </p:spPr>
        <p:txBody>
          <a:bodyPr wrap="square" lIns="0" tIns="0" rIns="0" bIns="0" anchor="ctr">
            <a:spAutoFit/>
          </a:bodyPr>
          <a:lstStyle/>
          <a:p>
            <a:pPr algn="l"/>
            <a:r>
              <a:rPr sz="950" b="1" spc="120">
                <a:solidFill>
                  <a:srgbClr val="C2410C"/>
                </a:solidFill>
                <a:latin typeface="Segoe UI"/>
              </a:rPr>
              <a:t>VALUE  ·  WHAT HAPPENED</a:t>
            </a:r>
          </a:p>
        </p:txBody>
      </p:sp>
      <p:sp>
        <p:nvSpPr>
          <p:cNvPr id="28" name="a1ud100_dot27"/>
          <p:cNvSpPr/>
          <p:nvPr/>
        </p:nvSpPr>
        <p:spPr>
          <a:xfrm>
            <a:off x="4983480" y="176936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100_b28"/>
          <p:cNvSpPr txBox="1"/>
          <p:nvPr/>
        </p:nvSpPr>
        <p:spPr>
          <a:xfrm>
            <a:off x="5202936" y="1673352"/>
            <a:ext cx="3483863" cy="475488"/>
          </a:xfrm>
          <a:prstGeom prst="rect">
            <a:avLst/>
          </a:prstGeom>
          <a:noFill/>
        </p:spPr>
        <p:txBody>
          <a:bodyPr wrap="square" lIns="0" tIns="0" rIns="0" bIns="0" anchor="t">
            <a:spAutoFit/>
          </a:bodyPr>
          <a:lstStyle/>
          <a:p>
            <a:pPr algn="l"/>
            <a:r>
              <a:rPr sz="950" b="1">
                <a:solidFill>
                  <a:srgbClr val="1C1917"/>
                </a:solidFill>
                <a:latin typeface="Segoe UI"/>
              </a:rPr>
              <a:t>Required  </a:t>
            </a:r>
            <a:r>
              <a:rPr sz="950" b="0">
                <a:solidFill>
                  <a:srgbClr val="44403C"/>
                </a:solidFill>
                <a:latin typeface="Segoe UI"/>
              </a:rPr>
              <a:t>the part a message cannot do without</a:t>
            </a:r>
          </a:p>
        </p:txBody>
      </p:sp>
      <p:sp>
        <p:nvSpPr>
          <p:cNvPr id="30" name="a1ud220_dot29"/>
          <p:cNvSpPr/>
          <p:nvPr/>
        </p:nvSpPr>
        <p:spPr>
          <a:xfrm>
            <a:off x="4983480" y="228142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ud220_b30"/>
          <p:cNvSpPr txBox="1"/>
          <p:nvPr/>
        </p:nvSpPr>
        <p:spPr>
          <a:xfrm>
            <a:off x="5202936" y="2185416"/>
            <a:ext cx="3483863" cy="475488"/>
          </a:xfrm>
          <a:prstGeom prst="rect">
            <a:avLst/>
          </a:prstGeom>
          <a:noFill/>
        </p:spPr>
        <p:txBody>
          <a:bodyPr wrap="square" lIns="0" tIns="0" rIns="0" bIns="0" anchor="t">
            <a:spAutoFit/>
          </a:bodyPr>
          <a:lstStyle/>
          <a:p>
            <a:pPr algn="l"/>
            <a:r>
              <a:rPr sz="950" b="1">
                <a:solidFill>
                  <a:srgbClr val="1C1917"/>
                </a:solidFill>
                <a:latin typeface="Segoe UI"/>
              </a:rPr>
              <a:t>The 'what'  </a:t>
            </a:r>
            <a:r>
              <a:rPr sz="950" b="0">
                <a:solidFill>
                  <a:srgbClr val="44403C"/>
                </a:solidFill>
                <a:latin typeface="Segoe UI"/>
              </a:rPr>
              <a:t>an event is a when and a what - the value records the what</a:t>
            </a:r>
          </a:p>
        </p:txBody>
      </p:sp>
      <p:sp>
        <p:nvSpPr>
          <p:cNvPr id="32" name="a1ud340_dot31"/>
          <p:cNvSpPr/>
          <p:nvPr/>
        </p:nvSpPr>
        <p:spPr>
          <a:xfrm>
            <a:off x="4983480" y="279349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ud340_b32"/>
          <p:cNvSpPr txBox="1"/>
          <p:nvPr/>
        </p:nvSpPr>
        <p:spPr>
          <a:xfrm>
            <a:off x="5202936" y="2697480"/>
            <a:ext cx="3483863" cy="475488"/>
          </a:xfrm>
          <a:prstGeom prst="rect">
            <a:avLst/>
          </a:prstGeom>
          <a:noFill/>
        </p:spPr>
        <p:txBody>
          <a:bodyPr wrap="square" lIns="0" tIns="0" rIns="0" bIns="0" anchor="t">
            <a:spAutoFit/>
          </a:bodyPr>
          <a:lstStyle/>
          <a:p>
            <a:pPr algn="l"/>
            <a:r>
              <a:rPr sz="950" b="1">
                <a:solidFill>
                  <a:srgbClr val="1C1917"/>
                </a:solidFill>
                <a:latin typeface="Segoe UI"/>
              </a:rPr>
              <a:t>Any format  </a:t>
            </a:r>
            <a:r>
              <a:rPr sz="950" b="0">
                <a:solidFill>
                  <a:srgbClr val="44403C"/>
                </a:solidFill>
                <a:latin typeface="Segoe UI"/>
              </a:rPr>
              <a:t>Kafka does not mind which</a:t>
            </a:r>
          </a:p>
        </p:txBody>
      </p:sp>
      <p:sp>
        <p:nvSpPr>
          <p:cNvPr id="34" name="a2u_pill33"/>
          <p:cNvSpPr/>
          <p:nvPr/>
        </p:nvSpPr>
        <p:spPr>
          <a:xfrm>
            <a:off x="4983480" y="3310128"/>
            <a:ext cx="1179576"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JSON</a:t>
            </a:r>
          </a:p>
        </p:txBody>
      </p:sp>
      <p:sp>
        <p:nvSpPr>
          <p:cNvPr id="35" name="a2ud70_pill34"/>
          <p:cNvSpPr/>
          <p:nvPr/>
        </p:nvSpPr>
        <p:spPr>
          <a:xfrm>
            <a:off x="6236208" y="3310128"/>
            <a:ext cx="1179576"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Avro</a:t>
            </a:r>
          </a:p>
        </p:txBody>
      </p:sp>
      <p:sp>
        <p:nvSpPr>
          <p:cNvPr id="36" name="a2ud140_pill35"/>
          <p:cNvSpPr/>
          <p:nvPr/>
        </p:nvSpPr>
        <p:spPr>
          <a:xfrm>
            <a:off x="7488936" y="3310128"/>
            <a:ext cx="1179576"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Protobuf</a:t>
            </a:r>
          </a:p>
        </p:txBody>
      </p:sp>
      <p:sp>
        <p:nvSpPr>
          <p:cNvPr id="37" name="a2ud210_pill36"/>
          <p:cNvSpPr/>
          <p:nvPr/>
        </p:nvSpPr>
        <p:spPr>
          <a:xfrm>
            <a:off x="4983480" y="3694176"/>
            <a:ext cx="1179576"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your own format</a:t>
            </a:r>
          </a:p>
        </p:txBody>
      </p:sp>
      <p:sp>
        <p:nvSpPr>
          <p:cNvPr id="38" name="a2ud280_pill37"/>
          <p:cNvSpPr/>
          <p:nvPr/>
        </p:nvSpPr>
        <p:spPr>
          <a:xfrm>
            <a:off x="6236208" y="3694176"/>
            <a:ext cx="1179576"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an integer</a:t>
            </a:r>
          </a:p>
        </p:txBody>
      </p:sp>
      <p:sp>
        <p:nvSpPr>
          <p:cNvPr id="39" name="a2ud350_pill38"/>
          <p:cNvSpPr/>
          <p:nvPr/>
        </p:nvSpPr>
        <p:spPr>
          <a:xfrm>
            <a:off x="7488936" y="3694176"/>
            <a:ext cx="1179576"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a plain string</a:t>
            </a:r>
          </a:p>
        </p:txBody>
      </p:sp>
      <p:sp>
        <p:nvSpPr>
          <p:cNvPr id="40" name="a2ud500_js39"/>
          <p:cNvSpPr txBox="1"/>
          <p:nvPr/>
        </p:nvSpPr>
        <p:spPr>
          <a:xfrm>
            <a:off x="4983480" y="4160520"/>
            <a:ext cx="3703320" cy="274320"/>
          </a:xfrm>
          <a:prstGeom prst="rect">
            <a:avLst/>
          </a:prstGeom>
          <a:noFill/>
        </p:spPr>
        <p:txBody>
          <a:bodyPr wrap="square" lIns="0" tIns="0" rIns="0" bIns="0" anchor="ctr">
            <a:spAutoFit/>
          </a:bodyPr>
          <a:lstStyle/>
          <a:p>
            <a:pPr algn="l"/>
            <a:r>
              <a:rPr sz="850" b="0">
                <a:solidFill>
                  <a:srgbClr val="78716C"/>
                </a:solidFill>
                <a:latin typeface="Segoe UI"/>
              </a:rPr>
              <a:t>JSON on these slides - it is simply easier to read.</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7" presetID="10" presetClass="entr" presetSubtype="0"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par>
                                <p:cTn id="62" presetID="2" presetClass="entr" presetSubtype="4" fill="hold" grpId="0" nodeType="withEffect">
                                  <p:stCondLst>
                                    <p:cond delay="10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ppt_y+0.1"/>
                                          </p:val>
                                        </p:tav>
                                        <p:tav tm="100000">
                                          <p:val>
                                            <p:strVal val="#ppt_y"/>
                                          </p:val>
                                        </p:tav>
                                      </p:tavLst>
                                    </p:anim>
                                    <p:animEffect transition="in" filter="fade">
                                      <p:cBhvr>
                                        <p:cTn id="61" dur="500"/>
                                        <p:tgtEl>
                                          <p:spTgt spid="28"/>
                                        </p:tgtEl>
                                      </p:cBhvr>
                                    </p:animEffect>
                                  </p:childTnLst>
                                </p:cTn>
                              </p:par>
                              <p:par>
                                <p:cTn id="67" presetID="2" presetClass="entr" presetSubtype="4" fill="hold" grpId="0" nodeType="withEffect">
                                  <p:stCondLst>
                                    <p:cond delay="100"/>
                                  </p:stCondLst>
                                  <p:childTnLst>
                                    <p:set>
                                      <p:cBhvr>
                                        <p:cTn id="63" dur="1" fill="hold">
                                          <p:stCondLst>
                                            <p:cond delay="0"/>
                                          </p:stCondLst>
                                        </p:cTn>
                                        <p:tgtEl>
                                          <p:spTgt spid="29"/>
                                        </p:tgtEl>
                                        <p:attrNameLst>
                                          <p:attrName>style.visibility</p:attrName>
                                        </p:attrNameLst>
                                      </p:cBhvr>
                                      <p:to>
                                        <p:strVal val="visible"/>
                                      </p:to>
                                    </p:set>
                                    <p:anim calcmode="lin" valueType="num">
                                      <p:cBhvr additive="base">
                                        <p:cTn id="64" dur="500" fill="hold"/>
                                        <p:tgtEl>
                                          <p:spTgt spid="29"/>
                                        </p:tgtEl>
                                        <p:attrNameLst>
                                          <p:attrName>ppt_x</p:attrName>
                                        </p:attrNameLst>
                                      </p:cBhvr>
                                      <p:tavLst>
                                        <p:tav tm="0">
                                          <p:val>
                                            <p:strVal val="#ppt_x"/>
                                          </p:val>
                                        </p:tav>
                                        <p:tav tm="100000">
                                          <p:val>
                                            <p:strVal val="#ppt_x"/>
                                          </p:val>
                                        </p:tav>
                                      </p:tavLst>
                                    </p:anim>
                                    <p:anim calcmode="lin" valueType="num">
                                      <p:cBhvr additive="base">
                                        <p:cTn id="65" dur="500" fill="hold"/>
                                        <p:tgtEl>
                                          <p:spTgt spid="29"/>
                                        </p:tgtEl>
                                        <p:attrNameLst>
                                          <p:attrName>ppt_y</p:attrName>
                                        </p:attrNameLst>
                                      </p:cBhvr>
                                      <p:tavLst>
                                        <p:tav tm="0">
                                          <p:val>
                                            <p:strVal val="#ppt_y+0.1"/>
                                          </p:val>
                                        </p:tav>
                                        <p:tav tm="100000">
                                          <p:val>
                                            <p:strVal val="#ppt_y"/>
                                          </p:val>
                                        </p:tav>
                                      </p:tavLst>
                                    </p:anim>
                                    <p:animEffect transition="in" filter="fade">
                                      <p:cBhvr>
                                        <p:cTn id="66" dur="500"/>
                                        <p:tgtEl>
                                          <p:spTgt spid="29"/>
                                        </p:tgtEl>
                                      </p:cBhvr>
                                    </p:animEffect>
                                  </p:childTnLst>
                                </p:cTn>
                              </p:par>
                              <p:par>
                                <p:cTn id="72" presetID="2" presetClass="entr" presetSubtype="4" fill="hold" grpId="0" nodeType="withEffect">
                                  <p:stCondLst>
                                    <p:cond delay="220"/>
                                  </p:stCondLst>
                                  <p:childTnLst>
                                    <p:set>
                                      <p:cBhvr>
                                        <p:cTn id="68" dur="1" fill="hold">
                                          <p:stCondLst>
                                            <p:cond delay="0"/>
                                          </p:stCondLst>
                                        </p:cTn>
                                        <p:tgtEl>
                                          <p:spTgt spid="30"/>
                                        </p:tgtEl>
                                        <p:attrNameLst>
                                          <p:attrName>style.visibility</p:attrName>
                                        </p:attrNameLst>
                                      </p:cBhvr>
                                      <p:to>
                                        <p:strVal val="visible"/>
                                      </p:to>
                                    </p:set>
                                    <p:anim calcmode="lin" valueType="num">
                                      <p:cBhvr additive="base">
                                        <p:cTn id="69" dur="500" fill="hold"/>
                                        <p:tgtEl>
                                          <p:spTgt spid="30"/>
                                        </p:tgtEl>
                                        <p:attrNameLst>
                                          <p:attrName>ppt_x</p:attrName>
                                        </p:attrNameLst>
                                      </p:cBhvr>
                                      <p:tavLst>
                                        <p:tav tm="0">
                                          <p:val>
                                            <p:strVal val="#ppt_x"/>
                                          </p:val>
                                        </p:tav>
                                        <p:tav tm="100000">
                                          <p:val>
                                            <p:strVal val="#ppt_x"/>
                                          </p:val>
                                        </p:tav>
                                      </p:tavLst>
                                    </p:anim>
                                    <p:anim calcmode="lin" valueType="num">
                                      <p:cBhvr additive="base">
                                        <p:cTn id="70" dur="500" fill="hold"/>
                                        <p:tgtEl>
                                          <p:spTgt spid="30"/>
                                        </p:tgtEl>
                                        <p:attrNameLst>
                                          <p:attrName>ppt_y</p:attrName>
                                        </p:attrNameLst>
                                      </p:cBhvr>
                                      <p:tavLst>
                                        <p:tav tm="0">
                                          <p:val>
                                            <p:strVal val="#ppt_y+0.1"/>
                                          </p:val>
                                        </p:tav>
                                        <p:tav tm="100000">
                                          <p:val>
                                            <p:strVal val="#ppt_y"/>
                                          </p:val>
                                        </p:tav>
                                      </p:tavLst>
                                    </p:anim>
                                    <p:animEffect transition="in" filter="fade">
                                      <p:cBhvr>
                                        <p:cTn id="71" dur="500"/>
                                        <p:tgtEl>
                                          <p:spTgt spid="30"/>
                                        </p:tgtEl>
                                      </p:cBhvr>
                                    </p:animEffect>
                                  </p:childTnLst>
                                </p:cTn>
                              </p:par>
                              <p:par>
                                <p:cTn id="77" presetID="2" presetClass="entr" presetSubtype="4" fill="hold" grpId="0" nodeType="withEffect">
                                  <p:stCondLst>
                                    <p:cond delay="220"/>
                                  </p:stCondLst>
                                  <p:childTnLst>
                                    <p:set>
                                      <p:cBhvr>
                                        <p:cTn id="73" dur="1" fill="hold">
                                          <p:stCondLst>
                                            <p:cond delay="0"/>
                                          </p:stCondLst>
                                        </p:cTn>
                                        <p:tgtEl>
                                          <p:spTgt spid="31"/>
                                        </p:tgtEl>
                                        <p:attrNameLst>
                                          <p:attrName>style.visibility</p:attrName>
                                        </p:attrNameLst>
                                      </p:cBhvr>
                                      <p:to>
                                        <p:strVal val="visible"/>
                                      </p:to>
                                    </p:set>
                                    <p:anim calcmode="lin" valueType="num">
                                      <p:cBhvr additive="base">
                                        <p:cTn id="74" dur="500" fill="hold"/>
                                        <p:tgtEl>
                                          <p:spTgt spid="31"/>
                                        </p:tgtEl>
                                        <p:attrNameLst>
                                          <p:attrName>ppt_x</p:attrName>
                                        </p:attrNameLst>
                                      </p:cBhvr>
                                      <p:tavLst>
                                        <p:tav tm="0">
                                          <p:val>
                                            <p:strVal val="#ppt_x"/>
                                          </p:val>
                                        </p:tav>
                                        <p:tav tm="100000">
                                          <p:val>
                                            <p:strVal val="#ppt_x"/>
                                          </p:val>
                                        </p:tav>
                                      </p:tavLst>
                                    </p:anim>
                                    <p:anim calcmode="lin" valueType="num">
                                      <p:cBhvr additive="base">
                                        <p:cTn id="75" dur="500" fill="hold"/>
                                        <p:tgtEl>
                                          <p:spTgt spid="31"/>
                                        </p:tgtEl>
                                        <p:attrNameLst>
                                          <p:attrName>ppt_y</p:attrName>
                                        </p:attrNameLst>
                                      </p:cBhvr>
                                      <p:tavLst>
                                        <p:tav tm="0">
                                          <p:val>
                                            <p:strVal val="#ppt_y+0.1"/>
                                          </p:val>
                                        </p:tav>
                                        <p:tav tm="100000">
                                          <p:val>
                                            <p:strVal val="#ppt_y"/>
                                          </p:val>
                                        </p:tav>
                                      </p:tavLst>
                                    </p:anim>
                                    <p:animEffect transition="in" filter="fade">
                                      <p:cBhvr>
                                        <p:cTn id="76" dur="500"/>
                                        <p:tgtEl>
                                          <p:spTgt spid="31"/>
                                        </p:tgtEl>
                                      </p:cBhvr>
                                    </p:animEffect>
                                  </p:childTnLst>
                                </p:cTn>
                              </p:par>
                              <p:par>
                                <p:cTn id="82" presetID="2" presetClass="entr" presetSubtype="4" fill="hold" grpId="0" nodeType="withEffect">
                                  <p:stCondLst>
                                    <p:cond delay="34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ppt_x"/>
                                          </p:val>
                                        </p:tav>
                                        <p:tav tm="100000">
                                          <p:val>
                                            <p:strVal val="#ppt_x"/>
                                          </p:val>
                                        </p:tav>
                                      </p:tavLst>
                                    </p:anim>
                                    <p:anim calcmode="lin" valueType="num">
                                      <p:cBhvr additive="base">
                                        <p:cTn id="80" dur="500" fill="hold"/>
                                        <p:tgtEl>
                                          <p:spTgt spid="32"/>
                                        </p:tgtEl>
                                        <p:attrNameLst>
                                          <p:attrName>ppt_y</p:attrName>
                                        </p:attrNameLst>
                                      </p:cBhvr>
                                      <p:tavLst>
                                        <p:tav tm="0">
                                          <p:val>
                                            <p:strVal val="#ppt_y+0.1"/>
                                          </p:val>
                                        </p:tav>
                                        <p:tav tm="100000">
                                          <p:val>
                                            <p:strVal val="#ppt_y"/>
                                          </p:val>
                                        </p:tav>
                                      </p:tavLst>
                                    </p:anim>
                                    <p:animEffect transition="in" filter="fade">
                                      <p:cBhvr>
                                        <p:cTn id="81" dur="500"/>
                                        <p:tgtEl>
                                          <p:spTgt spid="32"/>
                                        </p:tgtEl>
                                      </p:cBhvr>
                                    </p:animEffect>
                                  </p:childTnLst>
                                </p:cTn>
                              </p:par>
                              <p:par>
                                <p:cTn id="87" presetID="2" presetClass="entr" presetSubtype="4" fill="hold" grpId="0" nodeType="withEffect">
                                  <p:stCondLst>
                                    <p:cond delay="340"/>
                                  </p:stCondLst>
                                  <p:childTnLst>
                                    <p:set>
                                      <p:cBhvr>
                                        <p:cTn id="83" dur="1" fill="hold">
                                          <p:stCondLst>
                                            <p:cond delay="0"/>
                                          </p:stCondLst>
                                        </p:cTn>
                                        <p:tgtEl>
                                          <p:spTgt spid="33"/>
                                        </p:tgtEl>
                                        <p:attrNameLst>
                                          <p:attrName>style.visibility</p:attrName>
                                        </p:attrNameLst>
                                      </p:cBhvr>
                                      <p:to>
                                        <p:strVal val="visible"/>
                                      </p:to>
                                    </p:set>
                                    <p:anim calcmode="lin" valueType="num">
                                      <p:cBhvr additive="base">
                                        <p:cTn id="84" dur="500" fill="hold"/>
                                        <p:tgtEl>
                                          <p:spTgt spid="33"/>
                                        </p:tgtEl>
                                        <p:attrNameLst>
                                          <p:attrName>ppt_x</p:attrName>
                                        </p:attrNameLst>
                                      </p:cBhvr>
                                      <p:tavLst>
                                        <p:tav tm="0">
                                          <p:val>
                                            <p:strVal val="#ppt_x"/>
                                          </p:val>
                                        </p:tav>
                                        <p:tav tm="100000">
                                          <p:val>
                                            <p:strVal val="#ppt_x"/>
                                          </p:val>
                                        </p:tav>
                                      </p:tavLst>
                                    </p:anim>
                                    <p:anim calcmode="lin" valueType="num">
                                      <p:cBhvr additive="base">
                                        <p:cTn id="85" dur="500" fill="hold"/>
                                        <p:tgtEl>
                                          <p:spTgt spid="33"/>
                                        </p:tgtEl>
                                        <p:attrNameLst>
                                          <p:attrName>ppt_y</p:attrName>
                                        </p:attrNameLst>
                                      </p:cBhvr>
                                      <p:tavLst>
                                        <p:tav tm="0">
                                          <p:val>
                                            <p:strVal val="#ppt_y+0.1"/>
                                          </p:val>
                                        </p:tav>
                                        <p:tav tm="100000">
                                          <p:val>
                                            <p:strVal val="#ppt_y"/>
                                          </p:val>
                                        </p:tav>
                                      </p:tavLst>
                                    </p:anim>
                                    <p:animEffect transition="in" filter="fade">
                                      <p:cBhvr>
                                        <p:cTn id="86" dur="500"/>
                                        <p:tgtEl>
                                          <p:spTgt spid="33"/>
                                        </p:tgtEl>
                                      </p:cBhvr>
                                    </p:animEffect>
                                  </p:childTnLst>
                                </p:cTn>
                              </p:par>
                            </p:childTnLst>
                          </p:cTn>
                        </p:par>
                      </p:childTnLst>
                    </p:cTn>
                  </p:par>
                  <p:par>
                    <p:cTn id="88" fill="hold">
                      <p:stCondLst>
                        <p:cond delay="indefinite"/>
                      </p:stCondLst>
                      <p:childTnLst>
                        <p:par>
                          <p:cTn id="89" fill="hold">
                            <p:stCondLst>
                              <p:cond delay="0"/>
                            </p:stCondLst>
                            <p:childTnLst>
                              <p:par>
                                <p:cTn id="94" presetID="2" presetClass="entr" presetSubtype="4" fill="hold" grpId="0" nodeType="clickEffect">
                                  <p:stCondLst>
                                    <p:cond delay="0"/>
                                  </p:stCondLst>
                                  <p:childTnLst>
                                    <p:set>
                                      <p:cBhvr>
                                        <p:cTn id="90" dur="1" fill="hold">
                                          <p:stCondLst>
                                            <p:cond delay="0"/>
                                          </p:stCondLst>
                                        </p:cTn>
                                        <p:tgtEl>
                                          <p:spTgt spid="34"/>
                                        </p:tgtEl>
                                        <p:attrNameLst>
                                          <p:attrName>style.visibility</p:attrName>
                                        </p:attrNameLst>
                                      </p:cBhvr>
                                      <p:to>
                                        <p:strVal val="visible"/>
                                      </p:to>
                                    </p:set>
                                    <p:anim calcmode="lin" valueType="num">
                                      <p:cBhvr additive="base">
                                        <p:cTn id="91" dur="500" fill="hold"/>
                                        <p:tgtEl>
                                          <p:spTgt spid="34"/>
                                        </p:tgtEl>
                                        <p:attrNameLst>
                                          <p:attrName>ppt_x</p:attrName>
                                        </p:attrNameLst>
                                      </p:cBhvr>
                                      <p:tavLst>
                                        <p:tav tm="0">
                                          <p:val>
                                            <p:strVal val="#ppt_x"/>
                                          </p:val>
                                        </p:tav>
                                        <p:tav tm="100000">
                                          <p:val>
                                            <p:strVal val="#ppt_x"/>
                                          </p:val>
                                        </p:tav>
                                      </p:tavLst>
                                    </p:anim>
                                    <p:anim calcmode="lin" valueType="num">
                                      <p:cBhvr additive="base">
                                        <p:cTn id="92" dur="500" fill="hold"/>
                                        <p:tgtEl>
                                          <p:spTgt spid="34"/>
                                        </p:tgtEl>
                                        <p:attrNameLst>
                                          <p:attrName>ppt_y</p:attrName>
                                        </p:attrNameLst>
                                      </p:cBhvr>
                                      <p:tavLst>
                                        <p:tav tm="0">
                                          <p:val>
                                            <p:strVal val="#ppt_y+0.1"/>
                                          </p:val>
                                        </p:tav>
                                        <p:tav tm="100000">
                                          <p:val>
                                            <p:strVal val="#ppt_y"/>
                                          </p:val>
                                        </p:tav>
                                      </p:tavLst>
                                    </p:anim>
                                    <p:animEffect transition="in" filter="fade">
                                      <p:cBhvr>
                                        <p:cTn id="93" dur="500"/>
                                        <p:tgtEl>
                                          <p:spTgt spid="34"/>
                                        </p:tgtEl>
                                      </p:cBhvr>
                                    </p:animEffect>
                                  </p:childTnLst>
                                </p:cTn>
                              </p:par>
                              <p:par>
                                <p:cTn id="99" presetID="2" presetClass="entr" presetSubtype="4" fill="hold" grpId="0" nodeType="withEffect">
                                  <p:stCondLst>
                                    <p:cond delay="70"/>
                                  </p:stCondLst>
                                  <p:childTnLst>
                                    <p:set>
                                      <p:cBhvr>
                                        <p:cTn id="95" dur="1" fill="hold">
                                          <p:stCondLst>
                                            <p:cond delay="0"/>
                                          </p:stCondLst>
                                        </p:cTn>
                                        <p:tgtEl>
                                          <p:spTgt spid="35"/>
                                        </p:tgtEl>
                                        <p:attrNameLst>
                                          <p:attrName>style.visibility</p:attrName>
                                        </p:attrNameLst>
                                      </p:cBhvr>
                                      <p:to>
                                        <p:strVal val="visible"/>
                                      </p:to>
                                    </p:set>
                                    <p:anim calcmode="lin" valueType="num">
                                      <p:cBhvr additive="base">
                                        <p:cTn id="96" dur="500" fill="hold"/>
                                        <p:tgtEl>
                                          <p:spTgt spid="35"/>
                                        </p:tgtEl>
                                        <p:attrNameLst>
                                          <p:attrName>ppt_x</p:attrName>
                                        </p:attrNameLst>
                                      </p:cBhvr>
                                      <p:tavLst>
                                        <p:tav tm="0">
                                          <p:val>
                                            <p:strVal val="#ppt_x"/>
                                          </p:val>
                                        </p:tav>
                                        <p:tav tm="100000">
                                          <p:val>
                                            <p:strVal val="#ppt_x"/>
                                          </p:val>
                                        </p:tav>
                                      </p:tavLst>
                                    </p:anim>
                                    <p:anim calcmode="lin" valueType="num">
                                      <p:cBhvr additive="base">
                                        <p:cTn id="97" dur="500" fill="hold"/>
                                        <p:tgtEl>
                                          <p:spTgt spid="35"/>
                                        </p:tgtEl>
                                        <p:attrNameLst>
                                          <p:attrName>ppt_y</p:attrName>
                                        </p:attrNameLst>
                                      </p:cBhvr>
                                      <p:tavLst>
                                        <p:tav tm="0">
                                          <p:val>
                                            <p:strVal val="#ppt_y+0.1"/>
                                          </p:val>
                                        </p:tav>
                                        <p:tav tm="100000">
                                          <p:val>
                                            <p:strVal val="#ppt_y"/>
                                          </p:val>
                                        </p:tav>
                                      </p:tavLst>
                                    </p:anim>
                                    <p:animEffect transition="in" filter="fade">
                                      <p:cBhvr>
                                        <p:cTn id="98" dur="500"/>
                                        <p:tgtEl>
                                          <p:spTgt spid="35"/>
                                        </p:tgtEl>
                                      </p:cBhvr>
                                    </p:animEffect>
                                  </p:childTnLst>
                                </p:cTn>
                              </p:par>
                              <p:par>
                                <p:cTn id="104" presetID="2" presetClass="entr" presetSubtype="4" fill="hold" grpId="0" nodeType="withEffect">
                                  <p:stCondLst>
                                    <p:cond delay="140"/>
                                  </p:stCondLst>
                                  <p:childTnLst>
                                    <p:set>
                                      <p:cBhvr>
                                        <p:cTn id="100" dur="1" fill="hold">
                                          <p:stCondLst>
                                            <p:cond delay="0"/>
                                          </p:stCondLst>
                                        </p:cTn>
                                        <p:tgtEl>
                                          <p:spTgt spid="36"/>
                                        </p:tgtEl>
                                        <p:attrNameLst>
                                          <p:attrName>style.visibility</p:attrName>
                                        </p:attrNameLst>
                                      </p:cBhvr>
                                      <p:to>
                                        <p:strVal val="visible"/>
                                      </p:to>
                                    </p:set>
                                    <p:anim calcmode="lin" valueType="num">
                                      <p:cBhvr additive="base">
                                        <p:cTn id="101" dur="500" fill="hold"/>
                                        <p:tgtEl>
                                          <p:spTgt spid="36"/>
                                        </p:tgtEl>
                                        <p:attrNameLst>
                                          <p:attrName>ppt_x</p:attrName>
                                        </p:attrNameLst>
                                      </p:cBhvr>
                                      <p:tavLst>
                                        <p:tav tm="0">
                                          <p:val>
                                            <p:strVal val="#ppt_x"/>
                                          </p:val>
                                        </p:tav>
                                        <p:tav tm="100000">
                                          <p:val>
                                            <p:strVal val="#ppt_x"/>
                                          </p:val>
                                        </p:tav>
                                      </p:tavLst>
                                    </p:anim>
                                    <p:anim calcmode="lin" valueType="num">
                                      <p:cBhvr additive="base">
                                        <p:cTn id="102" dur="500" fill="hold"/>
                                        <p:tgtEl>
                                          <p:spTgt spid="36"/>
                                        </p:tgtEl>
                                        <p:attrNameLst>
                                          <p:attrName>ppt_y</p:attrName>
                                        </p:attrNameLst>
                                      </p:cBhvr>
                                      <p:tavLst>
                                        <p:tav tm="0">
                                          <p:val>
                                            <p:strVal val="#ppt_y+0.1"/>
                                          </p:val>
                                        </p:tav>
                                        <p:tav tm="100000">
                                          <p:val>
                                            <p:strVal val="#ppt_y"/>
                                          </p:val>
                                        </p:tav>
                                      </p:tavLst>
                                    </p:anim>
                                    <p:animEffect transition="in" filter="fade">
                                      <p:cBhvr>
                                        <p:cTn id="103" dur="500"/>
                                        <p:tgtEl>
                                          <p:spTgt spid="36"/>
                                        </p:tgtEl>
                                      </p:cBhvr>
                                    </p:animEffect>
                                  </p:childTnLst>
                                </p:cTn>
                              </p:par>
                              <p:par>
                                <p:cTn id="109" presetID="2" presetClass="entr" presetSubtype="4" fill="hold" grpId="0" nodeType="withEffect">
                                  <p:stCondLst>
                                    <p:cond delay="210"/>
                                  </p:stCondLst>
                                  <p:childTnLst>
                                    <p:set>
                                      <p:cBhvr>
                                        <p:cTn id="105" dur="1" fill="hold">
                                          <p:stCondLst>
                                            <p:cond delay="0"/>
                                          </p:stCondLst>
                                        </p:cTn>
                                        <p:tgtEl>
                                          <p:spTgt spid="37"/>
                                        </p:tgtEl>
                                        <p:attrNameLst>
                                          <p:attrName>style.visibility</p:attrName>
                                        </p:attrNameLst>
                                      </p:cBhvr>
                                      <p:to>
                                        <p:strVal val="visible"/>
                                      </p:to>
                                    </p:set>
                                    <p:anim calcmode="lin" valueType="num">
                                      <p:cBhvr additive="base">
                                        <p:cTn id="106" dur="500" fill="hold"/>
                                        <p:tgtEl>
                                          <p:spTgt spid="37"/>
                                        </p:tgtEl>
                                        <p:attrNameLst>
                                          <p:attrName>ppt_x</p:attrName>
                                        </p:attrNameLst>
                                      </p:cBhvr>
                                      <p:tavLst>
                                        <p:tav tm="0">
                                          <p:val>
                                            <p:strVal val="#ppt_x"/>
                                          </p:val>
                                        </p:tav>
                                        <p:tav tm="100000">
                                          <p:val>
                                            <p:strVal val="#ppt_x"/>
                                          </p:val>
                                        </p:tav>
                                      </p:tavLst>
                                    </p:anim>
                                    <p:anim calcmode="lin" valueType="num">
                                      <p:cBhvr additive="base">
                                        <p:cTn id="107" dur="500" fill="hold"/>
                                        <p:tgtEl>
                                          <p:spTgt spid="37"/>
                                        </p:tgtEl>
                                        <p:attrNameLst>
                                          <p:attrName>ppt_y</p:attrName>
                                        </p:attrNameLst>
                                      </p:cBhvr>
                                      <p:tavLst>
                                        <p:tav tm="0">
                                          <p:val>
                                            <p:strVal val="#ppt_y+0.1"/>
                                          </p:val>
                                        </p:tav>
                                        <p:tav tm="100000">
                                          <p:val>
                                            <p:strVal val="#ppt_y"/>
                                          </p:val>
                                        </p:tav>
                                      </p:tavLst>
                                    </p:anim>
                                    <p:animEffect transition="in" filter="fade">
                                      <p:cBhvr>
                                        <p:cTn id="108" dur="500"/>
                                        <p:tgtEl>
                                          <p:spTgt spid="37"/>
                                        </p:tgtEl>
                                      </p:cBhvr>
                                    </p:animEffect>
                                  </p:childTnLst>
                                </p:cTn>
                              </p:par>
                              <p:par>
                                <p:cTn id="114" presetID="2" presetClass="entr" presetSubtype="4" fill="hold" grpId="0" nodeType="withEffect">
                                  <p:stCondLst>
                                    <p:cond delay="280"/>
                                  </p:stCondLst>
                                  <p:childTnLst>
                                    <p:set>
                                      <p:cBhvr>
                                        <p:cTn id="110" dur="1" fill="hold">
                                          <p:stCondLst>
                                            <p:cond delay="0"/>
                                          </p:stCondLst>
                                        </p:cTn>
                                        <p:tgtEl>
                                          <p:spTgt spid="38"/>
                                        </p:tgtEl>
                                        <p:attrNameLst>
                                          <p:attrName>style.visibility</p:attrName>
                                        </p:attrNameLst>
                                      </p:cBhvr>
                                      <p:to>
                                        <p:strVal val="visible"/>
                                      </p:to>
                                    </p:set>
                                    <p:anim calcmode="lin" valueType="num">
                                      <p:cBhvr additive="base">
                                        <p:cTn id="111" dur="500" fill="hold"/>
                                        <p:tgtEl>
                                          <p:spTgt spid="38"/>
                                        </p:tgtEl>
                                        <p:attrNameLst>
                                          <p:attrName>ppt_x</p:attrName>
                                        </p:attrNameLst>
                                      </p:cBhvr>
                                      <p:tavLst>
                                        <p:tav tm="0">
                                          <p:val>
                                            <p:strVal val="#ppt_x"/>
                                          </p:val>
                                        </p:tav>
                                        <p:tav tm="100000">
                                          <p:val>
                                            <p:strVal val="#ppt_x"/>
                                          </p:val>
                                        </p:tav>
                                      </p:tavLst>
                                    </p:anim>
                                    <p:anim calcmode="lin" valueType="num">
                                      <p:cBhvr additive="base">
                                        <p:cTn id="112" dur="500" fill="hold"/>
                                        <p:tgtEl>
                                          <p:spTgt spid="38"/>
                                        </p:tgtEl>
                                        <p:attrNameLst>
                                          <p:attrName>ppt_y</p:attrName>
                                        </p:attrNameLst>
                                      </p:cBhvr>
                                      <p:tavLst>
                                        <p:tav tm="0">
                                          <p:val>
                                            <p:strVal val="#ppt_y+0.1"/>
                                          </p:val>
                                        </p:tav>
                                        <p:tav tm="100000">
                                          <p:val>
                                            <p:strVal val="#ppt_y"/>
                                          </p:val>
                                        </p:tav>
                                      </p:tavLst>
                                    </p:anim>
                                    <p:animEffect transition="in" filter="fade">
                                      <p:cBhvr>
                                        <p:cTn id="113" dur="500"/>
                                        <p:tgtEl>
                                          <p:spTgt spid="38"/>
                                        </p:tgtEl>
                                      </p:cBhvr>
                                    </p:animEffect>
                                  </p:childTnLst>
                                </p:cTn>
                              </p:par>
                              <p:par>
                                <p:cTn id="119" presetID="2" presetClass="entr" presetSubtype="4" fill="hold" grpId="0" nodeType="withEffect">
                                  <p:stCondLst>
                                    <p:cond delay="350"/>
                                  </p:stCondLst>
                                  <p:childTnLst>
                                    <p:set>
                                      <p:cBhvr>
                                        <p:cTn id="115" dur="1" fill="hold">
                                          <p:stCondLst>
                                            <p:cond delay="0"/>
                                          </p:stCondLst>
                                        </p:cTn>
                                        <p:tgtEl>
                                          <p:spTgt spid="39"/>
                                        </p:tgtEl>
                                        <p:attrNameLst>
                                          <p:attrName>style.visibility</p:attrName>
                                        </p:attrNameLst>
                                      </p:cBhvr>
                                      <p:to>
                                        <p:strVal val="visible"/>
                                      </p:to>
                                    </p:set>
                                    <p:anim calcmode="lin" valueType="num">
                                      <p:cBhvr additive="base">
                                        <p:cTn id="116" dur="500" fill="hold"/>
                                        <p:tgtEl>
                                          <p:spTgt spid="39"/>
                                        </p:tgtEl>
                                        <p:attrNameLst>
                                          <p:attrName>ppt_x</p:attrName>
                                        </p:attrNameLst>
                                      </p:cBhvr>
                                      <p:tavLst>
                                        <p:tav tm="0">
                                          <p:val>
                                            <p:strVal val="#ppt_x"/>
                                          </p:val>
                                        </p:tav>
                                        <p:tav tm="100000">
                                          <p:val>
                                            <p:strVal val="#ppt_x"/>
                                          </p:val>
                                        </p:tav>
                                      </p:tavLst>
                                    </p:anim>
                                    <p:anim calcmode="lin" valueType="num">
                                      <p:cBhvr additive="base">
                                        <p:cTn id="117" dur="500" fill="hold"/>
                                        <p:tgtEl>
                                          <p:spTgt spid="39"/>
                                        </p:tgtEl>
                                        <p:attrNameLst>
                                          <p:attrName>ppt_y</p:attrName>
                                        </p:attrNameLst>
                                      </p:cBhvr>
                                      <p:tavLst>
                                        <p:tav tm="0">
                                          <p:val>
                                            <p:strVal val="#ppt_y+0.1"/>
                                          </p:val>
                                        </p:tav>
                                        <p:tav tm="100000">
                                          <p:val>
                                            <p:strVal val="#ppt_y"/>
                                          </p:val>
                                        </p:tav>
                                      </p:tavLst>
                                    </p:anim>
                                    <p:animEffect transition="in" filter="fade">
                                      <p:cBhvr>
                                        <p:cTn id="118" dur="500"/>
                                        <p:tgtEl>
                                          <p:spTgt spid="39"/>
                                        </p:tgtEl>
                                      </p:cBhvr>
                                    </p:animEffect>
                                  </p:childTnLst>
                                </p:cTn>
                              </p:par>
                              <p:par>
                                <p:cTn id="124" presetID="2" presetClass="entr" presetSubtype="4" fill="hold" grpId="0" nodeType="withEffect">
                                  <p:stCondLst>
                                    <p:cond delay="500"/>
                                  </p:stCondLst>
                                  <p:childTnLst>
                                    <p:set>
                                      <p:cBhvr>
                                        <p:cTn id="120" dur="1" fill="hold">
                                          <p:stCondLst>
                                            <p:cond delay="0"/>
                                          </p:stCondLst>
                                        </p:cTn>
                                        <p:tgtEl>
                                          <p:spTgt spid="40"/>
                                        </p:tgtEl>
                                        <p:attrNameLst>
                                          <p:attrName>style.visibility</p:attrName>
                                        </p:attrNameLst>
                                      </p:cBhvr>
                                      <p:to>
                                        <p:strVal val="visible"/>
                                      </p:to>
                                    </p:set>
                                    <p:anim calcmode="lin" valueType="num">
                                      <p:cBhvr additive="base">
                                        <p:cTn id="121" dur="500" fill="hold"/>
                                        <p:tgtEl>
                                          <p:spTgt spid="40"/>
                                        </p:tgtEl>
                                        <p:attrNameLst>
                                          <p:attrName>ppt_x</p:attrName>
                                        </p:attrNameLst>
                                      </p:cBhvr>
                                      <p:tavLst>
                                        <p:tav tm="0">
                                          <p:val>
                                            <p:strVal val="#ppt_x"/>
                                          </p:val>
                                        </p:tav>
                                        <p:tav tm="100000">
                                          <p:val>
                                            <p:strVal val="#ppt_x"/>
                                          </p:val>
                                        </p:tav>
                                      </p:tavLst>
                                    </p:anim>
                                    <p:anim calcmode="lin" valueType="num">
                                      <p:cBhvr additive="base">
                                        <p:cTn id="122" dur="500" fill="hold"/>
                                        <p:tgtEl>
                                          <p:spTgt spid="40"/>
                                        </p:tgtEl>
                                        <p:attrNameLst>
                                          <p:attrName>ppt_y</p:attrName>
                                        </p:attrNameLst>
                                      </p:cBhvr>
                                      <p:tavLst>
                                        <p:tav tm="0">
                                          <p:val>
                                            <p:strVal val="#ppt_y+0.1"/>
                                          </p:val>
                                        </p:tav>
                                        <p:tav tm="100000">
                                          <p:val>
                                            <p:strVal val="#ppt_y"/>
                                          </p:val>
                                        </p:tav>
                                      </p:tavLst>
                                    </p:anim>
                                    <p:animEffect transition="in" filter="fade">
                                      <p:cBhvr>
                                        <p:cTn id="12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Inside a Message: The Key</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Usually an identifier for what the message is about</a:t>
            </a:r>
          </a:p>
        </p:txBody>
      </p:sp>
      <p:sp>
        <p:nvSpPr>
          <p:cNvPr id="11" name="a0f_card10"/>
          <p:cNvSpPr/>
          <p:nvPr/>
        </p:nvSpPr>
        <p:spPr>
          <a:xfrm>
            <a:off x="457200" y="1261872"/>
            <a:ext cx="4297680" cy="3218688"/>
          </a:xfrm>
          <a:prstGeom prst="roundRect">
            <a:avLst>
              <a:gd name="adj" fmla="val 34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mh11"/>
          <p:cNvSpPr txBox="1"/>
          <p:nvPr/>
        </p:nvSpPr>
        <p:spPr>
          <a:xfrm>
            <a:off x="640080" y="1353312"/>
            <a:ext cx="3931920" cy="219456"/>
          </a:xfrm>
          <a:prstGeom prst="rect">
            <a:avLst/>
          </a:prstGeom>
          <a:noFill/>
        </p:spPr>
        <p:txBody>
          <a:bodyPr wrap="square" lIns="0" tIns="0" rIns="0" bIns="0" anchor="ctr">
            <a:spAutoFit/>
          </a:bodyPr>
          <a:lstStyle/>
          <a:p>
            <a:pPr algn="l"/>
            <a:r>
              <a:rPr sz="850" b="1" spc="160">
                <a:solidFill>
                  <a:srgbClr val="78716C"/>
                </a:solidFill>
                <a:latin typeface="Segoe UI"/>
              </a:rPr>
              <a:t>ONE MESSAGE</a:t>
            </a:r>
          </a:p>
        </p:txBody>
      </p:sp>
      <p:sp>
        <p:nvSpPr>
          <p:cNvPr id="13" name="a0f_mhi12"/>
          <p:cNvSpPr/>
          <p:nvPr/>
        </p:nvSpPr>
        <p:spPr>
          <a:xfrm>
            <a:off x="566928" y="1645919"/>
            <a:ext cx="4078224" cy="283464"/>
          </a:xfrm>
          <a:prstGeom prst="roundRect">
            <a:avLst>
              <a:gd name="adj" fmla="val 16129"/>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_mha13"/>
          <p:cNvSpPr/>
          <p:nvPr/>
        </p:nvSpPr>
        <p:spPr>
          <a:xfrm>
            <a:off x="566928" y="1645919"/>
            <a:ext cx="45720" cy="2834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_mk14"/>
          <p:cNvSpPr txBox="1"/>
          <p:nvPr/>
        </p:nvSpPr>
        <p:spPr>
          <a:xfrm>
            <a:off x="713232" y="1645919"/>
            <a:ext cx="960120" cy="283464"/>
          </a:xfrm>
          <a:prstGeom prst="rect">
            <a:avLst/>
          </a:prstGeom>
          <a:noFill/>
        </p:spPr>
        <p:txBody>
          <a:bodyPr wrap="square" lIns="0" tIns="0" rIns="0" bIns="0" anchor="ctr">
            <a:spAutoFit/>
          </a:bodyPr>
          <a:lstStyle/>
          <a:p>
            <a:pPr algn="l"/>
            <a:r>
              <a:rPr sz="950" b="1">
                <a:solidFill>
                  <a:srgbClr val="0E7490"/>
                </a:solidFill>
                <a:latin typeface="Consolas"/>
              </a:rPr>
              <a:t>key</a:t>
            </a:r>
          </a:p>
        </p:txBody>
      </p:sp>
      <p:sp>
        <p:nvSpPr>
          <p:cNvPr id="16" name="a0f_mv15"/>
          <p:cNvSpPr txBox="1"/>
          <p:nvPr/>
        </p:nvSpPr>
        <p:spPr>
          <a:xfrm>
            <a:off x="1719072" y="1645919"/>
            <a:ext cx="2880360" cy="283464"/>
          </a:xfrm>
          <a:prstGeom prst="rect">
            <a:avLst/>
          </a:prstGeom>
          <a:noFill/>
        </p:spPr>
        <p:txBody>
          <a:bodyPr wrap="square" lIns="0" tIns="0" rIns="0" bIns="0" anchor="ctr">
            <a:spAutoFit/>
          </a:bodyPr>
          <a:lstStyle/>
          <a:p>
            <a:pPr algn="l"/>
            <a:r>
              <a:rPr sz="950" b="1">
                <a:solidFill>
                  <a:srgbClr val="1C1917"/>
                </a:solidFill>
                <a:latin typeface="Consolas"/>
              </a:rPr>
              <a:t>42</a:t>
            </a:r>
          </a:p>
        </p:txBody>
      </p:sp>
      <p:sp>
        <p:nvSpPr>
          <p:cNvPr id="17" name="a0f_mk16"/>
          <p:cNvSpPr txBox="1"/>
          <p:nvPr/>
        </p:nvSpPr>
        <p:spPr>
          <a:xfrm>
            <a:off x="713232" y="1975103"/>
            <a:ext cx="960120" cy="283464"/>
          </a:xfrm>
          <a:prstGeom prst="rect">
            <a:avLst/>
          </a:prstGeom>
          <a:noFill/>
        </p:spPr>
        <p:txBody>
          <a:bodyPr wrap="square" lIns="0" tIns="0" rIns="0" bIns="0" anchor="ctr">
            <a:spAutoFit/>
          </a:bodyPr>
          <a:lstStyle/>
          <a:p>
            <a:pPr algn="l"/>
            <a:r>
              <a:rPr sz="950" b="1">
                <a:solidFill>
                  <a:srgbClr val="78716C"/>
                </a:solidFill>
                <a:latin typeface="Consolas"/>
              </a:rPr>
              <a:t>value</a:t>
            </a:r>
          </a:p>
        </p:txBody>
      </p:sp>
      <p:sp>
        <p:nvSpPr>
          <p:cNvPr id="18" name="a0f_mv17"/>
          <p:cNvSpPr txBox="1"/>
          <p:nvPr/>
        </p:nvSpPr>
        <p:spPr>
          <a:xfrm>
            <a:off x="1719072" y="2011679"/>
            <a:ext cx="2880360" cy="1024127"/>
          </a:xfrm>
          <a:prstGeom prst="rect">
            <a:avLst/>
          </a:prstGeom>
          <a:noFill/>
        </p:spPr>
        <p:txBody>
          <a:bodyPr wrap="square" lIns="0" tIns="0" rIns="0" bIns="0" anchor="t">
            <a:spAutoFit/>
          </a:bodyPr>
          <a:lstStyle/>
          <a:p>
            <a:pPr algn="l"/>
            <a:r>
              <a:rPr sz="900" b="0">
                <a:solidFill>
                  <a:srgbClr val="A8A29E"/>
                </a:solidFill>
                <a:latin typeface="Consolas"/>
              </a:rPr>
              <a:t>{</a:t>
            </a:r>
          </a:p>
          <a:p>
            <a:pPr algn="l"/>
            <a:r>
              <a:rPr sz="900" b="0">
                <a:solidFill>
                  <a:srgbClr val="A8A29E"/>
                </a:solidFill>
                <a:latin typeface="Consolas"/>
              </a:rPr>
              <a:t>  "sensor_id": 42,</a:t>
            </a:r>
          </a:p>
          <a:p>
            <a:pPr algn="l"/>
            <a:r>
              <a:rPr sz="900" b="0">
                <a:solidFill>
                  <a:srgbClr val="A8A29E"/>
                </a:solidFill>
                <a:latin typeface="Consolas"/>
              </a:rPr>
              <a:t>  "location": "kitchen",</a:t>
            </a:r>
          </a:p>
          <a:p>
            <a:pPr algn="l"/>
            <a:r>
              <a:rPr sz="900" b="0">
                <a:solidFill>
                  <a:srgbClr val="A8A29E"/>
                </a:solidFill>
                <a:latin typeface="Consolas"/>
              </a:rPr>
              <a:t>  "temperature": 24,</a:t>
            </a:r>
          </a:p>
          <a:p>
            <a:pPr algn="l"/>
            <a:r>
              <a:rPr sz="900" b="0">
                <a:solidFill>
                  <a:srgbClr val="A8A29E"/>
                </a:solidFill>
                <a:latin typeface="Consolas"/>
              </a:rPr>
              <a:t>  "read_at": "2025-06-12T14:05:09Z"</a:t>
            </a:r>
          </a:p>
          <a:p>
            <a:pPr algn="l"/>
            <a:r>
              <a:rPr sz="900" b="0">
                <a:solidFill>
                  <a:srgbClr val="A8A29E"/>
                </a:solidFill>
                <a:latin typeface="Consolas"/>
              </a:rPr>
              <a:t>}</a:t>
            </a:r>
          </a:p>
        </p:txBody>
      </p:sp>
      <p:sp>
        <p:nvSpPr>
          <p:cNvPr id="19" name="a0f_mk18"/>
          <p:cNvSpPr txBox="1"/>
          <p:nvPr/>
        </p:nvSpPr>
        <p:spPr>
          <a:xfrm>
            <a:off x="713232" y="3090672"/>
            <a:ext cx="960120" cy="283464"/>
          </a:xfrm>
          <a:prstGeom prst="rect">
            <a:avLst/>
          </a:prstGeom>
          <a:noFill/>
        </p:spPr>
        <p:txBody>
          <a:bodyPr wrap="square" lIns="0" tIns="0" rIns="0" bIns="0" anchor="ctr">
            <a:spAutoFit/>
          </a:bodyPr>
          <a:lstStyle/>
          <a:p>
            <a:pPr algn="l"/>
            <a:r>
              <a:rPr sz="950" b="1">
                <a:solidFill>
                  <a:srgbClr val="78716C"/>
                </a:solidFill>
                <a:latin typeface="Consolas"/>
              </a:rPr>
              <a:t>timestamp</a:t>
            </a:r>
          </a:p>
        </p:txBody>
      </p:sp>
      <p:sp>
        <p:nvSpPr>
          <p:cNvPr id="20" name="a0f_mv19"/>
          <p:cNvSpPr txBox="1"/>
          <p:nvPr/>
        </p:nvSpPr>
        <p:spPr>
          <a:xfrm>
            <a:off x="1719072" y="3090672"/>
            <a:ext cx="2880360" cy="283464"/>
          </a:xfrm>
          <a:prstGeom prst="rect">
            <a:avLst/>
          </a:prstGeom>
          <a:noFill/>
        </p:spPr>
        <p:txBody>
          <a:bodyPr wrap="square" lIns="0" tIns="0" rIns="0" bIns="0" anchor="ctr">
            <a:spAutoFit/>
          </a:bodyPr>
          <a:lstStyle/>
          <a:p>
            <a:pPr algn="l"/>
            <a:r>
              <a:rPr sz="950" b="0">
                <a:solidFill>
                  <a:srgbClr val="A8A29E"/>
                </a:solidFill>
                <a:latin typeface="Consolas"/>
              </a:rPr>
              <a:t>2025-06-12 14:05:09.000</a:t>
            </a:r>
          </a:p>
        </p:txBody>
      </p:sp>
      <p:sp>
        <p:nvSpPr>
          <p:cNvPr id="21" name="a0f_mk20"/>
          <p:cNvSpPr txBox="1"/>
          <p:nvPr/>
        </p:nvSpPr>
        <p:spPr>
          <a:xfrm>
            <a:off x="713232" y="3419856"/>
            <a:ext cx="960120" cy="283464"/>
          </a:xfrm>
          <a:prstGeom prst="rect">
            <a:avLst/>
          </a:prstGeom>
          <a:noFill/>
        </p:spPr>
        <p:txBody>
          <a:bodyPr wrap="square" lIns="0" tIns="0" rIns="0" bIns="0" anchor="ctr">
            <a:spAutoFit/>
          </a:bodyPr>
          <a:lstStyle/>
          <a:p>
            <a:pPr algn="l"/>
            <a:r>
              <a:rPr sz="950" b="1">
                <a:solidFill>
                  <a:srgbClr val="78716C"/>
                </a:solidFill>
                <a:latin typeface="Consolas"/>
              </a:rPr>
              <a:t>headers</a:t>
            </a:r>
          </a:p>
        </p:txBody>
      </p:sp>
      <p:sp>
        <p:nvSpPr>
          <p:cNvPr id="22" name="a0f_mv21"/>
          <p:cNvSpPr txBox="1"/>
          <p:nvPr/>
        </p:nvSpPr>
        <p:spPr>
          <a:xfrm>
            <a:off x="1719072" y="3419856"/>
            <a:ext cx="2880360" cy="283464"/>
          </a:xfrm>
          <a:prstGeom prst="rect">
            <a:avLst/>
          </a:prstGeom>
          <a:noFill/>
        </p:spPr>
        <p:txBody>
          <a:bodyPr wrap="square" lIns="0" tIns="0" rIns="0" bIns="0" anchor="ctr">
            <a:spAutoFit/>
          </a:bodyPr>
          <a:lstStyle/>
          <a:p>
            <a:pPr algn="l"/>
            <a:r>
              <a:rPr sz="950" b="0">
                <a:solidFill>
                  <a:srgbClr val="A8A29E"/>
                </a:solidFill>
                <a:latin typeface="Consolas"/>
              </a:rPr>
              <a:t>firmware = 2.4.1   hub = home-7</a:t>
            </a:r>
          </a:p>
        </p:txBody>
      </p:sp>
      <p:sp>
        <p:nvSpPr>
          <p:cNvPr id="23" name="a0f_mk22"/>
          <p:cNvSpPr txBox="1"/>
          <p:nvPr/>
        </p:nvSpPr>
        <p:spPr>
          <a:xfrm>
            <a:off x="713232" y="3749039"/>
            <a:ext cx="960120" cy="283464"/>
          </a:xfrm>
          <a:prstGeom prst="rect">
            <a:avLst/>
          </a:prstGeom>
          <a:noFill/>
        </p:spPr>
        <p:txBody>
          <a:bodyPr wrap="square" lIns="0" tIns="0" rIns="0" bIns="0" anchor="ctr">
            <a:spAutoFit/>
          </a:bodyPr>
          <a:lstStyle/>
          <a:p>
            <a:pPr algn="l"/>
            <a:r>
              <a:rPr sz="950" b="1">
                <a:solidFill>
                  <a:srgbClr val="78716C"/>
                </a:solidFill>
                <a:latin typeface="Consolas"/>
              </a:rPr>
              <a:t>topic</a:t>
            </a:r>
          </a:p>
        </p:txBody>
      </p:sp>
      <p:sp>
        <p:nvSpPr>
          <p:cNvPr id="24" name="a0f_mv23"/>
          <p:cNvSpPr txBox="1"/>
          <p:nvPr/>
        </p:nvSpPr>
        <p:spPr>
          <a:xfrm>
            <a:off x="1719072" y="3749039"/>
            <a:ext cx="2880360" cy="283464"/>
          </a:xfrm>
          <a:prstGeom prst="rect">
            <a:avLst/>
          </a:prstGeom>
          <a:noFill/>
        </p:spPr>
        <p:txBody>
          <a:bodyPr wrap="square" lIns="0" tIns="0" rIns="0" bIns="0" anchor="ctr">
            <a:spAutoFit/>
          </a:bodyPr>
          <a:lstStyle/>
          <a:p>
            <a:pPr algn="l"/>
            <a:r>
              <a:rPr sz="950" b="0">
                <a:solidFill>
                  <a:srgbClr val="A8A29E"/>
                </a:solidFill>
                <a:latin typeface="Consolas"/>
              </a:rPr>
              <a:t>thermostat_readings</a:t>
            </a:r>
          </a:p>
        </p:txBody>
      </p:sp>
      <p:sp>
        <p:nvSpPr>
          <p:cNvPr id="25" name="a0f_mk24"/>
          <p:cNvSpPr txBox="1"/>
          <p:nvPr/>
        </p:nvSpPr>
        <p:spPr>
          <a:xfrm>
            <a:off x="713232" y="4078224"/>
            <a:ext cx="960120" cy="283464"/>
          </a:xfrm>
          <a:prstGeom prst="rect">
            <a:avLst/>
          </a:prstGeom>
          <a:noFill/>
        </p:spPr>
        <p:txBody>
          <a:bodyPr wrap="square" lIns="0" tIns="0" rIns="0" bIns="0" anchor="ctr">
            <a:spAutoFit/>
          </a:bodyPr>
          <a:lstStyle/>
          <a:p>
            <a:pPr algn="l"/>
            <a:r>
              <a:rPr sz="950" b="1">
                <a:solidFill>
                  <a:srgbClr val="78716C"/>
                </a:solidFill>
                <a:latin typeface="Consolas"/>
              </a:rPr>
              <a:t>offset</a:t>
            </a:r>
          </a:p>
        </p:txBody>
      </p:sp>
      <p:sp>
        <p:nvSpPr>
          <p:cNvPr id="26" name="a0f_mv25"/>
          <p:cNvSpPr txBox="1"/>
          <p:nvPr/>
        </p:nvSpPr>
        <p:spPr>
          <a:xfrm>
            <a:off x="1719072" y="4078224"/>
            <a:ext cx="2880360" cy="283464"/>
          </a:xfrm>
          <a:prstGeom prst="rect">
            <a:avLst/>
          </a:prstGeom>
          <a:noFill/>
        </p:spPr>
        <p:txBody>
          <a:bodyPr wrap="square" lIns="0" tIns="0" rIns="0" bIns="0" anchor="ctr">
            <a:spAutoFit/>
          </a:bodyPr>
          <a:lstStyle/>
          <a:p>
            <a:pPr algn="l"/>
            <a:r>
              <a:rPr sz="950" b="0">
                <a:solidFill>
                  <a:srgbClr val="A8A29E"/>
                </a:solidFill>
                <a:latin typeface="Consolas"/>
              </a:rPr>
              <a:t>5</a:t>
            </a:r>
          </a:p>
        </p:txBody>
      </p:sp>
      <p:sp>
        <p:nvSpPr>
          <p:cNvPr id="27" name="a1f_sh26"/>
          <p:cNvSpPr txBox="1"/>
          <p:nvPr/>
        </p:nvSpPr>
        <p:spPr>
          <a:xfrm>
            <a:off x="4983480" y="1280160"/>
            <a:ext cx="3703320" cy="256032"/>
          </a:xfrm>
          <a:prstGeom prst="rect">
            <a:avLst/>
          </a:prstGeom>
          <a:noFill/>
        </p:spPr>
        <p:txBody>
          <a:bodyPr wrap="square" lIns="0" tIns="0" rIns="0" bIns="0" anchor="ctr">
            <a:spAutoFit/>
          </a:bodyPr>
          <a:lstStyle/>
          <a:p>
            <a:pPr algn="l"/>
            <a:r>
              <a:rPr sz="950" b="1" spc="120">
                <a:solidFill>
                  <a:srgbClr val="0E7490"/>
                </a:solidFill>
                <a:latin typeface="Segoe UI"/>
              </a:rPr>
              <a:t>KEY  ·  WHAT IT IS ABOUT</a:t>
            </a:r>
          </a:p>
        </p:txBody>
      </p:sp>
      <p:sp>
        <p:nvSpPr>
          <p:cNvPr id="28" name="a1ud100_dot27"/>
          <p:cNvSpPr/>
          <p:nvPr/>
        </p:nvSpPr>
        <p:spPr>
          <a:xfrm>
            <a:off x="4983480" y="176936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100_b28"/>
          <p:cNvSpPr txBox="1"/>
          <p:nvPr/>
        </p:nvSpPr>
        <p:spPr>
          <a:xfrm>
            <a:off x="5202936" y="1673352"/>
            <a:ext cx="3483863" cy="475488"/>
          </a:xfrm>
          <a:prstGeom prst="rect">
            <a:avLst/>
          </a:prstGeom>
          <a:noFill/>
        </p:spPr>
        <p:txBody>
          <a:bodyPr wrap="square" lIns="0" tIns="0" rIns="0" bIns="0" anchor="t">
            <a:spAutoFit/>
          </a:bodyPr>
          <a:lstStyle/>
          <a:p>
            <a:pPr algn="l"/>
            <a:r>
              <a:rPr sz="950" b="1">
                <a:solidFill>
                  <a:srgbClr val="1C1917"/>
                </a:solidFill>
                <a:latin typeface="Segoe UI"/>
              </a:rPr>
              <a:t>An identifier  </a:t>
            </a:r>
            <a:r>
              <a:rPr sz="950" b="0">
                <a:solidFill>
                  <a:srgbClr val="44403C"/>
                </a:solidFill>
                <a:latin typeface="Segoe UI"/>
              </a:rPr>
              <a:t>a thermostat id, a user id, an account id</a:t>
            </a:r>
          </a:p>
        </p:txBody>
      </p:sp>
      <p:sp>
        <p:nvSpPr>
          <p:cNvPr id="30" name="a1ud220_dot29"/>
          <p:cNvSpPr/>
          <p:nvPr/>
        </p:nvSpPr>
        <p:spPr>
          <a:xfrm>
            <a:off x="4983480" y="2281428"/>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ud220_b30"/>
          <p:cNvSpPr txBox="1"/>
          <p:nvPr/>
        </p:nvSpPr>
        <p:spPr>
          <a:xfrm>
            <a:off x="5202936" y="2185416"/>
            <a:ext cx="3483863" cy="475488"/>
          </a:xfrm>
          <a:prstGeom prst="rect">
            <a:avLst/>
          </a:prstGeom>
          <a:noFill/>
        </p:spPr>
        <p:txBody>
          <a:bodyPr wrap="square" lIns="0" tIns="0" rIns="0" bIns="0" anchor="t">
            <a:spAutoFit/>
          </a:bodyPr>
          <a:lstStyle/>
          <a:p>
            <a:pPr algn="l"/>
            <a:r>
              <a:rPr sz="950" b="1">
                <a:solidFill>
                  <a:srgbClr val="1C1917"/>
                </a:solidFill>
                <a:latin typeface="Segoe UI"/>
              </a:rPr>
              <a:t>Optional  </a:t>
            </a:r>
            <a:r>
              <a:rPr sz="950" b="0">
                <a:solidFill>
                  <a:srgbClr val="44403C"/>
                </a:solidFill>
                <a:latin typeface="Segoe UI"/>
              </a:rPr>
              <a:t>but most messages have one - keys unlock a lot of Kafka data modelling</a:t>
            </a:r>
          </a:p>
        </p:txBody>
      </p:sp>
      <p:sp>
        <p:nvSpPr>
          <p:cNvPr id="32" name="a1ud340_dot31"/>
          <p:cNvSpPr/>
          <p:nvPr/>
        </p:nvSpPr>
        <p:spPr>
          <a:xfrm>
            <a:off x="4983480" y="279349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ud340_b32"/>
          <p:cNvSpPr txBox="1"/>
          <p:nvPr/>
        </p:nvSpPr>
        <p:spPr>
          <a:xfrm>
            <a:off x="5202936" y="2697480"/>
            <a:ext cx="3483863" cy="475488"/>
          </a:xfrm>
          <a:prstGeom prst="rect">
            <a:avLst/>
          </a:prstGeom>
          <a:noFill/>
        </p:spPr>
        <p:txBody>
          <a:bodyPr wrap="square" lIns="0" tIns="0" rIns="0" bIns="0" anchor="t">
            <a:spAutoFit/>
          </a:bodyPr>
          <a:lstStyle/>
          <a:p>
            <a:pPr algn="l"/>
            <a:r>
              <a:rPr sz="950" b="1">
                <a:solidFill>
                  <a:srgbClr val="1C1917"/>
                </a:solidFill>
                <a:latin typeface="Segoe UI"/>
              </a:rPr>
              <a:t>Choose it carefully  </a:t>
            </a:r>
            <a:r>
              <a:rPr sz="950" b="0">
                <a:solidFill>
                  <a:srgbClr val="44403C"/>
                </a:solidFill>
                <a:latin typeface="Segoe UI"/>
              </a:rPr>
              <a:t>it decides how data is spread across the cluster's nodes</a:t>
            </a:r>
          </a:p>
        </p:txBody>
      </p:sp>
      <p:sp>
        <p:nvSpPr>
          <p:cNvPr id="34" name="a2u_pill33"/>
          <p:cNvSpPr/>
          <p:nvPr/>
        </p:nvSpPr>
        <p:spPr>
          <a:xfrm>
            <a:off x="4983480" y="3401568"/>
            <a:ext cx="1554480" cy="32918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0E7490"/>
                </a:solidFill>
                <a:latin typeface="Consolas"/>
              </a:rPr>
              <a:t>sensor_id 42</a:t>
            </a:r>
          </a:p>
        </p:txBody>
      </p:sp>
      <p:cxnSp>
        <p:nvCxnSpPr>
          <p:cNvPr id="35" name="a2ud100_ar34"/>
          <p:cNvCxnSpPr/>
          <p:nvPr/>
        </p:nvCxnSpPr>
        <p:spPr>
          <a:xfrm>
            <a:off x="6583680" y="3566160"/>
            <a:ext cx="457200"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2ud150_pill35"/>
          <p:cNvSpPr/>
          <p:nvPr/>
        </p:nvSpPr>
        <p:spPr>
          <a:xfrm>
            <a:off x="7086600" y="3401568"/>
            <a:ext cx="1097280" cy="329184"/>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FFFFFF"/>
                </a:solidFill>
                <a:latin typeface="Consolas"/>
              </a:rPr>
              <a:t>key 42</a:t>
            </a:r>
          </a:p>
        </p:txBody>
      </p:sp>
      <p:sp>
        <p:nvSpPr>
          <p:cNvPr id="37" name="a2ud300_kn36"/>
          <p:cNvSpPr txBox="1"/>
          <p:nvPr/>
        </p:nvSpPr>
        <p:spPr>
          <a:xfrm>
            <a:off x="4983480" y="3886200"/>
            <a:ext cx="3703320" cy="457200"/>
          </a:xfrm>
          <a:prstGeom prst="rect">
            <a:avLst/>
          </a:prstGeom>
          <a:noFill/>
        </p:spPr>
        <p:txBody>
          <a:bodyPr wrap="square" lIns="0" tIns="0" rIns="0" bIns="0" anchor="t">
            <a:spAutoFit/>
          </a:bodyPr>
          <a:lstStyle/>
          <a:p>
            <a:pPr algn="l"/>
            <a:r>
              <a:rPr sz="850" b="0">
                <a:solidFill>
                  <a:srgbClr val="78716C"/>
                </a:solidFill>
                <a:latin typeface="Segoe UI"/>
              </a:rPr>
              <a:t>How the key spreads data across the cluster is the subject of the next module, Partitions.</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12</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7" presetID="10" presetClass="entr" presetSubtype="0"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par>
                                <p:cTn id="62" presetID="2" presetClass="entr" presetSubtype="4" fill="hold" grpId="0" nodeType="withEffect">
                                  <p:stCondLst>
                                    <p:cond delay="10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ppt_y+0.1"/>
                                          </p:val>
                                        </p:tav>
                                        <p:tav tm="100000">
                                          <p:val>
                                            <p:strVal val="#ppt_y"/>
                                          </p:val>
                                        </p:tav>
                                      </p:tavLst>
                                    </p:anim>
                                    <p:animEffect transition="in" filter="fade">
                                      <p:cBhvr>
                                        <p:cTn id="61" dur="500"/>
                                        <p:tgtEl>
                                          <p:spTgt spid="28"/>
                                        </p:tgtEl>
                                      </p:cBhvr>
                                    </p:animEffect>
                                  </p:childTnLst>
                                </p:cTn>
                              </p:par>
                              <p:par>
                                <p:cTn id="67" presetID="2" presetClass="entr" presetSubtype="4" fill="hold" grpId="0" nodeType="withEffect">
                                  <p:stCondLst>
                                    <p:cond delay="100"/>
                                  </p:stCondLst>
                                  <p:childTnLst>
                                    <p:set>
                                      <p:cBhvr>
                                        <p:cTn id="63" dur="1" fill="hold">
                                          <p:stCondLst>
                                            <p:cond delay="0"/>
                                          </p:stCondLst>
                                        </p:cTn>
                                        <p:tgtEl>
                                          <p:spTgt spid="29"/>
                                        </p:tgtEl>
                                        <p:attrNameLst>
                                          <p:attrName>style.visibility</p:attrName>
                                        </p:attrNameLst>
                                      </p:cBhvr>
                                      <p:to>
                                        <p:strVal val="visible"/>
                                      </p:to>
                                    </p:set>
                                    <p:anim calcmode="lin" valueType="num">
                                      <p:cBhvr additive="base">
                                        <p:cTn id="64" dur="500" fill="hold"/>
                                        <p:tgtEl>
                                          <p:spTgt spid="29"/>
                                        </p:tgtEl>
                                        <p:attrNameLst>
                                          <p:attrName>ppt_x</p:attrName>
                                        </p:attrNameLst>
                                      </p:cBhvr>
                                      <p:tavLst>
                                        <p:tav tm="0">
                                          <p:val>
                                            <p:strVal val="#ppt_x"/>
                                          </p:val>
                                        </p:tav>
                                        <p:tav tm="100000">
                                          <p:val>
                                            <p:strVal val="#ppt_x"/>
                                          </p:val>
                                        </p:tav>
                                      </p:tavLst>
                                    </p:anim>
                                    <p:anim calcmode="lin" valueType="num">
                                      <p:cBhvr additive="base">
                                        <p:cTn id="65" dur="500" fill="hold"/>
                                        <p:tgtEl>
                                          <p:spTgt spid="29"/>
                                        </p:tgtEl>
                                        <p:attrNameLst>
                                          <p:attrName>ppt_y</p:attrName>
                                        </p:attrNameLst>
                                      </p:cBhvr>
                                      <p:tavLst>
                                        <p:tav tm="0">
                                          <p:val>
                                            <p:strVal val="#ppt_y+0.1"/>
                                          </p:val>
                                        </p:tav>
                                        <p:tav tm="100000">
                                          <p:val>
                                            <p:strVal val="#ppt_y"/>
                                          </p:val>
                                        </p:tav>
                                      </p:tavLst>
                                    </p:anim>
                                    <p:animEffect transition="in" filter="fade">
                                      <p:cBhvr>
                                        <p:cTn id="66" dur="500"/>
                                        <p:tgtEl>
                                          <p:spTgt spid="29"/>
                                        </p:tgtEl>
                                      </p:cBhvr>
                                    </p:animEffect>
                                  </p:childTnLst>
                                </p:cTn>
                              </p:par>
                              <p:par>
                                <p:cTn id="72" presetID="2" presetClass="entr" presetSubtype="4" fill="hold" grpId="0" nodeType="withEffect">
                                  <p:stCondLst>
                                    <p:cond delay="220"/>
                                  </p:stCondLst>
                                  <p:childTnLst>
                                    <p:set>
                                      <p:cBhvr>
                                        <p:cTn id="68" dur="1" fill="hold">
                                          <p:stCondLst>
                                            <p:cond delay="0"/>
                                          </p:stCondLst>
                                        </p:cTn>
                                        <p:tgtEl>
                                          <p:spTgt spid="30"/>
                                        </p:tgtEl>
                                        <p:attrNameLst>
                                          <p:attrName>style.visibility</p:attrName>
                                        </p:attrNameLst>
                                      </p:cBhvr>
                                      <p:to>
                                        <p:strVal val="visible"/>
                                      </p:to>
                                    </p:set>
                                    <p:anim calcmode="lin" valueType="num">
                                      <p:cBhvr additive="base">
                                        <p:cTn id="69" dur="500" fill="hold"/>
                                        <p:tgtEl>
                                          <p:spTgt spid="30"/>
                                        </p:tgtEl>
                                        <p:attrNameLst>
                                          <p:attrName>ppt_x</p:attrName>
                                        </p:attrNameLst>
                                      </p:cBhvr>
                                      <p:tavLst>
                                        <p:tav tm="0">
                                          <p:val>
                                            <p:strVal val="#ppt_x"/>
                                          </p:val>
                                        </p:tav>
                                        <p:tav tm="100000">
                                          <p:val>
                                            <p:strVal val="#ppt_x"/>
                                          </p:val>
                                        </p:tav>
                                      </p:tavLst>
                                    </p:anim>
                                    <p:anim calcmode="lin" valueType="num">
                                      <p:cBhvr additive="base">
                                        <p:cTn id="70" dur="500" fill="hold"/>
                                        <p:tgtEl>
                                          <p:spTgt spid="30"/>
                                        </p:tgtEl>
                                        <p:attrNameLst>
                                          <p:attrName>ppt_y</p:attrName>
                                        </p:attrNameLst>
                                      </p:cBhvr>
                                      <p:tavLst>
                                        <p:tav tm="0">
                                          <p:val>
                                            <p:strVal val="#ppt_y+0.1"/>
                                          </p:val>
                                        </p:tav>
                                        <p:tav tm="100000">
                                          <p:val>
                                            <p:strVal val="#ppt_y"/>
                                          </p:val>
                                        </p:tav>
                                      </p:tavLst>
                                    </p:anim>
                                    <p:animEffect transition="in" filter="fade">
                                      <p:cBhvr>
                                        <p:cTn id="71" dur="500"/>
                                        <p:tgtEl>
                                          <p:spTgt spid="30"/>
                                        </p:tgtEl>
                                      </p:cBhvr>
                                    </p:animEffect>
                                  </p:childTnLst>
                                </p:cTn>
                              </p:par>
                              <p:par>
                                <p:cTn id="77" presetID="2" presetClass="entr" presetSubtype="4" fill="hold" grpId="0" nodeType="withEffect">
                                  <p:stCondLst>
                                    <p:cond delay="220"/>
                                  </p:stCondLst>
                                  <p:childTnLst>
                                    <p:set>
                                      <p:cBhvr>
                                        <p:cTn id="73" dur="1" fill="hold">
                                          <p:stCondLst>
                                            <p:cond delay="0"/>
                                          </p:stCondLst>
                                        </p:cTn>
                                        <p:tgtEl>
                                          <p:spTgt spid="31"/>
                                        </p:tgtEl>
                                        <p:attrNameLst>
                                          <p:attrName>style.visibility</p:attrName>
                                        </p:attrNameLst>
                                      </p:cBhvr>
                                      <p:to>
                                        <p:strVal val="visible"/>
                                      </p:to>
                                    </p:set>
                                    <p:anim calcmode="lin" valueType="num">
                                      <p:cBhvr additive="base">
                                        <p:cTn id="74" dur="500" fill="hold"/>
                                        <p:tgtEl>
                                          <p:spTgt spid="31"/>
                                        </p:tgtEl>
                                        <p:attrNameLst>
                                          <p:attrName>ppt_x</p:attrName>
                                        </p:attrNameLst>
                                      </p:cBhvr>
                                      <p:tavLst>
                                        <p:tav tm="0">
                                          <p:val>
                                            <p:strVal val="#ppt_x"/>
                                          </p:val>
                                        </p:tav>
                                        <p:tav tm="100000">
                                          <p:val>
                                            <p:strVal val="#ppt_x"/>
                                          </p:val>
                                        </p:tav>
                                      </p:tavLst>
                                    </p:anim>
                                    <p:anim calcmode="lin" valueType="num">
                                      <p:cBhvr additive="base">
                                        <p:cTn id="75" dur="500" fill="hold"/>
                                        <p:tgtEl>
                                          <p:spTgt spid="31"/>
                                        </p:tgtEl>
                                        <p:attrNameLst>
                                          <p:attrName>ppt_y</p:attrName>
                                        </p:attrNameLst>
                                      </p:cBhvr>
                                      <p:tavLst>
                                        <p:tav tm="0">
                                          <p:val>
                                            <p:strVal val="#ppt_y+0.1"/>
                                          </p:val>
                                        </p:tav>
                                        <p:tav tm="100000">
                                          <p:val>
                                            <p:strVal val="#ppt_y"/>
                                          </p:val>
                                        </p:tav>
                                      </p:tavLst>
                                    </p:anim>
                                    <p:animEffect transition="in" filter="fade">
                                      <p:cBhvr>
                                        <p:cTn id="76" dur="500"/>
                                        <p:tgtEl>
                                          <p:spTgt spid="31"/>
                                        </p:tgtEl>
                                      </p:cBhvr>
                                    </p:animEffect>
                                  </p:childTnLst>
                                </p:cTn>
                              </p:par>
                              <p:par>
                                <p:cTn id="82" presetID="2" presetClass="entr" presetSubtype="4" fill="hold" grpId="0" nodeType="withEffect">
                                  <p:stCondLst>
                                    <p:cond delay="34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ppt_x"/>
                                          </p:val>
                                        </p:tav>
                                        <p:tav tm="100000">
                                          <p:val>
                                            <p:strVal val="#ppt_x"/>
                                          </p:val>
                                        </p:tav>
                                      </p:tavLst>
                                    </p:anim>
                                    <p:anim calcmode="lin" valueType="num">
                                      <p:cBhvr additive="base">
                                        <p:cTn id="80" dur="500" fill="hold"/>
                                        <p:tgtEl>
                                          <p:spTgt spid="32"/>
                                        </p:tgtEl>
                                        <p:attrNameLst>
                                          <p:attrName>ppt_y</p:attrName>
                                        </p:attrNameLst>
                                      </p:cBhvr>
                                      <p:tavLst>
                                        <p:tav tm="0">
                                          <p:val>
                                            <p:strVal val="#ppt_y+0.1"/>
                                          </p:val>
                                        </p:tav>
                                        <p:tav tm="100000">
                                          <p:val>
                                            <p:strVal val="#ppt_y"/>
                                          </p:val>
                                        </p:tav>
                                      </p:tavLst>
                                    </p:anim>
                                    <p:animEffect transition="in" filter="fade">
                                      <p:cBhvr>
                                        <p:cTn id="81" dur="500"/>
                                        <p:tgtEl>
                                          <p:spTgt spid="32"/>
                                        </p:tgtEl>
                                      </p:cBhvr>
                                    </p:animEffect>
                                  </p:childTnLst>
                                </p:cTn>
                              </p:par>
                              <p:par>
                                <p:cTn id="87" presetID="2" presetClass="entr" presetSubtype="4" fill="hold" grpId="0" nodeType="withEffect">
                                  <p:stCondLst>
                                    <p:cond delay="340"/>
                                  </p:stCondLst>
                                  <p:childTnLst>
                                    <p:set>
                                      <p:cBhvr>
                                        <p:cTn id="83" dur="1" fill="hold">
                                          <p:stCondLst>
                                            <p:cond delay="0"/>
                                          </p:stCondLst>
                                        </p:cTn>
                                        <p:tgtEl>
                                          <p:spTgt spid="33"/>
                                        </p:tgtEl>
                                        <p:attrNameLst>
                                          <p:attrName>style.visibility</p:attrName>
                                        </p:attrNameLst>
                                      </p:cBhvr>
                                      <p:to>
                                        <p:strVal val="visible"/>
                                      </p:to>
                                    </p:set>
                                    <p:anim calcmode="lin" valueType="num">
                                      <p:cBhvr additive="base">
                                        <p:cTn id="84" dur="500" fill="hold"/>
                                        <p:tgtEl>
                                          <p:spTgt spid="33"/>
                                        </p:tgtEl>
                                        <p:attrNameLst>
                                          <p:attrName>ppt_x</p:attrName>
                                        </p:attrNameLst>
                                      </p:cBhvr>
                                      <p:tavLst>
                                        <p:tav tm="0">
                                          <p:val>
                                            <p:strVal val="#ppt_x"/>
                                          </p:val>
                                        </p:tav>
                                        <p:tav tm="100000">
                                          <p:val>
                                            <p:strVal val="#ppt_x"/>
                                          </p:val>
                                        </p:tav>
                                      </p:tavLst>
                                    </p:anim>
                                    <p:anim calcmode="lin" valueType="num">
                                      <p:cBhvr additive="base">
                                        <p:cTn id="85" dur="500" fill="hold"/>
                                        <p:tgtEl>
                                          <p:spTgt spid="33"/>
                                        </p:tgtEl>
                                        <p:attrNameLst>
                                          <p:attrName>ppt_y</p:attrName>
                                        </p:attrNameLst>
                                      </p:cBhvr>
                                      <p:tavLst>
                                        <p:tav tm="0">
                                          <p:val>
                                            <p:strVal val="#ppt_y+0.1"/>
                                          </p:val>
                                        </p:tav>
                                        <p:tav tm="100000">
                                          <p:val>
                                            <p:strVal val="#ppt_y"/>
                                          </p:val>
                                        </p:tav>
                                      </p:tavLst>
                                    </p:anim>
                                    <p:animEffect transition="in" filter="fade">
                                      <p:cBhvr>
                                        <p:cTn id="86" dur="500"/>
                                        <p:tgtEl>
                                          <p:spTgt spid="33"/>
                                        </p:tgtEl>
                                      </p:cBhvr>
                                    </p:animEffect>
                                  </p:childTnLst>
                                </p:cTn>
                              </p:par>
                            </p:childTnLst>
                          </p:cTn>
                        </p:par>
                      </p:childTnLst>
                    </p:cTn>
                  </p:par>
                  <p:par>
                    <p:cTn id="88" fill="hold">
                      <p:stCondLst>
                        <p:cond delay="indefinite"/>
                      </p:stCondLst>
                      <p:childTnLst>
                        <p:par>
                          <p:cTn id="89" fill="hold">
                            <p:stCondLst>
                              <p:cond delay="0"/>
                            </p:stCondLst>
                            <p:childTnLst>
                              <p:par>
                                <p:cTn id="94" presetID="2" presetClass="entr" presetSubtype="4" fill="hold" grpId="0" nodeType="clickEffect">
                                  <p:stCondLst>
                                    <p:cond delay="0"/>
                                  </p:stCondLst>
                                  <p:childTnLst>
                                    <p:set>
                                      <p:cBhvr>
                                        <p:cTn id="90" dur="1" fill="hold">
                                          <p:stCondLst>
                                            <p:cond delay="0"/>
                                          </p:stCondLst>
                                        </p:cTn>
                                        <p:tgtEl>
                                          <p:spTgt spid="34"/>
                                        </p:tgtEl>
                                        <p:attrNameLst>
                                          <p:attrName>style.visibility</p:attrName>
                                        </p:attrNameLst>
                                      </p:cBhvr>
                                      <p:to>
                                        <p:strVal val="visible"/>
                                      </p:to>
                                    </p:set>
                                    <p:anim calcmode="lin" valueType="num">
                                      <p:cBhvr additive="base">
                                        <p:cTn id="91" dur="500" fill="hold"/>
                                        <p:tgtEl>
                                          <p:spTgt spid="34"/>
                                        </p:tgtEl>
                                        <p:attrNameLst>
                                          <p:attrName>ppt_x</p:attrName>
                                        </p:attrNameLst>
                                      </p:cBhvr>
                                      <p:tavLst>
                                        <p:tav tm="0">
                                          <p:val>
                                            <p:strVal val="#ppt_x"/>
                                          </p:val>
                                        </p:tav>
                                        <p:tav tm="100000">
                                          <p:val>
                                            <p:strVal val="#ppt_x"/>
                                          </p:val>
                                        </p:tav>
                                      </p:tavLst>
                                    </p:anim>
                                    <p:anim calcmode="lin" valueType="num">
                                      <p:cBhvr additive="base">
                                        <p:cTn id="92" dur="500" fill="hold"/>
                                        <p:tgtEl>
                                          <p:spTgt spid="34"/>
                                        </p:tgtEl>
                                        <p:attrNameLst>
                                          <p:attrName>ppt_y</p:attrName>
                                        </p:attrNameLst>
                                      </p:cBhvr>
                                      <p:tavLst>
                                        <p:tav tm="0">
                                          <p:val>
                                            <p:strVal val="#ppt_y+0.1"/>
                                          </p:val>
                                        </p:tav>
                                        <p:tav tm="100000">
                                          <p:val>
                                            <p:strVal val="#ppt_y"/>
                                          </p:val>
                                        </p:tav>
                                      </p:tavLst>
                                    </p:anim>
                                    <p:animEffect transition="in" filter="fade">
                                      <p:cBhvr>
                                        <p:cTn id="93" dur="500"/>
                                        <p:tgtEl>
                                          <p:spTgt spid="34"/>
                                        </p:tgtEl>
                                      </p:cBhvr>
                                    </p:animEffect>
                                  </p:childTnLst>
                                </p:cTn>
                              </p:par>
                              <p:par>
                                <p:cTn id="99" presetID="2" presetClass="entr" presetSubtype="4" fill="hold" grpId="0" nodeType="withEffect">
                                  <p:stCondLst>
                                    <p:cond delay="100"/>
                                  </p:stCondLst>
                                  <p:childTnLst>
                                    <p:set>
                                      <p:cBhvr>
                                        <p:cTn id="95" dur="1" fill="hold">
                                          <p:stCondLst>
                                            <p:cond delay="0"/>
                                          </p:stCondLst>
                                        </p:cTn>
                                        <p:tgtEl>
                                          <p:spTgt spid="35"/>
                                        </p:tgtEl>
                                        <p:attrNameLst>
                                          <p:attrName>style.visibility</p:attrName>
                                        </p:attrNameLst>
                                      </p:cBhvr>
                                      <p:to>
                                        <p:strVal val="visible"/>
                                      </p:to>
                                    </p:set>
                                    <p:anim calcmode="lin" valueType="num">
                                      <p:cBhvr additive="base">
                                        <p:cTn id="96" dur="500" fill="hold"/>
                                        <p:tgtEl>
                                          <p:spTgt spid="35"/>
                                        </p:tgtEl>
                                        <p:attrNameLst>
                                          <p:attrName>ppt_x</p:attrName>
                                        </p:attrNameLst>
                                      </p:cBhvr>
                                      <p:tavLst>
                                        <p:tav tm="0">
                                          <p:val>
                                            <p:strVal val="#ppt_x"/>
                                          </p:val>
                                        </p:tav>
                                        <p:tav tm="100000">
                                          <p:val>
                                            <p:strVal val="#ppt_x"/>
                                          </p:val>
                                        </p:tav>
                                      </p:tavLst>
                                    </p:anim>
                                    <p:anim calcmode="lin" valueType="num">
                                      <p:cBhvr additive="base">
                                        <p:cTn id="97" dur="500" fill="hold"/>
                                        <p:tgtEl>
                                          <p:spTgt spid="35"/>
                                        </p:tgtEl>
                                        <p:attrNameLst>
                                          <p:attrName>ppt_y</p:attrName>
                                        </p:attrNameLst>
                                      </p:cBhvr>
                                      <p:tavLst>
                                        <p:tav tm="0">
                                          <p:val>
                                            <p:strVal val="#ppt_y+0.1"/>
                                          </p:val>
                                        </p:tav>
                                        <p:tav tm="100000">
                                          <p:val>
                                            <p:strVal val="#ppt_y"/>
                                          </p:val>
                                        </p:tav>
                                      </p:tavLst>
                                    </p:anim>
                                    <p:animEffect transition="in" filter="fade">
                                      <p:cBhvr>
                                        <p:cTn id="98" dur="500"/>
                                        <p:tgtEl>
                                          <p:spTgt spid="35"/>
                                        </p:tgtEl>
                                      </p:cBhvr>
                                    </p:animEffect>
                                  </p:childTnLst>
                                </p:cTn>
                              </p:par>
                              <p:par>
                                <p:cTn id="104" presetID="2" presetClass="entr" presetSubtype="4" fill="hold" grpId="0" nodeType="withEffect">
                                  <p:stCondLst>
                                    <p:cond delay="150"/>
                                  </p:stCondLst>
                                  <p:childTnLst>
                                    <p:set>
                                      <p:cBhvr>
                                        <p:cTn id="100" dur="1" fill="hold">
                                          <p:stCondLst>
                                            <p:cond delay="0"/>
                                          </p:stCondLst>
                                        </p:cTn>
                                        <p:tgtEl>
                                          <p:spTgt spid="36"/>
                                        </p:tgtEl>
                                        <p:attrNameLst>
                                          <p:attrName>style.visibility</p:attrName>
                                        </p:attrNameLst>
                                      </p:cBhvr>
                                      <p:to>
                                        <p:strVal val="visible"/>
                                      </p:to>
                                    </p:set>
                                    <p:anim calcmode="lin" valueType="num">
                                      <p:cBhvr additive="base">
                                        <p:cTn id="101" dur="500" fill="hold"/>
                                        <p:tgtEl>
                                          <p:spTgt spid="36"/>
                                        </p:tgtEl>
                                        <p:attrNameLst>
                                          <p:attrName>ppt_x</p:attrName>
                                        </p:attrNameLst>
                                      </p:cBhvr>
                                      <p:tavLst>
                                        <p:tav tm="0">
                                          <p:val>
                                            <p:strVal val="#ppt_x"/>
                                          </p:val>
                                        </p:tav>
                                        <p:tav tm="100000">
                                          <p:val>
                                            <p:strVal val="#ppt_x"/>
                                          </p:val>
                                        </p:tav>
                                      </p:tavLst>
                                    </p:anim>
                                    <p:anim calcmode="lin" valueType="num">
                                      <p:cBhvr additive="base">
                                        <p:cTn id="102" dur="500" fill="hold"/>
                                        <p:tgtEl>
                                          <p:spTgt spid="36"/>
                                        </p:tgtEl>
                                        <p:attrNameLst>
                                          <p:attrName>ppt_y</p:attrName>
                                        </p:attrNameLst>
                                      </p:cBhvr>
                                      <p:tavLst>
                                        <p:tav tm="0">
                                          <p:val>
                                            <p:strVal val="#ppt_y+0.1"/>
                                          </p:val>
                                        </p:tav>
                                        <p:tav tm="100000">
                                          <p:val>
                                            <p:strVal val="#ppt_y"/>
                                          </p:val>
                                        </p:tav>
                                      </p:tavLst>
                                    </p:anim>
                                    <p:animEffect transition="in" filter="fade">
                                      <p:cBhvr>
                                        <p:cTn id="103" dur="500"/>
                                        <p:tgtEl>
                                          <p:spTgt spid="36"/>
                                        </p:tgtEl>
                                      </p:cBhvr>
                                    </p:animEffect>
                                  </p:childTnLst>
                                </p:cTn>
                              </p:par>
                              <p:par>
                                <p:cTn id="109" presetID="2" presetClass="entr" presetSubtype="4" fill="hold" grpId="0" nodeType="withEffect">
                                  <p:stCondLst>
                                    <p:cond delay="300"/>
                                  </p:stCondLst>
                                  <p:childTnLst>
                                    <p:set>
                                      <p:cBhvr>
                                        <p:cTn id="105" dur="1" fill="hold">
                                          <p:stCondLst>
                                            <p:cond delay="0"/>
                                          </p:stCondLst>
                                        </p:cTn>
                                        <p:tgtEl>
                                          <p:spTgt spid="37"/>
                                        </p:tgtEl>
                                        <p:attrNameLst>
                                          <p:attrName>style.visibility</p:attrName>
                                        </p:attrNameLst>
                                      </p:cBhvr>
                                      <p:to>
                                        <p:strVal val="visible"/>
                                      </p:to>
                                    </p:set>
                                    <p:anim calcmode="lin" valueType="num">
                                      <p:cBhvr additive="base">
                                        <p:cTn id="106" dur="500" fill="hold"/>
                                        <p:tgtEl>
                                          <p:spTgt spid="37"/>
                                        </p:tgtEl>
                                        <p:attrNameLst>
                                          <p:attrName>ppt_x</p:attrName>
                                        </p:attrNameLst>
                                      </p:cBhvr>
                                      <p:tavLst>
                                        <p:tav tm="0">
                                          <p:val>
                                            <p:strVal val="#ppt_x"/>
                                          </p:val>
                                        </p:tav>
                                        <p:tav tm="100000">
                                          <p:val>
                                            <p:strVal val="#ppt_x"/>
                                          </p:val>
                                        </p:tav>
                                      </p:tavLst>
                                    </p:anim>
                                    <p:anim calcmode="lin" valueType="num">
                                      <p:cBhvr additive="base">
                                        <p:cTn id="107" dur="500" fill="hold"/>
                                        <p:tgtEl>
                                          <p:spTgt spid="37"/>
                                        </p:tgtEl>
                                        <p:attrNameLst>
                                          <p:attrName>ppt_y</p:attrName>
                                        </p:attrNameLst>
                                      </p:cBhvr>
                                      <p:tavLst>
                                        <p:tav tm="0">
                                          <p:val>
                                            <p:strVal val="#ppt_y+0.1"/>
                                          </p:val>
                                        </p:tav>
                                        <p:tav tm="100000">
                                          <p:val>
                                            <p:strVal val="#ppt_y"/>
                                          </p:val>
                                        </p:tav>
                                      </p:tavLst>
                                    </p:anim>
                                    <p:animEffect transition="in" filter="fade">
                                      <p:cBhvr>
                                        <p:cTn id="10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Inside a Message: The Timestamp</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'when' of the event</a:t>
            </a:r>
          </a:p>
        </p:txBody>
      </p:sp>
      <p:sp>
        <p:nvSpPr>
          <p:cNvPr id="11" name="a0f_card10"/>
          <p:cNvSpPr/>
          <p:nvPr/>
        </p:nvSpPr>
        <p:spPr>
          <a:xfrm>
            <a:off x="457200" y="1261872"/>
            <a:ext cx="4297680" cy="3218688"/>
          </a:xfrm>
          <a:prstGeom prst="roundRect">
            <a:avLst>
              <a:gd name="adj" fmla="val 34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mh11"/>
          <p:cNvSpPr txBox="1"/>
          <p:nvPr/>
        </p:nvSpPr>
        <p:spPr>
          <a:xfrm>
            <a:off x="640080" y="1353312"/>
            <a:ext cx="3931920" cy="219456"/>
          </a:xfrm>
          <a:prstGeom prst="rect">
            <a:avLst/>
          </a:prstGeom>
          <a:noFill/>
        </p:spPr>
        <p:txBody>
          <a:bodyPr wrap="square" lIns="0" tIns="0" rIns="0" bIns="0" anchor="ctr">
            <a:spAutoFit/>
          </a:bodyPr>
          <a:lstStyle/>
          <a:p>
            <a:pPr algn="l"/>
            <a:r>
              <a:rPr sz="850" b="1" spc="160">
                <a:solidFill>
                  <a:srgbClr val="78716C"/>
                </a:solidFill>
                <a:latin typeface="Segoe UI"/>
              </a:rPr>
              <a:t>ONE MESSAGE</a:t>
            </a:r>
          </a:p>
        </p:txBody>
      </p:sp>
      <p:sp>
        <p:nvSpPr>
          <p:cNvPr id="13" name="a0f_mk12"/>
          <p:cNvSpPr txBox="1"/>
          <p:nvPr/>
        </p:nvSpPr>
        <p:spPr>
          <a:xfrm>
            <a:off x="713232" y="1645919"/>
            <a:ext cx="960120" cy="283464"/>
          </a:xfrm>
          <a:prstGeom prst="rect">
            <a:avLst/>
          </a:prstGeom>
          <a:noFill/>
        </p:spPr>
        <p:txBody>
          <a:bodyPr wrap="square" lIns="0" tIns="0" rIns="0" bIns="0" anchor="ctr">
            <a:spAutoFit/>
          </a:bodyPr>
          <a:lstStyle/>
          <a:p>
            <a:pPr algn="l"/>
            <a:r>
              <a:rPr sz="950" b="1">
                <a:solidFill>
                  <a:srgbClr val="78716C"/>
                </a:solidFill>
                <a:latin typeface="Consolas"/>
              </a:rPr>
              <a:t>key</a:t>
            </a:r>
          </a:p>
        </p:txBody>
      </p:sp>
      <p:sp>
        <p:nvSpPr>
          <p:cNvPr id="14" name="a0f_mv13"/>
          <p:cNvSpPr txBox="1"/>
          <p:nvPr/>
        </p:nvSpPr>
        <p:spPr>
          <a:xfrm>
            <a:off x="1719072" y="1645919"/>
            <a:ext cx="2880360" cy="283464"/>
          </a:xfrm>
          <a:prstGeom prst="rect">
            <a:avLst/>
          </a:prstGeom>
          <a:noFill/>
        </p:spPr>
        <p:txBody>
          <a:bodyPr wrap="square" lIns="0" tIns="0" rIns="0" bIns="0" anchor="ctr">
            <a:spAutoFit/>
          </a:bodyPr>
          <a:lstStyle/>
          <a:p>
            <a:pPr algn="l"/>
            <a:r>
              <a:rPr sz="950" b="0">
                <a:solidFill>
                  <a:srgbClr val="A8A29E"/>
                </a:solidFill>
                <a:latin typeface="Consolas"/>
              </a:rPr>
              <a:t>42</a:t>
            </a:r>
          </a:p>
        </p:txBody>
      </p:sp>
      <p:sp>
        <p:nvSpPr>
          <p:cNvPr id="15" name="a0f_mk14"/>
          <p:cNvSpPr txBox="1"/>
          <p:nvPr/>
        </p:nvSpPr>
        <p:spPr>
          <a:xfrm>
            <a:off x="713232" y="1975103"/>
            <a:ext cx="960120" cy="283464"/>
          </a:xfrm>
          <a:prstGeom prst="rect">
            <a:avLst/>
          </a:prstGeom>
          <a:noFill/>
        </p:spPr>
        <p:txBody>
          <a:bodyPr wrap="square" lIns="0" tIns="0" rIns="0" bIns="0" anchor="ctr">
            <a:spAutoFit/>
          </a:bodyPr>
          <a:lstStyle/>
          <a:p>
            <a:pPr algn="l"/>
            <a:r>
              <a:rPr sz="950" b="1">
                <a:solidFill>
                  <a:srgbClr val="78716C"/>
                </a:solidFill>
                <a:latin typeface="Consolas"/>
              </a:rPr>
              <a:t>value</a:t>
            </a:r>
          </a:p>
        </p:txBody>
      </p:sp>
      <p:sp>
        <p:nvSpPr>
          <p:cNvPr id="16" name="a0f_mv15"/>
          <p:cNvSpPr txBox="1"/>
          <p:nvPr/>
        </p:nvSpPr>
        <p:spPr>
          <a:xfrm>
            <a:off x="1719072" y="2011679"/>
            <a:ext cx="2880360" cy="1024127"/>
          </a:xfrm>
          <a:prstGeom prst="rect">
            <a:avLst/>
          </a:prstGeom>
          <a:noFill/>
        </p:spPr>
        <p:txBody>
          <a:bodyPr wrap="square" lIns="0" tIns="0" rIns="0" bIns="0" anchor="t">
            <a:spAutoFit/>
          </a:bodyPr>
          <a:lstStyle/>
          <a:p>
            <a:pPr algn="l"/>
            <a:r>
              <a:rPr sz="900" b="0">
                <a:solidFill>
                  <a:srgbClr val="A8A29E"/>
                </a:solidFill>
                <a:latin typeface="Consolas"/>
              </a:rPr>
              <a:t>{</a:t>
            </a:r>
          </a:p>
          <a:p>
            <a:pPr algn="l"/>
            <a:r>
              <a:rPr sz="900" b="0">
                <a:solidFill>
                  <a:srgbClr val="A8A29E"/>
                </a:solidFill>
                <a:latin typeface="Consolas"/>
              </a:rPr>
              <a:t>  "sensor_id": 42,</a:t>
            </a:r>
          </a:p>
          <a:p>
            <a:pPr algn="l"/>
            <a:r>
              <a:rPr sz="900" b="0">
                <a:solidFill>
                  <a:srgbClr val="A8A29E"/>
                </a:solidFill>
                <a:latin typeface="Consolas"/>
              </a:rPr>
              <a:t>  "location": "kitchen",</a:t>
            </a:r>
          </a:p>
          <a:p>
            <a:pPr algn="l"/>
            <a:r>
              <a:rPr sz="900" b="0">
                <a:solidFill>
                  <a:srgbClr val="A8A29E"/>
                </a:solidFill>
                <a:latin typeface="Consolas"/>
              </a:rPr>
              <a:t>  "temperature": 24,</a:t>
            </a:r>
          </a:p>
          <a:p>
            <a:pPr algn="l"/>
            <a:r>
              <a:rPr sz="900" b="0">
                <a:solidFill>
                  <a:srgbClr val="A8A29E"/>
                </a:solidFill>
                <a:latin typeface="Consolas"/>
              </a:rPr>
              <a:t>  "read_at": "2025-06-12T14:05:09Z"</a:t>
            </a:r>
          </a:p>
          <a:p>
            <a:pPr algn="l"/>
            <a:r>
              <a:rPr sz="900" b="0">
                <a:solidFill>
                  <a:srgbClr val="A8A29E"/>
                </a:solidFill>
                <a:latin typeface="Consolas"/>
              </a:rPr>
              <a:t>}</a:t>
            </a:r>
          </a:p>
        </p:txBody>
      </p:sp>
      <p:sp>
        <p:nvSpPr>
          <p:cNvPr id="17" name="a0f_mhi16"/>
          <p:cNvSpPr/>
          <p:nvPr/>
        </p:nvSpPr>
        <p:spPr>
          <a:xfrm>
            <a:off x="566928" y="3090672"/>
            <a:ext cx="4078224" cy="283464"/>
          </a:xfrm>
          <a:prstGeom prst="roundRect">
            <a:avLst>
              <a:gd name="adj" fmla="val 16129"/>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_mha17"/>
          <p:cNvSpPr/>
          <p:nvPr/>
        </p:nvSpPr>
        <p:spPr>
          <a:xfrm>
            <a:off x="566928" y="3090672"/>
            <a:ext cx="45720" cy="28346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mk18"/>
          <p:cNvSpPr txBox="1"/>
          <p:nvPr/>
        </p:nvSpPr>
        <p:spPr>
          <a:xfrm>
            <a:off x="713232" y="3090672"/>
            <a:ext cx="960120" cy="283464"/>
          </a:xfrm>
          <a:prstGeom prst="rect">
            <a:avLst/>
          </a:prstGeom>
          <a:noFill/>
        </p:spPr>
        <p:txBody>
          <a:bodyPr wrap="square" lIns="0" tIns="0" rIns="0" bIns="0" anchor="ctr">
            <a:spAutoFit/>
          </a:bodyPr>
          <a:lstStyle/>
          <a:p>
            <a:pPr algn="l"/>
            <a:r>
              <a:rPr sz="950" b="1">
                <a:solidFill>
                  <a:srgbClr val="A16207"/>
                </a:solidFill>
                <a:latin typeface="Consolas"/>
              </a:rPr>
              <a:t>timestamp</a:t>
            </a:r>
          </a:p>
        </p:txBody>
      </p:sp>
      <p:sp>
        <p:nvSpPr>
          <p:cNvPr id="20" name="a0f_mv19"/>
          <p:cNvSpPr txBox="1"/>
          <p:nvPr/>
        </p:nvSpPr>
        <p:spPr>
          <a:xfrm>
            <a:off x="1719072" y="3090672"/>
            <a:ext cx="2880360" cy="283464"/>
          </a:xfrm>
          <a:prstGeom prst="rect">
            <a:avLst/>
          </a:prstGeom>
          <a:noFill/>
        </p:spPr>
        <p:txBody>
          <a:bodyPr wrap="square" lIns="0" tIns="0" rIns="0" bIns="0" anchor="ctr">
            <a:spAutoFit/>
          </a:bodyPr>
          <a:lstStyle/>
          <a:p>
            <a:pPr algn="l"/>
            <a:r>
              <a:rPr sz="950" b="1">
                <a:solidFill>
                  <a:srgbClr val="1C1917"/>
                </a:solidFill>
                <a:latin typeface="Consolas"/>
              </a:rPr>
              <a:t>2025-06-12 14:05:09.000</a:t>
            </a:r>
          </a:p>
        </p:txBody>
      </p:sp>
      <p:sp>
        <p:nvSpPr>
          <p:cNvPr id="21" name="a0f_mk20"/>
          <p:cNvSpPr txBox="1"/>
          <p:nvPr/>
        </p:nvSpPr>
        <p:spPr>
          <a:xfrm>
            <a:off x="713232" y="3419856"/>
            <a:ext cx="960120" cy="283464"/>
          </a:xfrm>
          <a:prstGeom prst="rect">
            <a:avLst/>
          </a:prstGeom>
          <a:noFill/>
        </p:spPr>
        <p:txBody>
          <a:bodyPr wrap="square" lIns="0" tIns="0" rIns="0" bIns="0" anchor="ctr">
            <a:spAutoFit/>
          </a:bodyPr>
          <a:lstStyle/>
          <a:p>
            <a:pPr algn="l"/>
            <a:r>
              <a:rPr sz="950" b="1">
                <a:solidFill>
                  <a:srgbClr val="78716C"/>
                </a:solidFill>
                <a:latin typeface="Consolas"/>
              </a:rPr>
              <a:t>headers</a:t>
            </a:r>
          </a:p>
        </p:txBody>
      </p:sp>
      <p:sp>
        <p:nvSpPr>
          <p:cNvPr id="22" name="a0f_mv21"/>
          <p:cNvSpPr txBox="1"/>
          <p:nvPr/>
        </p:nvSpPr>
        <p:spPr>
          <a:xfrm>
            <a:off x="1719072" y="3419856"/>
            <a:ext cx="2880360" cy="283464"/>
          </a:xfrm>
          <a:prstGeom prst="rect">
            <a:avLst/>
          </a:prstGeom>
          <a:noFill/>
        </p:spPr>
        <p:txBody>
          <a:bodyPr wrap="square" lIns="0" tIns="0" rIns="0" bIns="0" anchor="ctr">
            <a:spAutoFit/>
          </a:bodyPr>
          <a:lstStyle/>
          <a:p>
            <a:pPr algn="l"/>
            <a:r>
              <a:rPr sz="950" b="0">
                <a:solidFill>
                  <a:srgbClr val="A8A29E"/>
                </a:solidFill>
                <a:latin typeface="Consolas"/>
              </a:rPr>
              <a:t>firmware = 2.4.1   hub = home-7</a:t>
            </a:r>
          </a:p>
        </p:txBody>
      </p:sp>
      <p:sp>
        <p:nvSpPr>
          <p:cNvPr id="23" name="a0f_mk22"/>
          <p:cNvSpPr txBox="1"/>
          <p:nvPr/>
        </p:nvSpPr>
        <p:spPr>
          <a:xfrm>
            <a:off x="713232" y="3749039"/>
            <a:ext cx="960120" cy="283464"/>
          </a:xfrm>
          <a:prstGeom prst="rect">
            <a:avLst/>
          </a:prstGeom>
          <a:noFill/>
        </p:spPr>
        <p:txBody>
          <a:bodyPr wrap="square" lIns="0" tIns="0" rIns="0" bIns="0" anchor="ctr">
            <a:spAutoFit/>
          </a:bodyPr>
          <a:lstStyle/>
          <a:p>
            <a:pPr algn="l"/>
            <a:r>
              <a:rPr sz="950" b="1">
                <a:solidFill>
                  <a:srgbClr val="78716C"/>
                </a:solidFill>
                <a:latin typeface="Consolas"/>
              </a:rPr>
              <a:t>topic</a:t>
            </a:r>
          </a:p>
        </p:txBody>
      </p:sp>
      <p:sp>
        <p:nvSpPr>
          <p:cNvPr id="24" name="a0f_mv23"/>
          <p:cNvSpPr txBox="1"/>
          <p:nvPr/>
        </p:nvSpPr>
        <p:spPr>
          <a:xfrm>
            <a:off x="1719072" y="3749039"/>
            <a:ext cx="2880360" cy="283464"/>
          </a:xfrm>
          <a:prstGeom prst="rect">
            <a:avLst/>
          </a:prstGeom>
          <a:noFill/>
        </p:spPr>
        <p:txBody>
          <a:bodyPr wrap="square" lIns="0" tIns="0" rIns="0" bIns="0" anchor="ctr">
            <a:spAutoFit/>
          </a:bodyPr>
          <a:lstStyle/>
          <a:p>
            <a:pPr algn="l"/>
            <a:r>
              <a:rPr sz="950" b="0">
                <a:solidFill>
                  <a:srgbClr val="A8A29E"/>
                </a:solidFill>
                <a:latin typeface="Consolas"/>
              </a:rPr>
              <a:t>thermostat_readings</a:t>
            </a:r>
          </a:p>
        </p:txBody>
      </p:sp>
      <p:sp>
        <p:nvSpPr>
          <p:cNvPr id="25" name="a0f_mk24"/>
          <p:cNvSpPr txBox="1"/>
          <p:nvPr/>
        </p:nvSpPr>
        <p:spPr>
          <a:xfrm>
            <a:off x="713232" y="4078224"/>
            <a:ext cx="960120" cy="283464"/>
          </a:xfrm>
          <a:prstGeom prst="rect">
            <a:avLst/>
          </a:prstGeom>
          <a:noFill/>
        </p:spPr>
        <p:txBody>
          <a:bodyPr wrap="square" lIns="0" tIns="0" rIns="0" bIns="0" anchor="ctr">
            <a:spAutoFit/>
          </a:bodyPr>
          <a:lstStyle/>
          <a:p>
            <a:pPr algn="l"/>
            <a:r>
              <a:rPr sz="950" b="1">
                <a:solidFill>
                  <a:srgbClr val="78716C"/>
                </a:solidFill>
                <a:latin typeface="Consolas"/>
              </a:rPr>
              <a:t>offset</a:t>
            </a:r>
          </a:p>
        </p:txBody>
      </p:sp>
      <p:sp>
        <p:nvSpPr>
          <p:cNvPr id="26" name="a0f_mv25"/>
          <p:cNvSpPr txBox="1"/>
          <p:nvPr/>
        </p:nvSpPr>
        <p:spPr>
          <a:xfrm>
            <a:off x="1719072" y="4078224"/>
            <a:ext cx="2880360" cy="283464"/>
          </a:xfrm>
          <a:prstGeom prst="rect">
            <a:avLst/>
          </a:prstGeom>
          <a:noFill/>
        </p:spPr>
        <p:txBody>
          <a:bodyPr wrap="square" lIns="0" tIns="0" rIns="0" bIns="0" anchor="ctr">
            <a:spAutoFit/>
          </a:bodyPr>
          <a:lstStyle/>
          <a:p>
            <a:pPr algn="l"/>
            <a:r>
              <a:rPr sz="950" b="0">
                <a:solidFill>
                  <a:srgbClr val="A8A29E"/>
                </a:solidFill>
                <a:latin typeface="Consolas"/>
              </a:rPr>
              <a:t>5</a:t>
            </a:r>
          </a:p>
        </p:txBody>
      </p:sp>
      <p:sp>
        <p:nvSpPr>
          <p:cNvPr id="27" name="a1f_sh26"/>
          <p:cNvSpPr txBox="1"/>
          <p:nvPr/>
        </p:nvSpPr>
        <p:spPr>
          <a:xfrm>
            <a:off x="4983480" y="1280160"/>
            <a:ext cx="3703320" cy="256032"/>
          </a:xfrm>
          <a:prstGeom prst="rect">
            <a:avLst/>
          </a:prstGeom>
          <a:noFill/>
        </p:spPr>
        <p:txBody>
          <a:bodyPr wrap="square" lIns="0" tIns="0" rIns="0" bIns="0" anchor="ctr">
            <a:spAutoFit/>
          </a:bodyPr>
          <a:lstStyle/>
          <a:p>
            <a:pPr algn="l"/>
            <a:r>
              <a:rPr sz="950" b="1" spc="120">
                <a:solidFill>
                  <a:srgbClr val="A16207"/>
                </a:solidFill>
                <a:latin typeface="Segoe UI"/>
              </a:rPr>
              <a:t>TIMESTAMP  ·  WHEN IT HAPPENED</a:t>
            </a:r>
          </a:p>
        </p:txBody>
      </p:sp>
      <p:sp>
        <p:nvSpPr>
          <p:cNvPr id="28" name="a1ud100_dq27"/>
          <p:cNvSpPr/>
          <p:nvPr/>
        </p:nvSpPr>
        <p:spPr>
          <a:xfrm>
            <a:off x="4983480" y="1691640"/>
            <a:ext cx="3703320" cy="475488"/>
          </a:xfrm>
          <a:prstGeom prst="roundRect">
            <a:avLst>
              <a:gd name="adj" fmla="val 15384"/>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100_dqt28"/>
          <p:cNvSpPr txBox="1"/>
          <p:nvPr/>
        </p:nvSpPr>
        <p:spPr>
          <a:xfrm>
            <a:off x="5074920" y="1691640"/>
            <a:ext cx="3520440" cy="475488"/>
          </a:xfrm>
          <a:prstGeom prst="rect">
            <a:avLst/>
          </a:prstGeom>
          <a:noFill/>
        </p:spPr>
        <p:txBody>
          <a:bodyPr wrap="square" lIns="0" tIns="0" rIns="0" bIns="0" anchor="ctr">
            <a:spAutoFit/>
          </a:bodyPr>
          <a:lstStyle/>
          <a:p>
            <a:pPr algn="ctr"/>
            <a:r>
              <a:rPr sz="950" b="1">
                <a:solidFill>
                  <a:srgbClr val="A16207"/>
                </a:solidFill>
                <a:latin typeface="Segoe UI"/>
              </a:rPr>
              <a:t>Did the producer give the message a time?</a:t>
            </a:r>
          </a:p>
        </p:txBody>
      </p:sp>
      <p:cxnSp>
        <p:nvCxnSpPr>
          <p:cNvPr id="30" name="a2u_ar29"/>
          <p:cNvCxnSpPr/>
          <p:nvPr/>
        </p:nvCxnSpPr>
        <p:spPr>
          <a:xfrm>
            <a:off x="5875020" y="2185416"/>
            <a:ext cx="0" cy="283464"/>
          </a:xfrm>
          <a:prstGeom prst="line">
            <a:avLst/>
          </a:prstGeom>
          <a:ln w="15875">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a2u_card30"/>
          <p:cNvSpPr/>
          <p:nvPr/>
        </p:nvSpPr>
        <p:spPr>
          <a:xfrm>
            <a:off x="4983480" y="2487168"/>
            <a:ext cx="1783080"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_pill31"/>
          <p:cNvSpPr/>
          <p:nvPr/>
        </p:nvSpPr>
        <p:spPr>
          <a:xfrm>
            <a:off x="5120640" y="2596896"/>
            <a:ext cx="566928"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5803D"/>
                </a:solidFill>
                <a:latin typeface="Segoe UI"/>
              </a:rPr>
              <a:t>YES</a:t>
            </a:r>
          </a:p>
        </p:txBody>
      </p:sp>
      <p:sp>
        <p:nvSpPr>
          <p:cNvPr id="33" name="a2u_ab32"/>
          <p:cNvSpPr txBox="1"/>
          <p:nvPr/>
        </p:nvSpPr>
        <p:spPr>
          <a:xfrm>
            <a:off x="5120640" y="2889504"/>
            <a:ext cx="1536192" cy="512064"/>
          </a:xfrm>
          <a:prstGeom prst="rect">
            <a:avLst/>
          </a:prstGeom>
          <a:noFill/>
        </p:spPr>
        <p:txBody>
          <a:bodyPr wrap="square" lIns="0" tIns="0" rIns="0" bIns="0" anchor="t">
            <a:spAutoFit/>
          </a:bodyPr>
          <a:lstStyle/>
          <a:p>
            <a:pPr algn="l"/>
            <a:r>
              <a:rPr sz="850" b="0">
                <a:solidFill>
                  <a:srgbClr val="44403C"/>
                </a:solidFill>
                <a:latin typeface="Segoe UI"/>
              </a:rPr>
              <a:t>That time is used - the moment the event happened</a:t>
            </a:r>
          </a:p>
        </p:txBody>
      </p:sp>
      <p:cxnSp>
        <p:nvCxnSpPr>
          <p:cNvPr id="34" name="a3u_ar33"/>
          <p:cNvCxnSpPr/>
          <p:nvPr/>
        </p:nvCxnSpPr>
        <p:spPr>
          <a:xfrm>
            <a:off x="7795260" y="2185416"/>
            <a:ext cx="0" cy="283464"/>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3u_card34"/>
          <p:cNvSpPr/>
          <p:nvPr/>
        </p:nvSpPr>
        <p:spPr>
          <a:xfrm>
            <a:off x="6903720" y="2487168"/>
            <a:ext cx="1783080"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pill35"/>
          <p:cNvSpPr/>
          <p:nvPr/>
        </p:nvSpPr>
        <p:spPr>
          <a:xfrm>
            <a:off x="7040880" y="2596896"/>
            <a:ext cx="566928" cy="237744"/>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4F46E5"/>
                </a:solidFill>
                <a:latin typeface="Segoe UI"/>
              </a:rPr>
              <a:t>NO</a:t>
            </a:r>
          </a:p>
        </p:txBody>
      </p:sp>
      <p:sp>
        <p:nvSpPr>
          <p:cNvPr id="37" name="a3u_ab36"/>
          <p:cNvSpPr txBox="1"/>
          <p:nvPr/>
        </p:nvSpPr>
        <p:spPr>
          <a:xfrm>
            <a:off x="7040880" y="2889504"/>
            <a:ext cx="1536192" cy="512064"/>
          </a:xfrm>
          <a:prstGeom prst="rect">
            <a:avLst/>
          </a:prstGeom>
          <a:noFill/>
        </p:spPr>
        <p:txBody>
          <a:bodyPr wrap="square" lIns="0" tIns="0" rIns="0" bIns="0" anchor="t">
            <a:spAutoFit/>
          </a:bodyPr>
          <a:lstStyle/>
          <a:p>
            <a:pPr algn="l"/>
            <a:r>
              <a:rPr sz="850" b="0">
                <a:solidFill>
                  <a:srgbClr val="44403C"/>
                </a:solidFill>
                <a:latin typeface="Segoe UI"/>
              </a:rPr>
              <a:t>The broker stamps the time the message arrived</a:t>
            </a:r>
          </a:p>
        </p:txBody>
      </p:sp>
      <p:sp>
        <p:nvSpPr>
          <p:cNvPr id="38" name="a4u_nb37"/>
          <p:cNvSpPr/>
          <p:nvPr/>
        </p:nvSpPr>
        <p:spPr>
          <a:xfrm>
            <a:off x="4983480" y="3657600"/>
            <a:ext cx="3703320" cy="731520"/>
          </a:xfrm>
          <a:prstGeom prst="roundRect">
            <a:avLst>
              <a:gd name="adj" fmla="val 1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nacc38"/>
          <p:cNvSpPr/>
          <p:nvPr/>
        </p:nvSpPr>
        <p:spPr>
          <a:xfrm>
            <a:off x="4983480" y="3657600"/>
            <a:ext cx="54864" cy="7315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u_nt39"/>
          <p:cNvSpPr txBox="1"/>
          <p:nvPr/>
        </p:nvSpPr>
        <p:spPr>
          <a:xfrm>
            <a:off x="5184648" y="3657600"/>
            <a:ext cx="3300984" cy="731520"/>
          </a:xfrm>
          <a:prstGeom prst="rect">
            <a:avLst/>
          </a:prstGeom>
          <a:noFill/>
        </p:spPr>
        <p:txBody>
          <a:bodyPr wrap="square" lIns="0" tIns="0" rIns="0" bIns="0" anchor="ctr">
            <a:spAutoFit/>
          </a:bodyPr>
          <a:lstStyle/>
          <a:p>
            <a:pPr algn="l"/>
            <a:r>
              <a:rPr sz="900" b="1">
                <a:solidFill>
                  <a:srgbClr val="A16207"/>
                </a:solidFill>
                <a:latin typeface="Segoe UI"/>
              </a:rPr>
              <a:t>e.g.  </a:t>
            </a:r>
            <a:r>
              <a:rPr sz="900" b="0">
                <a:solidFill>
                  <a:srgbClr val="44403C"/>
                </a:solidFill>
                <a:latin typeface="Segoe UI"/>
              </a:rPr>
              <a:t>For a thermostat, read_at is the natural choice - it is exactly when the reading was taken.</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13</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7" presetID="10" presetClass="entr" presetSubtype="0"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par>
                                <p:cTn id="62" presetID="2" presetClass="entr" presetSubtype="4" fill="hold" grpId="0" nodeType="withEffect">
                                  <p:stCondLst>
                                    <p:cond delay="10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ppt_y+0.1"/>
                                          </p:val>
                                        </p:tav>
                                        <p:tav tm="100000">
                                          <p:val>
                                            <p:strVal val="#ppt_y"/>
                                          </p:val>
                                        </p:tav>
                                      </p:tavLst>
                                    </p:anim>
                                    <p:animEffect transition="in" filter="fade">
                                      <p:cBhvr>
                                        <p:cTn id="61" dur="500"/>
                                        <p:tgtEl>
                                          <p:spTgt spid="28"/>
                                        </p:tgtEl>
                                      </p:cBhvr>
                                    </p:animEffect>
                                  </p:childTnLst>
                                </p:cTn>
                              </p:par>
                              <p:par>
                                <p:cTn id="67" presetID="2" presetClass="entr" presetSubtype="4" fill="hold" grpId="0" nodeType="withEffect">
                                  <p:stCondLst>
                                    <p:cond delay="100"/>
                                  </p:stCondLst>
                                  <p:childTnLst>
                                    <p:set>
                                      <p:cBhvr>
                                        <p:cTn id="63" dur="1" fill="hold">
                                          <p:stCondLst>
                                            <p:cond delay="0"/>
                                          </p:stCondLst>
                                        </p:cTn>
                                        <p:tgtEl>
                                          <p:spTgt spid="29"/>
                                        </p:tgtEl>
                                        <p:attrNameLst>
                                          <p:attrName>style.visibility</p:attrName>
                                        </p:attrNameLst>
                                      </p:cBhvr>
                                      <p:to>
                                        <p:strVal val="visible"/>
                                      </p:to>
                                    </p:set>
                                    <p:anim calcmode="lin" valueType="num">
                                      <p:cBhvr additive="base">
                                        <p:cTn id="64" dur="500" fill="hold"/>
                                        <p:tgtEl>
                                          <p:spTgt spid="29"/>
                                        </p:tgtEl>
                                        <p:attrNameLst>
                                          <p:attrName>ppt_x</p:attrName>
                                        </p:attrNameLst>
                                      </p:cBhvr>
                                      <p:tavLst>
                                        <p:tav tm="0">
                                          <p:val>
                                            <p:strVal val="#ppt_x"/>
                                          </p:val>
                                        </p:tav>
                                        <p:tav tm="100000">
                                          <p:val>
                                            <p:strVal val="#ppt_x"/>
                                          </p:val>
                                        </p:tav>
                                      </p:tavLst>
                                    </p:anim>
                                    <p:anim calcmode="lin" valueType="num">
                                      <p:cBhvr additive="base">
                                        <p:cTn id="65" dur="500" fill="hold"/>
                                        <p:tgtEl>
                                          <p:spTgt spid="29"/>
                                        </p:tgtEl>
                                        <p:attrNameLst>
                                          <p:attrName>ppt_y</p:attrName>
                                        </p:attrNameLst>
                                      </p:cBhvr>
                                      <p:tavLst>
                                        <p:tav tm="0">
                                          <p:val>
                                            <p:strVal val="#ppt_y+0.1"/>
                                          </p:val>
                                        </p:tav>
                                        <p:tav tm="100000">
                                          <p:val>
                                            <p:strVal val="#ppt_y"/>
                                          </p:val>
                                        </p:tav>
                                      </p:tavLst>
                                    </p:anim>
                                    <p:animEffect transition="in" filter="fade">
                                      <p:cBhvr>
                                        <p:cTn id="66"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4" presetID="2" presetClass="entr" presetSubtype="4"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anim calcmode="lin" valueType="num">
                                      <p:cBhvr additive="base">
                                        <p:cTn id="71" dur="500" fill="hold"/>
                                        <p:tgtEl>
                                          <p:spTgt spid="30"/>
                                        </p:tgtEl>
                                        <p:attrNameLst>
                                          <p:attrName>ppt_x</p:attrName>
                                        </p:attrNameLst>
                                      </p:cBhvr>
                                      <p:tavLst>
                                        <p:tav tm="0">
                                          <p:val>
                                            <p:strVal val="#ppt_x"/>
                                          </p:val>
                                        </p:tav>
                                        <p:tav tm="100000">
                                          <p:val>
                                            <p:strVal val="#ppt_x"/>
                                          </p:val>
                                        </p:tav>
                                      </p:tavLst>
                                    </p:anim>
                                    <p:anim calcmode="lin" valueType="num">
                                      <p:cBhvr additive="base">
                                        <p:cTn id="72" dur="500" fill="hold"/>
                                        <p:tgtEl>
                                          <p:spTgt spid="30"/>
                                        </p:tgtEl>
                                        <p:attrNameLst>
                                          <p:attrName>ppt_y</p:attrName>
                                        </p:attrNameLst>
                                      </p:cBhvr>
                                      <p:tavLst>
                                        <p:tav tm="0">
                                          <p:val>
                                            <p:strVal val="#ppt_y+0.1"/>
                                          </p:val>
                                        </p:tav>
                                        <p:tav tm="100000">
                                          <p:val>
                                            <p:strVal val="#ppt_y"/>
                                          </p:val>
                                        </p:tav>
                                      </p:tavLst>
                                    </p:anim>
                                    <p:animEffect transition="in" filter="fade">
                                      <p:cBhvr>
                                        <p:cTn id="73" dur="500"/>
                                        <p:tgtEl>
                                          <p:spTgt spid="30"/>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 calcmode="lin" valueType="num">
                                      <p:cBhvr additive="base">
                                        <p:cTn id="76" dur="500" fill="hold"/>
                                        <p:tgtEl>
                                          <p:spTgt spid="31"/>
                                        </p:tgtEl>
                                        <p:attrNameLst>
                                          <p:attrName>ppt_x</p:attrName>
                                        </p:attrNameLst>
                                      </p:cBhvr>
                                      <p:tavLst>
                                        <p:tav tm="0">
                                          <p:val>
                                            <p:strVal val="#ppt_x"/>
                                          </p:val>
                                        </p:tav>
                                        <p:tav tm="100000">
                                          <p:val>
                                            <p:strVal val="#ppt_x"/>
                                          </p:val>
                                        </p:tav>
                                      </p:tavLst>
                                    </p:anim>
                                    <p:anim calcmode="lin" valueType="num">
                                      <p:cBhvr additive="base">
                                        <p:cTn id="77" dur="500" fill="hold"/>
                                        <p:tgtEl>
                                          <p:spTgt spid="31"/>
                                        </p:tgtEl>
                                        <p:attrNameLst>
                                          <p:attrName>ppt_y</p:attrName>
                                        </p:attrNameLst>
                                      </p:cBhvr>
                                      <p:tavLst>
                                        <p:tav tm="0">
                                          <p:val>
                                            <p:strVal val="#ppt_y+0.1"/>
                                          </p:val>
                                        </p:tav>
                                        <p:tav tm="100000">
                                          <p:val>
                                            <p:strVal val="#ppt_y"/>
                                          </p:val>
                                        </p:tav>
                                      </p:tavLst>
                                    </p:anim>
                                    <p:animEffect transition="in" filter="fade">
                                      <p:cBhvr>
                                        <p:cTn id="78" dur="500"/>
                                        <p:tgtEl>
                                          <p:spTgt spid="31"/>
                                        </p:tgtEl>
                                      </p:cBhvr>
                                    </p:animEffect>
                                  </p:childTnLst>
                                </p:cTn>
                              </p:par>
                              <p:par>
                                <p:cTn id="84" presetID="2" presetClass="entr" presetSubtype="4"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 calcmode="lin" valueType="num">
                                      <p:cBhvr additive="base">
                                        <p:cTn id="81" dur="500" fill="hold"/>
                                        <p:tgtEl>
                                          <p:spTgt spid="32"/>
                                        </p:tgtEl>
                                        <p:attrNameLst>
                                          <p:attrName>ppt_x</p:attrName>
                                        </p:attrNameLst>
                                      </p:cBhvr>
                                      <p:tavLst>
                                        <p:tav tm="0">
                                          <p:val>
                                            <p:strVal val="#ppt_x"/>
                                          </p:val>
                                        </p:tav>
                                        <p:tav tm="100000">
                                          <p:val>
                                            <p:strVal val="#ppt_x"/>
                                          </p:val>
                                        </p:tav>
                                      </p:tavLst>
                                    </p:anim>
                                    <p:anim calcmode="lin" valueType="num">
                                      <p:cBhvr additive="base">
                                        <p:cTn id="82" dur="500" fill="hold"/>
                                        <p:tgtEl>
                                          <p:spTgt spid="32"/>
                                        </p:tgtEl>
                                        <p:attrNameLst>
                                          <p:attrName>ppt_y</p:attrName>
                                        </p:attrNameLst>
                                      </p:cBhvr>
                                      <p:tavLst>
                                        <p:tav tm="0">
                                          <p:val>
                                            <p:strVal val="#ppt_y+0.1"/>
                                          </p:val>
                                        </p:tav>
                                        <p:tav tm="100000">
                                          <p:val>
                                            <p:strVal val="#ppt_y"/>
                                          </p:val>
                                        </p:tav>
                                      </p:tavLst>
                                    </p:anim>
                                    <p:animEffect transition="in" filter="fade">
                                      <p:cBhvr>
                                        <p:cTn id="83" dur="500"/>
                                        <p:tgtEl>
                                          <p:spTgt spid="32"/>
                                        </p:tgtEl>
                                      </p:cBhvr>
                                    </p:animEffect>
                                  </p:childTnLst>
                                </p:cTn>
                              </p:par>
                              <p:par>
                                <p:cTn id="89" presetID="2" presetClass="entr" presetSubtype="4"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 calcmode="lin" valueType="num">
                                      <p:cBhvr additive="base">
                                        <p:cTn id="86" dur="500" fill="hold"/>
                                        <p:tgtEl>
                                          <p:spTgt spid="33"/>
                                        </p:tgtEl>
                                        <p:attrNameLst>
                                          <p:attrName>ppt_x</p:attrName>
                                        </p:attrNameLst>
                                      </p:cBhvr>
                                      <p:tavLst>
                                        <p:tav tm="0">
                                          <p:val>
                                            <p:strVal val="#ppt_x"/>
                                          </p:val>
                                        </p:tav>
                                        <p:tav tm="100000">
                                          <p:val>
                                            <p:strVal val="#ppt_x"/>
                                          </p:val>
                                        </p:tav>
                                      </p:tavLst>
                                    </p:anim>
                                    <p:anim calcmode="lin" valueType="num">
                                      <p:cBhvr additive="base">
                                        <p:cTn id="87" dur="500" fill="hold"/>
                                        <p:tgtEl>
                                          <p:spTgt spid="33"/>
                                        </p:tgtEl>
                                        <p:attrNameLst>
                                          <p:attrName>ppt_y</p:attrName>
                                        </p:attrNameLst>
                                      </p:cBhvr>
                                      <p:tavLst>
                                        <p:tav tm="0">
                                          <p:val>
                                            <p:strVal val="#ppt_y+0.1"/>
                                          </p:val>
                                        </p:tav>
                                        <p:tav tm="100000">
                                          <p:val>
                                            <p:strVal val="#ppt_y"/>
                                          </p:val>
                                        </p:tav>
                                      </p:tavLst>
                                    </p:anim>
                                    <p:animEffect transition="in" filter="fade">
                                      <p:cBhvr>
                                        <p:cTn id="88" dur="5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6" presetID="2" presetClass="entr" presetSubtype="4"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anim calcmode="lin" valueType="num">
                                      <p:cBhvr additive="base">
                                        <p:cTn id="93" dur="500" fill="hold"/>
                                        <p:tgtEl>
                                          <p:spTgt spid="34"/>
                                        </p:tgtEl>
                                        <p:attrNameLst>
                                          <p:attrName>ppt_x</p:attrName>
                                        </p:attrNameLst>
                                      </p:cBhvr>
                                      <p:tavLst>
                                        <p:tav tm="0">
                                          <p:val>
                                            <p:strVal val="#ppt_x"/>
                                          </p:val>
                                        </p:tav>
                                        <p:tav tm="100000">
                                          <p:val>
                                            <p:strVal val="#ppt_x"/>
                                          </p:val>
                                        </p:tav>
                                      </p:tavLst>
                                    </p:anim>
                                    <p:anim calcmode="lin" valueType="num">
                                      <p:cBhvr additive="base">
                                        <p:cTn id="94" dur="500" fill="hold"/>
                                        <p:tgtEl>
                                          <p:spTgt spid="34"/>
                                        </p:tgtEl>
                                        <p:attrNameLst>
                                          <p:attrName>ppt_y</p:attrName>
                                        </p:attrNameLst>
                                      </p:cBhvr>
                                      <p:tavLst>
                                        <p:tav tm="0">
                                          <p:val>
                                            <p:strVal val="#ppt_y+0.1"/>
                                          </p:val>
                                        </p:tav>
                                        <p:tav tm="100000">
                                          <p:val>
                                            <p:strVal val="#ppt_y"/>
                                          </p:val>
                                        </p:tav>
                                      </p:tavLst>
                                    </p:anim>
                                    <p:animEffect transition="in" filter="fade">
                                      <p:cBhvr>
                                        <p:cTn id="95" dur="500"/>
                                        <p:tgtEl>
                                          <p:spTgt spid="34"/>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35"/>
                                        </p:tgtEl>
                                        <p:attrNameLst>
                                          <p:attrName>style.visibility</p:attrName>
                                        </p:attrNameLst>
                                      </p:cBhvr>
                                      <p:to>
                                        <p:strVal val="visible"/>
                                      </p:to>
                                    </p:set>
                                    <p:anim calcmode="lin" valueType="num">
                                      <p:cBhvr additive="base">
                                        <p:cTn id="98" dur="500" fill="hold"/>
                                        <p:tgtEl>
                                          <p:spTgt spid="35"/>
                                        </p:tgtEl>
                                        <p:attrNameLst>
                                          <p:attrName>ppt_x</p:attrName>
                                        </p:attrNameLst>
                                      </p:cBhvr>
                                      <p:tavLst>
                                        <p:tav tm="0">
                                          <p:val>
                                            <p:strVal val="#ppt_x"/>
                                          </p:val>
                                        </p:tav>
                                        <p:tav tm="100000">
                                          <p:val>
                                            <p:strVal val="#ppt_x"/>
                                          </p:val>
                                        </p:tav>
                                      </p:tavLst>
                                    </p:anim>
                                    <p:anim calcmode="lin" valueType="num">
                                      <p:cBhvr additive="base">
                                        <p:cTn id="99" dur="500" fill="hold"/>
                                        <p:tgtEl>
                                          <p:spTgt spid="35"/>
                                        </p:tgtEl>
                                        <p:attrNameLst>
                                          <p:attrName>ppt_y</p:attrName>
                                        </p:attrNameLst>
                                      </p:cBhvr>
                                      <p:tavLst>
                                        <p:tav tm="0">
                                          <p:val>
                                            <p:strVal val="#ppt_y+0.1"/>
                                          </p:val>
                                        </p:tav>
                                        <p:tav tm="100000">
                                          <p:val>
                                            <p:strVal val="#ppt_y"/>
                                          </p:val>
                                        </p:tav>
                                      </p:tavLst>
                                    </p:anim>
                                    <p:animEffect transition="in" filter="fade">
                                      <p:cBhvr>
                                        <p:cTn id="100" dur="500"/>
                                        <p:tgtEl>
                                          <p:spTgt spid="35"/>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additive="base">
                                        <p:cTn id="103" dur="500" fill="hold"/>
                                        <p:tgtEl>
                                          <p:spTgt spid="36"/>
                                        </p:tgtEl>
                                        <p:attrNameLst>
                                          <p:attrName>ppt_x</p:attrName>
                                        </p:attrNameLst>
                                      </p:cBhvr>
                                      <p:tavLst>
                                        <p:tav tm="0">
                                          <p:val>
                                            <p:strVal val="#ppt_x"/>
                                          </p:val>
                                        </p:tav>
                                        <p:tav tm="100000">
                                          <p:val>
                                            <p:strVal val="#ppt_x"/>
                                          </p:val>
                                        </p:tav>
                                      </p:tavLst>
                                    </p:anim>
                                    <p:anim calcmode="lin" valueType="num">
                                      <p:cBhvr additive="base">
                                        <p:cTn id="104" dur="500" fill="hold"/>
                                        <p:tgtEl>
                                          <p:spTgt spid="36"/>
                                        </p:tgtEl>
                                        <p:attrNameLst>
                                          <p:attrName>ppt_y</p:attrName>
                                        </p:attrNameLst>
                                      </p:cBhvr>
                                      <p:tavLst>
                                        <p:tav tm="0">
                                          <p:val>
                                            <p:strVal val="#ppt_y+0.1"/>
                                          </p:val>
                                        </p:tav>
                                        <p:tav tm="100000">
                                          <p:val>
                                            <p:strVal val="#ppt_y"/>
                                          </p:val>
                                        </p:tav>
                                      </p:tavLst>
                                    </p:anim>
                                    <p:animEffect transition="in" filter="fade">
                                      <p:cBhvr>
                                        <p:cTn id="105" dur="500"/>
                                        <p:tgtEl>
                                          <p:spTgt spid="36"/>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 calcmode="lin" valueType="num">
                                      <p:cBhvr additive="base">
                                        <p:cTn id="108" dur="500" fill="hold"/>
                                        <p:tgtEl>
                                          <p:spTgt spid="37"/>
                                        </p:tgtEl>
                                        <p:attrNameLst>
                                          <p:attrName>ppt_x</p:attrName>
                                        </p:attrNameLst>
                                      </p:cBhvr>
                                      <p:tavLst>
                                        <p:tav tm="0">
                                          <p:val>
                                            <p:strVal val="#ppt_x"/>
                                          </p:val>
                                        </p:tav>
                                        <p:tav tm="100000">
                                          <p:val>
                                            <p:strVal val="#ppt_x"/>
                                          </p:val>
                                        </p:tav>
                                      </p:tavLst>
                                    </p:anim>
                                    <p:anim calcmode="lin" valueType="num">
                                      <p:cBhvr additive="base">
                                        <p:cTn id="109" dur="500" fill="hold"/>
                                        <p:tgtEl>
                                          <p:spTgt spid="37"/>
                                        </p:tgtEl>
                                        <p:attrNameLst>
                                          <p:attrName>ppt_y</p:attrName>
                                        </p:attrNameLst>
                                      </p:cBhvr>
                                      <p:tavLst>
                                        <p:tav tm="0">
                                          <p:val>
                                            <p:strVal val="#ppt_y+0.1"/>
                                          </p:val>
                                        </p:tav>
                                        <p:tav tm="100000">
                                          <p:val>
                                            <p:strVal val="#ppt_y"/>
                                          </p:val>
                                        </p:tav>
                                      </p:tavLst>
                                    </p:anim>
                                    <p:animEffect transition="in" filter="fade">
                                      <p:cBhvr>
                                        <p:cTn id="110" dur="500"/>
                                        <p:tgtEl>
                                          <p:spTgt spid="37"/>
                                        </p:tgtEl>
                                      </p:cBhvr>
                                    </p:animEffect>
                                  </p:childTnLst>
                                </p:cTn>
                              </p:par>
                            </p:childTnLst>
                          </p:cTn>
                        </p:par>
                      </p:childTnLst>
                    </p:cTn>
                  </p:par>
                  <p:par>
                    <p:cTn id="112" fill="hold">
                      <p:stCondLst>
                        <p:cond delay="indefinite"/>
                      </p:stCondLst>
                      <p:childTnLst>
                        <p:par>
                          <p:cTn id="113" fill="hold">
                            <p:stCondLst>
                              <p:cond delay="0"/>
                            </p:stCondLst>
                            <p:childTnLst>
                              <p:par>
                                <p:cTn id="118" presetID="2" presetClass="entr" presetSubtype="4" fill="hold" grpId="0" nodeType="clickEffect">
                                  <p:stCondLst>
                                    <p:cond delay="0"/>
                                  </p:stCondLst>
                                  <p:childTnLst>
                                    <p:set>
                                      <p:cBhvr>
                                        <p:cTn id="114" dur="1" fill="hold">
                                          <p:stCondLst>
                                            <p:cond delay="0"/>
                                          </p:stCondLst>
                                        </p:cTn>
                                        <p:tgtEl>
                                          <p:spTgt spid="38"/>
                                        </p:tgtEl>
                                        <p:attrNameLst>
                                          <p:attrName>style.visibility</p:attrName>
                                        </p:attrNameLst>
                                      </p:cBhvr>
                                      <p:to>
                                        <p:strVal val="visible"/>
                                      </p:to>
                                    </p:set>
                                    <p:anim calcmode="lin" valueType="num">
                                      <p:cBhvr additive="base">
                                        <p:cTn id="115" dur="500" fill="hold"/>
                                        <p:tgtEl>
                                          <p:spTgt spid="38"/>
                                        </p:tgtEl>
                                        <p:attrNameLst>
                                          <p:attrName>ppt_x</p:attrName>
                                        </p:attrNameLst>
                                      </p:cBhvr>
                                      <p:tavLst>
                                        <p:tav tm="0">
                                          <p:val>
                                            <p:strVal val="#ppt_x"/>
                                          </p:val>
                                        </p:tav>
                                        <p:tav tm="100000">
                                          <p:val>
                                            <p:strVal val="#ppt_x"/>
                                          </p:val>
                                        </p:tav>
                                      </p:tavLst>
                                    </p:anim>
                                    <p:anim calcmode="lin" valueType="num">
                                      <p:cBhvr additive="base">
                                        <p:cTn id="116" dur="500" fill="hold"/>
                                        <p:tgtEl>
                                          <p:spTgt spid="38"/>
                                        </p:tgtEl>
                                        <p:attrNameLst>
                                          <p:attrName>ppt_y</p:attrName>
                                        </p:attrNameLst>
                                      </p:cBhvr>
                                      <p:tavLst>
                                        <p:tav tm="0">
                                          <p:val>
                                            <p:strVal val="#ppt_y+0.1"/>
                                          </p:val>
                                        </p:tav>
                                        <p:tav tm="100000">
                                          <p:val>
                                            <p:strVal val="#ppt_y"/>
                                          </p:val>
                                        </p:tav>
                                      </p:tavLst>
                                    </p:anim>
                                    <p:animEffect transition="in" filter="fade">
                                      <p:cBhvr>
                                        <p:cTn id="117" dur="500"/>
                                        <p:tgtEl>
                                          <p:spTgt spid="38"/>
                                        </p:tgtEl>
                                      </p:cBhvr>
                                    </p:animEffect>
                                  </p:childTnLst>
                                </p:cTn>
                              </p:par>
                              <p:par>
                                <p:cTn id="123" presetID="2" presetClass="entr" presetSubtype="4" fill="hold" grpId="0" nodeType="withEffect">
                                  <p:stCondLst>
                                    <p:cond delay="0"/>
                                  </p:stCondLst>
                                  <p:childTnLst>
                                    <p:set>
                                      <p:cBhvr>
                                        <p:cTn id="119" dur="1" fill="hold">
                                          <p:stCondLst>
                                            <p:cond delay="0"/>
                                          </p:stCondLst>
                                        </p:cTn>
                                        <p:tgtEl>
                                          <p:spTgt spid="39"/>
                                        </p:tgtEl>
                                        <p:attrNameLst>
                                          <p:attrName>style.visibility</p:attrName>
                                        </p:attrNameLst>
                                      </p:cBhvr>
                                      <p:to>
                                        <p:strVal val="visible"/>
                                      </p:to>
                                    </p:set>
                                    <p:anim calcmode="lin" valueType="num">
                                      <p:cBhvr additive="base">
                                        <p:cTn id="120" dur="500" fill="hold"/>
                                        <p:tgtEl>
                                          <p:spTgt spid="39"/>
                                        </p:tgtEl>
                                        <p:attrNameLst>
                                          <p:attrName>ppt_x</p:attrName>
                                        </p:attrNameLst>
                                      </p:cBhvr>
                                      <p:tavLst>
                                        <p:tav tm="0">
                                          <p:val>
                                            <p:strVal val="#ppt_x"/>
                                          </p:val>
                                        </p:tav>
                                        <p:tav tm="100000">
                                          <p:val>
                                            <p:strVal val="#ppt_x"/>
                                          </p:val>
                                        </p:tav>
                                      </p:tavLst>
                                    </p:anim>
                                    <p:anim calcmode="lin" valueType="num">
                                      <p:cBhvr additive="base">
                                        <p:cTn id="121" dur="500" fill="hold"/>
                                        <p:tgtEl>
                                          <p:spTgt spid="39"/>
                                        </p:tgtEl>
                                        <p:attrNameLst>
                                          <p:attrName>ppt_y</p:attrName>
                                        </p:attrNameLst>
                                      </p:cBhvr>
                                      <p:tavLst>
                                        <p:tav tm="0">
                                          <p:val>
                                            <p:strVal val="#ppt_y+0.1"/>
                                          </p:val>
                                        </p:tav>
                                        <p:tav tm="100000">
                                          <p:val>
                                            <p:strVal val="#ppt_y"/>
                                          </p:val>
                                        </p:tav>
                                      </p:tavLst>
                                    </p:anim>
                                    <p:animEffect transition="in" filter="fade">
                                      <p:cBhvr>
                                        <p:cTn id="122" dur="500"/>
                                        <p:tgtEl>
                                          <p:spTgt spid="39"/>
                                        </p:tgtEl>
                                      </p:cBhvr>
                                    </p:animEffect>
                                  </p:childTnLst>
                                </p:cTn>
                              </p:par>
                              <p:par>
                                <p:cTn id="128" presetID="2" presetClass="entr" presetSubtype="4" fill="hold" grpId="0" nodeType="withEffect">
                                  <p:stCondLst>
                                    <p:cond delay="0"/>
                                  </p:stCondLst>
                                  <p:childTnLst>
                                    <p:set>
                                      <p:cBhvr>
                                        <p:cTn id="124" dur="1" fill="hold">
                                          <p:stCondLst>
                                            <p:cond delay="0"/>
                                          </p:stCondLst>
                                        </p:cTn>
                                        <p:tgtEl>
                                          <p:spTgt spid="40"/>
                                        </p:tgtEl>
                                        <p:attrNameLst>
                                          <p:attrName>style.visibility</p:attrName>
                                        </p:attrNameLst>
                                      </p:cBhvr>
                                      <p:to>
                                        <p:strVal val="visible"/>
                                      </p:to>
                                    </p:set>
                                    <p:anim calcmode="lin" valueType="num">
                                      <p:cBhvr additive="base">
                                        <p:cTn id="125" dur="500" fill="hold"/>
                                        <p:tgtEl>
                                          <p:spTgt spid="40"/>
                                        </p:tgtEl>
                                        <p:attrNameLst>
                                          <p:attrName>ppt_x</p:attrName>
                                        </p:attrNameLst>
                                      </p:cBhvr>
                                      <p:tavLst>
                                        <p:tav tm="0">
                                          <p:val>
                                            <p:strVal val="#ppt_x"/>
                                          </p:val>
                                        </p:tav>
                                        <p:tav tm="100000">
                                          <p:val>
                                            <p:strVal val="#ppt_x"/>
                                          </p:val>
                                        </p:tav>
                                      </p:tavLst>
                                    </p:anim>
                                    <p:anim calcmode="lin" valueType="num">
                                      <p:cBhvr additive="base">
                                        <p:cTn id="126" dur="500" fill="hold"/>
                                        <p:tgtEl>
                                          <p:spTgt spid="40"/>
                                        </p:tgtEl>
                                        <p:attrNameLst>
                                          <p:attrName>ppt_y</p:attrName>
                                        </p:attrNameLst>
                                      </p:cBhvr>
                                      <p:tavLst>
                                        <p:tav tm="0">
                                          <p:val>
                                            <p:strVal val="#ppt_y+0.1"/>
                                          </p:val>
                                        </p:tav>
                                        <p:tav tm="100000">
                                          <p:val>
                                            <p:strVal val="#ppt_y"/>
                                          </p:val>
                                        </p:tav>
                                      </p:tavLst>
                                    </p:anim>
                                    <p:animEffect transition="in" filter="fade">
                                      <p:cBhvr>
                                        <p:cTn id="12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Inside a Message: Headers, Topic and Offset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Lightweight metadata - and the message's place in the log</a:t>
            </a:r>
          </a:p>
        </p:txBody>
      </p:sp>
      <p:sp>
        <p:nvSpPr>
          <p:cNvPr id="11" name="a0f_card10"/>
          <p:cNvSpPr/>
          <p:nvPr/>
        </p:nvSpPr>
        <p:spPr>
          <a:xfrm>
            <a:off x="457200" y="1261872"/>
            <a:ext cx="4297680" cy="3218688"/>
          </a:xfrm>
          <a:prstGeom prst="roundRect">
            <a:avLst>
              <a:gd name="adj" fmla="val 34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mh11"/>
          <p:cNvSpPr txBox="1"/>
          <p:nvPr/>
        </p:nvSpPr>
        <p:spPr>
          <a:xfrm>
            <a:off x="640080" y="1353312"/>
            <a:ext cx="3931920" cy="219456"/>
          </a:xfrm>
          <a:prstGeom prst="rect">
            <a:avLst/>
          </a:prstGeom>
          <a:noFill/>
        </p:spPr>
        <p:txBody>
          <a:bodyPr wrap="square" lIns="0" tIns="0" rIns="0" bIns="0" anchor="ctr">
            <a:spAutoFit/>
          </a:bodyPr>
          <a:lstStyle/>
          <a:p>
            <a:pPr algn="l"/>
            <a:r>
              <a:rPr sz="850" b="1" spc="160">
                <a:solidFill>
                  <a:srgbClr val="78716C"/>
                </a:solidFill>
                <a:latin typeface="Segoe UI"/>
              </a:rPr>
              <a:t>ONE MESSAGE</a:t>
            </a:r>
          </a:p>
        </p:txBody>
      </p:sp>
      <p:sp>
        <p:nvSpPr>
          <p:cNvPr id="13" name="a0f_mk12"/>
          <p:cNvSpPr txBox="1"/>
          <p:nvPr/>
        </p:nvSpPr>
        <p:spPr>
          <a:xfrm>
            <a:off x="713232" y="1645919"/>
            <a:ext cx="960120" cy="283464"/>
          </a:xfrm>
          <a:prstGeom prst="rect">
            <a:avLst/>
          </a:prstGeom>
          <a:noFill/>
        </p:spPr>
        <p:txBody>
          <a:bodyPr wrap="square" lIns="0" tIns="0" rIns="0" bIns="0" anchor="ctr">
            <a:spAutoFit/>
          </a:bodyPr>
          <a:lstStyle/>
          <a:p>
            <a:pPr algn="l"/>
            <a:r>
              <a:rPr sz="950" b="1">
                <a:solidFill>
                  <a:srgbClr val="78716C"/>
                </a:solidFill>
                <a:latin typeface="Consolas"/>
              </a:rPr>
              <a:t>key</a:t>
            </a:r>
          </a:p>
        </p:txBody>
      </p:sp>
      <p:sp>
        <p:nvSpPr>
          <p:cNvPr id="14" name="a0f_mv13"/>
          <p:cNvSpPr txBox="1"/>
          <p:nvPr/>
        </p:nvSpPr>
        <p:spPr>
          <a:xfrm>
            <a:off x="1719072" y="1645919"/>
            <a:ext cx="2880360" cy="283464"/>
          </a:xfrm>
          <a:prstGeom prst="rect">
            <a:avLst/>
          </a:prstGeom>
          <a:noFill/>
        </p:spPr>
        <p:txBody>
          <a:bodyPr wrap="square" lIns="0" tIns="0" rIns="0" bIns="0" anchor="ctr">
            <a:spAutoFit/>
          </a:bodyPr>
          <a:lstStyle/>
          <a:p>
            <a:pPr algn="l"/>
            <a:r>
              <a:rPr sz="950" b="0">
                <a:solidFill>
                  <a:srgbClr val="A8A29E"/>
                </a:solidFill>
                <a:latin typeface="Consolas"/>
              </a:rPr>
              <a:t>42</a:t>
            </a:r>
          </a:p>
        </p:txBody>
      </p:sp>
      <p:sp>
        <p:nvSpPr>
          <p:cNvPr id="15" name="a0f_mk14"/>
          <p:cNvSpPr txBox="1"/>
          <p:nvPr/>
        </p:nvSpPr>
        <p:spPr>
          <a:xfrm>
            <a:off x="713232" y="1975103"/>
            <a:ext cx="960120" cy="283464"/>
          </a:xfrm>
          <a:prstGeom prst="rect">
            <a:avLst/>
          </a:prstGeom>
          <a:noFill/>
        </p:spPr>
        <p:txBody>
          <a:bodyPr wrap="square" lIns="0" tIns="0" rIns="0" bIns="0" anchor="ctr">
            <a:spAutoFit/>
          </a:bodyPr>
          <a:lstStyle/>
          <a:p>
            <a:pPr algn="l"/>
            <a:r>
              <a:rPr sz="950" b="1">
                <a:solidFill>
                  <a:srgbClr val="78716C"/>
                </a:solidFill>
                <a:latin typeface="Consolas"/>
              </a:rPr>
              <a:t>value</a:t>
            </a:r>
          </a:p>
        </p:txBody>
      </p:sp>
      <p:sp>
        <p:nvSpPr>
          <p:cNvPr id="16" name="a0f_mv15"/>
          <p:cNvSpPr txBox="1"/>
          <p:nvPr/>
        </p:nvSpPr>
        <p:spPr>
          <a:xfrm>
            <a:off x="1719072" y="2011679"/>
            <a:ext cx="2880360" cy="1024127"/>
          </a:xfrm>
          <a:prstGeom prst="rect">
            <a:avLst/>
          </a:prstGeom>
          <a:noFill/>
        </p:spPr>
        <p:txBody>
          <a:bodyPr wrap="square" lIns="0" tIns="0" rIns="0" bIns="0" anchor="t">
            <a:spAutoFit/>
          </a:bodyPr>
          <a:lstStyle/>
          <a:p>
            <a:pPr algn="l"/>
            <a:r>
              <a:rPr sz="900" b="0">
                <a:solidFill>
                  <a:srgbClr val="A8A29E"/>
                </a:solidFill>
                <a:latin typeface="Consolas"/>
              </a:rPr>
              <a:t>{</a:t>
            </a:r>
          </a:p>
          <a:p>
            <a:pPr algn="l"/>
            <a:r>
              <a:rPr sz="900" b="0">
                <a:solidFill>
                  <a:srgbClr val="A8A29E"/>
                </a:solidFill>
                <a:latin typeface="Consolas"/>
              </a:rPr>
              <a:t>  "sensor_id": 42,</a:t>
            </a:r>
          </a:p>
          <a:p>
            <a:pPr algn="l"/>
            <a:r>
              <a:rPr sz="900" b="0">
                <a:solidFill>
                  <a:srgbClr val="A8A29E"/>
                </a:solidFill>
                <a:latin typeface="Consolas"/>
              </a:rPr>
              <a:t>  "location": "kitchen",</a:t>
            </a:r>
          </a:p>
          <a:p>
            <a:pPr algn="l"/>
            <a:r>
              <a:rPr sz="900" b="0">
                <a:solidFill>
                  <a:srgbClr val="A8A29E"/>
                </a:solidFill>
                <a:latin typeface="Consolas"/>
              </a:rPr>
              <a:t>  "temperature": 24,</a:t>
            </a:r>
          </a:p>
          <a:p>
            <a:pPr algn="l"/>
            <a:r>
              <a:rPr sz="900" b="0">
                <a:solidFill>
                  <a:srgbClr val="A8A29E"/>
                </a:solidFill>
                <a:latin typeface="Consolas"/>
              </a:rPr>
              <a:t>  "read_at": "2025-06-12T14:05:09Z"</a:t>
            </a:r>
          </a:p>
          <a:p>
            <a:pPr algn="l"/>
            <a:r>
              <a:rPr sz="900" b="0">
                <a:solidFill>
                  <a:srgbClr val="A8A29E"/>
                </a:solidFill>
                <a:latin typeface="Consolas"/>
              </a:rPr>
              <a:t>}</a:t>
            </a:r>
          </a:p>
        </p:txBody>
      </p:sp>
      <p:sp>
        <p:nvSpPr>
          <p:cNvPr id="17" name="a0f_mk16"/>
          <p:cNvSpPr txBox="1"/>
          <p:nvPr/>
        </p:nvSpPr>
        <p:spPr>
          <a:xfrm>
            <a:off x="713232" y="3090672"/>
            <a:ext cx="960120" cy="283464"/>
          </a:xfrm>
          <a:prstGeom prst="rect">
            <a:avLst/>
          </a:prstGeom>
          <a:noFill/>
        </p:spPr>
        <p:txBody>
          <a:bodyPr wrap="square" lIns="0" tIns="0" rIns="0" bIns="0" anchor="ctr">
            <a:spAutoFit/>
          </a:bodyPr>
          <a:lstStyle/>
          <a:p>
            <a:pPr algn="l"/>
            <a:r>
              <a:rPr sz="950" b="1">
                <a:solidFill>
                  <a:srgbClr val="78716C"/>
                </a:solidFill>
                <a:latin typeface="Consolas"/>
              </a:rPr>
              <a:t>timestamp</a:t>
            </a:r>
          </a:p>
        </p:txBody>
      </p:sp>
      <p:sp>
        <p:nvSpPr>
          <p:cNvPr id="18" name="a0f_mv17"/>
          <p:cNvSpPr txBox="1"/>
          <p:nvPr/>
        </p:nvSpPr>
        <p:spPr>
          <a:xfrm>
            <a:off x="1719072" y="3090672"/>
            <a:ext cx="2880360" cy="283464"/>
          </a:xfrm>
          <a:prstGeom prst="rect">
            <a:avLst/>
          </a:prstGeom>
          <a:noFill/>
        </p:spPr>
        <p:txBody>
          <a:bodyPr wrap="square" lIns="0" tIns="0" rIns="0" bIns="0" anchor="ctr">
            <a:spAutoFit/>
          </a:bodyPr>
          <a:lstStyle/>
          <a:p>
            <a:pPr algn="l"/>
            <a:r>
              <a:rPr sz="950" b="0">
                <a:solidFill>
                  <a:srgbClr val="A8A29E"/>
                </a:solidFill>
                <a:latin typeface="Consolas"/>
              </a:rPr>
              <a:t>2025-06-12 14:05:09.000</a:t>
            </a:r>
          </a:p>
        </p:txBody>
      </p:sp>
      <p:sp>
        <p:nvSpPr>
          <p:cNvPr id="19" name="a0f_mhi18"/>
          <p:cNvSpPr/>
          <p:nvPr/>
        </p:nvSpPr>
        <p:spPr>
          <a:xfrm>
            <a:off x="566928" y="3419856"/>
            <a:ext cx="4078224" cy="283464"/>
          </a:xfrm>
          <a:prstGeom prst="roundRect">
            <a:avLst>
              <a:gd name="adj" fmla="val 16129"/>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_mha19"/>
          <p:cNvSpPr/>
          <p:nvPr/>
        </p:nvSpPr>
        <p:spPr>
          <a:xfrm>
            <a:off x="566928" y="3419856"/>
            <a:ext cx="45720" cy="28346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mk20"/>
          <p:cNvSpPr txBox="1"/>
          <p:nvPr/>
        </p:nvSpPr>
        <p:spPr>
          <a:xfrm>
            <a:off x="713232" y="3419856"/>
            <a:ext cx="960120" cy="283464"/>
          </a:xfrm>
          <a:prstGeom prst="rect">
            <a:avLst/>
          </a:prstGeom>
          <a:noFill/>
        </p:spPr>
        <p:txBody>
          <a:bodyPr wrap="square" lIns="0" tIns="0" rIns="0" bIns="0" anchor="ctr">
            <a:spAutoFit/>
          </a:bodyPr>
          <a:lstStyle/>
          <a:p>
            <a:pPr algn="l"/>
            <a:r>
              <a:rPr sz="950" b="1">
                <a:solidFill>
                  <a:srgbClr val="4F46E5"/>
                </a:solidFill>
                <a:latin typeface="Consolas"/>
              </a:rPr>
              <a:t>headers</a:t>
            </a:r>
          </a:p>
        </p:txBody>
      </p:sp>
      <p:sp>
        <p:nvSpPr>
          <p:cNvPr id="22" name="a0f_mv21"/>
          <p:cNvSpPr txBox="1"/>
          <p:nvPr/>
        </p:nvSpPr>
        <p:spPr>
          <a:xfrm>
            <a:off x="1719072" y="3419856"/>
            <a:ext cx="2880360" cy="283464"/>
          </a:xfrm>
          <a:prstGeom prst="rect">
            <a:avLst/>
          </a:prstGeom>
          <a:noFill/>
        </p:spPr>
        <p:txBody>
          <a:bodyPr wrap="square" lIns="0" tIns="0" rIns="0" bIns="0" anchor="ctr">
            <a:spAutoFit/>
          </a:bodyPr>
          <a:lstStyle/>
          <a:p>
            <a:pPr algn="l"/>
            <a:r>
              <a:rPr sz="950" b="1">
                <a:solidFill>
                  <a:srgbClr val="1C1917"/>
                </a:solidFill>
                <a:latin typeface="Consolas"/>
              </a:rPr>
              <a:t>firmware = 2.4.1   hub = home-7</a:t>
            </a:r>
          </a:p>
        </p:txBody>
      </p:sp>
      <p:sp>
        <p:nvSpPr>
          <p:cNvPr id="23" name="a0f_mhi22"/>
          <p:cNvSpPr/>
          <p:nvPr/>
        </p:nvSpPr>
        <p:spPr>
          <a:xfrm>
            <a:off x="566928" y="3749039"/>
            <a:ext cx="4078224" cy="283464"/>
          </a:xfrm>
          <a:prstGeom prst="roundRect">
            <a:avLst>
              <a:gd name="adj" fmla="val 16129"/>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_mha23"/>
          <p:cNvSpPr/>
          <p:nvPr/>
        </p:nvSpPr>
        <p:spPr>
          <a:xfrm>
            <a:off x="566928" y="3749039"/>
            <a:ext cx="45720" cy="28346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f_mk24"/>
          <p:cNvSpPr txBox="1"/>
          <p:nvPr/>
        </p:nvSpPr>
        <p:spPr>
          <a:xfrm>
            <a:off x="713232" y="3749039"/>
            <a:ext cx="960120" cy="283464"/>
          </a:xfrm>
          <a:prstGeom prst="rect">
            <a:avLst/>
          </a:prstGeom>
          <a:noFill/>
        </p:spPr>
        <p:txBody>
          <a:bodyPr wrap="square" lIns="0" tIns="0" rIns="0" bIns="0" anchor="ctr">
            <a:spAutoFit/>
          </a:bodyPr>
          <a:lstStyle/>
          <a:p>
            <a:pPr algn="l"/>
            <a:r>
              <a:rPr sz="950" b="1">
                <a:solidFill>
                  <a:srgbClr val="4F46E5"/>
                </a:solidFill>
                <a:latin typeface="Consolas"/>
              </a:rPr>
              <a:t>topic</a:t>
            </a:r>
          </a:p>
        </p:txBody>
      </p:sp>
      <p:sp>
        <p:nvSpPr>
          <p:cNvPr id="26" name="a0f_mv25"/>
          <p:cNvSpPr txBox="1"/>
          <p:nvPr/>
        </p:nvSpPr>
        <p:spPr>
          <a:xfrm>
            <a:off x="1719072" y="3749039"/>
            <a:ext cx="2880360" cy="283464"/>
          </a:xfrm>
          <a:prstGeom prst="rect">
            <a:avLst/>
          </a:prstGeom>
          <a:noFill/>
        </p:spPr>
        <p:txBody>
          <a:bodyPr wrap="square" lIns="0" tIns="0" rIns="0" bIns="0" anchor="ctr">
            <a:spAutoFit/>
          </a:bodyPr>
          <a:lstStyle/>
          <a:p>
            <a:pPr algn="l"/>
            <a:r>
              <a:rPr sz="950" b="1">
                <a:solidFill>
                  <a:srgbClr val="1C1917"/>
                </a:solidFill>
                <a:latin typeface="Consolas"/>
              </a:rPr>
              <a:t>thermostat_readings</a:t>
            </a:r>
          </a:p>
        </p:txBody>
      </p:sp>
      <p:sp>
        <p:nvSpPr>
          <p:cNvPr id="27" name="a0f_mhi26"/>
          <p:cNvSpPr/>
          <p:nvPr/>
        </p:nvSpPr>
        <p:spPr>
          <a:xfrm>
            <a:off x="566928" y="4078224"/>
            <a:ext cx="4078224" cy="283464"/>
          </a:xfrm>
          <a:prstGeom prst="roundRect">
            <a:avLst>
              <a:gd name="adj" fmla="val 16129"/>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_mha27"/>
          <p:cNvSpPr/>
          <p:nvPr/>
        </p:nvSpPr>
        <p:spPr>
          <a:xfrm>
            <a:off x="566928" y="4078224"/>
            <a:ext cx="45720" cy="28346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mk28"/>
          <p:cNvSpPr txBox="1"/>
          <p:nvPr/>
        </p:nvSpPr>
        <p:spPr>
          <a:xfrm>
            <a:off x="713232" y="4078224"/>
            <a:ext cx="960120" cy="283464"/>
          </a:xfrm>
          <a:prstGeom prst="rect">
            <a:avLst/>
          </a:prstGeom>
          <a:noFill/>
        </p:spPr>
        <p:txBody>
          <a:bodyPr wrap="square" lIns="0" tIns="0" rIns="0" bIns="0" anchor="ctr">
            <a:spAutoFit/>
          </a:bodyPr>
          <a:lstStyle/>
          <a:p>
            <a:pPr algn="l"/>
            <a:r>
              <a:rPr sz="950" b="1">
                <a:solidFill>
                  <a:srgbClr val="4F46E5"/>
                </a:solidFill>
                <a:latin typeface="Consolas"/>
              </a:rPr>
              <a:t>offset</a:t>
            </a:r>
          </a:p>
        </p:txBody>
      </p:sp>
      <p:sp>
        <p:nvSpPr>
          <p:cNvPr id="30" name="a0f_mv29"/>
          <p:cNvSpPr txBox="1"/>
          <p:nvPr/>
        </p:nvSpPr>
        <p:spPr>
          <a:xfrm>
            <a:off x="1719072" y="4078224"/>
            <a:ext cx="2880360" cy="283464"/>
          </a:xfrm>
          <a:prstGeom prst="rect">
            <a:avLst/>
          </a:prstGeom>
          <a:noFill/>
        </p:spPr>
        <p:txBody>
          <a:bodyPr wrap="square" lIns="0" tIns="0" rIns="0" bIns="0" anchor="ctr">
            <a:spAutoFit/>
          </a:bodyPr>
          <a:lstStyle/>
          <a:p>
            <a:pPr algn="l"/>
            <a:r>
              <a:rPr sz="950" b="1">
                <a:solidFill>
                  <a:srgbClr val="1C1917"/>
                </a:solidFill>
                <a:latin typeface="Consolas"/>
              </a:rPr>
              <a:t>5</a:t>
            </a:r>
          </a:p>
        </p:txBody>
      </p:sp>
      <p:sp>
        <p:nvSpPr>
          <p:cNvPr id="31" name="a1f_sh30"/>
          <p:cNvSpPr txBox="1"/>
          <p:nvPr/>
        </p:nvSpPr>
        <p:spPr>
          <a:xfrm>
            <a:off x="4983480" y="1280160"/>
            <a:ext cx="3703320" cy="256032"/>
          </a:xfrm>
          <a:prstGeom prst="rect">
            <a:avLst/>
          </a:prstGeom>
          <a:noFill/>
        </p:spPr>
        <p:txBody>
          <a:bodyPr wrap="square" lIns="0" tIns="0" rIns="0" bIns="0" anchor="ctr">
            <a:spAutoFit/>
          </a:bodyPr>
          <a:lstStyle/>
          <a:p>
            <a:pPr algn="l"/>
            <a:r>
              <a:rPr sz="950" b="1" spc="120">
                <a:solidFill>
                  <a:srgbClr val="4F46E5"/>
                </a:solidFill>
                <a:latin typeface="Segoe UI"/>
              </a:rPr>
              <a:t>HEADERS</a:t>
            </a:r>
          </a:p>
        </p:txBody>
      </p:sp>
      <p:sp>
        <p:nvSpPr>
          <p:cNvPr id="32" name="a1ud80_hd31"/>
          <p:cNvSpPr txBox="1"/>
          <p:nvPr/>
        </p:nvSpPr>
        <p:spPr>
          <a:xfrm>
            <a:off x="4983480" y="1572768"/>
            <a:ext cx="3703320" cy="658368"/>
          </a:xfrm>
          <a:prstGeom prst="rect">
            <a:avLst/>
          </a:prstGeom>
          <a:noFill/>
        </p:spPr>
        <p:txBody>
          <a:bodyPr wrap="square" lIns="0" tIns="0" rIns="0" bIns="0" anchor="t">
            <a:spAutoFit/>
          </a:bodyPr>
          <a:lstStyle/>
          <a:p>
            <a:pPr algn="l"/>
            <a:r>
              <a:rPr sz="900" b="0">
                <a:solidFill>
                  <a:srgbClr val="44403C"/>
                </a:solidFill>
                <a:latin typeface="Segoe UI"/>
              </a:rPr>
              <a:t>A map of key-value pairs, as untyped strings. Use them for a little extra context - lightweight metadata, not a hidden second payload.</a:t>
            </a:r>
          </a:p>
        </p:txBody>
      </p:sp>
      <p:sp>
        <p:nvSpPr>
          <p:cNvPr id="33" name="a2f_sh32"/>
          <p:cNvSpPr txBox="1"/>
          <p:nvPr/>
        </p:nvSpPr>
        <p:spPr>
          <a:xfrm>
            <a:off x="4983480" y="2148840"/>
            <a:ext cx="3703320" cy="256032"/>
          </a:xfrm>
          <a:prstGeom prst="rect">
            <a:avLst/>
          </a:prstGeom>
          <a:noFill/>
        </p:spPr>
        <p:txBody>
          <a:bodyPr wrap="square" lIns="0" tIns="0" rIns="0" bIns="0" anchor="ctr">
            <a:spAutoFit/>
          </a:bodyPr>
          <a:lstStyle/>
          <a:p>
            <a:pPr algn="l"/>
            <a:r>
              <a:rPr sz="950" b="1" spc="120">
                <a:solidFill>
                  <a:srgbClr val="4F46E5"/>
                </a:solidFill>
                <a:latin typeface="Segoe UI"/>
              </a:rPr>
              <a:t>TOPIC</a:t>
            </a:r>
          </a:p>
        </p:txBody>
      </p:sp>
      <p:sp>
        <p:nvSpPr>
          <p:cNvPr id="34" name="a2ud80_tpd33"/>
          <p:cNvSpPr txBox="1"/>
          <p:nvPr/>
        </p:nvSpPr>
        <p:spPr>
          <a:xfrm>
            <a:off x="4983480" y="2423160"/>
            <a:ext cx="3703320" cy="274320"/>
          </a:xfrm>
          <a:prstGeom prst="rect">
            <a:avLst/>
          </a:prstGeom>
          <a:noFill/>
        </p:spPr>
        <p:txBody>
          <a:bodyPr wrap="square" lIns="0" tIns="0" rIns="0" bIns="0" anchor="ctr">
            <a:spAutoFit/>
          </a:bodyPr>
          <a:lstStyle/>
          <a:p>
            <a:pPr algn="l"/>
            <a:r>
              <a:rPr sz="900" b="0">
                <a:solidFill>
                  <a:srgbClr val="44403C"/>
                </a:solidFill>
                <a:latin typeface="Segoe UI"/>
              </a:rPr>
              <a:t>A message knows which topic it belongs to.</a:t>
            </a:r>
          </a:p>
        </p:txBody>
      </p:sp>
      <p:sp>
        <p:nvSpPr>
          <p:cNvPr id="35" name="a3f_sh34"/>
          <p:cNvSpPr txBox="1"/>
          <p:nvPr/>
        </p:nvSpPr>
        <p:spPr>
          <a:xfrm>
            <a:off x="4983480" y="2852928"/>
            <a:ext cx="3703320" cy="256032"/>
          </a:xfrm>
          <a:prstGeom prst="rect">
            <a:avLst/>
          </a:prstGeom>
          <a:noFill/>
        </p:spPr>
        <p:txBody>
          <a:bodyPr wrap="square" lIns="0" tIns="0" rIns="0" bIns="0" anchor="ctr">
            <a:spAutoFit/>
          </a:bodyPr>
          <a:lstStyle/>
          <a:p>
            <a:pPr algn="l"/>
            <a:r>
              <a:rPr sz="950" b="1" spc="120">
                <a:solidFill>
                  <a:srgbClr val="4F46E5"/>
                </a:solidFill>
                <a:latin typeface="Segoe UI"/>
              </a:rPr>
              <a:t>OFFSET</a:t>
            </a:r>
          </a:p>
        </p:txBody>
      </p:sp>
      <p:sp>
        <p:nvSpPr>
          <p:cNvPr id="36" name="a3ud80_ofd35"/>
          <p:cNvSpPr txBox="1"/>
          <p:nvPr/>
        </p:nvSpPr>
        <p:spPr>
          <a:xfrm>
            <a:off x="4983480" y="3127248"/>
            <a:ext cx="3703320" cy="457200"/>
          </a:xfrm>
          <a:prstGeom prst="rect">
            <a:avLst/>
          </a:prstGeom>
          <a:noFill/>
        </p:spPr>
        <p:txBody>
          <a:bodyPr wrap="square" lIns="0" tIns="0" rIns="0" bIns="0" anchor="t">
            <a:spAutoFit/>
          </a:bodyPr>
          <a:lstStyle/>
          <a:p>
            <a:pPr algn="l"/>
            <a:r>
              <a:rPr sz="900" b="0">
                <a:solidFill>
                  <a:srgbClr val="44403C"/>
                </a:solidFill>
                <a:latin typeface="Segoe UI"/>
              </a:rPr>
              <a:t>Starts at 0 with the first message in a topic, then goes up by one for every new message. That is all there is to it.</a:t>
            </a:r>
          </a:p>
        </p:txBody>
      </p:sp>
      <p:sp>
        <p:nvSpPr>
          <p:cNvPr id="37" name="a3wd200_cell36"/>
          <p:cNvSpPr/>
          <p:nvPr/>
        </p:nvSpPr>
        <p:spPr>
          <a:xfrm>
            <a:off x="4983480" y="3749039"/>
            <a:ext cx="420624" cy="329184"/>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wd200_cellt37"/>
          <p:cNvSpPr txBox="1"/>
          <p:nvPr/>
        </p:nvSpPr>
        <p:spPr>
          <a:xfrm>
            <a:off x="4983480" y="3749039"/>
            <a:ext cx="420624" cy="329184"/>
          </a:xfrm>
          <a:prstGeom prst="rect">
            <a:avLst/>
          </a:prstGeom>
          <a:noFill/>
        </p:spPr>
        <p:txBody>
          <a:bodyPr wrap="square" lIns="0" tIns="0" rIns="0" bIns="0" anchor="ctr">
            <a:spAutoFit/>
          </a:bodyPr>
          <a:lstStyle/>
          <a:p>
            <a:pPr algn="ctr"/>
            <a:r>
              <a:rPr sz="950" b="1">
                <a:solidFill>
                  <a:srgbClr val="4F46E5"/>
                </a:solidFill>
                <a:latin typeface="Consolas"/>
              </a:rPr>
              <a:t>0</a:t>
            </a:r>
          </a:p>
        </p:txBody>
      </p:sp>
      <p:sp>
        <p:nvSpPr>
          <p:cNvPr id="39" name="a3wd260_cell38"/>
          <p:cNvSpPr/>
          <p:nvPr/>
        </p:nvSpPr>
        <p:spPr>
          <a:xfrm>
            <a:off x="5404104" y="3749039"/>
            <a:ext cx="420624" cy="329184"/>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wd260_cellt39"/>
          <p:cNvSpPr txBox="1"/>
          <p:nvPr/>
        </p:nvSpPr>
        <p:spPr>
          <a:xfrm>
            <a:off x="5404104" y="3749039"/>
            <a:ext cx="420624" cy="329184"/>
          </a:xfrm>
          <a:prstGeom prst="rect">
            <a:avLst/>
          </a:prstGeom>
          <a:noFill/>
        </p:spPr>
        <p:txBody>
          <a:bodyPr wrap="square" lIns="0" tIns="0" rIns="0" bIns="0" anchor="ctr">
            <a:spAutoFit/>
          </a:bodyPr>
          <a:lstStyle/>
          <a:p>
            <a:pPr algn="ctr"/>
            <a:r>
              <a:rPr sz="950" b="1">
                <a:solidFill>
                  <a:srgbClr val="4F46E5"/>
                </a:solidFill>
                <a:latin typeface="Consolas"/>
              </a:rPr>
              <a:t>1</a:t>
            </a:r>
          </a:p>
        </p:txBody>
      </p:sp>
      <p:sp>
        <p:nvSpPr>
          <p:cNvPr id="41" name="a3wd320_cell40"/>
          <p:cNvSpPr/>
          <p:nvPr/>
        </p:nvSpPr>
        <p:spPr>
          <a:xfrm>
            <a:off x="5824728" y="3749039"/>
            <a:ext cx="420624" cy="329184"/>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wd320_cellt41"/>
          <p:cNvSpPr txBox="1"/>
          <p:nvPr/>
        </p:nvSpPr>
        <p:spPr>
          <a:xfrm>
            <a:off x="5824728" y="3749039"/>
            <a:ext cx="420624" cy="329184"/>
          </a:xfrm>
          <a:prstGeom prst="rect">
            <a:avLst/>
          </a:prstGeom>
          <a:noFill/>
        </p:spPr>
        <p:txBody>
          <a:bodyPr wrap="square" lIns="0" tIns="0" rIns="0" bIns="0" anchor="ctr">
            <a:spAutoFit/>
          </a:bodyPr>
          <a:lstStyle/>
          <a:p>
            <a:pPr algn="ctr"/>
            <a:r>
              <a:rPr sz="950" b="1">
                <a:solidFill>
                  <a:srgbClr val="4F46E5"/>
                </a:solidFill>
                <a:latin typeface="Consolas"/>
              </a:rPr>
              <a:t>2</a:t>
            </a:r>
          </a:p>
        </p:txBody>
      </p:sp>
      <p:sp>
        <p:nvSpPr>
          <p:cNvPr id="43" name="a3wd380_cell42"/>
          <p:cNvSpPr/>
          <p:nvPr/>
        </p:nvSpPr>
        <p:spPr>
          <a:xfrm>
            <a:off x="6245352" y="3749039"/>
            <a:ext cx="420624" cy="329184"/>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wd380_cellt43"/>
          <p:cNvSpPr txBox="1"/>
          <p:nvPr/>
        </p:nvSpPr>
        <p:spPr>
          <a:xfrm>
            <a:off x="6245352" y="3749039"/>
            <a:ext cx="420624" cy="329184"/>
          </a:xfrm>
          <a:prstGeom prst="rect">
            <a:avLst/>
          </a:prstGeom>
          <a:noFill/>
        </p:spPr>
        <p:txBody>
          <a:bodyPr wrap="square" lIns="0" tIns="0" rIns="0" bIns="0" anchor="ctr">
            <a:spAutoFit/>
          </a:bodyPr>
          <a:lstStyle/>
          <a:p>
            <a:pPr algn="ctr"/>
            <a:r>
              <a:rPr sz="950" b="1">
                <a:solidFill>
                  <a:srgbClr val="4F46E5"/>
                </a:solidFill>
                <a:latin typeface="Consolas"/>
              </a:rPr>
              <a:t>3</a:t>
            </a:r>
          </a:p>
        </p:txBody>
      </p:sp>
      <p:sp>
        <p:nvSpPr>
          <p:cNvPr id="45" name="a3wd440_cell44"/>
          <p:cNvSpPr/>
          <p:nvPr/>
        </p:nvSpPr>
        <p:spPr>
          <a:xfrm>
            <a:off x="6665976" y="3749039"/>
            <a:ext cx="420624" cy="329184"/>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wd440_cellt45"/>
          <p:cNvSpPr txBox="1"/>
          <p:nvPr/>
        </p:nvSpPr>
        <p:spPr>
          <a:xfrm>
            <a:off x="6665976" y="3749039"/>
            <a:ext cx="420624" cy="329184"/>
          </a:xfrm>
          <a:prstGeom prst="rect">
            <a:avLst/>
          </a:prstGeom>
          <a:noFill/>
        </p:spPr>
        <p:txBody>
          <a:bodyPr wrap="square" lIns="0" tIns="0" rIns="0" bIns="0" anchor="ctr">
            <a:spAutoFit/>
          </a:bodyPr>
          <a:lstStyle/>
          <a:p>
            <a:pPr algn="ctr"/>
            <a:r>
              <a:rPr sz="950" b="1">
                <a:solidFill>
                  <a:srgbClr val="4F46E5"/>
                </a:solidFill>
                <a:latin typeface="Consolas"/>
              </a:rPr>
              <a:t>4</a:t>
            </a:r>
          </a:p>
        </p:txBody>
      </p:sp>
      <p:sp>
        <p:nvSpPr>
          <p:cNvPr id="47" name="a3wd500_cell46"/>
          <p:cNvSpPr/>
          <p:nvPr/>
        </p:nvSpPr>
        <p:spPr>
          <a:xfrm>
            <a:off x="7086600" y="3749039"/>
            <a:ext cx="420624" cy="329184"/>
          </a:xfrm>
          <a:prstGeom prst="rect">
            <a:avLst/>
          </a:prstGeom>
          <a:solidFill>
            <a:srgbClr val="4F46E5"/>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3wd500_cellt47"/>
          <p:cNvSpPr txBox="1"/>
          <p:nvPr/>
        </p:nvSpPr>
        <p:spPr>
          <a:xfrm>
            <a:off x="7086600" y="3749039"/>
            <a:ext cx="420624" cy="329184"/>
          </a:xfrm>
          <a:prstGeom prst="rect">
            <a:avLst/>
          </a:prstGeom>
          <a:noFill/>
        </p:spPr>
        <p:txBody>
          <a:bodyPr wrap="square" lIns="0" tIns="0" rIns="0" bIns="0" anchor="ctr">
            <a:spAutoFit/>
          </a:bodyPr>
          <a:lstStyle/>
          <a:p>
            <a:pPr algn="ctr"/>
            <a:r>
              <a:rPr sz="950" b="1">
                <a:solidFill>
                  <a:srgbClr val="FFFFFF"/>
                </a:solidFill>
                <a:latin typeface="Consolas"/>
              </a:rPr>
              <a:t>5</a:t>
            </a:r>
          </a:p>
        </p:txBody>
      </p:sp>
      <p:cxnSp>
        <p:nvCxnSpPr>
          <p:cNvPr id="49" name="a3ud600_ar48"/>
          <p:cNvCxnSpPr/>
          <p:nvPr/>
        </p:nvCxnSpPr>
        <p:spPr>
          <a:xfrm>
            <a:off x="7552944" y="3913632"/>
            <a:ext cx="329183" cy="0"/>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a3ud600_lb49"/>
          <p:cNvSpPr txBox="1"/>
          <p:nvPr/>
        </p:nvSpPr>
        <p:spPr>
          <a:xfrm>
            <a:off x="7918704" y="3749039"/>
            <a:ext cx="768096" cy="329184"/>
          </a:xfrm>
          <a:prstGeom prst="rect">
            <a:avLst/>
          </a:prstGeom>
          <a:noFill/>
        </p:spPr>
        <p:txBody>
          <a:bodyPr wrap="square" lIns="0" tIns="0" rIns="0" bIns="0" anchor="ctr">
            <a:spAutoFit/>
          </a:bodyPr>
          <a:lstStyle/>
          <a:p>
            <a:pPr algn="l"/>
            <a:r>
              <a:rPr sz="950" b="1">
                <a:solidFill>
                  <a:srgbClr val="4F46E5"/>
                </a:solidFill>
                <a:latin typeface="Consolas"/>
              </a:rPr>
              <a:t>next: 6</a:t>
            </a:r>
          </a:p>
        </p:txBody>
      </p:sp>
      <p:sp>
        <p:nvSpPr>
          <p:cNvPr id="51" name="ft5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14</a:t>
            </a:r>
          </a:p>
        </p:txBody>
      </p:sp>
      <p:sp>
        <p:nvSpPr>
          <p:cNvPr id="52" name="ft5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ft5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Topics</a:t>
            </a:r>
          </a:p>
        </p:txBody>
      </p:sp>
      <p:sp>
        <p:nvSpPr>
          <p:cNvPr id="54" name="ft5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childTnLst>
                          </p:cTn>
                        </p:par>
                      </p:childTnLst>
                    </p:cTn>
                  </p:par>
                  <p:par>
                    <p:cTn id="65" fill="hold">
                      <p:stCondLst>
                        <p:cond delay="indefinite"/>
                      </p:stCondLst>
                      <p:childTnLst>
                        <p:par>
                          <p:cTn id="66" fill="hold">
                            <p:stCondLst>
                              <p:cond delay="0"/>
                            </p:stCondLst>
                            <p:childTnLst>
                              <p:par>
                                <p:cTn id="69" presetID="10" presetClass="entr" presetSubtype="0" fill="hold" grpId="0" nodeType="click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par>
                                <p:cTn id="74" presetID="2" presetClass="entr" presetSubtype="4" fill="hold" grpId="0" nodeType="withEffect">
                                  <p:stCondLst>
                                    <p:cond delay="80"/>
                                  </p:stCondLst>
                                  <p:childTnLst>
                                    <p:set>
                                      <p:cBhvr>
                                        <p:cTn id="70" dur="1" fill="hold">
                                          <p:stCondLst>
                                            <p:cond delay="0"/>
                                          </p:stCondLst>
                                        </p:cTn>
                                        <p:tgtEl>
                                          <p:spTgt spid="32"/>
                                        </p:tgtEl>
                                        <p:attrNameLst>
                                          <p:attrName>style.visibility</p:attrName>
                                        </p:attrNameLst>
                                      </p:cBhvr>
                                      <p:to>
                                        <p:strVal val="visible"/>
                                      </p:to>
                                    </p:set>
                                    <p:anim calcmode="lin" valueType="num">
                                      <p:cBhvr additive="base">
                                        <p:cTn id="71" dur="500" fill="hold"/>
                                        <p:tgtEl>
                                          <p:spTgt spid="32"/>
                                        </p:tgtEl>
                                        <p:attrNameLst>
                                          <p:attrName>ppt_x</p:attrName>
                                        </p:attrNameLst>
                                      </p:cBhvr>
                                      <p:tavLst>
                                        <p:tav tm="0">
                                          <p:val>
                                            <p:strVal val="#ppt_x"/>
                                          </p:val>
                                        </p:tav>
                                        <p:tav tm="100000">
                                          <p:val>
                                            <p:strVal val="#ppt_x"/>
                                          </p:val>
                                        </p:tav>
                                      </p:tavLst>
                                    </p:anim>
                                    <p:anim calcmode="lin" valueType="num">
                                      <p:cBhvr additive="base">
                                        <p:cTn id="72" dur="500" fill="hold"/>
                                        <p:tgtEl>
                                          <p:spTgt spid="32"/>
                                        </p:tgtEl>
                                        <p:attrNameLst>
                                          <p:attrName>ppt_y</p:attrName>
                                        </p:attrNameLst>
                                      </p:cBhvr>
                                      <p:tavLst>
                                        <p:tav tm="0">
                                          <p:val>
                                            <p:strVal val="#ppt_y+0.1"/>
                                          </p:val>
                                        </p:tav>
                                        <p:tav tm="100000">
                                          <p:val>
                                            <p:strVal val="#ppt_y"/>
                                          </p:val>
                                        </p:tav>
                                      </p:tavLst>
                                    </p:anim>
                                    <p:animEffect transition="in" filter="fade">
                                      <p:cBhvr>
                                        <p:cTn id="73" dur="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9" presetID="10" presetClass="entr" presetSubtype="0" fill="hold" grpId="0" nodeType="click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500"/>
                                        <p:tgtEl>
                                          <p:spTgt spid="33"/>
                                        </p:tgtEl>
                                      </p:cBhvr>
                                    </p:animEffect>
                                  </p:childTnLst>
                                </p:cTn>
                              </p:par>
                              <p:par>
                                <p:cTn id="84" presetID="2" presetClass="entr" presetSubtype="4" fill="hold" grpId="0" nodeType="withEffect">
                                  <p:stCondLst>
                                    <p:cond delay="80"/>
                                  </p:stCondLst>
                                  <p:childTnLst>
                                    <p:set>
                                      <p:cBhvr>
                                        <p:cTn id="80" dur="1" fill="hold">
                                          <p:stCondLst>
                                            <p:cond delay="0"/>
                                          </p:stCondLst>
                                        </p:cTn>
                                        <p:tgtEl>
                                          <p:spTgt spid="34"/>
                                        </p:tgtEl>
                                        <p:attrNameLst>
                                          <p:attrName>style.visibility</p:attrName>
                                        </p:attrNameLst>
                                      </p:cBhvr>
                                      <p:to>
                                        <p:strVal val="visible"/>
                                      </p:to>
                                    </p:set>
                                    <p:anim calcmode="lin" valueType="num">
                                      <p:cBhvr additive="base">
                                        <p:cTn id="81" dur="500" fill="hold"/>
                                        <p:tgtEl>
                                          <p:spTgt spid="34"/>
                                        </p:tgtEl>
                                        <p:attrNameLst>
                                          <p:attrName>ppt_x</p:attrName>
                                        </p:attrNameLst>
                                      </p:cBhvr>
                                      <p:tavLst>
                                        <p:tav tm="0">
                                          <p:val>
                                            <p:strVal val="#ppt_x"/>
                                          </p:val>
                                        </p:tav>
                                        <p:tav tm="100000">
                                          <p:val>
                                            <p:strVal val="#ppt_x"/>
                                          </p:val>
                                        </p:tav>
                                      </p:tavLst>
                                    </p:anim>
                                    <p:anim calcmode="lin" valueType="num">
                                      <p:cBhvr additive="base">
                                        <p:cTn id="82" dur="500" fill="hold"/>
                                        <p:tgtEl>
                                          <p:spTgt spid="34"/>
                                        </p:tgtEl>
                                        <p:attrNameLst>
                                          <p:attrName>ppt_y</p:attrName>
                                        </p:attrNameLst>
                                      </p:cBhvr>
                                      <p:tavLst>
                                        <p:tav tm="0">
                                          <p:val>
                                            <p:strVal val="#ppt_y+0.1"/>
                                          </p:val>
                                        </p:tav>
                                        <p:tav tm="100000">
                                          <p:val>
                                            <p:strVal val="#ppt_y"/>
                                          </p:val>
                                        </p:tav>
                                      </p:tavLst>
                                    </p:anim>
                                    <p:animEffect transition="in" filter="fade">
                                      <p:cBhvr>
                                        <p:cTn id="83" dur="500"/>
                                        <p:tgtEl>
                                          <p:spTgt spid="34"/>
                                        </p:tgtEl>
                                      </p:cBhvr>
                                    </p:animEffect>
                                  </p:childTnLst>
                                </p:cTn>
                              </p:par>
                            </p:childTnLst>
                          </p:cTn>
                        </p:par>
                      </p:childTnLst>
                    </p:cTn>
                  </p:par>
                  <p:par>
                    <p:cTn id="85" fill="hold">
                      <p:stCondLst>
                        <p:cond delay="indefinite"/>
                      </p:stCondLst>
                      <p:childTnLst>
                        <p:par>
                          <p:cTn id="86" fill="hold">
                            <p:stCondLst>
                              <p:cond delay="0"/>
                            </p:stCondLst>
                            <p:childTnLst>
                              <p:par>
                                <p:cTn id="89" presetID="10" presetClass="entr" presetSubtype="0" fill="hold" grpId="0" nodeType="click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childTnLst>
                                </p:cTn>
                              </p:par>
                              <p:par>
                                <p:cTn id="94" presetID="2" presetClass="entr" presetSubtype="4" fill="hold" grpId="0" nodeType="withEffect">
                                  <p:stCondLst>
                                    <p:cond delay="80"/>
                                  </p:stCondLst>
                                  <p:childTnLst>
                                    <p:set>
                                      <p:cBhvr>
                                        <p:cTn id="90" dur="1" fill="hold">
                                          <p:stCondLst>
                                            <p:cond delay="0"/>
                                          </p:stCondLst>
                                        </p:cTn>
                                        <p:tgtEl>
                                          <p:spTgt spid="36"/>
                                        </p:tgtEl>
                                        <p:attrNameLst>
                                          <p:attrName>style.visibility</p:attrName>
                                        </p:attrNameLst>
                                      </p:cBhvr>
                                      <p:to>
                                        <p:strVal val="visible"/>
                                      </p:to>
                                    </p:set>
                                    <p:anim calcmode="lin" valueType="num">
                                      <p:cBhvr additive="base">
                                        <p:cTn id="91" dur="500" fill="hold"/>
                                        <p:tgtEl>
                                          <p:spTgt spid="36"/>
                                        </p:tgtEl>
                                        <p:attrNameLst>
                                          <p:attrName>ppt_x</p:attrName>
                                        </p:attrNameLst>
                                      </p:cBhvr>
                                      <p:tavLst>
                                        <p:tav tm="0">
                                          <p:val>
                                            <p:strVal val="#ppt_x"/>
                                          </p:val>
                                        </p:tav>
                                        <p:tav tm="100000">
                                          <p:val>
                                            <p:strVal val="#ppt_x"/>
                                          </p:val>
                                        </p:tav>
                                      </p:tavLst>
                                    </p:anim>
                                    <p:anim calcmode="lin" valueType="num">
                                      <p:cBhvr additive="base">
                                        <p:cTn id="92" dur="500" fill="hold"/>
                                        <p:tgtEl>
                                          <p:spTgt spid="36"/>
                                        </p:tgtEl>
                                        <p:attrNameLst>
                                          <p:attrName>ppt_y</p:attrName>
                                        </p:attrNameLst>
                                      </p:cBhvr>
                                      <p:tavLst>
                                        <p:tav tm="0">
                                          <p:val>
                                            <p:strVal val="#ppt_y+0.1"/>
                                          </p:val>
                                        </p:tav>
                                        <p:tav tm="100000">
                                          <p:val>
                                            <p:strVal val="#ppt_y"/>
                                          </p:val>
                                        </p:tav>
                                      </p:tavLst>
                                    </p:anim>
                                    <p:animEffect transition="in" filter="fade">
                                      <p:cBhvr>
                                        <p:cTn id="93" dur="500"/>
                                        <p:tgtEl>
                                          <p:spTgt spid="36"/>
                                        </p:tgtEl>
                                      </p:cBhvr>
                                    </p:animEffect>
                                  </p:childTnLst>
                                </p:cTn>
                              </p:par>
                              <p:par>
                                <p:cTn id="97" presetID="22" presetClass="entr" presetSubtype="8" fill="hold" grpId="0" nodeType="withEffect">
                                  <p:stCondLst>
                                    <p:cond delay="200"/>
                                  </p:stCondLst>
                                  <p:childTnLst>
                                    <p:set>
                                      <p:cBhvr>
                                        <p:cTn id="95" dur="1" fill="hold">
                                          <p:stCondLst>
                                            <p:cond delay="0"/>
                                          </p:stCondLst>
                                        </p:cTn>
                                        <p:tgtEl>
                                          <p:spTgt spid="37"/>
                                        </p:tgtEl>
                                        <p:attrNameLst>
                                          <p:attrName>style.visibility</p:attrName>
                                        </p:attrNameLst>
                                      </p:cBhvr>
                                      <p:to>
                                        <p:strVal val="visible"/>
                                      </p:to>
                                    </p:set>
                                    <p:animEffect transition="in" filter="wipe(left)">
                                      <p:cBhvr>
                                        <p:cTn id="96" dur="500"/>
                                        <p:tgtEl>
                                          <p:spTgt spid="37"/>
                                        </p:tgtEl>
                                      </p:cBhvr>
                                    </p:animEffect>
                                  </p:childTnLst>
                                </p:cTn>
                              </p:par>
                              <p:par>
                                <p:cTn id="100" presetID="22" presetClass="entr" presetSubtype="8" fill="hold" grpId="0" nodeType="withEffect">
                                  <p:stCondLst>
                                    <p:cond delay="200"/>
                                  </p:stCondLst>
                                  <p:childTnLst>
                                    <p:set>
                                      <p:cBhvr>
                                        <p:cTn id="98" dur="1" fill="hold">
                                          <p:stCondLst>
                                            <p:cond delay="0"/>
                                          </p:stCondLst>
                                        </p:cTn>
                                        <p:tgtEl>
                                          <p:spTgt spid="38"/>
                                        </p:tgtEl>
                                        <p:attrNameLst>
                                          <p:attrName>style.visibility</p:attrName>
                                        </p:attrNameLst>
                                      </p:cBhvr>
                                      <p:to>
                                        <p:strVal val="visible"/>
                                      </p:to>
                                    </p:set>
                                    <p:animEffect transition="in" filter="wipe(left)">
                                      <p:cBhvr>
                                        <p:cTn id="99" dur="500"/>
                                        <p:tgtEl>
                                          <p:spTgt spid="38"/>
                                        </p:tgtEl>
                                      </p:cBhvr>
                                    </p:animEffect>
                                  </p:childTnLst>
                                </p:cTn>
                              </p:par>
                              <p:par>
                                <p:cTn id="103" presetID="22" presetClass="entr" presetSubtype="8" fill="hold" grpId="0" nodeType="withEffect">
                                  <p:stCondLst>
                                    <p:cond delay="260"/>
                                  </p:stCondLst>
                                  <p:childTnLst>
                                    <p:set>
                                      <p:cBhvr>
                                        <p:cTn id="101" dur="1" fill="hold">
                                          <p:stCondLst>
                                            <p:cond delay="0"/>
                                          </p:stCondLst>
                                        </p:cTn>
                                        <p:tgtEl>
                                          <p:spTgt spid="39"/>
                                        </p:tgtEl>
                                        <p:attrNameLst>
                                          <p:attrName>style.visibility</p:attrName>
                                        </p:attrNameLst>
                                      </p:cBhvr>
                                      <p:to>
                                        <p:strVal val="visible"/>
                                      </p:to>
                                    </p:set>
                                    <p:animEffect transition="in" filter="wipe(left)">
                                      <p:cBhvr>
                                        <p:cTn id="102" dur="500"/>
                                        <p:tgtEl>
                                          <p:spTgt spid="39"/>
                                        </p:tgtEl>
                                      </p:cBhvr>
                                    </p:animEffect>
                                  </p:childTnLst>
                                </p:cTn>
                              </p:par>
                              <p:par>
                                <p:cTn id="106" presetID="22" presetClass="entr" presetSubtype="8" fill="hold" grpId="0" nodeType="withEffect">
                                  <p:stCondLst>
                                    <p:cond delay="260"/>
                                  </p:stCondLst>
                                  <p:childTnLst>
                                    <p:set>
                                      <p:cBhvr>
                                        <p:cTn id="104" dur="1" fill="hold">
                                          <p:stCondLst>
                                            <p:cond delay="0"/>
                                          </p:stCondLst>
                                        </p:cTn>
                                        <p:tgtEl>
                                          <p:spTgt spid="40"/>
                                        </p:tgtEl>
                                        <p:attrNameLst>
                                          <p:attrName>style.visibility</p:attrName>
                                        </p:attrNameLst>
                                      </p:cBhvr>
                                      <p:to>
                                        <p:strVal val="visible"/>
                                      </p:to>
                                    </p:set>
                                    <p:animEffect transition="in" filter="wipe(left)">
                                      <p:cBhvr>
                                        <p:cTn id="105" dur="500"/>
                                        <p:tgtEl>
                                          <p:spTgt spid="40"/>
                                        </p:tgtEl>
                                      </p:cBhvr>
                                    </p:animEffect>
                                  </p:childTnLst>
                                </p:cTn>
                              </p:par>
                              <p:par>
                                <p:cTn id="109" presetID="22" presetClass="entr" presetSubtype="8" fill="hold" grpId="0" nodeType="withEffect">
                                  <p:stCondLst>
                                    <p:cond delay="320"/>
                                  </p:stCondLst>
                                  <p:childTnLst>
                                    <p:set>
                                      <p:cBhvr>
                                        <p:cTn id="107" dur="1" fill="hold">
                                          <p:stCondLst>
                                            <p:cond delay="0"/>
                                          </p:stCondLst>
                                        </p:cTn>
                                        <p:tgtEl>
                                          <p:spTgt spid="41"/>
                                        </p:tgtEl>
                                        <p:attrNameLst>
                                          <p:attrName>style.visibility</p:attrName>
                                        </p:attrNameLst>
                                      </p:cBhvr>
                                      <p:to>
                                        <p:strVal val="visible"/>
                                      </p:to>
                                    </p:set>
                                    <p:animEffect transition="in" filter="wipe(left)">
                                      <p:cBhvr>
                                        <p:cTn id="108" dur="500"/>
                                        <p:tgtEl>
                                          <p:spTgt spid="41"/>
                                        </p:tgtEl>
                                      </p:cBhvr>
                                    </p:animEffect>
                                  </p:childTnLst>
                                </p:cTn>
                              </p:par>
                              <p:par>
                                <p:cTn id="112" presetID="22" presetClass="entr" presetSubtype="8" fill="hold" grpId="0" nodeType="withEffect">
                                  <p:stCondLst>
                                    <p:cond delay="320"/>
                                  </p:stCondLst>
                                  <p:childTnLst>
                                    <p:set>
                                      <p:cBhvr>
                                        <p:cTn id="110" dur="1" fill="hold">
                                          <p:stCondLst>
                                            <p:cond delay="0"/>
                                          </p:stCondLst>
                                        </p:cTn>
                                        <p:tgtEl>
                                          <p:spTgt spid="42"/>
                                        </p:tgtEl>
                                        <p:attrNameLst>
                                          <p:attrName>style.visibility</p:attrName>
                                        </p:attrNameLst>
                                      </p:cBhvr>
                                      <p:to>
                                        <p:strVal val="visible"/>
                                      </p:to>
                                    </p:set>
                                    <p:animEffect transition="in" filter="wipe(left)">
                                      <p:cBhvr>
                                        <p:cTn id="111" dur="500"/>
                                        <p:tgtEl>
                                          <p:spTgt spid="42"/>
                                        </p:tgtEl>
                                      </p:cBhvr>
                                    </p:animEffect>
                                  </p:childTnLst>
                                </p:cTn>
                              </p:par>
                              <p:par>
                                <p:cTn id="115" presetID="22" presetClass="entr" presetSubtype="8" fill="hold" grpId="0" nodeType="withEffect">
                                  <p:stCondLst>
                                    <p:cond delay="380"/>
                                  </p:stCondLst>
                                  <p:childTnLst>
                                    <p:set>
                                      <p:cBhvr>
                                        <p:cTn id="113" dur="1" fill="hold">
                                          <p:stCondLst>
                                            <p:cond delay="0"/>
                                          </p:stCondLst>
                                        </p:cTn>
                                        <p:tgtEl>
                                          <p:spTgt spid="43"/>
                                        </p:tgtEl>
                                        <p:attrNameLst>
                                          <p:attrName>style.visibility</p:attrName>
                                        </p:attrNameLst>
                                      </p:cBhvr>
                                      <p:to>
                                        <p:strVal val="visible"/>
                                      </p:to>
                                    </p:set>
                                    <p:animEffect transition="in" filter="wipe(left)">
                                      <p:cBhvr>
                                        <p:cTn id="114" dur="500"/>
                                        <p:tgtEl>
                                          <p:spTgt spid="43"/>
                                        </p:tgtEl>
                                      </p:cBhvr>
                                    </p:animEffect>
                                  </p:childTnLst>
                                </p:cTn>
                              </p:par>
                              <p:par>
                                <p:cTn id="118" presetID="22" presetClass="entr" presetSubtype="8" fill="hold" grpId="0" nodeType="withEffect">
                                  <p:stCondLst>
                                    <p:cond delay="380"/>
                                  </p:stCondLst>
                                  <p:childTnLst>
                                    <p:set>
                                      <p:cBhvr>
                                        <p:cTn id="116" dur="1" fill="hold">
                                          <p:stCondLst>
                                            <p:cond delay="0"/>
                                          </p:stCondLst>
                                        </p:cTn>
                                        <p:tgtEl>
                                          <p:spTgt spid="44"/>
                                        </p:tgtEl>
                                        <p:attrNameLst>
                                          <p:attrName>style.visibility</p:attrName>
                                        </p:attrNameLst>
                                      </p:cBhvr>
                                      <p:to>
                                        <p:strVal val="visible"/>
                                      </p:to>
                                    </p:set>
                                    <p:animEffect transition="in" filter="wipe(left)">
                                      <p:cBhvr>
                                        <p:cTn id="117" dur="500"/>
                                        <p:tgtEl>
                                          <p:spTgt spid="44"/>
                                        </p:tgtEl>
                                      </p:cBhvr>
                                    </p:animEffect>
                                  </p:childTnLst>
                                </p:cTn>
                              </p:par>
                              <p:par>
                                <p:cTn id="121" presetID="22" presetClass="entr" presetSubtype="8" fill="hold" grpId="0" nodeType="withEffect">
                                  <p:stCondLst>
                                    <p:cond delay="440"/>
                                  </p:stCondLst>
                                  <p:childTnLst>
                                    <p:set>
                                      <p:cBhvr>
                                        <p:cTn id="119" dur="1" fill="hold">
                                          <p:stCondLst>
                                            <p:cond delay="0"/>
                                          </p:stCondLst>
                                        </p:cTn>
                                        <p:tgtEl>
                                          <p:spTgt spid="45"/>
                                        </p:tgtEl>
                                        <p:attrNameLst>
                                          <p:attrName>style.visibility</p:attrName>
                                        </p:attrNameLst>
                                      </p:cBhvr>
                                      <p:to>
                                        <p:strVal val="visible"/>
                                      </p:to>
                                    </p:set>
                                    <p:animEffect transition="in" filter="wipe(left)">
                                      <p:cBhvr>
                                        <p:cTn id="120" dur="500"/>
                                        <p:tgtEl>
                                          <p:spTgt spid="45"/>
                                        </p:tgtEl>
                                      </p:cBhvr>
                                    </p:animEffect>
                                  </p:childTnLst>
                                </p:cTn>
                              </p:par>
                              <p:par>
                                <p:cTn id="124" presetID="22" presetClass="entr" presetSubtype="8" fill="hold" grpId="0" nodeType="withEffect">
                                  <p:stCondLst>
                                    <p:cond delay="440"/>
                                  </p:stCondLst>
                                  <p:childTnLst>
                                    <p:set>
                                      <p:cBhvr>
                                        <p:cTn id="122" dur="1" fill="hold">
                                          <p:stCondLst>
                                            <p:cond delay="0"/>
                                          </p:stCondLst>
                                        </p:cTn>
                                        <p:tgtEl>
                                          <p:spTgt spid="46"/>
                                        </p:tgtEl>
                                        <p:attrNameLst>
                                          <p:attrName>style.visibility</p:attrName>
                                        </p:attrNameLst>
                                      </p:cBhvr>
                                      <p:to>
                                        <p:strVal val="visible"/>
                                      </p:to>
                                    </p:set>
                                    <p:animEffect transition="in" filter="wipe(left)">
                                      <p:cBhvr>
                                        <p:cTn id="123" dur="500"/>
                                        <p:tgtEl>
                                          <p:spTgt spid="46"/>
                                        </p:tgtEl>
                                      </p:cBhvr>
                                    </p:animEffect>
                                  </p:childTnLst>
                                </p:cTn>
                              </p:par>
                              <p:par>
                                <p:cTn id="127" presetID="22" presetClass="entr" presetSubtype="8" fill="hold" grpId="0" nodeType="withEffect">
                                  <p:stCondLst>
                                    <p:cond delay="500"/>
                                  </p:stCondLst>
                                  <p:childTnLst>
                                    <p:set>
                                      <p:cBhvr>
                                        <p:cTn id="125" dur="1" fill="hold">
                                          <p:stCondLst>
                                            <p:cond delay="0"/>
                                          </p:stCondLst>
                                        </p:cTn>
                                        <p:tgtEl>
                                          <p:spTgt spid="47"/>
                                        </p:tgtEl>
                                        <p:attrNameLst>
                                          <p:attrName>style.visibility</p:attrName>
                                        </p:attrNameLst>
                                      </p:cBhvr>
                                      <p:to>
                                        <p:strVal val="visible"/>
                                      </p:to>
                                    </p:set>
                                    <p:animEffect transition="in" filter="wipe(left)">
                                      <p:cBhvr>
                                        <p:cTn id="126" dur="500"/>
                                        <p:tgtEl>
                                          <p:spTgt spid="47"/>
                                        </p:tgtEl>
                                      </p:cBhvr>
                                    </p:animEffect>
                                  </p:childTnLst>
                                </p:cTn>
                              </p:par>
                              <p:par>
                                <p:cTn id="130" presetID="22" presetClass="entr" presetSubtype="8" fill="hold" grpId="0" nodeType="withEffect">
                                  <p:stCondLst>
                                    <p:cond delay="500"/>
                                  </p:stCondLst>
                                  <p:childTnLst>
                                    <p:set>
                                      <p:cBhvr>
                                        <p:cTn id="128" dur="1" fill="hold">
                                          <p:stCondLst>
                                            <p:cond delay="0"/>
                                          </p:stCondLst>
                                        </p:cTn>
                                        <p:tgtEl>
                                          <p:spTgt spid="48"/>
                                        </p:tgtEl>
                                        <p:attrNameLst>
                                          <p:attrName>style.visibility</p:attrName>
                                        </p:attrNameLst>
                                      </p:cBhvr>
                                      <p:to>
                                        <p:strVal val="visible"/>
                                      </p:to>
                                    </p:set>
                                    <p:animEffect transition="in" filter="wipe(left)">
                                      <p:cBhvr>
                                        <p:cTn id="129" dur="500"/>
                                        <p:tgtEl>
                                          <p:spTgt spid="48"/>
                                        </p:tgtEl>
                                      </p:cBhvr>
                                    </p:animEffect>
                                  </p:childTnLst>
                                </p:cTn>
                              </p:par>
                              <p:par>
                                <p:cTn id="135" presetID="2" presetClass="entr" presetSubtype="4" fill="hold" grpId="0" nodeType="withEffect">
                                  <p:stCondLst>
                                    <p:cond delay="600"/>
                                  </p:stCondLst>
                                  <p:childTnLst>
                                    <p:set>
                                      <p:cBhvr>
                                        <p:cTn id="131" dur="1" fill="hold">
                                          <p:stCondLst>
                                            <p:cond delay="0"/>
                                          </p:stCondLst>
                                        </p:cTn>
                                        <p:tgtEl>
                                          <p:spTgt spid="49"/>
                                        </p:tgtEl>
                                        <p:attrNameLst>
                                          <p:attrName>style.visibility</p:attrName>
                                        </p:attrNameLst>
                                      </p:cBhvr>
                                      <p:to>
                                        <p:strVal val="visible"/>
                                      </p:to>
                                    </p:set>
                                    <p:anim calcmode="lin" valueType="num">
                                      <p:cBhvr additive="base">
                                        <p:cTn id="132" dur="500" fill="hold"/>
                                        <p:tgtEl>
                                          <p:spTgt spid="49"/>
                                        </p:tgtEl>
                                        <p:attrNameLst>
                                          <p:attrName>ppt_x</p:attrName>
                                        </p:attrNameLst>
                                      </p:cBhvr>
                                      <p:tavLst>
                                        <p:tav tm="0">
                                          <p:val>
                                            <p:strVal val="#ppt_x"/>
                                          </p:val>
                                        </p:tav>
                                        <p:tav tm="100000">
                                          <p:val>
                                            <p:strVal val="#ppt_x"/>
                                          </p:val>
                                        </p:tav>
                                      </p:tavLst>
                                    </p:anim>
                                    <p:anim calcmode="lin" valueType="num">
                                      <p:cBhvr additive="base">
                                        <p:cTn id="133" dur="500" fill="hold"/>
                                        <p:tgtEl>
                                          <p:spTgt spid="49"/>
                                        </p:tgtEl>
                                        <p:attrNameLst>
                                          <p:attrName>ppt_y</p:attrName>
                                        </p:attrNameLst>
                                      </p:cBhvr>
                                      <p:tavLst>
                                        <p:tav tm="0">
                                          <p:val>
                                            <p:strVal val="#ppt_y+0.1"/>
                                          </p:val>
                                        </p:tav>
                                        <p:tav tm="100000">
                                          <p:val>
                                            <p:strVal val="#ppt_y"/>
                                          </p:val>
                                        </p:tav>
                                      </p:tavLst>
                                    </p:anim>
                                    <p:animEffect transition="in" filter="fade">
                                      <p:cBhvr>
                                        <p:cTn id="134" dur="500"/>
                                        <p:tgtEl>
                                          <p:spTgt spid="49"/>
                                        </p:tgtEl>
                                      </p:cBhvr>
                                    </p:animEffect>
                                  </p:childTnLst>
                                </p:cTn>
                              </p:par>
                              <p:par>
                                <p:cTn id="140" presetID="2" presetClass="entr" presetSubtype="4" fill="hold" grpId="0" nodeType="withEffect">
                                  <p:stCondLst>
                                    <p:cond delay="600"/>
                                  </p:stCondLst>
                                  <p:childTnLst>
                                    <p:set>
                                      <p:cBhvr>
                                        <p:cTn id="136" dur="1" fill="hold">
                                          <p:stCondLst>
                                            <p:cond delay="0"/>
                                          </p:stCondLst>
                                        </p:cTn>
                                        <p:tgtEl>
                                          <p:spTgt spid="50"/>
                                        </p:tgtEl>
                                        <p:attrNameLst>
                                          <p:attrName>style.visibility</p:attrName>
                                        </p:attrNameLst>
                                      </p:cBhvr>
                                      <p:to>
                                        <p:strVal val="visible"/>
                                      </p:to>
                                    </p:set>
                                    <p:anim calcmode="lin" valueType="num">
                                      <p:cBhvr additive="base">
                                        <p:cTn id="137" dur="500" fill="hold"/>
                                        <p:tgtEl>
                                          <p:spTgt spid="50"/>
                                        </p:tgtEl>
                                        <p:attrNameLst>
                                          <p:attrName>ppt_x</p:attrName>
                                        </p:attrNameLst>
                                      </p:cBhvr>
                                      <p:tavLst>
                                        <p:tav tm="0">
                                          <p:val>
                                            <p:strVal val="#ppt_x"/>
                                          </p:val>
                                        </p:tav>
                                        <p:tav tm="100000">
                                          <p:val>
                                            <p:strVal val="#ppt_x"/>
                                          </p:val>
                                        </p:tav>
                                      </p:tavLst>
                                    </p:anim>
                                    <p:anim calcmode="lin" valueType="num">
                                      <p:cBhvr additive="base">
                                        <p:cTn id="138" dur="500" fill="hold"/>
                                        <p:tgtEl>
                                          <p:spTgt spid="50"/>
                                        </p:tgtEl>
                                        <p:attrNameLst>
                                          <p:attrName>ppt_y</p:attrName>
                                        </p:attrNameLst>
                                      </p:cBhvr>
                                      <p:tavLst>
                                        <p:tav tm="0">
                                          <p:val>
                                            <p:strVal val="#ppt_y+0.1"/>
                                          </p:val>
                                        </p:tav>
                                        <p:tav tm="100000">
                                          <p:val>
                                            <p:strVal val="#ppt_y"/>
                                          </p:val>
                                        </p:tav>
                                      </p:tavLst>
                                    </p:anim>
                                    <p:animEffect transition="in" filter="fade">
                                      <p:cBhvr>
                                        <p:cTn id="13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Tables change rows in place</a:t>
            </a:r>
          </a:p>
          <a:p>
            <a:pPr algn="l">
              <a:spcAft>
                <a:spcPts val="100"/>
              </a:spcAft>
            </a:pPr>
            <a:r>
              <a:rPr sz="1000" b="0">
                <a:solidFill>
                  <a:srgbClr val="D6D3D1"/>
                </a:solidFill>
                <a:latin typeface="Segoe UI"/>
              </a:rPr>
              <a:t>An update overwrites the old value - the history is lost</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Kafka stores events in logs called topics</a:t>
            </a:r>
          </a:p>
          <a:p>
            <a:pPr algn="l">
              <a:spcAft>
                <a:spcPts val="100"/>
              </a:spcAft>
            </a:pPr>
            <a:r>
              <a:rPr sz="1000" b="0">
                <a:solidFill>
                  <a:srgbClr val="D6D3D1"/>
                </a:solidFill>
                <a:latin typeface="Segoe UI"/>
              </a:rPr>
              <a:t>New messages are always added to the end</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Messages are immutable</a:t>
            </a:r>
          </a:p>
          <a:p>
            <a:pPr algn="l">
              <a:spcAft>
                <a:spcPts val="100"/>
              </a:spcAft>
            </a:pPr>
            <a:r>
              <a:rPr sz="1000" b="0">
                <a:solidFill>
                  <a:srgbClr val="D6D3D1"/>
                </a:solidFill>
                <a:latin typeface="Segoe UI"/>
              </a:rPr>
              <a:t>To change data, write the result to a new topic</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A topic is a log, not a queue</a:t>
            </a:r>
          </a:p>
          <a:p>
            <a:pPr algn="l">
              <a:spcAft>
                <a:spcPts val="100"/>
              </a:spcAft>
            </a:pPr>
            <a:r>
              <a:rPr sz="1000" b="0">
                <a:solidFill>
                  <a:srgbClr val="D6D3D1"/>
                </a:solidFill>
                <a:latin typeface="Segoe UI"/>
              </a:rPr>
              <a:t>Reading a message does not remove it</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A message has a value, key, timestamp, headers</a:t>
            </a:r>
          </a:p>
          <a:p>
            <a:pPr algn="l">
              <a:spcAft>
                <a:spcPts val="100"/>
              </a:spcAft>
            </a:pPr>
            <a:r>
              <a:rPr sz="1000" b="0">
                <a:solidFill>
                  <a:srgbClr val="D6D3D1"/>
                </a:solidFill>
                <a:latin typeface="Segoe UI"/>
              </a:rPr>
              <a:t>Plus the topic it is in and its offset</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3 - Partitions</a:t>
            </a:r>
          </a:p>
          <a:p>
            <a:pPr algn="l">
              <a:spcAft>
                <a:spcPts val="400"/>
              </a:spcAft>
            </a:pPr>
            <a:r>
              <a:rPr sz="850" b="0">
                <a:solidFill>
                  <a:srgbClr val="A8A29E"/>
                </a:solidFill>
                <a:latin typeface="Segoe UI"/>
              </a:rPr>
              <a:t>how a topic is split across the cluster</a:t>
            </a:r>
          </a:p>
        </p:txBody>
      </p:sp>
      <p:sp>
        <p:nvSpPr>
          <p:cNvPr id="27" name="a3u_src26"/>
          <p:cNvSpPr/>
          <p:nvPr/>
        </p:nvSpPr>
        <p:spPr>
          <a:xfrm>
            <a:off x="6263640" y="2514600"/>
            <a:ext cx="2423160" cy="1188720"/>
          </a:xfrm>
          <a:prstGeom prst="roundRect">
            <a:avLst>
              <a:gd name="adj" fmla="val 769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633472"/>
            <a:ext cx="2103120" cy="9601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Topics - Tim Berglund,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