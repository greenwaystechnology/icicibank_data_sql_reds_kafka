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 of the Kafka 101 series. The slides follow the course's introduction, segment by segment: why Kafka matters, the shift from things to events, real-time processing, what the course covers, and the platform growing around Kafka.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kinds of people are in the room: those who care about pipelines and analytics, those who write applications and need to connect microservices, and those who simply need data that lives in another system. For all three, Kafka ends up as a foundational piece.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of us instinctively picture data as tables. That habit works well for things: stock items, internet-connected cars, the users of a site. Keep these three tables in mind - the next slide looks at the same world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back to the three tables. Selling an item, signalling a turn, clicking a link: each is an event, fixed to a precise moment. Kafka's whole design starts from this idea.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Events are what hold today's data systems together, and Kafka is the piece of infrastructure that looks after them. On the right are the same three kinds of work from the first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an event belongs to a particular moment, systems built on Kafka compute on each event as soon as it occurs. They do not park events in tables or files and come back to them later in a batch.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Real-time does not mean fire-and-forget. Kafka can remember the events that happened; the course comes back to exactly how when it reaches storage.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split between things and events is not a hard line. Managing the schema of the events you store - agreeing what every ItemSold looks like - is thinking about a thing, and Kafka helps with that too.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promise of the course: how to get data into Kafka and out again, how events are structured, how Kafka handles storage and replication, and how Apache Kafka compares with cloud-native Kafka services. After that, there is a whole field to explore.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companies push millions of events through Kafka every second - billions an hour, trillions a day. Beyond those giants, a huge number of organisations use Kafka in the wild.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the picture bottom-up: Kafka first, then the three needs that appear as soon as you have lots of events - computing on them in real time, governing the event data, and connecting Kafka to everything that is not Kafka. Together they make what Confluent calls a data streaming platform.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ten modules that follow this introduction, in order. Hands-on exercises come with Producers, Consumers, Schema Registry, Kafka Connect and Stream Processing.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points to leave with, one per segment of the introduction. Ask each learner to name one event from a system they work on before moving to Topics.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edge1"/>
          <p:cNvSpPr/>
          <p:nvPr/>
        </p:nvSpPr>
        <p:spPr>
          <a:xfrm>
            <a:off x="0" y="0"/>
            <a:ext cx="128016" cy="51435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a0f_kick2"/>
          <p:cNvSpPr txBox="1"/>
          <p:nvPr/>
        </p:nvSpPr>
        <p:spPr>
          <a:xfrm>
            <a:off x="548640" y="868680"/>
            <a:ext cx="4937760" cy="292608"/>
          </a:xfrm>
          <a:prstGeom prst="rect">
            <a:avLst/>
          </a:prstGeom>
          <a:noFill/>
        </p:spPr>
        <p:txBody>
          <a:bodyPr wrap="square" lIns="0" tIns="0" rIns="0" bIns="0" anchor="ctr">
            <a:spAutoFit/>
          </a:bodyPr>
          <a:lstStyle/>
          <a:p>
            <a:pPr algn="l"/>
            <a:r>
              <a:rPr sz="1050" b="1" spc="300">
                <a:solidFill>
                  <a:srgbClr val="FB923C"/>
                </a:solidFill>
                <a:latin typeface="Segoe UI"/>
              </a:rPr>
              <a:t>APACHE KAFKA 101</a:t>
            </a:r>
          </a:p>
        </p:txBody>
      </p:sp>
      <p:sp>
        <p:nvSpPr>
          <p:cNvPr id="4" name="a0ud200_t3"/>
          <p:cNvSpPr txBox="1"/>
          <p:nvPr/>
        </p:nvSpPr>
        <p:spPr>
          <a:xfrm>
            <a:off x="548640" y="1188720"/>
            <a:ext cx="5212080" cy="1417320"/>
          </a:xfrm>
          <a:prstGeom prst="rect">
            <a:avLst/>
          </a:prstGeom>
          <a:noFill/>
        </p:spPr>
        <p:txBody>
          <a:bodyPr wrap="square" lIns="0" tIns="0" rIns="0" bIns="0" anchor="ctr">
            <a:spAutoFit/>
          </a:bodyPr>
          <a:lstStyle/>
          <a:p>
            <a:pPr algn="l"/>
            <a:r>
              <a:rPr sz="4200" b="0">
                <a:solidFill>
                  <a:srgbClr val="FFFFFF"/>
                </a:solidFill>
                <a:latin typeface="Bahnschrift SemiBold"/>
              </a:rPr>
              <a:t>Apache Kafka 101</a:t>
            </a:r>
          </a:p>
        </p:txBody>
      </p:sp>
      <p:sp>
        <p:nvSpPr>
          <p:cNvPr id="5" name="a0fd500_sub4"/>
          <p:cNvSpPr txBox="1"/>
          <p:nvPr/>
        </p:nvSpPr>
        <p:spPr>
          <a:xfrm>
            <a:off x="548640" y="2670048"/>
            <a:ext cx="5029200" cy="457200"/>
          </a:xfrm>
          <a:prstGeom prst="rect">
            <a:avLst/>
          </a:prstGeom>
          <a:noFill/>
        </p:spPr>
        <p:txBody>
          <a:bodyPr wrap="square" lIns="0" tIns="0" rIns="0" bIns="0" anchor="ctr">
            <a:spAutoFit/>
          </a:bodyPr>
          <a:lstStyle/>
          <a:p>
            <a:pPr algn="l"/>
            <a:r>
              <a:rPr sz="1450" b="0">
                <a:solidFill>
                  <a:srgbClr val="D6D3D1"/>
                </a:solidFill>
                <a:latin typeface="Segoe UI"/>
              </a:rPr>
              <a:t>Introduction</a:t>
            </a:r>
          </a:p>
          <a:p>
            <a:pPr algn="l"/>
            <a:r>
              <a:rPr sz="1450" b="0">
                <a:solidFill>
                  <a:srgbClr val="D6D3D1"/>
                </a:solidFill>
                <a:latin typeface="Segoe UI"/>
              </a:rPr>
              <a:t>the foundation of modern data systems</a:t>
            </a:r>
          </a:p>
        </p:txBody>
      </p:sp>
      <p:sp>
        <p:nvSpPr>
          <p:cNvPr id="6" name="a0ud800_pill5"/>
          <p:cNvSpPr/>
          <p:nvPr/>
        </p:nvSpPr>
        <p:spPr>
          <a:xfrm>
            <a:off x="548640"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THINGS</a:t>
            </a:r>
          </a:p>
        </p:txBody>
      </p:sp>
      <p:sp>
        <p:nvSpPr>
          <p:cNvPr id="7" name="a0ud950_pill6"/>
          <p:cNvSpPr/>
          <p:nvPr/>
        </p:nvSpPr>
        <p:spPr>
          <a:xfrm>
            <a:off x="1572768"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EVENTS</a:t>
            </a:r>
          </a:p>
        </p:txBody>
      </p:sp>
      <p:sp>
        <p:nvSpPr>
          <p:cNvPr id="8" name="a0ud1100_pill7"/>
          <p:cNvSpPr/>
          <p:nvPr/>
        </p:nvSpPr>
        <p:spPr>
          <a:xfrm>
            <a:off x="2596896"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REAL TIME</a:t>
            </a:r>
          </a:p>
        </p:txBody>
      </p:sp>
      <p:sp>
        <p:nvSpPr>
          <p:cNvPr id="9" name="a0ud1250_pill8"/>
          <p:cNvSpPr/>
          <p:nvPr/>
        </p:nvSpPr>
        <p:spPr>
          <a:xfrm>
            <a:off x="3621024"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PLATFORM</a:t>
            </a:r>
          </a:p>
        </p:txBody>
      </p:sp>
      <p:sp>
        <p:nvSpPr>
          <p:cNvPr id="10" name="a0fd1400_nt9"/>
          <p:cNvSpPr txBox="1"/>
          <p:nvPr/>
        </p:nvSpPr>
        <p:spPr>
          <a:xfrm>
            <a:off x="548640" y="3950208"/>
            <a:ext cx="4937760" cy="457200"/>
          </a:xfrm>
          <a:prstGeom prst="rect">
            <a:avLst/>
          </a:prstGeom>
          <a:noFill/>
        </p:spPr>
        <p:txBody>
          <a:bodyPr wrap="square" lIns="0" tIns="0" rIns="0" bIns="0" anchor="ctr">
            <a:spAutoFit/>
          </a:bodyPr>
          <a:lstStyle/>
          <a:p>
            <a:pPr algn="l"/>
            <a:r>
              <a:rPr sz="1050" b="0">
                <a:solidFill>
                  <a:srgbClr val="A8A29E"/>
                </a:solidFill>
                <a:latin typeface="Segoe UI"/>
              </a:rPr>
              <a:t>Module 1  ·  Following the Kafka 101 introduction by Tim Berglund, Confluent</a:t>
            </a:r>
          </a:p>
        </p:txBody>
      </p:sp>
      <p:sp>
        <p:nvSpPr>
          <p:cNvPr id="11" name="a0fd1600_lc10"/>
          <p:cNvSpPr/>
          <p:nvPr/>
        </p:nvSpPr>
        <p:spPr>
          <a:xfrm>
            <a:off x="548640"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d1600_lct11"/>
          <p:cNvSpPr txBox="1"/>
          <p:nvPr/>
        </p:nvSpPr>
        <p:spPr>
          <a:xfrm>
            <a:off x="548640"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0</a:t>
            </a:r>
          </a:p>
        </p:txBody>
      </p:sp>
      <p:sp>
        <p:nvSpPr>
          <p:cNvPr id="13" name="a0fd1645_lc12"/>
          <p:cNvSpPr/>
          <p:nvPr/>
        </p:nvSpPr>
        <p:spPr>
          <a:xfrm>
            <a:off x="987552"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0fd1645_lct13"/>
          <p:cNvSpPr txBox="1"/>
          <p:nvPr/>
        </p:nvSpPr>
        <p:spPr>
          <a:xfrm>
            <a:off x="987552"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a:t>
            </a:r>
          </a:p>
        </p:txBody>
      </p:sp>
      <p:sp>
        <p:nvSpPr>
          <p:cNvPr id="15" name="a0fd1690_lc14"/>
          <p:cNvSpPr/>
          <p:nvPr/>
        </p:nvSpPr>
        <p:spPr>
          <a:xfrm>
            <a:off x="1426464"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0fd1690_lct15"/>
          <p:cNvSpPr txBox="1"/>
          <p:nvPr/>
        </p:nvSpPr>
        <p:spPr>
          <a:xfrm>
            <a:off x="1426464"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2</a:t>
            </a:r>
          </a:p>
        </p:txBody>
      </p:sp>
      <p:sp>
        <p:nvSpPr>
          <p:cNvPr id="17" name="a0fd1735_lc16"/>
          <p:cNvSpPr/>
          <p:nvPr/>
        </p:nvSpPr>
        <p:spPr>
          <a:xfrm>
            <a:off x="1865376"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0fd1735_lct17"/>
          <p:cNvSpPr txBox="1"/>
          <p:nvPr/>
        </p:nvSpPr>
        <p:spPr>
          <a:xfrm>
            <a:off x="1865376"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3</a:t>
            </a:r>
          </a:p>
        </p:txBody>
      </p:sp>
      <p:sp>
        <p:nvSpPr>
          <p:cNvPr id="19" name="a0fd1780_lc18"/>
          <p:cNvSpPr/>
          <p:nvPr/>
        </p:nvSpPr>
        <p:spPr>
          <a:xfrm>
            <a:off x="2304288"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0fd1780_lct19"/>
          <p:cNvSpPr txBox="1"/>
          <p:nvPr/>
        </p:nvSpPr>
        <p:spPr>
          <a:xfrm>
            <a:off x="2304288"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4</a:t>
            </a:r>
          </a:p>
        </p:txBody>
      </p:sp>
      <p:sp>
        <p:nvSpPr>
          <p:cNvPr id="21" name="a0fd1825_lc20"/>
          <p:cNvSpPr/>
          <p:nvPr/>
        </p:nvSpPr>
        <p:spPr>
          <a:xfrm>
            <a:off x="2743200"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0fd1825_lct21"/>
          <p:cNvSpPr txBox="1"/>
          <p:nvPr/>
        </p:nvSpPr>
        <p:spPr>
          <a:xfrm>
            <a:off x="2743200"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5</a:t>
            </a:r>
          </a:p>
        </p:txBody>
      </p:sp>
      <p:sp>
        <p:nvSpPr>
          <p:cNvPr id="23" name="a0fd1870_lc22"/>
          <p:cNvSpPr/>
          <p:nvPr/>
        </p:nvSpPr>
        <p:spPr>
          <a:xfrm>
            <a:off x="3182112"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0fd1870_lct23"/>
          <p:cNvSpPr txBox="1"/>
          <p:nvPr/>
        </p:nvSpPr>
        <p:spPr>
          <a:xfrm>
            <a:off x="3182112"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6</a:t>
            </a:r>
          </a:p>
        </p:txBody>
      </p:sp>
      <p:sp>
        <p:nvSpPr>
          <p:cNvPr id="25" name="a0fd1915_lc24"/>
          <p:cNvSpPr/>
          <p:nvPr/>
        </p:nvSpPr>
        <p:spPr>
          <a:xfrm>
            <a:off x="3621024"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0fd1915_lct25"/>
          <p:cNvSpPr txBox="1"/>
          <p:nvPr/>
        </p:nvSpPr>
        <p:spPr>
          <a:xfrm>
            <a:off x="3621024"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7</a:t>
            </a:r>
          </a:p>
        </p:txBody>
      </p:sp>
      <p:sp>
        <p:nvSpPr>
          <p:cNvPr id="27" name="a0fd1960_lc26"/>
          <p:cNvSpPr/>
          <p:nvPr/>
        </p:nvSpPr>
        <p:spPr>
          <a:xfrm>
            <a:off x="4059935"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0fd1960_lct27"/>
          <p:cNvSpPr txBox="1"/>
          <p:nvPr/>
        </p:nvSpPr>
        <p:spPr>
          <a:xfrm>
            <a:off x="4059935"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8</a:t>
            </a:r>
          </a:p>
        </p:txBody>
      </p:sp>
      <p:sp>
        <p:nvSpPr>
          <p:cNvPr id="29" name="a0fd2005_lc28"/>
          <p:cNvSpPr/>
          <p:nvPr/>
        </p:nvSpPr>
        <p:spPr>
          <a:xfrm>
            <a:off x="4498848"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0fd2005_lct29"/>
          <p:cNvSpPr txBox="1"/>
          <p:nvPr/>
        </p:nvSpPr>
        <p:spPr>
          <a:xfrm>
            <a:off x="4498848"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9</a:t>
            </a:r>
          </a:p>
        </p:txBody>
      </p:sp>
      <p:sp>
        <p:nvSpPr>
          <p:cNvPr id="31" name="a0fd2050_lc30"/>
          <p:cNvSpPr/>
          <p:nvPr/>
        </p:nvSpPr>
        <p:spPr>
          <a:xfrm>
            <a:off x="4937759"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0fd2050_lct31"/>
          <p:cNvSpPr txBox="1"/>
          <p:nvPr/>
        </p:nvSpPr>
        <p:spPr>
          <a:xfrm>
            <a:off x="4937759"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10</a:t>
            </a:r>
          </a:p>
        </p:txBody>
      </p:sp>
      <p:sp>
        <p:nvSpPr>
          <p:cNvPr id="33" name="a0fd2095_lc32"/>
          <p:cNvSpPr/>
          <p:nvPr/>
        </p:nvSpPr>
        <p:spPr>
          <a:xfrm>
            <a:off x="5376671"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0fd2095_lct33"/>
          <p:cNvSpPr txBox="1"/>
          <p:nvPr/>
        </p:nvSpPr>
        <p:spPr>
          <a:xfrm>
            <a:off x="5376671"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11</a:t>
            </a:r>
          </a:p>
        </p:txBody>
      </p:sp>
      <p:sp>
        <p:nvSpPr>
          <p:cNvPr id="35" name="a0fd2140_lc34"/>
          <p:cNvSpPr/>
          <p:nvPr/>
        </p:nvSpPr>
        <p:spPr>
          <a:xfrm>
            <a:off x="5815583"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0fd2140_lct35"/>
          <p:cNvSpPr txBox="1"/>
          <p:nvPr/>
        </p:nvSpPr>
        <p:spPr>
          <a:xfrm>
            <a:off x="5815583"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12</a:t>
            </a:r>
          </a:p>
        </p:txBody>
      </p:sp>
      <p:sp>
        <p:nvSpPr>
          <p:cNvPr id="37" name="a0fd2185_lc36"/>
          <p:cNvSpPr/>
          <p:nvPr/>
        </p:nvSpPr>
        <p:spPr>
          <a:xfrm>
            <a:off x="6254496" y="4553712"/>
            <a:ext cx="384048" cy="237744"/>
          </a:xfrm>
          <a:prstGeom prst="roundRect">
            <a:avLst>
              <a:gd name="adj" fmla="val 15384"/>
            </a:avLst>
          </a:prstGeom>
          <a:solidFill>
            <a:srgbClr val="7C2D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0fd2185_lct37"/>
          <p:cNvSpPr txBox="1"/>
          <p:nvPr/>
        </p:nvSpPr>
        <p:spPr>
          <a:xfrm>
            <a:off x="6254496"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13</a:t>
            </a:r>
          </a:p>
        </p:txBody>
      </p:sp>
      <p:sp>
        <p:nvSpPr>
          <p:cNvPr id="39" name="a0fd2230_lc38"/>
          <p:cNvSpPr/>
          <p:nvPr/>
        </p:nvSpPr>
        <p:spPr>
          <a:xfrm>
            <a:off x="6693407" y="4553712"/>
            <a:ext cx="384048" cy="237744"/>
          </a:xfrm>
          <a:prstGeom prst="roundRect">
            <a:avLst>
              <a:gd name="adj" fmla="val 15384"/>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0fd2230_lct39"/>
          <p:cNvSpPr txBox="1"/>
          <p:nvPr/>
        </p:nvSpPr>
        <p:spPr>
          <a:xfrm>
            <a:off x="6693407"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14</a:t>
            </a:r>
          </a:p>
        </p:txBody>
      </p:sp>
      <p:sp>
        <p:nvSpPr>
          <p:cNvPr id="41" name="a0fd2275_lc40"/>
          <p:cNvSpPr/>
          <p:nvPr/>
        </p:nvSpPr>
        <p:spPr>
          <a:xfrm>
            <a:off x="7132319" y="4553712"/>
            <a:ext cx="384048" cy="237744"/>
          </a:xfrm>
          <a:prstGeom prst="roundRect">
            <a:avLst>
              <a:gd name="adj" fmla="val 15384"/>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0fd2275_lct41"/>
          <p:cNvSpPr txBox="1"/>
          <p:nvPr/>
        </p:nvSpPr>
        <p:spPr>
          <a:xfrm>
            <a:off x="7132319"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15</a:t>
            </a:r>
          </a:p>
        </p:txBody>
      </p:sp>
      <p:sp>
        <p:nvSpPr>
          <p:cNvPr id="43" name="a0fd2320_lc42"/>
          <p:cNvSpPr/>
          <p:nvPr/>
        </p:nvSpPr>
        <p:spPr>
          <a:xfrm>
            <a:off x="7571231" y="4553712"/>
            <a:ext cx="384048" cy="237744"/>
          </a:xfrm>
          <a:prstGeom prst="roundRect">
            <a:avLst>
              <a:gd name="adj" fmla="val 15384"/>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0fd2320_lct43"/>
          <p:cNvSpPr txBox="1"/>
          <p:nvPr/>
        </p:nvSpPr>
        <p:spPr>
          <a:xfrm>
            <a:off x="7571231"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16</a:t>
            </a:r>
          </a:p>
        </p:txBody>
      </p:sp>
      <p:sp>
        <p:nvSpPr>
          <p:cNvPr id="45" name="a0fd2365_lc44"/>
          <p:cNvSpPr/>
          <p:nvPr/>
        </p:nvSpPr>
        <p:spPr>
          <a:xfrm>
            <a:off x="8010144" y="4553712"/>
            <a:ext cx="384048" cy="237744"/>
          </a:xfrm>
          <a:prstGeom prst="roundRect">
            <a:avLst>
              <a:gd name="adj" fmla="val 15384"/>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0fd2365_lct45"/>
          <p:cNvSpPr txBox="1"/>
          <p:nvPr/>
        </p:nvSpPr>
        <p:spPr>
          <a:xfrm>
            <a:off x="8010144"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17</a:t>
            </a:r>
          </a:p>
        </p:txBody>
      </p:sp>
      <p:cxnSp>
        <p:nvCxnSpPr>
          <p:cNvPr id="47" name="a0fd2410_la46"/>
          <p:cNvCxnSpPr/>
          <p:nvPr/>
        </p:nvCxnSpPr>
        <p:spPr>
          <a:xfrm>
            <a:off x="8449056" y="4672584"/>
            <a:ext cx="237744" cy="0"/>
          </a:xfrm>
          <a:prstGeom prst="line">
            <a:avLst/>
          </a:prstGeom>
          <a:ln w="19050">
            <a:solidFill>
              <a:srgbClr val="FB92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a0fd900_lg47"/>
          <p:cNvSpPr/>
          <p:nvPr/>
        </p:nvSpPr>
        <p:spPr>
          <a:xfrm>
            <a:off x="5806440" y="1188720"/>
            <a:ext cx="2880360" cy="1783080"/>
          </a:xfrm>
          <a:prstGeom prst="roundRect">
            <a:avLst>
              <a:gd name="adj" fmla="val 4102"/>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0fd900_lgt48"/>
          <p:cNvSpPr txBox="1"/>
          <p:nvPr/>
        </p:nvSpPr>
        <p:spPr>
          <a:xfrm>
            <a:off x="5961888" y="1280160"/>
            <a:ext cx="2560320" cy="219456"/>
          </a:xfrm>
          <a:prstGeom prst="rect">
            <a:avLst/>
          </a:prstGeom>
          <a:noFill/>
        </p:spPr>
        <p:txBody>
          <a:bodyPr wrap="square" lIns="0" tIns="0" rIns="0" bIns="0" anchor="ctr">
            <a:spAutoFit/>
          </a:bodyPr>
          <a:lstStyle/>
          <a:p>
            <a:pPr algn="l"/>
            <a:r>
              <a:rPr sz="900" b="1">
                <a:solidFill>
                  <a:srgbClr val="78716C"/>
                </a:solidFill>
                <a:latin typeface="Consolas"/>
              </a:rPr>
              <a:t>events, as they happen</a:t>
            </a:r>
          </a:p>
        </p:txBody>
      </p:sp>
      <p:sp>
        <p:nvSpPr>
          <p:cNvPr id="50" name="a0wd1100_ll49"/>
          <p:cNvSpPr txBox="1"/>
          <p:nvPr/>
        </p:nvSpPr>
        <p:spPr>
          <a:xfrm>
            <a:off x="5961888" y="1645920"/>
            <a:ext cx="2606040" cy="274320"/>
          </a:xfrm>
          <a:prstGeom prst="rect">
            <a:avLst/>
          </a:prstGeom>
          <a:noFill/>
        </p:spPr>
        <p:txBody>
          <a:bodyPr wrap="none" lIns="0" tIns="0" rIns="0" bIns="0" anchor="ctr">
            <a:spAutoFit/>
          </a:bodyPr>
          <a:lstStyle/>
          <a:p>
            <a:pPr algn="l"/>
            <a:r>
              <a:rPr sz="950" b="0">
                <a:solidFill>
                  <a:srgbClr val="D6D3D1"/>
                </a:solidFill>
                <a:latin typeface="Consolas"/>
              </a:rPr>
              <a:t>09:41:07  item sold</a:t>
            </a:r>
          </a:p>
        </p:txBody>
      </p:sp>
      <p:sp>
        <p:nvSpPr>
          <p:cNvPr id="51" name="a0wd1400_ll50"/>
          <p:cNvSpPr txBox="1"/>
          <p:nvPr/>
        </p:nvSpPr>
        <p:spPr>
          <a:xfrm>
            <a:off x="5961888" y="2011680"/>
            <a:ext cx="2606040" cy="274320"/>
          </a:xfrm>
          <a:prstGeom prst="rect">
            <a:avLst/>
          </a:prstGeom>
          <a:noFill/>
        </p:spPr>
        <p:txBody>
          <a:bodyPr wrap="none" lIns="0" tIns="0" rIns="0" bIns="0" anchor="ctr">
            <a:spAutoFit/>
          </a:bodyPr>
          <a:lstStyle/>
          <a:p>
            <a:pPr algn="l"/>
            <a:r>
              <a:rPr sz="950" b="0">
                <a:solidFill>
                  <a:srgbClr val="D6D3D1"/>
                </a:solidFill>
                <a:latin typeface="Consolas"/>
              </a:rPr>
              <a:t>09:41:07  turn signal used</a:t>
            </a:r>
          </a:p>
        </p:txBody>
      </p:sp>
      <p:sp>
        <p:nvSpPr>
          <p:cNvPr id="52" name="a0wd1700_ll51"/>
          <p:cNvSpPr txBox="1"/>
          <p:nvPr/>
        </p:nvSpPr>
        <p:spPr>
          <a:xfrm>
            <a:off x="5961888" y="2377440"/>
            <a:ext cx="2606040" cy="274320"/>
          </a:xfrm>
          <a:prstGeom prst="rect">
            <a:avLst/>
          </a:prstGeom>
          <a:noFill/>
        </p:spPr>
        <p:txBody>
          <a:bodyPr wrap="none" lIns="0" tIns="0" rIns="0" bIns="0" anchor="ctr">
            <a:spAutoFit/>
          </a:bodyPr>
          <a:lstStyle/>
          <a:p>
            <a:pPr algn="l"/>
            <a:r>
              <a:rPr sz="950" b="1">
                <a:solidFill>
                  <a:srgbClr val="FDBA74"/>
                </a:solidFill>
                <a:latin typeface="Consolas"/>
              </a:rPr>
              <a:t>09:41:08  link clicked</a:t>
            </a:r>
          </a:p>
        </p:txBody>
      </p:sp>
      <p:sp>
        <p:nvSpPr>
          <p:cNvPr id="53" name="a0fd2100_cap52"/>
          <p:cNvSpPr txBox="1"/>
          <p:nvPr/>
        </p:nvSpPr>
        <p:spPr>
          <a:xfrm>
            <a:off x="5806440" y="3090672"/>
            <a:ext cx="2880360" cy="256032"/>
          </a:xfrm>
          <a:prstGeom prst="rect">
            <a:avLst/>
          </a:prstGeom>
          <a:noFill/>
        </p:spPr>
        <p:txBody>
          <a:bodyPr wrap="square" lIns="0" tIns="0" rIns="0" bIns="0" anchor="ctr">
            <a:spAutoFit/>
          </a:bodyPr>
          <a:lstStyle/>
          <a:p>
            <a:pPr algn="l"/>
            <a:r>
              <a:rPr sz="850" b="0">
                <a:solidFill>
                  <a:srgbClr val="78716C"/>
                </a:solidFill>
                <a:latin typeface="Segoe UI"/>
              </a:rPr>
              <a:t>each one: a moment in time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par>
                                <p:cTn id="12" presetID="2" presetClass="entr" presetSubtype="4" fill="hold" grpId="0" nodeType="withEffect">
                                  <p:stCondLst>
                                    <p:cond delay="20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500" fill="hold"/>
                                        <p:tgtEl>
                                          <p:spTgt spid="4"/>
                                        </p:tgtEl>
                                        <p:attrNameLst>
                                          <p:attrName>ppt_x</p:attrName>
                                        </p:attrNameLst>
                                      </p:cBhvr>
                                      <p:tavLst>
                                        <p:tav tm="0">
                                          <p:val>
                                            <p:strVal val="#ppt_x"/>
                                          </p:val>
                                        </p:tav>
                                        <p:tav tm="100000">
                                          <p:val>
                                            <p:strVal val="#ppt_x"/>
                                          </p:val>
                                        </p:tav>
                                      </p:tavLst>
                                    </p:anim>
                                    <p:anim calcmode="lin" valueType="num">
                                      <p:cBhvr additive="base">
                                        <p:cTn id="10" dur="500" fill="hold"/>
                                        <p:tgtEl>
                                          <p:spTgt spid="4"/>
                                        </p:tgtEl>
                                        <p:attrNameLst>
                                          <p:attrName>ppt_y</p:attrName>
                                        </p:attrNameLst>
                                      </p:cBhvr>
                                      <p:tavLst>
                                        <p:tav tm="0">
                                          <p:val>
                                            <p:strVal val="#ppt_y+0.1"/>
                                          </p:val>
                                        </p:tav>
                                        <p:tav tm="100000">
                                          <p:val>
                                            <p:strVal val="#ppt_y"/>
                                          </p:val>
                                        </p:tav>
                                      </p:tavLst>
                                    </p:anim>
                                    <p:animEffect transition="in" filter="fade">
                                      <p:cBhvr>
                                        <p:cTn id="11" dur="500"/>
                                        <p:tgtEl>
                                          <p:spTgt spid="4"/>
                                        </p:tgtEl>
                                      </p:cBhvr>
                                    </p:animEffect>
                                  </p:childTnLst>
                                </p:cTn>
                              </p:par>
                              <p:par>
                                <p:cTn id="15" presetID="10" presetClass="entr" presetSubtype="0" fill="hold" grpId="0" nodeType="withEffect">
                                  <p:stCondLst>
                                    <p:cond delay="5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20" presetID="2" presetClass="entr" presetSubtype="4" fill="hold" grpId="0" nodeType="withEffect">
                                  <p:stCondLst>
                                    <p:cond delay="80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ppt_y+0.1"/>
                                          </p:val>
                                        </p:tav>
                                        <p:tav tm="100000">
                                          <p:val>
                                            <p:strVal val="#ppt_y"/>
                                          </p:val>
                                        </p:tav>
                                      </p:tavLst>
                                    </p:anim>
                                    <p:animEffect transition="in" filter="fade">
                                      <p:cBhvr>
                                        <p:cTn id="19" dur="500"/>
                                        <p:tgtEl>
                                          <p:spTgt spid="6"/>
                                        </p:tgtEl>
                                      </p:cBhvr>
                                    </p:animEffect>
                                  </p:childTnLst>
                                </p:cTn>
                              </p:par>
                              <p:par>
                                <p:cTn id="23" presetID="10" presetClass="entr" presetSubtype="0" fill="hold" grpId="0" nodeType="withEffect">
                                  <p:stCondLst>
                                    <p:cond delay="90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6" presetID="10" presetClass="entr" presetSubtype="0" fill="hold" grpId="0" nodeType="withEffect">
                                  <p:stCondLst>
                                    <p:cond delay="90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31" presetID="2" presetClass="entr" presetSubtype="4" fill="hold" grpId="0" nodeType="withEffect">
                                  <p:stCondLst>
                                    <p:cond delay="95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ppt_y+0.1"/>
                                          </p:val>
                                        </p:tav>
                                        <p:tav tm="100000">
                                          <p:val>
                                            <p:strVal val="#ppt_y"/>
                                          </p:val>
                                        </p:tav>
                                      </p:tavLst>
                                    </p:anim>
                                    <p:animEffect transition="in" filter="fade">
                                      <p:cBhvr>
                                        <p:cTn id="30" dur="500"/>
                                        <p:tgtEl>
                                          <p:spTgt spid="7"/>
                                        </p:tgtEl>
                                      </p:cBhvr>
                                    </p:animEffect>
                                  </p:childTnLst>
                                </p:cTn>
                              </p:par>
                              <p:par>
                                <p:cTn id="36" presetID="2" presetClass="entr" presetSubtype="4" fill="hold" grpId="0" nodeType="withEffect">
                                  <p:stCondLst>
                                    <p:cond delay="110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ppt_y+0.1"/>
                                          </p:val>
                                        </p:tav>
                                        <p:tav tm="100000">
                                          <p:val>
                                            <p:strVal val="#ppt_y"/>
                                          </p:val>
                                        </p:tav>
                                      </p:tavLst>
                                    </p:anim>
                                    <p:animEffect transition="in" filter="fade">
                                      <p:cBhvr>
                                        <p:cTn id="35" dur="500"/>
                                        <p:tgtEl>
                                          <p:spTgt spid="8"/>
                                        </p:tgtEl>
                                      </p:cBhvr>
                                    </p:animEffect>
                                  </p:childTnLst>
                                </p:cTn>
                              </p:par>
                              <p:par>
                                <p:cTn id="39" presetID="22" presetClass="entr" presetSubtype="8" fill="hold" grpId="0" nodeType="withEffect">
                                  <p:stCondLst>
                                    <p:cond delay="1100"/>
                                  </p:stCondLst>
                                  <p:childTnLst>
                                    <p:set>
                                      <p:cBhvr>
                                        <p:cTn id="37" dur="1" fill="hold">
                                          <p:stCondLst>
                                            <p:cond delay="0"/>
                                          </p:stCondLst>
                                        </p:cTn>
                                        <p:tgtEl>
                                          <p:spTgt spid="50"/>
                                        </p:tgtEl>
                                        <p:attrNameLst>
                                          <p:attrName>style.visibility</p:attrName>
                                        </p:attrNameLst>
                                      </p:cBhvr>
                                      <p:to>
                                        <p:strVal val="visible"/>
                                      </p:to>
                                    </p:set>
                                    <p:animEffect transition="in" filter="wipe(left)">
                                      <p:cBhvr>
                                        <p:cTn id="38" dur="500"/>
                                        <p:tgtEl>
                                          <p:spTgt spid="50"/>
                                        </p:tgtEl>
                                      </p:cBhvr>
                                    </p:animEffect>
                                  </p:childTnLst>
                                </p:cTn>
                              </p:par>
                              <p:par>
                                <p:cTn id="44" presetID="2" presetClass="entr" presetSubtype="4" fill="hold" grpId="0" nodeType="withEffect">
                                  <p:stCondLst>
                                    <p:cond delay="125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500" fill="hold"/>
                                        <p:tgtEl>
                                          <p:spTgt spid="9"/>
                                        </p:tgtEl>
                                        <p:attrNameLst>
                                          <p:attrName>ppt_x</p:attrName>
                                        </p:attrNameLst>
                                      </p:cBhvr>
                                      <p:tavLst>
                                        <p:tav tm="0">
                                          <p:val>
                                            <p:strVal val="#ppt_x"/>
                                          </p:val>
                                        </p:tav>
                                        <p:tav tm="100000">
                                          <p:val>
                                            <p:strVal val="#ppt_x"/>
                                          </p:val>
                                        </p:tav>
                                      </p:tavLst>
                                    </p:anim>
                                    <p:anim calcmode="lin" valueType="num">
                                      <p:cBhvr additive="base">
                                        <p:cTn id="42" dur="500" fill="hold"/>
                                        <p:tgtEl>
                                          <p:spTgt spid="9"/>
                                        </p:tgtEl>
                                        <p:attrNameLst>
                                          <p:attrName>ppt_y</p:attrName>
                                        </p:attrNameLst>
                                      </p:cBhvr>
                                      <p:tavLst>
                                        <p:tav tm="0">
                                          <p:val>
                                            <p:strVal val="#ppt_y+0.1"/>
                                          </p:val>
                                        </p:tav>
                                        <p:tav tm="100000">
                                          <p:val>
                                            <p:strVal val="#ppt_y"/>
                                          </p:val>
                                        </p:tav>
                                      </p:tavLst>
                                    </p:anim>
                                    <p:animEffect transition="in" filter="fade">
                                      <p:cBhvr>
                                        <p:cTn id="43" dur="500"/>
                                        <p:tgtEl>
                                          <p:spTgt spid="9"/>
                                        </p:tgtEl>
                                      </p:cBhvr>
                                    </p:animEffect>
                                  </p:childTnLst>
                                </p:cTn>
                              </p:par>
                              <p:par>
                                <p:cTn id="47" presetID="10" presetClass="entr" presetSubtype="0" fill="hold" grpId="0" nodeType="withEffect">
                                  <p:stCondLst>
                                    <p:cond delay="140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childTnLst>
                                </p:cTn>
                              </p:par>
                              <p:par>
                                <p:cTn id="50" presetID="22" presetClass="entr" presetSubtype="8" fill="hold" grpId="0" nodeType="withEffect">
                                  <p:stCondLst>
                                    <p:cond delay="1400"/>
                                  </p:stCondLst>
                                  <p:childTnLst>
                                    <p:set>
                                      <p:cBhvr>
                                        <p:cTn id="48" dur="1" fill="hold">
                                          <p:stCondLst>
                                            <p:cond delay="0"/>
                                          </p:stCondLst>
                                        </p:cTn>
                                        <p:tgtEl>
                                          <p:spTgt spid="51"/>
                                        </p:tgtEl>
                                        <p:attrNameLst>
                                          <p:attrName>style.visibility</p:attrName>
                                        </p:attrNameLst>
                                      </p:cBhvr>
                                      <p:to>
                                        <p:strVal val="visible"/>
                                      </p:to>
                                    </p:set>
                                    <p:animEffect transition="in" filter="wipe(left)">
                                      <p:cBhvr>
                                        <p:cTn id="49" dur="500"/>
                                        <p:tgtEl>
                                          <p:spTgt spid="51"/>
                                        </p:tgtEl>
                                      </p:cBhvr>
                                    </p:animEffect>
                                  </p:childTnLst>
                                </p:cTn>
                              </p:par>
                              <p:par>
                                <p:cTn id="53" presetID="10" presetClass="entr" presetSubtype="0" fill="hold" grpId="0" nodeType="withEffect">
                                  <p:stCondLst>
                                    <p:cond delay="160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500"/>
                                        <p:tgtEl>
                                          <p:spTgt spid="11"/>
                                        </p:tgtEl>
                                      </p:cBhvr>
                                    </p:animEffect>
                                  </p:childTnLst>
                                </p:cTn>
                              </p:par>
                              <p:par>
                                <p:cTn id="56" presetID="10" presetClass="entr" presetSubtype="0" fill="hold" grpId="0" nodeType="withEffect">
                                  <p:stCondLst>
                                    <p:cond delay="160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500"/>
                                        <p:tgtEl>
                                          <p:spTgt spid="12"/>
                                        </p:tgtEl>
                                      </p:cBhvr>
                                    </p:animEffect>
                                  </p:childTnLst>
                                </p:cTn>
                              </p:par>
                              <p:par>
                                <p:cTn id="59" presetID="10" presetClass="entr" presetSubtype="0" fill="hold" grpId="0" nodeType="withEffect">
                                  <p:stCondLst>
                                    <p:cond delay="1645"/>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500"/>
                                        <p:tgtEl>
                                          <p:spTgt spid="13"/>
                                        </p:tgtEl>
                                      </p:cBhvr>
                                    </p:animEffect>
                                  </p:childTnLst>
                                </p:cTn>
                              </p:par>
                              <p:par>
                                <p:cTn id="62" presetID="10" presetClass="entr" presetSubtype="0" fill="hold" grpId="0" nodeType="withEffect">
                                  <p:stCondLst>
                                    <p:cond delay="1645"/>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500"/>
                                        <p:tgtEl>
                                          <p:spTgt spid="14"/>
                                        </p:tgtEl>
                                      </p:cBhvr>
                                    </p:animEffect>
                                  </p:childTnLst>
                                </p:cTn>
                              </p:par>
                              <p:par>
                                <p:cTn id="65" presetID="10" presetClass="entr" presetSubtype="0" fill="hold" grpId="0" nodeType="withEffect">
                                  <p:stCondLst>
                                    <p:cond delay="169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00"/>
                                        <p:tgtEl>
                                          <p:spTgt spid="15"/>
                                        </p:tgtEl>
                                      </p:cBhvr>
                                    </p:animEffect>
                                  </p:childTnLst>
                                </p:cTn>
                              </p:par>
                              <p:par>
                                <p:cTn id="68" presetID="10" presetClass="entr" presetSubtype="0" fill="hold" grpId="0" nodeType="withEffect">
                                  <p:stCondLst>
                                    <p:cond delay="169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childTnLst>
                                </p:cTn>
                              </p:par>
                              <p:par>
                                <p:cTn id="71" presetID="22" presetClass="entr" presetSubtype="8" fill="hold" grpId="0" nodeType="withEffect">
                                  <p:stCondLst>
                                    <p:cond delay="1700"/>
                                  </p:stCondLst>
                                  <p:childTnLst>
                                    <p:set>
                                      <p:cBhvr>
                                        <p:cTn id="69" dur="1" fill="hold">
                                          <p:stCondLst>
                                            <p:cond delay="0"/>
                                          </p:stCondLst>
                                        </p:cTn>
                                        <p:tgtEl>
                                          <p:spTgt spid="52"/>
                                        </p:tgtEl>
                                        <p:attrNameLst>
                                          <p:attrName>style.visibility</p:attrName>
                                        </p:attrNameLst>
                                      </p:cBhvr>
                                      <p:to>
                                        <p:strVal val="visible"/>
                                      </p:to>
                                    </p:set>
                                    <p:animEffect transition="in" filter="wipe(left)">
                                      <p:cBhvr>
                                        <p:cTn id="70" dur="500"/>
                                        <p:tgtEl>
                                          <p:spTgt spid="52"/>
                                        </p:tgtEl>
                                      </p:cBhvr>
                                    </p:animEffect>
                                  </p:childTnLst>
                                </p:cTn>
                              </p:par>
                              <p:par>
                                <p:cTn id="74" presetID="10" presetClass="entr" presetSubtype="0" fill="hold" grpId="0" nodeType="withEffect">
                                  <p:stCondLst>
                                    <p:cond delay="1735"/>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500"/>
                                        <p:tgtEl>
                                          <p:spTgt spid="17"/>
                                        </p:tgtEl>
                                      </p:cBhvr>
                                    </p:animEffect>
                                  </p:childTnLst>
                                </p:cTn>
                              </p:par>
                              <p:par>
                                <p:cTn id="77" presetID="10" presetClass="entr" presetSubtype="0" fill="hold" grpId="0" nodeType="withEffect">
                                  <p:stCondLst>
                                    <p:cond delay="1735"/>
                                  </p:stCondLst>
                                  <p:childTnLst>
                                    <p:set>
                                      <p:cBhvr>
                                        <p:cTn id="75" dur="1" fill="hold">
                                          <p:stCondLst>
                                            <p:cond delay="0"/>
                                          </p:stCondLst>
                                        </p:cTn>
                                        <p:tgtEl>
                                          <p:spTgt spid="18"/>
                                        </p:tgtEl>
                                        <p:attrNameLst>
                                          <p:attrName>style.visibility</p:attrName>
                                        </p:attrNameLst>
                                      </p:cBhvr>
                                      <p:to>
                                        <p:strVal val="visible"/>
                                      </p:to>
                                    </p:set>
                                    <p:animEffect transition="in" filter="fade">
                                      <p:cBhvr>
                                        <p:cTn id="76" dur="500"/>
                                        <p:tgtEl>
                                          <p:spTgt spid="18"/>
                                        </p:tgtEl>
                                      </p:cBhvr>
                                    </p:animEffect>
                                  </p:childTnLst>
                                </p:cTn>
                              </p:par>
                              <p:par>
                                <p:cTn id="80" presetID="10" presetClass="entr" presetSubtype="0" fill="hold" grpId="0" nodeType="withEffect">
                                  <p:stCondLst>
                                    <p:cond delay="178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500"/>
                                        <p:tgtEl>
                                          <p:spTgt spid="19"/>
                                        </p:tgtEl>
                                      </p:cBhvr>
                                    </p:animEffect>
                                  </p:childTnLst>
                                </p:cTn>
                              </p:par>
                              <p:par>
                                <p:cTn id="83" presetID="10" presetClass="entr" presetSubtype="0" fill="hold" grpId="0" nodeType="withEffect">
                                  <p:stCondLst>
                                    <p:cond delay="178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par>
                                <p:cTn id="86" presetID="10" presetClass="entr" presetSubtype="0" fill="hold" grpId="0" nodeType="withEffect">
                                  <p:stCondLst>
                                    <p:cond delay="1825"/>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500"/>
                                        <p:tgtEl>
                                          <p:spTgt spid="21"/>
                                        </p:tgtEl>
                                      </p:cBhvr>
                                    </p:animEffect>
                                  </p:childTnLst>
                                </p:cTn>
                              </p:par>
                              <p:par>
                                <p:cTn id="89" presetID="10" presetClass="entr" presetSubtype="0" fill="hold" grpId="0" nodeType="withEffect">
                                  <p:stCondLst>
                                    <p:cond delay="1825"/>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00"/>
                                        <p:tgtEl>
                                          <p:spTgt spid="22"/>
                                        </p:tgtEl>
                                      </p:cBhvr>
                                    </p:animEffect>
                                  </p:childTnLst>
                                </p:cTn>
                              </p:par>
                              <p:par>
                                <p:cTn id="92" presetID="10" presetClass="entr" presetSubtype="0" fill="hold" grpId="0" nodeType="withEffect">
                                  <p:stCondLst>
                                    <p:cond delay="187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500"/>
                                        <p:tgtEl>
                                          <p:spTgt spid="23"/>
                                        </p:tgtEl>
                                      </p:cBhvr>
                                    </p:animEffect>
                                  </p:childTnLst>
                                </p:cTn>
                              </p:par>
                              <p:par>
                                <p:cTn id="95" presetID="10" presetClass="entr" presetSubtype="0" fill="hold" grpId="0" nodeType="withEffect">
                                  <p:stCondLst>
                                    <p:cond delay="187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00"/>
                                        <p:tgtEl>
                                          <p:spTgt spid="24"/>
                                        </p:tgtEl>
                                      </p:cBhvr>
                                    </p:animEffect>
                                  </p:childTnLst>
                                </p:cTn>
                              </p:par>
                              <p:par>
                                <p:cTn id="98" presetID="10" presetClass="entr" presetSubtype="0" fill="hold" grpId="0" nodeType="withEffect">
                                  <p:stCondLst>
                                    <p:cond delay="1915"/>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500"/>
                                        <p:tgtEl>
                                          <p:spTgt spid="25"/>
                                        </p:tgtEl>
                                      </p:cBhvr>
                                    </p:animEffect>
                                  </p:childTnLst>
                                </p:cTn>
                              </p:par>
                              <p:par>
                                <p:cTn id="101" presetID="10" presetClass="entr" presetSubtype="0" fill="hold" grpId="0" nodeType="withEffect">
                                  <p:stCondLst>
                                    <p:cond delay="1915"/>
                                  </p:stCondLst>
                                  <p:childTnLst>
                                    <p:set>
                                      <p:cBhvr>
                                        <p:cTn id="99" dur="1" fill="hold">
                                          <p:stCondLst>
                                            <p:cond delay="0"/>
                                          </p:stCondLst>
                                        </p:cTn>
                                        <p:tgtEl>
                                          <p:spTgt spid="26"/>
                                        </p:tgtEl>
                                        <p:attrNameLst>
                                          <p:attrName>style.visibility</p:attrName>
                                        </p:attrNameLst>
                                      </p:cBhvr>
                                      <p:to>
                                        <p:strVal val="visible"/>
                                      </p:to>
                                    </p:set>
                                    <p:animEffect transition="in" filter="fade">
                                      <p:cBhvr>
                                        <p:cTn id="100" dur="500"/>
                                        <p:tgtEl>
                                          <p:spTgt spid="26"/>
                                        </p:tgtEl>
                                      </p:cBhvr>
                                    </p:animEffect>
                                  </p:childTnLst>
                                </p:cTn>
                              </p:par>
                              <p:par>
                                <p:cTn id="104" presetID="10" presetClass="entr" presetSubtype="0" fill="hold" grpId="0" nodeType="withEffect">
                                  <p:stCondLst>
                                    <p:cond delay="1960"/>
                                  </p:stCondLst>
                                  <p:childTnLst>
                                    <p:set>
                                      <p:cBhvr>
                                        <p:cTn id="102" dur="1" fill="hold">
                                          <p:stCondLst>
                                            <p:cond delay="0"/>
                                          </p:stCondLst>
                                        </p:cTn>
                                        <p:tgtEl>
                                          <p:spTgt spid="27"/>
                                        </p:tgtEl>
                                        <p:attrNameLst>
                                          <p:attrName>style.visibility</p:attrName>
                                        </p:attrNameLst>
                                      </p:cBhvr>
                                      <p:to>
                                        <p:strVal val="visible"/>
                                      </p:to>
                                    </p:set>
                                    <p:animEffect transition="in" filter="fade">
                                      <p:cBhvr>
                                        <p:cTn id="103" dur="500"/>
                                        <p:tgtEl>
                                          <p:spTgt spid="27"/>
                                        </p:tgtEl>
                                      </p:cBhvr>
                                    </p:animEffect>
                                  </p:childTnLst>
                                </p:cTn>
                              </p:par>
                              <p:par>
                                <p:cTn id="107" presetID="10" presetClass="entr" presetSubtype="0" fill="hold" grpId="0" nodeType="withEffect">
                                  <p:stCondLst>
                                    <p:cond delay="196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00"/>
                                        <p:tgtEl>
                                          <p:spTgt spid="28"/>
                                        </p:tgtEl>
                                      </p:cBhvr>
                                    </p:animEffect>
                                  </p:childTnLst>
                                </p:cTn>
                              </p:par>
                              <p:par>
                                <p:cTn id="110" presetID="10" presetClass="entr" presetSubtype="0" fill="hold" grpId="0" nodeType="withEffect">
                                  <p:stCondLst>
                                    <p:cond delay="2005"/>
                                  </p:stCondLst>
                                  <p:childTnLst>
                                    <p:set>
                                      <p:cBhvr>
                                        <p:cTn id="108" dur="1" fill="hold">
                                          <p:stCondLst>
                                            <p:cond delay="0"/>
                                          </p:stCondLst>
                                        </p:cTn>
                                        <p:tgtEl>
                                          <p:spTgt spid="29"/>
                                        </p:tgtEl>
                                        <p:attrNameLst>
                                          <p:attrName>style.visibility</p:attrName>
                                        </p:attrNameLst>
                                      </p:cBhvr>
                                      <p:to>
                                        <p:strVal val="visible"/>
                                      </p:to>
                                    </p:set>
                                    <p:animEffect transition="in" filter="fade">
                                      <p:cBhvr>
                                        <p:cTn id="109" dur="500"/>
                                        <p:tgtEl>
                                          <p:spTgt spid="29"/>
                                        </p:tgtEl>
                                      </p:cBhvr>
                                    </p:animEffect>
                                  </p:childTnLst>
                                </p:cTn>
                              </p:par>
                              <p:par>
                                <p:cTn id="113" presetID="10" presetClass="entr" presetSubtype="0" fill="hold" grpId="0" nodeType="withEffect">
                                  <p:stCondLst>
                                    <p:cond delay="2005"/>
                                  </p:stCondLst>
                                  <p:childTnLst>
                                    <p:set>
                                      <p:cBhvr>
                                        <p:cTn id="111" dur="1" fill="hold">
                                          <p:stCondLst>
                                            <p:cond delay="0"/>
                                          </p:stCondLst>
                                        </p:cTn>
                                        <p:tgtEl>
                                          <p:spTgt spid="30"/>
                                        </p:tgtEl>
                                        <p:attrNameLst>
                                          <p:attrName>style.visibility</p:attrName>
                                        </p:attrNameLst>
                                      </p:cBhvr>
                                      <p:to>
                                        <p:strVal val="visible"/>
                                      </p:to>
                                    </p:set>
                                    <p:animEffect transition="in" filter="fade">
                                      <p:cBhvr>
                                        <p:cTn id="112" dur="500"/>
                                        <p:tgtEl>
                                          <p:spTgt spid="30"/>
                                        </p:tgtEl>
                                      </p:cBhvr>
                                    </p:animEffect>
                                  </p:childTnLst>
                                </p:cTn>
                              </p:par>
                              <p:par>
                                <p:cTn id="116" presetID="10" presetClass="entr" presetSubtype="0" fill="hold" grpId="0" nodeType="withEffect">
                                  <p:stCondLst>
                                    <p:cond delay="2050"/>
                                  </p:stCondLst>
                                  <p:childTnLst>
                                    <p:set>
                                      <p:cBhvr>
                                        <p:cTn id="114" dur="1" fill="hold">
                                          <p:stCondLst>
                                            <p:cond delay="0"/>
                                          </p:stCondLst>
                                        </p:cTn>
                                        <p:tgtEl>
                                          <p:spTgt spid="31"/>
                                        </p:tgtEl>
                                        <p:attrNameLst>
                                          <p:attrName>style.visibility</p:attrName>
                                        </p:attrNameLst>
                                      </p:cBhvr>
                                      <p:to>
                                        <p:strVal val="visible"/>
                                      </p:to>
                                    </p:set>
                                    <p:animEffect transition="in" filter="fade">
                                      <p:cBhvr>
                                        <p:cTn id="115" dur="500"/>
                                        <p:tgtEl>
                                          <p:spTgt spid="31"/>
                                        </p:tgtEl>
                                      </p:cBhvr>
                                    </p:animEffect>
                                  </p:childTnLst>
                                </p:cTn>
                              </p:par>
                              <p:par>
                                <p:cTn id="119" presetID="10" presetClass="entr" presetSubtype="0" fill="hold" grpId="0" nodeType="withEffect">
                                  <p:stCondLst>
                                    <p:cond delay="2050"/>
                                  </p:stCondLst>
                                  <p:childTnLst>
                                    <p:set>
                                      <p:cBhvr>
                                        <p:cTn id="117" dur="1" fill="hold">
                                          <p:stCondLst>
                                            <p:cond delay="0"/>
                                          </p:stCondLst>
                                        </p:cTn>
                                        <p:tgtEl>
                                          <p:spTgt spid="32"/>
                                        </p:tgtEl>
                                        <p:attrNameLst>
                                          <p:attrName>style.visibility</p:attrName>
                                        </p:attrNameLst>
                                      </p:cBhvr>
                                      <p:to>
                                        <p:strVal val="visible"/>
                                      </p:to>
                                    </p:set>
                                    <p:animEffect transition="in" filter="fade">
                                      <p:cBhvr>
                                        <p:cTn id="118" dur="500"/>
                                        <p:tgtEl>
                                          <p:spTgt spid="32"/>
                                        </p:tgtEl>
                                      </p:cBhvr>
                                    </p:animEffect>
                                  </p:childTnLst>
                                </p:cTn>
                              </p:par>
                              <p:par>
                                <p:cTn id="122" presetID="10" presetClass="entr" presetSubtype="0" fill="hold" grpId="0" nodeType="withEffect">
                                  <p:stCondLst>
                                    <p:cond delay="2095"/>
                                  </p:stCondLst>
                                  <p:childTnLst>
                                    <p:set>
                                      <p:cBhvr>
                                        <p:cTn id="120" dur="1" fill="hold">
                                          <p:stCondLst>
                                            <p:cond delay="0"/>
                                          </p:stCondLst>
                                        </p:cTn>
                                        <p:tgtEl>
                                          <p:spTgt spid="33"/>
                                        </p:tgtEl>
                                        <p:attrNameLst>
                                          <p:attrName>style.visibility</p:attrName>
                                        </p:attrNameLst>
                                      </p:cBhvr>
                                      <p:to>
                                        <p:strVal val="visible"/>
                                      </p:to>
                                    </p:set>
                                    <p:animEffect transition="in" filter="fade">
                                      <p:cBhvr>
                                        <p:cTn id="121" dur="500"/>
                                        <p:tgtEl>
                                          <p:spTgt spid="33"/>
                                        </p:tgtEl>
                                      </p:cBhvr>
                                    </p:animEffect>
                                  </p:childTnLst>
                                </p:cTn>
                              </p:par>
                              <p:par>
                                <p:cTn id="125" presetID="10" presetClass="entr" presetSubtype="0" fill="hold" grpId="0" nodeType="withEffect">
                                  <p:stCondLst>
                                    <p:cond delay="2095"/>
                                  </p:stCondLst>
                                  <p:childTnLst>
                                    <p:set>
                                      <p:cBhvr>
                                        <p:cTn id="123" dur="1" fill="hold">
                                          <p:stCondLst>
                                            <p:cond delay="0"/>
                                          </p:stCondLst>
                                        </p:cTn>
                                        <p:tgtEl>
                                          <p:spTgt spid="34"/>
                                        </p:tgtEl>
                                        <p:attrNameLst>
                                          <p:attrName>style.visibility</p:attrName>
                                        </p:attrNameLst>
                                      </p:cBhvr>
                                      <p:to>
                                        <p:strVal val="visible"/>
                                      </p:to>
                                    </p:set>
                                    <p:animEffect transition="in" filter="fade">
                                      <p:cBhvr>
                                        <p:cTn id="124" dur="500"/>
                                        <p:tgtEl>
                                          <p:spTgt spid="34"/>
                                        </p:tgtEl>
                                      </p:cBhvr>
                                    </p:animEffect>
                                  </p:childTnLst>
                                </p:cTn>
                              </p:par>
                              <p:par>
                                <p:cTn id="128" presetID="10" presetClass="entr" presetSubtype="0" fill="hold" grpId="0" nodeType="withEffect">
                                  <p:stCondLst>
                                    <p:cond delay="2100"/>
                                  </p:stCondLst>
                                  <p:childTnLst>
                                    <p:set>
                                      <p:cBhvr>
                                        <p:cTn id="126" dur="1" fill="hold">
                                          <p:stCondLst>
                                            <p:cond delay="0"/>
                                          </p:stCondLst>
                                        </p:cTn>
                                        <p:tgtEl>
                                          <p:spTgt spid="53"/>
                                        </p:tgtEl>
                                        <p:attrNameLst>
                                          <p:attrName>style.visibility</p:attrName>
                                        </p:attrNameLst>
                                      </p:cBhvr>
                                      <p:to>
                                        <p:strVal val="visible"/>
                                      </p:to>
                                    </p:set>
                                    <p:animEffect transition="in" filter="fade">
                                      <p:cBhvr>
                                        <p:cTn id="127" dur="500"/>
                                        <p:tgtEl>
                                          <p:spTgt spid="53"/>
                                        </p:tgtEl>
                                      </p:cBhvr>
                                    </p:animEffect>
                                  </p:childTnLst>
                                </p:cTn>
                              </p:par>
                              <p:par>
                                <p:cTn id="131" presetID="10" presetClass="entr" presetSubtype="0" fill="hold" grpId="0" nodeType="withEffect">
                                  <p:stCondLst>
                                    <p:cond delay="2140"/>
                                  </p:stCondLst>
                                  <p:childTnLst>
                                    <p:set>
                                      <p:cBhvr>
                                        <p:cTn id="129" dur="1" fill="hold">
                                          <p:stCondLst>
                                            <p:cond delay="0"/>
                                          </p:stCondLst>
                                        </p:cTn>
                                        <p:tgtEl>
                                          <p:spTgt spid="35"/>
                                        </p:tgtEl>
                                        <p:attrNameLst>
                                          <p:attrName>style.visibility</p:attrName>
                                        </p:attrNameLst>
                                      </p:cBhvr>
                                      <p:to>
                                        <p:strVal val="visible"/>
                                      </p:to>
                                    </p:set>
                                    <p:animEffect transition="in" filter="fade">
                                      <p:cBhvr>
                                        <p:cTn id="130" dur="500"/>
                                        <p:tgtEl>
                                          <p:spTgt spid="35"/>
                                        </p:tgtEl>
                                      </p:cBhvr>
                                    </p:animEffect>
                                  </p:childTnLst>
                                </p:cTn>
                              </p:par>
                              <p:par>
                                <p:cTn id="134" presetID="10" presetClass="entr" presetSubtype="0" fill="hold" grpId="0" nodeType="withEffect">
                                  <p:stCondLst>
                                    <p:cond delay="2140"/>
                                  </p:stCondLst>
                                  <p:childTnLst>
                                    <p:set>
                                      <p:cBhvr>
                                        <p:cTn id="132" dur="1" fill="hold">
                                          <p:stCondLst>
                                            <p:cond delay="0"/>
                                          </p:stCondLst>
                                        </p:cTn>
                                        <p:tgtEl>
                                          <p:spTgt spid="36"/>
                                        </p:tgtEl>
                                        <p:attrNameLst>
                                          <p:attrName>style.visibility</p:attrName>
                                        </p:attrNameLst>
                                      </p:cBhvr>
                                      <p:to>
                                        <p:strVal val="visible"/>
                                      </p:to>
                                    </p:set>
                                    <p:animEffect transition="in" filter="fade">
                                      <p:cBhvr>
                                        <p:cTn id="133" dur="500"/>
                                        <p:tgtEl>
                                          <p:spTgt spid="36"/>
                                        </p:tgtEl>
                                      </p:cBhvr>
                                    </p:animEffect>
                                  </p:childTnLst>
                                </p:cTn>
                              </p:par>
                              <p:par>
                                <p:cTn id="137" presetID="10" presetClass="entr" presetSubtype="0" fill="hold" grpId="0" nodeType="withEffect">
                                  <p:stCondLst>
                                    <p:cond delay="2185"/>
                                  </p:stCondLst>
                                  <p:childTnLst>
                                    <p:set>
                                      <p:cBhvr>
                                        <p:cTn id="135" dur="1" fill="hold">
                                          <p:stCondLst>
                                            <p:cond delay="0"/>
                                          </p:stCondLst>
                                        </p:cTn>
                                        <p:tgtEl>
                                          <p:spTgt spid="37"/>
                                        </p:tgtEl>
                                        <p:attrNameLst>
                                          <p:attrName>style.visibility</p:attrName>
                                        </p:attrNameLst>
                                      </p:cBhvr>
                                      <p:to>
                                        <p:strVal val="visible"/>
                                      </p:to>
                                    </p:set>
                                    <p:animEffect transition="in" filter="fade">
                                      <p:cBhvr>
                                        <p:cTn id="136" dur="500"/>
                                        <p:tgtEl>
                                          <p:spTgt spid="37"/>
                                        </p:tgtEl>
                                      </p:cBhvr>
                                    </p:animEffect>
                                  </p:childTnLst>
                                </p:cTn>
                              </p:par>
                              <p:par>
                                <p:cTn id="140" presetID="10" presetClass="entr" presetSubtype="0" fill="hold" grpId="0" nodeType="withEffect">
                                  <p:stCondLst>
                                    <p:cond delay="2185"/>
                                  </p:stCondLst>
                                  <p:childTnLst>
                                    <p:set>
                                      <p:cBhvr>
                                        <p:cTn id="138" dur="1" fill="hold">
                                          <p:stCondLst>
                                            <p:cond delay="0"/>
                                          </p:stCondLst>
                                        </p:cTn>
                                        <p:tgtEl>
                                          <p:spTgt spid="38"/>
                                        </p:tgtEl>
                                        <p:attrNameLst>
                                          <p:attrName>style.visibility</p:attrName>
                                        </p:attrNameLst>
                                      </p:cBhvr>
                                      <p:to>
                                        <p:strVal val="visible"/>
                                      </p:to>
                                    </p:set>
                                    <p:animEffect transition="in" filter="fade">
                                      <p:cBhvr>
                                        <p:cTn id="139" dur="500"/>
                                        <p:tgtEl>
                                          <p:spTgt spid="38"/>
                                        </p:tgtEl>
                                      </p:cBhvr>
                                    </p:animEffect>
                                  </p:childTnLst>
                                </p:cTn>
                              </p:par>
                              <p:par>
                                <p:cTn id="143" presetID="10" presetClass="entr" presetSubtype="0" fill="hold" grpId="0" nodeType="withEffect">
                                  <p:stCondLst>
                                    <p:cond delay="2230"/>
                                  </p:stCondLst>
                                  <p:childTnLst>
                                    <p:set>
                                      <p:cBhvr>
                                        <p:cTn id="141" dur="1" fill="hold">
                                          <p:stCondLst>
                                            <p:cond delay="0"/>
                                          </p:stCondLst>
                                        </p:cTn>
                                        <p:tgtEl>
                                          <p:spTgt spid="39"/>
                                        </p:tgtEl>
                                        <p:attrNameLst>
                                          <p:attrName>style.visibility</p:attrName>
                                        </p:attrNameLst>
                                      </p:cBhvr>
                                      <p:to>
                                        <p:strVal val="visible"/>
                                      </p:to>
                                    </p:set>
                                    <p:animEffect transition="in" filter="fade">
                                      <p:cBhvr>
                                        <p:cTn id="142" dur="500"/>
                                        <p:tgtEl>
                                          <p:spTgt spid="39"/>
                                        </p:tgtEl>
                                      </p:cBhvr>
                                    </p:animEffect>
                                  </p:childTnLst>
                                </p:cTn>
                              </p:par>
                              <p:par>
                                <p:cTn id="146" presetID="10" presetClass="entr" presetSubtype="0" fill="hold" grpId="0" nodeType="withEffect">
                                  <p:stCondLst>
                                    <p:cond delay="2230"/>
                                  </p:stCondLst>
                                  <p:childTnLst>
                                    <p:set>
                                      <p:cBhvr>
                                        <p:cTn id="144" dur="1" fill="hold">
                                          <p:stCondLst>
                                            <p:cond delay="0"/>
                                          </p:stCondLst>
                                        </p:cTn>
                                        <p:tgtEl>
                                          <p:spTgt spid="40"/>
                                        </p:tgtEl>
                                        <p:attrNameLst>
                                          <p:attrName>style.visibility</p:attrName>
                                        </p:attrNameLst>
                                      </p:cBhvr>
                                      <p:to>
                                        <p:strVal val="visible"/>
                                      </p:to>
                                    </p:set>
                                    <p:animEffect transition="in" filter="fade">
                                      <p:cBhvr>
                                        <p:cTn id="145" dur="500"/>
                                        <p:tgtEl>
                                          <p:spTgt spid="40"/>
                                        </p:tgtEl>
                                      </p:cBhvr>
                                    </p:animEffect>
                                  </p:childTnLst>
                                </p:cTn>
                              </p:par>
                              <p:par>
                                <p:cTn id="149" presetID="10" presetClass="entr" presetSubtype="0" fill="hold" grpId="0" nodeType="withEffect">
                                  <p:stCondLst>
                                    <p:cond delay="2275"/>
                                  </p:stCondLst>
                                  <p:childTnLst>
                                    <p:set>
                                      <p:cBhvr>
                                        <p:cTn id="147" dur="1" fill="hold">
                                          <p:stCondLst>
                                            <p:cond delay="0"/>
                                          </p:stCondLst>
                                        </p:cTn>
                                        <p:tgtEl>
                                          <p:spTgt spid="41"/>
                                        </p:tgtEl>
                                        <p:attrNameLst>
                                          <p:attrName>style.visibility</p:attrName>
                                        </p:attrNameLst>
                                      </p:cBhvr>
                                      <p:to>
                                        <p:strVal val="visible"/>
                                      </p:to>
                                    </p:set>
                                    <p:animEffect transition="in" filter="fade">
                                      <p:cBhvr>
                                        <p:cTn id="148" dur="500"/>
                                        <p:tgtEl>
                                          <p:spTgt spid="41"/>
                                        </p:tgtEl>
                                      </p:cBhvr>
                                    </p:animEffect>
                                  </p:childTnLst>
                                </p:cTn>
                              </p:par>
                              <p:par>
                                <p:cTn id="152" presetID="10" presetClass="entr" presetSubtype="0" fill="hold" grpId="0" nodeType="withEffect">
                                  <p:stCondLst>
                                    <p:cond delay="2275"/>
                                  </p:stCondLst>
                                  <p:childTnLst>
                                    <p:set>
                                      <p:cBhvr>
                                        <p:cTn id="150" dur="1" fill="hold">
                                          <p:stCondLst>
                                            <p:cond delay="0"/>
                                          </p:stCondLst>
                                        </p:cTn>
                                        <p:tgtEl>
                                          <p:spTgt spid="42"/>
                                        </p:tgtEl>
                                        <p:attrNameLst>
                                          <p:attrName>style.visibility</p:attrName>
                                        </p:attrNameLst>
                                      </p:cBhvr>
                                      <p:to>
                                        <p:strVal val="visible"/>
                                      </p:to>
                                    </p:set>
                                    <p:animEffect transition="in" filter="fade">
                                      <p:cBhvr>
                                        <p:cTn id="151" dur="500"/>
                                        <p:tgtEl>
                                          <p:spTgt spid="42"/>
                                        </p:tgtEl>
                                      </p:cBhvr>
                                    </p:animEffect>
                                  </p:childTnLst>
                                </p:cTn>
                              </p:par>
                              <p:par>
                                <p:cTn id="155" presetID="10" presetClass="entr" presetSubtype="0" fill="hold" grpId="0" nodeType="withEffect">
                                  <p:stCondLst>
                                    <p:cond delay="2320"/>
                                  </p:stCondLst>
                                  <p:childTnLst>
                                    <p:set>
                                      <p:cBhvr>
                                        <p:cTn id="153" dur="1" fill="hold">
                                          <p:stCondLst>
                                            <p:cond delay="0"/>
                                          </p:stCondLst>
                                        </p:cTn>
                                        <p:tgtEl>
                                          <p:spTgt spid="43"/>
                                        </p:tgtEl>
                                        <p:attrNameLst>
                                          <p:attrName>style.visibility</p:attrName>
                                        </p:attrNameLst>
                                      </p:cBhvr>
                                      <p:to>
                                        <p:strVal val="visible"/>
                                      </p:to>
                                    </p:set>
                                    <p:animEffect transition="in" filter="fade">
                                      <p:cBhvr>
                                        <p:cTn id="154" dur="500"/>
                                        <p:tgtEl>
                                          <p:spTgt spid="43"/>
                                        </p:tgtEl>
                                      </p:cBhvr>
                                    </p:animEffect>
                                  </p:childTnLst>
                                </p:cTn>
                              </p:par>
                              <p:par>
                                <p:cTn id="158" presetID="10" presetClass="entr" presetSubtype="0" fill="hold" grpId="0" nodeType="withEffect">
                                  <p:stCondLst>
                                    <p:cond delay="2320"/>
                                  </p:stCondLst>
                                  <p:childTnLst>
                                    <p:set>
                                      <p:cBhvr>
                                        <p:cTn id="156" dur="1" fill="hold">
                                          <p:stCondLst>
                                            <p:cond delay="0"/>
                                          </p:stCondLst>
                                        </p:cTn>
                                        <p:tgtEl>
                                          <p:spTgt spid="44"/>
                                        </p:tgtEl>
                                        <p:attrNameLst>
                                          <p:attrName>style.visibility</p:attrName>
                                        </p:attrNameLst>
                                      </p:cBhvr>
                                      <p:to>
                                        <p:strVal val="visible"/>
                                      </p:to>
                                    </p:set>
                                    <p:animEffect transition="in" filter="fade">
                                      <p:cBhvr>
                                        <p:cTn id="157" dur="500"/>
                                        <p:tgtEl>
                                          <p:spTgt spid="44"/>
                                        </p:tgtEl>
                                      </p:cBhvr>
                                    </p:animEffect>
                                  </p:childTnLst>
                                </p:cTn>
                              </p:par>
                              <p:par>
                                <p:cTn id="161" presetID="10" presetClass="entr" presetSubtype="0" fill="hold" grpId="0" nodeType="withEffect">
                                  <p:stCondLst>
                                    <p:cond delay="2365"/>
                                  </p:stCondLst>
                                  <p:childTnLst>
                                    <p:set>
                                      <p:cBhvr>
                                        <p:cTn id="159" dur="1" fill="hold">
                                          <p:stCondLst>
                                            <p:cond delay="0"/>
                                          </p:stCondLst>
                                        </p:cTn>
                                        <p:tgtEl>
                                          <p:spTgt spid="45"/>
                                        </p:tgtEl>
                                        <p:attrNameLst>
                                          <p:attrName>style.visibility</p:attrName>
                                        </p:attrNameLst>
                                      </p:cBhvr>
                                      <p:to>
                                        <p:strVal val="visible"/>
                                      </p:to>
                                    </p:set>
                                    <p:animEffect transition="in" filter="fade">
                                      <p:cBhvr>
                                        <p:cTn id="160" dur="500"/>
                                        <p:tgtEl>
                                          <p:spTgt spid="45"/>
                                        </p:tgtEl>
                                      </p:cBhvr>
                                    </p:animEffect>
                                  </p:childTnLst>
                                </p:cTn>
                              </p:par>
                              <p:par>
                                <p:cTn id="164" presetID="10" presetClass="entr" presetSubtype="0" fill="hold" grpId="0" nodeType="withEffect">
                                  <p:stCondLst>
                                    <p:cond delay="2365"/>
                                  </p:stCondLst>
                                  <p:childTnLst>
                                    <p:set>
                                      <p:cBhvr>
                                        <p:cTn id="162" dur="1" fill="hold">
                                          <p:stCondLst>
                                            <p:cond delay="0"/>
                                          </p:stCondLst>
                                        </p:cTn>
                                        <p:tgtEl>
                                          <p:spTgt spid="46"/>
                                        </p:tgtEl>
                                        <p:attrNameLst>
                                          <p:attrName>style.visibility</p:attrName>
                                        </p:attrNameLst>
                                      </p:cBhvr>
                                      <p:to>
                                        <p:strVal val="visible"/>
                                      </p:to>
                                    </p:set>
                                    <p:animEffect transition="in" filter="fade">
                                      <p:cBhvr>
                                        <p:cTn id="163" dur="500"/>
                                        <p:tgtEl>
                                          <p:spTgt spid="46"/>
                                        </p:tgtEl>
                                      </p:cBhvr>
                                    </p:animEffect>
                                  </p:childTnLst>
                                </p:cTn>
                              </p:par>
                              <p:par>
                                <p:cTn id="167" presetID="10" presetClass="entr" presetSubtype="0" fill="hold" grpId="0" nodeType="withEffect">
                                  <p:stCondLst>
                                    <p:cond delay="2410"/>
                                  </p:stCondLst>
                                  <p:childTnLst>
                                    <p:set>
                                      <p:cBhvr>
                                        <p:cTn id="165" dur="1" fill="hold">
                                          <p:stCondLst>
                                            <p:cond delay="0"/>
                                          </p:stCondLst>
                                        </p:cTn>
                                        <p:tgtEl>
                                          <p:spTgt spid="47"/>
                                        </p:tgtEl>
                                        <p:attrNameLst>
                                          <p:attrName>style.visibility</p:attrName>
                                        </p:attrNameLst>
                                      </p:cBhvr>
                                      <p:to>
                                        <p:strVal val="visible"/>
                                      </p:to>
                                    </p:set>
                                    <p:animEffect transition="in" filter="fade">
                                      <p:cBhvr>
                                        <p:cTn id="166"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Kafka: The Foundation of Data Systems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Whichever part of the data world you work in, Kafka will be underneath it</a:t>
            </a:r>
          </a:p>
        </p:txBody>
      </p:sp>
      <p:sp>
        <p:nvSpPr>
          <p:cNvPr id="11" name="a1u_card10"/>
          <p:cNvSpPr/>
          <p:nvPr/>
        </p:nvSpPr>
        <p:spPr>
          <a:xfrm>
            <a:off x="457200" y="1280160"/>
            <a:ext cx="2615184" cy="1143000"/>
          </a:xfrm>
          <a:prstGeom prst="roundRect">
            <a:avLst>
              <a:gd name="adj" fmla="val 96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80160"/>
            <a:ext cx="2615184"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tt12"/>
          <p:cNvSpPr txBox="1"/>
          <p:nvPr/>
        </p:nvSpPr>
        <p:spPr>
          <a:xfrm>
            <a:off x="603504" y="1389888"/>
            <a:ext cx="2340864" cy="256032"/>
          </a:xfrm>
          <a:prstGeom prst="rect">
            <a:avLst/>
          </a:prstGeom>
          <a:noFill/>
        </p:spPr>
        <p:txBody>
          <a:bodyPr wrap="square" lIns="0" tIns="0" rIns="0" bIns="0" anchor="ctr">
            <a:spAutoFit/>
          </a:bodyPr>
          <a:lstStyle/>
          <a:p>
            <a:pPr algn="l"/>
            <a:r>
              <a:rPr sz="1150" b="1">
                <a:solidFill>
                  <a:srgbClr val="1C1917"/>
                </a:solidFill>
                <a:latin typeface="Segoe UI"/>
              </a:rPr>
              <a:t>Data pipelines and analytics</a:t>
            </a:r>
          </a:p>
        </p:txBody>
      </p:sp>
      <p:sp>
        <p:nvSpPr>
          <p:cNvPr id="14" name="a1ud60_tb13"/>
          <p:cNvSpPr txBox="1"/>
          <p:nvPr/>
        </p:nvSpPr>
        <p:spPr>
          <a:xfrm>
            <a:off x="603504" y="1682495"/>
            <a:ext cx="2340864" cy="685800"/>
          </a:xfrm>
          <a:prstGeom prst="rect">
            <a:avLst/>
          </a:prstGeom>
          <a:noFill/>
        </p:spPr>
        <p:txBody>
          <a:bodyPr wrap="square" lIns="0" tIns="0" rIns="0" bIns="0" anchor="t">
            <a:spAutoFit/>
          </a:bodyPr>
          <a:lstStyle/>
          <a:p>
            <a:pPr algn="l"/>
            <a:r>
              <a:rPr sz="950" b="0">
                <a:solidFill>
                  <a:srgbClr val="44403C"/>
                </a:solidFill>
                <a:latin typeface="Segoe UI"/>
              </a:rPr>
              <a:t>moving data to where it gets analyzed</a:t>
            </a:r>
          </a:p>
        </p:txBody>
      </p:sp>
      <p:cxnSp>
        <p:nvCxnSpPr>
          <p:cNvPr id="15" name="a4u_wr14"/>
          <p:cNvCxnSpPr/>
          <p:nvPr/>
        </p:nvCxnSpPr>
        <p:spPr>
          <a:xfrm>
            <a:off x="1764792" y="2441448"/>
            <a:ext cx="0" cy="347472"/>
          </a:xfrm>
          <a:prstGeom prst="line">
            <a:avLst/>
          </a:prstGeom>
          <a:ln w="25400">
            <a:solidFill>
              <a:srgbClr val="EA580C"/>
            </a:solidFill>
          </a:ln>
        </p:spPr>
        <p:style>
          <a:lnRef idx="2">
            <a:schemeClr val="accent1"/>
          </a:lnRef>
          <a:fillRef idx="0">
            <a:schemeClr val="accent1"/>
          </a:fillRef>
          <a:effectRef idx="1">
            <a:schemeClr val="accent1"/>
          </a:effectRef>
          <a:fontRef idx="minor">
            <a:schemeClr val="tx1"/>
          </a:fontRef>
        </p:style>
      </p:cxnSp>
      <p:sp>
        <p:nvSpPr>
          <p:cNvPr id="16" name="a2u_card15"/>
          <p:cNvSpPr/>
          <p:nvPr/>
        </p:nvSpPr>
        <p:spPr>
          <a:xfrm>
            <a:off x="3264408" y="1280160"/>
            <a:ext cx="2615184" cy="1143000"/>
          </a:xfrm>
          <a:prstGeom prst="roundRect">
            <a:avLst>
              <a:gd name="adj" fmla="val 96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2u_acc16"/>
          <p:cNvSpPr/>
          <p:nvPr/>
        </p:nvSpPr>
        <p:spPr>
          <a:xfrm>
            <a:off x="3264408" y="1280160"/>
            <a:ext cx="2615184"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2u_tt17"/>
          <p:cNvSpPr txBox="1"/>
          <p:nvPr/>
        </p:nvSpPr>
        <p:spPr>
          <a:xfrm>
            <a:off x="3410712" y="1389888"/>
            <a:ext cx="2340864" cy="256032"/>
          </a:xfrm>
          <a:prstGeom prst="rect">
            <a:avLst/>
          </a:prstGeom>
          <a:noFill/>
        </p:spPr>
        <p:txBody>
          <a:bodyPr wrap="square" lIns="0" tIns="0" rIns="0" bIns="0" anchor="ctr">
            <a:spAutoFit/>
          </a:bodyPr>
          <a:lstStyle/>
          <a:p>
            <a:pPr algn="l"/>
            <a:r>
              <a:rPr sz="1150" b="1">
                <a:solidFill>
                  <a:srgbClr val="1C1917"/>
                </a:solidFill>
                <a:latin typeface="Segoe UI"/>
              </a:rPr>
              <a:t>Applications and microservices</a:t>
            </a:r>
          </a:p>
        </p:txBody>
      </p:sp>
      <p:sp>
        <p:nvSpPr>
          <p:cNvPr id="19" name="a2ud60_tb18"/>
          <p:cNvSpPr txBox="1"/>
          <p:nvPr/>
        </p:nvSpPr>
        <p:spPr>
          <a:xfrm>
            <a:off x="3410712" y="1682495"/>
            <a:ext cx="2340864" cy="685800"/>
          </a:xfrm>
          <a:prstGeom prst="rect">
            <a:avLst/>
          </a:prstGeom>
          <a:noFill/>
        </p:spPr>
        <p:txBody>
          <a:bodyPr wrap="square" lIns="0" tIns="0" rIns="0" bIns="0" anchor="t">
            <a:spAutoFit/>
          </a:bodyPr>
          <a:lstStyle/>
          <a:p>
            <a:pPr algn="l"/>
            <a:r>
              <a:rPr sz="950" b="0">
                <a:solidFill>
                  <a:srgbClr val="44403C"/>
                </a:solidFill>
                <a:latin typeface="Segoe UI"/>
              </a:rPr>
              <a:t>services that need to be connected</a:t>
            </a:r>
          </a:p>
        </p:txBody>
      </p:sp>
      <p:cxnSp>
        <p:nvCxnSpPr>
          <p:cNvPr id="20" name="a4u_wr19"/>
          <p:cNvCxnSpPr/>
          <p:nvPr/>
        </p:nvCxnSpPr>
        <p:spPr>
          <a:xfrm>
            <a:off x="4572000" y="2441448"/>
            <a:ext cx="0" cy="347472"/>
          </a:xfrm>
          <a:prstGeom prst="line">
            <a:avLst/>
          </a:prstGeom>
          <a:ln w="25400">
            <a:solidFill>
              <a:srgbClr val="0E7490"/>
            </a:solidFill>
          </a:ln>
        </p:spPr>
        <p:style>
          <a:lnRef idx="2">
            <a:schemeClr val="accent1"/>
          </a:lnRef>
          <a:fillRef idx="0">
            <a:schemeClr val="accent1"/>
          </a:fillRef>
          <a:effectRef idx="1">
            <a:schemeClr val="accent1"/>
          </a:effectRef>
          <a:fontRef idx="minor">
            <a:schemeClr val="tx1"/>
          </a:fontRef>
        </p:style>
      </p:cxnSp>
      <p:sp>
        <p:nvSpPr>
          <p:cNvPr id="21" name="a3u_card20"/>
          <p:cNvSpPr/>
          <p:nvPr/>
        </p:nvSpPr>
        <p:spPr>
          <a:xfrm>
            <a:off x="6071616" y="1280160"/>
            <a:ext cx="2615184" cy="1143000"/>
          </a:xfrm>
          <a:prstGeom prst="roundRect">
            <a:avLst>
              <a:gd name="adj" fmla="val 96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3u_acc21"/>
          <p:cNvSpPr/>
          <p:nvPr/>
        </p:nvSpPr>
        <p:spPr>
          <a:xfrm>
            <a:off x="6071616" y="1280160"/>
            <a:ext cx="2615184" cy="457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3u_tt22"/>
          <p:cNvSpPr txBox="1"/>
          <p:nvPr/>
        </p:nvSpPr>
        <p:spPr>
          <a:xfrm>
            <a:off x="6217920" y="1389888"/>
            <a:ext cx="2340864" cy="256032"/>
          </a:xfrm>
          <a:prstGeom prst="rect">
            <a:avLst/>
          </a:prstGeom>
          <a:noFill/>
        </p:spPr>
        <p:txBody>
          <a:bodyPr wrap="square" lIns="0" tIns="0" rIns="0" bIns="0" anchor="ctr">
            <a:spAutoFit/>
          </a:bodyPr>
          <a:lstStyle/>
          <a:p>
            <a:pPr algn="l"/>
            <a:r>
              <a:rPr sz="1150" b="1">
                <a:solidFill>
                  <a:srgbClr val="1C1917"/>
                </a:solidFill>
                <a:latin typeface="Segoe UI"/>
              </a:rPr>
              <a:t>Data from other systems</a:t>
            </a:r>
          </a:p>
        </p:txBody>
      </p:sp>
      <p:sp>
        <p:nvSpPr>
          <p:cNvPr id="24" name="a3ud60_tb23"/>
          <p:cNvSpPr txBox="1"/>
          <p:nvPr/>
        </p:nvSpPr>
        <p:spPr>
          <a:xfrm>
            <a:off x="6217920" y="1682495"/>
            <a:ext cx="2340864" cy="685800"/>
          </a:xfrm>
          <a:prstGeom prst="rect">
            <a:avLst/>
          </a:prstGeom>
          <a:noFill/>
        </p:spPr>
        <p:txBody>
          <a:bodyPr wrap="square" lIns="0" tIns="0" rIns="0" bIns="0" anchor="t">
            <a:spAutoFit/>
          </a:bodyPr>
          <a:lstStyle/>
          <a:p>
            <a:pPr algn="l"/>
            <a:r>
              <a:rPr sz="950" b="0">
                <a:solidFill>
                  <a:srgbClr val="44403C"/>
                </a:solidFill>
                <a:latin typeface="Segoe UI"/>
              </a:rPr>
              <a:t>getting it from where it lives to where you are</a:t>
            </a:r>
          </a:p>
        </p:txBody>
      </p:sp>
      <p:cxnSp>
        <p:nvCxnSpPr>
          <p:cNvPr id="25" name="a4u_wr24"/>
          <p:cNvCxnSpPr/>
          <p:nvPr/>
        </p:nvCxnSpPr>
        <p:spPr>
          <a:xfrm>
            <a:off x="7379208" y="2441448"/>
            <a:ext cx="0" cy="347472"/>
          </a:xfrm>
          <a:prstGeom prst="line">
            <a:avLst/>
          </a:prstGeom>
          <a:ln w="25400">
            <a:solidFill>
              <a:srgbClr val="A16207"/>
            </a:solidFill>
          </a:ln>
        </p:spPr>
        <p:style>
          <a:lnRef idx="2">
            <a:schemeClr val="accent1"/>
          </a:lnRef>
          <a:fillRef idx="0">
            <a:schemeClr val="accent1"/>
          </a:fillRef>
          <a:effectRef idx="1">
            <a:schemeClr val="accent1"/>
          </a:effectRef>
          <a:fontRef idx="minor">
            <a:schemeClr val="tx1"/>
          </a:fontRef>
        </p:style>
      </p:cxnSp>
      <p:sp>
        <p:nvSpPr>
          <p:cNvPr id="26" name="a4u_base25"/>
          <p:cNvSpPr/>
          <p:nvPr/>
        </p:nvSpPr>
        <p:spPr>
          <a:xfrm>
            <a:off x="457200" y="2807208"/>
            <a:ext cx="8229600" cy="566928"/>
          </a:xfrm>
          <a:prstGeom prst="roundRect">
            <a:avLst>
              <a:gd name="adj" fmla="val 12903"/>
            </a:avLst>
          </a:prstGeom>
          <a:solidFill>
            <a:srgbClr val="D9F2F7"/>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4u_baset26"/>
          <p:cNvSpPr txBox="1"/>
          <p:nvPr/>
        </p:nvSpPr>
        <p:spPr>
          <a:xfrm>
            <a:off x="548640" y="2807208"/>
            <a:ext cx="8046720" cy="566928"/>
          </a:xfrm>
          <a:prstGeom prst="rect">
            <a:avLst/>
          </a:prstGeom>
          <a:noFill/>
        </p:spPr>
        <p:txBody>
          <a:bodyPr wrap="square" lIns="0" tIns="0" rIns="0" bIns="0" anchor="ctr">
            <a:spAutoFit/>
          </a:bodyPr>
          <a:lstStyle/>
          <a:p>
            <a:pPr algn="ctr"/>
            <a:r>
              <a:rPr sz="1300" b="1">
                <a:solidFill>
                  <a:srgbClr val="0E7490"/>
                </a:solidFill>
                <a:latin typeface="Segoe UI"/>
              </a:rPr>
              <a:t>Apache Kafka  -  the foundation underneath</a:t>
            </a:r>
          </a:p>
        </p:txBody>
      </p:sp>
      <p:sp>
        <p:nvSpPr>
          <p:cNvPr id="28" name="a5u_nb27"/>
          <p:cNvSpPr/>
          <p:nvPr/>
        </p:nvSpPr>
        <p:spPr>
          <a:xfrm>
            <a:off x="457200" y="3611880"/>
            <a:ext cx="8229600" cy="603504"/>
          </a:xfrm>
          <a:prstGeom prst="roundRect">
            <a:avLst>
              <a:gd name="adj" fmla="val 12121"/>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5u_nacc28"/>
          <p:cNvSpPr/>
          <p:nvPr/>
        </p:nvSpPr>
        <p:spPr>
          <a:xfrm>
            <a:off x="457200" y="3611880"/>
            <a:ext cx="54864" cy="60350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5u_nt29"/>
          <p:cNvSpPr txBox="1"/>
          <p:nvPr/>
        </p:nvSpPr>
        <p:spPr>
          <a:xfrm>
            <a:off x="658368" y="3611880"/>
            <a:ext cx="7827264" cy="603504"/>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Kafka has become the common foundation that data systems are built on - so it will be part of your world, whatever you build.</a:t>
            </a:r>
          </a:p>
        </p:txBody>
      </p:sp>
      <p:sp>
        <p:nvSpPr>
          <p:cNvPr id="31" name="ft30"/>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02</a:t>
            </a:r>
          </a:p>
        </p:txBody>
      </p:sp>
      <p:sp>
        <p:nvSpPr>
          <p:cNvPr id="32" name="ft31"/>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ft32"/>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Introduction</a:t>
            </a:r>
          </a:p>
        </p:txBody>
      </p:sp>
      <p:sp>
        <p:nvSpPr>
          <p:cNvPr id="34" name="ft33"/>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6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31" presetID="2" presetClass="entr" presetSubtype="4"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additive="base">
                                        <p:cTn id="28" dur="500" fill="hold"/>
                                        <p:tgtEl>
                                          <p:spTgt spid="16"/>
                                        </p:tgtEl>
                                        <p:attrNameLst>
                                          <p:attrName>ppt_x</p:attrName>
                                        </p:attrNameLst>
                                      </p:cBhvr>
                                      <p:tavLst>
                                        <p:tav tm="0">
                                          <p:val>
                                            <p:strVal val="#ppt_x"/>
                                          </p:val>
                                        </p:tav>
                                        <p:tav tm="100000">
                                          <p:val>
                                            <p:strVal val="#ppt_x"/>
                                          </p:val>
                                        </p:tav>
                                      </p:tavLst>
                                    </p:anim>
                                    <p:anim calcmode="lin" valueType="num">
                                      <p:cBhvr additive="base">
                                        <p:cTn id="29" dur="500" fill="hold"/>
                                        <p:tgtEl>
                                          <p:spTgt spid="16"/>
                                        </p:tgtEl>
                                        <p:attrNameLst>
                                          <p:attrName>ppt_y</p:attrName>
                                        </p:attrNameLst>
                                      </p:cBhvr>
                                      <p:tavLst>
                                        <p:tav tm="0">
                                          <p:val>
                                            <p:strVal val="#ppt_y+0.1"/>
                                          </p:val>
                                        </p:tav>
                                        <p:tav tm="100000">
                                          <p:val>
                                            <p:strVal val="#ppt_y"/>
                                          </p:val>
                                        </p:tav>
                                      </p:tavLst>
                                    </p:anim>
                                    <p:animEffect transition="in" filter="fade">
                                      <p:cBhvr>
                                        <p:cTn id="30" dur="500"/>
                                        <p:tgtEl>
                                          <p:spTgt spid="16"/>
                                        </p:tgtEl>
                                      </p:cBhvr>
                                    </p:animEffect>
                                  </p:childTnLst>
                                </p:cTn>
                              </p:par>
                              <p:par>
                                <p:cTn id="36" presetID="2" presetClass="entr" presetSubtype="4"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additive="base">
                                        <p:cTn id="33" dur="500" fill="hold"/>
                                        <p:tgtEl>
                                          <p:spTgt spid="17"/>
                                        </p:tgtEl>
                                        <p:attrNameLst>
                                          <p:attrName>ppt_x</p:attrName>
                                        </p:attrNameLst>
                                      </p:cBhvr>
                                      <p:tavLst>
                                        <p:tav tm="0">
                                          <p:val>
                                            <p:strVal val="#ppt_x"/>
                                          </p:val>
                                        </p:tav>
                                        <p:tav tm="100000">
                                          <p:val>
                                            <p:strVal val="#ppt_x"/>
                                          </p:val>
                                        </p:tav>
                                      </p:tavLst>
                                    </p:anim>
                                    <p:anim calcmode="lin" valueType="num">
                                      <p:cBhvr additive="base">
                                        <p:cTn id="34" dur="500" fill="hold"/>
                                        <p:tgtEl>
                                          <p:spTgt spid="17"/>
                                        </p:tgtEl>
                                        <p:attrNameLst>
                                          <p:attrName>ppt_y</p:attrName>
                                        </p:attrNameLst>
                                      </p:cBhvr>
                                      <p:tavLst>
                                        <p:tav tm="0">
                                          <p:val>
                                            <p:strVal val="#ppt_y+0.1"/>
                                          </p:val>
                                        </p:tav>
                                        <p:tav tm="100000">
                                          <p:val>
                                            <p:strVal val="#ppt_y"/>
                                          </p:val>
                                        </p:tav>
                                      </p:tavLst>
                                    </p:anim>
                                    <p:animEffect transition="in" filter="fade">
                                      <p:cBhvr>
                                        <p:cTn id="35" dur="500"/>
                                        <p:tgtEl>
                                          <p:spTgt spid="17"/>
                                        </p:tgtEl>
                                      </p:cBhvr>
                                    </p:animEffect>
                                  </p:childTnLst>
                                </p:cTn>
                              </p:par>
                              <p:par>
                                <p:cTn id="41" presetID="2" presetClass="entr" presetSubtype="4"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 calcmode="lin" valueType="num">
                                      <p:cBhvr additive="base">
                                        <p:cTn id="38" dur="500" fill="hold"/>
                                        <p:tgtEl>
                                          <p:spTgt spid="18"/>
                                        </p:tgtEl>
                                        <p:attrNameLst>
                                          <p:attrName>ppt_x</p:attrName>
                                        </p:attrNameLst>
                                      </p:cBhvr>
                                      <p:tavLst>
                                        <p:tav tm="0">
                                          <p:val>
                                            <p:strVal val="#ppt_x"/>
                                          </p:val>
                                        </p:tav>
                                        <p:tav tm="100000">
                                          <p:val>
                                            <p:strVal val="#ppt_x"/>
                                          </p:val>
                                        </p:tav>
                                      </p:tavLst>
                                    </p:anim>
                                    <p:anim calcmode="lin" valueType="num">
                                      <p:cBhvr additive="base">
                                        <p:cTn id="39" dur="500" fill="hold"/>
                                        <p:tgtEl>
                                          <p:spTgt spid="18"/>
                                        </p:tgtEl>
                                        <p:attrNameLst>
                                          <p:attrName>ppt_y</p:attrName>
                                        </p:attrNameLst>
                                      </p:cBhvr>
                                      <p:tavLst>
                                        <p:tav tm="0">
                                          <p:val>
                                            <p:strVal val="#ppt_y+0.1"/>
                                          </p:val>
                                        </p:tav>
                                        <p:tav tm="100000">
                                          <p:val>
                                            <p:strVal val="#ppt_y"/>
                                          </p:val>
                                        </p:tav>
                                      </p:tavLst>
                                    </p:anim>
                                    <p:animEffect transition="in" filter="fade">
                                      <p:cBhvr>
                                        <p:cTn id="40" dur="500"/>
                                        <p:tgtEl>
                                          <p:spTgt spid="18"/>
                                        </p:tgtEl>
                                      </p:cBhvr>
                                    </p:animEffect>
                                  </p:childTnLst>
                                </p:cTn>
                              </p:par>
                              <p:par>
                                <p:cTn id="46" presetID="2" presetClass="entr" presetSubtype="4" fill="hold" grpId="0" nodeType="withEffect">
                                  <p:stCondLst>
                                    <p:cond delay="6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ppt_x"/>
                                          </p:val>
                                        </p:tav>
                                        <p:tav tm="100000">
                                          <p:val>
                                            <p:strVal val="#ppt_x"/>
                                          </p:val>
                                        </p:tav>
                                      </p:tavLst>
                                    </p:anim>
                                    <p:anim calcmode="lin" valueType="num">
                                      <p:cBhvr additive="base">
                                        <p:cTn id="44" dur="500" fill="hold"/>
                                        <p:tgtEl>
                                          <p:spTgt spid="19"/>
                                        </p:tgtEl>
                                        <p:attrNameLst>
                                          <p:attrName>ppt_y</p:attrName>
                                        </p:attrNameLst>
                                      </p:cBhvr>
                                      <p:tavLst>
                                        <p:tav tm="0">
                                          <p:val>
                                            <p:strVal val="#ppt_y+0.1"/>
                                          </p:val>
                                        </p:tav>
                                        <p:tav tm="100000">
                                          <p:val>
                                            <p:strVal val="#ppt_y"/>
                                          </p:val>
                                        </p:tav>
                                      </p:tavLst>
                                    </p:anim>
                                    <p:animEffect transition="in" filter="fade">
                                      <p:cBhvr>
                                        <p:cTn id="45" dur="500"/>
                                        <p:tgtEl>
                                          <p:spTgt spid="19"/>
                                        </p:tgtEl>
                                      </p:cBhvr>
                                    </p:animEffect>
                                  </p:childTnLst>
                                </p:cTn>
                              </p:par>
                            </p:childTnLst>
                          </p:cTn>
                        </p:par>
                      </p:childTnLst>
                    </p:cTn>
                  </p:par>
                  <p:par>
                    <p:cTn id="47" fill="hold">
                      <p:stCondLst>
                        <p:cond delay="indefinite"/>
                      </p:stCondLst>
                      <p:childTnLst>
                        <p:par>
                          <p:cTn id="48" fill="hold">
                            <p:stCondLst>
                              <p:cond delay="0"/>
                            </p:stCondLst>
                            <p:childTnLst>
                              <p:par>
                                <p:cTn id="53" presetID="2" presetClass="entr" presetSubtype="4"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 calcmode="lin" valueType="num">
                                      <p:cBhvr additive="base">
                                        <p:cTn id="50" dur="500" fill="hold"/>
                                        <p:tgtEl>
                                          <p:spTgt spid="21"/>
                                        </p:tgtEl>
                                        <p:attrNameLst>
                                          <p:attrName>ppt_x</p:attrName>
                                        </p:attrNameLst>
                                      </p:cBhvr>
                                      <p:tavLst>
                                        <p:tav tm="0">
                                          <p:val>
                                            <p:strVal val="#ppt_x"/>
                                          </p:val>
                                        </p:tav>
                                        <p:tav tm="100000">
                                          <p:val>
                                            <p:strVal val="#ppt_x"/>
                                          </p:val>
                                        </p:tav>
                                      </p:tavLst>
                                    </p:anim>
                                    <p:anim calcmode="lin" valueType="num">
                                      <p:cBhvr additive="base">
                                        <p:cTn id="51" dur="500" fill="hold"/>
                                        <p:tgtEl>
                                          <p:spTgt spid="21"/>
                                        </p:tgtEl>
                                        <p:attrNameLst>
                                          <p:attrName>ppt_y</p:attrName>
                                        </p:attrNameLst>
                                      </p:cBhvr>
                                      <p:tavLst>
                                        <p:tav tm="0">
                                          <p:val>
                                            <p:strVal val="#ppt_y+0.1"/>
                                          </p:val>
                                        </p:tav>
                                        <p:tav tm="100000">
                                          <p:val>
                                            <p:strVal val="#ppt_y"/>
                                          </p:val>
                                        </p:tav>
                                      </p:tavLst>
                                    </p:anim>
                                    <p:animEffect transition="in" filter="fade">
                                      <p:cBhvr>
                                        <p:cTn id="52" dur="500"/>
                                        <p:tgtEl>
                                          <p:spTgt spid="21"/>
                                        </p:tgtEl>
                                      </p:cBhvr>
                                    </p:animEffect>
                                  </p:childTnLst>
                                </p:cTn>
                              </p:par>
                              <p:par>
                                <p:cTn id="58" presetID="2" presetClass="entr" presetSubtype="4"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 calcmode="lin" valueType="num">
                                      <p:cBhvr additive="base">
                                        <p:cTn id="55" dur="500" fill="hold"/>
                                        <p:tgtEl>
                                          <p:spTgt spid="22"/>
                                        </p:tgtEl>
                                        <p:attrNameLst>
                                          <p:attrName>ppt_x</p:attrName>
                                        </p:attrNameLst>
                                      </p:cBhvr>
                                      <p:tavLst>
                                        <p:tav tm="0">
                                          <p:val>
                                            <p:strVal val="#ppt_x"/>
                                          </p:val>
                                        </p:tav>
                                        <p:tav tm="100000">
                                          <p:val>
                                            <p:strVal val="#ppt_x"/>
                                          </p:val>
                                        </p:tav>
                                      </p:tavLst>
                                    </p:anim>
                                    <p:anim calcmode="lin" valueType="num">
                                      <p:cBhvr additive="base">
                                        <p:cTn id="56" dur="500" fill="hold"/>
                                        <p:tgtEl>
                                          <p:spTgt spid="22"/>
                                        </p:tgtEl>
                                        <p:attrNameLst>
                                          <p:attrName>ppt_y</p:attrName>
                                        </p:attrNameLst>
                                      </p:cBhvr>
                                      <p:tavLst>
                                        <p:tav tm="0">
                                          <p:val>
                                            <p:strVal val="#ppt_y+0.1"/>
                                          </p:val>
                                        </p:tav>
                                        <p:tav tm="100000">
                                          <p:val>
                                            <p:strVal val="#ppt_y"/>
                                          </p:val>
                                        </p:tav>
                                      </p:tavLst>
                                    </p:anim>
                                    <p:animEffect transition="in" filter="fade">
                                      <p:cBhvr>
                                        <p:cTn id="57" dur="500"/>
                                        <p:tgtEl>
                                          <p:spTgt spid="22"/>
                                        </p:tgtEl>
                                      </p:cBhvr>
                                    </p:animEffect>
                                  </p:childTnLst>
                                </p:cTn>
                              </p:par>
                              <p:par>
                                <p:cTn id="63" presetID="2" presetClass="entr" presetSubtype="4"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 calcmode="lin" valueType="num">
                                      <p:cBhvr additive="base">
                                        <p:cTn id="60" dur="500" fill="hold"/>
                                        <p:tgtEl>
                                          <p:spTgt spid="23"/>
                                        </p:tgtEl>
                                        <p:attrNameLst>
                                          <p:attrName>ppt_x</p:attrName>
                                        </p:attrNameLst>
                                      </p:cBhvr>
                                      <p:tavLst>
                                        <p:tav tm="0">
                                          <p:val>
                                            <p:strVal val="#ppt_x"/>
                                          </p:val>
                                        </p:tav>
                                        <p:tav tm="100000">
                                          <p:val>
                                            <p:strVal val="#ppt_x"/>
                                          </p:val>
                                        </p:tav>
                                      </p:tavLst>
                                    </p:anim>
                                    <p:anim calcmode="lin" valueType="num">
                                      <p:cBhvr additive="base">
                                        <p:cTn id="61" dur="500" fill="hold"/>
                                        <p:tgtEl>
                                          <p:spTgt spid="23"/>
                                        </p:tgtEl>
                                        <p:attrNameLst>
                                          <p:attrName>ppt_y</p:attrName>
                                        </p:attrNameLst>
                                      </p:cBhvr>
                                      <p:tavLst>
                                        <p:tav tm="0">
                                          <p:val>
                                            <p:strVal val="#ppt_y+0.1"/>
                                          </p:val>
                                        </p:tav>
                                        <p:tav tm="100000">
                                          <p:val>
                                            <p:strVal val="#ppt_y"/>
                                          </p:val>
                                        </p:tav>
                                      </p:tavLst>
                                    </p:anim>
                                    <p:animEffect transition="in" filter="fade">
                                      <p:cBhvr>
                                        <p:cTn id="62" dur="500"/>
                                        <p:tgtEl>
                                          <p:spTgt spid="23"/>
                                        </p:tgtEl>
                                      </p:cBhvr>
                                    </p:animEffect>
                                  </p:childTnLst>
                                </p:cTn>
                              </p:par>
                              <p:par>
                                <p:cTn id="68" presetID="2" presetClass="entr" presetSubtype="4" fill="hold" grpId="0" nodeType="withEffect">
                                  <p:stCondLst>
                                    <p:cond delay="60"/>
                                  </p:stCondLst>
                                  <p:childTnLst>
                                    <p:set>
                                      <p:cBhvr>
                                        <p:cTn id="64" dur="1" fill="hold">
                                          <p:stCondLst>
                                            <p:cond delay="0"/>
                                          </p:stCondLst>
                                        </p:cTn>
                                        <p:tgtEl>
                                          <p:spTgt spid="24"/>
                                        </p:tgtEl>
                                        <p:attrNameLst>
                                          <p:attrName>style.visibility</p:attrName>
                                        </p:attrNameLst>
                                      </p:cBhvr>
                                      <p:to>
                                        <p:strVal val="visible"/>
                                      </p:to>
                                    </p:set>
                                    <p:anim calcmode="lin" valueType="num">
                                      <p:cBhvr additive="base">
                                        <p:cTn id="65" dur="500" fill="hold"/>
                                        <p:tgtEl>
                                          <p:spTgt spid="24"/>
                                        </p:tgtEl>
                                        <p:attrNameLst>
                                          <p:attrName>ppt_x</p:attrName>
                                        </p:attrNameLst>
                                      </p:cBhvr>
                                      <p:tavLst>
                                        <p:tav tm="0">
                                          <p:val>
                                            <p:strVal val="#ppt_x"/>
                                          </p:val>
                                        </p:tav>
                                        <p:tav tm="100000">
                                          <p:val>
                                            <p:strVal val="#ppt_x"/>
                                          </p:val>
                                        </p:tav>
                                      </p:tavLst>
                                    </p:anim>
                                    <p:anim calcmode="lin" valueType="num">
                                      <p:cBhvr additive="base">
                                        <p:cTn id="66" dur="500" fill="hold"/>
                                        <p:tgtEl>
                                          <p:spTgt spid="24"/>
                                        </p:tgtEl>
                                        <p:attrNameLst>
                                          <p:attrName>ppt_y</p:attrName>
                                        </p:attrNameLst>
                                      </p:cBhvr>
                                      <p:tavLst>
                                        <p:tav tm="0">
                                          <p:val>
                                            <p:strVal val="#ppt_y+0.1"/>
                                          </p:val>
                                        </p:tav>
                                        <p:tav tm="100000">
                                          <p:val>
                                            <p:strVal val="#ppt_y"/>
                                          </p:val>
                                        </p:tav>
                                      </p:tavLst>
                                    </p:anim>
                                    <p:animEffect transition="in" filter="fade">
                                      <p:cBhvr>
                                        <p:cTn id="67" dur="500"/>
                                        <p:tgtEl>
                                          <p:spTgt spid="24"/>
                                        </p:tgtEl>
                                      </p:cBhvr>
                                    </p:animEffect>
                                  </p:childTnLst>
                                </p:cTn>
                              </p:par>
                            </p:childTnLst>
                          </p:cTn>
                        </p:par>
                      </p:childTnLst>
                    </p:cTn>
                  </p:par>
                  <p:par>
                    <p:cTn id="69" fill="hold">
                      <p:stCondLst>
                        <p:cond delay="indefinite"/>
                      </p:stCondLst>
                      <p:childTnLst>
                        <p:par>
                          <p:cTn id="70" fill="hold">
                            <p:stCondLst>
                              <p:cond delay="0"/>
                            </p:stCondLst>
                            <p:childTnLst>
                              <p:par>
                                <p:cTn id="75" presetID="2" presetClass="entr" presetSubtype="4"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500" fill="hold"/>
                                        <p:tgtEl>
                                          <p:spTgt spid="15"/>
                                        </p:tgtEl>
                                        <p:attrNameLst>
                                          <p:attrName>ppt_x</p:attrName>
                                        </p:attrNameLst>
                                      </p:cBhvr>
                                      <p:tavLst>
                                        <p:tav tm="0">
                                          <p:val>
                                            <p:strVal val="#ppt_x"/>
                                          </p:val>
                                        </p:tav>
                                        <p:tav tm="100000">
                                          <p:val>
                                            <p:strVal val="#ppt_x"/>
                                          </p:val>
                                        </p:tav>
                                      </p:tavLst>
                                    </p:anim>
                                    <p:anim calcmode="lin" valueType="num">
                                      <p:cBhvr additive="base">
                                        <p:cTn id="73" dur="500" fill="hold"/>
                                        <p:tgtEl>
                                          <p:spTgt spid="15"/>
                                        </p:tgtEl>
                                        <p:attrNameLst>
                                          <p:attrName>ppt_y</p:attrName>
                                        </p:attrNameLst>
                                      </p:cBhvr>
                                      <p:tavLst>
                                        <p:tav tm="0">
                                          <p:val>
                                            <p:strVal val="#ppt_y+0.1"/>
                                          </p:val>
                                        </p:tav>
                                        <p:tav tm="100000">
                                          <p:val>
                                            <p:strVal val="#ppt_y"/>
                                          </p:val>
                                        </p:tav>
                                      </p:tavLst>
                                    </p:anim>
                                    <p:animEffect transition="in" filter="fade">
                                      <p:cBhvr>
                                        <p:cTn id="74" dur="500"/>
                                        <p:tgtEl>
                                          <p:spTgt spid="15"/>
                                        </p:tgtEl>
                                      </p:cBhvr>
                                    </p:animEffect>
                                  </p:childTnLst>
                                </p:cTn>
                              </p:par>
                              <p:par>
                                <p:cTn id="80" presetID="2" presetClass="entr" presetSubtype="4"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anim calcmode="lin" valueType="num">
                                      <p:cBhvr additive="base">
                                        <p:cTn id="77" dur="500" fill="hold"/>
                                        <p:tgtEl>
                                          <p:spTgt spid="20"/>
                                        </p:tgtEl>
                                        <p:attrNameLst>
                                          <p:attrName>ppt_x</p:attrName>
                                        </p:attrNameLst>
                                      </p:cBhvr>
                                      <p:tavLst>
                                        <p:tav tm="0">
                                          <p:val>
                                            <p:strVal val="#ppt_x"/>
                                          </p:val>
                                        </p:tav>
                                        <p:tav tm="100000">
                                          <p:val>
                                            <p:strVal val="#ppt_x"/>
                                          </p:val>
                                        </p:tav>
                                      </p:tavLst>
                                    </p:anim>
                                    <p:anim calcmode="lin" valueType="num">
                                      <p:cBhvr additive="base">
                                        <p:cTn id="78" dur="500" fill="hold"/>
                                        <p:tgtEl>
                                          <p:spTgt spid="20"/>
                                        </p:tgtEl>
                                        <p:attrNameLst>
                                          <p:attrName>ppt_y</p:attrName>
                                        </p:attrNameLst>
                                      </p:cBhvr>
                                      <p:tavLst>
                                        <p:tav tm="0">
                                          <p:val>
                                            <p:strVal val="#ppt_y+0.1"/>
                                          </p:val>
                                        </p:tav>
                                        <p:tav tm="100000">
                                          <p:val>
                                            <p:strVal val="#ppt_y"/>
                                          </p:val>
                                        </p:tav>
                                      </p:tavLst>
                                    </p:anim>
                                    <p:animEffect transition="in" filter="fade">
                                      <p:cBhvr>
                                        <p:cTn id="79" dur="500"/>
                                        <p:tgtEl>
                                          <p:spTgt spid="20"/>
                                        </p:tgtEl>
                                      </p:cBhvr>
                                    </p:animEffect>
                                  </p:childTnLst>
                                </p:cTn>
                              </p:par>
                              <p:par>
                                <p:cTn id="85" presetID="2" presetClass="entr" presetSubtype="4"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anim calcmode="lin" valueType="num">
                                      <p:cBhvr additive="base">
                                        <p:cTn id="82" dur="500" fill="hold"/>
                                        <p:tgtEl>
                                          <p:spTgt spid="25"/>
                                        </p:tgtEl>
                                        <p:attrNameLst>
                                          <p:attrName>ppt_x</p:attrName>
                                        </p:attrNameLst>
                                      </p:cBhvr>
                                      <p:tavLst>
                                        <p:tav tm="0">
                                          <p:val>
                                            <p:strVal val="#ppt_x"/>
                                          </p:val>
                                        </p:tav>
                                        <p:tav tm="100000">
                                          <p:val>
                                            <p:strVal val="#ppt_x"/>
                                          </p:val>
                                        </p:tav>
                                      </p:tavLst>
                                    </p:anim>
                                    <p:anim calcmode="lin" valueType="num">
                                      <p:cBhvr additive="base">
                                        <p:cTn id="83" dur="500" fill="hold"/>
                                        <p:tgtEl>
                                          <p:spTgt spid="25"/>
                                        </p:tgtEl>
                                        <p:attrNameLst>
                                          <p:attrName>ppt_y</p:attrName>
                                        </p:attrNameLst>
                                      </p:cBhvr>
                                      <p:tavLst>
                                        <p:tav tm="0">
                                          <p:val>
                                            <p:strVal val="#ppt_y+0.1"/>
                                          </p:val>
                                        </p:tav>
                                        <p:tav tm="100000">
                                          <p:val>
                                            <p:strVal val="#ppt_y"/>
                                          </p:val>
                                        </p:tav>
                                      </p:tavLst>
                                    </p:anim>
                                    <p:animEffect transition="in" filter="fade">
                                      <p:cBhvr>
                                        <p:cTn id="84" dur="500"/>
                                        <p:tgtEl>
                                          <p:spTgt spid="25"/>
                                        </p:tgtEl>
                                      </p:cBhvr>
                                    </p:animEffect>
                                  </p:childTnLst>
                                </p:cTn>
                              </p:par>
                              <p:par>
                                <p:cTn id="90" presetID="2" presetClass="entr" presetSubtype="4"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500" fill="hold"/>
                                        <p:tgtEl>
                                          <p:spTgt spid="26"/>
                                        </p:tgtEl>
                                        <p:attrNameLst>
                                          <p:attrName>ppt_x</p:attrName>
                                        </p:attrNameLst>
                                      </p:cBhvr>
                                      <p:tavLst>
                                        <p:tav tm="0">
                                          <p:val>
                                            <p:strVal val="#ppt_x"/>
                                          </p:val>
                                        </p:tav>
                                        <p:tav tm="100000">
                                          <p:val>
                                            <p:strVal val="#ppt_x"/>
                                          </p:val>
                                        </p:tav>
                                      </p:tavLst>
                                    </p:anim>
                                    <p:anim calcmode="lin" valueType="num">
                                      <p:cBhvr additive="base">
                                        <p:cTn id="88" dur="500" fill="hold"/>
                                        <p:tgtEl>
                                          <p:spTgt spid="26"/>
                                        </p:tgtEl>
                                        <p:attrNameLst>
                                          <p:attrName>ppt_y</p:attrName>
                                        </p:attrNameLst>
                                      </p:cBhvr>
                                      <p:tavLst>
                                        <p:tav tm="0">
                                          <p:val>
                                            <p:strVal val="#ppt_y+0.1"/>
                                          </p:val>
                                        </p:tav>
                                        <p:tav tm="100000">
                                          <p:val>
                                            <p:strVal val="#ppt_y"/>
                                          </p:val>
                                        </p:tav>
                                      </p:tavLst>
                                    </p:anim>
                                    <p:animEffect transition="in" filter="fade">
                                      <p:cBhvr>
                                        <p:cTn id="89" dur="500"/>
                                        <p:tgtEl>
                                          <p:spTgt spid="26"/>
                                        </p:tgtEl>
                                      </p:cBhvr>
                                    </p:animEffect>
                                  </p:childTnLst>
                                </p:cTn>
                              </p:par>
                              <p:par>
                                <p:cTn id="95" presetID="2" presetClass="entr" presetSubtype="4" fill="hold" grpId="0" nodeType="withEffect">
                                  <p:stCondLst>
                                    <p:cond delay="0"/>
                                  </p:stCondLst>
                                  <p:childTnLst>
                                    <p:set>
                                      <p:cBhvr>
                                        <p:cTn id="91" dur="1" fill="hold">
                                          <p:stCondLst>
                                            <p:cond delay="0"/>
                                          </p:stCondLst>
                                        </p:cTn>
                                        <p:tgtEl>
                                          <p:spTgt spid="27"/>
                                        </p:tgtEl>
                                        <p:attrNameLst>
                                          <p:attrName>style.visibility</p:attrName>
                                        </p:attrNameLst>
                                      </p:cBhvr>
                                      <p:to>
                                        <p:strVal val="visible"/>
                                      </p:to>
                                    </p:set>
                                    <p:anim calcmode="lin" valueType="num">
                                      <p:cBhvr additive="base">
                                        <p:cTn id="92" dur="500" fill="hold"/>
                                        <p:tgtEl>
                                          <p:spTgt spid="27"/>
                                        </p:tgtEl>
                                        <p:attrNameLst>
                                          <p:attrName>ppt_x</p:attrName>
                                        </p:attrNameLst>
                                      </p:cBhvr>
                                      <p:tavLst>
                                        <p:tav tm="0">
                                          <p:val>
                                            <p:strVal val="#ppt_x"/>
                                          </p:val>
                                        </p:tav>
                                        <p:tav tm="100000">
                                          <p:val>
                                            <p:strVal val="#ppt_x"/>
                                          </p:val>
                                        </p:tav>
                                      </p:tavLst>
                                    </p:anim>
                                    <p:anim calcmode="lin" valueType="num">
                                      <p:cBhvr additive="base">
                                        <p:cTn id="93" dur="500" fill="hold"/>
                                        <p:tgtEl>
                                          <p:spTgt spid="27"/>
                                        </p:tgtEl>
                                        <p:attrNameLst>
                                          <p:attrName>ppt_y</p:attrName>
                                        </p:attrNameLst>
                                      </p:cBhvr>
                                      <p:tavLst>
                                        <p:tav tm="0">
                                          <p:val>
                                            <p:strVal val="#ppt_y+0.1"/>
                                          </p:val>
                                        </p:tav>
                                        <p:tav tm="100000">
                                          <p:val>
                                            <p:strVal val="#ppt_y"/>
                                          </p:val>
                                        </p:tav>
                                      </p:tavLst>
                                    </p:anim>
                                    <p:animEffect transition="in" filter="fade">
                                      <p:cBhvr>
                                        <p:cTn id="94" dur="500"/>
                                        <p:tgtEl>
                                          <p:spTgt spid="27"/>
                                        </p:tgtEl>
                                      </p:cBhvr>
                                    </p:animEffect>
                                  </p:childTnLst>
                                </p:cTn>
                              </p:par>
                            </p:childTnLst>
                          </p:cTn>
                        </p:par>
                      </p:childTnLst>
                    </p:cTn>
                  </p:par>
                  <p:par>
                    <p:cTn id="96" fill="hold">
                      <p:stCondLst>
                        <p:cond delay="indefinite"/>
                      </p:stCondLst>
                      <p:childTnLst>
                        <p:par>
                          <p:cTn id="97" fill="hold">
                            <p:stCondLst>
                              <p:cond delay="0"/>
                            </p:stCondLst>
                            <p:childTnLst>
                              <p:par>
                                <p:cTn id="102" presetID="2" presetClass="entr" presetSubtype="4" fill="hold" grpId="0" nodeType="clickEffect">
                                  <p:stCondLst>
                                    <p:cond delay="0"/>
                                  </p:stCondLst>
                                  <p:childTnLst>
                                    <p:set>
                                      <p:cBhvr>
                                        <p:cTn id="98" dur="1" fill="hold">
                                          <p:stCondLst>
                                            <p:cond delay="0"/>
                                          </p:stCondLst>
                                        </p:cTn>
                                        <p:tgtEl>
                                          <p:spTgt spid="28"/>
                                        </p:tgtEl>
                                        <p:attrNameLst>
                                          <p:attrName>style.visibility</p:attrName>
                                        </p:attrNameLst>
                                      </p:cBhvr>
                                      <p:to>
                                        <p:strVal val="visible"/>
                                      </p:to>
                                    </p:set>
                                    <p:anim calcmode="lin" valueType="num">
                                      <p:cBhvr additive="base">
                                        <p:cTn id="99" dur="500" fill="hold"/>
                                        <p:tgtEl>
                                          <p:spTgt spid="28"/>
                                        </p:tgtEl>
                                        <p:attrNameLst>
                                          <p:attrName>ppt_x</p:attrName>
                                        </p:attrNameLst>
                                      </p:cBhvr>
                                      <p:tavLst>
                                        <p:tav tm="0">
                                          <p:val>
                                            <p:strVal val="#ppt_x"/>
                                          </p:val>
                                        </p:tav>
                                        <p:tav tm="100000">
                                          <p:val>
                                            <p:strVal val="#ppt_x"/>
                                          </p:val>
                                        </p:tav>
                                      </p:tavLst>
                                    </p:anim>
                                    <p:anim calcmode="lin" valueType="num">
                                      <p:cBhvr additive="base">
                                        <p:cTn id="100" dur="500" fill="hold"/>
                                        <p:tgtEl>
                                          <p:spTgt spid="28"/>
                                        </p:tgtEl>
                                        <p:attrNameLst>
                                          <p:attrName>ppt_y</p:attrName>
                                        </p:attrNameLst>
                                      </p:cBhvr>
                                      <p:tavLst>
                                        <p:tav tm="0">
                                          <p:val>
                                            <p:strVal val="#ppt_y+0.1"/>
                                          </p:val>
                                        </p:tav>
                                        <p:tav tm="100000">
                                          <p:val>
                                            <p:strVal val="#ppt_y"/>
                                          </p:val>
                                        </p:tav>
                                      </p:tavLst>
                                    </p:anim>
                                    <p:animEffect transition="in" filter="fade">
                                      <p:cBhvr>
                                        <p:cTn id="101" dur="500"/>
                                        <p:tgtEl>
                                          <p:spTgt spid="28"/>
                                        </p:tgtEl>
                                      </p:cBhvr>
                                    </p:animEffect>
                                  </p:childTnLst>
                                </p:cTn>
                              </p:par>
                              <p:par>
                                <p:cTn id="107" presetID="2" presetClass="entr" presetSubtype="4" fill="hold" grpId="0" nodeType="withEffect">
                                  <p:stCondLst>
                                    <p:cond delay="0"/>
                                  </p:stCondLst>
                                  <p:childTnLst>
                                    <p:set>
                                      <p:cBhvr>
                                        <p:cTn id="103" dur="1" fill="hold">
                                          <p:stCondLst>
                                            <p:cond delay="0"/>
                                          </p:stCondLst>
                                        </p:cTn>
                                        <p:tgtEl>
                                          <p:spTgt spid="29"/>
                                        </p:tgtEl>
                                        <p:attrNameLst>
                                          <p:attrName>style.visibility</p:attrName>
                                        </p:attrNameLst>
                                      </p:cBhvr>
                                      <p:to>
                                        <p:strVal val="visible"/>
                                      </p:to>
                                    </p:set>
                                    <p:anim calcmode="lin" valueType="num">
                                      <p:cBhvr additive="base">
                                        <p:cTn id="104" dur="500" fill="hold"/>
                                        <p:tgtEl>
                                          <p:spTgt spid="29"/>
                                        </p:tgtEl>
                                        <p:attrNameLst>
                                          <p:attrName>ppt_x</p:attrName>
                                        </p:attrNameLst>
                                      </p:cBhvr>
                                      <p:tavLst>
                                        <p:tav tm="0">
                                          <p:val>
                                            <p:strVal val="#ppt_x"/>
                                          </p:val>
                                        </p:tav>
                                        <p:tav tm="100000">
                                          <p:val>
                                            <p:strVal val="#ppt_x"/>
                                          </p:val>
                                        </p:tav>
                                      </p:tavLst>
                                    </p:anim>
                                    <p:anim calcmode="lin" valueType="num">
                                      <p:cBhvr additive="base">
                                        <p:cTn id="105" dur="500" fill="hold"/>
                                        <p:tgtEl>
                                          <p:spTgt spid="29"/>
                                        </p:tgtEl>
                                        <p:attrNameLst>
                                          <p:attrName>ppt_y</p:attrName>
                                        </p:attrNameLst>
                                      </p:cBhvr>
                                      <p:tavLst>
                                        <p:tav tm="0">
                                          <p:val>
                                            <p:strVal val="#ppt_y+0.1"/>
                                          </p:val>
                                        </p:tav>
                                        <p:tav tm="100000">
                                          <p:val>
                                            <p:strVal val="#ppt_y"/>
                                          </p:val>
                                        </p:tav>
                                      </p:tavLst>
                                    </p:anim>
                                    <p:animEffect transition="in" filter="fade">
                                      <p:cBhvr>
                                        <p:cTn id="106" dur="500"/>
                                        <p:tgtEl>
                                          <p:spTgt spid="29"/>
                                        </p:tgtEl>
                                      </p:cBhvr>
                                    </p:animEffect>
                                  </p:childTnLst>
                                </p:cTn>
                              </p:par>
                              <p:par>
                                <p:cTn id="112" presetID="2" presetClass="entr" presetSubtype="4" fill="hold" grpId="0" nodeType="withEffect">
                                  <p:stCondLst>
                                    <p:cond delay="0"/>
                                  </p:stCondLst>
                                  <p:childTnLst>
                                    <p:set>
                                      <p:cBhvr>
                                        <p:cTn id="108" dur="1" fill="hold">
                                          <p:stCondLst>
                                            <p:cond delay="0"/>
                                          </p:stCondLst>
                                        </p:cTn>
                                        <p:tgtEl>
                                          <p:spTgt spid="30"/>
                                        </p:tgtEl>
                                        <p:attrNameLst>
                                          <p:attrName>style.visibility</p:attrName>
                                        </p:attrNameLst>
                                      </p:cBhvr>
                                      <p:to>
                                        <p:strVal val="visible"/>
                                      </p:to>
                                    </p:set>
                                    <p:anim calcmode="lin" valueType="num">
                                      <p:cBhvr additive="base">
                                        <p:cTn id="109" dur="500" fill="hold"/>
                                        <p:tgtEl>
                                          <p:spTgt spid="30"/>
                                        </p:tgtEl>
                                        <p:attrNameLst>
                                          <p:attrName>ppt_x</p:attrName>
                                        </p:attrNameLst>
                                      </p:cBhvr>
                                      <p:tavLst>
                                        <p:tav tm="0">
                                          <p:val>
                                            <p:strVal val="#ppt_x"/>
                                          </p:val>
                                        </p:tav>
                                        <p:tav tm="100000">
                                          <p:val>
                                            <p:strVal val="#ppt_x"/>
                                          </p:val>
                                        </p:tav>
                                      </p:tavLst>
                                    </p:anim>
                                    <p:anim calcmode="lin" valueType="num">
                                      <p:cBhvr additive="base">
                                        <p:cTn id="110" dur="500" fill="hold"/>
                                        <p:tgtEl>
                                          <p:spTgt spid="30"/>
                                        </p:tgtEl>
                                        <p:attrNameLst>
                                          <p:attrName>ppt_y</p:attrName>
                                        </p:attrNameLst>
                                      </p:cBhvr>
                                      <p:tavLst>
                                        <p:tav tm="0">
                                          <p:val>
                                            <p:strVal val="#ppt_y+0.1"/>
                                          </p:val>
                                        </p:tav>
                                        <p:tav tm="100000">
                                          <p:val>
                                            <p:strVal val="#ppt_y"/>
                                          </p:val>
                                        </p:tav>
                                      </p:tavLst>
                                    </p:anim>
                                    <p:animEffect transition="in" filter="fade">
                                      <p:cBhvr>
                                        <p:cTn id="11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We Tend to Think of Data as Tables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Tables are very good at storing representations of THINGS</a:t>
            </a:r>
          </a:p>
        </p:txBody>
      </p:sp>
      <p:sp>
        <p:nvSpPr>
          <p:cNvPr id="11" name="a1f_tl10"/>
          <p:cNvSpPr txBox="1"/>
          <p:nvPr/>
        </p:nvSpPr>
        <p:spPr>
          <a:xfrm>
            <a:off x="457200" y="1280160"/>
            <a:ext cx="2615184" cy="219456"/>
          </a:xfrm>
          <a:prstGeom prst="rect">
            <a:avLst/>
          </a:prstGeom>
          <a:noFill/>
        </p:spPr>
        <p:txBody>
          <a:bodyPr wrap="square" lIns="0" tIns="0" rIns="0" bIns="0" anchor="ctr">
            <a:spAutoFit/>
          </a:bodyPr>
          <a:lstStyle/>
          <a:p>
            <a:pPr algn="l"/>
            <a:r>
              <a:rPr sz="1000" b="1">
                <a:solidFill>
                  <a:srgbClr val="C2410C"/>
                </a:solidFill>
                <a:latin typeface="Segoe UI"/>
              </a:rPr>
              <a:t>ITEMS IN INVENTORY</a:t>
            </a:r>
          </a:p>
        </p:txBody>
      </p:sp>
      <p:sp>
        <p:nvSpPr>
          <p:cNvPr id="12" name="a1f_th11"/>
          <p:cNvSpPr/>
          <p:nvPr/>
        </p:nvSpPr>
        <p:spPr>
          <a:xfrm>
            <a:off x="457200" y="1554480"/>
            <a:ext cx="731520" cy="32918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f_tht12"/>
          <p:cNvSpPr txBox="1"/>
          <p:nvPr/>
        </p:nvSpPr>
        <p:spPr>
          <a:xfrm>
            <a:off x="530352" y="1554480"/>
            <a:ext cx="621792" cy="329184"/>
          </a:xfrm>
          <a:prstGeom prst="rect">
            <a:avLst/>
          </a:prstGeom>
          <a:noFill/>
        </p:spPr>
        <p:txBody>
          <a:bodyPr wrap="square" lIns="0" tIns="0" rIns="0" bIns="0" anchor="ctr">
            <a:spAutoFit/>
          </a:bodyPr>
          <a:lstStyle/>
          <a:p>
            <a:pPr algn="l"/>
            <a:r>
              <a:rPr sz="950" b="1">
                <a:solidFill>
                  <a:srgbClr val="FFFFFF"/>
                </a:solidFill>
                <a:latin typeface="Consolas"/>
              </a:rPr>
              <a:t>sku</a:t>
            </a:r>
          </a:p>
        </p:txBody>
      </p:sp>
      <p:sp>
        <p:nvSpPr>
          <p:cNvPr id="14" name="a1wd120_td13"/>
          <p:cNvSpPr/>
          <p:nvPr/>
        </p:nvSpPr>
        <p:spPr>
          <a:xfrm>
            <a:off x="457200" y="1883664"/>
            <a:ext cx="731520"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wd120_tdt14"/>
          <p:cNvSpPr txBox="1"/>
          <p:nvPr/>
        </p:nvSpPr>
        <p:spPr>
          <a:xfrm>
            <a:off x="530352" y="1883664"/>
            <a:ext cx="621792" cy="329184"/>
          </a:xfrm>
          <a:prstGeom prst="rect">
            <a:avLst/>
          </a:prstGeom>
          <a:noFill/>
        </p:spPr>
        <p:txBody>
          <a:bodyPr wrap="square" lIns="0" tIns="0" rIns="0" bIns="0" anchor="ctr">
            <a:spAutoFit/>
          </a:bodyPr>
          <a:lstStyle/>
          <a:p>
            <a:pPr algn="l"/>
            <a:r>
              <a:rPr sz="950" b="0">
                <a:solidFill>
                  <a:srgbClr val="44403C"/>
                </a:solidFill>
                <a:latin typeface="Consolas"/>
              </a:rPr>
              <a:t>A-101</a:t>
            </a:r>
          </a:p>
        </p:txBody>
      </p:sp>
      <p:sp>
        <p:nvSpPr>
          <p:cNvPr id="16" name="a1wd240_td15"/>
          <p:cNvSpPr/>
          <p:nvPr/>
        </p:nvSpPr>
        <p:spPr>
          <a:xfrm>
            <a:off x="457200" y="2212848"/>
            <a:ext cx="731520" cy="329184"/>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wd240_tdt16"/>
          <p:cNvSpPr txBox="1"/>
          <p:nvPr/>
        </p:nvSpPr>
        <p:spPr>
          <a:xfrm>
            <a:off x="530352" y="2212848"/>
            <a:ext cx="621792" cy="329184"/>
          </a:xfrm>
          <a:prstGeom prst="rect">
            <a:avLst/>
          </a:prstGeom>
          <a:noFill/>
        </p:spPr>
        <p:txBody>
          <a:bodyPr wrap="square" lIns="0" tIns="0" rIns="0" bIns="0" anchor="ctr">
            <a:spAutoFit/>
          </a:bodyPr>
          <a:lstStyle/>
          <a:p>
            <a:pPr algn="l"/>
            <a:r>
              <a:rPr sz="950" b="0">
                <a:solidFill>
                  <a:srgbClr val="44403C"/>
                </a:solidFill>
                <a:latin typeface="Consolas"/>
              </a:rPr>
              <a:t>A-102</a:t>
            </a:r>
          </a:p>
        </p:txBody>
      </p:sp>
      <p:sp>
        <p:nvSpPr>
          <p:cNvPr id="18" name="a1wd360_td17"/>
          <p:cNvSpPr/>
          <p:nvPr/>
        </p:nvSpPr>
        <p:spPr>
          <a:xfrm>
            <a:off x="457200" y="2542032"/>
            <a:ext cx="731520"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wd360_tdt18"/>
          <p:cNvSpPr txBox="1"/>
          <p:nvPr/>
        </p:nvSpPr>
        <p:spPr>
          <a:xfrm>
            <a:off x="530352" y="2542032"/>
            <a:ext cx="621792" cy="329184"/>
          </a:xfrm>
          <a:prstGeom prst="rect">
            <a:avLst/>
          </a:prstGeom>
          <a:noFill/>
        </p:spPr>
        <p:txBody>
          <a:bodyPr wrap="square" lIns="0" tIns="0" rIns="0" bIns="0" anchor="ctr">
            <a:spAutoFit/>
          </a:bodyPr>
          <a:lstStyle/>
          <a:p>
            <a:pPr algn="l"/>
            <a:r>
              <a:rPr sz="950" b="0">
                <a:solidFill>
                  <a:srgbClr val="44403C"/>
                </a:solidFill>
                <a:latin typeface="Consolas"/>
              </a:rPr>
              <a:t>A-103</a:t>
            </a:r>
          </a:p>
        </p:txBody>
      </p:sp>
      <p:sp>
        <p:nvSpPr>
          <p:cNvPr id="20" name="a1f_th19"/>
          <p:cNvSpPr/>
          <p:nvPr/>
        </p:nvSpPr>
        <p:spPr>
          <a:xfrm>
            <a:off x="1188720" y="1554480"/>
            <a:ext cx="1152144" cy="32918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f_tht20"/>
          <p:cNvSpPr txBox="1"/>
          <p:nvPr/>
        </p:nvSpPr>
        <p:spPr>
          <a:xfrm>
            <a:off x="1261872" y="1554480"/>
            <a:ext cx="1042416" cy="329184"/>
          </a:xfrm>
          <a:prstGeom prst="rect">
            <a:avLst/>
          </a:prstGeom>
          <a:noFill/>
        </p:spPr>
        <p:txBody>
          <a:bodyPr wrap="square" lIns="0" tIns="0" rIns="0" bIns="0" anchor="ctr">
            <a:spAutoFit/>
          </a:bodyPr>
          <a:lstStyle/>
          <a:p>
            <a:pPr algn="l"/>
            <a:r>
              <a:rPr sz="850" b="1">
                <a:solidFill>
                  <a:srgbClr val="FFFFFF"/>
                </a:solidFill>
                <a:latin typeface="Segoe UI"/>
              </a:rPr>
              <a:t>item</a:t>
            </a:r>
          </a:p>
        </p:txBody>
      </p:sp>
      <p:sp>
        <p:nvSpPr>
          <p:cNvPr id="22" name="a1wd120_td21"/>
          <p:cNvSpPr/>
          <p:nvPr/>
        </p:nvSpPr>
        <p:spPr>
          <a:xfrm>
            <a:off x="1188720" y="1883664"/>
            <a:ext cx="1152144"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wd120_tdt22"/>
          <p:cNvSpPr txBox="1"/>
          <p:nvPr/>
        </p:nvSpPr>
        <p:spPr>
          <a:xfrm>
            <a:off x="1261872" y="1883664"/>
            <a:ext cx="1042416" cy="329184"/>
          </a:xfrm>
          <a:prstGeom prst="rect">
            <a:avLst/>
          </a:prstGeom>
          <a:noFill/>
        </p:spPr>
        <p:txBody>
          <a:bodyPr wrap="square" lIns="0" tIns="0" rIns="0" bIns="0" anchor="ctr">
            <a:spAutoFit/>
          </a:bodyPr>
          <a:lstStyle/>
          <a:p>
            <a:pPr algn="l"/>
            <a:r>
              <a:rPr sz="850" b="0">
                <a:solidFill>
                  <a:srgbClr val="44403C"/>
                </a:solidFill>
                <a:latin typeface="Segoe UI"/>
              </a:rPr>
              <a:t>Headphones</a:t>
            </a:r>
          </a:p>
        </p:txBody>
      </p:sp>
      <p:sp>
        <p:nvSpPr>
          <p:cNvPr id="24" name="a1wd240_td23"/>
          <p:cNvSpPr/>
          <p:nvPr/>
        </p:nvSpPr>
        <p:spPr>
          <a:xfrm>
            <a:off x="1188720" y="2212848"/>
            <a:ext cx="1152144" cy="329184"/>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1wd240_tdt24"/>
          <p:cNvSpPr txBox="1"/>
          <p:nvPr/>
        </p:nvSpPr>
        <p:spPr>
          <a:xfrm>
            <a:off x="1261872" y="2212848"/>
            <a:ext cx="1042416" cy="329184"/>
          </a:xfrm>
          <a:prstGeom prst="rect">
            <a:avLst/>
          </a:prstGeom>
          <a:noFill/>
        </p:spPr>
        <p:txBody>
          <a:bodyPr wrap="square" lIns="0" tIns="0" rIns="0" bIns="0" anchor="ctr">
            <a:spAutoFit/>
          </a:bodyPr>
          <a:lstStyle/>
          <a:p>
            <a:pPr algn="l"/>
            <a:r>
              <a:rPr sz="850" b="0">
                <a:solidFill>
                  <a:srgbClr val="44403C"/>
                </a:solidFill>
                <a:latin typeface="Segoe UI"/>
              </a:rPr>
              <a:t>Phone case</a:t>
            </a:r>
          </a:p>
        </p:txBody>
      </p:sp>
      <p:sp>
        <p:nvSpPr>
          <p:cNvPr id="26" name="a1wd360_td25"/>
          <p:cNvSpPr/>
          <p:nvPr/>
        </p:nvSpPr>
        <p:spPr>
          <a:xfrm>
            <a:off x="1188720" y="2542032"/>
            <a:ext cx="1152144"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wd360_tdt26"/>
          <p:cNvSpPr txBox="1"/>
          <p:nvPr/>
        </p:nvSpPr>
        <p:spPr>
          <a:xfrm>
            <a:off x="1261872" y="2542032"/>
            <a:ext cx="1042416" cy="329184"/>
          </a:xfrm>
          <a:prstGeom prst="rect">
            <a:avLst/>
          </a:prstGeom>
          <a:noFill/>
        </p:spPr>
        <p:txBody>
          <a:bodyPr wrap="square" lIns="0" tIns="0" rIns="0" bIns="0" anchor="ctr">
            <a:spAutoFit/>
          </a:bodyPr>
          <a:lstStyle/>
          <a:p>
            <a:pPr algn="l"/>
            <a:r>
              <a:rPr sz="850" b="0">
                <a:solidFill>
                  <a:srgbClr val="44403C"/>
                </a:solidFill>
                <a:latin typeface="Segoe UI"/>
              </a:rPr>
              <a:t>Charger</a:t>
            </a:r>
          </a:p>
        </p:txBody>
      </p:sp>
      <p:sp>
        <p:nvSpPr>
          <p:cNvPr id="28" name="a1f_th27"/>
          <p:cNvSpPr/>
          <p:nvPr/>
        </p:nvSpPr>
        <p:spPr>
          <a:xfrm>
            <a:off x="2340864" y="1554480"/>
            <a:ext cx="731520" cy="32918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1f_tht28"/>
          <p:cNvSpPr txBox="1"/>
          <p:nvPr/>
        </p:nvSpPr>
        <p:spPr>
          <a:xfrm>
            <a:off x="2414016" y="1554480"/>
            <a:ext cx="621792" cy="329184"/>
          </a:xfrm>
          <a:prstGeom prst="rect">
            <a:avLst/>
          </a:prstGeom>
          <a:noFill/>
        </p:spPr>
        <p:txBody>
          <a:bodyPr wrap="square" lIns="0" tIns="0" rIns="0" bIns="0" anchor="ctr">
            <a:spAutoFit/>
          </a:bodyPr>
          <a:lstStyle/>
          <a:p>
            <a:pPr algn="l"/>
            <a:r>
              <a:rPr sz="850" b="1">
                <a:solidFill>
                  <a:srgbClr val="FFFFFF"/>
                </a:solidFill>
                <a:latin typeface="Segoe UI"/>
              </a:rPr>
              <a:t>in stock</a:t>
            </a:r>
          </a:p>
        </p:txBody>
      </p:sp>
      <p:sp>
        <p:nvSpPr>
          <p:cNvPr id="30" name="a1wd120_td29"/>
          <p:cNvSpPr/>
          <p:nvPr/>
        </p:nvSpPr>
        <p:spPr>
          <a:xfrm>
            <a:off x="2340864" y="1883664"/>
            <a:ext cx="731520"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1wd120_tdt30"/>
          <p:cNvSpPr txBox="1"/>
          <p:nvPr/>
        </p:nvSpPr>
        <p:spPr>
          <a:xfrm>
            <a:off x="2414016" y="1883664"/>
            <a:ext cx="621792" cy="329184"/>
          </a:xfrm>
          <a:prstGeom prst="rect">
            <a:avLst/>
          </a:prstGeom>
          <a:noFill/>
        </p:spPr>
        <p:txBody>
          <a:bodyPr wrap="square" lIns="0" tIns="0" rIns="0" bIns="0" anchor="ctr">
            <a:spAutoFit/>
          </a:bodyPr>
          <a:lstStyle/>
          <a:p>
            <a:pPr algn="l"/>
            <a:r>
              <a:rPr sz="850" b="0">
                <a:solidFill>
                  <a:srgbClr val="44403C"/>
                </a:solidFill>
                <a:latin typeface="Segoe UI"/>
              </a:rPr>
              <a:t>42</a:t>
            </a:r>
          </a:p>
        </p:txBody>
      </p:sp>
      <p:sp>
        <p:nvSpPr>
          <p:cNvPr id="32" name="a1wd240_td31"/>
          <p:cNvSpPr/>
          <p:nvPr/>
        </p:nvSpPr>
        <p:spPr>
          <a:xfrm>
            <a:off x="2340864" y="2212848"/>
            <a:ext cx="731520" cy="329184"/>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1wd240_tdt32"/>
          <p:cNvSpPr txBox="1"/>
          <p:nvPr/>
        </p:nvSpPr>
        <p:spPr>
          <a:xfrm>
            <a:off x="2414016" y="2212848"/>
            <a:ext cx="621792" cy="329184"/>
          </a:xfrm>
          <a:prstGeom prst="rect">
            <a:avLst/>
          </a:prstGeom>
          <a:noFill/>
        </p:spPr>
        <p:txBody>
          <a:bodyPr wrap="square" lIns="0" tIns="0" rIns="0" bIns="0" anchor="ctr">
            <a:spAutoFit/>
          </a:bodyPr>
          <a:lstStyle/>
          <a:p>
            <a:pPr algn="l"/>
            <a:r>
              <a:rPr sz="850" b="0">
                <a:solidFill>
                  <a:srgbClr val="44403C"/>
                </a:solidFill>
                <a:latin typeface="Segoe UI"/>
              </a:rPr>
              <a:t>310</a:t>
            </a:r>
          </a:p>
        </p:txBody>
      </p:sp>
      <p:sp>
        <p:nvSpPr>
          <p:cNvPr id="34" name="a1wd360_td33"/>
          <p:cNvSpPr/>
          <p:nvPr/>
        </p:nvSpPr>
        <p:spPr>
          <a:xfrm>
            <a:off x="2340864" y="2542032"/>
            <a:ext cx="731520"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1wd360_tdt34"/>
          <p:cNvSpPr txBox="1"/>
          <p:nvPr/>
        </p:nvSpPr>
        <p:spPr>
          <a:xfrm>
            <a:off x="2414016" y="2542032"/>
            <a:ext cx="621792" cy="329184"/>
          </a:xfrm>
          <a:prstGeom prst="rect">
            <a:avLst/>
          </a:prstGeom>
          <a:noFill/>
        </p:spPr>
        <p:txBody>
          <a:bodyPr wrap="square" lIns="0" tIns="0" rIns="0" bIns="0" anchor="ctr">
            <a:spAutoFit/>
          </a:bodyPr>
          <a:lstStyle/>
          <a:p>
            <a:pPr algn="l"/>
            <a:r>
              <a:rPr sz="850" b="0">
                <a:solidFill>
                  <a:srgbClr val="44403C"/>
                </a:solidFill>
                <a:latin typeface="Segoe UI"/>
              </a:rPr>
              <a:t>7</a:t>
            </a:r>
          </a:p>
        </p:txBody>
      </p:sp>
      <p:sp>
        <p:nvSpPr>
          <p:cNvPr id="36" name="a2f_tl35"/>
          <p:cNvSpPr txBox="1"/>
          <p:nvPr/>
        </p:nvSpPr>
        <p:spPr>
          <a:xfrm>
            <a:off x="3264408" y="1280160"/>
            <a:ext cx="2615184" cy="219456"/>
          </a:xfrm>
          <a:prstGeom prst="rect">
            <a:avLst/>
          </a:prstGeom>
          <a:noFill/>
        </p:spPr>
        <p:txBody>
          <a:bodyPr wrap="square" lIns="0" tIns="0" rIns="0" bIns="0" anchor="ctr">
            <a:spAutoFit/>
          </a:bodyPr>
          <a:lstStyle/>
          <a:p>
            <a:pPr algn="l"/>
            <a:r>
              <a:rPr sz="1000" b="1">
                <a:solidFill>
                  <a:srgbClr val="C2410C"/>
                </a:solidFill>
                <a:latin typeface="Segoe UI"/>
              </a:rPr>
              <a:t>CONNECTED SMART CARS</a:t>
            </a:r>
          </a:p>
        </p:txBody>
      </p:sp>
      <p:sp>
        <p:nvSpPr>
          <p:cNvPr id="37" name="a2f_th36"/>
          <p:cNvSpPr/>
          <p:nvPr/>
        </p:nvSpPr>
        <p:spPr>
          <a:xfrm>
            <a:off x="3264408" y="1554480"/>
            <a:ext cx="731520" cy="32918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2f_tht37"/>
          <p:cNvSpPr txBox="1"/>
          <p:nvPr/>
        </p:nvSpPr>
        <p:spPr>
          <a:xfrm>
            <a:off x="3337560" y="1554480"/>
            <a:ext cx="621792" cy="329184"/>
          </a:xfrm>
          <a:prstGeom prst="rect">
            <a:avLst/>
          </a:prstGeom>
          <a:noFill/>
        </p:spPr>
        <p:txBody>
          <a:bodyPr wrap="square" lIns="0" tIns="0" rIns="0" bIns="0" anchor="ctr">
            <a:spAutoFit/>
          </a:bodyPr>
          <a:lstStyle/>
          <a:p>
            <a:pPr algn="l"/>
            <a:r>
              <a:rPr sz="950" b="1">
                <a:solidFill>
                  <a:srgbClr val="FFFFFF"/>
                </a:solidFill>
                <a:latin typeface="Consolas"/>
              </a:rPr>
              <a:t>vin</a:t>
            </a:r>
          </a:p>
        </p:txBody>
      </p:sp>
      <p:sp>
        <p:nvSpPr>
          <p:cNvPr id="39" name="a2wd120_td38"/>
          <p:cNvSpPr/>
          <p:nvPr/>
        </p:nvSpPr>
        <p:spPr>
          <a:xfrm>
            <a:off x="3264408" y="1883664"/>
            <a:ext cx="731520"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2wd120_tdt39"/>
          <p:cNvSpPr txBox="1"/>
          <p:nvPr/>
        </p:nvSpPr>
        <p:spPr>
          <a:xfrm>
            <a:off x="3337560" y="1883664"/>
            <a:ext cx="621792" cy="329184"/>
          </a:xfrm>
          <a:prstGeom prst="rect">
            <a:avLst/>
          </a:prstGeom>
          <a:noFill/>
        </p:spPr>
        <p:txBody>
          <a:bodyPr wrap="square" lIns="0" tIns="0" rIns="0" bIns="0" anchor="ctr">
            <a:spAutoFit/>
          </a:bodyPr>
          <a:lstStyle/>
          <a:p>
            <a:pPr algn="l"/>
            <a:r>
              <a:rPr sz="950" b="0">
                <a:solidFill>
                  <a:srgbClr val="44403C"/>
                </a:solidFill>
                <a:latin typeface="Consolas"/>
              </a:rPr>
              <a:t>KA01</a:t>
            </a:r>
          </a:p>
        </p:txBody>
      </p:sp>
      <p:sp>
        <p:nvSpPr>
          <p:cNvPr id="41" name="a2wd240_td40"/>
          <p:cNvSpPr/>
          <p:nvPr/>
        </p:nvSpPr>
        <p:spPr>
          <a:xfrm>
            <a:off x="3264408" y="2212848"/>
            <a:ext cx="731520" cy="329184"/>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2wd240_tdt41"/>
          <p:cNvSpPr txBox="1"/>
          <p:nvPr/>
        </p:nvSpPr>
        <p:spPr>
          <a:xfrm>
            <a:off x="3337560" y="2212848"/>
            <a:ext cx="621792" cy="329184"/>
          </a:xfrm>
          <a:prstGeom prst="rect">
            <a:avLst/>
          </a:prstGeom>
          <a:noFill/>
        </p:spPr>
        <p:txBody>
          <a:bodyPr wrap="square" lIns="0" tIns="0" rIns="0" bIns="0" anchor="ctr">
            <a:spAutoFit/>
          </a:bodyPr>
          <a:lstStyle/>
          <a:p>
            <a:pPr algn="l"/>
            <a:r>
              <a:rPr sz="950" b="0">
                <a:solidFill>
                  <a:srgbClr val="44403C"/>
                </a:solidFill>
                <a:latin typeface="Consolas"/>
              </a:rPr>
              <a:t>TN09</a:t>
            </a:r>
          </a:p>
        </p:txBody>
      </p:sp>
      <p:sp>
        <p:nvSpPr>
          <p:cNvPr id="43" name="a2wd360_td42"/>
          <p:cNvSpPr/>
          <p:nvPr/>
        </p:nvSpPr>
        <p:spPr>
          <a:xfrm>
            <a:off x="3264408" y="2542032"/>
            <a:ext cx="731520"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2wd360_tdt43"/>
          <p:cNvSpPr txBox="1"/>
          <p:nvPr/>
        </p:nvSpPr>
        <p:spPr>
          <a:xfrm>
            <a:off x="3337560" y="2542032"/>
            <a:ext cx="621792" cy="329184"/>
          </a:xfrm>
          <a:prstGeom prst="rect">
            <a:avLst/>
          </a:prstGeom>
          <a:noFill/>
        </p:spPr>
        <p:txBody>
          <a:bodyPr wrap="square" lIns="0" tIns="0" rIns="0" bIns="0" anchor="ctr">
            <a:spAutoFit/>
          </a:bodyPr>
          <a:lstStyle/>
          <a:p>
            <a:pPr algn="l"/>
            <a:r>
              <a:rPr sz="950" b="0">
                <a:solidFill>
                  <a:srgbClr val="44403C"/>
                </a:solidFill>
                <a:latin typeface="Consolas"/>
              </a:rPr>
              <a:t>MH12</a:t>
            </a:r>
          </a:p>
        </p:txBody>
      </p:sp>
      <p:sp>
        <p:nvSpPr>
          <p:cNvPr id="45" name="a2f_th44"/>
          <p:cNvSpPr/>
          <p:nvPr/>
        </p:nvSpPr>
        <p:spPr>
          <a:xfrm>
            <a:off x="3995928" y="1554480"/>
            <a:ext cx="1060704" cy="32918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2f_tht45"/>
          <p:cNvSpPr txBox="1"/>
          <p:nvPr/>
        </p:nvSpPr>
        <p:spPr>
          <a:xfrm>
            <a:off x="4069080" y="1554480"/>
            <a:ext cx="950976" cy="329184"/>
          </a:xfrm>
          <a:prstGeom prst="rect">
            <a:avLst/>
          </a:prstGeom>
          <a:noFill/>
        </p:spPr>
        <p:txBody>
          <a:bodyPr wrap="square" lIns="0" tIns="0" rIns="0" bIns="0" anchor="ctr">
            <a:spAutoFit/>
          </a:bodyPr>
          <a:lstStyle/>
          <a:p>
            <a:pPr algn="l"/>
            <a:r>
              <a:rPr sz="850" b="1">
                <a:solidFill>
                  <a:srgbClr val="FFFFFF"/>
                </a:solidFill>
                <a:latin typeface="Segoe UI"/>
              </a:rPr>
              <a:t>model</a:t>
            </a:r>
          </a:p>
        </p:txBody>
      </p:sp>
      <p:sp>
        <p:nvSpPr>
          <p:cNvPr id="47" name="a2wd120_td46"/>
          <p:cNvSpPr/>
          <p:nvPr/>
        </p:nvSpPr>
        <p:spPr>
          <a:xfrm>
            <a:off x="3995928" y="1883664"/>
            <a:ext cx="1060704"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2wd120_tdt47"/>
          <p:cNvSpPr txBox="1"/>
          <p:nvPr/>
        </p:nvSpPr>
        <p:spPr>
          <a:xfrm>
            <a:off x="4069080" y="1883664"/>
            <a:ext cx="950976" cy="329184"/>
          </a:xfrm>
          <a:prstGeom prst="rect">
            <a:avLst/>
          </a:prstGeom>
          <a:noFill/>
        </p:spPr>
        <p:txBody>
          <a:bodyPr wrap="square" lIns="0" tIns="0" rIns="0" bIns="0" anchor="ctr">
            <a:spAutoFit/>
          </a:bodyPr>
          <a:lstStyle/>
          <a:p>
            <a:pPr algn="l"/>
            <a:r>
              <a:rPr sz="850" b="0">
                <a:solidFill>
                  <a:srgbClr val="44403C"/>
                </a:solidFill>
                <a:latin typeface="Segoe UI"/>
              </a:rPr>
              <a:t>Sedan X</a:t>
            </a:r>
          </a:p>
        </p:txBody>
      </p:sp>
      <p:sp>
        <p:nvSpPr>
          <p:cNvPr id="49" name="a2wd240_td48"/>
          <p:cNvSpPr/>
          <p:nvPr/>
        </p:nvSpPr>
        <p:spPr>
          <a:xfrm>
            <a:off x="3995928" y="2212848"/>
            <a:ext cx="1060704" cy="329184"/>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a2wd240_tdt49"/>
          <p:cNvSpPr txBox="1"/>
          <p:nvPr/>
        </p:nvSpPr>
        <p:spPr>
          <a:xfrm>
            <a:off x="4069080" y="2212848"/>
            <a:ext cx="950976" cy="329184"/>
          </a:xfrm>
          <a:prstGeom prst="rect">
            <a:avLst/>
          </a:prstGeom>
          <a:noFill/>
        </p:spPr>
        <p:txBody>
          <a:bodyPr wrap="square" lIns="0" tIns="0" rIns="0" bIns="0" anchor="ctr">
            <a:spAutoFit/>
          </a:bodyPr>
          <a:lstStyle/>
          <a:p>
            <a:pPr algn="l"/>
            <a:r>
              <a:rPr sz="850" b="0">
                <a:solidFill>
                  <a:srgbClr val="44403C"/>
                </a:solidFill>
                <a:latin typeface="Segoe UI"/>
              </a:rPr>
              <a:t>SUV Z</a:t>
            </a:r>
          </a:p>
        </p:txBody>
      </p:sp>
      <p:sp>
        <p:nvSpPr>
          <p:cNvPr id="51" name="a2wd360_td50"/>
          <p:cNvSpPr/>
          <p:nvPr/>
        </p:nvSpPr>
        <p:spPr>
          <a:xfrm>
            <a:off x="3995928" y="2542032"/>
            <a:ext cx="1060704"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a2wd360_tdt51"/>
          <p:cNvSpPr txBox="1"/>
          <p:nvPr/>
        </p:nvSpPr>
        <p:spPr>
          <a:xfrm>
            <a:off x="4069080" y="2542032"/>
            <a:ext cx="950976" cy="329184"/>
          </a:xfrm>
          <a:prstGeom prst="rect">
            <a:avLst/>
          </a:prstGeom>
          <a:noFill/>
        </p:spPr>
        <p:txBody>
          <a:bodyPr wrap="square" lIns="0" tIns="0" rIns="0" bIns="0" anchor="ctr">
            <a:spAutoFit/>
          </a:bodyPr>
          <a:lstStyle/>
          <a:p>
            <a:pPr algn="l"/>
            <a:r>
              <a:rPr sz="850" b="0">
                <a:solidFill>
                  <a:srgbClr val="44403C"/>
                </a:solidFill>
                <a:latin typeface="Segoe UI"/>
              </a:rPr>
              <a:t>Hatch Y</a:t>
            </a:r>
          </a:p>
        </p:txBody>
      </p:sp>
      <p:sp>
        <p:nvSpPr>
          <p:cNvPr id="53" name="a2f_th52"/>
          <p:cNvSpPr/>
          <p:nvPr/>
        </p:nvSpPr>
        <p:spPr>
          <a:xfrm>
            <a:off x="5056632" y="1554480"/>
            <a:ext cx="822960" cy="32918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2f_tht53"/>
          <p:cNvSpPr txBox="1"/>
          <p:nvPr/>
        </p:nvSpPr>
        <p:spPr>
          <a:xfrm>
            <a:off x="5129784" y="1554480"/>
            <a:ext cx="713232" cy="329184"/>
          </a:xfrm>
          <a:prstGeom prst="rect">
            <a:avLst/>
          </a:prstGeom>
          <a:noFill/>
        </p:spPr>
        <p:txBody>
          <a:bodyPr wrap="square" lIns="0" tIns="0" rIns="0" bIns="0" anchor="ctr">
            <a:spAutoFit/>
          </a:bodyPr>
          <a:lstStyle/>
          <a:p>
            <a:pPr algn="l"/>
            <a:r>
              <a:rPr sz="850" b="1">
                <a:solidFill>
                  <a:srgbClr val="FFFFFF"/>
                </a:solidFill>
                <a:latin typeface="Segoe UI"/>
              </a:rPr>
              <a:t>status</a:t>
            </a:r>
          </a:p>
        </p:txBody>
      </p:sp>
      <p:sp>
        <p:nvSpPr>
          <p:cNvPr id="55" name="a2wd120_td54"/>
          <p:cNvSpPr/>
          <p:nvPr/>
        </p:nvSpPr>
        <p:spPr>
          <a:xfrm>
            <a:off x="5056632" y="1883664"/>
            <a:ext cx="822960"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a2wd120_tdt55"/>
          <p:cNvSpPr txBox="1"/>
          <p:nvPr/>
        </p:nvSpPr>
        <p:spPr>
          <a:xfrm>
            <a:off x="5129784" y="1883664"/>
            <a:ext cx="713232" cy="329184"/>
          </a:xfrm>
          <a:prstGeom prst="rect">
            <a:avLst/>
          </a:prstGeom>
          <a:noFill/>
        </p:spPr>
        <p:txBody>
          <a:bodyPr wrap="square" lIns="0" tIns="0" rIns="0" bIns="0" anchor="ctr">
            <a:spAutoFit/>
          </a:bodyPr>
          <a:lstStyle/>
          <a:p>
            <a:pPr algn="l"/>
            <a:r>
              <a:rPr sz="850" b="0">
                <a:solidFill>
                  <a:srgbClr val="44403C"/>
                </a:solidFill>
                <a:latin typeface="Segoe UI"/>
              </a:rPr>
              <a:t>parked</a:t>
            </a:r>
          </a:p>
        </p:txBody>
      </p:sp>
      <p:sp>
        <p:nvSpPr>
          <p:cNvPr id="57" name="a2wd240_td56"/>
          <p:cNvSpPr/>
          <p:nvPr/>
        </p:nvSpPr>
        <p:spPr>
          <a:xfrm>
            <a:off x="5056632" y="2212848"/>
            <a:ext cx="822960" cy="329184"/>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a2wd240_tdt57"/>
          <p:cNvSpPr txBox="1"/>
          <p:nvPr/>
        </p:nvSpPr>
        <p:spPr>
          <a:xfrm>
            <a:off x="5129784" y="2212848"/>
            <a:ext cx="713232" cy="329184"/>
          </a:xfrm>
          <a:prstGeom prst="rect">
            <a:avLst/>
          </a:prstGeom>
          <a:noFill/>
        </p:spPr>
        <p:txBody>
          <a:bodyPr wrap="square" lIns="0" tIns="0" rIns="0" bIns="0" anchor="ctr">
            <a:spAutoFit/>
          </a:bodyPr>
          <a:lstStyle/>
          <a:p>
            <a:pPr algn="l"/>
            <a:r>
              <a:rPr sz="850" b="0">
                <a:solidFill>
                  <a:srgbClr val="44403C"/>
                </a:solidFill>
                <a:latin typeface="Segoe UI"/>
              </a:rPr>
              <a:t>driving</a:t>
            </a:r>
          </a:p>
        </p:txBody>
      </p:sp>
      <p:sp>
        <p:nvSpPr>
          <p:cNvPr id="59" name="a2wd360_td58"/>
          <p:cNvSpPr/>
          <p:nvPr/>
        </p:nvSpPr>
        <p:spPr>
          <a:xfrm>
            <a:off x="5056632" y="2542032"/>
            <a:ext cx="822960"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a2wd360_tdt59"/>
          <p:cNvSpPr txBox="1"/>
          <p:nvPr/>
        </p:nvSpPr>
        <p:spPr>
          <a:xfrm>
            <a:off x="5129784" y="2542032"/>
            <a:ext cx="713232" cy="329184"/>
          </a:xfrm>
          <a:prstGeom prst="rect">
            <a:avLst/>
          </a:prstGeom>
          <a:noFill/>
        </p:spPr>
        <p:txBody>
          <a:bodyPr wrap="square" lIns="0" tIns="0" rIns="0" bIns="0" anchor="ctr">
            <a:spAutoFit/>
          </a:bodyPr>
          <a:lstStyle/>
          <a:p>
            <a:pPr algn="l"/>
            <a:r>
              <a:rPr sz="850" b="0">
                <a:solidFill>
                  <a:srgbClr val="44403C"/>
                </a:solidFill>
                <a:latin typeface="Segoe UI"/>
              </a:rPr>
              <a:t>charging</a:t>
            </a:r>
          </a:p>
        </p:txBody>
      </p:sp>
      <p:sp>
        <p:nvSpPr>
          <p:cNvPr id="61" name="a3f_tl60"/>
          <p:cNvSpPr txBox="1"/>
          <p:nvPr/>
        </p:nvSpPr>
        <p:spPr>
          <a:xfrm>
            <a:off x="6071616" y="1280160"/>
            <a:ext cx="2615184" cy="219456"/>
          </a:xfrm>
          <a:prstGeom prst="rect">
            <a:avLst/>
          </a:prstGeom>
          <a:noFill/>
        </p:spPr>
        <p:txBody>
          <a:bodyPr wrap="square" lIns="0" tIns="0" rIns="0" bIns="0" anchor="ctr">
            <a:spAutoFit/>
          </a:bodyPr>
          <a:lstStyle/>
          <a:p>
            <a:pPr algn="l"/>
            <a:r>
              <a:rPr sz="1000" b="1">
                <a:solidFill>
                  <a:srgbClr val="C2410C"/>
                </a:solidFill>
                <a:latin typeface="Segoe UI"/>
              </a:rPr>
              <a:t>USERS WHO SIGNED UP</a:t>
            </a:r>
          </a:p>
        </p:txBody>
      </p:sp>
      <p:sp>
        <p:nvSpPr>
          <p:cNvPr id="62" name="a3f_th61"/>
          <p:cNvSpPr/>
          <p:nvPr/>
        </p:nvSpPr>
        <p:spPr>
          <a:xfrm>
            <a:off x="6071616" y="1554480"/>
            <a:ext cx="548640" cy="32918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a3f_tht62"/>
          <p:cNvSpPr txBox="1"/>
          <p:nvPr/>
        </p:nvSpPr>
        <p:spPr>
          <a:xfrm>
            <a:off x="6144768" y="1554480"/>
            <a:ext cx="438912" cy="329184"/>
          </a:xfrm>
          <a:prstGeom prst="rect">
            <a:avLst/>
          </a:prstGeom>
          <a:noFill/>
        </p:spPr>
        <p:txBody>
          <a:bodyPr wrap="square" lIns="0" tIns="0" rIns="0" bIns="0" anchor="ctr">
            <a:spAutoFit/>
          </a:bodyPr>
          <a:lstStyle/>
          <a:p>
            <a:pPr algn="l"/>
            <a:r>
              <a:rPr sz="950" b="1">
                <a:solidFill>
                  <a:srgbClr val="FFFFFF"/>
                </a:solidFill>
                <a:latin typeface="Consolas"/>
              </a:rPr>
              <a:t>id</a:t>
            </a:r>
          </a:p>
        </p:txBody>
      </p:sp>
      <p:sp>
        <p:nvSpPr>
          <p:cNvPr id="64" name="a3wd120_td63"/>
          <p:cNvSpPr/>
          <p:nvPr/>
        </p:nvSpPr>
        <p:spPr>
          <a:xfrm>
            <a:off x="6071616" y="1883664"/>
            <a:ext cx="548640"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a3wd120_tdt64"/>
          <p:cNvSpPr txBox="1"/>
          <p:nvPr/>
        </p:nvSpPr>
        <p:spPr>
          <a:xfrm>
            <a:off x="6144768" y="1883664"/>
            <a:ext cx="438912" cy="329184"/>
          </a:xfrm>
          <a:prstGeom prst="rect">
            <a:avLst/>
          </a:prstGeom>
          <a:noFill/>
        </p:spPr>
        <p:txBody>
          <a:bodyPr wrap="square" lIns="0" tIns="0" rIns="0" bIns="0" anchor="ctr">
            <a:spAutoFit/>
          </a:bodyPr>
          <a:lstStyle/>
          <a:p>
            <a:pPr algn="l"/>
            <a:r>
              <a:rPr sz="950" b="0">
                <a:solidFill>
                  <a:srgbClr val="44403C"/>
                </a:solidFill>
                <a:latin typeface="Consolas"/>
              </a:rPr>
              <a:t>101</a:t>
            </a:r>
          </a:p>
        </p:txBody>
      </p:sp>
      <p:sp>
        <p:nvSpPr>
          <p:cNvPr id="66" name="a3wd240_td65"/>
          <p:cNvSpPr/>
          <p:nvPr/>
        </p:nvSpPr>
        <p:spPr>
          <a:xfrm>
            <a:off x="6071616" y="2212848"/>
            <a:ext cx="548640" cy="329184"/>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a3wd240_tdt66"/>
          <p:cNvSpPr txBox="1"/>
          <p:nvPr/>
        </p:nvSpPr>
        <p:spPr>
          <a:xfrm>
            <a:off x="6144768" y="2212848"/>
            <a:ext cx="438912" cy="329184"/>
          </a:xfrm>
          <a:prstGeom prst="rect">
            <a:avLst/>
          </a:prstGeom>
          <a:noFill/>
        </p:spPr>
        <p:txBody>
          <a:bodyPr wrap="square" lIns="0" tIns="0" rIns="0" bIns="0" anchor="ctr">
            <a:spAutoFit/>
          </a:bodyPr>
          <a:lstStyle/>
          <a:p>
            <a:pPr algn="l"/>
            <a:r>
              <a:rPr sz="950" b="0">
                <a:solidFill>
                  <a:srgbClr val="44403C"/>
                </a:solidFill>
                <a:latin typeface="Consolas"/>
              </a:rPr>
              <a:t>102</a:t>
            </a:r>
          </a:p>
        </p:txBody>
      </p:sp>
      <p:sp>
        <p:nvSpPr>
          <p:cNvPr id="68" name="a3wd360_td67"/>
          <p:cNvSpPr/>
          <p:nvPr/>
        </p:nvSpPr>
        <p:spPr>
          <a:xfrm>
            <a:off x="6071616" y="2542032"/>
            <a:ext cx="548640"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a3wd360_tdt68"/>
          <p:cNvSpPr txBox="1"/>
          <p:nvPr/>
        </p:nvSpPr>
        <p:spPr>
          <a:xfrm>
            <a:off x="6144768" y="2542032"/>
            <a:ext cx="438912" cy="329184"/>
          </a:xfrm>
          <a:prstGeom prst="rect">
            <a:avLst/>
          </a:prstGeom>
          <a:noFill/>
        </p:spPr>
        <p:txBody>
          <a:bodyPr wrap="square" lIns="0" tIns="0" rIns="0" bIns="0" anchor="ctr">
            <a:spAutoFit/>
          </a:bodyPr>
          <a:lstStyle/>
          <a:p>
            <a:pPr algn="l"/>
            <a:r>
              <a:rPr sz="950" b="0">
                <a:solidFill>
                  <a:srgbClr val="44403C"/>
                </a:solidFill>
                <a:latin typeface="Consolas"/>
              </a:rPr>
              <a:t>103</a:t>
            </a:r>
          </a:p>
        </p:txBody>
      </p:sp>
      <p:sp>
        <p:nvSpPr>
          <p:cNvPr id="70" name="a3f_th69"/>
          <p:cNvSpPr/>
          <p:nvPr/>
        </p:nvSpPr>
        <p:spPr>
          <a:xfrm>
            <a:off x="6620255" y="1554480"/>
            <a:ext cx="1060704" cy="32918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a3f_tht70"/>
          <p:cNvSpPr txBox="1"/>
          <p:nvPr/>
        </p:nvSpPr>
        <p:spPr>
          <a:xfrm>
            <a:off x="6693407" y="1554480"/>
            <a:ext cx="950976" cy="329184"/>
          </a:xfrm>
          <a:prstGeom prst="rect">
            <a:avLst/>
          </a:prstGeom>
          <a:noFill/>
        </p:spPr>
        <p:txBody>
          <a:bodyPr wrap="square" lIns="0" tIns="0" rIns="0" bIns="0" anchor="ctr">
            <a:spAutoFit/>
          </a:bodyPr>
          <a:lstStyle/>
          <a:p>
            <a:pPr algn="l"/>
            <a:r>
              <a:rPr sz="850" b="1">
                <a:solidFill>
                  <a:srgbClr val="FFFFFF"/>
                </a:solidFill>
                <a:latin typeface="Segoe UI"/>
              </a:rPr>
              <a:t>name</a:t>
            </a:r>
          </a:p>
        </p:txBody>
      </p:sp>
      <p:sp>
        <p:nvSpPr>
          <p:cNvPr id="72" name="a3wd120_td71"/>
          <p:cNvSpPr/>
          <p:nvPr/>
        </p:nvSpPr>
        <p:spPr>
          <a:xfrm>
            <a:off x="6620255" y="1883664"/>
            <a:ext cx="1060704"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a3wd120_tdt72"/>
          <p:cNvSpPr txBox="1"/>
          <p:nvPr/>
        </p:nvSpPr>
        <p:spPr>
          <a:xfrm>
            <a:off x="6693407" y="1883664"/>
            <a:ext cx="950976" cy="329184"/>
          </a:xfrm>
          <a:prstGeom prst="rect">
            <a:avLst/>
          </a:prstGeom>
          <a:noFill/>
        </p:spPr>
        <p:txBody>
          <a:bodyPr wrap="square" lIns="0" tIns="0" rIns="0" bIns="0" anchor="ctr">
            <a:spAutoFit/>
          </a:bodyPr>
          <a:lstStyle/>
          <a:p>
            <a:pPr algn="l"/>
            <a:r>
              <a:rPr sz="850" b="0">
                <a:solidFill>
                  <a:srgbClr val="44403C"/>
                </a:solidFill>
                <a:latin typeface="Segoe UI"/>
              </a:rPr>
              <a:t>Priya</a:t>
            </a:r>
          </a:p>
        </p:txBody>
      </p:sp>
      <p:sp>
        <p:nvSpPr>
          <p:cNvPr id="74" name="a3wd240_td73"/>
          <p:cNvSpPr/>
          <p:nvPr/>
        </p:nvSpPr>
        <p:spPr>
          <a:xfrm>
            <a:off x="6620255" y="2212848"/>
            <a:ext cx="1060704" cy="329184"/>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a3wd240_tdt74"/>
          <p:cNvSpPr txBox="1"/>
          <p:nvPr/>
        </p:nvSpPr>
        <p:spPr>
          <a:xfrm>
            <a:off x="6693407" y="2212848"/>
            <a:ext cx="950976" cy="329184"/>
          </a:xfrm>
          <a:prstGeom prst="rect">
            <a:avLst/>
          </a:prstGeom>
          <a:noFill/>
        </p:spPr>
        <p:txBody>
          <a:bodyPr wrap="square" lIns="0" tIns="0" rIns="0" bIns="0" anchor="ctr">
            <a:spAutoFit/>
          </a:bodyPr>
          <a:lstStyle/>
          <a:p>
            <a:pPr algn="l"/>
            <a:r>
              <a:rPr sz="850" b="0">
                <a:solidFill>
                  <a:srgbClr val="44403C"/>
                </a:solidFill>
                <a:latin typeface="Segoe UI"/>
              </a:rPr>
              <a:t>Arjun</a:t>
            </a:r>
          </a:p>
        </p:txBody>
      </p:sp>
      <p:sp>
        <p:nvSpPr>
          <p:cNvPr id="76" name="a3wd360_td75"/>
          <p:cNvSpPr/>
          <p:nvPr/>
        </p:nvSpPr>
        <p:spPr>
          <a:xfrm>
            <a:off x="6620255" y="2542032"/>
            <a:ext cx="1060704"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a3wd360_tdt76"/>
          <p:cNvSpPr txBox="1"/>
          <p:nvPr/>
        </p:nvSpPr>
        <p:spPr>
          <a:xfrm>
            <a:off x="6693407" y="2542032"/>
            <a:ext cx="950976" cy="329184"/>
          </a:xfrm>
          <a:prstGeom prst="rect">
            <a:avLst/>
          </a:prstGeom>
          <a:noFill/>
        </p:spPr>
        <p:txBody>
          <a:bodyPr wrap="square" lIns="0" tIns="0" rIns="0" bIns="0" anchor="ctr">
            <a:spAutoFit/>
          </a:bodyPr>
          <a:lstStyle/>
          <a:p>
            <a:pPr algn="l"/>
            <a:r>
              <a:rPr sz="850" b="0">
                <a:solidFill>
                  <a:srgbClr val="44403C"/>
                </a:solidFill>
                <a:latin typeface="Segoe UI"/>
              </a:rPr>
              <a:t>Meera</a:t>
            </a:r>
          </a:p>
        </p:txBody>
      </p:sp>
      <p:sp>
        <p:nvSpPr>
          <p:cNvPr id="78" name="a3f_th77"/>
          <p:cNvSpPr/>
          <p:nvPr/>
        </p:nvSpPr>
        <p:spPr>
          <a:xfrm>
            <a:off x="7680959" y="1554480"/>
            <a:ext cx="1005840" cy="32918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a3f_tht78"/>
          <p:cNvSpPr txBox="1"/>
          <p:nvPr/>
        </p:nvSpPr>
        <p:spPr>
          <a:xfrm>
            <a:off x="7754111" y="1554480"/>
            <a:ext cx="896112" cy="329184"/>
          </a:xfrm>
          <a:prstGeom prst="rect">
            <a:avLst/>
          </a:prstGeom>
          <a:noFill/>
        </p:spPr>
        <p:txBody>
          <a:bodyPr wrap="square" lIns="0" tIns="0" rIns="0" bIns="0" anchor="ctr">
            <a:spAutoFit/>
          </a:bodyPr>
          <a:lstStyle/>
          <a:p>
            <a:pPr algn="l"/>
            <a:r>
              <a:rPr sz="850" b="1">
                <a:solidFill>
                  <a:srgbClr val="FFFFFF"/>
                </a:solidFill>
                <a:latin typeface="Segoe UI"/>
              </a:rPr>
              <a:t>signed up</a:t>
            </a:r>
          </a:p>
        </p:txBody>
      </p:sp>
      <p:sp>
        <p:nvSpPr>
          <p:cNvPr id="80" name="a3wd120_td79"/>
          <p:cNvSpPr/>
          <p:nvPr/>
        </p:nvSpPr>
        <p:spPr>
          <a:xfrm>
            <a:off x="7680959" y="1883664"/>
            <a:ext cx="1005840"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a3wd120_tdt80"/>
          <p:cNvSpPr txBox="1"/>
          <p:nvPr/>
        </p:nvSpPr>
        <p:spPr>
          <a:xfrm>
            <a:off x="7754111" y="1883664"/>
            <a:ext cx="896112" cy="329184"/>
          </a:xfrm>
          <a:prstGeom prst="rect">
            <a:avLst/>
          </a:prstGeom>
          <a:noFill/>
        </p:spPr>
        <p:txBody>
          <a:bodyPr wrap="square" lIns="0" tIns="0" rIns="0" bIns="0" anchor="ctr">
            <a:spAutoFit/>
          </a:bodyPr>
          <a:lstStyle/>
          <a:p>
            <a:pPr algn="l"/>
            <a:r>
              <a:rPr sz="850" b="0">
                <a:solidFill>
                  <a:srgbClr val="44403C"/>
                </a:solidFill>
                <a:latin typeface="Segoe UI"/>
              </a:rPr>
              <a:t>2024-01-10</a:t>
            </a:r>
          </a:p>
        </p:txBody>
      </p:sp>
      <p:sp>
        <p:nvSpPr>
          <p:cNvPr id="82" name="a3wd240_td81"/>
          <p:cNvSpPr/>
          <p:nvPr/>
        </p:nvSpPr>
        <p:spPr>
          <a:xfrm>
            <a:off x="7680959" y="2212848"/>
            <a:ext cx="1005840" cy="329184"/>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a3wd240_tdt82"/>
          <p:cNvSpPr txBox="1"/>
          <p:nvPr/>
        </p:nvSpPr>
        <p:spPr>
          <a:xfrm>
            <a:off x="7754111" y="2212848"/>
            <a:ext cx="896112" cy="329184"/>
          </a:xfrm>
          <a:prstGeom prst="rect">
            <a:avLst/>
          </a:prstGeom>
          <a:noFill/>
        </p:spPr>
        <p:txBody>
          <a:bodyPr wrap="square" lIns="0" tIns="0" rIns="0" bIns="0" anchor="ctr">
            <a:spAutoFit/>
          </a:bodyPr>
          <a:lstStyle/>
          <a:p>
            <a:pPr algn="l"/>
            <a:r>
              <a:rPr sz="850" b="0">
                <a:solidFill>
                  <a:srgbClr val="44403C"/>
                </a:solidFill>
                <a:latin typeface="Segoe UI"/>
              </a:rPr>
              <a:t>2024-03-22</a:t>
            </a:r>
          </a:p>
        </p:txBody>
      </p:sp>
      <p:sp>
        <p:nvSpPr>
          <p:cNvPr id="84" name="a3wd360_td83"/>
          <p:cNvSpPr/>
          <p:nvPr/>
        </p:nvSpPr>
        <p:spPr>
          <a:xfrm>
            <a:off x="7680959" y="2542032"/>
            <a:ext cx="1005840"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a3wd360_tdt84"/>
          <p:cNvSpPr txBox="1"/>
          <p:nvPr/>
        </p:nvSpPr>
        <p:spPr>
          <a:xfrm>
            <a:off x="7754111" y="2542032"/>
            <a:ext cx="896112" cy="329184"/>
          </a:xfrm>
          <a:prstGeom prst="rect">
            <a:avLst/>
          </a:prstGeom>
          <a:noFill/>
        </p:spPr>
        <p:txBody>
          <a:bodyPr wrap="square" lIns="0" tIns="0" rIns="0" bIns="0" anchor="ctr">
            <a:spAutoFit/>
          </a:bodyPr>
          <a:lstStyle/>
          <a:p>
            <a:pPr algn="l"/>
            <a:r>
              <a:rPr sz="850" b="0">
                <a:solidFill>
                  <a:srgbClr val="44403C"/>
                </a:solidFill>
                <a:latin typeface="Segoe UI"/>
              </a:rPr>
              <a:t>2025-06-05</a:t>
            </a:r>
          </a:p>
        </p:txBody>
      </p:sp>
      <p:sp>
        <p:nvSpPr>
          <p:cNvPr id="86" name="a4u_nb85"/>
          <p:cNvSpPr/>
          <p:nvPr/>
        </p:nvSpPr>
        <p:spPr>
          <a:xfrm>
            <a:off x="457200" y="3154680"/>
            <a:ext cx="8229600" cy="731520"/>
          </a:xfrm>
          <a:prstGeom prst="roundRect">
            <a:avLst>
              <a:gd name="adj" fmla="val 10000"/>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a4u_nacc86"/>
          <p:cNvSpPr/>
          <p:nvPr/>
        </p:nvSpPr>
        <p:spPr>
          <a:xfrm>
            <a:off x="457200" y="3154680"/>
            <a:ext cx="54864" cy="7315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a4u_nt87"/>
          <p:cNvSpPr txBox="1"/>
          <p:nvPr/>
        </p:nvSpPr>
        <p:spPr>
          <a:xfrm>
            <a:off x="658368" y="3154680"/>
            <a:ext cx="7827264" cy="731520"/>
          </a:xfrm>
          <a:prstGeom prst="rect">
            <a:avLst/>
          </a:prstGeom>
          <a:noFill/>
        </p:spPr>
        <p:txBody>
          <a:bodyPr wrap="square" lIns="0" tIns="0" rIns="0" bIns="0" anchor="ctr">
            <a:spAutoFit/>
          </a:bodyPr>
          <a:lstStyle/>
          <a:p>
            <a:pPr algn="l"/>
            <a:r>
              <a:rPr sz="1000" b="1">
                <a:solidFill>
                  <a:srgbClr val="A16207"/>
                </a:solidFill>
                <a:latin typeface="Segoe UI"/>
              </a:rPr>
              <a:t>i  </a:t>
            </a:r>
            <a:r>
              <a:rPr sz="1000" b="0">
                <a:solidFill>
                  <a:srgbClr val="44403C"/>
                </a:solidFill>
                <a:latin typeface="Segoe UI"/>
              </a:rPr>
              <a:t>Each row is a picture of one thing as it is right now - the items, cars and users our software deals with.</a:t>
            </a:r>
          </a:p>
        </p:txBody>
      </p:sp>
      <p:sp>
        <p:nvSpPr>
          <p:cNvPr id="89" name="ft88"/>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03</a:t>
            </a:r>
          </a:p>
        </p:txBody>
      </p:sp>
      <p:sp>
        <p:nvSpPr>
          <p:cNvPr id="90" name="ft89"/>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ft90"/>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Introduction</a:t>
            </a:r>
          </a:p>
        </p:txBody>
      </p:sp>
      <p:sp>
        <p:nvSpPr>
          <p:cNvPr id="92" name="ft91"/>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500"/>
                                        <p:tgtEl>
                                          <p:spTgt spid="29"/>
                                        </p:tgtEl>
                                      </p:cBhvr>
                                    </p:animEffect>
                                  </p:childTnLst>
                                </p:cTn>
                              </p:par>
                              <p:par>
                                <p:cTn id="28" presetID="22" presetClass="entr" presetSubtype="8" fill="hold" grpId="0" nodeType="withEffect">
                                  <p:stCondLst>
                                    <p:cond delay="12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par>
                                <p:cTn id="31" presetID="22" presetClass="entr" presetSubtype="8" fill="hold" grpId="0" nodeType="withEffect">
                                  <p:stCondLst>
                                    <p:cond delay="120"/>
                                  </p:stCondLst>
                                  <p:childTnLst>
                                    <p:set>
                                      <p:cBhvr>
                                        <p:cTn id="29" dur="1" fill="hold">
                                          <p:stCondLst>
                                            <p:cond delay="0"/>
                                          </p:stCondLst>
                                        </p:cTn>
                                        <p:tgtEl>
                                          <p:spTgt spid="15"/>
                                        </p:tgtEl>
                                        <p:attrNameLst>
                                          <p:attrName>style.visibility</p:attrName>
                                        </p:attrNameLst>
                                      </p:cBhvr>
                                      <p:to>
                                        <p:strVal val="visible"/>
                                      </p:to>
                                    </p:set>
                                    <p:animEffect transition="in" filter="wipe(left)">
                                      <p:cBhvr>
                                        <p:cTn id="30" dur="500"/>
                                        <p:tgtEl>
                                          <p:spTgt spid="15"/>
                                        </p:tgtEl>
                                      </p:cBhvr>
                                    </p:animEffect>
                                  </p:childTnLst>
                                </p:cTn>
                              </p:par>
                              <p:par>
                                <p:cTn id="34" presetID="22" presetClass="entr" presetSubtype="8" fill="hold" grpId="0" nodeType="withEffect">
                                  <p:stCondLst>
                                    <p:cond delay="120"/>
                                  </p:stCondLst>
                                  <p:childTnLst>
                                    <p:set>
                                      <p:cBhvr>
                                        <p:cTn id="32" dur="1" fill="hold">
                                          <p:stCondLst>
                                            <p:cond delay="0"/>
                                          </p:stCondLst>
                                        </p:cTn>
                                        <p:tgtEl>
                                          <p:spTgt spid="22"/>
                                        </p:tgtEl>
                                        <p:attrNameLst>
                                          <p:attrName>style.visibility</p:attrName>
                                        </p:attrNameLst>
                                      </p:cBhvr>
                                      <p:to>
                                        <p:strVal val="visible"/>
                                      </p:to>
                                    </p:set>
                                    <p:animEffect transition="in" filter="wipe(left)">
                                      <p:cBhvr>
                                        <p:cTn id="33" dur="500"/>
                                        <p:tgtEl>
                                          <p:spTgt spid="22"/>
                                        </p:tgtEl>
                                      </p:cBhvr>
                                    </p:animEffect>
                                  </p:childTnLst>
                                </p:cTn>
                              </p:par>
                              <p:par>
                                <p:cTn id="37" presetID="22" presetClass="entr" presetSubtype="8" fill="hold" grpId="0" nodeType="withEffect">
                                  <p:stCondLst>
                                    <p:cond delay="120"/>
                                  </p:stCondLst>
                                  <p:childTnLst>
                                    <p:set>
                                      <p:cBhvr>
                                        <p:cTn id="35" dur="1" fill="hold">
                                          <p:stCondLst>
                                            <p:cond delay="0"/>
                                          </p:stCondLst>
                                        </p:cTn>
                                        <p:tgtEl>
                                          <p:spTgt spid="23"/>
                                        </p:tgtEl>
                                        <p:attrNameLst>
                                          <p:attrName>style.visibility</p:attrName>
                                        </p:attrNameLst>
                                      </p:cBhvr>
                                      <p:to>
                                        <p:strVal val="visible"/>
                                      </p:to>
                                    </p:set>
                                    <p:animEffect transition="in" filter="wipe(left)">
                                      <p:cBhvr>
                                        <p:cTn id="36" dur="500"/>
                                        <p:tgtEl>
                                          <p:spTgt spid="23"/>
                                        </p:tgtEl>
                                      </p:cBhvr>
                                    </p:animEffect>
                                  </p:childTnLst>
                                </p:cTn>
                              </p:par>
                              <p:par>
                                <p:cTn id="40" presetID="22" presetClass="entr" presetSubtype="8" fill="hold" grpId="0" nodeType="withEffect">
                                  <p:stCondLst>
                                    <p:cond delay="120"/>
                                  </p:stCondLst>
                                  <p:childTnLst>
                                    <p:set>
                                      <p:cBhvr>
                                        <p:cTn id="38" dur="1" fill="hold">
                                          <p:stCondLst>
                                            <p:cond delay="0"/>
                                          </p:stCondLst>
                                        </p:cTn>
                                        <p:tgtEl>
                                          <p:spTgt spid="30"/>
                                        </p:tgtEl>
                                        <p:attrNameLst>
                                          <p:attrName>style.visibility</p:attrName>
                                        </p:attrNameLst>
                                      </p:cBhvr>
                                      <p:to>
                                        <p:strVal val="visible"/>
                                      </p:to>
                                    </p:set>
                                    <p:animEffect transition="in" filter="wipe(left)">
                                      <p:cBhvr>
                                        <p:cTn id="39" dur="500"/>
                                        <p:tgtEl>
                                          <p:spTgt spid="30"/>
                                        </p:tgtEl>
                                      </p:cBhvr>
                                    </p:animEffect>
                                  </p:childTnLst>
                                </p:cTn>
                              </p:par>
                              <p:par>
                                <p:cTn id="43" presetID="22" presetClass="entr" presetSubtype="8" fill="hold" grpId="0" nodeType="withEffect">
                                  <p:stCondLst>
                                    <p:cond delay="120"/>
                                  </p:stCondLst>
                                  <p:childTnLst>
                                    <p:set>
                                      <p:cBhvr>
                                        <p:cTn id="41" dur="1" fill="hold">
                                          <p:stCondLst>
                                            <p:cond delay="0"/>
                                          </p:stCondLst>
                                        </p:cTn>
                                        <p:tgtEl>
                                          <p:spTgt spid="31"/>
                                        </p:tgtEl>
                                        <p:attrNameLst>
                                          <p:attrName>style.visibility</p:attrName>
                                        </p:attrNameLst>
                                      </p:cBhvr>
                                      <p:to>
                                        <p:strVal val="visible"/>
                                      </p:to>
                                    </p:set>
                                    <p:animEffect transition="in" filter="wipe(left)">
                                      <p:cBhvr>
                                        <p:cTn id="42" dur="500"/>
                                        <p:tgtEl>
                                          <p:spTgt spid="31"/>
                                        </p:tgtEl>
                                      </p:cBhvr>
                                    </p:animEffect>
                                  </p:childTnLst>
                                </p:cTn>
                              </p:par>
                              <p:par>
                                <p:cTn id="46" presetID="22" presetClass="entr" presetSubtype="8" fill="hold" grpId="0" nodeType="withEffect">
                                  <p:stCondLst>
                                    <p:cond delay="240"/>
                                  </p:stCondLst>
                                  <p:childTnLst>
                                    <p:set>
                                      <p:cBhvr>
                                        <p:cTn id="44" dur="1" fill="hold">
                                          <p:stCondLst>
                                            <p:cond delay="0"/>
                                          </p:stCondLst>
                                        </p:cTn>
                                        <p:tgtEl>
                                          <p:spTgt spid="16"/>
                                        </p:tgtEl>
                                        <p:attrNameLst>
                                          <p:attrName>style.visibility</p:attrName>
                                        </p:attrNameLst>
                                      </p:cBhvr>
                                      <p:to>
                                        <p:strVal val="visible"/>
                                      </p:to>
                                    </p:set>
                                    <p:animEffect transition="in" filter="wipe(left)">
                                      <p:cBhvr>
                                        <p:cTn id="45" dur="500"/>
                                        <p:tgtEl>
                                          <p:spTgt spid="16"/>
                                        </p:tgtEl>
                                      </p:cBhvr>
                                    </p:animEffect>
                                  </p:childTnLst>
                                </p:cTn>
                              </p:par>
                              <p:par>
                                <p:cTn id="49" presetID="22" presetClass="entr" presetSubtype="8" fill="hold" grpId="0" nodeType="withEffect">
                                  <p:stCondLst>
                                    <p:cond delay="240"/>
                                  </p:stCondLst>
                                  <p:childTnLst>
                                    <p:set>
                                      <p:cBhvr>
                                        <p:cTn id="47" dur="1" fill="hold">
                                          <p:stCondLst>
                                            <p:cond delay="0"/>
                                          </p:stCondLst>
                                        </p:cTn>
                                        <p:tgtEl>
                                          <p:spTgt spid="17"/>
                                        </p:tgtEl>
                                        <p:attrNameLst>
                                          <p:attrName>style.visibility</p:attrName>
                                        </p:attrNameLst>
                                      </p:cBhvr>
                                      <p:to>
                                        <p:strVal val="visible"/>
                                      </p:to>
                                    </p:set>
                                    <p:animEffect transition="in" filter="wipe(left)">
                                      <p:cBhvr>
                                        <p:cTn id="48" dur="500"/>
                                        <p:tgtEl>
                                          <p:spTgt spid="17"/>
                                        </p:tgtEl>
                                      </p:cBhvr>
                                    </p:animEffect>
                                  </p:childTnLst>
                                </p:cTn>
                              </p:par>
                              <p:par>
                                <p:cTn id="52" presetID="22" presetClass="entr" presetSubtype="8" fill="hold" grpId="0" nodeType="withEffect">
                                  <p:stCondLst>
                                    <p:cond delay="240"/>
                                  </p:stCondLst>
                                  <p:childTnLst>
                                    <p:set>
                                      <p:cBhvr>
                                        <p:cTn id="50" dur="1" fill="hold">
                                          <p:stCondLst>
                                            <p:cond delay="0"/>
                                          </p:stCondLst>
                                        </p:cTn>
                                        <p:tgtEl>
                                          <p:spTgt spid="24"/>
                                        </p:tgtEl>
                                        <p:attrNameLst>
                                          <p:attrName>style.visibility</p:attrName>
                                        </p:attrNameLst>
                                      </p:cBhvr>
                                      <p:to>
                                        <p:strVal val="visible"/>
                                      </p:to>
                                    </p:set>
                                    <p:animEffect transition="in" filter="wipe(left)">
                                      <p:cBhvr>
                                        <p:cTn id="51" dur="500"/>
                                        <p:tgtEl>
                                          <p:spTgt spid="24"/>
                                        </p:tgtEl>
                                      </p:cBhvr>
                                    </p:animEffect>
                                  </p:childTnLst>
                                </p:cTn>
                              </p:par>
                              <p:par>
                                <p:cTn id="55" presetID="22" presetClass="entr" presetSubtype="8" fill="hold" grpId="0" nodeType="withEffect">
                                  <p:stCondLst>
                                    <p:cond delay="240"/>
                                  </p:stCondLst>
                                  <p:childTnLst>
                                    <p:set>
                                      <p:cBhvr>
                                        <p:cTn id="53" dur="1" fill="hold">
                                          <p:stCondLst>
                                            <p:cond delay="0"/>
                                          </p:stCondLst>
                                        </p:cTn>
                                        <p:tgtEl>
                                          <p:spTgt spid="25"/>
                                        </p:tgtEl>
                                        <p:attrNameLst>
                                          <p:attrName>style.visibility</p:attrName>
                                        </p:attrNameLst>
                                      </p:cBhvr>
                                      <p:to>
                                        <p:strVal val="visible"/>
                                      </p:to>
                                    </p:set>
                                    <p:animEffect transition="in" filter="wipe(left)">
                                      <p:cBhvr>
                                        <p:cTn id="54" dur="500"/>
                                        <p:tgtEl>
                                          <p:spTgt spid="25"/>
                                        </p:tgtEl>
                                      </p:cBhvr>
                                    </p:animEffect>
                                  </p:childTnLst>
                                </p:cTn>
                              </p:par>
                              <p:par>
                                <p:cTn id="58" presetID="22" presetClass="entr" presetSubtype="8" fill="hold" grpId="0" nodeType="withEffect">
                                  <p:stCondLst>
                                    <p:cond delay="240"/>
                                  </p:stCondLst>
                                  <p:childTnLst>
                                    <p:set>
                                      <p:cBhvr>
                                        <p:cTn id="56" dur="1" fill="hold">
                                          <p:stCondLst>
                                            <p:cond delay="0"/>
                                          </p:stCondLst>
                                        </p:cTn>
                                        <p:tgtEl>
                                          <p:spTgt spid="32"/>
                                        </p:tgtEl>
                                        <p:attrNameLst>
                                          <p:attrName>style.visibility</p:attrName>
                                        </p:attrNameLst>
                                      </p:cBhvr>
                                      <p:to>
                                        <p:strVal val="visible"/>
                                      </p:to>
                                    </p:set>
                                    <p:animEffect transition="in" filter="wipe(left)">
                                      <p:cBhvr>
                                        <p:cTn id="57" dur="500"/>
                                        <p:tgtEl>
                                          <p:spTgt spid="32"/>
                                        </p:tgtEl>
                                      </p:cBhvr>
                                    </p:animEffect>
                                  </p:childTnLst>
                                </p:cTn>
                              </p:par>
                              <p:par>
                                <p:cTn id="61" presetID="22" presetClass="entr" presetSubtype="8" fill="hold" grpId="0" nodeType="withEffect">
                                  <p:stCondLst>
                                    <p:cond delay="240"/>
                                  </p:stCondLst>
                                  <p:childTnLst>
                                    <p:set>
                                      <p:cBhvr>
                                        <p:cTn id="59" dur="1" fill="hold">
                                          <p:stCondLst>
                                            <p:cond delay="0"/>
                                          </p:stCondLst>
                                        </p:cTn>
                                        <p:tgtEl>
                                          <p:spTgt spid="33"/>
                                        </p:tgtEl>
                                        <p:attrNameLst>
                                          <p:attrName>style.visibility</p:attrName>
                                        </p:attrNameLst>
                                      </p:cBhvr>
                                      <p:to>
                                        <p:strVal val="visible"/>
                                      </p:to>
                                    </p:set>
                                    <p:animEffect transition="in" filter="wipe(left)">
                                      <p:cBhvr>
                                        <p:cTn id="60" dur="500"/>
                                        <p:tgtEl>
                                          <p:spTgt spid="33"/>
                                        </p:tgtEl>
                                      </p:cBhvr>
                                    </p:animEffect>
                                  </p:childTnLst>
                                </p:cTn>
                              </p:par>
                              <p:par>
                                <p:cTn id="64" presetID="22" presetClass="entr" presetSubtype="8" fill="hold" grpId="0" nodeType="withEffect">
                                  <p:stCondLst>
                                    <p:cond delay="360"/>
                                  </p:stCondLst>
                                  <p:childTnLst>
                                    <p:set>
                                      <p:cBhvr>
                                        <p:cTn id="62" dur="1" fill="hold">
                                          <p:stCondLst>
                                            <p:cond delay="0"/>
                                          </p:stCondLst>
                                        </p:cTn>
                                        <p:tgtEl>
                                          <p:spTgt spid="18"/>
                                        </p:tgtEl>
                                        <p:attrNameLst>
                                          <p:attrName>style.visibility</p:attrName>
                                        </p:attrNameLst>
                                      </p:cBhvr>
                                      <p:to>
                                        <p:strVal val="visible"/>
                                      </p:to>
                                    </p:set>
                                    <p:animEffect transition="in" filter="wipe(left)">
                                      <p:cBhvr>
                                        <p:cTn id="63" dur="500"/>
                                        <p:tgtEl>
                                          <p:spTgt spid="18"/>
                                        </p:tgtEl>
                                      </p:cBhvr>
                                    </p:animEffect>
                                  </p:childTnLst>
                                </p:cTn>
                              </p:par>
                              <p:par>
                                <p:cTn id="67" presetID="22" presetClass="entr" presetSubtype="8" fill="hold" grpId="0" nodeType="withEffect">
                                  <p:stCondLst>
                                    <p:cond delay="360"/>
                                  </p:stCondLst>
                                  <p:childTnLst>
                                    <p:set>
                                      <p:cBhvr>
                                        <p:cTn id="65" dur="1" fill="hold">
                                          <p:stCondLst>
                                            <p:cond delay="0"/>
                                          </p:stCondLst>
                                        </p:cTn>
                                        <p:tgtEl>
                                          <p:spTgt spid="19"/>
                                        </p:tgtEl>
                                        <p:attrNameLst>
                                          <p:attrName>style.visibility</p:attrName>
                                        </p:attrNameLst>
                                      </p:cBhvr>
                                      <p:to>
                                        <p:strVal val="visible"/>
                                      </p:to>
                                    </p:set>
                                    <p:animEffect transition="in" filter="wipe(left)">
                                      <p:cBhvr>
                                        <p:cTn id="66" dur="500"/>
                                        <p:tgtEl>
                                          <p:spTgt spid="19"/>
                                        </p:tgtEl>
                                      </p:cBhvr>
                                    </p:animEffect>
                                  </p:childTnLst>
                                </p:cTn>
                              </p:par>
                              <p:par>
                                <p:cTn id="70" presetID="22" presetClass="entr" presetSubtype="8" fill="hold" grpId="0" nodeType="withEffect">
                                  <p:stCondLst>
                                    <p:cond delay="360"/>
                                  </p:stCondLst>
                                  <p:childTnLst>
                                    <p:set>
                                      <p:cBhvr>
                                        <p:cTn id="68" dur="1" fill="hold">
                                          <p:stCondLst>
                                            <p:cond delay="0"/>
                                          </p:stCondLst>
                                        </p:cTn>
                                        <p:tgtEl>
                                          <p:spTgt spid="26"/>
                                        </p:tgtEl>
                                        <p:attrNameLst>
                                          <p:attrName>style.visibility</p:attrName>
                                        </p:attrNameLst>
                                      </p:cBhvr>
                                      <p:to>
                                        <p:strVal val="visible"/>
                                      </p:to>
                                    </p:set>
                                    <p:animEffect transition="in" filter="wipe(left)">
                                      <p:cBhvr>
                                        <p:cTn id="69" dur="500"/>
                                        <p:tgtEl>
                                          <p:spTgt spid="26"/>
                                        </p:tgtEl>
                                      </p:cBhvr>
                                    </p:animEffect>
                                  </p:childTnLst>
                                </p:cTn>
                              </p:par>
                              <p:par>
                                <p:cTn id="73" presetID="22" presetClass="entr" presetSubtype="8" fill="hold" grpId="0" nodeType="withEffect">
                                  <p:stCondLst>
                                    <p:cond delay="360"/>
                                  </p:stCondLst>
                                  <p:childTnLst>
                                    <p:set>
                                      <p:cBhvr>
                                        <p:cTn id="71" dur="1" fill="hold">
                                          <p:stCondLst>
                                            <p:cond delay="0"/>
                                          </p:stCondLst>
                                        </p:cTn>
                                        <p:tgtEl>
                                          <p:spTgt spid="27"/>
                                        </p:tgtEl>
                                        <p:attrNameLst>
                                          <p:attrName>style.visibility</p:attrName>
                                        </p:attrNameLst>
                                      </p:cBhvr>
                                      <p:to>
                                        <p:strVal val="visible"/>
                                      </p:to>
                                    </p:set>
                                    <p:animEffect transition="in" filter="wipe(left)">
                                      <p:cBhvr>
                                        <p:cTn id="72" dur="500"/>
                                        <p:tgtEl>
                                          <p:spTgt spid="27"/>
                                        </p:tgtEl>
                                      </p:cBhvr>
                                    </p:animEffect>
                                  </p:childTnLst>
                                </p:cTn>
                              </p:par>
                              <p:par>
                                <p:cTn id="76" presetID="22" presetClass="entr" presetSubtype="8" fill="hold" grpId="0" nodeType="withEffect">
                                  <p:stCondLst>
                                    <p:cond delay="360"/>
                                  </p:stCondLst>
                                  <p:childTnLst>
                                    <p:set>
                                      <p:cBhvr>
                                        <p:cTn id="74" dur="1" fill="hold">
                                          <p:stCondLst>
                                            <p:cond delay="0"/>
                                          </p:stCondLst>
                                        </p:cTn>
                                        <p:tgtEl>
                                          <p:spTgt spid="34"/>
                                        </p:tgtEl>
                                        <p:attrNameLst>
                                          <p:attrName>style.visibility</p:attrName>
                                        </p:attrNameLst>
                                      </p:cBhvr>
                                      <p:to>
                                        <p:strVal val="visible"/>
                                      </p:to>
                                    </p:set>
                                    <p:animEffect transition="in" filter="wipe(left)">
                                      <p:cBhvr>
                                        <p:cTn id="75" dur="500"/>
                                        <p:tgtEl>
                                          <p:spTgt spid="34"/>
                                        </p:tgtEl>
                                      </p:cBhvr>
                                    </p:animEffect>
                                  </p:childTnLst>
                                </p:cTn>
                              </p:par>
                              <p:par>
                                <p:cTn id="79" presetID="22" presetClass="entr" presetSubtype="8" fill="hold" grpId="0" nodeType="withEffect">
                                  <p:stCondLst>
                                    <p:cond delay="360"/>
                                  </p:stCondLst>
                                  <p:childTnLst>
                                    <p:set>
                                      <p:cBhvr>
                                        <p:cTn id="77" dur="1" fill="hold">
                                          <p:stCondLst>
                                            <p:cond delay="0"/>
                                          </p:stCondLst>
                                        </p:cTn>
                                        <p:tgtEl>
                                          <p:spTgt spid="35"/>
                                        </p:tgtEl>
                                        <p:attrNameLst>
                                          <p:attrName>style.visibility</p:attrName>
                                        </p:attrNameLst>
                                      </p:cBhvr>
                                      <p:to>
                                        <p:strVal val="visible"/>
                                      </p:to>
                                    </p:set>
                                    <p:animEffect transition="in" filter="wipe(left)">
                                      <p:cBhvr>
                                        <p:cTn id="78" dur="500"/>
                                        <p:tgtEl>
                                          <p:spTgt spid="35"/>
                                        </p:tgtEl>
                                      </p:cBhvr>
                                    </p:animEffect>
                                  </p:childTnLst>
                                </p:cTn>
                              </p:par>
                            </p:childTnLst>
                          </p:cTn>
                        </p:par>
                      </p:childTnLst>
                    </p:cTn>
                  </p:par>
                  <p:par>
                    <p:cTn id="80" fill="hold">
                      <p:stCondLst>
                        <p:cond delay="indefinite"/>
                      </p:stCondLst>
                      <p:childTnLst>
                        <p:par>
                          <p:cTn id="81" fill="hold">
                            <p:stCondLst>
                              <p:cond delay="0"/>
                            </p:stCondLst>
                            <p:childTnLst>
                              <p:par>
                                <p:cTn id="84" presetID="10" presetClass="entr" presetSubtype="0" fill="hold" grpId="0" nodeType="clickEffect">
                                  <p:stCondLst>
                                    <p:cond delay="0"/>
                                  </p:stCondLst>
                                  <p:childTnLst>
                                    <p:set>
                                      <p:cBhvr>
                                        <p:cTn id="82" dur="1" fill="hold">
                                          <p:stCondLst>
                                            <p:cond delay="0"/>
                                          </p:stCondLst>
                                        </p:cTn>
                                        <p:tgtEl>
                                          <p:spTgt spid="36"/>
                                        </p:tgtEl>
                                        <p:attrNameLst>
                                          <p:attrName>style.visibility</p:attrName>
                                        </p:attrNameLst>
                                      </p:cBhvr>
                                      <p:to>
                                        <p:strVal val="visible"/>
                                      </p:to>
                                    </p:set>
                                    <p:animEffect transition="in" filter="fade">
                                      <p:cBhvr>
                                        <p:cTn id="83" dur="500"/>
                                        <p:tgtEl>
                                          <p:spTgt spid="36"/>
                                        </p:tgtEl>
                                      </p:cBhvr>
                                    </p:animEffect>
                                  </p:childTnLst>
                                </p:cTn>
                              </p:par>
                              <p:par>
                                <p:cTn id="87" presetID="10" presetClass="entr" presetSubtype="0" fill="hold" grpId="0" nodeType="withEffect">
                                  <p:stCondLst>
                                    <p:cond delay="0"/>
                                  </p:stCondLst>
                                  <p:childTnLst>
                                    <p:set>
                                      <p:cBhvr>
                                        <p:cTn id="85" dur="1" fill="hold">
                                          <p:stCondLst>
                                            <p:cond delay="0"/>
                                          </p:stCondLst>
                                        </p:cTn>
                                        <p:tgtEl>
                                          <p:spTgt spid="37"/>
                                        </p:tgtEl>
                                        <p:attrNameLst>
                                          <p:attrName>style.visibility</p:attrName>
                                        </p:attrNameLst>
                                      </p:cBhvr>
                                      <p:to>
                                        <p:strVal val="visible"/>
                                      </p:to>
                                    </p:set>
                                    <p:animEffect transition="in" filter="fade">
                                      <p:cBhvr>
                                        <p:cTn id="86" dur="500"/>
                                        <p:tgtEl>
                                          <p:spTgt spid="37"/>
                                        </p:tgtEl>
                                      </p:cBhvr>
                                    </p:animEffect>
                                  </p:childTnLst>
                                </p:cTn>
                              </p:par>
                              <p:par>
                                <p:cTn id="90" presetID="10" presetClass="entr" presetSubtype="0" fill="hold" grpId="0" nodeType="withEffect">
                                  <p:stCondLst>
                                    <p:cond delay="0"/>
                                  </p:stCondLst>
                                  <p:childTnLst>
                                    <p:set>
                                      <p:cBhvr>
                                        <p:cTn id="88" dur="1" fill="hold">
                                          <p:stCondLst>
                                            <p:cond delay="0"/>
                                          </p:stCondLst>
                                        </p:cTn>
                                        <p:tgtEl>
                                          <p:spTgt spid="38"/>
                                        </p:tgtEl>
                                        <p:attrNameLst>
                                          <p:attrName>style.visibility</p:attrName>
                                        </p:attrNameLst>
                                      </p:cBhvr>
                                      <p:to>
                                        <p:strVal val="visible"/>
                                      </p:to>
                                    </p:set>
                                    <p:animEffect transition="in" filter="fade">
                                      <p:cBhvr>
                                        <p:cTn id="89" dur="500"/>
                                        <p:tgtEl>
                                          <p:spTgt spid="38"/>
                                        </p:tgtEl>
                                      </p:cBhvr>
                                    </p:animEffect>
                                  </p:childTnLst>
                                </p:cTn>
                              </p:par>
                              <p:par>
                                <p:cTn id="93" presetID="10" presetClass="entr" presetSubtype="0" fill="hold" grpId="0" nodeType="withEffect">
                                  <p:stCondLst>
                                    <p:cond delay="0"/>
                                  </p:stCondLst>
                                  <p:childTnLst>
                                    <p:set>
                                      <p:cBhvr>
                                        <p:cTn id="91" dur="1" fill="hold">
                                          <p:stCondLst>
                                            <p:cond delay="0"/>
                                          </p:stCondLst>
                                        </p:cTn>
                                        <p:tgtEl>
                                          <p:spTgt spid="45"/>
                                        </p:tgtEl>
                                        <p:attrNameLst>
                                          <p:attrName>style.visibility</p:attrName>
                                        </p:attrNameLst>
                                      </p:cBhvr>
                                      <p:to>
                                        <p:strVal val="visible"/>
                                      </p:to>
                                    </p:set>
                                    <p:animEffect transition="in" filter="fade">
                                      <p:cBhvr>
                                        <p:cTn id="92" dur="500"/>
                                        <p:tgtEl>
                                          <p:spTgt spid="45"/>
                                        </p:tgtEl>
                                      </p:cBhvr>
                                    </p:animEffect>
                                  </p:childTnLst>
                                </p:cTn>
                              </p:par>
                              <p:par>
                                <p:cTn id="96" presetID="10" presetClass="entr" presetSubtype="0" fill="hold" grpId="0" nodeType="withEffect">
                                  <p:stCondLst>
                                    <p:cond delay="0"/>
                                  </p:stCondLst>
                                  <p:childTnLst>
                                    <p:set>
                                      <p:cBhvr>
                                        <p:cTn id="94" dur="1" fill="hold">
                                          <p:stCondLst>
                                            <p:cond delay="0"/>
                                          </p:stCondLst>
                                        </p:cTn>
                                        <p:tgtEl>
                                          <p:spTgt spid="46"/>
                                        </p:tgtEl>
                                        <p:attrNameLst>
                                          <p:attrName>style.visibility</p:attrName>
                                        </p:attrNameLst>
                                      </p:cBhvr>
                                      <p:to>
                                        <p:strVal val="visible"/>
                                      </p:to>
                                    </p:set>
                                    <p:animEffect transition="in" filter="fade">
                                      <p:cBhvr>
                                        <p:cTn id="95" dur="500"/>
                                        <p:tgtEl>
                                          <p:spTgt spid="46"/>
                                        </p:tgtEl>
                                      </p:cBhvr>
                                    </p:animEffect>
                                  </p:childTnLst>
                                </p:cTn>
                              </p:par>
                              <p:par>
                                <p:cTn id="99" presetID="10" presetClass="entr" presetSubtype="0" fill="hold" grpId="0" nodeType="withEffect">
                                  <p:stCondLst>
                                    <p:cond delay="0"/>
                                  </p:stCondLst>
                                  <p:childTnLst>
                                    <p:set>
                                      <p:cBhvr>
                                        <p:cTn id="97" dur="1" fill="hold">
                                          <p:stCondLst>
                                            <p:cond delay="0"/>
                                          </p:stCondLst>
                                        </p:cTn>
                                        <p:tgtEl>
                                          <p:spTgt spid="53"/>
                                        </p:tgtEl>
                                        <p:attrNameLst>
                                          <p:attrName>style.visibility</p:attrName>
                                        </p:attrNameLst>
                                      </p:cBhvr>
                                      <p:to>
                                        <p:strVal val="visible"/>
                                      </p:to>
                                    </p:set>
                                    <p:animEffect transition="in" filter="fade">
                                      <p:cBhvr>
                                        <p:cTn id="98" dur="500"/>
                                        <p:tgtEl>
                                          <p:spTgt spid="53"/>
                                        </p:tgtEl>
                                      </p:cBhvr>
                                    </p:animEffect>
                                  </p:childTnLst>
                                </p:cTn>
                              </p:par>
                              <p:par>
                                <p:cTn id="102" presetID="10" presetClass="entr" presetSubtype="0" fill="hold" grpId="0" nodeType="withEffect">
                                  <p:stCondLst>
                                    <p:cond delay="0"/>
                                  </p:stCondLst>
                                  <p:childTnLst>
                                    <p:set>
                                      <p:cBhvr>
                                        <p:cTn id="100" dur="1" fill="hold">
                                          <p:stCondLst>
                                            <p:cond delay="0"/>
                                          </p:stCondLst>
                                        </p:cTn>
                                        <p:tgtEl>
                                          <p:spTgt spid="54"/>
                                        </p:tgtEl>
                                        <p:attrNameLst>
                                          <p:attrName>style.visibility</p:attrName>
                                        </p:attrNameLst>
                                      </p:cBhvr>
                                      <p:to>
                                        <p:strVal val="visible"/>
                                      </p:to>
                                    </p:set>
                                    <p:animEffect transition="in" filter="fade">
                                      <p:cBhvr>
                                        <p:cTn id="101" dur="500"/>
                                        <p:tgtEl>
                                          <p:spTgt spid="54"/>
                                        </p:tgtEl>
                                      </p:cBhvr>
                                    </p:animEffect>
                                  </p:childTnLst>
                                </p:cTn>
                              </p:par>
                              <p:par>
                                <p:cTn id="105" presetID="22" presetClass="entr" presetSubtype="8" fill="hold" grpId="0" nodeType="withEffect">
                                  <p:stCondLst>
                                    <p:cond delay="12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4" dur="500"/>
                                        <p:tgtEl>
                                          <p:spTgt spid="39"/>
                                        </p:tgtEl>
                                      </p:cBhvr>
                                    </p:animEffect>
                                  </p:childTnLst>
                                </p:cTn>
                              </p:par>
                              <p:par>
                                <p:cTn id="108" presetID="22" presetClass="entr" presetSubtype="8" fill="hold" grpId="0" nodeType="withEffect">
                                  <p:stCondLst>
                                    <p:cond delay="12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7" dur="500"/>
                                        <p:tgtEl>
                                          <p:spTgt spid="40"/>
                                        </p:tgtEl>
                                      </p:cBhvr>
                                    </p:animEffect>
                                  </p:childTnLst>
                                </p:cTn>
                              </p:par>
                              <p:par>
                                <p:cTn id="111" presetID="22" presetClass="entr" presetSubtype="8" fill="hold" grpId="0" nodeType="withEffect">
                                  <p:stCondLst>
                                    <p:cond delay="120"/>
                                  </p:stCondLst>
                                  <p:childTnLst>
                                    <p:set>
                                      <p:cBhvr>
                                        <p:cTn id="109" dur="1" fill="hold">
                                          <p:stCondLst>
                                            <p:cond delay="0"/>
                                          </p:stCondLst>
                                        </p:cTn>
                                        <p:tgtEl>
                                          <p:spTgt spid="47"/>
                                        </p:tgtEl>
                                        <p:attrNameLst>
                                          <p:attrName>style.visibility</p:attrName>
                                        </p:attrNameLst>
                                      </p:cBhvr>
                                      <p:to>
                                        <p:strVal val="visible"/>
                                      </p:to>
                                    </p:set>
                                    <p:animEffect transition="in" filter="wipe(left)">
                                      <p:cBhvr>
                                        <p:cTn id="110" dur="500"/>
                                        <p:tgtEl>
                                          <p:spTgt spid="47"/>
                                        </p:tgtEl>
                                      </p:cBhvr>
                                    </p:animEffect>
                                  </p:childTnLst>
                                </p:cTn>
                              </p:par>
                              <p:par>
                                <p:cTn id="114" presetID="22" presetClass="entr" presetSubtype="8" fill="hold" grpId="0" nodeType="withEffect">
                                  <p:stCondLst>
                                    <p:cond delay="120"/>
                                  </p:stCondLst>
                                  <p:childTnLst>
                                    <p:set>
                                      <p:cBhvr>
                                        <p:cTn id="112" dur="1" fill="hold">
                                          <p:stCondLst>
                                            <p:cond delay="0"/>
                                          </p:stCondLst>
                                        </p:cTn>
                                        <p:tgtEl>
                                          <p:spTgt spid="48"/>
                                        </p:tgtEl>
                                        <p:attrNameLst>
                                          <p:attrName>style.visibility</p:attrName>
                                        </p:attrNameLst>
                                      </p:cBhvr>
                                      <p:to>
                                        <p:strVal val="visible"/>
                                      </p:to>
                                    </p:set>
                                    <p:animEffect transition="in" filter="wipe(left)">
                                      <p:cBhvr>
                                        <p:cTn id="113" dur="500"/>
                                        <p:tgtEl>
                                          <p:spTgt spid="48"/>
                                        </p:tgtEl>
                                      </p:cBhvr>
                                    </p:animEffect>
                                  </p:childTnLst>
                                </p:cTn>
                              </p:par>
                              <p:par>
                                <p:cTn id="117" presetID="22" presetClass="entr" presetSubtype="8" fill="hold" grpId="0" nodeType="withEffect">
                                  <p:stCondLst>
                                    <p:cond delay="120"/>
                                  </p:stCondLst>
                                  <p:childTnLst>
                                    <p:set>
                                      <p:cBhvr>
                                        <p:cTn id="115" dur="1" fill="hold">
                                          <p:stCondLst>
                                            <p:cond delay="0"/>
                                          </p:stCondLst>
                                        </p:cTn>
                                        <p:tgtEl>
                                          <p:spTgt spid="55"/>
                                        </p:tgtEl>
                                        <p:attrNameLst>
                                          <p:attrName>style.visibility</p:attrName>
                                        </p:attrNameLst>
                                      </p:cBhvr>
                                      <p:to>
                                        <p:strVal val="visible"/>
                                      </p:to>
                                    </p:set>
                                    <p:animEffect transition="in" filter="wipe(left)">
                                      <p:cBhvr>
                                        <p:cTn id="116" dur="500"/>
                                        <p:tgtEl>
                                          <p:spTgt spid="55"/>
                                        </p:tgtEl>
                                      </p:cBhvr>
                                    </p:animEffect>
                                  </p:childTnLst>
                                </p:cTn>
                              </p:par>
                              <p:par>
                                <p:cTn id="120" presetID="22" presetClass="entr" presetSubtype="8" fill="hold" grpId="0" nodeType="withEffect">
                                  <p:stCondLst>
                                    <p:cond delay="120"/>
                                  </p:stCondLst>
                                  <p:childTnLst>
                                    <p:set>
                                      <p:cBhvr>
                                        <p:cTn id="118" dur="1" fill="hold">
                                          <p:stCondLst>
                                            <p:cond delay="0"/>
                                          </p:stCondLst>
                                        </p:cTn>
                                        <p:tgtEl>
                                          <p:spTgt spid="56"/>
                                        </p:tgtEl>
                                        <p:attrNameLst>
                                          <p:attrName>style.visibility</p:attrName>
                                        </p:attrNameLst>
                                      </p:cBhvr>
                                      <p:to>
                                        <p:strVal val="visible"/>
                                      </p:to>
                                    </p:set>
                                    <p:animEffect transition="in" filter="wipe(left)">
                                      <p:cBhvr>
                                        <p:cTn id="119" dur="500"/>
                                        <p:tgtEl>
                                          <p:spTgt spid="56"/>
                                        </p:tgtEl>
                                      </p:cBhvr>
                                    </p:animEffect>
                                  </p:childTnLst>
                                </p:cTn>
                              </p:par>
                              <p:par>
                                <p:cTn id="123" presetID="22" presetClass="entr" presetSubtype="8" fill="hold" grpId="0" nodeType="withEffect">
                                  <p:stCondLst>
                                    <p:cond delay="240"/>
                                  </p:stCondLst>
                                  <p:childTnLst>
                                    <p:set>
                                      <p:cBhvr>
                                        <p:cTn id="121" dur="1" fill="hold">
                                          <p:stCondLst>
                                            <p:cond delay="0"/>
                                          </p:stCondLst>
                                        </p:cTn>
                                        <p:tgtEl>
                                          <p:spTgt spid="41"/>
                                        </p:tgtEl>
                                        <p:attrNameLst>
                                          <p:attrName>style.visibility</p:attrName>
                                        </p:attrNameLst>
                                      </p:cBhvr>
                                      <p:to>
                                        <p:strVal val="visible"/>
                                      </p:to>
                                    </p:set>
                                    <p:animEffect transition="in" filter="wipe(left)">
                                      <p:cBhvr>
                                        <p:cTn id="122" dur="500"/>
                                        <p:tgtEl>
                                          <p:spTgt spid="41"/>
                                        </p:tgtEl>
                                      </p:cBhvr>
                                    </p:animEffect>
                                  </p:childTnLst>
                                </p:cTn>
                              </p:par>
                              <p:par>
                                <p:cTn id="126" presetID="22" presetClass="entr" presetSubtype="8" fill="hold" grpId="0" nodeType="withEffect">
                                  <p:stCondLst>
                                    <p:cond delay="240"/>
                                  </p:stCondLst>
                                  <p:childTnLst>
                                    <p:set>
                                      <p:cBhvr>
                                        <p:cTn id="124" dur="1" fill="hold">
                                          <p:stCondLst>
                                            <p:cond delay="0"/>
                                          </p:stCondLst>
                                        </p:cTn>
                                        <p:tgtEl>
                                          <p:spTgt spid="42"/>
                                        </p:tgtEl>
                                        <p:attrNameLst>
                                          <p:attrName>style.visibility</p:attrName>
                                        </p:attrNameLst>
                                      </p:cBhvr>
                                      <p:to>
                                        <p:strVal val="visible"/>
                                      </p:to>
                                    </p:set>
                                    <p:animEffect transition="in" filter="wipe(left)">
                                      <p:cBhvr>
                                        <p:cTn id="125" dur="500"/>
                                        <p:tgtEl>
                                          <p:spTgt spid="42"/>
                                        </p:tgtEl>
                                      </p:cBhvr>
                                    </p:animEffect>
                                  </p:childTnLst>
                                </p:cTn>
                              </p:par>
                              <p:par>
                                <p:cTn id="129" presetID="22" presetClass="entr" presetSubtype="8" fill="hold" grpId="0" nodeType="withEffect">
                                  <p:stCondLst>
                                    <p:cond delay="240"/>
                                  </p:stCondLst>
                                  <p:childTnLst>
                                    <p:set>
                                      <p:cBhvr>
                                        <p:cTn id="127" dur="1" fill="hold">
                                          <p:stCondLst>
                                            <p:cond delay="0"/>
                                          </p:stCondLst>
                                        </p:cTn>
                                        <p:tgtEl>
                                          <p:spTgt spid="49"/>
                                        </p:tgtEl>
                                        <p:attrNameLst>
                                          <p:attrName>style.visibility</p:attrName>
                                        </p:attrNameLst>
                                      </p:cBhvr>
                                      <p:to>
                                        <p:strVal val="visible"/>
                                      </p:to>
                                    </p:set>
                                    <p:animEffect transition="in" filter="wipe(left)">
                                      <p:cBhvr>
                                        <p:cTn id="128" dur="500"/>
                                        <p:tgtEl>
                                          <p:spTgt spid="49"/>
                                        </p:tgtEl>
                                      </p:cBhvr>
                                    </p:animEffect>
                                  </p:childTnLst>
                                </p:cTn>
                              </p:par>
                              <p:par>
                                <p:cTn id="132" presetID="22" presetClass="entr" presetSubtype="8" fill="hold" grpId="0" nodeType="withEffect">
                                  <p:stCondLst>
                                    <p:cond delay="240"/>
                                  </p:stCondLst>
                                  <p:childTnLst>
                                    <p:set>
                                      <p:cBhvr>
                                        <p:cTn id="130" dur="1" fill="hold">
                                          <p:stCondLst>
                                            <p:cond delay="0"/>
                                          </p:stCondLst>
                                        </p:cTn>
                                        <p:tgtEl>
                                          <p:spTgt spid="50"/>
                                        </p:tgtEl>
                                        <p:attrNameLst>
                                          <p:attrName>style.visibility</p:attrName>
                                        </p:attrNameLst>
                                      </p:cBhvr>
                                      <p:to>
                                        <p:strVal val="visible"/>
                                      </p:to>
                                    </p:set>
                                    <p:animEffect transition="in" filter="wipe(left)">
                                      <p:cBhvr>
                                        <p:cTn id="131" dur="500"/>
                                        <p:tgtEl>
                                          <p:spTgt spid="50"/>
                                        </p:tgtEl>
                                      </p:cBhvr>
                                    </p:animEffect>
                                  </p:childTnLst>
                                </p:cTn>
                              </p:par>
                              <p:par>
                                <p:cTn id="135" presetID="22" presetClass="entr" presetSubtype="8" fill="hold" grpId="0" nodeType="withEffect">
                                  <p:stCondLst>
                                    <p:cond delay="240"/>
                                  </p:stCondLst>
                                  <p:childTnLst>
                                    <p:set>
                                      <p:cBhvr>
                                        <p:cTn id="133" dur="1" fill="hold">
                                          <p:stCondLst>
                                            <p:cond delay="0"/>
                                          </p:stCondLst>
                                        </p:cTn>
                                        <p:tgtEl>
                                          <p:spTgt spid="57"/>
                                        </p:tgtEl>
                                        <p:attrNameLst>
                                          <p:attrName>style.visibility</p:attrName>
                                        </p:attrNameLst>
                                      </p:cBhvr>
                                      <p:to>
                                        <p:strVal val="visible"/>
                                      </p:to>
                                    </p:set>
                                    <p:animEffect transition="in" filter="wipe(left)">
                                      <p:cBhvr>
                                        <p:cTn id="134" dur="500"/>
                                        <p:tgtEl>
                                          <p:spTgt spid="57"/>
                                        </p:tgtEl>
                                      </p:cBhvr>
                                    </p:animEffect>
                                  </p:childTnLst>
                                </p:cTn>
                              </p:par>
                              <p:par>
                                <p:cTn id="138" presetID="22" presetClass="entr" presetSubtype="8" fill="hold" grpId="0" nodeType="withEffect">
                                  <p:stCondLst>
                                    <p:cond delay="240"/>
                                  </p:stCondLst>
                                  <p:childTnLst>
                                    <p:set>
                                      <p:cBhvr>
                                        <p:cTn id="136" dur="1" fill="hold">
                                          <p:stCondLst>
                                            <p:cond delay="0"/>
                                          </p:stCondLst>
                                        </p:cTn>
                                        <p:tgtEl>
                                          <p:spTgt spid="58"/>
                                        </p:tgtEl>
                                        <p:attrNameLst>
                                          <p:attrName>style.visibility</p:attrName>
                                        </p:attrNameLst>
                                      </p:cBhvr>
                                      <p:to>
                                        <p:strVal val="visible"/>
                                      </p:to>
                                    </p:set>
                                    <p:animEffect transition="in" filter="wipe(left)">
                                      <p:cBhvr>
                                        <p:cTn id="137" dur="500"/>
                                        <p:tgtEl>
                                          <p:spTgt spid="58"/>
                                        </p:tgtEl>
                                      </p:cBhvr>
                                    </p:animEffect>
                                  </p:childTnLst>
                                </p:cTn>
                              </p:par>
                              <p:par>
                                <p:cTn id="141" presetID="22" presetClass="entr" presetSubtype="8" fill="hold" grpId="0" nodeType="withEffect">
                                  <p:stCondLst>
                                    <p:cond delay="360"/>
                                  </p:stCondLst>
                                  <p:childTnLst>
                                    <p:set>
                                      <p:cBhvr>
                                        <p:cTn id="139" dur="1" fill="hold">
                                          <p:stCondLst>
                                            <p:cond delay="0"/>
                                          </p:stCondLst>
                                        </p:cTn>
                                        <p:tgtEl>
                                          <p:spTgt spid="43"/>
                                        </p:tgtEl>
                                        <p:attrNameLst>
                                          <p:attrName>style.visibility</p:attrName>
                                        </p:attrNameLst>
                                      </p:cBhvr>
                                      <p:to>
                                        <p:strVal val="visible"/>
                                      </p:to>
                                    </p:set>
                                    <p:animEffect transition="in" filter="wipe(left)">
                                      <p:cBhvr>
                                        <p:cTn id="140" dur="500"/>
                                        <p:tgtEl>
                                          <p:spTgt spid="43"/>
                                        </p:tgtEl>
                                      </p:cBhvr>
                                    </p:animEffect>
                                  </p:childTnLst>
                                </p:cTn>
                              </p:par>
                              <p:par>
                                <p:cTn id="144" presetID="22" presetClass="entr" presetSubtype="8" fill="hold" grpId="0" nodeType="withEffect">
                                  <p:stCondLst>
                                    <p:cond delay="360"/>
                                  </p:stCondLst>
                                  <p:childTnLst>
                                    <p:set>
                                      <p:cBhvr>
                                        <p:cTn id="142" dur="1" fill="hold">
                                          <p:stCondLst>
                                            <p:cond delay="0"/>
                                          </p:stCondLst>
                                        </p:cTn>
                                        <p:tgtEl>
                                          <p:spTgt spid="44"/>
                                        </p:tgtEl>
                                        <p:attrNameLst>
                                          <p:attrName>style.visibility</p:attrName>
                                        </p:attrNameLst>
                                      </p:cBhvr>
                                      <p:to>
                                        <p:strVal val="visible"/>
                                      </p:to>
                                    </p:set>
                                    <p:animEffect transition="in" filter="wipe(left)">
                                      <p:cBhvr>
                                        <p:cTn id="143" dur="500"/>
                                        <p:tgtEl>
                                          <p:spTgt spid="44"/>
                                        </p:tgtEl>
                                      </p:cBhvr>
                                    </p:animEffect>
                                  </p:childTnLst>
                                </p:cTn>
                              </p:par>
                              <p:par>
                                <p:cTn id="147" presetID="22" presetClass="entr" presetSubtype="8" fill="hold" grpId="0" nodeType="withEffect">
                                  <p:stCondLst>
                                    <p:cond delay="360"/>
                                  </p:stCondLst>
                                  <p:childTnLst>
                                    <p:set>
                                      <p:cBhvr>
                                        <p:cTn id="145" dur="1" fill="hold">
                                          <p:stCondLst>
                                            <p:cond delay="0"/>
                                          </p:stCondLst>
                                        </p:cTn>
                                        <p:tgtEl>
                                          <p:spTgt spid="51"/>
                                        </p:tgtEl>
                                        <p:attrNameLst>
                                          <p:attrName>style.visibility</p:attrName>
                                        </p:attrNameLst>
                                      </p:cBhvr>
                                      <p:to>
                                        <p:strVal val="visible"/>
                                      </p:to>
                                    </p:set>
                                    <p:animEffect transition="in" filter="wipe(left)">
                                      <p:cBhvr>
                                        <p:cTn id="146" dur="500"/>
                                        <p:tgtEl>
                                          <p:spTgt spid="51"/>
                                        </p:tgtEl>
                                      </p:cBhvr>
                                    </p:animEffect>
                                  </p:childTnLst>
                                </p:cTn>
                              </p:par>
                              <p:par>
                                <p:cTn id="150" presetID="22" presetClass="entr" presetSubtype="8" fill="hold" grpId="0" nodeType="withEffect">
                                  <p:stCondLst>
                                    <p:cond delay="360"/>
                                  </p:stCondLst>
                                  <p:childTnLst>
                                    <p:set>
                                      <p:cBhvr>
                                        <p:cTn id="148" dur="1" fill="hold">
                                          <p:stCondLst>
                                            <p:cond delay="0"/>
                                          </p:stCondLst>
                                        </p:cTn>
                                        <p:tgtEl>
                                          <p:spTgt spid="52"/>
                                        </p:tgtEl>
                                        <p:attrNameLst>
                                          <p:attrName>style.visibility</p:attrName>
                                        </p:attrNameLst>
                                      </p:cBhvr>
                                      <p:to>
                                        <p:strVal val="visible"/>
                                      </p:to>
                                    </p:set>
                                    <p:animEffect transition="in" filter="wipe(left)">
                                      <p:cBhvr>
                                        <p:cTn id="149" dur="500"/>
                                        <p:tgtEl>
                                          <p:spTgt spid="52"/>
                                        </p:tgtEl>
                                      </p:cBhvr>
                                    </p:animEffect>
                                  </p:childTnLst>
                                </p:cTn>
                              </p:par>
                              <p:par>
                                <p:cTn id="153" presetID="22" presetClass="entr" presetSubtype="8" fill="hold" grpId="0" nodeType="withEffect">
                                  <p:stCondLst>
                                    <p:cond delay="360"/>
                                  </p:stCondLst>
                                  <p:childTnLst>
                                    <p:set>
                                      <p:cBhvr>
                                        <p:cTn id="151" dur="1" fill="hold">
                                          <p:stCondLst>
                                            <p:cond delay="0"/>
                                          </p:stCondLst>
                                        </p:cTn>
                                        <p:tgtEl>
                                          <p:spTgt spid="59"/>
                                        </p:tgtEl>
                                        <p:attrNameLst>
                                          <p:attrName>style.visibility</p:attrName>
                                        </p:attrNameLst>
                                      </p:cBhvr>
                                      <p:to>
                                        <p:strVal val="visible"/>
                                      </p:to>
                                    </p:set>
                                    <p:animEffect transition="in" filter="wipe(left)">
                                      <p:cBhvr>
                                        <p:cTn id="152" dur="500"/>
                                        <p:tgtEl>
                                          <p:spTgt spid="59"/>
                                        </p:tgtEl>
                                      </p:cBhvr>
                                    </p:animEffect>
                                  </p:childTnLst>
                                </p:cTn>
                              </p:par>
                              <p:par>
                                <p:cTn id="156" presetID="22" presetClass="entr" presetSubtype="8" fill="hold" grpId="0" nodeType="withEffect">
                                  <p:stCondLst>
                                    <p:cond delay="360"/>
                                  </p:stCondLst>
                                  <p:childTnLst>
                                    <p:set>
                                      <p:cBhvr>
                                        <p:cTn id="154" dur="1" fill="hold">
                                          <p:stCondLst>
                                            <p:cond delay="0"/>
                                          </p:stCondLst>
                                        </p:cTn>
                                        <p:tgtEl>
                                          <p:spTgt spid="60"/>
                                        </p:tgtEl>
                                        <p:attrNameLst>
                                          <p:attrName>style.visibility</p:attrName>
                                        </p:attrNameLst>
                                      </p:cBhvr>
                                      <p:to>
                                        <p:strVal val="visible"/>
                                      </p:to>
                                    </p:set>
                                    <p:animEffect transition="in" filter="wipe(left)">
                                      <p:cBhvr>
                                        <p:cTn id="155" dur="500"/>
                                        <p:tgtEl>
                                          <p:spTgt spid="60"/>
                                        </p:tgtEl>
                                      </p:cBhvr>
                                    </p:animEffect>
                                  </p:childTnLst>
                                </p:cTn>
                              </p:par>
                            </p:childTnLst>
                          </p:cTn>
                        </p:par>
                      </p:childTnLst>
                    </p:cTn>
                  </p:par>
                  <p:par>
                    <p:cTn id="157" fill="hold">
                      <p:stCondLst>
                        <p:cond delay="indefinite"/>
                      </p:stCondLst>
                      <p:childTnLst>
                        <p:par>
                          <p:cTn id="158" fill="hold">
                            <p:stCondLst>
                              <p:cond delay="0"/>
                            </p:stCondLst>
                            <p:childTnLst>
                              <p:par>
                                <p:cTn id="161" presetID="10" presetClass="entr" presetSubtype="0" fill="hold" grpId="0" nodeType="clickEffect">
                                  <p:stCondLst>
                                    <p:cond delay="0"/>
                                  </p:stCondLst>
                                  <p:childTnLst>
                                    <p:set>
                                      <p:cBhvr>
                                        <p:cTn id="159" dur="1" fill="hold">
                                          <p:stCondLst>
                                            <p:cond delay="0"/>
                                          </p:stCondLst>
                                        </p:cTn>
                                        <p:tgtEl>
                                          <p:spTgt spid="61"/>
                                        </p:tgtEl>
                                        <p:attrNameLst>
                                          <p:attrName>style.visibility</p:attrName>
                                        </p:attrNameLst>
                                      </p:cBhvr>
                                      <p:to>
                                        <p:strVal val="visible"/>
                                      </p:to>
                                    </p:set>
                                    <p:animEffect transition="in" filter="fade">
                                      <p:cBhvr>
                                        <p:cTn id="160" dur="500"/>
                                        <p:tgtEl>
                                          <p:spTgt spid="61"/>
                                        </p:tgtEl>
                                      </p:cBhvr>
                                    </p:animEffect>
                                  </p:childTnLst>
                                </p:cTn>
                              </p:par>
                              <p:par>
                                <p:cTn id="164" presetID="10" presetClass="entr" presetSubtype="0" fill="hold" grpId="0" nodeType="withEffect">
                                  <p:stCondLst>
                                    <p:cond delay="0"/>
                                  </p:stCondLst>
                                  <p:childTnLst>
                                    <p:set>
                                      <p:cBhvr>
                                        <p:cTn id="162" dur="1" fill="hold">
                                          <p:stCondLst>
                                            <p:cond delay="0"/>
                                          </p:stCondLst>
                                        </p:cTn>
                                        <p:tgtEl>
                                          <p:spTgt spid="62"/>
                                        </p:tgtEl>
                                        <p:attrNameLst>
                                          <p:attrName>style.visibility</p:attrName>
                                        </p:attrNameLst>
                                      </p:cBhvr>
                                      <p:to>
                                        <p:strVal val="visible"/>
                                      </p:to>
                                    </p:set>
                                    <p:animEffect transition="in" filter="fade">
                                      <p:cBhvr>
                                        <p:cTn id="163" dur="500"/>
                                        <p:tgtEl>
                                          <p:spTgt spid="62"/>
                                        </p:tgtEl>
                                      </p:cBhvr>
                                    </p:animEffect>
                                  </p:childTnLst>
                                </p:cTn>
                              </p:par>
                              <p:par>
                                <p:cTn id="167" presetID="10" presetClass="entr" presetSubtype="0" fill="hold" grpId="0" nodeType="withEffect">
                                  <p:stCondLst>
                                    <p:cond delay="0"/>
                                  </p:stCondLst>
                                  <p:childTnLst>
                                    <p:set>
                                      <p:cBhvr>
                                        <p:cTn id="165" dur="1" fill="hold">
                                          <p:stCondLst>
                                            <p:cond delay="0"/>
                                          </p:stCondLst>
                                        </p:cTn>
                                        <p:tgtEl>
                                          <p:spTgt spid="63"/>
                                        </p:tgtEl>
                                        <p:attrNameLst>
                                          <p:attrName>style.visibility</p:attrName>
                                        </p:attrNameLst>
                                      </p:cBhvr>
                                      <p:to>
                                        <p:strVal val="visible"/>
                                      </p:to>
                                    </p:set>
                                    <p:animEffect transition="in" filter="fade">
                                      <p:cBhvr>
                                        <p:cTn id="166" dur="500"/>
                                        <p:tgtEl>
                                          <p:spTgt spid="63"/>
                                        </p:tgtEl>
                                      </p:cBhvr>
                                    </p:animEffect>
                                  </p:childTnLst>
                                </p:cTn>
                              </p:par>
                              <p:par>
                                <p:cTn id="170" presetID="10" presetClass="entr" presetSubtype="0" fill="hold" grpId="0" nodeType="withEffect">
                                  <p:stCondLst>
                                    <p:cond delay="0"/>
                                  </p:stCondLst>
                                  <p:childTnLst>
                                    <p:set>
                                      <p:cBhvr>
                                        <p:cTn id="168" dur="1" fill="hold">
                                          <p:stCondLst>
                                            <p:cond delay="0"/>
                                          </p:stCondLst>
                                        </p:cTn>
                                        <p:tgtEl>
                                          <p:spTgt spid="70"/>
                                        </p:tgtEl>
                                        <p:attrNameLst>
                                          <p:attrName>style.visibility</p:attrName>
                                        </p:attrNameLst>
                                      </p:cBhvr>
                                      <p:to>
                                        <p:strVal val="visible"/>
                                      </p:to>
                                    </p:set>
                                    <p:animEffect transition="in" filter="fade">
                                      <p:cBhvr>
                                        <p:cTn id="169" dur="500"/>
                                        <p:tgtEl>
                                          <p:spTgt spid="70"/>
                                        </p:tgtEl>
                                      </p:cBhvr>
                                    </p:animEffect>
                                  </p:childTnLst>
                                </p:cTn>
                              </p:par>
                              <p:par>
                                <p:cTn id="173" presetID="10" presetClass="entr" presetSubtype="0" fill="hold" grpId="0" nodeType="withEffect">
                                  <p:stCondLst>
                                    <p:cond delay="0"/>
                                  </p:stCondLst>
                                  <p:childTnLst>
                                    <p:set>
                                      <p:cBhvr>
                                        <p:cTn id="171" dur="1" fill="hold">
                                          <p:stCondLst>
                                            <p:cond delay="0"/>
                                          </p:stCondLst>
                                        </p:cTn>
                                        <p:tgtEl>
                                          <p:spTgt spid="71"/>
                                        </p:tgtEl>
                                        <p:attrNameLst>
                                          <p:attrName>style.visibility</p:attrName>
                                        </p:attrNameLst>
                                      </p:cBhvr>
                                      <p:to>
                                        <p:strVal val="visible"/>
                                      </p:to>
                                    </p:set>
                                    <p:animEffect transition="in" filter="fade">
                                      <p:cBhvr>
                                        <p:cTn id="172" dur="500"/>
                                        <p:tgtEl>
                                          <p:spTgt spid="71"/>
                                        </p:tgtEl>
                                      </p:cBhvr>
                                    </p:animEffect>
                                  </p:childTnLst>
                                </p:cTn>
                              </p:par>
                              <p:par>
                                <p:cTn id="176" presetID="10" presetClass="entr" presetSubtype="0" fill="hold" grpId="0" nodeType="withEffect">
                                  <p:stCondLst>
                                    <p:cond delay="0"/>
                                  </p:stCondLst>
                                  <p:childTnLst>
                                    <p:set>
                                      <p:cBhvr>
                                        <p:cTn id="174" dur="1" fill="hold">
                                          <p:stCondLst>
                                            <p:cond delay="0"/>
                                          </p:stCondLst>
                                        </p:cTn>
                                        <p:tgtEl>
                                          <p:spTgt spid="78"/>
                                        </p:tgtEl>
                                        <p:attrNameLst>
                                          <p:attrName>style.visibility</p:attrName>
                                        </p:attrNameLst>
                                      </p:cBhvr>
                                      <p:to>
                                        <p:strVal val="visible"/>
                                      </p:to>
                                    </p:set>
                                    <p:animEffect transition="in" filter="fade">
                                      <p:cBhvr>
                                        <p:cTn id="175" dur="500"/>
                                        <p:tgtEl>
                                          <p:spTgt spid="78"/>
                                        </p:tgtEl>
                                      </p:cBhvr>
                                    </p:animEffect>
                                  </p:childTnLst>
                                </p:cTn>
                              </p:par>
                              <p:par>
                                <p:cTn id="179" presetID="10" presetClass="entr" presetSubtype="0" fill="hold" grpId="0" nodeType="withEffect">
                                  <p:stCondLst>
                                    <p:cond delay="0"/>
                                  </p:stCondLst>
                                  <p:childTnLst>
                                    <p:set>
                                      <p:cBhvr>
                                        <p:cTn id="177" dur="1" fill="hold">
                                          <p:stCondLst>
                                            <p:cond delay="0"/>
                                          </p:stCondLst>
                                        </p:cTn>
                                        <p:tgtEl>
                                          <p:spTgt spid="79"/>
                                        </p:tgtEl>
                                        <p:attrNameLst>
                                          <p:attrName>style.visibility</p:attrName>
                                        </p:attrNameLst>
                                      </p:cBhvr>
                                      <p:to>
                                        <p:strVal val="visible"/>
                                      </p:to>
                                    </p:set>
                                    <p:animEffect transition="in" filter="fade">
                                      <p:cBhvr>
                                        <p:cTn id="178" dur="500"/>
                                        <p:tgtEl>
                                          <p:spTgt spid="79"/>
                                        </p:tgtEl>
                                      </p:cBhvr>
                                    </p:animEffect>
                                  </p:childTnLst>
                                </p:cTn>
                              </p:par>
                              <p:par>
                                <p:cTn id="182" presetID="22" presetClass="entr" presetSubtype="8" fill="hold" grpId="0" nodeType="withEffect">
                                  <p:stCondLst>
                                    <p:cond delay="120"/>
                                  </p:stCondLst>
                                  <p:childTnLst>
                                    <p:set>
                                      <p:cBhvr>
                                        <p:cTn id="180" dur="1" fill="hold">
                                          <p:stCondLst>
                                            <p:cond delay="0"/>
                                          </p:stCondLst>
                                        </p:cTn>
                                        <p:tgtEl>
                                          <p:spTgt spid="64"/>
                                        </p:tgtEl>
                                        <p:attrNameLst>
                                          <p:attrName>style.visibility</p:attrName>
                                        </p:attrNameLst>
                                      </p:cBhvr>
                                      <p:to>
                                        <p:strVal val="visible"/>
                                      </p:to>
                                    </p:set>
                                    <p:animEffect transition="in" filter="wipe(left)">
                                      <p:cBhvr>
                                        <p:cTn id="181" dur="500"/>
                                        <p:tgtEl>
                                          <p:spTgt spid="64"/>
                                        </p:tgtEl>
                                      </p:cBhvr>
                                    </p:animEffect>
                                  </p:childTnLst>
                                </p:cTn>
                              </p:par>
                              <p:par>
                                <p:cTn id="185" presetID="22" presetClass="entr" presetSubtype="8" fill="hold" grpId="0" nodeType="withEffect">
                                  <p:stCondLst>
                                    <p:cond delay="120"/>
                                  </p:stCondLst>
                                  <p:childTnLst>
                                    <p:set>
                                      <p:cBhvr>
                                        <p:cTn id="183" dur="1" fill="hold">
                                          <p:stCondLst>
                                            <p:cond delay="0"/>
                                          </p:stCondLst>
                                        </p:cTn>
                                        <p:tgtEl>
                                          <p:spTgt spid="65"/>
                                        </p:tgtEl>
                                        <p:attrNameLst>
                                          <p:attrName>style.visibility</p:attrName>
                                        </p:attrNameLst>
                                      </p:cBhvr>
                                      <p:to>
                                        <p:strVal val="visible"/>
                                      </p:to>
                                    </p:set>
                                    <p:animEffect transition="in" filter="wipe(left)">
                                      <p:cBhvr>
                                        <p:cTn id="184" dur="500"/>
                                        <p:tgtEl>
                                          <p:spTgt spid="65"/>
                                        </p:tgtEl>
                                      </p:cBhvr>
                                    </p:animEffect>
                                  </p:childTnLst>
                                </p:cTn>
                              </p:par>
                              <p:par>
                                <p:cTn id="188" presetID="22" presetClass="entr" presetSubtype="8" fill="hold" grpId="0" nodeType="withEffect">
                                  <p:stCondLst>
                                    <p:cond delay="120"/>
                                  </p:stCondLst>
                                  <p:childTnLst>
                                    <p:set>
                                      <p:cBhvr>
                                        <p:cTn id="186" dur="1" fill="hold">
                                          <p:stCondLst>
                                            <p:cond delay="0"/>
                                          </p:stCondLst>
                                        </p:cTn>
                                        <p:tgtEl>
                                          <p:spTgt spid="72"/>
                                        </p:tgtEl>
                                        <p:attrNameLst>
                                          <p:attrName>style.visibility</p:attrName>
                                        </p:attrNameLst>
                                      </p:cBhvr>
                                      <p:to>
                                        <p:strVal val="visible"/>
                                      </p:to>
                                    </p:set>
                                    <p:animEffect transition="in" filter="wipe(left)">
                                      <p:cBhvr>
                                        <p:cTn id="187" dur="500"/>
                                        <p:tgtEl>
                                          <p:spTgt spid="72"/>
                                        </p:tgtEl>
                                      </p:cBhvr>
                                    </p:animEffect>
                                  </p:childTnLst>
                                </p:cTn>
                              </p:par>
                              <p:par>
                                <p:cTn id="191" presetID="22" presetClass="entr" presetSubtype="8" fill="hold" grpId="0" nodeType="withEffect">
                                  <p:stCondLst>
                                    <p:cond delay="120"/>
                                  </p:stCondLst>
                                  <p:childTnLst>
                                    <p:set>
                                      <p:cBhvr>
                                        <p:cTn id="189" dur="1" fill="hold">
                                          <p:stCondLst>
                                            <p:cond delay="0"/>
                                          </p:stCondLst>
                                        </p:cTn>
                                        <p:tgtEl>
                                          <p:spTgt spid="73"/>
                                        </p:tgtEl>
                                        <p:attrNameLst>
                                          <p:attrName>style.visibility</p:attrName>
                                        </p:attrNameLst>
                                      </p:cBhvr>
                                      <p:to>
                                        <p:strVal val="visible"/>
                                      </p:to>
                                    </p:set>
                                    <p:animEffect transition="in" filter="wipe(left)">
                                      <p:cBhvr>
                                        <p:cTn id="190" dur="500"/>
                                        <p:tgtEl>
                                          <p:spTgt spid="73"/>
                                        </p:tgtEl>
                                      </p:cBhvr>
                                    </p:animEffect>
                                  </p:childTnLst>
                                </p:cTn>
                              </p:par>
                              <p:par>
                                <p:cTn id="194" presetID="22" presetClass="entr" presetSubtype="8" fill="hold" grpId="0" nodeType="withEffect">
                                  <p:stCondLst>
                                    <p:cond delay="120"/>
                                  </p:stCondLst>
                                  <p:childTnLst>
                                    <p:set>
                                      <p:cBhvr>
                                        <p:cTn id="192" dur="1" fill="hold">
                                          <p:stCondLst>
                                            <p:cond delay="0"/>
                                          </p:stCondLst>
                                        </p:cTn>
                                        <p:tgtEl>
                                          <p:spTgt spid="80"/>
                                        </p:tgtEl>
                                        <p:attrNameLst>
                                          <p:attrName>style.visibility</p:attrName>
                                        </p:attrNameLst>
                                      </p:cBhvr>
                                      <p:to>
                                        <p:strVal val="visible"/>
                                      </p:to>
                                    </p:set>
                                    <p:animEffect transition="in" filter="wipe(left)">
                                      <p:cBhvr>
                                        <p:cTn id="193" dur="500"/>
                                        <p:tgtEl>
                                          <p:spTgt spid="80"/>
                                        </p:tgtEl>
                                      </p:cBhvr>
                                    </p:animEffect>
                                  </p:childTnLst>
                                </p:cTn>
                              </p:par>
                              <p:par>
                                <p:cTn id="197" presetID="22" presetClass="entr" presetSubtype="8" fill="hold" grpId="0" nodeType="withEffect">
                                  <p:stCondLst>
                                    <p:cond delay="120"/>
                                  </p:stCondLst>
                                  <p:childTnLst>
                                    <p:set>
                                      <p:cBhvr>
                                        <p:cTn id="195" dur="1" fill="hold">
                                          <p:stCondLst>
                                            <p:cond delay="0"/>
                                          </p:stCondLst>
                                        </p:cTn>
                                        <p:tgtEl>
                                          <p:spTgt spid="81"/>
                                        </p:tgtEl>
                                        <p:attrNameLst>
                                          <p:attrName>style.visibility</p:attrName>
                                        </p:attrNameLst>
                                      </p:cBhvr>
                                      <p:to>
                                        <p:strVal val="visible"/>
                                      </p:to>
                                    </p:set>
                                    <p:animEffect transition="in" filter="wipe(left)">
                                      <p:cBhvr>
                                        <p:cTn id="196" dur="500"/>
                                        <p:tgtEl>
                                          <p:spTgt spid="81"/>
                                        </p:tgtEl>
                                      </p:cBhvr>
                                    </p:animEffect>
                                  </p:childTnLst>
                                </p:cTn>
                              </p:par>
                              <p:par>
                                <p:cTn id="200" presetID="22" presetClass="entr" presetSubtype="8" fill="hold" grpId="0" nodeType="withEffect">
                                  <p:stCondLst>
                                    <p:cond delay="240"/>
                                  </p:stCondLst>
                                  <p:childTnLst>
                                    <p:set>
                                      <p:cBhvr>
                                        <p:cTn id="198" dur="1" fill="hold">
                                          <p:stCondLst>
                                            <p:cond delay="0"/>
                                          </p:stCondLst>
                                        </p:cTn>
                                        <p:tgtEl>
                                          <p:spTgt spid="66"/>
                                        </p:tgtEl>
                                        <p:attrNameLst>
                                          <p:attrName>style.visibility</p:attrName>
                                        </p:attrNameLst>
                                      </p:cBhvr>
                                      <p:to>
                                        <p:strVal val="visible"/>
                                      </p:to>
                                    </p:set>
                                    <p:animEffect transition="in" filter="wipe(left)">
                                      <p:cBhvr>
                                        <p:cTn id="199" dur="500"/>
                                        <p:tgtEl>
                                          <p:spTgt spid="66"/>
                                        </p:tgtEl>
                                      </p:cBhvr>
                                    </p:animEffect>
                                  </p:childTnLst>
                                </p:cTn>
                              </p:par>
                              <p:par>
                                <p:cTn id="203" presetID="22" presetClass="entr" presetSubtype="8" fill="hold" grpId="0" nodeType="withEffect">
                                  <p:stCondLst>
                                    <p:cond delay="240"/>
                                  </p:stCondLst>
                                  <p:childTnLst>
                                    <p:set>
                                      <p:cBhvr>
                                        <p:cTn id="201" dur="1" fill="hold">
                                          <p:stCondLst>
                                            <p:cond delay="0"/>
                                          </p:stCondLst>
                                        </p:cTn>
                                        <p:tgtEl>
                                          <p:spTgt spid="67"/>
                                        </p:tgtEl>
                                        <p:attrNameLst>
                                          <p:attrName>style.visibility</p:attrName>
                                        </p:attrNameLst>
                                      </p:cBhvr>
                                      <p:to>
                                        <p:strVal val="visible"/>
                                      </p:to>
                                    </p:set>
                                    <p:animEffect transition="in" filter="wipe(left)">
                                      <p:cBhvr>
                                        <p:cTn id="202" dur="500"/>
                                        <p:tgtEl>
                                          <p:spTgt spid="67"/>
                                        </p:tgtEl>
                                      </p:cBhvr>
                                    </p:animEffect>
                                  </p:childTnLst>
                                </p:cTn>
                              </p:par>
                              <p:par>
                                <p:cTn id="206" presetID="22" presetClass="entr" presetSubtype="8" fill="hold" grpId="0" nodeType="withEffect">
                                  <p:stCondLst>
                                    <p:cond delay="240"/>
                                  </p:stCondLst>
                                  <p:childTnLst>
                                    <p:set>
                                      <p:cBhvr>
                                        <p:cTn id="204" dur="1" fill="hold">
                                          <p:stCondLst>
                                            <p:cond delay="0"/>
                                          </p:stCondLst>
                                        </p:cTn>
                                        <p:tgtEl>
                                          <p:spTgt spid="74"/>
                                        </p:tgtEl>
                                        <p:attrNameLst>
                                          <p:attrName>style.visibility</p:attrName>
                                        </p:attrNameLst>
                                      </p:cBhvr>
                                      <p:to>
                                        <p:strVal val="visible"/>
                                      </p:to>
                                    </p:set>
                                    <p:animEffect transition="in" filter="wipe(left)">
                                      <p:cBhvr>
                                        <p:cTn id="205" dur="500"/>
                                        <p:tgtEl>
                                          <p:spTgt spid="74"/>
                                        </p:tgtEl>
                                      </p:cBhvr>
                                    </p:animEffect>
                                  </p:childTnLst>
                                </p:cTn>
                              </p:par>
                              <p:par>
                                <p:cTn id="209" presetID="22" presetClass="entr" presetSubtype="8" fill="hold" grpId="0" nodeType="withEffect">
                                  <p:stCondLst>
                                    <p:cond delay="240"/>
                                  </p:stCondLst>
                                  <p:childTnLst>
                                    <p:set>
                                      <p:cBhvr>
                                        <p:cTn id="207" dur="1" fill="hold">
                                          <p:stCondLst>
                                            <p:cond delay="0"/>
                                          </p:stCondLst>
                                        </p:cTn>
                                        <p:tgtEl>
                                          <p:spTgt spid="75"/>
                                        </p:tgtEl>
                                        <p:attrNameLst>
                                          <p:attrName>style.visibility</p:attrName>
                                        </p:attrNameLst>
                                      </p:cBhvr>
                                      <p:to>
                                        <p:strVal val="visible"/>
                                      </p:to>
                                    </p:set>
                                    <p:animEffect transition="in" filter="wipe(left)">
                                      <p:cBhvr>
                                        <p:cTn id="208" dur="500"/>
                                        <p:tgtEl>
                                          <p:spTgt spid="75"/>
                                        </p:tgtEl>
                                      </p:cBhvr>
                                    </p:animEffect>
                                  </p:childTnLst>
                                </p:cTn>
                              </p:par>
                              <p:par>
                                <p:cTn id="212" presetID="22" presetClass="entr" presetSubtype="8" fill="hold" grpId="0" nodeType="withEffect">
                                  <p:stCondLst>
                                    <p:cond delay="240"/>
                                  </p:stCondLst>
                                  <p:childTnLst>
                                    <p:set>
                                      <p:cBhvr>
                                        <p:cTn id="210" dur="1" fill="hold">
                                          <p:stCondLst>
                                            <p:cond delay="0"/>
                                          </p:stCondLst>
                                        </p:cTn>
                                        <p:tgtEl>
                                          <p:spTgt spid="82"/>
                                        </p:tgtEl>
                                        <p:attrNameLst>
                                          <p:attrName>style.visibility</p:attrName>
                                        </p:attrNameLst>
                                      </p:cBhvr>
                                      <p:to>
                                        <p:strVal val="visible"/>
                                      </p:to>
                                    </p:set>
                                    <p:animEffect transition="in" filter="wipe(left)">
                                      <p:cBhvr>
                                        <p:cTn id="211" dur="500"/>
                                        <p:tgtEl>
                                          <p:spTgt spid="82"/>
                                        </p:tgtEl>
                                      </p:cBhvr>
                                    </p:animEffect>
                                  </p:childTnLst>
                                </p:cTn>
                              </p:par>
                              <p:par>
                                <p:cTn id="215" presetID="22" presetClass="entr" presetSubtype="8" fill="hold" grpId="0" nodeType="withEffect">
                                  <p:stCondLst>
                                    <p:cond delay="240"/>
                                  </p:stCondLst>
                                  <p:childTnLst>
                                    <p:set>
                                      <p:cBhvr>
                                        <p:cTn id="213" dur="1" fill="hold">
                                          <p:stCondLst>
                                            <p:cond delay="0"/>
                                          </p:stCondLst>
                                        </p:cTn>
                                        <p:tgtEl>
                                          <p:spTgt spid="83"/>
                                        </p:tgtEl>
                                        <p:attrNameLst>
                                          <p:attrName>style.visibility</p:attrName>
                                        </p:attrNameLst>
                                      </p:cBhvr>
                                      <p:to>
                                        <p:strVal val="visible"/>
                                      </p:to>
                                    </p:set>
                                    <p:animEffect transition="in" filter="wipe(left)">
                                      <p:cBhvr>
                                        <p:cTn id="214" dur="500"/>
                                        <p:tgtEl>
                                          <p:spTgt spid="83"/>
                                        </p:tgtEl>
                                      </p:cBhvr>
                                    </p:animEffect>
                                  </p:childTnLst>
                                </p:cTn>
                              </p:par>
                              <p:par>
                                <p:cTn id="218" presetID="22" presetClass="entr" presetSubtype="8" fill="hold" grpId="0" nodeType="withEffect">
                                  <p:stCondLst>
                                    <p:cond delay="360"/>
                                  </p:stCondLst>
                                  <p:childTnLst>
                                    <p:set>
                                      <p:cBhvr>
                                        <p:cTn id="216" dur="1" fill="hold">
                                          <p:stCondLst>
                                            <p:cond delay="0"/>
                                          </p:stCondLst>
                                        </p:cTn>
                                        <p:tgtEl>
                                          <p:spTgt spid="68"/>
                                        </p:tgtEl>
                                        <p:attrNameLst>
                                          <p:attrName>style.visibility</p:attrName>
                                        </p:attrNameLst>
                                      </p:cBhvr>
                                      <p:to>
                                        <p:strVal val="visible"/>
                                      </p:to>
                                    </p:set>
                                    <p:animEffect transition="in" filter="wipe(left)">
                                      <p:cBhvr>
                                        <p:cTn id="217" dur="500"/>
                                        <p:tgtEl>
                                          <p:spTgt spid="68"/>
                                        </p:tgtEl>
                                      </p:cBhvr>
                                    </p:animEffect>
                                  </p:childTnLst>
                                </p:cTn>
                              </p:par>
                              <p:par>
                                <p:cTn id="221" presetID="22" presetClass="entr" presetSubtype="8" fill="hold" grpId="0" nodeType="withEffect">
                                  <p:stCondLst>
                                    <p:cond delay="360"/>
                                  </p:stCondLst>
                                  <p:childTnLst>
                                    <p:set>
                                      <p:cBhvr>
                                        <p:cTn id="219" dur="1" fill="hold">
                                          <p:stCondLst>
                                            <p:cond delay="0"/>
                                          </p:stCondLst>
                                        </p:cTn>
                                        <p:tgtEl>
                                          <p:spTgt spid="69"/>
                                        </p:tgtEl>
                                        <p:attrNameLst>
                                          <p:attrName>style.visibility</p:attrName>
                                        </p:attrNameLst>
                                      </p:cBhvr>
                                      <p:to>
                                        <p:strVal val="visible"/>
                                      </p:to>
                                    </p:set>
                                    <p:animEffect transition="in" filter="wipe(left)">
                                      <p:cBhvr>
                                        <p:cTn id="220" dur="500"/>
                                        <p:tgtEl>
                                          <p:spTgt spid="69"/>
                                        </p:tgtEl>
                                      </p:cBhvr>
                                    </p:animEffect>
                                  </p:childTnLst>
                                </p:cTn>
                              </p:par>
                              <p:par>
                                <p:cTn id="224" presetID="22" presetClass="entr" presetSubtype="8" fill="hold" grpId="0" nodeType="withEffect">
                                  <p:stCondLst>
                                    <p:cond delay="360"/>
                                  </p:stCondLst>
                                  <p:childTnLst>
                                    <p:set>
                                      <p:cBhvr>
                                        <p:cTn id="222" dur="1" fill="hold">
                                          <p:stCondLst>
                                            <p:cond delay="0"/>
                                          </p:stCondLst>
                                        </p:cTn>
                                        <p:tgtEl>
                                          <p:spTgt spid="76"/>
                                        </p:tgtEl>
                                        <p:attrNameLst>
                                          <p:attrName>style.visibility</p:attrName>
                                        </p:attrNameLst>
                                      </p:cBhvr>
                                      <p:to>
                                        <p:strVal val="visible"/>
                                      </p:to>
                                    </p:set>
                                    <p:animEffect transition="in" filter="wipe(left)">
                                      <p:cBhvr>
                                        <p:cTn id="223" dur="500"/>
                                        <p:tgtEl>
                                          <p:spTgt spid="76"/>
                                        </p:tgtEl>
                                      </p:cBhvr>
                                    </p:animEffect>
                                  </p:childTnLst>
                                </p:cTn>
                              </p:par>
                              <p:par>
                                <p:cTn id="227" presetID="22" presetClass="entr" presetSubtype="8" fill="hold" grpId="0" nodeType="withEffect">
                                  <p:stCondLst>
                                    <p:cond delay="360"/>
                                  </p:stCondLst>
                                  <p:childTnLst>
                                    <p:set>
                                      <p:cBhvr>
                                        <p:cTn id="225" dur="1" fill="hold">
                                          <p:stCondLst>
                                            <p:cond delay="0"/>
                                          </p:stCondLst>
                                        </p:cTn>
                                        <p:tgtEl>
                                          <p:spTgt spid="77"/>
                                        </p:tgtEl>
                                        <p:attrNameLst>
                                          <p:attrName>style.visibility</p:attrName>
                                        </p:attrNameLst>
                                      </p:cBhvr>
                                      <p:to>
                                        <p:strVal val="visible"/>
                                      </p:to>
                                    </p:set>
                                    <p:animEffect transition="in" filter="wipe(left)">
                                      <p:cBhvr>
                                        <p:cTn id="226" dur="500"/>
                                        <p:tgtEl>
                                          <p:spTgt spid="77"/>
                                        </p:tgtEl>
                                      </p:cBhvr>
                                    </p:animEffect>
                                  </p:childTnLst>
                                </p:cTn>
                              </p:par>
                              <p:par>
                                <p:cTn id="230" presetID="22" presetClass="entr" presetSubtype="8" fill="hold" grpId="0" nodeType="withEffect">
                                  <p:stCondLst>
                                    <p:cond delay="360"/>
                                  </p:stCondLst>
                                  <p:childTnLst>
                                    <p:set>
                                      <p:cBhvr>
                                        <p:cTn id="228" dur="1" fill="hold">
                                          <p:stCondLst>
                                            <p:cond delay="0"/>
                                          </p:stCondLst>
                                        </p:cTn>
                                        <p:tgtEl>
                                          <p:spTgt spid="84"/>
                                        </p:tgtEl>
                                        <p:attrNameLst>
                                          <p:attrName>style.visibility</p:attrName>
                                        </p:attrNameLst>
                                      </p:cBhvr>
                                      <p:to>
                                        <p:strVal val="visible"/>
                                      </p:to>
                                    </p:set>
                                    <p:animEffect transition="in" filter="wipe(left)">
                                      <p:cBhvr>
                                        <p:cTn id="229" dur="500"/>
                                        <p:tgtEl>
                                          <p:spTgt spid="84"/>
                                        </p:tgtEl>
                                      </p:cBhvr>
                                    </p:animEffect>
                                  </p:childTnLst>
                                </p:cTn>
                              </p:par>
                              <p:par>
                                <p:cTn id="233" presetID="22" presetClass="entr" presetSubtype="8" fill="hold" grpId="0" nodeType="withEffect">
                                  <p:stCondLst>
                                    <p:cond delay="360"/>
                                  </p:stCondLst>
                                  <p:childTnLst>
                                    <p:set>
                                      <p:cBhvr>
                                        <p:cTn id="231" dur="1" fill="hold">
                                          <p:stCondLst>
                                            <p:cond delay="0"/>
                                          </p:stCondLst>
                                        </p:cTn>
                                        <p:tgtEl>
                                          <p:spTgt spid="85"/>
                                        </p:tgtEl>
                                        <p:attrNameLst>
                                          <p:attrName>style.visibility</p:attrName>
                                        </p:attrNameLst>
                                      </p:cBhvr>
                                      <p:to>
                                        <p:strVal val="visible"/>
                                      </p:to>
                                    </p:set>
                                    <p:animEffect transition="in" filter="wipe(left)">
                                      <p:cBhvr>
                                        <p:cTn id="232" dur="500"/>
                                        <p:tgtEl>
                                          <p:spTgt spid="85"/>
                                        </p:tgtEl>
                                      </p:cBhvr>
                                    </p:animEffect>
                                  </p:childTnLst>
                                </p:cTn>
                              </p:par>
                            </p:childTnLst>
                          </p:cTn>
                        </p:par>
                      </p:childTnLst>
                    </p:cTn>
                  </p:par>
                  <p:par>
                    <p:cTn id="234" fill="hold">
                      <p:stCondLst>
                        <p:cond delay="indefinite"/>
                      </p:stCondLst>
                      <p:childTnLst>
                        <p:par>
                          <p:cTn id="235" fill="hold">
                            <p:stCondLst>
                              <p:cond delay="0"/>
                            </p:stCondLst>
                            <p:childTnLst>
                              <p:par>
                                <p:cTn id="240" presetID="2" presetClass="entr" presetSubtype="4" fill="hold" grpId="0" nodeType="clickEffect">
                                  <p:stCondLst>
                                    <p:cond delay="0"/>
                                  </p:stCondLst>
                                  <p:childTnLst>
                                    <p:set>
                                      <p:cBhvr>
                                        <p:cTn id="236" dur="1" fill="hold">
                                          <p:stCondLst>
                                            <p:cond delay="0"/>
                                          </p:stCondLst>
                                        </p:cTn>
                                        <p:tgtEl>
                                          <p:spTgt spid="86"/>
                                        </p:tgtEl>
                                        <p:attrNameLst>
                                          <p:attrName>style.visibility</p:attrName>
                                        </p:attrNameLst>
                                      </p:cBhvr>
                                      <p:to>
                                        <p:strVal val="visible"/>
                                      </p:to>
                                    </p:set>
                                    <p:anim calcmode="lin" valueType="num">
                                      <p:cBhvr additive="base">
                                        <p:cTn id="237" dur="500" fill="hold"/>
                                        <p:tgtEl>
                                          <p:spTgt spid="86"/>
                                        </p:tgtEl>
                                        <p:attrNameLst>
                                          <p:attrName>ppt_x</p:attrName>
                                        </p:attrNameLst>
                                      </p:cBhvr>
                                      <p:tavLst>
                                        <p:tav tm="0">
                                          <p:val>
                                            <p:strVal val="#ppt_x"/>
                                          </p:val>
                                        </p:tav>
                                        <p:tav tm="100000">
                                          <p:val>
                                            <p:strVal val="#ppt_x"/>
                                          </p:val>
                                        </p:tav>
                                      </p:tavLst>
                                    </p:anim>
                                    <p:anim calcmode="lin" valueType="num">
                                      <p:cBhvr additive="base">
                                        <p:cTn id="238" dur="500" fill="hold"/>
                                        <p:tgtEl>
                                          <p:spTgt spid="86"/>
                                        </p:tgtEl>
                                        <p:attrNameLst>
                                          <p:attrName>ppt_y</p:attrName>
                                        </p:attrNameLst>
                                      </p:cBhvr>
                                      <p:tavLst>
                                        <p:tav tm="0">
                                          <p:val>
                                            <p:strVal val="#ppt_y+0.1"/>
                                          </p:val>
                                        </p:tav>
                                        <p:tav tm="100000">
                                          <p:val>
                                            <p:strVal val="#ppt_y"/>
                                          </p:val>
                                        </p:tav>
                                      </p:tavLst>
                                    </p:anim>
                                    <p:animEffect transition="in" filter="fade">
                                      <p:cBhvr>
                                        <p:cTn id="239" dur="500"/>
                                        <p:tgtEl>
                                          <p:spTgt spid="86"/>
                                        </p:tgtEl>
                                      </p:cBhvr>
                                    </p:animEffect>
                                  </p:childTnLst>
                                </p:cTn>
                              </p:par>
                              <p:par>
                                <p:cTn id="245" presetID="2" presetClass="entr" presetSubtype="4" fill="hold" grpId="0" nodeType="withEffect">
                                  <p:stCondLst>
                                    <p:cond delay="0"/>
                                  </p:stCondLst>
                                  <p:childTnLst>
                                    <p:set>
                                      <p:cBhvr>
                                        <p:cTn id="241" dur="1" fill="hold">
                                          <p:stCondLst>
                                            <p:cond delay="0"/>
                                          </p:stCondLst>
                                        </p:cTn>
                                        <p:tgtEl>
                                          <p:spTgt spid="87"/>
                                        </p:tgtEl>
                                        <p:attrNameLst>
                                          <p:attrName>style.visibility</p:attrName>
                                        </p:attrNameLst>
                                      </p:cBhvr>
                                      <p:to>
                                        <p:strVal val="visible"/>
                                      </p:to>
                                    </p:set>
                                    <p:anim calcmode="lin" valueType="num">
                                      <p:cBhvr additive="base">
                                        <p:cTn id="242" dur="500" fill="hold"/>
                                        <p:tgtEl>
                                          <p:spTgt spid="87"/>
                                        </p:tgtEl>
                                        <p:attrNameLst>
                                          <p:attrName>ppt_x</p:attrName>
                                        </p:attrNameLst>
                                      </p:cBhvr>
                                      <p:tavLst>
                                        <p:tav tm="0">
                                          <p:val>
                                            <p:strVal val="#ppt_x"/>
                                          </p:val>
                                        </p:tav>
                                        <p:tav tm="100000">
                                          <p:val>
                                            <p:strVal val="#ppt_x"/>
                                          </p:val>
                                        </p:tav>
                                      </p:tavLst>
                                    </p:anim>
                                    <p:anim calcmode="lin" valueType="num">
                                      <p:cBhvr additive="base">
                                        <p:cTn id="243" dur="500" fill="hold"/>
                                        <p:tgtEl>
                                          <p:spTgt spid="87"/>
                                        </p:tgtEl>
                                        <p:attrNameLst>
                                          <p:attrName>ppt_y</p:attrName>
                                        </p:attrNameLst>
                                      </p:cBhvr>
                                      <p:tavLst>
                                        <p:tav tm="0">
                                          <p:val>
                                            <p:strVal val="#ppt_y+0.1"/>
                                          </p:val>
                                        </p:tav>
                                        <p:tav tm="100000">
                                          <p:val>
                                            <p:strVal val="#ppt_y"/>
                                          </p:val>
                                        </p:tav>
                                      </p:tavLst>
                                    </p:anim>
                                    <p:animEffect transition="in" filter="fade">
                                      <p:cBhvr>
                                        <p:cTn id="244" dur="500"/>
                                        <p:tgtEl>
                                          <p:spTgt spid="87"/>
                                        </p:tgtEl>
                                      </p:cBhvr>
                                    </p:animEffect>
                                  </p:childTnLst>
                                </p:cTn>
                              </p:par>
                              <p:par>
                                <p:cTn id="250" presetID="2" presetClass="entr" presetSubtype="4" fill="hold" grpId="0" nodeType="withEffect">
                                  <p:stCondLst>
                                    <p:cond delay="0"/>
                                  </p:stCondLst>
                                  <p:childTnLst>
                                    <p:set>
                                      <p:cBhvr>
                                        <p:cTn id="246" dur="1" fill="hold">
                                          <p:stCondLst>
                                            <p:cond delay="0"/>
                                          </p:stCondLst>
                                        </p:cTn>
                                        <p:tgtEl>
                                          <p:spTgt spid="88"/>
                                        </p:tgtEl>
                                        <p:attrNameLst>
                                          <p:attrName>style.visibility</p:attrName>
                                        </p:attrNameLst>
                                      </p:cBhvr>
                                      <p:to>
                                        <p:strVal val="visible"/>
                                      </p:to>
                                    </p:set>
                                    <p:anim calcmode="lin" valueType="num">
                                      <p:cBhvr additive="base">
                                        <p:cTn id="247" dur="500" fill="hold"/>
                                        <p:tgtEl>
                                          <p:spTgt spid="88"/>
                                        </p:tgtEl>
                                        <p:attrNameLst>
                                          <p:attrName>ppt_x</p:attrName>
                                        </p:attrNameLst>
                                      </p:cBhvr>
                                      <p:tavLst>
                                        <p:tav tm="0">
                                          <p:val>
                                            <p:strVal val="#ppt_x"/>
                                          </p:val>
                                        </p:tav>
                                        <p:tav tm="100000">
                                          <p:val>
                                            <p:strVal val="#ppt_x"/>
                                          </p:val>
                                        </p:tav>
                                      </p:tavLst>
                                    </p:anim>
                                    <p:anim calcmode="lin" valueType="num">
                                      <p:cBhvr additive="base">
                                        <p:cTn id="248" dur="500" fill="hold"/>
                                        <p:tgtEl>
                                          <p:spTgt spid="88"/>
                                        </p:tgtEl>
                                        <p:attrNameLst>
                                          <p:attrName>ppt_y</p:attrName>
                                        </p:attrNameLst>
                                      </p:cBhvr>
                                      <p:tavLst>
                                        <p:tav tm="0">
                                          <p:val>
                                            <p:strVal val="#ppt_y+0.1"/>
                                          </p:val>
                                        </p:tav>
                                        <p:tav tm="100000">
                                          <p:val>
                                            <p:strVal val="#ppt_y"/>
                                          </p:val>
                                        </p:tav>
                                      </p:tavLst>
                                    </p:anim>
                                    <p:animEffect transition="in" filter="fade">
                                      <p:cBhvr>
                                        <p:cTn id="249"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Kafka: Think of Events First</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An event is something that happens in the world at a specific point in time</a:t>
            </a:r>
          </a:p>
        </p:txBody>
      </p:sp>
      <p:cxnSp>
        <p:nvCxnSpPr>
          <p:cNvPr id="11" name="a1f_ln10"/>
          <p:cNvCxnSpPr/>
          <p:nvPr/>
        </p:nvCxnSpPr>
        <p:spPr>
          <a:xfrm>
            <a:off x="548640" y="2743200"/>
            <a:ext cx="7955280" cy="0"/>
          </a:xfrm>
          <a:prstGeom prst="line">
            <a:avLst/>
          </a:prstGeom>
          <a:ln w="25400">
            <a:solidFill>
              <a:srgbClr val="78716C"/>
            </a:solidFill>
          </a:ln>
        </p:spPr>
        <p:style>
          <a:lnRef idx="2">
            <a:schemeClr val="accent1"/>
          </a:lnRef>
          <a:fillRef idx="0">
            <a:schemeClr val="accent1"/>
          </a:fillRef>
          <a:effectRef idx="1">
            <a:schemeClr val="accent1"/>
          </a:effectRef>
          <a:fontRef idx="minor">
            <a:schemeClr val="tx1"/>
          </a:fontRef>
        </p:style>
      </p:cxnSp>
      <p:cxnSp>
        <p:nvCxnSpPr>
          <p:cNvPr id="12" name="a1f_ar11"/>
          <p:cNvCxnSpPr/>
          <p:nvPr/>
        </p:nvCxnSpPr>
        <p:spPr>
          <a:xfrm>
            <a:off x="8229600" y="2743200"/>
            <a:ext cx="411480" cy="0"/>
          </a:xfrm>
          <a:prstGeom prst="line">
            <a:avLst/>
          </a:prstGeom>
          <a:ln w="2540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a1f_lb12"/>
          <p:cNvSpPr txBox="1"/>
          <p:nvPr/>
        </p:nvSpPr>
        <p:spPr>
          <a:xfrm>
            <a:off x="7863840" y="2816352"/>
            <a:ext cx="777240" cy="201168"/>
          </a:xfrm>
          <a:prstGeom prst="rect">
            <a:avLst/>
          </a:prstGeom>
          <a:noFill/>
        </p:spPr>
        <p:txBody>
          <a:bodyPr wrap="square" lIns="0" tIns="0" rIns="0" bIns="0" anchor="ctr">
            <a:spAutoFit/>
          </a:bodyPr>
          <a:lstStyle/>
          <a:p>
            <a:pPr algn="r"/>
            <a:r>
              <a:rPr sz="850" b="1">
                <a:solidFill>
                  <a:srgbClr val="78716C"/>
                </a:solidFill>
                <a:latin typeface="Segoe UI"/>
              </a:rPr>
              <a:t>time</a:t>
            </a:r>
          </a:p>
        </p:txBody>
      </p:sp>
      <p:sp>
        <p:nvSpPr>
          <p:cNvPr id="14" name="a2u_nd13"/>
          <p:cNvSpPr/>
          <p:nvPr/>
        </p:nvSpPr>
        <p:spPr>
          <a:xfrm>
            <a:off x="457200" y="1325880"/>
            <a:ext cx="2377440" cy="960120"/>
          </a:xfrm>
          <a:prstGeom prst="roundRect">
            <a:avLst>
              <a:gd name="adj" fmla="val 7619"/>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2u_ndt14"/>
          <p:cNvSpPr txBox="1"/>
          <p:nvPr/>
        </p:nvSpPr>
        <p:spPr>
          <a:xfrm>
            <a:off x="502920" y="1362456"/>
            <a:ext cx="2286000" cy="461772"/>
          </a:xfrm>
          <a:prstGeom prst="rect">
            <a:avLst/>
          </a:prstGeom>
          <a:noFill/>
        </p:spPr>
        <p:txBody>
          <a:bodyPr wrap="square" lIns="0" tIns="0" rIns="0" bIns="0" anchor="b">
            <a:spAutoFit/>
          </a:bodyPr>
          <a:lstStyle/>
          <a:p>
            <a:pPr algn="ctr"/>
            <a:r>
              <a:rPr sz="1150" b="1">
                <a:solidFill>
                  <a:srgbClr val="1C1917"/>
                </a:solidFill>
                <a:latin typeface="Segoe UI"/>
              </a:rPr>
              <a:t>An item is sold</a:t>
            </a:r>
          </a:p>
        </p:txBody>
      </p:sp>
      <p:sp>
        <p:nvSpPr>
          <p:cNvPr id="16" name="a2u_nds15"/>
          <p:cNvSpPr txBox="1"/>
          <p:nvPr/>
        </p:nvSpPr>
        <p:spPr>
          <a:xfrm>
            <a:off x="502920" y="1833372"/>
            <a:ext cx="2286000" cy="416052"/>
          </a:xfrm>
          <a:prstGeom prst="rect">
            <a:avLst/>
          </a:prstGeom>
          <a:noFill/>
        </p:spPr>
        <p:txBody>
          <a:bodyPr wrap="square" lIns="0" tIns="0" rIns="0" bIns="0" anchor="t">
            <a:spAutoFit/>
          </a:bodyPr>
          <a:lstStyle/>
          <a:p>
            <a:pPr algn="ctr"/>
            <a:r>
              <a:rPr sz="850" b="0">
                <a:solidFill>
                  <a:srgbClr val="EA580C"/>
                </a:solidFill>
                <a:latin typeface="Segoe UI"/>
              </a:rPr>
              <a:t>from the inventory</a:t>
            </a:r>
          </a:p>
        </p:txBody>
      </p:sp>
      <p:cxnSp>
        <p:nvCxnSpPr>
          <p:cNvPr id="17" name="a2u_wr16"/>
          <p:cNvCxnSpPr/>
          <p:nvPr/>
        </p:nvCxnSpPr>
        <p:spPr>
          <a:xfrm>
            <a:off x="1645920" y="2304288"/>
            <a:ext cx="0" cy="347472"/>
          </a:xfrm>
          <a:prstGeom prst="line">
            <a:avLst/>
          </a:prstGeom>
          <a:ln w="19050">
            <a:solidFill>
              <a:srgbClr val="EA580C"/>
            </a:solidFill>
          </a:ln>
        </p:spPr>
        <p:style>
          <a:lnRef idx="2">
            <a:schemeClr val="accent1"/>
          </a:lnRef>
          <a:fillRef idx="0">
            <a:schemeClr val="accent1"/>
          </a:fillRef>
          <a:effectRef idx="1">
            <a:schemeClr val="accent1"/>
          </a:effectRef>
          <a:fontRef idx="minor">
            <a:schemeClr val="tx1"/>
          </a:fontRef>
        </p:style>
      </p:cxnSp>
      <p:sp>
        <p:nvSpPr>
          <p:cNvPr id="18" name="a2u_dot17"/>
          <p:cNvSpPr/>
          <p:nvPr/>
        </p:nvSpPr>
        <p:spPr>
          <a:xfrm>
            <a:off x="1563624" y="2660904"/>
            <a:ext cx="164592" cy="16459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2u_lb18"/>
          <p:cNvSpPr txBox="1"/>
          <p:nvPr/>
        </p:nvSpPr>
        <p:spPr>
          <a:xfrm>
            <a:off x="731520" y="2871216"/>
            <a:ext cx="1828800" cy="201168"/>
          </a:xfrm>
          <a:prstGeom prst="rect">
            <a:avLst/>
          </a:prstGeom>
          <a:noFill/>
        </p:spPr>
        <p:txBody>
          <a:bodyPr wrap="square" lIns="0" tIns="0" rIns="0" bIns="0" anchor="ctr">
            <a:spAutoFit/>
          </a:bodyPr>
          <a:lstStyle/>
          <a:p>
            <a:pPr algn="ctr"/>
            <a:r>
              <a:rPr sz="900" b="1">
                <a:solidFill>
                  <a:srgbClr val="EA580C"/>
                </a:solidFill>
                <a:latin typeface="Consolas"/>
              </a:rPr>
              <a:t>09:41:07.120</a:t>
            </a:r>
          </a:p>
        </p:txBody>
      </p:sp>
      <p:sp>
        <p:nvSpPr>
          <p:cNvPr id="20" name="a3u_nd19"/>
          <p:cNvSpPr/>
          <p:nvPr/>
        </p:nvSpPr>
        <p:spPr>
          <a:xfrm>
            <a:off x="3200400" y="1325880"/>
            <a:ext cx="2377440" cy="960120"/>
          </a:xfrm>
          <a:prstGeom prst="roundRect">
            <a:avLst>
              <a:gd name="adj" fmla="val 7619"/>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3u_ndt20"/>
          <p:cNvSpPr txBox="1"/>
          <p:nvPr/>
        </p:nvSpPr>
        <p:spPr>
          <a:xfrm>
            <a:off x="3246120" y="1362456"/>
            <a:ext cx="2286000" cy="461772"/>
          </a:xfrm>
          <a:prstGeom prst="rect">
            <a:avLst/>
          </a:prstGeom>
          <a:noFill/>
        </p:spPr>
        <p:txBody>
          <a:bodyPr wrap="square" lIns="0" tIns="0" rIns="0" bIns="0" anchor="b">
            <a:spAutoFit/>
          </a:bodyPr>
          <a:lstStyle/>
          <a:p>
            <a:pPr algn="ctr"/>
            <a:r>
              <a:rPr sz="1150" b="1">
                <a:solidFill>
                  <a:srgbClr val="1C1917"/>
                </a:solidFill>
                <a:latin typeface="Segoe UI"/>
              </a:rPr>
              <a:t>A driver uses the turn signal</a:t>
            </a:r>
          </a:p>
        </p:txBody>
      </p:sp>
      <p:sp>
        <p:nvSpPr>
          <p:cNvPr id="22" name="a3u_nds21"/>
          <p:cNvSpPr txBox="1"/>
          <p:nvPr/>
        </p:nvSpPr>
        <p:spPr>
          <a:xfrm>
            <a:off x="3246120" y="1833372"/>
            <a:ext cx="2286000" cy="416052"/>
          </a:xfrm>
          <a:prstGeom prst="rect">
            <a:avLst/>
          </a:prstGeom>
          <a:noFill/>
        </p:spPr>
        <p:txBody>
          <a:bodyPr wrap="square" lIns="0" tIns="0" rIns="0" bIns="0" anchor="t">
            <a:spAutoFit/>
          </a:bodyPr>
          <a:lstStyle/>
          <a:p>
            <a:pPr algn="ctr"/>
            <a:r>
              <a:rPr sz="850" b="0">
                <a:solidFill>
                  <a:srgbClr val="0E7490"/>
                </a:solidFill>
                <a:latin typeface="Segoe UI"/>
              </a:rPr>
              <a:t>in a connected smart car</a:t>
            </a:r>
          </a:p>
        </p:txBody>
      </p:sp>
      <p:cxnSp>
        <p:nvCxnSpPr>
          <p:cNvPr id="23" name="a3u_wr22"/>
          <p:cNvCxnSpPr/>
          <p:nvPr/>
        </p:nvCxnSpPr>
        <p:spPr>
          <a:xfrm>
            <a:off x="4389120" y="2304288"/>
            <a:ext cx="0" cy="347472"/>
          </a:xfrm>
          <a:prstGeom prst="line">
            <a:avLst/>
          </a:prstGeom>
          <a:ln w="19050">
            <a:solidFill>
              <a:srgbClr val="0E7490"/>
            </a:solidFill>
          </a:ln>
        </p:spPr>
        <p:style>
          <a:lnRef idx="2">
            <a:schemeClr val="accent1"/>
          </a:lnRef>
          <a:fillRef idx="0">
            <a:schemeClr val="accent1"/>
          </a:fillRef>
          <a:effectRef idx="1">
            <a:schemeClr val="accent1"/>
          </a:effectRef>
          <a:fontRef idx="minor">
            <a:schemeClr val="tx1"/>
          </a:fontRef>
        </p:style>
      </p:cxnSp>
      <p:sp>
        <p:nvSpPr>
          <p:cNvPr id="24" name="a3u_dot23"/>
          <p:cNvSpPr/>
          <p:nvPr/>
        </p:nvSpPr>
        <p:spPr>
          <a:xfrm>
            <a:off x="4306824" y="2660904"/>
            <a:ext cx="164592" cy="164592"/>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3u_lb24"/>
          <p:cNvSpPr txBox="1"/>
          <p:nvPr/>
        </p:nvSpPr>
        <p:spPr>
          <a:xfrm>
            <a:off x="3474720" y="2871216"/>
            <a:ext cx="1828800" cy="201168"/>
          </a:xfrm>
          <a:prstGeom prst="rect">
            <a:avLst/>
          </a:prstGeom>
          <a:noFill/>
        </p:spPr>
        <p:txBody>
          <a:bodyPr wrap="square" lIns="0" tIns="0" rIns="0" bIns="0" anchor="ctr">
            <a:spAutoFit/>
          </a:bodyPr>
          <a:lstStyle/>
          <a:p>
            <a:pPr algn="ctr"/>
            <a:r>
              <a:rPr sz="900" b="1">
                <a:solidFill>
                  <a:srgbClr val="0E7490"/>
                </a:solidFill>
                <a:latin typeface="Consolas"/>
              </a:rPr>
              <a:t>09:41:07.415</a:t>
            </a:r>
          </a:p>
        </p:txBody>
      </p:sp>
      <p:sp>
        <p:nvSpPr>
          <p:cNvPr id="26" name="a4u_nd25"/>
          <p:cNvSpPr/>
          <p:nvPr/>
        </p:nvSpPr>
        <p:spPr>
          <a:xfrm>
            <a:off x="5943600" y="1325880"/>
            <a:ext cx="2377440" cy="960120"/>
          </a:xfrm>
          <a:prstGeom prst="roundRect">
            <a:avLst>
              <a:gd name="adj" fmla="val 7619"/>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4u_ndt26"/>
          <p:cNvSpPr txBox="1"/>
          <p:nvPr/>
        </p:nvSpPr>
        <p:spPr>
          <a:xfrm>
            <a:off x="5989320" y="1362456"/>
            <a:ext cx="2286000" cy="461772"/>
          </a:xfrm>
          <a:prstGeom prst="rect">
            <a:avLst/>
          </a:prstGeom>
          <a:noFill/>
        </p:spPr>
        <p:txBody>
          <a:bodyPr wrap="square" lIns="0" tIns="0" rIns="0" bIns="0" anchor="b">
            <a:spAutoFit/>
          </a:bodyPr>
          <a:lstStyle/>
          <a:p>
            <a:pPr algn="ctr"/>
            <a:r>
              <a:rPr sz="1150" b="1">
                <a:solidFill>
                  <a:srgbClr val="1C1917"/>
                </a:solidFill>
                <a:latin typeface="Segoe UI"/>
              </a:rPr>
              <a:t>A user clicks</a:t>
            </a:r>
          </a:p>
        </p:txBody>
      </p:sp>
      <p:sp>
        <p:nvSpPr>
          <p:cNvPr id="28" name="a4u_nds27"/>
          <p:cNvSpPr txBox="1"/>
          <p:nvPr/>
        </p:nvSpPr>
        <p:spPr>
          <a:xfrm>
            <a:off x="5989320" y="1833372"/>
            <a:ext cx="2286000" cy="416052"/>
          </a:xfrm>
          <a:prstGeom prst="rect">
            <a:avLst/>
          </a:prstGeom>
          <a:noFill/>
        </p:spPr>
        <p:txBody>
          <a:bodyPr wrap="square" lIns="0" tIns="0" rIns="0" bIns="0" anchor="t">
            <a:spAutoFit/>
          </a:bodyPr>
          <a:lstStyle/>
          <a:p>
            <a:pPr algn="ctr"/>
            <a:r>
              <a:rPr sz="850" b="0">
                <a:solidFill>
                  <a:srgbClr val="A16207"/>
                </a:solidFill>
                <a:latin typeface="Segoe UI"/>
              </a:rPr>
              <a:t>somewhere on your site</a:t>
            </a:r>
          </a:p>
        </p:txBody>
      </p:sp>
      <p:cxnSp>
        <p:nvCxnSpPr>
          <p:cNvPr id="29" name="a4u_wr28"/>
          <p:cNvCxnSpPr/>
          <p:nvPr/>
        </p:nvCxnSpPr>
        <p:spPr>
          <a:xfrm>
            <a:off x="7132320" y="2304288"/>
            <a:ext cx="0" cy="347472"/>
          </a:xfrm>
          <a:prstGeom prst="line">
            <a:avLst/>
          </a:prstGeom>
          <a:ln w="19050">
            <a:solidFill>
              <a:srgbClr val="A16207"/>
            </a:solidFill>
          </a:ln>
        </p:spPr>
        <p:style>
          <a:lnRef idx="2">
            <a:schemeClr val="accent1"/>
          </a:lnRef>
          <a:fillRef idx="0">
            <a:schemeClr val="accent1"/>
          </a:fillRef>
          <a:effectRef idx="1">
            <a:schemeClr val="accent1"/>
          </a:effectRef>
          <a:fontRef idx="minor">
            <a:schemeClr val="tx1"/>
          </a:fontRef>
        </p:style>
      </p:cxnSp>
      <p:sp>
        <p:nvSpPr>
          <p:cNvPr id="30" name="a4u_dot29"/>
          <p:cNvSpPr/>
          <p:nvPr/>
        </p:nvSpPr>
        <p:spPr>
          <a:xfrm>
            <a:off x="7050024" y="2660904"/>
            <a:ext cx="164592" cy="164592"/>
          </a:xfrm>
          <a:prstGeom prst="ellipse">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4u_lb30"/>
          <p:cNvSpPr txBox="1"/>
          <p:nvPr/>
        </p:nvSpPr>
        <p:spPr>
          <a:xfrm>
            <a:off x="6217920" y="2871216"/>
            <a:ext cx="1828800" cy="201168"/>
          </a:xfrm>
          <a:prstGeom prst="rect">
            <a:avLst/>
          </a:prstGeom>
          <a:noFill/>
        </p:spPr>
        <p:txBody>
          <a:bodyPr wrap="square" lIns="0" tIns="0" rIns="0" bIns="0" anchor="ctr">
            <a:spAutoFit/>
          </a:bodyPr>
          <a:lstStyle/>
          <a:p>
            <a:pPr algn="ctr"/>
            <a:r>
              <a:rPr sz="900" b="1">
                <a:solidFill>
                  <a:srgbClr val="A16207"/>
                </a:solidFill>
                <a:latin typeface="Consolas"/>
              </a:rPr>
              <a:t>09:41:08.002</a:t>
            </a:r>
          </a:p>
        </p:txBody>
      </p:sp>
      <p:sp>
        <p:nvSpPr>
          <p:cNvPr id="32" name="a5u_nb31"/>
          <p:cNvSpPr/>
          <p:nvPr/>
        </p:nvSpPr>
        <p:spPr>
          <a:xfrm>
            <a:off x="457200" y="3429000"/>
            <a:ext cx="8229600" cy="731520"/>
          </a:xfrm>
          <a:prstGeom prst="roundRect">
            <a:avLst>
              <a:gd name="adj" fmla="val 1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5u_nacc32"/>
          <p:cNvSpPr/>
          <p:nvPr/>
        </p:nvSpPr>
        <p:spPr>
          <a:xfrm>
            <a:off x="457200" y="3429000"/>
            <a:ext cx="54864" cy="7315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5u_nt33"/>
          <p:cNvSpPr txBox="1"/>
          <p:nvPr/>
        </p:nvSpPr>
        <p:spPr>
          <a:xfrm>
            <a:off x="658368" y="3429000"/>
            <a:ext cx="7827264" cy="731520"/>
          </a:xfrm>
          <a:prstGeom prst="rect">
            <a:avLst/>
          </a:prstGeom>
          <a:noFill/>
        </p:spPr>
        <p:txBody>
          <a:bodyPr wrap="square" lIns="0" tIns="0" rIns="0" bIns="0" anchor="ctr">
            <a:spAutoFit/>
          </a:bodyPr>
          <a:lstStyle/>
          <a:p>
            <a:pPr algn="l"/>
            <a:r>
              <a:rPr sz="1000" b="1">
                <a:solidFill>
                  <a:srgbClr val="C2410C"/>
                </a:solidFill>
                <a:latin typeface="Segoe UI"/>
              </a:rPr>
              <a:t>KEY  </a:t>
            </a:r>
            <a:r>
              <a:rPr sz="1000" b="0">
                <a:solidFill>
                  <a:srgbClr val="44403C"/>
                </a:solidFill>
                <a:latin typeface="Segoe UI"/>
              </a:rPr>
              <a:t>Thinking in things is the habit. Kafka encourages you to start from events instead - the same inventory, cars and users, seen as what happens to them.</a:t>
            </a:r>
          </a:p>
        </p:txBody>
      </p:sp>
      <p:sp>
        <p:nvSpPr>
          <p:cNvPr id="35" name="ft34"/>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04</a:t>
            </a:r>
          </a:p>
        </p:txBody>
      </p:sp>
      <p:sp>
        <p:nvSpPr>
          <p:cNvPr id="36" name="ft35"/>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ft36"/>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Introduction</a:t>
            </a:r>
          </a:p>
        </p:txBody>
      </p:sp>
      <p:sp>
        <p:nvSpPr>
          <p:cNvPr id="38" name="ft37"/>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20" presetID="2" presetClass="entr" presetSubtype="4"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ppt_y+0.1"/>
                                          </p:val>
                                        </p:tav>
                                        <p:tav tm="100000">
                                          <p:val>
                                            <p:strVal val="#ppt_y"/>
                                          </p:val>
                                        </p:tav>
                                      </p:tavLst>
                                    </p:anim>
                                    <p:animEffect transition="in" filter="fade">
                                      <p:cBhvr>
                                        <p:cTn id="19" dur="500"/>
                                        <p:tgtEl>
                                          <p:spTgt spid="14"/>
                                        </p:tgtEl>
                                      </p:cBhvr>
                                    </p:animEffect>
                                  </p:childTnLst>
                                </p:cTn>
                              </p:par>
                              <p:par>
                                <p:cTn id="25" presetID="2" presetClass="entr" presetSubtype="4"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additive="base">
                                        <p:cTn id="22" dur="500" fill="hold"/>
                                        <p:tgtEl>
                                          <p:spTgt spid="15"/>
                                        </p:tgtEl>
                                        <p:attrNameLst>
                                          <p:attrName>ppt_x</p:attrName>
                                        </p:attrNameLst>
                                      </p:cBhvr>
                                      <p:tavLst>
                                        <p:tav tm="0">
                                          <p:val>
                                            <p:strVal val="#ppt_x"/>
                                          </p:val>
                                        </p:tav>
                                        <p:tav tm="100000">
                                          <p:val>
                                            <p:strVal val="#ppt_x"/>
                                          </p:val>
                                        </p:tav>
                                      </p:tavLst>
                                    </p:anim>
                                    <p:anim calcmode="lin" valueType="num">
                                      <p:cBhvr additive="base">
                                        <p:cTn id="23" dur="500" fill="hold"/>
                                        <p:tgtEl>
                                          <p:spTgt spid="15"/>
                                        </p:tgtEl>
                                        <p:attrNameLst>
                                          <p:attrName>ppt_y</p:attrName>
                                        </p:attrNameLst>
                                      </p:cBhvr>
                                      <p:tavLst>
                                        <p:tav tm="0">
                                          <p:val>
                                            <p:strVal val="#ppt_y+0.1"/>
                                          </p:val>
                                        </p:tav>
                                        <p:tav tm="100000">
                                          <p:val>
                                            <p:strVal val="#ppt_y"/>
                                          </p:val>
                                        </p:tav>
                                      </p:tavLst>
                                    </p:anim>
                                    <p:animEffect transition="in" filter="fade">
                                      <p:cBhvr>
                                        <p:cTn id="24" dur="500"/>
                                        <p:tgtEl>
                                          <p:spTgt spid="15"/>
                                        </p:tgtEl>
                                      </p:cBhvr>
                                    </p:animEffect>
                                  </p:childTnLst>
                                </p:cTn>
                              </p:par>
                              <p:par>
                                <p:cTn id="30" presetID="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ppt_x"/>
                                          </p:val>
                                        </p:tav>
                                        <p:tav tm="100000">
                                          <p:val>
                                            <p:strVal val="#ppt_x"/>
                                          </p:val>
                                        </p:tav>
                                      </p:tavLst>
                                    </p:anim>
                                    <p:anim calcmode="lin" valueType="num">
                                      <p:cBhvr additive="base">
                                        <p:cTn id="28" dur="500" fill="hold"/>
                                        <p:tgtEl>
                                          <p:spTgt spid="16"/>
                                        </p:tgtEl>
                                        <p:attrNameLst>
                                          <p:attrName>ppt_y</p:attrName>
                                        </p:attrNameLst>
                                      </p:cBhvr>
                                      <p:tavLst>
                                        <p:tav tm="0">
                                          <p:val>
                                            <p:strVal val="#ppt_y+0.1"/>
                                          </p:val>
                                        </p:tav>
                                        <p:tav tm="100000">
                                          <p:val>
                                            <p:strVal val="#ppt_y"/>
                                          </p:val>
                                        </p:tav>
                                      </p:tavLst>
                                    </p:anim>
                                    <p:animEffect transition="in" filter="fade">
                                      <p:cBhvr>
                                        <p:cTn id="29" dur="500"/>
                                        <p:tgtEl>
                                          <p:spTgt spid="16"/>
                                        </p:tgtEl>
                                      </p:cBhvr>
                                    </p:animEffect>
                                  </p:childTnLst>
                                </p:cTn>
                              </p:par>
                              <p:par>
                                <p:cTn id="35" presetID="2" presetClass="entr" presetSubtype="4"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additive="base">
                                        <p:cTn id="32" dur="500" fill="hold"/>
                                        <p:tgtEl>
                                          <p:spTgt spid="17"/>
                                        </p:tgtEl>
                                        <p:attrNameLst>
                                          <p:attrName>ppt_x</p:attrName>
                                        </p:attrNameLst>
                                      </p:cBhvr>
                                      <p:tavLst>
                                        <p:tav tm="0">
                                          <p:val>
                                            <p:strVal val="#ppt_x"/>
                                          </p:val>
                                        </p:tav>
                                        <p:tav tm="100000">
                                          <p:val>
                                            <p:strVal val="#ppt_x"/>
                                          </p:val>
                                        </p:tav>
                                      </p:tavLst>
                                    </p:anim>
                                    <p:anim calcmode="lin" valueType="num">
                                      <p:cBhvr additive="base">
                                        <p:cTn id="33" dur="500" fill="hold"/>
                                        <p:tgtEl>
                                          <p:spTgt spid="17"/>
                                        </p:tgtEl>
                                        <p:attrNameLst>
                                          <p:attrName>ppt_y</p:attrName>
                                        </p:attrNameLst>
                                      </p:cBhvr>
                                      <p:tavLst>
                                        <p:tav tm="0">
                                          <p:val>
                                            <p:strVal val="#ppt_y+0.1"/>
                                          </p:val>
                                        </p:tav>
                                        <p:tav tm="100000">
                                          <p:val>
                                            <p:strVal val="#ppt_y"/>
                                          </p:val>
                                        </p:tav>
                                      </p:tavLst>
                                    </p:anim>
                                    <p:animEffect transition="in" filter="fade">
                                      <p:cBhvr>
                                        <p:cTn id="34" dur="500"/>
                                        <p:tgtEl>
                                          <p:spTgt spid="17"/>
                                        </p:tgtEl>
                                      </p:cBhvr>
                                    </p:animEffect>
                                  </p:childTnLst>
                                </p:cTn>
                              </p:par>
                              <p:par>
                                <p:cTn id="40" presetID="2" presetClass="entr" presetSubtype="4"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ppt_x"/>
                                          </p:val>
                                        </p:tav>
                                        <p:tav tm="100000">
                                          <p:val>
                                            <p:strVal val="#ppt_x"/>
                                          </p:val>
                                        </p:tav>
                                      </p:tavLst>
                                    </p:anim>
                                    <p:anim calcmode="lin" valueType="num">
                                      <p:cBhvr additive="base">
                                        <p:cTn id="38" dur="500" fill="hold"/>
                                        <p:tgtEl>
                                          <p:spTgt spid="18"/>
                                        </p:tgtEl>
                                        <p:attrNameLst>
                                          <p:attrName>ppt_y</p:attrName>
                                        </p:attrNameLst>
                                      </p:cBhvr>
                                      <p:tavLst>
                                        <p:tav tm="0">
                                          <p:val>
                                            <p:strVal val="#ppt_y+0.1"/>
                                          </p:val>
                                        </p:tav>
                                        <p:tav tm="100000">
                                          <p:val>
                                            <p:strVal val="#ppt_y"/>
                                          </p:val>
                                        </p:tav>
                                      </p:tavLst>
                                    </p:anim>
                                    <p:animEffect transition="in" filter="fade">
                                      <p:cBhvr>
                                        <p:cTn id="39" dur="500"/>
                                        <p:tgtEl>
                                          <p:spTgt spid="18"/>
                                        </p:tgtEl>
                                      </p:cBhvr>
                                    </p:animEffect>
                                  </p:childTnLst>
                                </p:cTn>
                              </p:par>
                              <p:par>
                                <p:cTn id="45" presetID="2" presetClass="entr" presetSubtype="4"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 calcmode="lin" valueType="num">
                                      <p:cBhvr additive="base">
                                        <p:cTn id="42" dur="500" fill="hold"/>
                                        <p:tgtEl>
                                          <p:spTgt spid="19"/>
                                        </p:tgtEl>
                                        <p:attrNameLst>
                                          <p:attrName>ppt_x</p:attrName>
                                        </p:attrNameLst>
                                      </p:cBhvr>
                                      <p:tavLst>
                                        <p:tav tm="0">
                                          <p:val>
                                            <p:strVal val="#ppt_x"/>
                                          </p:val>
                                        </p:tav>
                                        <p:tav tm="100000">
                                          <p:val>
                                            <p:strVal val="#ppt_x"/>
                                          </p:val>
                                        </p:tav>
                                      </p:tavLst>
                                    </p:anim>
                                    <p:anim calcmode="lin" valueType="num">
                                      <p:cBhvr additive="base">
                                        <p:cTn id="43" dur="500" fill="hold"/>
                                        <p:tgtEl>
                                          <p:spTgt spid="19"/>
                                        </p:tgtEl>
                                        <p:attrNameLst>
                                          <p:attrName>ppt_y</p:attrName>
                                        </p:attrNameLst>
                                      </p:cBhvr>
                                      <p:tavLst>
                                        <p:tav tm="0">
                                          <p:val>
                                            <p:strVal val="#ppt_y+0.1"/>
                                          </p:val>
                                        </p:tav>
                                        <p:tav tm="100000">
                                          <p:val>
                                            <p:strVal val="#ppt_y"/>
                                          </p:val>
                                        </p:tav>
                                      </p:tavLst>
                                    </p:anim>
                                    <p:animEffect transition="in" filter="fade">
                                      <p:cBhvr>
                                        <p:cTn id="44" dur="500"/>
                                        <p:tgtEl>
                                          <p:spTgt spid="19"/>
                                        </p:tgtEl>
                                      </p:cBhvr>
                                    </p:animEffect>
                                  </p:childTnLst>
                                </p:cTn>
                              </p:par>
                            </p:childTnLst>
                          </p:cTn>
                        </p:par>
                      </p:childTnLst>
                    </p:cTn>
                  </p:par>
                  <p:par>
                    <p:cTn id="46" fill="hold">
                      <p:stCondLst>
                        <p:cond delay="indefinite"/>
                      </p:stCondLst>
                      <p:childTnLst>
                        <p:par>
                          <p:cTn id="47" fill="hold">
                            <p:stCondLst>
                              <p:cond delay="0"/>
                            </p:stCondLst>
                            <p:childTnLst>
                              <p:par>
                                <p:cTn id="52" presetID="2" presetClass="entr" presetSubtype="4"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500" fill="hold"/>
                                        <p:tgtEl>
                                          <p:spTgt spid="20"/>
                                        </p:tgtEl>
                                        <p:attrNameLst>
                                          <p:attrName>ppt_x</p:attrName>
                                        </p:attrNameLst>
                                      </p:cBhvr>
                                      <p:tavLst>
                                        <p:tav tm="0">
                                          <p:val>
                                            <p:strVal val="#ppt_x"/>
                                          </p:val>
                                        </p:tav>
                                        <p:tav tm="100000">
                                          <p:val>
                                            <p:strVal val="#ppt_x"/>
                                          </p:val>
                                        </p:tav>
                                      </p:tavLst>
                                    </p:anim>
                                    <p:anim calcmode="lin" valueType="num">
                                      <p:cBhvr additive="base">
                                        <p:cTn id="50" dur="500" fill="hold"/>
                                        <p:tgtEl>
                                          <p:spTgt spid="20"/>
                                        </p:tgtEl>
                                        <p:attrNameLst>
                                          <p:attrName>ppt_y</p:attrName>
                                        </p:attrNameLst>
                                      </p:cBhvr>
                                      <p:tavLst>
                                        <p:tav tm="0">
                                          <p:val>
                                            <p:strVal val="#ppt_y+0.1"/>
                                          </p:val>
                                        </p:tav>
                                        <p:tav tm="100000">
                                          <p:val>
                                            <p:strVal val="#ppt_y"/>
                                          </p:val>
                                        </p:tav>
                                      </p:tavLst>
                                    </p:anim>
                                    <p:animEffect transition="in" filter="fade">
                                      <p:cBhvr>
                                        <p:cTn id="51" dur="500"/>
                                        <p:tgtEl>
                                          <p:spTgt spid="20"/>
                                        </p:tgtEl>
                                      </p:cBhvr>
                                    </p:animEffect>
                                  </p:childTnLst>
                                </p:cTn>
                              </p:par>
                              <p:par>
                                <p:cTn id="57" presetID="2" presetClass="entr" presetSubtype="4"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 calcmode="lin" valueType="num">
                                      <p:cBhvr additive="base">
                                        <p:cTn id="54" dur="500" fill="hold"/>
                                        <p:tgtEl>
                                          <p:spTgt spid="21"/>
                                        </p:tgtEl>
                                        <p:attrNameLst>
                                          <p:attrName>ppt_x</p:attrName>
                                        </p:attrNameLst>
                                      </p:cBhvr>
                                      <p:tavLst>
                                        <p:tav tm="0">
                                          <p:val>
                                            <p:strVal val="#ppt_x"/>
                                          </p:val>
                                        </p:tav>
                                        <p:tav tm="100000">
                                          <p:val>
                                            <p:strVal val="#ppt_x"/>
                                          </p:val>
                                        </p:tav>
                                      </p:tavLst>
                                    </p:anim>
                                    <p:anim calcmode="lin" valueType="num">
                                      <p:cBhvr additive="base">
                                        <p:cTn id="55" dur="500" fill="hold"/>
                                        <p:tgtEl>
                                          <p:spTgt spid="21"/>
                                        </p:tgtEl>
                                        <p:attrNameLst>
                                          <p:attrName>ppt_y</p:attrName>
                                        </p:attrNameLst>
                                      </p:cBhvr>
                                      <p:tavLst>
                                        <p:tav tm="0">
                                          <p:val>
                                            <p:strVal val="#ppt_y+0.1"/>
                                          </p:val>
                                        </p:tav>
                                        <p:tav tm="100000">
                                          <p:val>
                                            <p:strVal val="#ppt_y"/>
                                          </p:val>
                                        </p:tav>
                                      </p:tavLst>
                                    </p:anim>
                                    <p:animEffect transition="in" filter="fade">
                                      <p:cBhvr>
                                        <p:cTn id="56" dur="500"/>
                                        <p:tgtEl>
                                          <p:spTgt spid="21"/>
                                        </p:tgtEl>
                                      </p:cBhvr>
                                    </p:animEffect>
                                  </p:childTnLst>
                                </p:cTn>
                              </p:par>
                              <p:par>
                                <p:cTn id="62" presetID="2" presetClass="entr" presetSubtype="4"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 calcmode="lin" valueType="num">
                                      <p:cBhvr additive="base">
                                        <p:cTn id="59" dur="500" fill="hold"/>
                                        <p:tgtEl>
                                          <p:spTgt spid="22"/>
                                        </p:tgtEl>
                                        <p:attrNameLst>
                                          <p:attrName>ppt_x</p:attrName>
                                        </p:attrNameLst>
                                      </p:cBhvr>
                                      <p:tavLst>
                                        <p:tav tm="0">
                                          <p:val>
                                            <p:strVal val="#ppt_x"/>
                                          </p:val>
                                        </p:tav>
                                        <p:tav tm="100000">
                                          <p:val>
                                            <p:strVal val="#ppt_x"/>
                                          </p:val>
                                        </p:tav>
                                      </p:tavLst>
                                    </p:anim>
                                    <p:anim calcmode="lin" valueType="num">
                                      <p:cBhvr additive="base">
                                        <p:cTn id="60" dur="500" fill="hold"/>
                                        <p:tgtEl>
                                          <p:spTgt spid="22"/>
                                        </p:tgtEl>
                                        <p:attrNameLst>
                                          <p:attrName>ppt_y</p:attrName>
                                        </p:attrNameLst>
                                      </p:cBhvr>
                                      <p:tavLst>
                                        <p:tav tm="0">
                                          <p:val>
                                            <p:strVal val="#ppt_y+0.1"/>
                                          </p:val>
                                        </p:tav>
                                        <p:tav tm="100000">
                                          <p:val>
                                            <p:strVal val="#ppt_y"/>
                                          </p:val>
                                        </p:tav>
                                      </p:tavLst>
                                    </p:anim>
                                    <p:animEffect transition="in" filter="fade">
                                      <p:cBhvr>
                                        <p:cTn id="61" dur="500"/>
                                        <p:tgtEl>
                                          <p:spTgt spid="22"/>
                                        </p:tgtEl>
                                      </p:cBhvr>
                                    </p:animEffect>
                                  </p:childTnLst>
                                </p:cTn>
                              </p:par>
                              <p:par>
                                <p:cTn id="67" presetID="2" presetClass="entr" presetSubtype="4"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 calcmode="lin" valueType="num">
                                      <p:cBhvr additive="base">
                                        <p:cTn id="64" dur="500" fill="hold"/>
                                        <p:tgtEl>
                                          <p:spTgt spid="23"/>
                                        </p:tgtEl>
                                        <p:attrNameLst>
                                          <p:attrName>ppt_x</p:attrName>
                                        </p:attrNameLst>
                                      </p:cBhvr>
                                      <p:tavLst>
                                        <p:tav tm="0">
                                          <p:val>
                                            <p:strVal val="#ppt_x"/>
                                          </p:val>
                                        </p:tav>
                                        <p:tav tm="100000">
                                          <p:val>
                                            <p:strVal val="#ppt_x"/>
                                          </p:val>
                                        </p:tav>
                                      </p:tavLst>
                                    </p:anim>
                                    <p:anim calcmode="lin" valueType="num">
                                      <p:cBhvr additive="base">
                                        <p:cTn id="65" dur="500" fill="hold"/>
                                        <p:tgtEl>
                                          <p:spTgt spid="23"/>
                                        </p:tgtEl>
                                        <p:attrNameLst>
                                          <p:attrName>ppt_y</p:attrName>
                                        </p:attrNameLst>
                                      </p:cBhvr>
                                      <p:tavLst>
                                        <p:tav tm="0">
                                          <p:val>
                                            <p:strVal val="#ppt_y+0.1"/>
                                          </p:val>
                                        </p:tav>
                                        <p:tav tm="100000">
                                          <p:val>
                                            <p:strVal val="#ppt_y"/>
                                          </p:val>
                                        </p:tav>
                                      </p:tavLst>
                                    </p:anim>
                                    <p:animEffect transition="in" filter="fade">
                                      <p:cBhvr>
                                        <p:cTn id="66" dur="500"/>
                                        <p:tgtEl>
                                          <p:spTgt spid="23"/>
                                        </p:tgtEl>
                                      </p:cBhvr>
                                    </p:animEffect>
                                  </p:childTnLst>
                                </p:cTn>
                              </p:par>
                              <p:par>
                                <p:cTn id="72" presetID="2" presetClass="entr" presetSubtype="4"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 calcmode="lin" valueType="num">
                                      <p:cBhvr additive="base">
                                        <p:cTn id="69" dur="500" fill="hold"/>
                                        <p:tgtEl>
                                          <p:spTgt spid="24"/>
                                        </p:tgtEl>
                                        <p:attrNameLst>
                                          <p:attrName>ppt_x</p:attrName>
                                        </p:attrNameLst>
                                      </p:cBhvr>
                                      <p:tavLst>
                                        <p:tav tm="0">
                                          <p:val>
                                            <p:strVal val="#ppt_x"/>
                                          </p:val>
                                        </p:tav>
                                        <p:tav tm="100000">
                                          <p:val>
                                            <p:strVal val="#ppt_x"/>
                                          </p:val>
                                        </p:tav>
                                      </p:tavLst>
                                    </p:anim>
                                    <p:anim calcmode="lin" valueType="num">
                                      <p:cBhvr additive="base">
                                        <p:cTn id="70" dur="500" fill="hold"/>
                                        <p:tgtEl>
                                          <p:spTgt spid="24"/>
                                        </p:tgtEl>
                                        <p:attrNameLst>
                                          <p:attrName>ppt_y</p:attrName>
                                        </p:attrNameLst>
                                      </p:cBhvr>
                                      <p:tavLst>
                                        <p:tav tm="0">
                                          <p:val>
                                            <p:strVal val="#ppt_y+0.1"/>
                                          </p:val>
                                        </p:tav>
                                        <p:tav tm="100000">
                                          <p:val>
                                            <p:strVal val="#ppt_y"/>
                                          </p:val>
                                        </p:tav>
                                      </p:tavLst>
                                    </p:anim>
                                    <p:animEffect transition="in" filter="fade">
                                      <p:cBhvr>
                                        <p:cTn id="71" dur="500"/>
                                        <p:tgtEl>
                                          <p:spTgt spid="24"/>
                                        </p:tgtEl>
                                      </p:cBhvr>
                                    </p:animEffect>
                                  </p:childTnLst>
                                </p:cTn>
                              </p:par>
                              <p:par>
                                <p:cTn id="77" presetID="2" presetClass="entr" presetSubtype="4"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 calcmode="lin" valueType="num">
                                      <p:cBhvr additive="base">
                                        <p:cTn id="74" dur="500" fill="hold"/>
                                        <p:tgtEl>
                                          <p:spTgt spid="25"/>
                                        </p:tgtEl>
                                        <p:attrNameLst>
                                          <p:attrName>ppt_x</p:attrName>
                                        </p:attrNameLst>
                                      </p:cBhvr>
                                      <p:tavLst>
                                        <p:tav tm="0">
                                          <p:val>
                                            <p:strVal val="#ppt_x"/>
                                          </p:val>
                                        </p:tav>
                                        <p:tav tm="100000">
                                          <p:val>
                                            <p:strVal val="#ppt_x"/>
                                          </p:val>
                                        </p:tav>
                                      </p:tavLst>
                                    </p:anim>
                                    <p:anim calcmode="lin" valueType="num">
                                      <p:cBhvr additive="base">
                                        <p:cTn id="75" dur="500" fill="hold"/>
                                        <p:tgtEl>
                                          <p:spTgt spid="25"/>
                                        </p:tgtEl>
                                        <p:attrNameLst>
                                          <p:attrName>ppt_y</p:attrName>
                                        </p:attrNameLst>
                                      </p:cBhvr>
                                      <p:tavLst>
                                        <p:tav tm="0">
                                          <p:val>
                                            <p:strVal val="#ppt_y+0.1"/>
                                          </p:val>
                                        </p:tav>
                                        <p:tav tm="100000">
                                          <p:val>
                                            <p:strVal val="#ppt_y"/>
                                          </p:val>
                                        </p:tav>
                                      </p:tavLst>
                                    </p:anim>
                                    <p:animEffect transition="in" filter="fade">
                                      <p:cBhvr>
                                        <p:cTn id="76" dur="500"/>
                                        <p:tgtEl>
                                          <p:spTgt spid="25"/>
                                        </p:tgtEl>
                                      </p:cBhvr>
                                    </p:animEffect>
                                  </p:childTnLst>
                                </p:cTn>
                              </p:par>
                            </p:childTnLst>
                          </p:cTn>
                        </p:par>
                      </p:childTnLst>
                    </p:cTn>
                  </p:par>
                  <p:par>
                    <p:cTn id="78" fill="hold">
                      <p:stCondLst>
                        <p:cond delay="indefinite"/>
                      </p:stCondLst>
                      <p:childTnLst>
                        <p:par>
                          <p:cTn id="79" fill="hold">
                            <p:stCondLst>
                              <p:cond delay="0"/>
                            </p:stCondLst>
                            <p:childTnLst>
                              <p:par>
                                <p:cTn id="84" presetID="2" presetClass="entr" presetSubtype="4" fill="hold" grpId="0" nodeType="clickEffect">
                                  <p:stCondLst>
                                    <p:cond delay="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ppt_y+0.1"/>
                                          </p:val>
                                        </p:tav>
                                        <p:tav tm="100000">
                                          <p:val>
                                            <p:strVal val="#ppt_y"/>
                                          </p:val>
                                        </p:tav>
                                      </p:tavLst>
                                    </p:anim>
                                    <p:animEffect transition="in" filter="fade">
                                      <p:cBhvr>
                                        <p:cTn id="83" dur="500"/>
                                        <p:tgtEl>
                                          <p:spTgt spid="26"/>
                                        </p:tgtEl>
                                      </p:cBhvr>
                                    </p:animEffect>
                                  </p:childTnLst>
                                </p:cTn>
                              </p:par>
                              <p:par>
                                <p:cTn id="89" presetID="2" presetClass="entr" presetSubtype="4" fill="hold" grpId="0" nodeType="withEffect">
                                  <p:stCondLst>
                                    <p:cond delay="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ppt_y+0.1"/>
                                          </p:val>
                                        </p:tav>
                                        <p:tav tm="100000">
                                          <p:val>
                                            <p:strVal val="#ppt_y"/>
                                          </p:val>
                                        </p:tav>
                                      </p:tavLst>
                                    </p:anim>
                                    <p:animEffect transition="in" filter="fade">
                                      <p:cBhvr>
                                        <p:cTn id="88" dur="500"/>
                                        <p:tgtEl>
                                          <p:spTgt spid="27"/>
                                        </p:tgtEl>
                                      </p:cBhvr>
                                    </p:animEffect>
                                  </p:childTnLst>
                                </p:cTn>
                              </p:par>
                              <p:par>
                                <p:cTn id="94" presetID="2" presetClass="entr" presetSubtype="4"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ppt_y+0.1"/>
                                          </p:val>
                                        </p:tav>
                                        <p:tav tm="100000">
                                          <p:val>
                                            <p:strVal val="#ppt_y"/>
                                          </p:val>
                                        </p:tav>
                                      </p:tavLst>
                                    </p:anim>
                                    <p:animEffect transition="in" filter="fade">
                                      <p:cBhvr>
                                        <p:cTn id="93" dur="500"/>
                                        <p:tgtEl>
                                          <p:spTgt spid="28"/>
                                        </p:tgtEl>
                                      </p:cBhvr>
                                    </p:animEffect>
                                  </p:childTnLst>
                                </p:cTn>
                              </p:par>
                              <p:par>
                                <p:cTn id="99" presetID="2" presetClass="entr" presetSubtype="4" fill="hold" grpId="0" nodeType="withEffect">
                                  <p:stCondLst>
                                    <p:cond delay="0"/>
                                  </p:stCondLst>
                                  <p:childTnLst>
                                    <p:set>
                                      <p:cBhvr>
                                        <p:cTn id="95" dur="1" fill="hold">
                                          <p:stCondLst>
                                            <p:cond delay="0"/>
                                          </p:stCondLst>
                                        </p:cTn>
                                        <p:tgtEl>
                                          <p:spTgt spid="29"/>
                                        </p:tgtEl>
                                        <p:attrNameLst>
                                          <p:attrName>style.visibility</p:attrName>
                                        </p:attrNameLst>
                                      </p:cBhvr>
                                      <p:to>
                                        <p:strVal val="visible"/>
                                      </p:to>
                                    </p:set>
                                    <p:anim calcmode="lin" valueType="num">
                                      <p:cBhvr additive="base">
                                        <p:cTn id="96" dur="500" fill="hold"/>
                                        <p:tgtEl>
                                          <p:spTgt spid="29"/>
                                        </p:tgtEl>
                                        <p:attrNameLst>
                                          <p:attrName>ppt_x</p:attrName>
                                        </p:attrNameLst>
                                      </p:cBhvr>
                                      <p:tavLst>
                                        <p:tav tm="0">
                                          <p:val>
                                            <p:strVal val="#ppt_x"/>
                                          </p:val>
                                        </p:tav>
                                        <p:tav tm="100000">
                                          <p:val>
                                            <p:strVal val="#ppt_x"/>
                                          </p:val>
                                        </p:tav>
                                      </p:tavLst>
                                    </p:anim>
                                    <p:anim calcmode="lin" valueType="num">
                                      <p:cBhvr additive="base">
                                        <p:cTn id="97" dur="500" fill="hold"/>
                                        <p:tgtEl>
                                          <p:spTgt spid="29"/>
                                        </p:tgtEl>
                                        <p:attrNameLst>
                                          <p:attrName>ppt_y</p:attrName>
                                        </p:attrNameLst>
                                      </p:cBhvr>
                                      <p:tavLst>
                                        <p:tav tm="0">
                                          <p:val>
                                            <p:strVal val="#ppt_y+0.1"/>
                                          </p:val>
                                        </p:tav>
                                        <p:tav tm="100000">
                                          <p:val>
                                            <p:strVal val="#ppt_y"/>
                                          </p:val>
                                        </p:tav>
                                      </p:tavLst>
                                    </p:anim>
                                    <p:animEffect transition="in" filter="fade">
                                      <p:cBhvr>
                                        <p:cTn id="98" dur="500"/>
                                        <p:tgtEl>
                                          <p:spTgt spid="29"/>
                                        </p:tgtEl>
                                      </p:cBhvr>
                                    </p:animEffect>
                                  </p:childTnLst>
                                </p:cTn>
                              </p:par>
                              <p:par>
                                <p:cTn id="104" presetID="2" presetClass="entr" presetSubtype="4" fill="hold" grpId="0" nodeType="withEffect">
                                  <p:stCondLst>
                                    <p:cond delay="0"/>
                                  </p:stCondLst>
                                  <p:childTnLst>
                                    <p:set>
                                      <p:cBhvr>
                                        <p:cTn id="100" dur="1" fill="hold">
                                          <p:stCondLst>
                                            <p:cond delay="0"/>
                                          </p:stCondLst>
                                        </p:cTn>
                                        <p:tgtEl>
                                          <p:spTgt spid="30"/>
                                        </p:tgtEl>
                                        <p:attrNameLst>
                                          <p:attrName>style.visibility</p:attrName>
                                        </p:attrNameLst>
                                      </p:cBhvr>
                                      <p:to>
                                        <p:strVal val="visible"/>
                                      </p:to>
                                    </p:set>
                                    <p:anim calcmode="lin" valueType="num">
                                      <p:cBhvr additive="base">
                                        <p:cTn id="101" dur="500" fill="hold"/>
                                        <p:tgtEl>
                                          <p:spTgt spid="30"/>
                                        </p:tgtEl>
                                        <p:attrNameLst>
                                          <p:attrName>ppt_x</p:attrName>
                                        </p:attrNameLst>
                                      </p:cBhvr>
                                      <p:tavLst>
                                        <p:tav tm="0">
                                          <p:val>
                                            <p:strVal val="#ppt_x"/>
                                          </p:val>
                                        </p:tav>
                                        <p:tav tm="100000">
                                          <p:val>
                                            <p:strVal val="#ppt_x"/>
                                          </p:val>
                                        </p:tav>
                                      </p:tavLst>
                                    </p:anim>
                                    <p:anim calcmode="lin" valueType="num">
                                      <p:cBhvr additive="base">
                                        <p:cTn id="102" dur="500" fill="hold"/>
                                        <p:tgtEl>
                                          <p:spTgt spid="30"/>
                                        </p:tgtEl>
                                        <p:attrNameLst>
                                          <p:attrName>ppt_y</p:attrName>
                                        </p:attrNameLst>
                                      </p:cBhvr>
                                      <p:tavLst>
                                        <p:tav tm="0">
                                          <p:val>
                                            <p:strVal val="#ppt_y+0.1"/>
                                          </p:val>
                                        </p:tav>
                                        <p:tav tm="100000">
                                          <p:val>
                                            <p:strVal val="#ppt_y"/>
                                          </p:val>
                                        </p:tav>
                                      </p:tavLst>
                                    </p:anim>
                                    <p:animEffect transition="in" filter="fade">
                                      <p:cBhvr>
                                        <p:cTn id="103" dur="500"/>
                                        <p:tgtEl>
                                          <p:spTgt spid="30"/>
                                        </p:tgtEl>
                                      </p:cBhvr>
                                    </p:animEffect>
                                  </p:childTnLst>
                                </p:cTn>
                              </p:par>
                              <p:par>
                                <p:cTn id="109" presetID="2" presetClass="entr" presetSubtype="4" fill="hold" grpId="0" nodeType="withEffect">
                                  <p:stCondLst>
                                    <p:cond delay="0"/>
                                  </p:stCondLst>
                                  <p:childTnLst>
                                    <p:set>
                                      <p:cBhvr>
                                        <p:cTn id="105" dur="1" fill="hold">
                                          <p:stCondLst>
                                            <p:cond delay="0"/>
                                          </p:stCondLst>
                                        </p:cTn>
                                        <p:tgtEl>
                                          <p:spTgt spid="31"/>
                                        </p:tgtEl>
                                        <p:attrNameLst>
                                          <p:attrName>style.visibility</p:attrName>
                                        </p:attrNameLst>
                                      </p:cBhvr>
                                      <p:to>
                                        <p:strVal val="visible"/>
                                      </p:to>
                                    </p:set>
                                    <p:anim calcmode="lin" valueType="num">
                                      <p:cBhvr additive="base">
                                        <p:cTn id="106" dur="500" fill="hold"/>
                                        <p:tgtEl>
                                          <p:spTgt spid="31"/>
                                        </p:tgtEl>
                                        <p:attrNameLst>
                                          <p:attrName>ppt_x</p:attrName>
                                        </p:attrNameLst>
                                      </p:cBhvr>
                                      <p:tavLst>
                                        <p:tav tm="0">
                                          <p:val>
                                            <p:strVal val="#ppt_x"/>
                                          </p:val>
                                        </p:tav>
                                        <p:tav tm="100000">
                                          <p:val>
                                            <p:strVal val="#ppt_x"/>
                                          </p:val>
                                        </p:tav>
                                      </p:tavLst>
                                    </p:anim>
                                    <p:anim calcmode="lin" valueType="num">
                                      <p:cBhvr additive="base">
                                        <p:cTn id="107" dur="500" fill="hold"/>
                                        <p:tgtEl>
                                          <p:spTgt spid="31"/>
                                        </p:tgtEl>
                                        <p:attrNameLst>
                                          <p:attrName>ppt_y</p:attrName>
                                        </p:attrNameLst>
                                      </p:cBhvr>
                                      <p:tavLst>
                                        <p:tav tm="0">
                                          <p:val>
                                            <p:strVal val="#ppt_y+0.1"/>
                                          </p:val>
                                        </p:tav>
                                        <p:tav tm="100000">
                                          <p:val>
                                            <p:strVal val="#ppt_y"/>
                                          </p:val>
                                        </p:tav>
                                      </p:tavLst>
                                    </p:anim>
                                    <p:animEffect transition="in" filter="fade">
                                      <p:cBhvr>
                                        <p:cTn id="108" dur="500"/>
                                        <p:tgtEl>
                                          <p:spTgt spid="31"/>
                                        </p:tgtEl>
                                      </p:cBhvr>
                                    </p:animEffect>
                                  </p:childTnLst>
                                </p:cTn>
                              </p:par>
                            </p:childTnLst>
                          </p:cTn>
                        </p:par>
                      </p:childTnLst>
                    </p:cTn>
                  </p:par>
                  <p:par>
                    <p:cTn id="110" fill="hold">
                      <p:stCondLst>
                        <p:cond delay="indefinite"/>
                      </p:stCondLst>
                      <p:childTnLst>
                        <p:par>
                          <p:cTn id="111" fill="hold">
                            <p:stCondLst>
                              <p:cond delay="0"/>
                            </p:stCondLst>
                            <p:childTnLst>
                              <p:par>
                                <p:cTn id="116" presetID="2" presetClass="entr" presetSubtype="4" fill="hold" grpId="0" nodeType="clickEffect">
                                  <p:stCondLst>
                                    <p:cond delay="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ppt_y+0.1"/>
                                          </p:val>
                                        </p:tav>
                                        <p:tav tm="100000">
                                          <p:val>
                                            <p:strVal val="#ppt_y"/>
                                          </p:val>
                                        </p:tav>
                                      </p:tavLst>
                                    </p:anim>
                                    <p:animEffect transition="in" filter="fade">
                                      <p:cBhvr>
                                        <p:cTn id="115" dur="500"/>
                                        <p:tgtEl>
                                          <p:spTgt spid="32"/>
                                        </p:tgtEl>
                                      </p:cBhvr>
                                    </p:animEffect>
                                  </p:childTnLst>
                                </p:cTn>
                              </p:par>
                              <p:par>
                                <p:cTn id="121" presetID="2" presetClass="entr" presetSubtype="4" fill="hold" grpId="0" nodeType="withEffect">
                                  <p:stCondLst>
                                    <p:cond delay="0"/>
                                  </p:stCondLst>
                                  <p:childTnLst>
                                    <p:set>
                                      <p:cBhvr>
                                        <p:cTn id="117" dur="1" fill="hold">
                                          <p:stCondLst>
                                            <p:cond delay="0"/>
                                          </p:stCondLst>
                                        </p:cTn>
                                        <p:tgtEl>
                                          <p:spTgt spid="33"/>
                                        </p:tgtEl>
                                        <p:attrNameLst>
                                          <p:attrName>style.visibility</p:attrName>
                                        </p:attrNameLst>
                                      </p:cBhvr>
                                      <p:to>
                                        <p:strVal val="visible"/>
                                      </p:to>
                                    </p:set>
                                    <p:anim calcmode="lin" valueType="num">
                                      <p:cBhvr additive="base">
                                        <p:cTn id="118" dur="500" fill="hold"/>
                                        <p:tgtEl>
                                          <p:spTgt spid="33"/>
                                        </p:tgtEl>
                                        <p:attrNameLst>
                                          <p:attrName>ppt_x</p:attrName>
                                        </p:attrNameLst>
                                      </p:cBhvr>
                                      <p:tavLst>
                                        <p:tav tm="0">
                                          <p:val>
                                            <p:strVal val="#ppt_x"/>
                                          </p:val>
                                        </p:tav>
                                        <p:tav tm="100000">
                                          <p:val>
                                            <p:strVal val="#ppt_x"/>
                                          </p:val>
                                        </p:tav>
                                      </p:tavLst>
                                    </p:anim>
                                    <p:anim calcmode="lin" valueType="num">
                                      <p:cBhvr additive="base">
                                        <p:cTn id="119" dur="500" fill="hold"/>
                                        <p:tgtEl>
                                          <p:spTgt spid="33"/>
                                        </p:tgtEl>
                                        <p:attrNameLst>
                                          <p:attrName>ppt_y</p:attrName>
                                        </p:attrNameLst>
                                      </p:cBhvr>
                                      <p:tavLst>
                                        <p:tav tm="0">
                                          <p:val>
                                            <p:strVal val="#ppt_y+0.1"/>
                                          </p:val>
                                        </p:tav>
                                        <p:tav tm="100000">
                                          <p:val>
                                            <p:strVal val="#ppt_y"/>
                                          </p:val>
                                        </p:tav>
                                      </p:tavLst>
                                    </p:anim>
                                    <p:animEffect transition="in" filter="fade">
                                      <p:cBhvr>
                                        <p:cTn id="120" dur="500"/>
                                        <p:tgtEl>
                                          <p:spTgt spid="33"/>
                                        </p:tgtEl>
                                      </p:cBhvr>
                                    </p:animEffect>
                                  </p:childTnLst>
                                </p:cTn>
                              </p:par>
                              <p:par>
                                <p:cTn id="126" presetID="2" presetClass="entr" presetSubtype="4" fill="hold" grpId="0" nodeType="withEffect">
                                  <p:stCondLst>
                                    <p:cond delay="0"/>
                                  </p:stCondLst>
                                  <p:childTnLst>
                                    <p:set>
                                      <p:cBhvr>
                                        <p:cTn id="122" dur="1" fill="hold">
                                          <p:stCondLst>
                                            <p:cond delay="0"/>
                                          </p:stCondLst>
                                        </p:cTn>
                                        <p:tgtEl>
                                          <p:spTgt spid="34"/>
                                        </p:tgtEl>
                                        <p:attrNameLst>
                                          <p:attrName>style.visibility</p:attrName>
                                        </p:attrNameLst>
                                      </p:cBhvr>
                                      <p:to>
                                        <p:strVal val="visible"/>
                                      </p:to>
                                    </p:set>
                                    <p:anim calcmode="lin" valueType="num">
                                      <p:cBhvr additive="base">
                                        <p:cTn id="123" dur="500" fill="hold"/>
                                        <p:tgtEl>
                                          <p:spTgt spid="34"/>
                                        </p:tgtEl>
                                        <p:attrNameLst>
                                          <p:attrName>ppt_x</p:attrName>
                                        </p:attrNameLst>
                                      </p:cBhvr>
                                      <p:tavLst>
                                        <p:tav tm="0">
                                          <p:val>
                                            <p:strVal val="#ppt_x"/>
                                          </p:val>
                                        </p:tav>
                                        <p:tav tm="100000">
                                          <p:val>
                                            <p:strVal val="#ppt_x"/>
                                          </p:val>
                                        </p:tav>
                                      </p:tavLst>
                                    </p:anim>
                                    <p:anim calcmode="lin" valueType="num">
                                      <p:cBhvr additive="base">
                                        <p:cTn id="124" dur="500" fill="hold"/>
                                        <p:tgtEl>
                                          <p:spTgt spid="34"/>
                                        </p:tgtEl>
                                        <p:attrNameLst>
                                          <p:attrName>ppt_y</p:attrName>
                                        </p:attrNameLst>
                                      </p:cBhvr>
                                      <p:tavLst>
                                        <p:tav tm="0">
                                          <p:val>
                                            <p:strVal val="#ppt_y+0.1"/>
                                          </p:val>
                                        </p:tav>
                                        <p:tav tm="100000">
                                          <p:val>
                                            <p:strVal val="#ppt_y"/>
                                          </p:val>
                                        </p:tav>
                                      </p:tavLst>
                                    </p:anim>
                                    <p:animEffect transition="in" filter="fade">
                                      <p:cBhvr>
                                        <p:cTn id="12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Events Run Through Today's Data Systems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Modern data systems are built around events - and Kafka is what manages them</a:t>
            </a:r>
          </a:p>
        </p:txBody>
      </p:sp>
      <p:sp>
        <p:nvSpPr>
          <p:cNvPr id="11" name="a1u_nd10"/>
          <p:cNvSpPr/>
          <p:nvPr/>
        </p:nvSpPr>
        <p:spPr>
          <a:xfrm>
            <a:off x="457200" y="1371600"/>
            <a:ext cx="1920240" cy="566928"/>
          </a:xfrm>
          <a:prstGeom prst="roundRect">
            <a:avLst>
              <a:gd name="adj" fmla="val 12903"/>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dt11"/>
          <p:cNvSpPr txBox="1"/>
          <p:nvPr/>
        </p:nvSpPr>
        <p:spPr>
          <a:xfrm>
            <a:off x="502920" y="1408176"/>
            <a:ext cx="1828800" cy="265176"/>
          </a:xfrm>
          <a:prstGeom prst="rect">
            <a:avLst/>
          </a:prstGeom>
          <a:noFill/>
        </p:spPr>
        <p:txBody>
          <a:bodyPr wrap="square" lIns="0" tIns="0" rIns="0" bIns="0" anchor="b">
            <a:spAutoFit/>
          </a:bodyPr>
          <a:lstStyle/>
          <a:p>
            <a:pPr algn="ctr"/>
            <a:r>
              <a:rPr sz="950" b="1">
                <a:solidFill>
                  <a:srgbClr val="1C1917"/>
                </a:solidFill>
                <a:latin typeface="Segoe UI"/>
              </a:rPr>
              <a:t>Inventory</a:t>
            </a:r>
          </a:p>
        </p:txBody>
      </p:sp>
      <p:sp>
        <p:nvSpPr>
          <p:cNvPr id="13" name="a1u_nds12"/>
          <p:cNvSpPr txBox="1"/>
          <p:nvPr/>
        </p:nvSpPr>
        <p:spPr>
          <a:xfrm>
            <a:off x="502920" y="1682496"/>
            <a:ext cx="1828800" cy="219456"/>
          </a:xfrm>
          <a:prstGeom prst="rect">
            <a:avLst/>
          </a:prstGeom>
          <a:noFill/>
        </p:spPr>
        <p:txBody>
          <a:bodyPr wrap="square" lIns="0" tIns="0" rIns="0" bIns="0" anchor="t">
            <a:spAutoFit/>
          </a:bodyPr>
          <a:lstStyle/>
          <a:p>
            <a:pPr algn="ctr"/>
            <a:r>
              <a:rPr sz="800" b="0">
                <a:solidFill>
                  <a:srgbClr val="EA580C"/>
                </a:solidFill>
                <a:latin typeface="Segoe UI"/>
              </a:rPr>
              <a:t>item sold</a:t>
            </a:r>
          </a:p>
        </p:txBody>
      </p:sp>
      <p:cxnSp>
        <p:nvCxnSpPr>
          <p:cNvPr id="14" name="a2f_ar13"/>
          <p:cNvCxnSpPr/>
          <p:nvPr/>
        </p:nvCxnSpPr>
        <p:spPr>
          <a:xfrm>
            <a:off x="2404872" y="1655064"/>
            <a:ext cx="1088136" cy="777240"/>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a1ud100_nd14"/>
          <p:cNvSpPr/>
          <p:nvPr/>
        </p:nvSpPr>
        <p:spPr>
          <a:xfrm>
            <a:off x="457200" y="2148840"/>
            <a:ext cx="1920240" cy="566928"/>
          </a:xfrm>
          <a:prstGeom prst="roundRect">
            <a:avLst>
              <a:gd name="adj" fmla="val 12903"/>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d100_ndt15"/>
          <p:cNvSpPr txBox="1"/>
          <p:nvPr/>
        </p:nvSpPr>
        <p:spPr>
          <a:xfrm>
            <a:off x="502920" y="2185416"/>
            <a:ext cx="1828800" cy="265176"/>
          </a:xfrm>
          <a:prstGeom prst="rect">
            <a:avLst/>
          </a:prstGeom>
          <a:noFill/>
        </p:spPr>
        <p:txBody>
          <a:bodyPr wrap="square" lIns="0" tIns="0" rIns="0" bIns="0" anchor="b">
            <a:spAutoFit/>
          </a:bodyPr>
          <a:lstStyle/>
          <a:p>
            <a:pPr algn="ctr"/>
            <a:r>
              <a:rPr sz="950" b="1">
                <a:solidFill>
                  <a:srgbClr val="1C1917"/>
                </a:solidFill>
                <a:latin typeface="Segoe UI"/>
              </a:rPr>
              <a:t>Connected car</a:t>
            </a:r>
          </a:p>
        </p:txBody>
      </p:sp>
      <p:sp>
        <p:nvSpPr>
          <p:cNvPr id="17" name="a1ud100_nds16"/>
          <p:cNvSpPr txBox="1"/>
          <p:nvPr/>
        </p:nvSpPr>
        <p:spPr>
          <a:xfrm>
            <a:off x="502920" y="2459736"/>
            <a:ext cx="1828800" cy="219456"/>
          </a:xfrm>
          <a:prstGeom prst="rect">
            <a:avLst/>
          </a:prstGeom>
          <a:noFill/>
        </p:spPr>
        <p:txBody>
          <a:bodyPr wrap="square" lIns="0" tIns="0" rIns="0" bIns="0" anchor="t">
            <a:spAutoFit/>
          </a:bodyPr>
          <a:lstStyle/>
          <a:p>
            <a:pPr algn="ctr"/>
            <a:r>
              <a:rPr sz="800" b="0">
                <a:solidFill>
                  <a:srgbClr val="EA580C"/>
                </a:solidFill>
                <a:latin typeface="Segoe UI"/>
              </a:rPr>
              <a:t>turn signal used</a:t>
            </a:r>
          </a:p>
        </p:txBody>
      </p:sp>
      <p:cxnSp>
        <p:nvCxnSpPr>
          <p:cNvPr id="18" name="a2fd100_ar17"/>
          <p:cNvCxnSpPr/>
          <p:nvPr/>
        </p:nvCxnSpPr>
        <p:spPr>
          <a:xfrm>
            <a:off x="2404872" y="2432304"/>
            <a:ext cx="1088136" cy="0"/>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a1ud200_nd18"/>
          <p:cNvSpPr/>
          <p:nvPr/>
        </p:nvSpPr>
        <p:spPr>
          <a:xfrm>
            <a:off x="457200" y="2926080"/>
            <a:ext cx="1920240" cy="566928"/>
          </a:xfrm>
          <a:prstGeom prst="roundRect">
            <a:avLst>
              <a:gd name="adj" fmla="val 12903"/>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200_ndt19"/>
          <p:cNvSpPr txBox="1"/>
          <p:nvPr/>
        </p:nvSpPr>
        <p:spPr>
          <a:xfrm>
            <a:off x="502920" y="2962656"/>
            <a:ext cx="1828800" cy="265176"/>
          </a:xfrm>
          <a:prstGeom prst="rect">
            <a:avLst/>
          </a:prstGeom>
          <a:noFill/>
        </p:spPr>
        <p:txBody>
          <a:bodyPr wrap="square" lIns="0" tIns="0" rIns="0" bIns="0" anchor="b">
            <a:spAutoFit/>
          </a:bodyPr>
          <a:lstStyle/>
          <a:p>
            <a:pPr algn="ctr"/>
            <a:r>
              <a:rPr sz="950" b="1">
                <a:solidFill>
                  <a:srgbClr val="1C1917"/>
                </a:solidFill>
                <a:latin typeface="Segoe UI"/>
              </a:rPr>
              <a:t>Website</a:t>
            </a:r>
          </a:p>
        </p:txBody>
      </p:sp>
      <p:sp>
        <p:nvSpPr>
          <p:cNvPr id="21" name="a1ud200_nds20"/>
          <p:cNvSpPr txBox="1"/>
          <p:nvPr/>
        </p:nvSpPr>
        <p:spPr>
          <a:xfrm>
            <a:off x="502920" y="3236976"/>
            <a:ext cx="1828800" cy="219456"/>
          </a:xfrm>
          <a:prstGeom prst="rect">
            <a:avLst/>
          </a:prstGeom>
          <a:noFill/>
        </p:spPr>
        <p:txBody>
          <a:bodyPr wrap="square" lIns="0" tIns="0" rIns="0" bIns="0" anchor="t">
            <a:spAutoFit/>
          </a:bodyPr>
          <a:lstStyle/>
          <a:p>
            <a:pPr algn="ctr"/>
            <a:r>
              <a:rPr sz="800" b="0">
                <a:solidFill>
                  <a:srgbClr val="EA580C"/>
                </a:solidFill>
                <a:latin typeface="Segoe UI"/>
              </a:rPr>
              <a:t>user clicked</a:t>
            </a:r>
          </a:p>
        </p:txBody>
      </p:sp>
      <p:cxnSp>
        <p:nvCxnSpPr>
          <p:cNvPr id="22" name="a2fd200_ar21"/>
          <p:cNvCxnSpPr/>
          <p:nvPr/>
        </p:nvCxnSpPr>
        <p:spPr>
          <a:xfrm flipV="1">
            <a:off x="2404872" y="2432304"/>
            <a:ext cx="1088136" cy="777240"/>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a1ud400_nd22"/>
          <p:cNvSpPr/>
          <p:nvPr/>
        </p:nvSpPr>
        <p:spPr>
          <a:xfrm>
            <a:off x="3520440" y="1783080"/>
            <a:ext cx="2103120" cy="1280160"/>
          </a:xfrm>
          <a:prstGeom prst="roundRect">
            <a:avLst>
              <a:gd name="adj" fmla="val 5714"/>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1ud400_ndt23"/>
          <p:cNvSpPr txBox="1"/>
          <p:nvPr/>
        </p:nvSpPr>
        <p:spPr>
          <a:xfrm>
            <a:off x="3566160" y="1819656"/>
            <a:ext cx="2011679" cy="621792"/>
          </a:xfrm>
          <a:prstGeom prst="rect">
            <a:avLst/>
          </a:prstGeom>
          <a:noFill/>
        </p:spPr>
        <p:txBody>
          <a:bodyPr wrap="square" lIns="0" tIns="0" rIns="0" bIns="0" anchor="b">
            <a:spAutoFit/>
          </a:bodyPr>
          <a:lstStyle/>
          <a:p>
            <a:pPr algn="ctr"/>
            <a:r>
              <a:rPr sz="1400" b="1">
                <a:solidFill>
                  <a:srgbClr val="1C1917"/>
                </a:solidFill>
                <a:latin typeface="Segoe UI"/>
              </a:rPr>
              <a:t>Apache Kafka</a:t>
            </a:r>
          </a:p>
        </p:txBody>
      </p:sp>
      <p:sp>
        <p:nvSpPr>
          <p:cNvPr id="25" name="a1ud400_nds24"/>
          <p:cNvSpPr txBox="1"/>
          <p:nvPr/>
        </p:nvSpPr>
        <p:spPr>
          <a:xfrm>
            <a:off x="3566160" y="2450591"/>
            <a:ext cx="2011679" cy="576071"/>
          </a:xfrm>
          <a:prstGeom prst="rect">
            <a:avLst/>
          </a:prstGeom>
          <a:noFill/>
        </p:spPr>
        <p:txBody>
          <a:bodyPr wrap="square" lIns="0" tIns="0" rIns="0" bIns="0" anchor="t">
            <a:spAutoFit/>
          </a:bodyPr>
          <a:lstStyle/>
          <a:p>
            <a:pPr algn="ctr"/>
            <a:r>
              <a:rPr sz="850" b="0">
                <a:solidFill>
                  <a:srgbClr val="0E7490"/>
                </a:solidFill>
                <a:latin typeface="Segoe UI"/>
              </a:rPr>
              <a:t>manages the events</a:t>
            </a:r>
          </a:p>
        </p:txBody>
      </p:sp>
      <p:sp>
        <p:nvSpPr>
          <p:cNvPr id="26" name="a3u_nd25"/>
          <p:cNvSpPr/>
          <p:nvPr/>
        </p:nvSpPr>
        <p:spPr>
          <a:xfrm>
            <a:off x="6766560" y="1371600"/>
            <a:ext cx="1920240" cy="566928"/>
          </a:xfrm>
          <a:prstGeom prst="roundRect">
            <a:avLst>
              <a:gd name="adj" fmla="val 12903"/>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3u_ndt26"/>
          <p:cNvSpPr txBox="1"/>
          <p:nvPr/>
        </p:nvSpPr>
        <p:spPr>
          <a:xfrm>
            <a:off x="6812280" y="1371600"/>
            <a:ext cx="1828800" cy="566928"/>
          </a:xfrm>
          <a:prstGeom prst="rect">
            <a:avLst/>
          </a:prstGeom>
          <a:noFill/>
        </p:spPr>
        <p:txBody>
          <a:bodyPr wrap="square" lIns="0" tIns="0" rIns="0" bIns="0" anchor="ctr">
            <a:spAutoFit/>
          </a:bodyPr>
          <a:lstStyle/>
          <a:p>
            <a:pPr algn="ctr"/>
            <a:r>
              <a:rPr sz="900" b="1">
                <a:solidFill>
                  <a:srgbClr val="1C1917"/>
                </a:solidFill>
                <a:latin typeface="Segoe UI"/>
              </a:rPr>
              <a:t>Analytics</a:t>
            </a:r>
          </a:p>
        </p:txBody>
      </p:sp>
      <p:cxnSp>
        <p:nvCxnSpPr>
          <p:cNvPr id="28" name="a3f_ar27"/>
          <p:cNvCxnSpPr/>
          <p:nvPr/>
        </p:nvCxnSpPr>
        <p:spPr>
          <a:xfrm flipV="1">
            <a:off x="5650992" y="1655064"/>
            <a:ext cx="1088136" cy="777240"/>
          </a:xfrm>
          <a:prstGeom prst="line">
            <a:avLst/>
          </a:prstGeom>
          <a:ln w="15875">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a3ud100_nd28"/>
          <p:cNvSpPr/>
          <p:nvPr/>
        </p:nvSpPr>
        <p:spPr>
          <a:xfrm>
            <a:off x="6766560" y="2148840"/>
            <a:ext cx="1920240" cy="566928"/>
          </a:xfrm>
          <a:prstGeom prst="roundRect">
            <a:avLst>
              <a:gd name="adj" fmla="val 12903"/>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3ud100_ndt29"/>
          <p:cNvSpPr txBox="1"/>
          <p:nvPr/>
        </p:nvSpPr>
        <p:spPr>
          <a:xfrm>
            <a:off x="6812280" y="2148840"/>
            <a:ext cx="1828800" cy="566928"/>
          </a:xfrm>
          <a:prstGeom prst="rect">
            <a:avLst/>
          </a:prstGeom>
          <a:noFill/>
        </p:spPr>
        <p:txBody>
          <a:bodyPr wrap="square" lIns="0" tIns="0" rIns="0" bIns="0" anchor="ctr">
            <a:spAutoFit/>
          </a:bodyPr>
          <a:lstStyle/>
          <a:p>
            <a:pPr algn="ctr"/>
            <a:r>
              <a:rPr sz="900" b="1">
                <a:solidFill>
                  <a:srgbClr val="1C1917"/>
                </a:solidFill>
                <a:latin typeface="Segoe UI"/>
              </a:rPr>
              <a:t>Applications and microservices</a:t>
            </a:r>
          </a:p>
        </p:txBody>
      </p:sp>
      <p:cxnSp>
        <p:nvCxnSpPr>
          <p:cNvPr id="31" name="a3fd100_ar30"/>
          <p:cNvCxnSpPr/>
          <p:nvPr/>
        </p:nvCxnSpPr>
        <p:spPr>
          <a:xfrm>
            <a:off x="5650992" y="2432304"/>
            <a:ext cx="1088136" cy="0"/>
          </a:xfrm>
          <a:prstGeom prst="line">
            <a:avLst/>
          </a:prstGeom>
          <a:ln w="15875">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a3ud200_nd31"/>
          <p:cNvSpPr/>
          <p:nvPr/>
        </p:nvSpPr>
        <p:spPr>
          <a:xfrm>
            <a:off x="6766560" y="2926080"/>
            <a:ext cx="1920240" cy="566928"/>
          </a:xfrm>
          <a:prstGeom prst="roundRect">
            <a:avLst>
              <a:gd name="adj" fmla="val 12903"/>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3ud200_ndt32"/>
          <p:cNvSpPr txBox="1"/>
          <p:nvPr/>
        </p:nvSpPr>
        <p:spPr>
          <a:xfrm>
            <a:off x="6812280" y="2926080"/>
            <a:ext cx="1828800" cy="566928"/>
          </a:xfrm>
          <a:prstGeom prst="rect">
            <a:avLst/>
          </a:prstGeom>
          <a:noFill/>
        </p:spPr>
        <p:txBody>
          <a:bodyPr wrap="square" lIns="0" tIns="0" rIns="0" bIns="0" anchor="ctr">
            <a:spAutoFit/>
          </a:bodyPr>
          <a:lstStyle/>
          <a:p>
            <a:pPr algn="ctr"/>
            <a:r>
              <a:rPr sz="900" b="1">
                <a:solidFill>
                  <a:srgbClr val="1C1917"/>
                </a:solidFill>
                <a:latin typeface="Segoe UI"/>
              </a:rPr>
              <a:t>Other systems</a:t>
            </a:r>
          </a:p>
        </p:txBody>
      </p:sp>
      <p:cxnSp>
        <p:nvCxnSpPr>
          <p:cNvPr id="34" name="a3fd200_ar33"/>
          <p:cNvCxnSpPr/>
          <p:nvPr/>
        </p:nvCxnSpPr>
        <p:spPr>
          <a:xfrm>
            <a:off x="5650992" y="2432304"/>
            <a:ext cx="1088136" cy="777240"/>
          </a:xfrm>
          <a:prstGeom prst="line">
            <a:avLst/>
          </a:prstGeom>
          <a:ln w="15875">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a4u_nb34"/>
          <p:cNvSpPr/>
          <p:nvPr/>
        </p:nvSpPr>
        <p:spPr>
          <a:xfrm>
            <a:off x="457200" y="3840480"/>
            <a:ext cx="8229600" cy="566928"/>
          </a:xfrm>
          <a:prstGeom prst="roundRect">
            <a:avLst>
              <a:gd name="adj" fmla="val 12903"/>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4u_nacc35"/>
          <p:cNvSpPr/>
          <p:nvPr/>
        </p:nvSpPr>
        <p:spPr>
          <a:xfrm>
            <a:off x="457200" y="3840480"/>
            <a:ext cx="54864" cy="56692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4u_nt36"/>
          <p:cNvSpPr txBox="1"/>
          <p:nvPr/>
        </p:nvSpPr>
        <p:spPr>
          <a:xfrm>
            <a:off x="658368" y="3840480"/>
            <a:ext cx="7827264" cy="566928"/>
          </a:xfrm>
          <a:prstGeom prst="rect">
            <a:avLst/>
          </a:prstGeom>
          <a:noFill/>
        </p:spPr>
        <p:txBody>
          <a:bodyPr wrap="square" lIns="0" tIns="0" rIns="0" bIns="0" anchor="ctr">
            <a:spAutoFit/>
          </a:bodyPr>
          <a:lstStyle/>
          <a:p>
            <a:pPr algn="l"/>
            <a:r>
              <a:rPr sz="950" b="1">
                <a:solidFill>
                  <a:srgbClr val="0E7490"/>
                </a:solidFill>
                <a:latin typeface="Segoe UI"/>
              </a:rPr>
              <a:t>KEY  </a:t>
            </a:r>
            <a:r>
              <a:rPr sz="950" b="0">
                <a:solidFill>
                  <a:srgbClr val="44403C"/>
                </a:solidFill>
                <a:latin typeface="Segoe UI"/>
              </a:rPr>
              <a:t>Across the industry, Kafka has become the standard way to manage streams of events.</a:t>
            </a:r>
          </a:p>
        </p:txBody>
      </p:sp>
      <p:sp>
        <p:nvSpPr>
          <p:cNvPr id="38" name="ft3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05</a:t>
            </a:r>
          </a:p>
        </p:txBody>
      </p:sp>
      <p:sp>
        <p:nvSpPr>
          <p:cNvPr id="39" name="ft3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ft3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Introduction</a:t>
            </a:r>
          </a:p>
        </p:txBody>
      </p:sp>
      <p:sp>
        <p:nvSpPr>
          <p:cNvPr id="41" name="ft4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ppt_y+0.1"/>
                                          </p:val>
                                        </p:tav>
                                        <p:tav tm="100000">
                                          <p:val>
                                            <p:strVal val="#ppt_y"/>
                                          </p:val>
                                        </p:tav>
                                      </p:tavLst>
                                    </p:anim>
                                    <p:animEffect transition="in" filter="fade">
                                      <p:cBhvr>
                                        <p:cTn id="23" dur="500"/>
                                        <p:tgtEl>
                                          <p:spTgt spid="15"/>
                                        </p:tgtEl>
                                      </p:cBhvr>
                                    </p:animEffect>
                                  </p:childTnLst>
                                </p:cTn>
                              </p:par>
                              <p:par>
                                <p:cTn id="29" presetID="2" presetClass="entr" presetSubtype="4" fill="hold" grpId="0" nodeType="withEffect">
                                  <p:stCondLst>
                                    <p:cond delay="10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ppt_x"/>
                                          </p:val>
                                        </p:tav>
                                        <p:tav tm="100000">
                                          <p:val>
                                            <p:strVal val="#ppt_x"/>
                                          </p:val>
                                        </p:tav>
                                      </p:tavLst>
                                    </p:anim>
                                    <p:anim calcmode="lin" valueType="num">
                                      <p:cBhvr additive="base">
                                        <p:cTn id="27" dur="500" fill="hold"/>
                                        <p:tgtEl>
                                          <p:spTgt spid="16"/>
                                        </p:tgtEl>
                                        <p:attrNameLst>
                                          <p:attrName>ppt_y</p:attrName>
                                        </p:attrNameLst>
                                      </p:cBhvr>
                                      <p:tavLst>
                                        <p:tav tm="0">
                                          <p:val>
                                            <p:strVal val="#ppt_y+0.1"/>
                                          </p:val>
                                        </p:tav>
                                        <p:tav tm="100000">
                                          <p:val>
                                            <p:strVal val="#ppt_y"/>
                                          </p:val>
                                        </p:tav>
                                      </p:tavLst>
                                    </p:anim>
                                    <p:animEffect transition="in" filter="fade">
                                      <p:cBhvr>
                                        <p:cTn id="28" dur="500"/>
                                        <p:tgtEl>
                                          <p:spTgt spid="16"/>
                                        </p:tgtEl>
                                      </p:cBhvr>
                                    </p:animEffect>
                                  </p:childTnLst>
                                </p:cTn>
                              </p:par>
                              <p:par>
                                <p:cTn id="34" presetID="2" presetClass="entr" presetSubtype="4" fill="hold" grpId="0" nodeType="withEffect">
                                  <p:stCondLst>
                                    <p:cond delay="10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ppt_y+0.1"/>
                                          </p:val>
                                        </p:tav>
                                        <p:tav tm="100000">
                                          <p:val>
                                            <p:strVal val="#ppt_y"/>
                                          </p:val>
                                        </p:tav>
                                      </p:tavLst>
                                    </p:anim>
                                    <p:animEffect transition="in" filter="fade">
                                      <p:cBhvr>
                                        <p:cTn id="33" dur="500"/>
                                        <p:tgtEl>
                                          <p:spTgt spid="17"/>
                                        </p:tgtEl>
                                      </p:cBhvr>
                                    </p:animEffect>
                                  </p:childTnLst>
                                </p:cTn>
                              </p:par>
                              <p:par>
                                <p:cTn id="39" presetID="2" presetClass="entr" presetSubtype="4" fill="hold" grpId="0" nodeType="withEffect">
                                  <p:stCondLst>
                                    <p:cond delay="200"/>
                                  </p:stCondLst>
                                  <p:childTnLst>
                                    <p:set>
                                      <p:cBhvr>
                                        <p:cTn id="35" dur="1" fill="hold">
                                          <p:stCondLst>
                                            <p:cond delay="0"/>
                                          </p:stCondLst>
                                        </p:cTn>
                                        <p:tgtEl>
                                          <p:spTgt spid="19"/>
                                        </p:tgtEl>
                                        <p:attrNameLst>
                                          <p:attrName>style.visibility</p:attrName>
                                        </p:attrNameLst>
                                      </p:cBhvr>
                                      <p:to>
                                        <p:strVal val="visible"/>
                                      </p:to>
                                    </p:set>
                                    <p:anim calcmode="lin" valueType="num">
                                      <p:cBhvr additive="base">
                                        <p:cTn id="36" dur="500" fill="hold"/>
                                        <p:tgtEl>
                                          <p:spTgt spid="19"/>
                                        </p:tgtEl>
                                        <p:attrNameLst>
                                          <p:attrName>ppt_x</p:attrName>
                                        </p:attrNameLst>
                                      </p:cBhvr>
                                      <p:tavLst>
                                        <p:tav tm="0">
                                          <p:val>
                                            <p:strVal val="#ppt_x"/>
                                          </p:val>
                                        </p:tav>
                                        <p:tav tm="100000">
                                          <p:val>
                                            <p:strVal val="#ppt_x"/>
                                          </p:val>
                                        </p:tav>
                                      </p:tavLst>
                                    </p:anim>
                                    <p:anim calcmode="lin" valueType="num">
                                      <p:cBhvr additive="base">
                                        <p:cTn id="37" dur="500" fill="hold"/>
                                        <p:tgtEl>
                                          <p:spTgt spid="19"/>
                                        </p:tgtEl>
                                        <p:attrNameLst>
                                          <p:attrName>ppt_y</p:attrName>
                                        </p:attrNameLst>
                                      </p:cBhvr>
                                      <p:tavLst>
                                        <p:tav tm="0">
                                          <p:val>
                                            <p:strVal val="#ppt_y+0.1"/>
                                          </p:val>
                                        </p:tav>
                                        <p:tav tm="100000">
                                          <p:val>
                                            <p:strVal val="#ppt_y"/>
                                          </p:val>
                                        </p:tav>
                                      </p:tavLst>
                                    </p:anim>
                                    <p:animEffect transition="in" filter="fade">
                                      <p:cBhvr>
                                        <p:cTn id="38" dur="500"/>
                                        <p:tgtEl>
                                          <p:spTgt spid="19"/>
                                        </p:tgtEl>
                                      </p:cBhvr>
                                    </p:animEffect>
                                  </p:childTnLst>
                                </p:cTn>
                              </p:par>
                              <p:par>
                                <p:cTn id="44" presetID="2" presetClass="entr" presetSubtype="4" fill="hold" grpId="0" nodeType="withEffect">
                                  <p:stCondLst>
                                    <p:cond delay="200"/>
                                  </p:stCondLst>
                                  <p:childTnLst>
                                    <p:set>
                                      <p:cBhvr>
                                        <p:cTn id="40" dur="1" fill="hold">
                                          <p:stCondLst>
                                            <p:cond delay="0"/>
                                          </p:stCondLst>
                                        </p:cTn>
                                        <p:tgtEl>
                                          <p:spTgt spid="20"/>
                                        </p:tgtEl>
                                        <p:attrNameLst>
                                          <p:attrName>style.visibility</p:attrName>
                                        </p:attrNameLst>
                                      </p:cBhvr>
                                      <p:to>
                                        <p:strVal val="visible"/>
                                      </p:to>
                                    </p:set>
                                    <p:anim calcmode="lin" valueType="num">
                                      <p:cBhvr additive="base">
                                        <p:cTn id="41" dur="500" fill="hold"/>
                                        <p:tgtEl>
                                          <p:spTgt spid="20"/>
                                        </p:tgtEl>
                                        <p:attrNameLst>
                                          <p:attrName>ppt_x</p:attrName>
                                        </p:attrNameLst>
                                      </p:cBhvr>
                                      <p:tavLst>
                                        <p:tav tm="0">
                                          <p:val>
                                            <p:strVal val="#ppt_x"/>
                                          </p:val>
                                        </p:tav>
                                        <p:tav tm="100000">
                                          <p:val>
                                            <p:strVal val="#ppt_x"/>
                                          </p:val>
                                        </p:tav>
                                      </p:tavLst>
                                    </p:anim>
                                    <p:anim calcmode="lin" valueType="num">
                                      <p:cBhvr additive="base">
                                        <p:cTn id="42" dur="500" fill="hold"/>
                                        <p:tgtEl>
                                          <p:spTgt spid="20"/>
                                        </p:tgtEl>
                                        <p:attrNameLst>
                                          <p:attrName>ppt_y</p:attrName>
                                        </p:attrNameLst>
                                      </p:cBhvr>
                                      <p:tavLst>
                                        <p:tav tm="0">
                                          <p:val>
                                            <p:strVal val="#ppt_y+0.1"/>
                                          </p:val>
                                        </p:tav>
                                        <p:tav tm="100000">
                                          <p:val>
                                            <p:strVal val="#ppt_y"/>
                                          </p:val>
                                        </p:tav>
                                      </p:tavLst>
                                    </p:anim>
                                    <p:animEffect transition="in" filter="fade">
                                      <p:cBhvr>
                                        <p:cTn id="43" dur="500"/>
                                        <p:tgtEl>
                                          <p:spTgt spid="20"/>
                                        </p:tgtEl>
                                      </p:cBhvr>
                                    </p:animEffect>
                                  </p:childTnLst>
                                </p:cTn>
                              </p:par>
                              <p:par>
                                <p:cTn id="49" presetID="2" presetClass="entr" presetSubtype="4" fill="hold" grpId="0" nodeType="withEffect">
                                  <p:stCondLst>
                                    <p:cond delay="200"/>
                                  </p:stCondLst>
                                  <p:childTnLst>
                                    <p:set>
                                      <p:cBhvr>
                                        <p:cTn id="45" dur="1" fill="hold">
                                          <p:stCondLst>
                                            <p:cond delay="0"/>
                                          </p:stCondLst>
                                        </p:cTn>
                                        <p:tgtEl>
                                          <p:spTgt spid="21"/>
                                        </p:tgtEl>
                                        <p:attrNameLst>
                                          <p:attrName>style.visibility</p:attrName>
                                        </p:attrNameLst>
                                      </p:cBhvr>
                                      <p:to>
                                        <p:strVal val="visible"/>
                                      </p:to>
                                    </p:set>
                                    <p:anim calcmode="lin" valueType="num">
                                      <p:cBhvr additive="base">
                                        <p:cTn id="46" dur="500" fill="hold"/>
                                        <p:tgtEl>
                                          <p:spTgt spid="21"/>
                                        </p:tgtEl>
                                        <p:attrNameLst>
                                          <p:attrName>ppt_x</p:attrName>
                                        </p:attrNameLst>
                                      </p:cBhvr>
                                      <p:tavLst>
                                        <p:tav tm="0">
                                          <p:val>
                                            <p:strVal val="#ppt_x"/>
                                          </p:val>
                                        </p:tav>
                                        <p:tav tm="100000">
                                          <p:val>
                                            <p:strVal val="#ppt_x"/>
                                          </p:val>
                                        </p:tav>
                                      </p:tavLst>
                                    </p:anim>
                                    <p:anim calcmode="lin" valueType="num">
                                      <p:cBhvr additive="base">
                                        <p:cTn id="47" dur="500" fill="hold"/>
                                        <p:tgtEl>
                                          <p:spTgt spid="21"/>
                                        </p:tgtEl>
                                        <p:attrNameLst>
                                          <p:attrName>ppt_y</p:attrName>
                                        </p:attrNameLst>
                                      </p:cBhvr>
                                      <p:tavLst>
                                        <p:tav tm="0">
                                          <p:val>
                                            <p:strVal val="#ppt_y+0.1"/>
                                          </p:val>
                                        </p:tav>
                                        <p:tav tm="100000">
                                          <p:val>
                                            <p:strVal val="#ppt_y"/>
                                          </p:val>
                                        </p:tav>
                                      </p:tavLst>
                                    </p:anim>
                                    <p:animEffect transition="in" filter="fade">
                                      <p:cBhvr>
                                        <p:cTn id="48" dur="500"/>
                                        <p:tgtEl>
                                          <p:spTgt spid="21"/>
                                        </p:tgtEl>
                                      </p:cBhvr>
                                    </p:animEffect>
                                  </p:childTnLst>
                                </p:cTn>
                              </p:par>
                              <p:par>
                                <p:cTn id="54" presetID="2" presetClass="entr" presetSubtype="4" fill="hold" grpId="0" nodeType="withEffect">
                                  <p:stCondLst>
                                    <p:cond delay="40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500" fill="hold"/>
                                        <p:tgtEl>
                                          <p:spTgt spid="23"/>
                                        </p:tgtEl>
                                        <p:attrNameLst>
                                          <p:attrName>ppt_x</p:attrName>
                                        </p:attrNameLst>
                                      </p:cBhvr>
                                      <p:tavLst>
                                        <p:tav tm="0">
                                          <p:val>
                                            <p:strVal val="#ppt_x"/>
                                          </p:val>
                                        </p:tav>
                                        <p:tav tm="100000">
                                          <p:val>
                                            <p:strVal val="#ppt_x"/>
                                          </p:val>
                                        </p:tav>
                                      </p:tavLst>
                                    </p:anim>
                                    <p:anim calcmode="lin" valueType="num">
                                      <p:cBhvr additive="base">
                                        <p:cTn id="52" dur="500" fill="hold"/>
                                        <p:tgtEl>
                                          <p:spTgt spid="23"/>
                                        </p:tgtEl>
                                        <p:attrNameLst>
                                          <p:attrName>ppt_y</p:attrName>
                                        </p:attrNameLst>
                                      </p:cBhvr>
                                      <p:tavLst>
                                        <p:tav tm="0">
                                          <p:val>
                                            <p:strVal val="#ppt_y+0.1"/>
                                          </p:val>
                                        </p:tav>
                                        <p:tav tm="100000">
                                          <p:val>
                                            <p:strVal val="#ppt_y"/>
                                          </p:val>
                                        </p:tav>
                                      </p:tavLst>
                                    </p:anim>
                                    <p:animEffect transition="in" filter="fade">
                                      <p:cBhvr>
                                        <p:cTn id="53" dur="500"/>
                                        <p:tgtEl>
                                          <p:spTgt spid="23"/>
                                        </p:tgtEl>
                                      </p:cBhvr>
                                    </p:animEffect>
                                  </p:childTnLst>
                                </p:cTn>
                              </p:par>
                              <p:par>
                                <p:cTn id="59" presetID="2" presetClass="entr" presetSubtype="4" fill="hold" grpId="0" nodeType="withEffect">
                                  <p:stCondLst>
                                    <p:cond delay="400"/>
                                  </p:stCondLst>
                                  <p:childTnLst>
                                    <p:set>
                                      <p:cBhvr>
                                        <p:cTn id="55" dur="1" fill="hold">
                                          <p:stCondLst>
                                            <p:cond delay="0"/>
                                          </p:stCondLst>
                                        </p:cTn>
                                        <p:tgtEl>
                                          <p:spTgt spid="24"/>
                                        </p:tgtEl>
                                        <p:attrNameLst>
                                          <p:attrName>style.visibility</p:attrName>
                                        </p:attrNameLst>
                                      </p:cBhvr>
                                      <p:to>
                                        <p:strVal val="visible"/>
                                      </p:to>
                                    </p:set>
                                    <p:anim calcmode="lin" valueType="num">
                                      <p:cBhvr additive="base">
                                        <p:cTn id="56" dur="500" fill="hold"/>
                                        <p:tgtEl>
                                          <p:spTgt spid="24"/>
                                        </p:tgtEl>
                                        <p:attrNameLst>
                                          <p:attrName>ppt_x</p:attrName>
                                        </p:attrNameLst>
                                      </p:cBhvr>
                                      <p:tavLst>
                                        <p:tav tm="0">
                                          <p:val>
                                            <p:strVal val="#ppt_x"/>
                                          </p:val>
                                        </p:tav>
                                        <p:tav tm="100000">
                                          <p:val>
                                            <p:strVal val="#ppt_x"/>
                                          </p:val>
                                        </p:tav>
                                      </p:tavLst>
                                    </p:anim>
                                    <p:anim calcmode="lin" valueType="num">
                                      <p:cBhvr additive="base">
                                        <p:cTn id="57" dur="500" fill="hold"/>
                                        <p:tgtEl>
                                          <p:spTgt spid="24"/>
                                        </p:tgtEl>
                                        <p:attrNameLst>
                                          <p:attrName>ppt_y</p:attrName>
                                        </p:attrNameLst>
                                      </p:cBhvr>
                                      <p:tavLst>
                                        <p:tav tm="0">
                                          <p:val>
                                            <p:strVal val="#ppt_y+0.1"/>
                                          </p:val>
                                        </p:tav>
                                        <p:tav tm="100000">
                                          <p:val>
                                            <p:strVal val="#ppt_y"/>
                                          </p:val>
                                        </p:tav>
                                      </p:tavLst>
                                    </p:anim>
                                    <p:animEffect transition="in" filter="fade">
                                      <p:cBhvr>
                                        <p:cTn id="58" dur="500"/>
                                        <p:tgtEl>
                                          <p:spTgt spid="24"/>
                                        </p:tgtEl>
                                      </p:cBhvr>
                                    </p:animEffect>
                                  </p:childTnLst>
                                </p:cTn>
                              </p:par>
                              <p:par>
                                <p:cTn id="64" presetID="2" presetClass="entr" presetSubtype="4" fill="hold" grpId="0" nodeType="withEffect">
                                  <p:stCondLst>
                                    <p:cond delay="400"/>
                                  </p:stCondLst>
                                  <p:childTnLst>
                                    <p:set>
                                      <p:cBhvr>
                                        <p:cTn id="60" dur="1" fill="hold">
                                          <p:stCondLst>
                                            <p:cond delay="0"/>
                                          </p:stCondLst>
                                        </p:cTn>
                                        <p:tgtEl>
                                          <p:spTgt spid="25"/>
                                        </p:tgtEl>
                                        <p:attrNameLst>
                                          <p:attrName>style.visibility</p:attrName>
                                        </p:attrNameLst>
                                      </p:cBhvr>
                                      <p:to>
                                        <p:strVal val="visible"/>
                                      </p:to>
                                    </p:set>
                                    <p:anim calcmode="lin" valueType="num">
                                      <p:cBhvr additive="base">
                                        <p:cTn id="61" dur="500" fill="hold"/>
                                        <p:tgtEl>
                                          <p:spTgt spid="25"/>
                                        </p:tgtEl>
                                        <p:attrNameLst>
                                          <p:attrName>ppt_x</p:attrName>
                                        </p:attrNameLst>
                                      </p:cBhvr>
                                      <p:tavLst>
                                        <p:tav tm="0">
                                          <p:val>
                                            <p:strVal val="#ppt_x"/>
                                          </p:val>
                                        </p:tav>
                                        <p:tav tm="100000">
                                          <p:val>
                                            <p:strVal val="#ppt_x"/>
                                          </p:val>
                                        </p:tav>
                                      </p:tavLst>
                                    </p:anim>
                                    <p:anim calcmode="lin" valueType="num">
                                      <p:cBhvr additive="base">
                                        <p:cTn id="62" dur="500" fill="hold"/>
                                        <p:tgtEl>
                                          <p:spTgt spid="25"/>
                                        </p:tgtEl>
                                        <p:attrNameLst>
                                          <p:attrName>ppt_y</p:attrName>
                                        </p:attrNameLst>
                                      </p:cBhvr>
                                      <p:tavLst>
                                        <p:tav tm="0">
                                          <p:val>
                                            <p:strVal val="#ppt_y+0.1"/>
                                          </p:val>
                                        </p:tav>
                                        <p:tav tm="100000">
                                          <p:val>
                                            <p:strVal val="#ppt_y"/>
                                          </p:val>
                                        </p:tav>
                                      </p:tavLst>
                                    </p:anim>
                                    <p:animEffect transition="in" filter="fade">
                                      <p:cBhvr>
                                        <p:cTn id="63" dur="500"/>
                                        <p:tgtEl>
                                          <p:spTgt spid="25"/>
                                        </p:tgtEl>
                                      </p:cBhvr>
                                    </p:animEffect>
                                  </p:childTnLst>
                                </p:cTn>
                              </p:par>
                            </p:childTnLst>
                          </p:cTn>
                        </p:par>
                      </p:childTnLst>
                    </p:cTn>
                  </p:par>
                  <p:par>
                    <p:cTn id="65" fill="hold">
                      <p:stCondLst>
                        <p:cond delay="indefinite"/>
                      </p:stCondLst>
                      <p:childTnLst>
                        <p:par>
                          <p:cTn id="66" fill="hold">
                            <p:stCondLst>
                              <p:cond delay="0"/>
                            </p:stCondLst>
                            <p:childTnLst>
                              <p:par>
                                <p:cTn id="69" presetID="10" presetClass="entr" presetSubtype="0" fill="hold" grpId="0" nodeType="click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500"/>
                                        <p:tgtEl>
                                          <p:spTgt spid="14"/>
                                        </p:tgtEl>
                                      </p:cBhvr>
                                    </p:animEffect>
                                  </p:childTnLst>
                                </p:cTn>
                              </p:par>
                              <p:par>
                                <p:cTn id="72" presetID="10" presetClass="entr" presetSubtype="0" fill="hold" grpId="0" nodeType="withEffect">
                                  <p:stCondLst>
                                    <p:cond delay="10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00"/>
                                        <p:tgtEl>
                                          <p:spTgt spid="18"/>
                                        </p:tgtEl>
                                      </p:cBhvr>
                                    </p:animEffect>
                                  </p:childTnLst>
                                </p:cTn>
                              </p:par>
                              <p:par>
                                <p:cTn id="75" presetID="10" presetClass="entr" presetSubtype="0" fill="hold" grpId="0" nodeType="withEffect">
                                  <p:stCondLst>
                                    <p:cond delay="20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500"/>
                                        <p:tgtEl>
                                          <p:spTgt spid="22"/>
                                        </p:tgtEl>
                                      </p:cBhvr>
                                    </p:animEffect>
                                  </p:childTnLst>
                                </p:cTn>
                              </p:par>
                            </p:childTnLst>
                          </p:cTn>
                        </p:par>
                      </p:childTnLst>
                    </p:cTn>
                  </p:par>
                  <p:par>
                    <p:cTn id="76" fill="hold">
                      <p:stCondLst>
                        <p:cond delay="indefinite"/>
                      </p:stCondLst>
                      <p:childTnLst>
                        <p:par>
                          <p:cTn id="77" fill="hold">
                            <p:stCondLst>
                              <p:cond delay="0"/>
                            </p:stCondLst>
                            <p:childTnLst>
                              <p:par>
                                <p:cTn id="82" presetID="2" presetClass="entr" presetSubtype="4" fill="hold" grpId="0" nodeType="clickEffect">
                                  <p:stCondLst>
                                    <p:cond delay="0"/>
                                  </p:stCondLst>
                                  <p:childTnLst>
                                    <p:set>
                                      <p:cBhvr>
                                        <p:cTn id="78" dur="1" fill="hold">
                                          <p:stCondLst>
                                            <p:cond delay="0"/>
                                          </p:stCondLst>
                                        </p:cTn>
                                        <p:tgtEl>
                                          <p:spTgt spid="26"/>
                                        </p:tgtEl>
                                        <p:attrNameLst>
                                          <p:attrName>style.visibility</p:attrName>
                                        </p:attrNameLst>
                                      </p:cBhvr>
                                      <p:to>
                                        <p:strVal val="visible"/>
                                      </p:to>
                                    </p:set>
                                    <p:anim calcmode="lin" valueType="num">
                                      <p:cBhvr additive="base">
                                        <p:cTn id="79" dur="500" fill="hold"/>
                                        <p:tgtEl>
                                          <p:spTgt spid="26"/>
                                        </p:tgtEl>
                                        <p:attrNameLst>
                                          <p:attrName>ppt_x</p:attrName>
                                        </p:attrNameLst>
                                      </p:cBhvr>
                                      <p:tavLst>
                                        <p:tav tm="0">
                                          <p:val>
                                            <p:strVal val="#ppt_x"/>
                                          </p:val>
                                        </p:tav>
                                        <p:tav tm="100000">
                                          <p:val>
                                            <p:strVal val="#ppt_x"/>
                                          </p:val>
                                        </p:tav>
                                      </p:tavLst>
                                    </p:anim>
                                    <p:anim calcmode="lin" valueType="num">
                                      <p:cBhvr additive="base">
                                        <p:cTn id="80" dur="500" fill="hold"/>
                                        <p:tgtEl>
                                          <p:spTgt spid="26"/>
                                        </p:tgtEl>
                                        <p:attrNameLst>
                                          <p:attrName>ppt_y</p:attrName>
                                        </p:attrNameLst>
                                      </p:cBhvr>
                                      <p:tavLst>
                                        <p:tav tm="0">
                                          <p:val>
                                            <p:strVal val="#ppt_y+0.1"/>
                                          </p:val>
                                        </p:tav>
                                        <p:tav tm="100000">
                                          <p:val>
                                            <p:strVal val="#ppt_y"/>
                                          </p:val>
                                        </p:tav>
                                      </p:tavLst>
                                    </p:anim>
                                    <p:animEffect transition="in" filter="fade">
                                      <p:cBhvr>
                                        <p:cTn id="81" dur="500"/>
                                        <p:tgtEl>
                                          <p:spTgt spid="26"/>
                                        </p:tgtEl>
                                      </p:cBhvr>
                                    </p:animEffect>
                                  </p:childTnLst>
                                </p:cTn>
                              </p:par>
                              <p:par>
                                <p:cTn id="87" presetID="2" presetClass="entr" presetSubtype="4"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anim calcmode="lin" valueType="num">
                                      <p:cBhvr additive="base">
                                        <p:cTn id="84" dur="500" fill="hold"/>
                                        <p:tgtEl>
                                          <p:spTgt spid="27"/>
                                        </p:tgtEl>
                                        <p:attrNameLst>
                                          <p:attrName>ppt_x</p:attrName>
                                        </p:attrNameLst>
                                      </p:cBhvr>
                                      <p:tavLst>
                                        <p:tav tm="0">
                                          <p:val>
                                            <p:strVal val="#ppt_x"/>
                                          </p:val>
                                        </p:tav>
                                        <p:tav tm="100000">
                                          <p:val>
                                            <p:strVal val="#ppt_x"/>
                                          </p:val>
                                        </p:tav>
                                      </p:tavLst>
                                    </p:anim>
                                    <p:anim calcmode="lin" valueType="num">
                                      <p:cBhvr additive="base">
                                        <p:cTn id="85" dur="500" fill="hold"/>
                                        <p:tgtEl>
                                          <p:spTgt spid="27"/>
                                        </p:tgtEl>
                                        <p:attrNameLst>
                                          <p:attrName>ppt_y</p:attrName>
                                        </p:attrNameLst>
                                      </p:cBhvr>
                                      <p:tavLst>
                                        <p:tav tm="0">
                                          <p:val>
                                            <p:strVal val="#ppt_y+0.1"/>
                                          </p:val>
                                        </p:tav>
                                        <p:tav tm="100000">
                                          <p:val>
                                            <p:strVal val="#ppt_y"/>
                                          </p:val>
                                        </p:tav>
                                      </p:tavLst>
                                    </p:anim>
                                    <p:animEffect transition="in" filter="fade">
                                      <p:cBhvr>
                                        <p:cTn id="86" dur="500"/>
                                        <p:tgtEl>
                                          <p:spTgt spid="27"/>
                                        </p:tgtEl>
                                      </p:cBhvr>
                                    </p:animEffect>
                                  </p:childTnLst>
                                </p:cTn>
                              </p:par>
                              <p:par>
                                <p:cTn id="90" presetID="10" presetClass="entr" presetSubtype="0" fill="hold" grpId="0" nodeType="with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500"/>
                                        <p:tgtEl>
                                          <p:spTgt spid="28"/>
                                        </p:tgtEl>
                                      </p:cBhvr>
                                    </p:animEffect>
                                  </p:childTnLst>
                                </p:cTn>
                              </p:par>
                              <p:par>
                                <p:cTn id="95" presetID="2" presetClass="entr" presetSubtype="4" fill="hold" grpId="0" nodeType="withEffect">
                                  <p:stCondLst>
                                    <p:cond delay="100"/>
                                  </p:stCondLst>
                                  <p:childTnLst>
                                    <p:set>
                                      <p:cBhvr>
                                        <p:cTn id="91" dur="1" fill="hold">
                                          <p:stCondLst>
                                            <p:cond delay="0"/>
                                          </p:stCondLst>
                                        </p:cTn>
                                        <p:tgtEl>
                                          <p:spTgt spid="29"/>
                                        </p:tgtEl>
                                        <p:attrNameLst>
                                          <p:attrName>style.visibility</p:attrName>
                                        </p:attrNameLst>
                                      </p:cBhvr>
                                      <p:to>
                                        <p:strVal val="visible"/>
                                      </p:to>
                                    </p:set>
                                    <p:anim calcmode="lin" valueType="num">
                                      <p:cBhvr additive="base">
                                        <p:cTn id="92" dur="500" fill="hold"/>
                                        <p:tgtEl>
                                          <p:spTgt spid="29"/>
                                        </p:tgtEl>
                                        <p:attrNameLst>
                                          <p:attrName>ppt_x</p:attrName>
                                        </p:attrNameLst>
                                      </p:cBhvr>
                                      <p:tavLst>
                                        <p:tav tm="0">
                                          <p:val>
                                            <p:strVal val="#ppt_x"/>
                                          </p:val>
                                        </p:tav>
                                        <p:tav tm="100000">
                                          <p:val>
                                            <p:strVal val="#ppt_x"/>
                                          </p:val>
                                        </p:tav>
                                      </p:tavLst>
                                    </p:anim>
                                    <p:anim calcmode="lin" valueType="num">
                                      <p:cBhvr additive="base">
                                        <p:cTn id="93" dur="500" fill="hold"/>
                                        <p:tgtEl>
                                          <p:spTgt spid="29"/>
                                        </p:tgtEl>
                                        <p:attrNameLst>
                                          <p:attrName>ppt_y</p:attrName>
                                        </p:attrNameLst>
                                      </p:cBhvr>
                                      <p:tavLst>
                                        <p:tav tm="0">
                                          <p:val>
                                            <p:strVal val="#ppt_y+0.1"/>
                                          </p:val>
                                        </p:tav>
                                        <p:tav tm="100000">
                                          <p:val>
                                            <p:strVal val="#ppt_y"/>
                                          </p:val>
                                        </p:tav>
                                      </p:tavLst>
                                    </p:anim>
                                    <p:animEffect transition="in" filter="fade">
                                      <p:cBhvr>
                                        <p:cTn id="94" dur="500"/>
                                        <p:tgtEl>
                                          <p:spTgt spid="29"/>
                                        </p:tgtEl>
                                      </p:cBhvr>
                                    </p:animEffect>
                                  </p:childTnLst>
                                </p:cTn>
                              </p:par>
                              <p:par>
                                <p:cTn id="100" presetID="2" presetClass="entr" presetSubtype="4" fill="hold" grpId="0" nodeType="withEffect">
                                  <p:stCondLst>
                                    <p:cond delay="100"/>
                                  </p:stCondLst>
                                  <p:childTnLst>
                                    <p:set>
                                      <p:cBhvr>
                                        <p:cTn id="96" dur="1" fill="hold">
                                          <p:stCondLst>
                                            <p:cond delay="0"/>
                                          </p:stCondLst>
                                        </p:cTn>
                                        <p:tgtEl>
                                          <p:spTgt spid="30"/>
                                        </p:tgtEl>
                                        <p:attrNameLst>
                                          <p:attrName>style.visibility</p:attrName>
                                        </p:attrNameLst>
                                      </p:cBhvr>
                                      <p:to>
                                        <p:strVal val="visible"/>
                                      </p:to>
                                    </p:set>
                                    <p:anim calcmode="lin" valueType="num">
                                      <p:cBhvr additive="base">
                                        <p:cTn id="97" dur="500" fill="hold"/>
                                        <p:tgtEl>
                                          <p:spTgt spid="30"/>
                                        </p:tgtEl>
                                        <p:attrNameLst>
                                          <p:attrName>ppt_x</p:attrName>
                                        </p:attrNameLst>
                                      </p:cBhvr>
                                      <p:tavLst>
                                        <p:tav tm="0">
                                          <p:val>
                                            <p:strVal val="#ppt_x"/>
                                          </p:val>
                                        </p:tav>
                                        <p:tav tm="100000">
                                          <p:val>
                                            <p:strVal val="#ppt_x"/>
                                          </p:val>
                                        </p:tav>
                                      </p:tavLst>
                                    </p:anim>
                                    <p:anim calcmode="lin" valueType="num">
                                      <p:cBhvr additive="base">
                                        <p:cTn id="98" dur="500" fill="hold"/>
                                        <p:tgtEl>
                                          <p:spTgt spid="30"/>
                                        </p:tgtEl>
                                        <p:attrNameLst>
                                          <p:attrName>ppt_y</p:attrName>
                                        </p:attrNameLst>
                                      </p:cBhvr>
                                      <p:tavLst>
                                        <p:tav tm="0">
                                          <p:val>
                                            <p:strVal val="#ppt_y+0.1"/>
                                          </p:val>
                                        </p:tav>
                                        <p:tav tm="100000">
                                          <p:val>
                                            <p:strVal val="#ppt_y"/>
                                          </p:val>
                                        </p:tav>
                                      </p:tavLst>
                                    </p:anim>
                                    <p:animEffect transition="in" filter="fade">
                                      <p:cBhvr>
                                        <p:cTn id="99" dur="500"/>
                                        <p:tgtEl>
                                          <p:spTgt spid="30"/>
                                        </p:tgtEl>
                                      </p:cBhvr>
                                    </p:animEffect>
                                  </p:childTnLst>
                                </p:cTn>
                              </p:par>
                              <p:par>
                                <p:cTn id="103" presetID="10" presetClass="entr" presetSubtype="0" fill="hold" grpId="0" nodeType="withEffect">
                                  <p:stCondLst>
                                    <p:cond delay="100"/>
                                  </p:stCondLst>
                                  <p:childTnLst>
                                    <p:set>
                                      <p:cBhvr>
                                        <p:cTn id="101" dur="1" fill="hold">
                                          <p:stCondLst>
                                            <p:cond delay="0"/>
                                          </p:stCondLst>
                                        </p:cTn>
                                        <p:tgtEl>
                                          <p:spTgt spid="31"/>
                                        </p:tgtEl>
                                        <p:attrNameLst>
                                          <p:attrName>style.visibility</p:attrName>
                                        </p:attrNameLst>
                                      </p:cBhvr>
                                      <p:to>
                                        <p:strVal val="visible"/>
                                      </p:to>
                                    </p:set>
                                    <p:animEffect transition="in" filter="fade">
                                      <p:cBhvr>
                                        <p:cTn id="102" dur="500"/>
                                        <p:tgtEl>
                                          <p:spTgt spid="31"/>
                                        </p:tgtEl>
                                      </p:cBhvr>
                                    </p:animEffect>
                                  </p:childTnLst>
                                </p:cTn>
                              </p:par>
                              <p:par>
                                <p:cTn id="108" presetID="2" presetClass="entr" presetSubtype="4" fill="hold" grpId="0" nodeType="withEffect">
                                  <p:stCondLst>
                                    <p:cond delay="200"/>
                                  </p:stCondLst>
                                  <p:childTnLst>
                                    <p:set>
                                      <p:cBhvr>
                                        <p:cTn id="104" dur="1" fill="hold">
                                          <p:stCondLst>
                                            <p:cond delay="0"/>
                                          </p:stCondLst>
                                        </p:cTn>
                                        <p:tgtEl>
                                          <p:spTgt spid="32"/>
                                        </p:tgtEl>
                                        <p:attrNameLst>
                                          <p:attrName>style.visibility</p:attrName>
                                        </p:attrNameLst>
                                      </p:cBhvr>
                                      <p:to>
                                        <p:strVal val="visible"/>
                                      </p:to>
                                    </p:set>
                                    <p:anim calcmode="lin" valueType="num">
                                      <p:cBhvr additive="base">
                                        <p:cTn id="105" dur="500" fill="hold"/>
                                        <p:tgtEl>
                                          <p:spTgt spid="32"/>
                                        </p:tgtEl>
                                        <p:attrNameLst>
                                          <p:attrName>ppt_x</p:attrName>
                                        </p:attrNameLst>
                                      </p:cBhvr>
                                      <p:tavLst>
                                        <p:tav tm="0">
                                          <p:val>
                                            <p:strVal val="#ppt_x"/>
                                          </p:val>
                                        </p:tav>
                                        <p:tav tm="100000">
                                          <p:val>
                                            <p:strVal val="#ppt_x"/>
                                          </p:val>
                                        </p:tav>
                                      </p:tavLst>
                                    </p:anim>
                                    <p:anim calcmode="lin" valueType="num">
                                      <p:cBhvr additive="base">
                                        <p:cTn id="106" dur="500" fill="hold"/>
                                        <p:tgtEl>
                                          <p:spTgt spid="32"/>
                                        </p:tgtEl>
                                        <p:attrNameLst>
                                          <p:attrName>ppt_y</p:attrName>
                                        </p:attrNameLst>
                                      </p:cBhvr>
                                      <p:tavLst>
                                        <p:tav tm="0">
                                          <p:val>
                                            <p:strVal val="#ppt_y+0.1"/>
                                          </p:val>
                                        </p:tav>
                                        <p:tav tm="100000">
                                          <p:val>
                                            <p:strVal val="#ppt_y"/>
                                          </p:val>
                                        </p:tav>
                                      </p:tavLst>
                                    </p:anim>
                                    <p:animEffect transition="in" filter="fade">
                                      <p:cBhvr>
                                        <p:cTn id="107" dur="500"/>
                                        <p:tgtEl>
                                          <p:spTgt spid="32"/>
                                        </p:tgtEl>
                                      </p:cBhvr>
                                    </p:animEffect>
                                  </p:childTnLst>
                                </p:cTn>
                              </p:par>
                              <p:par>
                                <p:cTn id="113" presetID="2" presetClass="entr" presetSubtype="4" fill="hold" grpId="0" nodeType="withEffect">
                                  <p:stCondLst>
                                    <p:cond delay="200"/>
                                  </p:stCondLst>
                                  <p:childTnLst>
                                    <p:set>
                                      <p:cBhvr>
                                        <p:cTn id="109" dur="1" fill="hold">
                                          <p:stCondLst>
                                            <p:cond delay="0"/>
                                          </p:stCondLst>
                                        </p:cTn>
                                        <p:tgtEl>
                                          <p:spTgt spid="33"/>
                                        </p:tgtEl>
                                        <p:attrNameLst>
                                          <p:attrName>style.visibility</p:attrName>
                                        </p:attrNameLst>
                                      </p:cBhvr>
                                      <p:to>
                                        <p:strVal val="visible"/>
                                      </p:to>
                                    </p:set>
                                    <p:anim calcmode="lin" valueType="num">
                                      <p:cBhvr additive="base">
                                        <p:cTn id="110" dur="500" fill="hold"/>
                                        <p:tgtEl>
                                          <p:spTgt spid="33"/>
                                        </p:tgtEl>
                                        <p:attrNameLst>
                                          <p:attrName>ppt_x</p:attrName>
                                        </p:attrNameLst>
                                      </p:cBhvr>
                                      <p:tavLst>
                                        <p:tav tm="0">
                                          <p:val>
                                            <p:strVal val="#ppt_x"/>
                                          </p:val>
                                        </p:tav>
                                        <p:tav tm="100000">
                                          <p:val>
                                            <p:strVal val="#ppt_x"/>
                                          </p:val>
                                        </p:tav>
                                      </p:tavLst>
                                    </p:anim>
                                    <p:anim calcmode="lin" valueType="num">
                                      <p:cBhvr additive="base">
                                        <p:cTn id="111" dur="500" fill="hold"/>
                                        <p:tgtEl>
                                          <p:spTgt spid="33"/>
                                        </p:tgtEl>
                                        <p:attrNameLst>
                                          <p:attrName>ppt_y</p:attrName>
                                        </p:attrNameLst>
                                      </p:cBhvr>
                                      <p:tavLst>
                                        <p:tav tm="0">
                                          <p:val>
                                            <p:strVal val="#ppt_y+0.1"/>
                                          </p:val>
                                        </p:tav>
                                        <p:tav tm="100000">
                                          <p:val>
                                            <p:strVal val="#ppt_y"/>
                                          </p:val>
                                        </p:tav>
                                      </p:tavLst>
                                    </p:anim>
                                    <p:animEffect transition="in" filter="fade">
                                      <p:cBhvr>
                                        <p:cTn id="112" dur="500"/>
                                        <p:tgtEl>
                                          <p:spTgt spid="33"/>
                                        </p:tgtEl>
                                      </p:cBhvr>
                                    </p:animEffect>
                                  </p:childTnLst>
                                </p:cTn>
                              </p:par>
                              <p:par>
                                <p:cTn id="116" presetID="10" presetClass="entr" presetSubtype="0" fill="hold" grpId="0" nodeType="withEffect">
                                  <p:stCondLst>
                                    <p:cond delay="200"/>
                                  </p:stCondLst>
                                  <p:childTnLst>
                                    <p:set>
                                      <p:cBhvr>
                                        <p:cTn id="114" dur="1" fill="hold">
                                          <p:stCondLst>
                                            <p:cond delay="0"/>
                                          </p:stCondLst>
                                        </p:cTn>
                                        <p:tgtEl>
                                          <p:spTgt spid="34"/>
                                        </p:tgtEl>
                                        <p:attrNameLst>
                                          <p:attrName>style.visibility</p:attrName>
                                        </p:attrNameLst>
                                      </p:cBhvr>
                                      <p:to>
                                        <p:strVal val="visible"/>
                                      </p:to>
                                    </p:set>
                                    <p:animEffect transition="in" filter="fade">
                                      <p:cBhvr>
                                        <p:cTn id="115" dur="500"/>
                                        <p:tgtEl>
                                          <p:spTgt spid="34"/>
                                        </p:tgtEl>
                                      </p:cBhvr>
                                    </p:animEffect>
                                  </p:childTnLst>
                                </p:cTn>
                              </p:par>
                            </p:childTnLst>
                          </p:cTn>
                        </p:par>
                      </p:childTnLst>
                    </p:cTn>
                  </p:par>
                  <p:par>
                    <p:cTn id="117" fill="hold">
                      <p:stCondLst>
                        <p:cond delay="indefinite"/>
                      </p:stCondLst>
                      <p:childTnLst>
                        <p:par>
                          <p:cTn id="118" fill="hold">
                            <p:stCondLst>
                              <p:cond delay="0"/>
                            </p:stCondLst>
                            <p:childTnLst>
                              <p:par>
                                <p:cTn id="123" presetID="2" presetClass="entr" presetSubtype="4" fill="hold" grpId="0" nodeType="clickEffect">
                                  <p:stCondLst>
                                    <p:cond delay="0"/>
                                  </p:stCondLst>
                                  <p:childTnLst>
                                    <p:set>
                                      <p:cBhvr>
                                        <p:cTn id="119" dur="1" fill="hold">
                                          <p:stCondLst>
                                            <p:cond delay="0"/>
                                          </p:stCondLst>
                                        </p:cTn>
                                        <p:tgtEl>
                                          <p:spTgt spid="35"/>
                                        </p:tgtEl>
                                        <p:attrNameLst>
                                          <p:attrName>style.visibility</p:attrName>
                                        </p:attrNameLst>
                                      </p:cBhvr>
                                      <p:to>
                                        <p:strVal val="visible"/>
                                      </p:to>
                                    </p:set>
                                    <p:anim calcmode="lin" valueType="num">
                                      <p:cBhvr additive="base">
                                        <p:cTn id="120" dur="500" fill="hold"/>
                                        <p:tgtEl>
                                          <p:spTgt spid="35"/>
                                        </p:tgtEl>
                                        <p:attrNameLst>
                                          <p:attrName>ppt_x</p:attrName>
                                        </p:attrNameLst>
                                      </p:cBhvr>
                                      <p:tavLst>
                                        <p:tav tm="0">
                                          <p:val>
                                            <p:strVal val="#ppt_x"/>
                                          </p:val>
                                        </p:tav>
                                        <p:tav tm="100000">
                                          <p:val>
                                            <p:strVal val="#ppt_x"/>
                                          </p:val>
                                        </p:tav>
                                      </p:tavLst>
                                    </p:anim>
                                    <p:anim calcmode="lin" valueType="num">
                                      <p:cBhvr additive="base">
                                        <p:cTn id="121" dur="500" fill="hold"/>
                                        <p:tgtEl>
                                          <p:spTgt spid="35"/>
                                        </p:tgtEl>
                                        <p:attrNameLst>
                                          <p:attrName>ppt_y</p:attrName>
                                        </p:attrNameLst>
                                      </p:cBhvr>
                                      <p:tavLst>
                                        <p:tav tm="0">
                                          <p:val>
                                            <p:strVal val="#ppt_y+0.1"/>
                                          </p:val>
                                        </p:tav>
                                        <p:tav tm="100000">
                                          <p:val>
                                            <p:strVal val="#ppt_y"/>
                                          </p:val>
                                        </p:tav>
                                      </p:tavLst>
                                    </p:anim>
                                    <p:animEffect transition="in" filter="fade">
                                      <p:cBhvr>
                                        <p:cTn id="122" dur="500"/>
                                        <p:tgtEl>
                                          <p:spTgt spid="35"/>
                                        </p:tgtEl>
                                      </p:cBhvr>
                                    </p:animEffect>
                                  </p:childTnLst>
                                </p:cTn>
                              </p:par>
                              <p:par>
                                <p:cTn id="128" presetID="2" presetClass="entr" presetSubtype="4" fill="hold" grpId="0" nodeType="withEffect">
                                  <p:stCondLst>
                                    <p:cond delay="0"/>
                                  </p:stCondLst>
                                  <p:childTnLst>
                                    <p:set>
                                      <p:cBhvr>
                                        <p:cTn id="124" dur="1" fill="hold">
                                          <p:stCondLst>
                                            <p:cond delay="0"/>
                                          </p:stCondLst>
                                        </p:cTn>
                                        <p:tgtEl>
                                          <p:spTgt spid="36"/>
                                        </p:tgtEl>
                                        <p:attrNameLst>
                                          <p:attrName>style.visibility</p:attrName>
                                        </p:attrNameLst>
                                      </p:cBhvr>
                                      <p:to>
                                        <p:strVal val="visible"/>
                                      </p:to>
                                    </p:set>
                                    <p:anim calcmode="lin" valueType="num">
                                      <p:cBhvr additive="base">
                                        <p:cTn id="125" dur="500" fill="hold"/>
                                        <p:tgtEl>
                                          <p:spTgt spid="36"/>
                                        </p:tgtEl>
                                        <p:attrNameLst>
                                          <p:attrName>ppt_x</p:attrName>
                                        </p:attrNameLst>
                                      </p:cBhvr>
                                      <p:tavLst>
                                        <p:tav tm="0">
                                          <p:val>
                                            <p:strVal val="#ppt_x"/>
                                          </p:val>
                                        </p:tav>
                                        <p:tav tm="100000">
                                          <p:val>
                                            <p:strVal val="#ppt_x"/>
                                          </p:val>
                                        </p:tav>
                                      </p:tavLst>
                                    </p:anim>
                                    <p:anim calcmode="lin" valueType="num">
                                      <p:cBhvr additive="base">
                                        <p:cTn id="126" dur="500" fill="hold"/>
                                        <p:tgtEl>
                                          <p:spTgt spid="36"/>
                                        </p:tgtEl>
                                        <p:attrNameLst>
                                          <p:attrName>ppt_y</p:attrName>
                                        </p:attrNameLst>
                                      </p:cBhvr>
                                      <p:tavLst>
                                        <p:tav tm="0">
                                          <p:val>
                                            <p:strVal val="#ppt_y+0.1"/>
                                          </p:val>
                                        </p:tav>
                                        <p:tav tm="100000">
                                          <p:val>
                                            <p:strVal val="#ppt_y"/>
                                          </p:val>
                                        </p:tav>
                                      </p:tavLst>
                                    </p:anim>
                                    <p:animEffect transition="in" filter="fade">
                                      <p:cBhvr>
                                        <p:cTn id="127" dur="500"/>
                                        <p:tgtEl>
                                          <p:spTgt spid="36"/>
                                        </p:tgtEl>
                                      </p:cBhvr>
                                    </p:animEffect>
                                  </p:childTnLst>
                                </p:cTn>
                              </p:par>
                              <p:par>
                                <p:cTn id="133" presetID="2" presetClass="entr" presetSubtype="4" fill="hold" grpId="0" nodeType="withEffect">
                                  <p:stCondLst>
                                    <p:cond delay="0"/>
                                  </p:stCondLst>
                                  <p:childTnLst>
                                    <p:set>
                                      <p:cBhvr>
                                        <p:cTn id="129" dur="1" fill="hold">
                                          <p:stCondLst>
                                            <p:cond delay="0"/>
                                          </p:stCondLst>
                                        </p:cTn>
                                        <p:tgtEl>
                                          <p:spTgt spid="37"/>
                                        </p:tgtEl>
                                        <p:attrNameLst>
                                          <p:attrName>style.visibility</p:attrName>
                                        </p:attrNameLst>
                                      </p:cBhvr>
                                      <p:to>
                                        <p:strVal val="visible"/>
                                      </p:to>
                                    </p:set>
                                    <p:anim calcmode="lin" valueType="num">
                                      <p:cBhvr additive="base">
                                        <p:cTn id="130" dur="500" fill="hold"/>
                                        <p:tgtEl>
                                          <p:spTgt spid="37"/>
                                        </p:tgtEl>
                                        <p:attrNameLst>
                                          <p:attrName>ppt_x</p:attrName>
                                        </p:attrNameLst>
                                      </p:cBhvr>
                                      <p:tavLst>
                                        <p:tav tm="0">
                                          <p:val>
                                            <p:strVal val="#ppt_x"/>
                                          </p:val>
                                        </p:tav>
                                        <p:tav tm="100000">
                                          <p:val>
                                            <p:strVal val="#ppt_x"/>
                                          </p:val>
                                        </p:tav>
                                      </p:tavLst>
                                    </p:anim>
                                    <p:anim calcmode="lin" valueType="num">
                                      <p:cBhvr additive="base">
                                        <p:cTn id="131" dur="500" fill="hold"/>
                                        <p:tgtEl>
                                          <p:spTgt spid="37"/>
                                        </p:tgtEl>
                                        <p:attrNameLst>
                                          <p:attrName>ppt_y</p:attrName>
                                        </p:attrNameLst>
                                      </p:cBhvr>
                                      <p:tavLst>
                                        <p:tav tm="0">
                                          <p:val>
                                            <p:strVal val="#ppt_y+0.1"/>
                                          </p:val>
                                        </p:tav>
                                        <p:tav tm="100000">
                                          <p:val>
                                            <p:strVal val="#ppt_y"/>
                                          </p:val>
                                        </p:tav>
                                      </p:tavLst>
                                    </p:anim>
                                    <p:animEffect transition="in" filter="fade">
                                      <p:cBhvr>
                                        <p:cTn id="13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Real Time: Do the Work Right Now</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An event happens at a particular moment - so Kafka is focused on processing it at that moment</a:t>
            </a:r>
          </a:p>
        </p:txBody>
      </p:sp>
      <p:sp>
        <p:nvSpPr>
          <p:cNvPr id="11" name="a1u_lane10"/>
          <p:cNvSpPr/>
          <p:nvPr/>
        </p:nvSpPr>
        <p:spPr>
          <a:xfrm>
            <a:off x="457200" y="1371600"/>
            <a:ext cx="1325880" cy="731520"/>
          </a:xfrm>
          <a:prstGeom prst="roundRect">
            <a:avLst>
              <a:gd name="adj" fmla="val 10000"/>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lanet11"/>
          <p:cNvSpPr txBox="1"/>
          <p:nvPr/>
        </p:nvSpPr>
        <p:spPr>
          <a:xfrm>
            <a:off x="502920" y="1371600"/>
            <a:ext cx="1234440" cy="731520"/>
          </a:xfrm>
          <a:prstGeom prst="rect">
            <a:avLst/>
          </a:prstGeom>
          <a:noFill/>
        </p:spPr>
        <p:txBody>
          <a:bodyPr wrap="square" lIns="0" tIns="0" rIns="0" bIns="0" anchor="ctr">
            <a:spAutoFit/>
          </a:bodyPr>
          <a:lstStyle/>
          <a:p>
            <a:pPr algn="ctr"/>
            <a:r>
              <a:rPr sz="900" b="1">
                <a:solidFill>
                  <a:srgbClr val="A16207"/>
                </a:solidFill>
                <a:latin typeface="Segoe UI"/>
              </a:rPr>
              <a:t>BATCH</a:t>
            </a:r>
          </a:p>
        </p:txBody>
      </p:sp>
      <p:sp>
        <p:nvSpPr>
          <p:cNvPr id="13" name="a1ud150_nd12"/>
          <p:cNvSpPr/>
          <p:nvPr/>
        </p:nvSpPr>
        <p:spPr>
          <a:xfrm>
            <a:off x="1965960" y="1417320"/>
            <a:ext cx="1481328" cy="640080"/>
          </a:xfrm>
          <a:prstGeom prst="roundRect">
            <a:avLst>
              <a:gd name="adj" fmla="val 11428"/>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150_ndt13"/>
          <p:cNvSpPr txBox="1"/>
          <p:nvPr/>
        </p:nvSpPr>
        <p:spPr>
          <a:xfrm>
            <a:off x="2011679" y="1417320"/>
            <a:ext cx="1389888" cy="640080"/>
          </a:xfrm>
          <a:prstGeom prst="rect">
            <a:avLst/>
          </a:prstGeom>
          <a:noFill/>
        </p:spPr>
        <p:txBody>
          <a:bodyPr wrap="square" lIns="0" tIns="0" rIns="0" bIns="0" anchor="ctr">
            <a:spAutoFit/>
          </a:bodyPr>
          <a:lstStyle/>
          <a:p>
            <a:pPr algn="ctr"/>
            <a:r>
              <a:rPr sz="850" b="1">
                <a:solidFill>
                  <a:srgbClr val="1C1917"/>
                </a:solidFill>
                <a:latin typeface="Segoe UI"/>
              </a:rPr>
              <a:t>events happen</a:t>
            </a:r>
          </a:p>
        </p:txBody>
      </p:sp>
      <p:sp>
        <p:nvSpPr>
          <p:cNvPr id="15" name="a1ud300_nd14"/>
          <p:cNvSpPr/>
          <p:nvPr/>
        </p:nvSpPr>
        <p:spPr>
          <a:xfrm>
            <a:off x="3666744" y="1417320"/>
            <a:ext cx="1481328" cy="640080"/>
          </a:xfrm>
          <a:prstGeom prst="roundRect">
            <a:avLst>
              <a:gd name="adj" fmla="val 11428"/>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d300_ndt15"/>
          <p:cNvSpPr txBox="1"/>
          <p:nvPr/>
        </p:nvSpPr>
        <p:spPr>
          <a:xfrm>
            <a:off x="3712463" y="1417320"/>
            <a:ext cx="1389888" cy="640080"/>
          </a:xfrm>
          <a:prstGeom prst="rect">
            <a:avLst/>
          </a:prstGeom>
          <a:noFill/>
        </p:spPr>
        <p:txBody>
          <a:bodyPr wrap="square" lIns="0" tIns="0" rIns="0" bIns="0" anchor="ctr">
            <a:spAutoFit/>
          </a:bodyPr>
          <a:lstStyle/>
          <a:p>
            <a:pPr algn="ctr"/>
            <a:r>
              <a:rPr sz="850" b="1">
                <a:solidFill>
                  <a:srgbClr val="1C1917"/>
                </a:solidFill>
                <a:latin typeface="Segoe UI"/>
              </a:rPr>
              <a:t>stored in tables or files</a:t>
            </a:r>
          </a:p>
        </p:txBody>
      </p:sp>
      <p:cxnSp>
        <p:nvCxnSpPr>
          <p:cNvPr id="17" name="a1ud300_ar16"/>
          <p:cNvCxnSpPr/>
          <p:nvPr/>
        </p:nvCxnSpPr>
        <p:spPr>
          <a:xfrm>
            <a:off x="3465575" y="1737360"/>
            <a:ext cx="182881" cy="0"/>
          </a:xfrm>
          <a:prstGeom prst="line">
            <a:avLst/>
          </a:prstGeom>
          <a:ln w="15875">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a1ud450_nd17"/>
          <p:cNvSpPr/>
          <p:nvPr/>
        </p:nvSpPr>
        <p:spPr>
          <a:xfrm>
            <a:off x="5367528" y="1417320"/>
            <a:ext cx="1481328" cy="640080"/>
          </a:xfrm>
          <a:prstGeom prst="roundRect">
            <a:avLst>
              <a:gd name="adj" fmla="val 11428"/>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450_ndt18"/>
          <p:cNvSpPr txBox="1"/>
          <p:nvPr/>
        </p:nvSpPr>
        <p:spPr>
          <a:xfrm>
            <a:off x="5413248" y="1417320"/>
            <a:ext cx="1389888" cy="640080"/>
          </a:xfrm>
          <a:prstGeom prst="rect">
            <a:avLst/>
          </a:prstGeom>
          <a:noFill/>
        </p:spPr>
        <p:txBody>
          <a:bodyPr wrap="square" lIns="0" tIns="0" rIns="0" bIns="0" anchor="ctr">
            <a:spAutoFit/>
          </a:bodyPr>
          <a:lstStyle/>
          <a:p>
            <a:pPr algn="ctr"/>
            <a:r>
              <a:rPr sz="850" b="1">
                <a:solidFill>
                  <a:srgbClr val="1C1917"/>
                </a:solidFill>
                <a:latin typeface="Segoe UI"/>
              </a:rPr>
              <a:t>processed later, in a batch</a:t>
            </a:r>
          </a:p>
        </p:txBody>
      </p:sp>
      <p:cxnSp>
        <p:nvCxnSpPr>
          <p:cNvPr id="20" name="a1ud450_ar19"/>
          <p:cNvCxnSpPr/>
          <p:nvPr/>
        </p:nvCxnSpPr>
        <p:spPr>
          <a:xfrm>
            <a:off x="5166360" y="1737360"/>
            <a:ext cx="182880" cy="0"/>
          </a:xfrm>
          <a:prstGeom prst="line">
            <a:avLst/>
          </a:prstGeom>
          <a:ln w="15875">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a1ud600_nd20"/>
          <p:cNvSpPr/>
          <p:nvPr/>
        </p:nvSpPr>
        <p:spPr>
          <a:xfrm>
            <a:off x="7068312" y="1417320"/>
            <a:ext cx="1481328" cy="640080"/>
          </a:xfrm>
          <a:prstGeom prst="roundRect">
            <a:avLst>
              <a:gd name="adj" fmla="val 11428"/>
            </a:avLst>
          </a:prstGeom>
          <a:solidFill>
            <a:srgbClr val="F7F6F3"/>
          </a:solidFill>
          <a:ln w="15875">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1ud600_ndt21"/>
          <p:cNvSpPr txBox="1"/>
          <p:nvPr/>
        </p:nvSpPr>
        <p:spPr>
          <a:xfrm>
            <a:off x="7114032" y="1417320"/>
            <a:ext cx="1389888" cy="640080"/>
          </a:xfrm>
          <a:prstGeom prst="rect">
            <a:avLst/>
          </a:prstGeom>
          <a:noFill/>
        </p:spPr>
        <p:txBody>
          <a:bodyPr wrap="square" lIns="0" tIns="0" rIns="0" bIns="0" anchor="ctr">
            <a:spAutoFit/>
          </a:bodyPr>
          <a:lstStyle/>
          <a:p>
            <a:pPr algn="ctr"/>
            <a:r>
              <a:rPr sz="850" b="1">
                <a:solidFill>
                  <a:srgbClr val="1C1917"/>
                </a:solidFill>
                <a:latin typeface="Segoe UI"/>
              </a:rPr>
              <a:t>results arrive late</a:t>
            </a:r>
          </a:p>
        </p:txBody>
      </p:sp>
      <p:cxnSp>
        <p:nvCxnSpPr>
          <p:cNvPr id="23" name="a1ud600_ar22"/>
          <p:cNvCxnSpPr/>
          <p:nvPr/>
        </p:nvCxnSpPr>
        <p:spPr>
          <a:xfrm>
            <a:off x="6867144" y="1737360"/>
            <a:ext cx="182880" cy="0"/>
          </a:xfrm>
          <a:prstGeom prst="line">
            <a:avLst/>
          </a:prstGeom>
          <a:ln w="15875">
            <a:solidFill>
              <a:srgbClr val="E11D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a2u_lane23"/>
          <p:cNvSpPr/>
          <p:nvPr/>
        </p:nvSpPr>
        <p:spPr>
          <a:xfrm>
            <a:off x="457200" y="2606040"/>
            <a:ext cx="1325880" cy="731520"/>
          </a:xfrm>
          <a:prstGeom prst="roundRect">
            <a:avLst>
              <a:gd name="adj" fmla="val 1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2u_lanet24"/>
          <p:cNvSpPr txBox="1"/>
          <p:nvPr/>
        </p:nvSpPr>
        <p:spPr>
          <a:xfrm>
            <a:off x="502920" y="2606040"/>
            <a:ext cx="1234440" cy="731520"/>
          </a:xfrm>
          <a:prstGeom prst="rect">
            <a:avLst/>
          </a:prstGeom>
          <a:noFill/>
        </p:spPr>
        <p:txBody>
          <a:bodyPr wrap="square" lIns="0" tIns="0" rIns="0" bIns="0" anchor="ctr">
            <a:spAutoFit/>
          </a:bodyPr>
          <a:lstStyle/>
          <a:p>
            <a:pPr algn="ctr"/>
            <a:r>
              <a:rPr sz="900" b="1">
                <a:solidFill>
                  <a:srgbClr val="0E7490"/>
                </a:solidFill>
                <a:latin typeface="Segoe UI"/>
              </a:rPr>
              <a:t>REAL TIME  ·  KAFKA</a:t>
            </a:r>
          </a:p>
        </p:txBody>
      </p:sp>
      <p:sp>
        <p:nvSpPr>
          <p:cNvPr id="26" name="a2ud150_nd25"/>
          <p:cNvSpPr/>
          <p:nvPr/>
        </p:nvSpPr>
        <p:spPr>
          <a:xfrm>
            <a:off x="1965960" y="2651760"/>
            <a:ext cx="1481328" cy="640080"/>
          </a:xfrm>
          <a:prstGeom prst="roundRect">
            <a:avLst>
              <a:gd name="adj" fmla="val 11428"/>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2ud150_ndt26"/>
          <p:cNvSpPr txBox="1"/>
          <p:nvPr/>
        </p:nvSpPr>
        <p:spPr>
          <a:xfrm>
            <a:off x="2011679" y="2651760"/>
            <a:ext cx="1389888" cy="640080"/>
          </a:xfrm>
          <a:prstGeom prst="rect">
            <a:avLst/>
          </a:prstGeom>
          <a:noFill/>
        </p:spPr>
        <p:txBody>
          <a:bodyPr wrap="square" lIns="0" tIns="0" rIns="0" bIns="0" anchor="ctr">
            <a:spAutoFit/>
          </a:bodyPr>
          <a:lstStyle/>
          <a:p>
            <a:pPr algn="ctr"/>
            <a:r>
              <a:rPr sz="850" b="1">
                <a:solidFill>
                  <a:srgbClr val="1C1917"/>
                </a:solidFill>
                <a:latin typeface="Segoe UI"/>
              </a:rPr>
              <a:t>an event happens</a:t>
            </a:r>
          </a:p>
        </p:txBody>
      </p:sp>
      <p:sp>
        <p:nvSpPr>
          <p:cNvPr id="28" name="a2ud300_nd27"/>
          <p:cNvSpPr/>
          <p:nvPr/>
        </p:nvSpPr>
        <p:spPr>
          <a:xfrm>
            <a:off x="3666744" y="2651760"/>
            <a:ext cx="1481328" cy="640080"/>
          </a:xfrm>
          <a:prstGeom prst="roundRect">
            <a:avLst>
              <a:gd name="adj" fmla="val 11428"/>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2ud300_ndt28"/>
          <p:cNvSpPr txBox="1"/>
          <p:nvPr/>
        </p:nvSpPr>
        <p:spPr>
          <a:xfrm>
            <a:off x="3712463" y="2651760"/>
            <a:ext cx="1389888" cy="640080"/>
          </a:xfrm>
          <a:prstGeom prst="rect">
            <a:avLst/>
          </a:prstGeom>
          <a:noFill/>
        </p:spPr>
        <p:txBody>
          <a:bodyPr wrap="square" lIns="0" tIns="0" rIns="0" bIns="0" anchor="ctr">
            <a:spAutoFit/>
          </a:bodyPr>
          <a:lstStyle/>
          <a:p>
            <a:pPr algn="ctr"/>
            <a:r>
              <a:rPr sz="850" b="1">
                <a:solidFill>
                  <a:srgbClr val="1C1917"/>
                </a:solidFill>
                <a:latin typeface="Segoe UI"/>
              </a:rPr>
              <a:t>the work is done now</a:t>
            </a:r>
          </a:p>
        </p:txBody>
      </p:sp>
      <p:cxnSp>
        <p:nvCxnSpPr>
          <p:cNvPr id="30" name="a2ud300_ar29"/>
          <p:cNvCxnSpPr/>
          <p:nvPr/>
        </p:nvCxnSpPr>
        <p:spPr>
          <a:xfrm>
            <a:off x="3465575" y="2971800"/>
            <a:ext cx="182881" cy="0"/>
          </a:xfrm>
          <a:prstGeom prst="line">
            <a:avLst/>
          </a:prstGeom>
          <a:ln w="15875">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a2ud450_nd30"/>
          <p:cNvSpPr/>
          <p:nvPr/>
        </p:nvSpPr>
        <p:spPr>
          <a:xfrm>
            <a:off x="5367528" y="2651760"/>
            <a:ext cx="1481328" cy="640080"/>
          </a:xfrm>
          <a:prstGeom prst="roundRect">
            <a:avLst>
              <a:gd name="adj" fmla="val 11428"/>
            </a:avLst>
          </a:prstGeom>
          <a:solidFill>
            <a:srgbClr val="F7F6F3"/>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2ud450_ndt31"/>
          <p:cNvSpPr txBox="1"/>
          <p:nvPr/>
        </p:nvSpPr>
        <p:spPr>
          <a:xfrm>
            <a:off x="5413248" y="2651760"/>
            <a:ext cx="1389888" cy="640080"/>
          </a:xfrm>
          <a:prstGeom prst="rect">
            <a:avLst/>
          </a:prstGeom>
          <a:noFill/>
        </p:spPr>
        <p:txBody>
          <a:bodyPr wrap="square" lIns="0" tIns="0" rIns="0" bIns="0" anchor="ctr">
            <a:spAutoFit/>
          </a:bodyPr>
          <a:lstStyle/>
          <a:p>
            <a:pPr algn="ctr"/>
            <a:r>
              <a:rPr sz="850" b="1">
                <a:solidFill>
                  <a:srgbClr val="1C1917"/>
                </a:solidFill>
                <a:latin typeface="Segoe UI"/>
              </a:rPr>
              <a:t>result right away</a:t>
            </a:r>
          </a:p>
        </p:txBody>
      </p:sp>
      <p:cxnSp>
        <p:nvCxnSpPr>
          <p:cNvPr id="33" name="a2ud450_ar32"/>
          <p:cNvCxnSpPr/>
          <p:nvPr/>
        </p:nvCxnSpPr>
        <p:spPr>
          <a:xfrm>
            <a:off x="5166360" y="2971800"/>
            <a:ext cx="182880" cy="0"/>
          </a:xfrm>
          <a:prstGeom prst="line">
            <a:avLst/>
          </a:prstGeom>
          <a:ln w="15875">
            <a:solidFill>
              <a:srgbClr val="1580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a2ud600_nd33"/>
          <p:cNvSpPr/>
          <p:nvPr/>
        </p:nvSpPr>
        <p:spPr>
          <a:xfrm>
            <a:off x="7068312" y="2651760"/>
            <a:ext cx="1481328" cy="640080"/>
          </a:xfrm>
          <a:prstGeom prst="roundRect">
            <a:avLst>
              <a:gd name="adj" fmla="val 11428"/>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2ud600_ndt34"/>
          <p:cNvSpPr txBox="1"/>
          <p:nvPr/>
        </p:nvSpPr>
        <p:spPr>
          <a:xfrm>
            <a:off x="7114032" y="2651760"/>
            <a:ext cx="1389888" cy="640080"/>
          </a:xfrm>
          <a:prstGeom prst="rect">
            <a:avLst/>
          </a:prstGeom>
          <a:noFill/>
        </p:spPr>
        <p:txBody>
          <a:bodyPr wrap="square" lIns="0" tIns="0" rIns="0" bIns="0" anchor="ctr">
            <a:spAutoFit/>
          </a:bodyPr>
          <a:lstStyle/>
          <a:p>
            <a:pPr algn="ctr"/>
            <a:r>
              <a:rPr sz="850" b="1">
                <a:solidFill>
                  <a:srgbClr val="1C1917"/>
                </a:solidFill>
                <a:latin typeface="Segoe UI"/>
              </a:rPr>
              <a:t>... and the next event</a:t>
            </a:r>
          </a:p>
        </p:txBody>
      </p:sp>
      <p:cxnSp>
        <p:nvCxnSpPr>
          <p:cNvPr id="36" name="a2ud600_ar35"/>
          <p:cNvCxnSpPr/>
          <p:nvPr/>
        </p:nvCxnSpPr>
        <p:spPr>
          <a:xfrm>
            <a:off x="6867144" y="2971800"/>
            <a:ext cx="182880" cy="0"/>
          </a:xfrm>
          <a:prstGeom prst="line">
            <a:avLst/>
          </a:prstGeom>
          <a:ln w="15875">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a3u_card36"/>
          <p:cNvSpPr/>
          <p:nvPr/>
        </p:nvSpPr>
        <p:spPr>
          <a:xfrm>
            <a:off x="457200" y="3611880"/>
            <a:ext cx="8229600" cy="731520"/>
          </a:xfrm>
          <a:prstGeom prst="roundRect">
            <a:avLst>
              <a:gd name="adj" fmla="val 15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3u_acc37"/>
          <p:cNvSpPr/>
          <p:nvPr/>
        </p:nvSpPr>
        <p:spPr>
          <a:xfrm>
            <a:off x="457200" y="3611880"/>
            <a:ext cx="50292" cy="7315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3u_q38"/>
          <p:cNvSpPr txBox="1"/>
          <p:nvPr/>
        </p:nvSpPr>
        <p:spPr>
          <a:xfrm>
            <a:off x="685800" y="3639312"/>
            <a:ext cx="7863840" cy="420624"/>
          </a:xfrm>
          <a:prstGeom prst="rect">
            <a:avLst/>
          </a:prstGeom>
          <a:noFill/>
        </p:spPr>
        <p:txBody>
          <a:bodyPr wrap="square" lIns="0" tIns="0" rIns="0" bIns="0" anchor="ctr">
            <a:spAutoFit/>
          </a:bodyPr>
          <a:lstStyle/>
          <a:p>
            <a:pPr algn="l"/>
            <a:r>
              <a:rPr sz="1300" b="1" i="1">
                <a:solidFill>
                  <a:srgbClr val="0E7490"/>
                </a:solidFill>
                <a:latin typeface="Segoe UI"/>
              </a:rPr>
              <a:t>"An event happens, you do the work on the event right now."</a:t>
            </a:r>
          </a:p>
        </p:txBody>
      </p:sp>
      <p:sp>
        <p:nvSpPr>
          <p:cNvPr id="40" name="a3u_src39"/>
          <p:cNvSpPr txBox="1"/>
          <p:nvPr/>
        </p:nvSpPr>
        <p:spPr>
          <a:xfrm>
            <a:off x="685800" y="4041648"/>
            <a:ext cx="7863840" cy="237744"/>
          </a:xfrm>
          <a:prstGeom prst="rect">
            <a:avLst/>
          </a:prstGeom>
          <a:noFill/>
        </p:spPr>
        <p:txBody>
          <a:bodyPr wrap="square" lIns="0" tIns="0" rIns="0" bIns="0" anchor="ctr">
            <a:spAutoFit/>
          </a:bodyPr>
          <a:lstStyle/>
          <a:p>
            <a:pPr algn="l"/>
            <a:r>
              <a:rPr sz="850" b="0">
                <a:solidFill>
                  <a:srgbClr val="78716C"/>
                </a:solidFill>
                <a:latin typeface="Segoe UI"/>
              </a:rPr>
              <a:t>Tim Berglund, Apache Kafka 101</a:t>
            </a:r>
          </a:p>
        </p:txBody>
      </p:sp>
      <p:sp>
        <p:nvSpPr>
          <p:cNvPr id="41" name="ft40"/>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06</a:t>
            </a:r>
          </a:p>
        </p:txBody>
      </p:sp>
      <p:sp>
        <p:nvSpPr>
          <p:cNvPr id="42" name="ft41"/>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ft42"/>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Introduction</a:t>
            </a:r>
          </a:p>
        </p:txBody>
      </p:sp>
      <p:sp>
        <p:nvSpPr>
          <p:cNvPr id="44" name="ft43"/>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15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5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3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30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30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45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45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45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60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60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60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childTnLst>
                          </p:cTn>
                        </p:par>
                      </p:childTnLst>
                    </p:cTn>
                  </p:par>
                  <p:par>
                    <p:cTn id="70" fill="hold">
                      <p:stCondLst>
                        <p:cond delay="indefinite"/>
                      </p:stCondLst>
                      <p:childTnLst>
                        <p:par>
                          <p:cTn id="71" fill="hold">
                            <p:stCondLst>
                              <p:cond delay="0"/>
                            </p:stCondLst>
                            <p:childTnLst>
                              <p:par>
                                <p:cTn id="76" presetID="2" presetClass="entr" presetSubtype="4" fill="hold" grpId="0" nodeType="click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par>
                                <p:cTn id="81" presetID="2" presetClass="entr" presetSubtype="4"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ppt_y+0.1"/>
                                          </p:val>
                                        </p:tav>
                                        <p:tav tm="100000">
                                          <p:val>
                                            <p:strVal val="#ppt_y"/>
                                          </p:val>
                                        </p:tav>
                                      </p:tavLst>
                                    </p:anim>
                                    <p:animEffect transition="in" filter="fade">
                                      <p:cBhvr>
                                        <p:cTn id="80" dur="500"/>
                                        <p:tgtEl>
                                          <p:spTgt spid="25"/>
                                        </p:tgtEl>
                                      </p:cBhvr>
                                    </p:animEffect>
                                  </p:childTnLst>
                                </p:cTn>
                              </p:par>
                              <p:par>
                                <p:cTn id="86" presetID="2" presetClass="entr" presetSubtype="4" fill="hold" grpId="0" nodeType="withEffect">
                                  <p:stCondLst>
                                    <p:cond delay="15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ppt_y+0.1"/>
                                          </p:val>
                                        </p:tav>
                                        <p:tav tm="100000">
                                          <p:val>
                                            <p:strVal val="#ppt_y"/>
                                          </p:val>
                                        </p:tav>
                                      </p:tavLst>
                                    </p:anim>
                                    <p:animEffect transition="in" filter="fade">
                                      <p:cBhvr>
                                        <p:cTn id="85" dur="500"/>
                                        <p:tgtEl>
                                          <p:spTgt spid="26"/>
                                        </p:tgtEl>
                                      </p:cBhvr>
                                    </p:animEffect>
                                  </p:childTnLst>
                                </p:cTn>
                              </p:par>
                              <p:par>
                                <p:cTn id="91" presetID="2" presetClass="entr" presetSubtype="4" fill="hold" grpId="0" nodeType="withEffect">
                                  <p:stCondLst>
                                    <p:cond delay="15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par>
                                <p:cTn id="96" presetID="2" presetClass="entr" presetSubtype="4" fill="hold" grpId="0" nodeType="withEffect">
                                  <p:stCondLst>
                                    <p:cond delay="30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par>
                                <p:cTn id="101" presetID="2" presetClass="entr" presetSubtype="4" fill="hold" grpId="0" nodeType="withEffect">
                                  <p:stCondLst>
                                    <p:cond delay="300"/>
                                  </p:stCondLst>
                                  <p:childTnLst>
                                    <p:set>
                                      <p:cBhvr>
                                        <p:cTn id="97" dur="1" fill="hold">
                                          <p:stCondLst>
                                            <p:cond delay="0"/>
                                          </p:stCondLst>
                                        </p:cTn>
                                        <p:tgtEl>
                                          <p:spTgt spid="29"/>
                                        </p:tgtEl>
                                        <p:attrNameLst>
                                          <p:attrName>style.visibility</p:attrName>
                                        </p:attrNameLst>
                                      </p:cBhvr>
                                      <p:to>
                                        <p:strVal val="visible"/>
                                      </p:to>
                                    </p:set>
                                    <p:anim calcmode="lin" valueType="num">
                                      <p:cBhvr additive="base">
                                        <p:cTn id="98" dur="500" fill="hold"/>
                                        <p:tgtEl>
                                          <p:spTgt spid="29"/>
                                        </p:tgtEl>
                                        <p:attrNameLst>
                                          <p:attrName>ppt_x</p:attrName>
                                        </p:attrNameLst>
                                      </p:cBhvr>
                                      <p:tavLst>
                                        <p:tav tm="0">
                                          <p:val>
                                            <p:strVal val="#ppt_x"/>
                                          </p:val>
                                        </p:tav>
                                        <p:tav tm="100000">
                                          <p:val>
                                            <p:strVal val="#ppt_x"/>
                                          </p:val>
                                        </p:tav>
                                      </p:tavLst>
                                    </p:anim>
                                    <p:anim calcmode="lin" valueType="num">
                                      <p:cBhvr additive="base">
                                        <p:cTn id="99" dur="500" fill="hold"/>
                                        <p:tgtEl>
                                          <p:spTgt spid="29"/>
                                        </p:tgtEl>
                                        <p:attrNameLst>
                                          <p:attrName>ppt_y</p:attrName>
                                        </p:attrNameLst>
                                      </p:cBhvr>
                                      <p:tavLst>
                                        <p:tav tm="0">
                                          <p:val>
                                            <p:strVal val="#ppt_y+0.1"/>
                                          </p:val>
                                        </p:tav>
                                        <p:tav tm="100000">
                                          <p:val>
                                            <p:strVal val="#ppt_y"/>
                                          </p:val>
                                        </p:tav>
                                      </p:tavLst>
                                    </p:anim>
                                    <p:animEffect transition="in" filter="fade">
                                      <p:cBhvr>
                                        <p:cTn id="100" dur="500"/>
                                        <p:tgtEl>
                                          <p:spTgt spid="29"/>
                                        </p:tgtEl>
                                      </p:cBhvr>
                                    </p:animEffect>
                                  </p:childTnLst>
                                </p:cTn>
                              </p:par>
                              <p:par>
                                <p:cTn id="106" presetID="2" presetClass="entr" presetSubtype="4" fill="hold" grpId="0" nodeType="withEffect">
                                  <p:stCondLst>
                                    <p:cond delay="30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ppt_x"/>
                                          </p:val>
                                        </p:tav>
                                        <p:tav tm="100000">
                                          <p:val>
                                            <p:strVal val="#ppt_x"/>
                                          </p:val>
                                        </p:tav>
                                      </p:tavLst>
                                    </p:anim>
                                    <p:anim calcmode="lin" valueType="num">
                                      <p:cBhvr additive="base">
                                        <p:cTn id="104" dur="500" fill="hold"/>
                                        <p:tgtEl>
                                          <p:spTgt spid="30"/>
                                        </p:tgtEl>
                                        <p:attrNameLst>
                                          <p:attrName>ppt_y</p:attrName>
                                        </p:attrNameLst>
                                      </p:cBhvr>
                                      <p:tavLst>
                                        <p:tav tm="0">
                                          <p:val>
                                            <p:strVal val="#ppt_y+0.1"/>
                                          </p:val>
                                        </p:tav>
                                        <p:tav tm="100000">
                                          <p:val>
                                            <p:strVal val="#ppt_y"/>
                                          </p:val>
                                        </p:tav>
                                      </p:tavLst>
                                    </p:anim>
                                    <p:animEffect transition="in" filter="fade">
                                      <p:cBhvr>
                                        <p:cTn id="105" dur="500"/>
                                        <p:tgtEl>
                                          <p:spTgt spid="30"/>
                                        </p:tgtEl>
                                      </p:cBhvr>
                                    </p:animEffect>
                                  </p:childTnLst>
                                </p:cTn>
                              </p:par>
                              <p:par>
                                <p:cTn id="111" presetID="2" presetClass="entr" presetSubtype="4" fill="hold" grpId="0" nodeType="withEffect">
                                  <p:stCondLst>
                                    <p:cond delay="450"/>
                                  </p:stCondLst>
                                  <p:childTnLst>
                                    <p:set>
                                      <p:cBhvr>
                                        <p:cTn id="107" dur="1" fill="hold">
                                          <p:stCondLst>
                                            <p:cond delay="0"/>
                                          </p:stCondLst>
                                        </p:cTn>
                                        <p:tgtEl>
                                          <p:spTgt spid="31"/>
                                        </p:tgtEl>
                                        <p:attrNameLst>
                                          <p:attrName>style.visibility</p:attrName>
                                        </p:attrNameLst>
                                      </p:cBhvr>
                                      <p:to>
                                        <p:strVal val="visible"/>
                                      </p:to>
                                    </p:set>
                                    <p:anim calcmode="lin" valueType="num">
                                      <p:cBhvr additive="base">
                                        <p:cTn id="108" dur="500" fill="hold"/>
                                        <p:tgtEl>
                                          <p:spTgt spid="31"/>
                                        </p:tgtEl>
                                        <p:attrNameLst>
                                          <p:attrName>ppt_x</p:attrName>
                                        </p:attrNameLst>
                                      </p:cBhvr>
                                      <p:tavLst>
                                        <p:tav tm="0">
                                          <p:val>
                                            <p:strVal val="#ppt_x"/>
                                          </p:val>
                                        </p:tav>
                                        <p:tav tm="100000">
                                          <p:val>
                                            <p:strVal val="#ppt_x"/>
                                          </p:val>
                                        </p:tav>
                                      </p:tavLst>
                                    </p:anim>
                                    <p:anim calcmode="lin" valueType="num">
                                      <p:cBhvr additive="base">
                                        <p:cTn id="109" dur="500" fill="hold"/>
                                        <p:tgtEl>
                                          <p:spTgt spid="31"/>
                                        </p:tgtEl>
                                        <p:attrNameLst>
                                          <p:attrName>ppt_y</p:attrName>
                                        </p:attrNameLst>
                                      </p:cBhvr>
                                      <p:tavLst>
                                        <p:tav tm="0">
                                          <p:val>
                                            <p:strVal val="#ppt_y+0.1"/>
                                          </p:val>
                                        </p:tav>
                                        <p:tav tm="100000">
                                          <p:val>
                                            <p:strVal val="#ppt_y"/>
                                          </p:val>
                                        </p:tav>
                                      </p:tavLst>
                                    </p:anim>
                                    <p:animEffect transition="in" filter="fade">
                                      <p:cBhvr>
                                        <p:cTn id="110" dur="500"/>
                                        <p:tgtEl>
                                          <p:spTgt spid="31"/>
                                        </p:tgtEl>
                                      </p:cBhvr>
                                    </p:animEffect>
                                  </p:childTnLst>
                                </p:cTn>
                              </p:par>
                              <p:par>
                                <p:cTn id="116" presetID="2" presetClass="entr" presetSubtype="4" fill="hold" grpId="0" nodeType="withEffect">
                                  <p:stCondLst>
                                    <p:cond delay="45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ppt_y+0.1"/>
                                          </p:val>
                                        </p:tav>
                                        <p:tav tm="100000">
                                          <p:val>
                                            <p:strVal val="#ppt_y"/>
                                          </p:val>
                                        </p:tav>
                                      </p:tavLst>
                                    </p:anim>
                                    <p:animEffect transition="in" filter="fade">
                                      <p:cBhvr>
                                        <p:cTn id="115" dur="500"/>
                                        <p:tgtEl>
                                          <p:spTgt spid="32"/>
                                        </p:tgtEl>
                                      </p:cBhvr>
                                    </p:animEffect>
                                  </p:childTnLst>
                                </p:cTn>
                              </p:par>
                              <p:par>
                                <p:cTn id="121" presetID="2" presetClass="entr" presetSubtype="4" fill="hold" grpId="0" nodeType="withEffect">
                                  <p:stCondLst>
                                    <p:cond delay="450"/>
                                  </p:stCondLst>
                                  <p:childTnLst>
                                    <p:set>
                                      <p:cBhvr>
                                        <p:cTn id="117" dur="1" fill="hold">
                                          <p:stCondLst>
                                            <p:cond delay="0"/>
                                          </p:stCondLst>
                                        </p:cTn>
                                        <p:tgtEl>
                                          <p:spTgt spid="33"/>
                                        </p:tgtEl>
                                        <p:attrNameLst>
                                          <p:attrName>style.visibility</p:attrName>
                                        </p:attrNameLst>
                                      </p:cBhvr>
                                      <p:to>
                                        <p:strVal val="visible"/>
                                      </p:to>
                                    </p:set>
                                    <p:anim calcmode="lin" valueType="num">
                                      <p:cBhvr additive="base">
                                        <p:cTn id="118" dur="500" fill="hold"/>
                                        <p:tgtEl>
                                          <p:spTgt spid="33"/>
                                        </p:tgtEl>
                                        <p:attrNameLst>
                                          <p:attrName>ppt_x</p:attrName>
                                        </p:attrNameLst>
                                      </p:cBhvr>
                                      <p:tavLst>
                                        <p:tav tm="0">
                                          <p:val>
                                            <p:strVal val="#ppt_x"/>
                                          </p:val>
                                        </p:tav>
                                        <p:tav tm="100000">
                                          <p:val>
                                            <p:strVal val="#ppt_x"/>
                                          </p:val>
                                        </p:tav>
                                      </p:tavLst>
                                    </p:anim>
                                    <p:anim calcmode="lin" valueType="num">
                                      <p:cBhvr additive="base">
                                        <p:cTn id="119" dur="500" fill="hold"/>
                                        <p:tgtEl>
                                          <p:spTgt spid="33"/>
                                        </p:tgtEl>
                                        <p:attrNameLst>
                                          <p:attrName>ppt_y</p:attrName>
                                        </p:attrNameLst>
                                      </p:cBhvr>
                                      <p:tavLst>
                                        <p:tav tm="0">
                                          <p:val>
                                            <p:strVal val="#ppt_y+0.1"/>
                                          </p:val>
                                        </p:tav>
                                        <p:tav tm="100000">
                                          <p:val>
                                            <p:strVal val="#ppt_y"/>
                                          </p:val>
                                        </p:tav>
                                      </p:tavLst>
                                    </p:anim>
                                    <p:animEffect transition="in" filter="fade">
                                      <p:cBhvr>
                                        <p:cTn id="120" dur="500"/>
                                        <p:tgtEl>
                                          <p:spTgt spid="33"/>
                                        </p:tgtEl>
                                      </p:cBhvr>
                                    </p:animEffect>
                                  </p:childTnLst>
                                </p:cTn>
                              </p:par>
                              <p:par>
                                <p:cTn id="126" presetID="2" presetClass="entr" presetSubtype="4" fill="hold" grpId="0" nodeType="withEffect">
                                  <p:stCondLst>
                                    <p:cond delay="600"/>
                                  </p:stCondLst>
                                  <p:childTnLst>
                                    <p:set>
                                      <p:cBhvr>
                                        <p:cTn id="122" dur="1" fill="hold">
                                          <p:stCondLst>
                                            <p:cond delay="0"/>
                                          </p:stCondLst>
                                        </p:cTn>
                                        <p:tgtEl>
                                          <p:spTgt spid="34"/>
                                        </p:tgtEl>
                                        <p:attrNameLst>
                                          <p:attrName>style.visibility</p:attrName>
                                        </p:attrNameLst>
                                      </p:cBhvr>
                                      <p:to>
                                        <p:strVal val="visible"/>
                                      </p:to>
                                    </p:set>
                                    <p:anim calcmode="lin" valueType="num">
                                      <p:cBhvr additive="base">
                                        <p:cTn id="123" dur="500" fill="hold"/>
                                        <p:tgtEl>
                                          <p:spTgt spid="34"/>
                                        </p:tgtEl>
                                        <p:attrNameLst>
                                          <p:attrName>ppt_x</p:attrName>
                                        </p:attrNameLst>
                                      </p:cBhvr>
                                      <p:tavLst>
                                        <p:tav tm="0">
                                          <p:val>
                                            <p:strVal val="#ppt_x"/>
                                          </p:val>
                                        </p:tav>
                                        <p:tav tm="100000">
                                          <p:val>
                                            <p:strVal val="#ppt_x"/>
                                          </p:val>
                                        </p:tav>
                                      </p:tavLst>
                                    </p:anim>
                                    <p:anim calcmode="lin" valueType="num">
                                      <p:cBhvr additive="base">
                                        <p:cTn id="124" dur="500" fill="hold"/>
                                        <p:tgtEl>
                                          <p:spTgt spid="34"/>
                                        </p:tgtEl>
                                        <p:attrNameLst>
                                          <p:attrName>ppt_y</p:attrName>
                                        </p:attrNameLst>
                                      </p:cBhvr>
                                      <p:tavLst>
                                        <p:tav tm="0">
                                          <p:val>
                                            <p:strVal val="#ppt_y+0.1"/>
                                          </p:val>
                                        </p:tav>
                                        <p:tav tm="100000">
                                          <p:val>
                                            <p:strVal val="#ppt_y"/>
                                          </p:val>
                                        </p:tav>
                                      </p:tavLst>
                                    </p:anim>
                                    <p:animEffect transition="in" filter="fade">
                                      <p:cBhvr>
                                        <p:cTn id="125" dur="500"/>
                                        <p:tgtEl>
                                          <p:spTgt spid="34"/>
                                        </p:tgtEl>
                                      </p:cBhvr>
                                    </p:animEffect>
                                  </p:childTnLst>
                                </p:cTn>
                              </p:par>
                              <p:par>
                                <p:cTn id="131" presetID="2" presetClass="entr" presetSubtype="4" fill="hold" grpId="0" nodeType="withEffect">
                                  <p:stCondLst>
                                    <p:cond delay="600"/>
                                  </p:stCondLst>
                                  <p:childTnLst>
                                    <p:set>
                                      <p:cBhvr>
                                        <p:cTn id="127" dur="1" fill="hold">
                                          <p:stCondLst>
                                            <p:cond delay="0"/>
                                          </p:stCondLst>
                                        </p:cTn>
                                        <p:tgtEl>
                                          <p:spTgt spid="35"/>
                                        </p:tgtEl>
                                        <p:attrNameLst>
                                          <p:attrName>style.visibility</p:attrName>
                                        </p:attrNameLst>
                                      </p:cBhvr>
                                      <p:to>
                                        <p:strVal val="visible"/>
                                      </p:to>
                                    </p:set>
                                    <p:anim calcmode="lin" valueType="num">
                                      <p:cBhvr additive="base">
                                        <p:cTn id="128" dur="500" fill="hold"/>
                                        <p:tgtEl>
                                          <p:spTgt spid="35"/>
                                        </p:tgtEl>
                                        <p:attrNameLst>
                                          <p:attrName>ppt_x</p:attrName>
                                        </p:attrNameLst>
                                      </p:cBhvr>
                                      <p:tavLst>
                                        <p:tav tm="0">
                                          <p:val>
                                            <p:strVal val="#ppt_x"/>
                                          </p:val>
                                        </p:tav>
                                        <p:tav tm="100000">
                                          <p:val>
                                            <p:strVal val="#ppt_x"/>
                                          </p:val>
                                        </p:tav>
                                      </p:tavLst>
                                    </p:anim>
                                    <p:anim calcmode="lin" valueType="num">
                                      <p:cBhvr additive="base">
                                        <p:cTn id="129" dur="500" fill="hold"/>
                                        <p:tgtEl>
                                          <p:spTgt spid="35"/>
                                        </p:tgtEl>
                                        <p:attrNameLst>
                                          <p:attrName>ppt_y</p:attrName>
                                        </p:attrNameLst>
                                      </p:cBhvr>
                                      <p:tavLst>
                                        <p:tav tm="0">
                                          <p:val>
                                            <p:strVal val="#ppt_y+0.1"/>
                                          </p:val>
                                        </p:tav>
                                        <p:tav tm="100000">
                                          <p:val>
                                            <p:strVal val="#ppt_y"/>
                                          </p:val>
                                        </p:tav>
                                      </p:tavLst>
                                    </p:anim>
                                    <p:animEffect transition="in" filter="fade">
                                      <p:cBhvr>
                                        <p:cTn id="130" dur="500"/>
                                        <p:tgtEl>
                                          <p:spTgt spid="35"/>
                                        </p:tgtEl>
                                      </p:cBhvr>
                                    </p:animEffect>
                                  </p:childTnLst>
                                </p:cTn>
                              </p:par>
                              <p:par>
                                <p:cTn id="136" presetID="2" presetClass="entr" presetSubtype="4" fill="hold" grpId="0" nodeType="withEffect">
                                  <p:stCondLst>
                                    <p:cond delay="600"/>
                                  </p:stCondLst>
                                  <p:childTnLst>
                                    <p:set>
                                      <p:cBhvr>
                                        <p:cTn id="132" dur="1" fill="hold">
                                          <p:stCondLst>
                                            <p:cond delay="0"/>
                                          </p:stCondLst>
                                        </p:cTn>
                                        <p:tgtEl>
                                          <p:spTgt spid="36"/>
                                        </p:tgtEl>
                                        <p:attrNameLst>
                                          <p:attrName>style.visibility</p:attrName>
                                        </p:attrNameLst>
                                      </p:cBhvr>
                                      <p:to>
                                        <p:strVal val="visible"/>
                                      </p:to>
                                    </p:set>
                                    <p:anim calcmode="lin" valueType="num">
                                      <p:cBhvr additive="base">
                                        <p:cTn id="133" dur="500" fill="hold"/>
                                        <p:tgtEl>
                                          <p:spTgt spid="36"/>
                                        </p:tgtEl>
                                        <p:attrNameLst>
                                          <p:attrName>ppt_x</p:attrName>
                                        </p:attrNameLst>
                                      </p:cBhvr>
                                      <p:tavLst>
                                        <p:tav tm="0">
                                          <p:val>
                                            <p:strVal val="#ppt_x"/>
                                          </p:val>
                                        </p:tav>
                                        <p:tav tm="100000">
                                          <p:val>
                                            <p:strVal val="#ppt_x"/>
                                          </p:val>
                                        </p:tav>
                                      </p:tavLst>
                                    </p:anim>
                                    <p:anim calcmode="lin" valueType="num">
                                      <p:cBhvr additive="base">
                                        <p:cTn id="134" dur="500" fill="hold"/>
                                        <p:tgtEl>
                                          <p:spTgt spid="36"/>
                                        </p:tgtEl>
                                        <p:attrNameLst>
                                          <p:attrName>ppt_y</p:attrName>
                                        </p:attrNameLst>
                                      </p:cBhvr>
                                      <p:tavLst>
                                        <p:tav tm="0">
                                          <p:val>
                                            <p:strVal val="#ppt_y+0.1"/>
                                          </p:val>
                                        </p:tav>
                                        <p:tav tm="100000">
                                          <p:val>
                                            <p:strVal val="#ppt_y"/>
                                          </p:val>
                                        </p:tav>
                                      </p:tavLst>
                                    </p:anim>
                                    <p:animEffect transition="in" filter="fade">
                                      <p:cBhvr>
                                        <p:cTn id="135" dur="500"/>
                                        <p:tgtEl>
                                          <p:spTgt spid="36"/>
                                        </p:tgtEl>
                                      </p:cBhvr>
                                    </p:animEffect>
                                  </p:childTnLst>
                                </p:cTn>
                              </p:par>
                            </p:childTnLst>
                          </p:cTn>
                        </p:par>
                      </p:childTnLst>
                    </p:cTn>
                  </p:par>
                  <p:par>
                    <p:cTn id="137" fill="hold">
                      <p:stCondLst>
                        <p:cond delay="indefinite"/>
                      </p:stCondLst>
                      <p:childTnLst>
                        <p:par>
                          <p:cTn id="138" fill="hold">
                            <p:stCondLst>
                              <p:cond delay="0"/>
                            </p:stCondLst>
                            <p:childTnLst>
                              <p:par>
                                <p:cTn id="143" presetID="2" presetClass="entr" presetSubtype="4" fill="hold" grpId="0" nodeType="clickEffect">
                                  <p:stCondLst>
                                    <p:cond delay="0"/>
                                  </p:stCondLst>
                                  <p:childTnLst>
                                    <p:set>
                                      <p:cBhvr>
                                        <p:cTn id="139" dur="1" fill="hold">
                                          <p:stCondLst>
                                            <p:cond delay="0"/>
                                          </p:stCondLst>
                                        </p:cTn>
                                        <p:tgtEl>
                                          <p:spTgt spid="37"/>
                                        </p:tgtEl>
                                        <p:attrNameLst>
                                          <p:attrName>style.visibility</p:attrName>
                                        </p:attrNameLst>
                                      </p:cBhvr>
                                      <p:to>
                                        <p:strVal val="visible"/>
                                      </p:to>
                                    </p:set>
                                    <p:anim calcmode="lin" valueType="num">
                                      <p:cBhvr additive="base">
                                        <p:cTn id="140" dur="500" fill="hold"/>
                                        <p:tgtEl>
                                          <p:spTgt spid="37"/>
                                        </p:tgtEl>
                                        <p:attrNameLst>
                                          <p:attrName>ppt_x</p:attrName>
                                        </p:attrNameLst>
                                      </p:cBhvr>
                                      <p:tavLst>
                                        <p:tav tm="0">
                                          <p:val>
                                            <p:strVal val="#ppt_x"/>
                                          </p:val>
                                        </p:tav>
                                        <p:tav tm="100000">
                                          <p:val>
                                            <p:strVal val="#ppt_x"/>
                                          </p:val>
                                        </p:tav>
                                      </p:tavLst>
                                    </p:anim>
                                    <p:anim calcmode="lin" valueType="num">
                                      <p:cBhvr additive="base">
                                        <p:cTn id="141" dur="500" fill="hold"/>
                                        <p:tgtEl>
                                          <p:spTgt spid="37"/>
                                        </p:tgtEl>
                                        <p:attrNameLst>
                                          <p:attrName>ppt_y</p:attrName>
                                        </p:attrNameLst>
                                      </p:cBhvr>
                                      <p:tavLst>
                                        <p:tav tm="0">
                                          <p:val>
                                            <p:strVal val="#ppt_y+0.1"/>
                                          </p:val>
                                        </p:tav>
                                        <p:tav tm="100000">
                                          <p:val>
                                            <p:strVal val="#ppt_y"/>
                                          </p:val>
                                        </p:tav>
                                      </p:tavLst>
                                    </p:anim>
                                    <p:animEffect transition="in" filter="fade">
                                      <p:cBhvr>
                                        <p:cTn id="142" dur="500"/>
                                        <p:tgtEl>
                                          <p:spTgt spid="37"/>
                                        </p:tgtEl>
                                      </p:cBhvr>
                                    </p:animEffect>
                                  </p:childTnLst>
                                </p:cTn>
                              </p:par>
                              <p:par>
                                <p:cTn id="148" presetID="2" presetClass="entr" presetSubtype="4" fill="hold" grpId="0" nodeType="withEffect">
                                  <p:stCondLst>
                                    <p:cond delay="0"/>
                                  </p:stCondLst>
                                  <p:childTnLst>
                                    <p:set>
                                      <p:cBhvr>
                                        <p:cTn id="144" dur="1" fill="hold">
                                          <p:stCondLst>
                                            <p:cond delay="0"/>
                                          </p:stCondLst>
                                        </p:cTn>
                                        <p:tgtEl>
                                          <p:spTgt spid="38"/>
                                        </p:tgtEl>
                                        <p:attrNameLst>
                                          <p:attrName>style.visibility</p:attrName>
                                        </p:attrNameLst>
                                      </p:cBhvr>
                                      <p:to>
                                        <p:strVal val="visible"/>
                                      </p:to>
                                    </p:set>
                                    <p:anim calcmode="lin" valueType="num">
                                      <p:cBhvr additive="base">
                                        <p:cTn id="145" dur="500" fill="hold"/>
                                        <p:tgtEl>
                                          <p:spTgt spid="38"/>
                                        </p:tgtEl>
                                        <p:attrNameLst>
                                          <p:attrName>ppt_x</p:attrName>
                                        </p:attrNameLst>
                                      </p:cBhvr>
                                      <p:tavLst>
                                        <p:tav tm="0">
                                          <p:val>
                                            <p:strVal val="#ppt_x"/>
                                          </p:val>
                                        </p:tav>
                                        <p:tav tm="100000">
                                          <p:val>
                                            <p:strVal val="#ppt_x"/>
                                          </p:val>
                                        </p:tav>
                                      </p:tavLst>
                                    </p:anim>
                                    <p:anim calcmode="lin" valueType="num">
                                      <p:cBhvr additive="base">
                                        <p:cTn id="146" dur="500" fill="hold"/>
                                        <p:tgtEl>
                                          <p:spTgt spid="38"/>
                                        </p:tgtEl>
                                        <p:attrNameLst>
                                          <p:attrName>ppt_y</p:attrName>
                                        </p:attrNameLst>
                                      </p:cBhvr>
                                      <p:tavLst>
                                        <p:tav tm="0">
                                          <p:val>
                                            <p:strVal val="#ppt_y+0.1"/>
                                          </p:val>
                                        </p:tav>
                                        <p:tav tm="100000">
                                          <p:val>
                                            <p:strVal val="#ppt_y"/>
                                          </p:val>
                                        </p:tav>
                                      </p:tavLst>
                                    </p:anim>
                                    <p:animEffect transition="in" filter="fade">
                                      <p:cBhvr>
                                        <p:cTn id="147" dur="500"/>
                                        <p:tgtEl>
                                          <p:spTgt spid="38"/>
                                        </p:tgtEl>
                                      </p:cBhvr>
                                    </p:animEffect>
                                  </p:childTnLst>
                                </p:cTn>
                              </p:par>
                              <p:par>
                                <p:cTn id="153" presetID="2" presetClass="entr" presetSubtype="4" fill="hold" grpId="0" nodeType="withEffect">
                                  <p:stCondLst>
                                    <p:cond delay="0"/>
                                  </p:stCondLst>
                                  <p:childTnLst>
                                    <p:set>
                                      <p:cBhvr>
                                        <p:cTn id="149" dur="1" fill="hold">
                                          <p:stCondLst>
                                            <p:cond delay="0"/>
                                          </p:stCondLst>
                                        </p:cTn>
                                        <p:tgtEl>
                                          <p:spTgt spid="39"/>
                                        </p:tgtEl>
                                        <p:attrNameLst>
                                          <p:attrName>style.visibility</p:attrName>
                                        </p:attrNameLst>
                                      </p:cBhvr>
                                      <p:to>
                                        <p:strVal val="visible"/>
                                      </p:to>
                                    </p:set>
                                    <p:anim calcmode="lin" valueType="num">
                                      <p:cBhvr additive="base">
                                        <p:cTn id="150" dur="500" fill="hold"/>
                                        <p:tgtEl>
                                          <p:spTgt spid="39"/>
                                        </p:tgtEl>
                                        <p:attrNameLst>
                                          <p:attrName>ppt_x</p:attrName>
                                        </p:attrNameLst>
                                      </p:cBhvr>
                                      <p:tavLst>
                                        <p:tav tm="0">
                                          <p:val>
                                            <p:strVal val="#ppt_x"/>
                                          </p:val>
                                        </p:tav>
                                        <p:tav tm="100000">
                                          <p:val>
                                            <p:strVal val="#ppt_x"/>
                                          </p:val>
                                        </p:tav>
                                      </p:tavLst>
                                    </p:anim>
                                    <p:anim calcmode="lin" valueType="num">
                                      <p:cBhvr additive="base">
                                        <p:cTn id="151" dur="500" fill="hold"/>
                                        <p:tgtEl>
                                          <p:spTgt spid="39"/>
                                        </p:tgtEl>
                                        <p:attrNameLst>
                                          <p:attrName>ppt_y</p:attrName>
                                        </p:attrNameLst>
                                      </p:cBhvr>
                                      <p:tavLst>
                                        <p:tav tm="0">
                                          <p:val>
                                            <p:strVal val="#ppt_y+0.1"/>
                                          </p:val>
                                        </p:tav>
                                        <p:tav tm="100000">
                                          <p:val>
                                            <p:strVal val="#ppt_y"/>
                                          </p:val>
                                        </p:tav>
                                      </p:tavLst>
                                    </p:anim>
                                    <p:animEffect transition="in" filter="fade">
                                      <p:cBhvr>
                                        <p:cTn id="152" dur="500"/>
                                        <p:tgtEl>
                                          <p:spTgt spid="39"/>
                                        </p:tgtEl>
                                      </p:cBhvr>
                                    </p:animEffect>
                                  </p:childTnLst>
                                </p:cTn>
                              </p:par>
                              <p:par>
                                <p:cTn id="158" presetID="2" presetClass="entr" presetSubtype="4" fill="hold" grpId="0" nodeType="withEffect">
                                  <p:stCondLst>
                                    <p:cond delay="0"/>
                                  </p:stCondLst>
                                  <p:childTnLst>
                                    <p:set>
                                      <p:cBhvr>
                                        <p:cTn id="154" dur="1" fill="hold">
                                          <p:stCondLst>
                                            <p:cond delay="0"/>
                                          </p:stCondLst>
                                        </p:cTn>
                                        <p:tgtEl>
                                          <p:spTgt spid="40"/>
                                        </p:tgtEl>
                                        <p:attrNameLst>
                                          <p:attrName>style.visibility</p:attrName>
                                        </p:attrNameLst>
                                      </p:cBhvr>
                                      <p:to>
                                        <p:strVal val="visible"/>
                                      </p:to>
                                    </p:set>
                                    <p:anim calcmode="lin" valueType="num">
                                      <p:cBhvr additive="base">
                                        <p:cTn id="155" dur="500" fill="hold"/>
                                        <p:tgtEl>
                                          <p:spTgt spid="40"/>
                                        </p:tgtEl>
                                        <p:attrNameLst>
                                          <p:attrName>ppt_x</p:attrName>
                                        </p:attrNameLst>
                                      </p:cBhvr>
                                      <p:tavLst>
                                        <p:tav tm="0">
                                          <p:val>
                                            <p:strVal val="#ppt_x"/>
                                          </p:val>
                                        </p:tav>
                                        <p:tav tm="100000">
                                          <p:val>
                                            <p:strVal val="#ppt_x"/>
                                          </p:val>
                                        </p:tav>
                                      </p:tavLst>
                                    </p:anim>
                                    <p:anim calcmode="lin" valueType="num">
                                      <p:cBhvr additive="base">
                                        <p:cTn id="156" dur="500" fill="hold"/>
                                        <p:tgtEl>
                                          <p:spTgt spid="40"/>
                                        </p:tgtEl>
                                        <p:attrNameLst>
                                          <p:attrName>ppt_y</p:attrName>
                                        </p:attrNameLst>
                                      </p:cBhvr>
                                      <p:tavLst>
                                        <p:tav tm="0">
                                          <p:val>
                                            <p:strVal val="#ppt_y+0.1"/>
                                          </p:val>
                                        </p:tav>
                                        <p:tav tm="100000">
                                          <p:val>
                                            <p:strVal val="#ppt_y"/>
                                          </p:val>
                                        </p:tav>
                                      </p:tavLst>
                                    </p:anim>
                                    <p:animEffect transition="in" filter="fade">
                                      <p:cBhvr>
                                        <p:cTn id="15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Kafka Can Remember, Too</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Processing events in real time does not mean they are gone</a:t>
            </a:r>
          </a:p>
        </p:txBody>
      </p:sp>
      <p:sp>
        <p:nvSpPr>
          <p:cNvPr id="11" name="a1f_lb10"/>
          <p:cNvSpPr txBox="1"/>
          <p:nvPr/>
        </p:nvSpPr>
        <p:spPr>
          <a:xfrm>
            <a:off x="731520" y="1371600"/>
            <a:ext cx="2743200" cy="201168"/>
          </a:xfrm>
          <a:prstGeom prst="rect">
            <a:avLst/>
          </a:prstGeom>
          <a:noFill/>
        </p:spPr>
        <p:txBody>
          <a:bodyPr wrap="square" lIns="0" tIns="0" rIns="0" bIns="0" anchor="ctr">
            <a:spAutoFit/>
          </a:bodyPr>
          <a:lstStyle/>
          <a:p>
            <a:pPr algn="l"/>
            <a:r>
              <a:rPr sz="800" b="1">
                <a:solidFill>
                  <a:srgbClr val="78716C"/>
                </a:solidFill>
                <a:latin typeface="Segoe UI"/>
              </a:rPr>
              <a:t>earlier events</a:t>
            </a:r>
          </a:p>
        </p:txBody>
      </p:sp>
      <p:sp>
        <p:nvSpPr>
          <p:cNvPr id="12" name="a1w_cell11"/>
          <p:cNvSpPr/>
          <p:nvPr/>
        </p:nvSpPr>
        <p:spPr>
          <a:xfrm>
            <a:off x="731520" y="1874519"/>
            <a:ext cx="566928" cy="45720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w_cellt12"/>
          <p:cNvSpPr txBox="1"/>
          <p:nvPr/>
        </p:nvSpPr>
        <p:spPr>
          <a:xfrm>
            <a:off x="731520" y="1874519"/>
            <a:ext cx="566928" cy="457200"/>
          </a:xfrm>
          <a:prstGeom prst="rect">
            <a:avLst/>
          </a:prstGeom>
          <a:noFill/>
        </p:spPr>
        <p:txBody>
          <a:bodyPr wrap="square" lIns="0" tIns="0" rIns="0" bIns="0" anchor="ctr">
            <a:spAutoFit/>
          </a:bodyPr>
          <a:lstStyle/>
          <a:p>
            <a:pPr algn="ctr"/>
            <a:r>
              <a:rPr sz="1050" b="1">
                <a:solidFill>
                  <a:srgbClr val="C2410C"/>
                </a:solidFill>
                <a:latin typeface="Consolas"/>
              </a:rPr>
              <a:t>0</a:t>
            </a:r>
          </a:p>
        </p:txBody>
      </p:sp>
      <p:sp>
        <p:nvSpPr>
          <p:cNvPr id="14" name="a1wd50_cell13"/>
          <p:cNvSpPr/>
          <p:nvPr/>
        </p:nvSpPr>
        <p:spPr>
          <a:xfrm>
            <a:off x="1298448" y="1874519"/>
            <a:ext cx="566928" cy="45720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wd50_cellt14"/>
          <p:cNvSpPr txBox="1"/>
          <p:nvPr/>
        </p:nvSpPr>
        <p:spPr>
          <a:xfrm>
            <a:off x="1298448" y="1874519"/>
            <a:ext cx="566928" cy="457200"/>
          </a:xfrm>
          <a:prstGeom prst="rect">
            <a:avLst/>
          </a:prstGeom>
          <a:noFill/>
        </p:spPr>
        <p:txBody>
          <a:bodyPr wrap="square" lIns="0" tIns="0" rIns="0" bIns="0" anchor="ctr">
            <a:spAutoFit/>
          </a:bodyPr>
          <a:lstStyle/>
          <a:p>
            <a:pPr algn="ctr"/>
            <a:r>
              <a:rPr sz="1050" b="1">
                <a:solidFill>
                  <a:srgbClr val="C2410C"/>
                </a:solidFill>
                <a:latin typeface="Consolas"/>
              </a:rPr>
              <a:t>1</a:t>
            </a:r>
          </a:p>
        </p:txBody>
      </p:sp>
      <p:sp>
        <p:nvSpPr>
          <p:cNvPr id="16" name="a1wd100_cell15"/>
          <p:cNvSpPr/>
          <p:nvPr/>
        </p:nvSpPr>
        <p:spPr>
          <a:xfrm>
            <a:off x="1865376" y="1874519"/>
            <a:ext cx="566928" cy="45720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wd100_cellt16"/>
          <p:cNvSpPr txBox="1"/>
          <p:nvPr/>
        </p:nvSpPr>
        <p:spPr>
          <a:xfrm>
            <a:off x="1865376" y="1874519"/>
            <a:ext cx="566928" cy="457200"/>
          </a:xfrm>
          <a:prstGeom prst="rect">
            <a:avLst/>
          </a:prstGeom>
          <a:noFill/>
        </p:spPr>
        <p:txBody>
          <a:bodyPr wrap="square" lIns="0" tIns="0" rIns="0" bIns="0" anchor="ctr">
            <a:spAutoFit/>
          </a:bodyPr>
          <a:lstStyle/>
          <a:p>
            <a:pPr algn="ctr"/>
            <a:r>
              <a:rPr sz="1050" b="1">
                <a:solidFill>
                  <a:srgbClr val="C2410C"/>
                </a:solidFill>
                <a:latin typeface="Consolas"/>
              </a:rPr>
              <a:t>2</a:t>
            </a:r>
          </a:p>
        </p:txBody>
      </p:sp>
      <p:sp>
        <p:nvSpPr>
          <p:cNvPr id="18" name="a1wd150_cell17"/>
          <p:cNvSpPr/>
          <p:nvPr/>
        </p:nvSpPr>
        <p:spPr>
          <a:xfrm>
            <a:off x="2432304" y="1874519"/>
            <a:ext cx="566928" cy="45720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wd150_cellt18"/>
          <p:cNvSpPr txBox="1"/>
          <p:nvPr/>
        </p:nvSpPr>
        <p:spPr>
          <a:xfrm>
            <a:off x="2432304" y="1874519"/>
            <a:ext cx="566928" cy="457200"/>
          </a:xfrm>
          <a:prstGeom prst="rect">
            <a:avLst/>
          </a:prstGeom>
          <a:noFill/>
        </p:spPr>
        <p:txBody>
          <a:bodyPr wrap="square" lIns="0" tIns="0" rIns="0" bIns="0" anchor="ctr">
            <a:spAutoFit/>
          </a:bodyPr>
          <a:lstStyle/>
          <a:p>
            <a:pPr algn="ctr"/>
            <a:r>
              <a:rPr sz="1050" b="1">
                <a:solidFill>
                  <a:srgbClr val="C2410C"/>
                </a:solidFill>
                <a:latin typeface="Consolas"/>
              </a:rPr>
              <a:t>3</a:t>
            </a:r>
          </a:p>
        </p:txBody>
      </p:sp>
      <p:sp>
        <p:nvSpPr>
          <p:cNvPr id="20" name="a1wd200_cell19"/>
          <p:cNvSpPr/>
          <p:nvPr/>
        </p:nvSpPr>
        <p:spPr>
          <a:xfrm>
            <a:off x="2999232" y="1874519"/>
            <a:ext cx="566928" cy="45720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wd200_cellt20"/>
          <p:cNvSpPr txBox="1"/>
          <p:nvPr/>
        </p:nvSpPr>
        <p:spPr>
          <a:xfrm>
            <a:off x="2999232" y="1874519"/>
            <a:ext cx="566928" cy="457200"/>
          </a:xfrm>
          <a:prstGeom prst="rect">
            <a:avLst/>
          </a:prstGeom>
          <a:noFill/>
        </p:spPr>
        <p:txBody>
          <a:bodyPr wrap="square" lIns="0" tIns="0" rIns="0" bIns="0" anchor="ctr">
            <a:spAutoFit/>
          </a:bodyPr>
          <a:lstStyle/>
          <a:p>
            <a:pPr algn="ctr"/>
            <a:r>
              <a:rPr sz="1050" b="1">
                <a:solidFill>
                  <a:srgbClr val="C2410C"/>
                </a:solidFill>
                <a:latin typeface="Consolas"/>
              </a:rPr>
              <a:t>4</a:t>
            </a:r>
          </a:p>
        </p:txBody>
      </p:sp>
      <p:sp>
        <p:nvSpPr>
          <p:cNvPr id="22" name="a1wd250_cell21"/>
          <p:cNvSpPr/>
          <p:nvPr/>
        </p:nvSpPr>
        <p:spPr>
          <a:xfrm>
            <a:off x="3566160" y="1874519"/>
            <a:ext cx="566928" cy="45720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wd250_cellt22"/>
          <p:cNvSpPr txBox="1"/>
          <p:nvPr/>
        </p:nvSpPr>
        <p:spPr>
          <a:xfrm>
            <a:off x="3566160" y="1874519"/>
            <a:ext cx="566928" cy="457200"/>
          </a:xfrm>
          <a:prstGeom prst="rect">
            <a:avLst/>
          </a:prstGeom>
          <a:noFill/>
        </p:spPr>
        <p:txBody>
          <a:bodyPr wrap="square" lIns="0" tIns="0" rIns="0" bIns="0" anchor="ctr">
            <a:spAutoFit/>
          </a:bodyPr>
          <a:lstStyle/>
          <a:p>
            <a:pPr algn="ctr"/>
            <a:r>
              <a:rPr sz="1050" b="1">
                <a:solidFill>
                  <a:srgbClr val="C2410C"/>
                </a:solidFill>
                <a:latin typeface="Consolas"/>
              </a:rPr>
              <a:t>5</a:t>
            </a:r>
          </a:p>
        </p:txBody>
      </p:sp>
      <p:sp>
        <p:nvSpPr>
          <p:cNvPr id="24" name="a1wd300_cell23"/>
          <p:cNvSpPr/>
          <p:nvPr/>
        </p:nvSpPr>
        <p:spPr>
          <a:xfrm>
            <a:off x="4133087" y="1874519"/>
            <a:ext cx="566928" cy="45720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1wd300_cellt24"/>
          <p:cNvSpPr txBox="1"/>
          <p:nvPr/>
        </p:nvSpPr>
        <p:spPr>
          <a:xfrm>
            <a:off x="4133087" y="1874519"/>
            <a:ext cx="566928" cy="457200"/>
          </a:xfrm>
          <a:prstGeom prst="rect">
            <a:avLst/>
          </a:prstGeom>
          <a:noFill/>
        </p:spPr>
        <p:txBody>
          <a:bodyPr wrap="square" lIns="0" tIns="0" rIns="0" bIns="0" anchor="ctr">
            <a:spAutoFit/>
          </a:bodyPr>
          <a:lstStyle/>
          <a:p>
            <a:pPr algn="ctr"/>
            <a:r>
              <a:rPr sz="1050" b="1">
                <a:solidFill>
                  <a:srgbClr val="C2410C"/>
                </a:solidFill>
                <a:latin typeface="Consolas"/>
              </a:rPr>
              <a:t>6</a:t>
            </a:r>
          </a:p>
        </p:txBody>
      </p:sp>
      <p:sp>
        <p:nvSpPr>
          <p:cNvPr id="26" name="a1wd350_cell25"/>
          <p:cNvSpPr/>
          <p:nvPr/>
        </p:nvSpPr>
        <p:spPr>
          <a:xfrm>
            <a:off x="4700016" y="1874519"/>
            <a:ext cx="566928" cy="45720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wd350_cellt26"/>
          <p:cNvSpPr txBox="1"/>
          <p:nvPr/>
        </p:nvSpPr>
        <p:spPr>
          <a:xfrm>
            <a:off x="4700016" y="1874519"/>
            <a:ext cx="566928" cy="457200"/>
          </a:xfrm>
          <a:prstGeom prst="rect">
            <a:avLst/>
          </a:prstGeom>
          <a:noFill/>
        </p:spPr>
        <p:txBody>
          <a:bodyPr wrap="square" lIns="0" tIns="0" rIns="0" bIns="0" anchor="ctr">
            <a:spAutoFit/>
          </a:bodyPr>
          <a:lstStyle/>
          <a:p>
            <a:pPr algn="ctr"/>
            <a:r>
              <a:rPr sz="1050" b="1">
                <a:solidFill>
                  <a:srgbClr val="C2410C"/>
                </a:solidFill>
                <a:latin typeface="Consolas"/>
              </a:rPr>
              <a:t>7</a:t>
            </a:r>
          </a:p>
        </p:txBody>
      </p:sp>
      <p:sp>
        <p:nvSpPr>
          <p:cNvPr id="28" name="a1wd400_cell27"/>
          <p:cNvSpPr/>
          <p:nvPr/>
        </p:nvSpPr>
        <p:spPr>
          <a:xfrm>
            <a:off x="5266944" y="1874519"/>
            <a:ext cx="566928" cy="45720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1wd400_cellt28"/>
          <p:cNvSpPr txBox="1"/>
          <p:nvPr/>
        </p:nvSpPr>
        <p:spPr>
          <a:xfrm>
            <a:off x="5266944" y="1874519"/>
            <a:ext cx="566928" cy="457200"/>
          </a:xfrm>
          <a:prstGeom prst="rect">
            <a:avLst/>
          </a:prstGeom>
          <a:noFill/>
        </p:spPr>
        <p:txBody>
          <a:bodyPr wrap="square" lIns="0" tIns="0" rIns="0" bIns="0" anchor="ctr">
            <a:spAutoFit/>
          </a:bodyPr>
          <a:lstStyle/>
          <a:p>
            <a:pPr algn="ctr"/>
            <a:r>
              <a:rPr sz="1050" b="1">
                <a:solidFill>
                  <a:srgbClr val="C2410C"/>
                </a:solidFill>
                <a:latin typeface="Consolas"/>
              </a:rPr>
              <a:t>8</a:t>
            </a:r>
          </a:p>
        </p:txBody>
      </p:sp>
      <p:sp>
        <p:nvSpPr>
          <p:cNvPr id="30" name="a1wd450_cell29"/>
          <p:cNvSpPr/>
          <p:nvPr/>
        </p:nvSpPr>
        <p:spPr>
          <a:xfrm>
            <a:off x="5833872" y="1874519"/>
            <a:ext cx="566928" cy="457200"/>
          </a:xfrm>
          <a:prstGeom prst="rect">
            <a:avLst/>
          </a:prstGeom>
          <a:solidFill>
            <a:srgbClr val="EA580C"/>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1wd450_cellt30"/>
          <p:cNvSpPr txBox="1"/>
          <p:nvPr/>
        </p:nvSpPr>
        <p:spPr>
          <a:xfrm>
            <a:off x="5833872" y="1874519"/>
            <a:ext cx="566928" cy="457200"/>
          </a:xfrm>
          <a:prstGeom prst="rect">
            <a:avLst/>
          </a:prstGeom>
          <a:noFill/>
        </p:spPr>
        <p:txBody>
          <a:bodyPr wrap="square" lIns="0" tIns="0" rIns="0" bIns="0" anchor="ctr">
            <a:spAutoFit/>
          </a:bodyPr>
          <a:lstStyle/>
          <a:p>
            <a:pPr algn="ctr"/>
            <a:r>
              <a:rPr sz="1050" b="1">
                <a:solidFill>
                  <a:srgbClr val="FFFFFF"/>
                </a:solidFill>
                <a:latin typeface="Consolas"/>
              </a:rPr>
              <a:t>9</a:t>
            </a:r>
          </a:p>
        </p:txBody>
      </p:sp>
      <p:cxnSp>
        <p:nvCxnSpPr>
          <p:cNvPr id="32" name="a2u_ar31"/>
          <p:cNvCxnSpPr/>
          <p:nvPr/>
        </p:nvCxnSpPr>
        <p:spPr>
          <a:xfrm>
            <a:off x="6117336" y="1508760"/>
            <a:ext cx="0" cy="338328"/>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a2u_lb32"/>
          <p:cNvSpPr txBox="1"/>
          <p:nvPr/>
        </p:nvSpPr>
        <p:spPr>
          <a:xfrm>
            <a:off x="5120640" y="1307592"/>
            <a:ext cx="3566160" cy="201168"/>
          </a:xfrm>
          <a:prstGeom prst="rect">
            <a:avLst/>
          </a:prstGeom>
          <a:noFill/>
        </p:spPr>
        <p:txBody>
          <a:bodyPr wrap="square" lIns="0" tIns="0" rIns="0" bIns="0" anchor="ctr">
            <a:spAutoFit/>
          </a:bodyPr>
          <a:lstStyle/>
          <a:p>
            <a:pPr algn="l"/>
            <a:r>
              <a:rPr sz="850" b="1">
                <a:solidFill>
                  <a:srgbClr val="C2410C"/>
                </a:solidFill>
                <a:latin typeface="Segoe UI"/>
              </a:rPr>
              <a:t>new event - processed right now</a:t>
            </a:r>
          </a:p>
        </p:txBody>
      </p:sp>
      <p:cxnSp>
        <p:nvCxnSpPr>
          <p:cNvPr id="34" name="a3u_ar33"/>
          <p:cNvCxnSpPr/>
          <p:nvPr/>
        </p:nvCxnSpPr>
        <p:spPr>
          <a:xfrm flipV="1">
            <a:off x="2148840" y="2359152"/>
            <a:ext cx="0" cy="384048"/>
          </a:xfrm>
          <a:prstGeom prst="line">
            <a:avLst/>
          </a:prstGeom>
          <a:ln w="15875">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a3u_lb34"/>
          <p:cNvSpPr txBox="1"/>
          <p:nvPr/>
        </p:nvSpPr>
        <p:spPr>
          <a:xfrm>
            <a:off x="1234440" y="2770632"/>
            <a:ext cx="3108960" cy="201168"/>
          </a:xfrm>
          <a:prstGeom prst="rect">
            <a:avLst/>
          </a:prstGeom>
          <a:noFill/>
        </p:spPr>
        <p:txBody>
          <a:bodyPr wrap="square" lIns="0" tIns="0" rIns="0" bIns="0" anchor="ctr">
            <a:spAutoFit/>
          </a:bodyPr>
          <a:lstStyle/>
          <a:p>
            <a:pPr algn="l"/>
            <a:r>
              <a:rPr sz="850" b="1">
                <a:solidFill>
                  <a:srgbClr val="0E7490"/>
                </a:solidFill>
                <a:latin typeface="Segoe UI"/>
              </a:rPr>
              <a:t>earlier events are still there to read</a:t>
            </a:r>
          </a:p>
        </p:txBody>
      </p:sp>
      <p:sp>
        <p:nvSpPr>
          <p:cNvPr id="36" name="a4u_nb35"/>
          <p:cNvSpPr/>
          <p:nvPr/>
        </p:nvSpPr>
        <p:spPr>
          <a:xfrm>
            <a:off x="457200" y="3429000"/>
            <a:ext cx="8229600" cy="731520"/>
          </a:xfrm>
          <a:prstGeom prst="roundRect">
            <a:avLst>
              <a:gd name="adj" fmla="val 1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4u_nacc36"/>
          <p:cNvSpPr/>
          <p:nvPr/>
        </p:nvSpPr>
        <p:spPr>
          <a:xfrm>
            <a:off x="457200" y="3429000"/>
            <a:ext cx="54864" cy="7315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4u_nt37"/>
          <p:cNvSpPr txBox="1"/>
          <p:nvPr/>
        </p:nvSpPr>
        <p:spPr>
          <a:xfrm>
            <a:off x="658368" y="3429000"/>
            <a:ext cx="7827264" cy="731520"/>
          </a:xfrm>
          <a:prstGeom prst="rect">
            <a:avLst/>
          </a:prstGeom>
          <a:noFill/>
        </p:spPr>
        <p:txBody>
          <a:bodyPr wrap="square" lIns="0" tIns="0" rIns="0" bIns="0" anchor="ctr">
            <a:spAutoFit/>
          </a:bodyPr>
          <a:lstStyle/>
          <a:p>
            <a:pPr algn="l"/>
            <a:r>
              <a:rPr sz="1000" b="1">
                <a:solidFill>
                  <a:srgbClr val="C2410C"/>
                </a:solidFill>
                <a:latin typeface="Segoe UI"/>
              </a:rPr>
              <a:t>NEXT  </a:t>
            </a:r>
            <a:r>
              <a:rPr sz="1000" b="0">
                <a:solidFill>
                  <a:srgbClr val="44403C"/>
                </a:solidFill>
                <a:latin typeface="Segoe UI"/>
              </a:rPr>
              <a:t>Kafka keeps the events it has processed. HOW it stores them is one of the topics of this course.</a:t>
            </a:r>
          </a:p>
        </p:txBody>
      </p:sp>
      <p:sp>
        <p:nvSpPr>
          <p:cNvPr id="39" name="ft38"/>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07</a:t>
            </a:r>
          </a:p>
        </p:txBody>
      </p:sp>
      <p:sp>
        <p:nvSpPr>
          <p:cNvPr id="40" name="ft39"/>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ft40"/>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Introduction</a:t>
            </a:r>
          </a:p>
        </p:txBody>
      </p:sp>
      <p:sp>
        <p:nvSpPr>
          <p:cNvPr id="42" name="ft41"/>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22" presetClass="entr" presetSubtype="8"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wipe(left)">
                                      <p:cBhvr>
                                        <p:cTn id="9" dur="500"/>
                                        <p:tgtEl>
                                          <p:spTgt spid="12"/>
                                        </p:tgtEl>
                                      </p:cBhvr>
                                    </p:animEffect>
                                  </p:childTnLst>
                                </p:cTn>
                              </p:par>
                              <p:par>
                                <p:cTn id="13" presetID="22" presetClass="entr" presetSubtype="8"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par>
                                <p:cTn id="16" presetID="22" presetClass="entr" presetSubtype="8" fill="hold" grpId="0" nodeType="withEffect">
                                  <p:stCondLst>
                                    <p:cond delay="5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9" presetID="22" presetClass="entr" presetSubtype="8" fill="hold" grpId="0" nodeType="withEffect">
                                  <p:stCondLst>
                                    <p:cond delay="5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22" presetID="22" presetClass="entr" presetSubtype="8" fill="hold" grpId="0" nodeType="withEffect">
                                  <p:stCondLst>
                                    <p:cond delay="10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par>
                                <p:cTn id="25" presetID="22" presetClass="entr" presetSubtype="8" fill="hold" grpId="0" nodeType="withEffect">
                                  <p:stCondLst>
                                    <p:cond delay="10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par>
                                <p:cTn id="28" presetID="22" presetClass="entr" presetSubtype="8" fill="hold" grpId="0" nodeType="withEffect">
                                  <p:stCondLst>
                                    <p:cond delay="15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par>
                                <p:cTn id="31" presetID="22" presetClass="entr" presetSubtype="8" fill="hold" grpId="0" nodeType="withEffect">
                                  <p:stCondLst>
                                    <p:cond delay="15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par>
                                <p:cTn id="34" presetID="22" presetClass="entr" presetSubtype="8" fill="hold" grpId="0" nodeType="withEffect">
                                  <p:stCondLst>
                                    <p:cond delay="20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500"/>
                                        <p:tgtEl>
                                          <p:spTgt spid="20"/>
                                        </p:tgtEl>
                                      </p:cBhvr>
                                    </p:animEffect>
                                  </p:childTnLst>
                                </p:cTn>
                              </p:par>
                              <p:par>
                                <p:cTn id="37" presetID="22" presetClass="entr" presetSubtype="8" fill="hold" grpId="0" nodeType="withEffect">
                                  <p:stCondLst>
                                    <p:cond delay="20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500"/>
                                        <p:tgtEl>
                                          <p:spTgt spid="21"/>
                                        </p:tgtEl>
                                      </p:cBhvr>
                                    </p:animEffect>
                                  </p:childTnLst>
                                </p:cTn>
                              </p:par>
                              <p:par>
                                <p:cTn id="40" presetID="22" presetClass="entr" presetSubtype="8" fill="hold" grpId="0" nodeType="withEffect">
                                  <p:stCondLst>
                                    <p:cond delay="250"/>
                                  </p:stCondLst>
                                  <p:childTnLst>
                                    <p:set>
                                      <p:cBhvr>
                                        <p:cTn id="38" dur="1" fill="hold">
                                          <p:stCondLst>
                                            <p:cond delay="0"/>
                                          </p:stCondLst>
                                        </p:cTn>
                                        <p:tgtEl>
                                          <p:spTgt spid="22"/>
                                        </p:tgtEl>
                                        <p:attrNameLst>
                                          <p:attrName>style.visibility</p:attrName>
                                        </p:attrNameLst>
                                      </p:cBhvr>
                                      <p:to>
                                        <p:strVal val="visible"/>
                                      </p:to>
                                    </p:set>
                                    <p:animEffect transition="in" filter="wipe(left)">
                                      <p:cBhvr>
                                        <p:cTn id="39" dur="500"/>
                                        <p:tgtEl>
                                          <p:spTgt spid="22"/>
                                        </p:tgtEl>
                                      </p:cBhvr>
                                    </p:animEffect>
                                  </p:childTnLst>
                                </p:cTn>
                              </p:par>
                              <p:par>
                                <p:cTn id="43" presetID="22" presetClass="entr" presetSubtype="8" fill="hold" grpId="0" nodeType="withEffect">
                                  <p:stCondLst>
                                    <p:cond delay="250"/>
                                  </p:stCondLst>
                                  <p:childTnLst>
                                    <p:set>
                                      <p:cBhvr>
                                        <p:cTn id="41" dur="1" fill="hold">
                                          <p:stCondLst>
                                            <p:cond delay="0"/>
                                          </p:stCondLst>
                                        </p:cTn>
                                        <p:tgtEl>
                                          <p:spTgt spid="23"/>
                                        </p:tgtEl>
                                        <p:attrNameLst>
                                          <p:attrName>style.visibility</p:attrName>
                                        </p:attrNameLst>
                                      </p:cBhvr>
                                      <p:to>
                                        <p:strVal val="visible"/>
                                      </p:to>
                                    </p:set>
                                    <p:animEffect transition="in" filter="wipe(left)">
                                      <p:cBhvr>
                                        <p:cTn id="42" dur="500"/>
                                        <p:tgtEl>
                                          <p:spTgt spid="23"/>
                                        </p:tgtEl>
                                      </p:cBhvr>
                                    </p:animEffect>
                                  </p:childTnLst>
                                </p:cTn>
                              </p:par>
                              <p:par>
                                <p:cTn id="46" presetID="22" presetClass="entr" presetSubtype="8" fill="hold" grpId="0" nodeType="withEffect">
                                  <p:stCondLst>
                                    <p:cond delay="300"/>
                                  </p:stCondLst>
                                  <p:childTnLst>
                                    <p:set>
                                      <p:cBhvr>
                                        <p:cTn id="44" dur="1" fill="hold">
                                          <p:stCondLst>
                                            <p:cond delay="0"/>
                                          </p:stCondLst>
                                        </p:cTn>
                                        <p:tgtEl>
                                          <p:spTgt spid="24"/>
                                        </p:tgtEl>
                                        <p:attrNameLst>
                                          <p:attrName>style.visibility</p:attrName>
                                        </p:attrNameLst>
                                      </p:cBhvr>
                                      <p:to>
                                        <p:strVal val="visible"/>
                                      </p:to>
                                    </p:set>
                                    <p:animEffect transition="in" filter="wipe(left)">
                                      <p:cBhvr>
                                        <p:cTn id="45" dur="500"/>
                                        <p:tgtEl>
                                          <p:spTgt spid="24"/>
                                        </p:tgtEl>
                                      </p:cBhvr>
                                    </p:animEffect>
                                  </p:childTnLst>
                                </p:cTn>
                              </p:par>
                              <p:par>
                                <p:cTn id="49" presetID="22" presetClass="entr" presetSubtype="8" fill="hold" grpId="0" nodeType="withEffect">
                                  <p:stCondLst>
                                    <p:cond delay="300"/>
                                  </p:stCondLst>
                                  <p:childTnLst>
                                    <p:set>
                                      <p:cBhvr>
                                        <p:cTn id="47" dur="1" fill="hold">
                                          <p:stCondLst>
                                            <p:cond delay="0"/>
                                          </p:stCondLst>
                                        </p:cTn>
                                        <p:tgtEl>
                                          <p:spTgt spid="25"/>
                                        </p:tgtEl>
                                        <p:attrNameLst>
                                          <p:attrName>style.visibility</p:attrName>
                                        </p:attrNameLst>
                                      </p:cBhvr>
                                      <p:to>
                                        <p:strVal val="visible"/>
                                      </p:to>
                                    </p:set>
                                    <p:animEffect transition="in" filter="wipe(left)">
                                      <p:cBhvr>
                                        <p:cTn id="48" dur="500"/>
                                        <p:tgtEl>
                                          <p:spTgt spid="25"/>
                                        </p:tgtEl>
                                      </p:cBhvr>
                                    </p:animEffect>
                                  </p:childTnLst>
                                </p:cTn>
                              </p:par>
                              <p:par>
                                <p:cTn id="52" presetID="22" presetClass="entr" presetSubtype="8" fill="hold" grpId="0" nodeType="withEffect">
                                  <p:stCondLst>
                                    <p:cond delay="350"/>
                                  </p:stCondLst>
                                  <p:childTnLst>
                                    <p:set>
                                      <p:cBhvr>
                                        <p:cTn id="50" dur="1" fill="hold">
                                          <p:stCondLst>
                                            <p:cond delay="0"/>
                                          </p:stCondLst>
                                        </p:cTn>
                                        <p:tgtEl>
                                          <p:spTgt spid="26"/>
                                        </p:tgtEl>
                                        <p:attrNameLst>
                                          <p:attrName>style.visibility</p:attrName>
                                        </p:attrNameLst>
                                      </p:cBhvr>
                                      <p:to>
                                        <p:strVal val="visible"/>
                                      </p:to>
                                    </p:set>
                                    <p:animEffect transition="in" filter="wipe(left)">
                                      <p:cBhvr>
                                        <p:cTn id="51" dur="500"/>
                                        <p:tgtEl>
                                          <p:spTgt spid="26"/>
                                        </p:tgtEl>
                                      </p:cBhvr>
                                    </p:animEffect>
                                  </p:childTnLst>
                                </p:cTn>
                              </p:par>
                              <p:par>
                                <p:cTn id="55" presetID="22" presetClass="entr" presetSubtype="8" fill="hold" grpId="0" nodeType="withEffect">
                                  <p:stCondLst>
                                    <p:cond delay="350"/>
                                  </p:stCondLst>
                                  <p:childTnLst>
                                    <p:set>
                                      <p:cBhvr>
                                        <p:cTn id="53" dur="1" fill="hold">
                                          <p:stCondLst>
                                            <p:cond delay="0"/>
                                          </p:stCondLst>
                                        </p:cTn>
                                        <p:tgtEl>
                                          <p:spTgt spid="27"/>
                                        </p:tgtEl>
                                        <p:attrNameLst>
                                          <p:attrName>style.visibility</p:attrName>
                                        </p:attrNameLst>
                                      </p:cBhvr>
                                      <p:to>
                                        <p:strVal val="visible"/>
                                      </p:to>
                                    </p:set>
                                    <p:animEffect transition="in" filter="wipe(left)">
                                      <p:cBhvr>
                                        <p:cTn id="54" dur="500"/>
                                        <p:tgtEl>
                                          <p:spTgt spid="27"/>
                                        </p:tgtEl>
                                      </p:cBhvr>
                                    </p:animEffect>
                                  </p:childTnLst>
                                </p:cTn>
                              </p:par>
                              <p:par>
                                <p:cTn id="58" presetID="22" presetClass="entr" presetSubtype="8" fill="hold" grpId="0" nodeType="withEffect">
                                  <p:stCondLst>
                                    <p:cond delay="400"/>
                                  </p:stCondLst>
                                  <p:childTnLst>
                                    <p:set>
                                      <p:cBhvr>
                                        <p:cTn id="56" dur="1" fill="hold">
                                          <p:stCondLst>
                                            <p:cond delay="0"/>
                                          </p:stCondLst>
                                        </p:cTn>
                                        <p:tgtEl>
                                          <p:spTgt spid="28"/>
                                        </p:tgtEl>
                                        <p:attrNameLst>
                                          <p:attrName>style.visibility</p:attrName>
                                        </p:attrNameLst>
                                      </p:cBhvr>
                                      <p:to>
                                        <p:strVal val="visible"/>
                                      </p:to>
                                    </p:set>
                                    <p:animEffect transition="in" filter="wipe(left)">
                                      <p:cBhvr>
                                        <p:cTn id="57" dur="500"/>
                                        <p:tgtEl>
                                          <p:spTgt spid="28"/>
                                        </p:tgtEl>
                                      </p:cBhvr>
                                    </p:animEffect>
                                  </p:childTnLst>
                                </p:cTn>
                              </p:par>
                              <p:par>
                                <p:cTn id="61" presetID="22" presetClass="entr" presetSubtype="8" fill="hold" grpId="0" nodeType="withEffect">
                                  <p:stCondLst>
                                    <p:cond delay="400"/>
                                  </p:stCondLst>
                                  <p:childTnLst>
                                    <p:set>
                                      <p:cBhvr>
                                        <p:cTn id="59" dur="1" fill="hold">
                                          <p:stCondLst>
                                            <p:cond delay="0"/>
                                          </p:stCondLst>
                                        </p:cTn>
                                        <p:tgtEl>
                                          <p:spTgt spid="29"/>
                                        </p:tgtEl>
                                        <p:attrNameLst>
                                          <p:attrName>style.visibility</p:attrName>
                                        </p:attrNameLst>
                                      </p:cBhvr>
                                      <p:to>
                                        <p:strVal val="visible"/>
                                      </p:to>
                                    </p:set>
                                    <p:animEffect transition="in" filter="wipe(left)">
                                      <p:cBhvr>
                                        <p:cTn id="60" dur="500"/>
                                        <p:tgtEl>
                                          <p:spTgt spid="29"/>
                                        </p:tgtEl>
                                      </p:cBhvr>
                                    </p:animEffect>
                                  </p:childTnLst>
                                </p:cTn>
                              </p:par>
                              <p:par>
                                <p:cTn id="64" presetID="22" presetClass="entr" presetSubtype="8" fill="hold" grpId="0" nodeType="withEffect">
                                  <p:stCondLst>
                                    <p:cond delay="450"/>
                                  </p:stCondLst>
                                  <p:childTnLst>
                                    <p:set>
                                      <p:cBhvr>
                                        <p:cTn id="62" dur="1" fill="hold">
                                          <p:stCondLst>
                                            <p:cond delay="0"/>
                                          </p:stCondLst>
                                        </p:cTn>
                                        <p:tgtEl>
                                          <p:spTgt spid="30"/>
                                        </p:tgtEl>
                                        <p:attrNameLst>
                                          <p:attrName>style.visibility</p:attrName>
                                        </p:attrNameLst>
                                      </p:cBhvr>
                                      <p:to>
                                        <p:strVal val="visible"/>
                                      </p:to>
                                    </p:set>
                                    <p:animEffect transition="in" filter="wipe(left)">
                                      <p:cBhvr>
                                        <p:cTn id="63" dur="500"/>
                                        <p:tgtEl>
                                          <p:spTgt spid="30"/>
                                        </p:tgtEl>
                                      </p:cBhvr>
                                    </p:animEffect>
                                  </p:childTnLst>
                                </p:cTn>
                              </p:par>
                              <p:par>
                                <p:cTn id="67" presetID="22" presetClass="entr" presetSubtype="8" fill="hold" grpId="0" nodeType="withEffect">
                                  <p:stCondLst>
                                    <p:cond delay="450"/>
                                  </p:stCondLst>
                                  <p:childTnLst>
                                    <p:set>
                                      <p:cBhvr>
                                        <p:cTn id="65" dur="1" fill="hold">
                                          <p:stCondLst>
                                            <p:cond delay="0"/>
                                          </p:stCondLst>
                                        </p:cTn>
                                        <p:tgtEl>
                                          <p:spTgt spid="31"/>
                                        </p:tgtEl>
                                        <p:attrNameLst>
                                          <p:attrName>style.visibility</p:attrName>
                                        </p:attrNameLst>
                                      </p:cBhvr>
                                      <p:to>
                                        <p:strVal val="visible"/>
                                      </p:to>
                                    </p:set>
                                    <p:animEffect transition="in" filter="wipe(left)">
                                      <p:cBhvr>
                                        <p:cTn id="66" dur="500"/>
                                        <p:tgtEl>
                                          <p:spTgt spid="31"/>
                                        </p:tgtEl>
                                      </p:cBhvr>
                                    </p:animEffect>
                                  </p:childTnLst>
                                </p:cTn>
                              </p:par>
                            </p:childTnLst>
                          </p:cTn>
                        </p:par>
                      </p:childTnLst>
                    </p:cTn>
                  </p:par>
                  <p:par>
                    <p:cTn id="68" fill="hold">
                      <p:stCondLst>
                        <p:cond delay="indefinite"/>
                      </p:stCondLst>
                      <p:childTnLst>
                        <p:par>
                          <p:cTn id="69" fill="hold">
                            <p:stCondLst>
                              <p:cond delay="0"/>
                            </p:stCondLst>
                            <p:childTnLst>
                              <p:par>
                                <p:cTn id="74" presetID="2" presetClass="entr" presetSubtype="4" fill="hold" grpId="0" nodeType="clickEffect">
                                  <p:stCondLst>
                                    <p:cond delay="0"/>
                                  </p:stCondLst>
                                  <p:childTnLst>
                                    <p:set>
                                      <p:cBhvr>
                                        <p:cTn id="70" dur="1" fill="hold">
                                          <p:stCondLst>
                                            <p:cond delay="0"/>
                                          </p:stCondLst>
                                        </p:cTn>
                                        <p:tgtEl>
                                          <p:spTgt spid="32"/>
                                        </p:tgtEl>
                                        <p:attrNameLst>
                                          <p:attrName>style.visibility</p:attrName>
                                        </p:attrNameLst>
                                      </p:cBhvr>
                                      <p:to>
                                        <p:strVal val="visible"/>
                                      </p:to>
                                    </p:set>
                                    <p:anim calcmode="lin" valueType="num">
                                      <p:cBhvr additive="base">
                                        <p:cTn id="71" dur="500" fill="hold"/>
                                        <p:tgtEl>
                                          <p:spTgt spid="32"/>
                                        </p:tgtEl>
                                        <p:attrNameLst>
                                          <p:attrName>ppt_x</p:attrName>
                                        </p:attrNameLst>
                                      </p:cBhvr>
                                      <p:tavLst>
                                        <p:tav tm="0">
                                          <p:val>
                                            <p:strVal val="#ppt_x"/>
                                          </p:val>
                                        </p:tav>
                                        <p:tav tm="100000">
                                          <p:val>
                                            <p:strVal val="#ppt_x"/>
                                          </p:val>
                                        </p:tav>
                                      </p:tavLst>
                                    </p:anim>
                                    <p:anim calcmode="lin" valueType="num">
                                      <p:cBhvr additive="base">
                                        <p:cTn id="72" dur="500" fill="hold"/>
                                        <p:tgtEl>
                                          <p:spTgt spid="32"/>
                                        </p:tgtEl>
                                        <p:attrNameLst>
                                          <p:attrName>ppt_y</p:attrName>
                                        </p:attrNameLst>
                                      </p:cBhvr>
                                      <p:tavLst>
                                        <p:tav tm="0">
                                          <p:val>
                                            <p:strVal val="#ppt_y+0.1"/>
                                          </p:val>
                                        </p:tav>
                                        <p:tav tm="100000">
                                          <p:val>
                                            <p:strVal val="#ppt_y"/>
                                          </p:val>
                                        </p:tav>
                                      </p:tavLst>
                                    </p:anim>
                                    <p:animEffect transition="in" filter="fade">
                                      <p:cBhvr>
                                        <p:cTn id="73" dur="500"/>
                                        <p:tgtEl>
                                          <p:spTgt spid="32"/>
                                        </p:tgtEl>
                                      </p:cBhvr>
                                    </p:animEffect>
                                  </p:childTnLst>
                                </p:cTn>
                              </p:par>
                              <p:par>
                                <p:cTn id="79" presetID="2" presetClass="entr" presetSubtype="4"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anim calcmode="lin" valueType="num">
                                      <p:cBhvr additive="base">
                                        <p:cTn id="76" dur="500" fill="hold"/>
                                        <p:tgtEl>
                                          <p:spTgt spid="33"/>
                                        </p:tgtEl>
                                        <p:attrNameLst>
                                          <p:attrName>ppt_x</p:attrName>
                                        </p:attrNameLst>
                                      </p:cBhvr>
                                      <p:tavLst>
                                        <p:tav tm="0">
                                          <p:val>
                                            <p:strVal val="#ppt_x"/>
                                          </p:val>
                                        </p:tav>
                                        <p:tav tm="100000">
                                          <p:val>
                                            <p:strVal val="#ppt_x"/>
                                          </p:val>
                                        </p:tav>
                                      </p:tavLst>
                                    </p:anim>
                                    <p:anim calcmode="lin" valueType="num">
                                      <p:cBhvr additive="base">
                                        <p:cTn id="77" dur="500" fill="hold"/>
                                        <p:tgtEl>
                                          <p:spTgt spid="33"/>
                                        </p:tgtEl>
                                        <p:attrNameLst>
                                          <p:attrName>ppt_y</p:attrName>
                                        </p:attrNameLst>
                                      </p:cBhvr>
                                      <p:tavLst>
                                        <p:tav tm="0">
                                          <p:val>
                                            <p:strVal val="#ppt_y+0.1"/>
                                          </p:val>
                                        </p:tav>
                                        <p:tav tm="100000">
                                          <p:val>
                                            <p:strVal val="#ppt_y"/>
                                          </p:val>
                                        </p:tav>
                                      </p:tavLst>
                                    </p:anim>
                                    <p:animEffect transition="in" filter="fade">
                                      <p:cBhvr>
                                        <p:cTn id="78" dur="500"/>
                                        <p:tgtEl>
                                          <p:spTgt spid="33"/>
                                        </p:tgtEl>
                                      </p:cBhvr>
                                    </p:animEffect>
                                  </p:childTnLst>
                                </p:cTn>
                              </p:par>
                            </p:childTnLst>
                          </p:cTn>
                        </p:par>
                      </p:childTnLst>
                    </p:cTn>
                  </p:par>
                  <p:par>
                    <p:cTn id="80" fill="hold">
                      <p:stCondLst>
                        <p:cond delay="indefinite"/>
                      </p:stCondLst>
                      <p:childTnLst>
                        <p:par>
                          <p:cTn id="81" fill="hold">
                            <p:stCondLst>
                              <p:cond delay="0"/>
                            </p:stCondLst>
                            <p:childTnLst>
                              <p:par>
                                <p:cTn id="86" presetID="2" presetClass="entr" presetSubtype="4" fill="hold" grpId="0" nodeType="clickEffect">
                                  <p:stCondLst>
                                    <p:cond delay="0"/>
                                  </p:stCondLst>
                                  <p:childTnLst>
                                    <p:set>
                                      <p:cBhvr>
                                        <p:cTn id="82" dur="1" fill="hold">
                                          <p:stCondLst>
                                            <p:cond delay="0"/>
                                          </p:stCondLst>
                                        </p:cTn>
                                        <p:tgtEl>
                                          <p:spTgt spid="34"/>
                                        </p:tgtEl>
                                        <p:attrNameLst>
                                          <p:attrName>style.visibility</p:attrName>
                                        </p:attrNameLst>
                                      </p:cBhvr>
                                      <p:to>
                                        <p:strVal val="visible"/>
                                      </p:to>
                                    </p:set>
                                    <p:anim calcmode="lin" valueType="num">
                                      <p:cBhvr additive="base">
                                        <p:cTn id="83" dur="500" fill="hold"/>
                                        <p:tgtEl>
                                          <p:spTgt spid="34"/>
                                        </p:tgtEl>
                                        <p:attrNameLst>
                                          <p:attrName>ppt_x</p:attrName>
                                        </p:attrNameLst>
                                      </p:cBhvr>
                                      <p:tavLst>
                                        <p:tav tm="0">
                                          <p:val>
                                            <p:strVal val="#ppt_x"/>
                                          </p:val>
                                        </p:tav>
                                        <p:tav tm="100000">
                                          <p:val>
                                            <p:strVal val="#ppt_x"/>
                                          </p:val>
                                        </p:tav>
                                      </p:tavLst>
                                    </p:anim>
                                    <p:anim calcmode="lin" valueType="num">
                                      <p:cBhvr additive="base">
                                        <p:cTn id="84" dur="500" fill="hold"/>
                                        <p:tgtEl>
                                          <p:spTgt spid="34"/>
                                        </p:tgtEl>
                                        <p:attrNameLst>
                                          <p:attrName>ppt_y</p:attrName>
                                        </p:attrNameLst>
                                      </p:cBhvr>
                                      <p:tavLst>
                                        <p:tav tm="0">
                                          <p:val>
                                            <p:strVal val="#ppt_y+0.1"/>
                                          </p:val>
                                        </p:tav>
                                        <p:tav tm="100000">
                                          <p:val>
                                            <p:strVal val="#ppt_y"/>
                                          </p:val>
                                        </p:tav>
                                      </p:tavLst>
                                    </p:anim>
                                    <p:animEffect transition="in" filter="fade">
                                      <p:cBhvr>
                                        <p:cTn id="85" dur="500"/>
                                        <p:tgtEl>
                                          <p:spTgt spid="34"/>
                                        </p:tgtEl>
                                      </p:cBhvr>
                                    </p:animEffect>
                                  </p:childTnLst>
                                </p:cTn>
                              </p:par>
                              <p:par>
                                <p:cTn id="91" presetID="2" presetClass="entr" presetSubtype="4" fill="hold" grpId="0" nodeType="withEffect">
                                  <p:stCondLst>
                                    <p:cond delay="0"/>
                                  </p:stCondLst>
                                  <p:childTnLst>
                                    <p:set>
                                      <p:cBhvr>
                                        <p:cTn id="87" dur="1" fill="hold">
                                          <p:stCondLst>
                                            <p:cond delay="0"/>
                                          </p:stCondLst>
                                        </p:cTn>
                                        <p:tgtEl>
                                          <p:spTgt spid="35"/>
                                        </p:tgtEl>
                                        <p:attrNameLst>
                                          <p:attrName>style.visibility</p:attrName>
                                        </p:attrNameLst>
                                      </p:cBhvr>
                                      <p:to>
                                        <p:strVal val="visible"/>
                                      </p:to>
                                    </p:set>
                                    <p:anim calcmode="lin" valueType="num">
                                      <p:cBhvr additive="base">
                                        <p:cTn id="88" dur="500" fill="hold"/>
                                        <p:tgtEl>
                                          <p:spTgt spid="35"/>
                                        </p:tgtEl>
                                        <p:attrNameLst>
                                          <p:attrName>ppt_x</p:attrName>
                                        </p:attrNameLst>
                                      </p:cBhvr>
                                      <p:tavLst>
                                        <p:tav tm="0">
                                          <p:val>
                                            <p:strVal val="#ppt_x"/>
                                          </p:val>
                                        </p:tav>
                                        <p:tav tm="100000">
                                          <p:val>
                                            <p:strVal val="#ppt_x"/>
                                          </p:val>
                                        </p:tav>
                                      </p:tavLst>
                                    </p:anim>
                                    <p:anim calcmode="lin" valueType="num">
                                      <p:cBhvr additive="base">
                                        <p:cTn id="89" dur="500" fill="hold"/>
                                        <p:tgtEl>
                                          <p:spTgt spid="35"/>
                                        </p:tgtEl>
                                        <p:attrNameLst>
                                          <p:attrName>ppt_y</p:attrName>
                                        </p:attrNameLst>
                                      </p:cBhvr>
                                      <p:tavLst>
                                        <p:tav tm="0">
                                          <p:val>
                                            <p:strVal val="#ppt_y+0.1"/>
                                          </p:val>
                                        </p:tav>
                                        <p:tav tm="100000">
                                          <p:val>
                                            <p:strVal val="#ppt_y"/>
                                          </p:val>
                                        </p:tav>
                                      </p:tavLst>
                                    </p:anim>
                                    <p:animEffect transition="in" filter="fade">
                                      <p:cBhvr>
                                        <p:cTn id="90" dur="500"/>
                                        <p:tgtEl>
                                          <p:spTgt spid="35"/>
                                        </p:tgtEl>
                                      </p:cBhvr>
                                    </p:animEffect>
                                  </p:childTnLst>
                                </p:cTn>
                              </p:par>
                            </p:childTnLst>
                          </p:cTn>
                        </p:par>
                      </p:childTnLst>
                    </p:cTn>
                  </p:par>
                  <p:par>
                    <p:cTn id="92" fill="hold">
                      <p:stCondLst>
                        <p:cond delay="indefinite"/>
                      </p:stCondLst>
                      <p:childTnLst>
                        <p:par>
                          <p:cTn id="93" fill="hold">
                            <p:stCondLst>
                              <p:cond delay="0"/>
                            </p:stCondLst>
                            <p:childTnLst>
                              <p:par>
                                <p:cTn id="98" presetID="2" presetClass="entr" presetSubtype="4" fill="hold" grpId="0" nodeType="clickEffect">
                                  <p:stCondLst>
                                    <p:cond delay="0"/>
                                  </p:stCondLst>
                                  <p:childTnLst>
                                    <p:set>
                                      <p:cBhvr>
                                        <p:cTn id="94" dur="1" fill="hold">
                                          <p:stCondLst>
                                            <p:cond delay="0"/>
                                          </p:stCondLst>
                                        </p:cTn>
                                        <p:tgtEl>
                                          <p:spTgt spid="36"/>
                                        </p:tgtEl>
                                        <p:attrNameLst>
                                          <p:attrName>style.visibility</p:attrName>
                                        </p:attrNameLst>
                                      </p:cBhvr>
                                      <p:to>
                                        <p:strVal val="visible"/>
                                      </p:to>
                                    </p:set>
                                    <p:anim calcmode="lin" valueType="num">
                                      <p:cBhvr additive="base">
                                        <p:cTn id="95" dur="500" fill="hold"/>
                                        <p:tgtEl>
                                          <p:spTgt spid="36"/>
                                        </p:tgtEl>
                                        <p:attrNameLst>
                                          <p:attrName>ppt_x</p:attrName>
                                        </p:attrNameLst>
                                      </p:cBhvr>
                                      <p:tavLst>
                                        <p:tav tm="0">
                                          <p:val>
                                            <p:strVal val="#ppt_x"/>
                                          </p:val>
                                        </p:tav>
                                        <p:tav tm="100000">
                                          <p:val>
                                            <p:strVal val="#ppt_x"/>
                                          </p:val>
                                        </p:tav>
                                      </p:tavLst>
                                    </p:anim>
                                    <p:anim calcmode="lin" valueType="num">
                                      <p:cBhvr additive="base">
                                        <p:cTn id="96" dur="500" fill="hold"/>
                                        <p:tgtEl>
                                          <p:spTgt spid="36"/>
                                        </p:tgtEl>
                                        <p:attrNameLst>
                                          <p:attrName>ppt_y</p:attrName>
                                        </p:attrNameLst>
                                      </p:cBhvr>
                                      <p:tavLst>
                                        <p:tav tm="0">
                                          <p:val>
                                            <p:strVal val="#ppt_y+0.1"/>
                                          </p:val>
                                        </p:tav>
                                        <p:tav tm="100000">
                                          <p:val>
                                            <p:strVal val="#ppt_y"/>
                                          </p:val>
                                        </p:tav>
                                      </p:tavLst>
                                    </p:anim>
                                    <p:animEffect transition="in" filter="fade">
                                      <p:cBhvr>
                                        <p:cTn id="97" dur="500"/>
                                        <p:tgtEl>
                                          <p:spTgt spid="36"/>
                                        </p:tgtEl>
                                      </p:cBhvr>
                                    </p:animEffect>
                                  </p:childTnLst>
                                </p:cTn>
                              </p:par>
                              <p:par>
                                <p:cTn id="103" presetID="2" presetClass="entr" presetSubtype="4"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 calcmode="lin" valueType="num">
                                      <p:cBhvr additive="base">
                                        <p:cTn id="100" dur="500" fill="hold"/>
                                        <p:tgtEl>
                                          <p:spTgt spid="37"/>
                                        </p:tgtEl>
                                        <p:attrNameLst>
                                          <p:attrName>ppt_x</p:attrName>
                                        </p:attrNameLst>
                                      </p:cBhvr>
                                      <p:tavLst>
                                        <p:tav tm="0">
                                          <p:val>
                                            <p:strVal val="#ppt_x"/>
                                          </p:val>
                                        </p:tav>
                                        <p:tav tm="100000">
                                          <p:val>
                                            <p:strVal val="#ppt_x"/>
                                          </p:val>
                                        </p:tav>
                                      </p:tavLst>
                                    </p:anim>
                                    <p:anim calcmode="lin" valueType="num">
                                      <p:cBhvr additive="base">
                                        <p:cTn id="101" dur="500" fill="hold"/>
                                        <p:tgtEl>
                                          <p:spTgt spid="37"/>
                                        </p:tgtEl>
                                        <p:attrNameLst>
                                          <p:attrName>ppt_y</p:attrName>
                                        </p:attrNameLst>
                                      </p:cBhvr>
                                      <p:tavLst>
                                        <p:tav tm="0">
                                          <p:val>
                                            <p:strVal val="#ppt_y+0.1"/>
                                          </p:val>
                                        </p:tav>
                                        <p:tav tm="100000">
                                          <p:val>
                                            <p:strVal val="#ppt_y"/>
                                          </p:val>
                                        </p:tav>
                                      </p:tavLst>
                                    </p:anim>
                                    <p:animEffect transition="in" filter="fade">
                                      <p:cBhvr>
                                        <p:cTn id="102" dur="500"/>
                                        <p:tgtEl>
                                          <p:spTgt spid="37"/>
                                        </p:tgtEl>
                                      </p:cBhvr>
                                    </p:animEffect>
                                  </p:childTnLst>
                                </p:cTn>
                              </p:par>
                              <p:par>
                                <p:cTn id="108" presetID="2" presetClass="entr" presetSubtype="4" fill="hold" grpId="0" nodeType="withEffect">
                                  <p:stCondLst>
                                    <p:cond delay="0"/>
                                  </p:stCondLst>
                                  <p:childTnLst>
                                    <p:set>
                                      <p:cBhvr>
                                        <p:cTn id="104" dur="1" fill="hold">
                                          <p:stCondLst>
                                            <p:cond delay="0"/>
                                          </p:stCondLst>
                                        </p:cTn>
                                        <p:tgtEl>
                                          <p:spTgt spid="38"/>
                                        </p:tgtEl>
                                        <p:attrNameLst>
                                          <p:attrName>style.visibility</p:attrName>
                                        </p:attrNameLst>
                                      </p:cBhvr>
                                      <p:to>
                                        <p:strVal val="visible"/>
                                      </p:to>
                                    </p:set>
                                    <p:anim calcmode="lin" valueType="num">
                                      <p:cBhvr additive="base">
                                        <p:cTn id="105" dur="500" fill="hold"/>
                                        <p:tgtEl>
                                          <p:spTgt spid="38"/>
                                        </p:tgtEl>
                                        <p:attrNameLst>
                                          <p:attrName>ppt_x</p:attrName>
                                        </p:attrNameLst>
                                      </p:cBhvr>
                                      <p:tavLst>
                                        <p:tav tm="0">
                                          <p:val>
                                            <p:strVal val="#ppt_x"/>
                                          </p:val>
                                        </p:tav>
                                        <p:tav tm="100000">
                                          <p:val>
                                            <p:strVal val="#ppt_x"/>
                                          </p:val>
                                        </p:tav>
                                      </p:tavLst>
                                    </p:anim>
                                    <p:anim calcmode="lin" valueType="num">
                                      <p:cBhvr additive="base">
                                        <p:cTn id="106" dur="500" fill="hold"/>
                                        <p:tgtEl>
                                          <p:spTgt spid="38"/>
                                        </p:tgtEl>
                                        <p:attrNameLst>
                                          <p:attrName>ppt_y</p:attrName>
                                        </p:attrNameLst>
                                      </p:cBhvr>
                                      <p:tavLst>
                                        <p:tav tm="0">
                                          <p:val>
                                            <p:strVal val="#ppt_y+0.1"/>
                                          </p:val>
                                        </p:tav>
                                        <p:tav tm="100000">
                                          <p:val>
                                            <p:strVal val="#ppt_y"/>
                                          </p:val>
                                        </p:tav>
                                      </p:tavLst>
                                    </p:anim>
                                    <p:animEffect transition="in" filter="fade">
                                      <p:cBhvr>
                                        <p:cTn id="10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Things vs Events Is Not Absolute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Kafka also helps you manage the SCHEMA of your events - a very 'thing' way of thinking</a:t>
            </a:r>
          </a:p>
        </p:txBody>
      </p:sp>
      <p:sp>
        <p:nvSpPr>
          <p:cNvPr id="11" name="a1u_card10"/>
          <p:cNvSpPr/>
          <p:nvPr/>
        </p:nvSpPr>
        <p:spPr>
          <a:xfrm>
            <a:off x="457200" y="1234440"/>
            <a:ext cx="4023360" cy="2606040"/>
          </a:xfrm>
          <a:prstGeom prst="roundRect">
            <a:avLst>
              <a:gd name="adj" fmla="val 421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34440"/>
            <a:ext cx="50292" cy="260604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hh12"/>
          <p:cNvSpPr txBox="1"/>
          <p:nvPr/>
        </p:nvSpPr>
        <p:spPr>
          <a:xfrm>
            <a:off x="658368" y="1344168"/>
            <a:ext cx="3657600" cy="237744"/>
          </a:xfrm>
          <a:prstGeom prst="rect">
            <a:avLst/>
          </a:prstGeom>
          <a:noFill/>
        </p:spPr>
        <p:txBody>
          <a:bodyPr wrap="square" lIns="0" tIns="0" rIns="0" bIns="0" anchor="ctr">
            <a:spAutoFit/>
          </a:bodyPr>
          <a:lstStyle/>
          <a:p>
            <a:pPr algn="l"/>
            <a:r>
              <a:rPr sz="900" b="1">
                <a:solidFill>
                  <a:srgbClr val="0E7490"/>
                </a:solidFill>
                <a:latin typeface="Segoe UI"/>
              </a:rPr>
              <a:t>EVENTS  ·  WHAT HAPPENED</a:t>
            </a:r>
          </a:p>
        </p:txBody>
      </p:sp>
      <p:sp>
        <p:nvSpPr>
          <p:cNvPr id="14" name="a1u_pill13"/>
          <p:cNvSpPr/>
          <p:nvPr/>
        </p:nvSpPr>
        <p:spPr>
          <a:xfrm>
            <a:off x="685800" y="1664208"/>
            <a:ext cx="3566160" cy="329184"/>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0E7490"/>
                </a:solidFill>
                <a:latin typeface="Consolas"/>
              </a:rPr>
              <a:t>ItemSold  A-101  qty 1  $59</a:t>
            </a:r>
          </a:p>
        </p:txBody>
      </p:sp>
      <p:sp>
        <p:nvSpPr>
          <p:cNvPr id="15" name="a1ud100_pill14"/>
          <p:cNvSpPr/>
          <p:nvPr/>
        </p:nvSpPr>
        <p:spPr>
          <a:xfrm>
            <a:off x="685800" y="2103120"/>
            <a:ext cx="3566160" cy="329184"/>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0E7490"/>
                </a:solidFill>
                <a:latin typeface="Consolas"/>
              </a:rPr>
              <a:t>ItemSold  A-103  qty 2  $38</a:t>
            </a:r>
          </a:p>
        </p:txBody>
      </p:sp>
      <p:sp>
        <p:nvSpPr>
          <p:cNvPr id="16" name="a1ud200_pill15"/>
          <p:cNvSpPr/>
          <p:nvPr/>
        </p:nvSpPr>
        <p:spPr>
          <a:xfrm>
            <a:off x="685800" y="2542032"/>
            <a:ext cx="3566160" cy="329184"/>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0E7490"/>
                </a:solidFill>
                <a:latin typeface="Consolas"/>
              </a:rPr>
              <a:t>ItemSold  A-102  qty 1  $12</a:t>
            </a:r>
          </a:p>
        </p:txBody>
      </p:sp>
      <p:sp>
        <p:nvSpPr>
          <p:cNvPr id="17" name="a1ud300_pill16"/>
          <p:cNvSpPr/>
          <p:nvPr/>
        </p:nvSpPr>
        <p:spPr>
          <a:xfrm>
            <a:off x="685800" y="2980944"/>
            <a:ext cx="3566160" cy="329184"/>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0E7490"/>
                </a:solidFill>
                <a:latin typeface="Consolas"/>
              </a:rPr>
              <a:t>ItemSold  A-101  qty 3  $177</a:t>
            </a:r>
          </a:p>
        </p:txBody>
      </p:sp>
      <p:cxnSp>
        <p:nvCxnSpPr>
          <p:cNvPr id="18" name="a2u_ar17"/>
          <p:cNvCxnSpPr/>
          <p:nvPr/>
        </p:nvCxnSpPr>
        <p:spPr>
          <a:xfrm>
            <a:off x="4526280" y="2514600"/>
            <a:ext cx="365760"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a2u_card18"/>
          <p:cNvSpPr/>
          <p:nvPr/>
        </p:nvSpPr>
        <p:spPr>
          <a:xfrm>
            <a:off x="4937760" y="1234440"/>
            <a:ext cx="3749039" cy="2606040"/>
          </a:xfrm>
          <a:prstGeom prst="roundRect">
            <a:avLst>
              <a:gd name="adj" fmla="val 421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2u_acc19"/>
          <p:cNvSpPr/>
          <p:nvPr/>
        </p:nvSpPr>
        <p:spPr>
          <a:xfrm>
            <a:off x="4937760" y="1234440"/>
            <a:ext cx="50292" cy="26060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_hh20"/>
          <p:cNvSpPr txBox="1"/>
          <p:nvPr/>
        </p:nvSpPr>
        <p:spPr>
          <a:xfrm>
            <a:off x="5138928" y="1344168"/>
            <a:ext cx="3383279" cy="237744"/>
          </a:xfrm>
          <a:prstGeom prst="rect">
            <a:avLst/>
          </a:prstGeom>
          <a:noFill/>
        </p:spPr>
        <p:txBody>
          <a:bodyPr wrap="square" lIns="0" tIns="0" rIns="0" bIns="0" anchor="ctr">
            <a:spAutoFit/>
          </a:bodyPr>
          <a:lstStyle/>
          <a:p>
            <a:pPr algn="l"/>
            <a:r>
              <a:rPr sz="900" b="1">
                <a:solidFill>
                  <a:srgbClr val="EA580C"/>
                </a:solidFill>
                <a:latin typeface="Segoe UI"/>
              </a:rPr>
              <a:t>SCHEMA  ·  WHAT EVERY ONE LOOKS LIKE</a:t>
            </a:r>
          </a:p>
        </p:txBody>
      </p:sp>
      <p:sp>
        <p:nvSpPr>
          <p:cNvPr id="22" name="a2f_codebg21"/>
          <p:cNvSpPr/>
          <p:nvPr/>
        </p:nvSpPr>
        <p:spPr>
          <a:xfrm>
            <a:off x="5138928" y="1664208"/>
            <a:ext cx="3346704" cy="1353312"/>
          </a:xfrm>
          <a:prstGeom prst="roundRect">
            <a:avLst>
              <a:gd name="adj" fmla="val 5405"/>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w_code22"/>
          <p:cNvSpPr txBox="1"/>
          <p:nvPr/>
        </p:nvSpPr>
        <p:spPr>
          <a:xfrm>
            <a:off x="5266944" y="1792224"/>
            <a:ext cx="3090672" cy="219456"/>
          </a:xfrm>
          <a:prstGeom prst="rect">
            <a:avLst/>
          </a:prstGeom>
          <a:noFill/>
        </p:spPr>
        <p:txBody>
          <a:bodyPr wrap="none" lIns="0" tIns="0" rIns="0" bIns="0" anchor="ctr">
            <a:spAutoFit/>
          </a:bodyPr>
          <a:lstStyle/>
          <a:p>
            <a:pPr algn="l"/>
            <a:r>
              <a:rPr sz="1000" b="1">
                <a:solidFill>
                  <a:srgbClr val="FDBA74"/>
                </a:solidFill>
                <a:latin typeface="Consolas"/>
              </a:rPr>
              <a:t>ItemSold {</a:t>
            </a:r>
          </a:p>
        </p:txBody>
      </p:sp>
      <p:sp>
        <p:nvSpPr>
          <p:cNvPr id="24" name="a2wd80_code23"/>
          <p:cNvSpPr txBox="1"/>
          <p:nvPr/>
        </p:nvSpPr>
        <p:spPr>
          <a:xfrm>
            <a:off x="5266944" y="2011680"/>
            <a:ext cx="3090672" cy="219456"/>
          </a:xfrm>
          <a:prstGeom prst="rect">
            <a:avLst/>
          </a:prstGeom>
          <a:noFill/>
        </p:spPr>
        <p:txBody>
          <a:bodyPr wrap="none" lIns="0" tIns="0" rIns="0" bIns="0" anchor="ctr">
            <a:spAutoFit/>
          </a:bodyPr>
          <a:lstStyle/>
          <a:p>
            <a:pPr algn="l"/>
            <a:r>
              <a:rPr sz="1000" b="0">
                <a:solidFill>
                  <a:srgbClr val="E7E5E4"/>
                </a:solidFill>
                <a:latin typeface="Consolas"/>
              </a:rPr>
              <a:t>  sku:       string</a:t>
            </a:r>
          </a:p>
        </p:txBody>
      </p:sp>
      <p:sp>
        <p:nvSpPr>
          <p:cNvPr id="25" name="a2wd160_code24"/>
          <p:cNvSpPr txBox="1"/>
          <p:nvPr/>
        </p:nvSpPr>
        <p:spPr>
          <a:xfrm>
            <a:off x="5266944" y="2231136"/>
            <a:ext cx="3090672" cy="219456"/>
          </a:xfrm>
          <a:prstGeom prst="rect">
            <a:avLst/>
          </a:prstGeom>
          <a:noFill/>
        </p:spPr>
        <p:txBody>
          <a:bodyPr wrap="none" lIns="0" tIns="0" rIns="0" bIns="0" anchor="ctr">
            <a:spAutoFit/>
          </a:bodyPr>
          <a:lstStyle/>
          <a:p>
            <a:pPr algn="l"/>
            <a:r>
              <a:rPr sz="1000" b="0">
                <a:solidFill>
                  <a:srgbClr val="E7E5E4"/>
                </a:solidFill>
                <a:latin typeface="Consolas"/>
              </a:rPr>
              <a:t>  quantity:  int</a:t>
            </a:r>
          </a:p>
        </p:txBody>
      </p:sp>
      <p:sp>
        <p:nvSpPr>
          <p:cNvPr id="26" name="a2wd240_code25"/>
          <p:cNvSpPr txBox="1"/>
          <p:nvPr/>
        </p:nvSpPr>
        <p:spPr>
          <a:xfrm>
            <a:off x="5266944" y="2450591"/>
            <a:ext cx="3090672" cy="219456"/>
          </a:xfrm>
          <a:prstGeom prst="rect">
            <a:avLst/>
          </a:prstGeom>
          <a:noFill/>
        </p:spPr>
        <p:txBody>
          <a:bodyPr wrap="none" lIns="0" tIns="0" rIns="0" bIns="0" anchor="ctr">
            <a:spAutoFit/>
          </a:bodyPr>
          <a:lstStyle/>
          <a:p>
            <a:pPr algn="l"/>
            <a:r>
              <a:rPr sz="1000" b="0">
                <a:solidFill>
                  <a:srgbClr val="E7E5E4"/>
                </a:solidFill>
                <a:latin typeface="Consolas"/>
              </a:rPr>
              <a:t>  price:     decimal</a:t>
            </a:r>
          </a:p>
        </p:txBody>
      </p:sp>
      <p:sp>
        <p:nvSpPr>
          <p:cNvPr id="27" name="a2wd320_code26"/>
          <p:cNvSpPr txBox="1"/>
          <p:nvPr/>
        </p:nvSpPr>
        <p:spPr>
          <a:xfrm>
            <a:off x="5266944" y="2670048"/>
            <a:ext cx="3090672" cy="219456"/>
          </a:xfrm>
          <a:prstGeom prst="rect">
            <a:avLst/>
          </a:prstGeom>
          <a:noFill/>
        </p:spPr>
        <p:txBody>
          <a:bodyPr wrap="none" lIns="0" tIns="0" rIns="0" bIns="0" anchor="ctr">
            <a:spAutoFit/>
          </a:bodyPr>
          <a:lstStyle/>
          <a:p>
            <a:pPr algn="l"/>
            <a:r>
              <a:rPr sz="1000" b="1">
                <a:solidFill>
                  <a:srgbClr val="FDBA74"/>
                </a:solidFill>
                <a:latin typeface="Consolas"/>
              </a:rPr>
              <a:t>}</a:t>
            </a:r>
          </a:p>
        </p:txBody>
      </p:sp>
      <p:sp>
        <p:nvSpPr>
          <p:cNvPr id="28" name="a2ud400_sch27"/>
          <p:cNvSpPr txBox="1"/>
          <p:nvPr/>
        </p:nvSpPr>
        <p:spPr>
          <a:xfrm>
            <a:off x="5138928" y="3108960"/>
            <a:ext cx="3346704" cy="640080"/>
          </a:xfrm>
          <a:prstGeom prst="rect">
            <a:avLst/>
          </a:prstGeom>
          <a:noFill/>
        </p:spPr>
        <p:txBody>
          <a:bodyPr wrap="square" lIns="0" tIns="0" rIns="0" bIns="0" anchor="t">
            <a:spAutoFit/>
          </a:bodyPr>
          <a:lstStyle/>
          <a:p>
            <a:pPr algn="l"/>
            <a:r>
              <a:rPr sz="900" b="0">
                <a:solidFill>
                  <a:srgbClr val="44403C"/>
                </a:solidFill>
                <a:latin typeface="Segoe UI"/>
              </a:rPr>
              <a:t>A description of a kind of event - something you define and manage, like a thing.</a:t>
            </a:r>
          </a:p>
        </p:txBody>
      </p:sp>
      <p:sp>
        <p:nvSpPr>
          <p:cNvPr id="29" name="a3u_nb28"/>
          <p:cNvSpPr/>
          <p:nvPr/>
        </p:nvSpPr>
        <p:spPr>
          <a:xfrm>
            <a:off x="457200" y="3977639"/>
            <a:ext cx="8229600" cy="548640"/>
          </a:xfrm>
          <a:prstGeom prst="roundRect">
            <a:avLst>
              <a:gd name="adj" fmla="val 1333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3u_nacc29"/>
          <p:cNvSpPr/>
          <p:nvPr/>
        </p:nvSpPr>
        <p:spPr>
          <a:xfrm>
            <a:off x="457200" y="3977639"/>
            <a:ext cx="54864" cy="5486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3u_nt30"/>
          <p:cNvSpPr txBox="1"/>
          <p:nvPr/>
        </p:nvSpPr>
        <p:spPr>
          <a:xfrm>
            <a:off x="658368" y="3977639"/>
            <a:ext cx="7827264" cy="548640"/>
          </a:xfrm>
          <a:prstGeom prst="rect">
            <a:avLst/>
          </a:prstGeom>
          <a:noFill/>
        </p:spPr>
        <p:txBody>
          <a:bodyPr wrap="square" lIns="0" tIns="0" rIns="0" bIns="0" anchor="ctr">
            <a:spAutoFit/>
          </a:bodyPr>
          <a:lstStyle/>
          <a:p>
            <a:pPr algn="l"/>
            <a:r>
              <a:rPr sz="1000" b="1">
                <a:solidFill>
                  <a:srgbClr val="C2410C"/>
                </a:solidFill>
                <a:latin typeface="Segoe UI"/>
              </a:rPr>
              <a:t>KEY  </a:t>
            </a:r>
            <a:r>
              <a:rPr sz="1000" b="0">
                <a:solidFill>
                  <a:srgbClr val="44403C"/>
                </a:solidFill>
                <a:latin typeface="Segoe UI"/>
              </a:rPr>
              <a:t>Events first - but Kafka still supports 'thing' thinking where it helps.</a:t>
            </a:r>
          </a:p>
        </p:txBody>
      </p:sp>
      <p:sp>
        <p:nvSpPr>
          <p:cNvPr id="32" name="ft31"/>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08</a:t>
            </a:r>
          </a:p>
        </p:txBody>
      </p:sp>
      <p:sp>
        <p:nvSpPr>
          <p:cNvPr id="33" name="ft32"/>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ft33"/>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Introduction</a:t>
            </a:r>
          </a:p>
        </p:txBody>
      </p:sp>
      <p:sp>
        <p:nvSpPr>
          <p:cNvPr id="35" name="ft34"/>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1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20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30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6" presetID="2" presetClass="entr" presetSubtype="4"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ppt_y+0.1"/>
                                          </p:val>
                                        </p:tav>
                                        <p:tav tm="100000">
                                          <p:val>
                                            <p:strVal val="#ppt_y"/>
                                          </p:val>
                                        </p:tav>
                                      </p:tavLst>
                                    </p:anim>
                                    <p:animEffect transition="in" filter="fade">
                                      <p:cBhvr>
                                        <p:cTn id="45" dur="500"/>
                                        <p:tgtEl>
                                          <p:spTgt spid="18"/>
                                        </p:tgtEl>
                                      </p:cBhvr>
                                    </p:animEffect>
                                  </p:childTnLst>
                                </p:cTn>
                              </p:par>
                              <p:par>
                                <p:cTn id="51" presetID="2" presetClass="entr" presetSubtype="4"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 calcmode="lin" valueType="num">
                                      <p:cBhvr additive="base">
                                        <p:cTn id="48" dur="500" fill="hold"/>
                                        <p:tgtEl>
                                          <p:spTgt spid="19"/>
                                        </p:tgtEl>
                                        <p:attrNameLst>
                                          <p:attrName>ppt_x</p:attrName>
                                        </p:attrNameLst>
                                      </p:cBhvr>
                                      <p:tavLst>
                                        <p:tav tm="0">
                                          <p:val>
                                            <p:strVal val="#ppt_x"/>
                                          </p:val>
                                        </p:tav>
                                        <p:tav tm="100000">
                                          <p:val>
                                            <p:strVal val="#ppt_x"/>
                                          </p:val>
                                        </p:tav>
                                      </p:tavLst>
                                    </p:anim>
                                    <p:anim calcmode="lin" valueType="num">
                                      <p:cBhvr additive="base">
                                        <p:cTn id="49" dur="500" fill="hold"/>
                                        <p:tgtEl>
                                          <p:spTgt spid="19"/>
                                        </p:tgtEl>
                                        <p:attrNameLst>
                                          <p:attrName>ppt_y</p:attrName>
                                        </p:attrNameLst>
                                      </p:cBhvr>
                                      <p:tavLst>
                                        <p:tav tm="0">
                                          <p:val>
                                            <p:strVal val="#ppt_y+0.1"/>
                                          </p:val>
                                        </p:tav>
                                        <p:tav tm="100000">
                                          <p:val>
                                            <p:strVal val="#ppt_y"/>
                                          </p:val>
                                        </p:tav>
                                      </p:tavLst>
                                    </p:anim>
                                    <p:animEffect transition="in" filter="fade">
                                      <p:cBhvr>
                                        <p:cTn id="50" dur="500"/>
                                        <p:tgtEl>
                                          <p:spTgt spid="19"/>
                                        </p:tgtEl>
                                      </p:cBhvr>
                                    </p:animEffect>
                                  </p:childTnLst>
                                </p:cTn>
                              </p:par>
                              <p:par>
                                <p:cTn id="56" presetID="2" presetClass="entr" presetSubtype="4"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fill="hold"/>
                                        <p:tgtEl>
                                          <p:spTgt spid="20"/>
                                        </p:tgtEl>
                                        <p:attrNameLst>
                                          <p:attrName>ppt_x</p:attrName>
                                        </p:attrNameLst>
                                      </p:cBhvr>
                                      <p:tavLst>
                                        <p:tav tm="0">
                                          <p:val>
                                            <p:strVal val="#ppt_x"/>
                                          </p:val>
                                        </p:tav>
                                        <p:tav tm="100000">
                                          <p:val>
                                            <p:strVal val="#ppt_x"/>
                                          </p:val>
                                        </p:tav>
                                      </p:tavLst>
                                    </p:anim>
                                    <p:anim calcmode="lin" valueType="num">
                                      <p:cBhvr additive="base">
                                        <p:cTn id="54" dur="500" fill="hold"/>
                                        <p:tgtEl>
                                          <p:spTgt spid="20"/>
                                        </p:tgtEl>
                                        <p:attrNameLst>
                                          <p:attrName>ppt_y</p:attrName>
                                        </p:attrNameLst>
                                      </p:cBhvr>
                                      <p:tavLst>
                                        <p:tav tm="0">
                                          <p:val>
                                            <p:strVal val="#ppt_y+0.1"/>
                                          </p:val>
                                        </p:tav>
                                        <p:tav tm="100000">
                                          <p:val>
                                            <p:strVal val="#ppt_y"/>
                                          </p:val>
                                        </p:tav>
                                      </p:tavLst>
                                    </p:anim>
                                    <p:animEffect transition="in" filter="fade">
                                      <p:cBhvr>
                                        <p:cTn id="55" dur="500"/>
                                        <p:tgtEl>
                                          <p:spTgt spid="20"/>
                                        </p:tgtEl>
                                      </p:cBhvr>
                                    </p:animEffect>
                                  </p:childTnLst>
                                </p:cTn>
                              </p:par>
                              <p:par>
                                <p:cTn id="61" presetID="2" presetClass="entr" presetSubtype="4"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fill="hold"/>
                                        <p:tgtEl>
                                          <p:spTgt spid="21"/>
                                        </p:tgtEl>
                                        <p:attrNameLst>
                                          <p:attrName>ppt_x</p:attrName>
                                        </p:attrNameLst>
                                      </p:cBhvr>
                                      <p:tavLst>
                                        <p:tav tm="0">
                                          <p:val>
                                            <p:strVal val="#ppt_x"/>
                                          </p:val>
                                        </p:tav>
                                        <p:tav tm="100000">
                                          <p:val>
                                            <p:strVal val="#ppt_x"/>
                                          </p:val>
                                        </p:tav>
                                      </p:tavLst>
                                    </p:anim>
                                    <p:anim calcmode="lin" valueType="num">
                                      <p:cBhvr additive="base">
                                        <p:cTn id="59" dur="500" fill="hold"/>
                                        <p:tgtEl>
                                          <p:spTgt spid="21"/>
                                        </p:tgtEl>
                                        <p:attrNameLst>
                                          <p:attrName>ppt_y</p:attrName>
                                        </p:attrNameLst>
                                      </p:cBhvr>
                                      <p:tavLst>
                                        <p:tav tm="0">
                                          <p:val>
                                            <p:strVal val="#ppt_y+0.1"/>
                                          </p:val>
                                        </p:tav>
                                        <p:tav tm="100000">
                                          <p:val>
                                            <p:strVal val="#ppt_y"/>
                                          </p:val>
                                        </p:tav>
                                      </p:tavLst>
                                    </p:anim>
                                    <p:animEffect transition="in" filter="fade">
                                      <p:cBhvr>
                                        <p:cTn id="60" dur="500"/>
                                        <p:tgtEl>
                                          <p:spTgt spid="21"/>
                                        </p:tgtEl>
                                      </p:cBhvr>
                                    </p:animEffect>
                                  </p:childTnLst>
                                </p:cTn>
                              </p:par>
                              <p:par>
                                <p:cTn id="64"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7" presetID="22" presetClass="entr" presetSubtype="8"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wipe(left)">
                                      <p:cBhvr>
                                        <p:cTn id="66" dur="500"/>
                                        <p:tgtEl>
                                          <p:spTgt spid="23"/>
                                        </p:tgtEl>
                                      </p:cBhvr>
                                    </p:animEffect>
                                  </p:childTnLst>
                                </p:cTn>
                              </p:par>
                              <p:par>
                                <p:cTn id="70" presetID="22" presetClass="entr" presetSubtype="8" fill="hold" grpId="0" nodeType="withEffect">
                                  <p:stCondLst>
                                    <p:cond delay="80"/>
                                  </p:stCondLst>
                                  <p:childTnLst>
                                    <p:set>
                                      <p:cBhvr>
                                        <p:cTn id="68" dur="1" fill="hold">
                                          <p:stCondLst>
                                            <p:cond delay="0"/>
                                          </p:stCondLst>
                                        </p:cTn>
                                        <p:tgtEl>
                                          <p:spTgt spid="24"/>
                                        </p:tgtEl>
                                        <p:attrNameLst>
                                          <p:attrName>style.visibility</p:attrName>
                                        </p:attrNameLst>
                                      </p:cBhvr>
                                      <p:to>
                                        <p:strVal val="visible"/>
                                      </p:to>
                                    </p:set>
                                    <p:animEffect transition="in" filter="wipe(left)">
                                      <p:cBhvr>
                                        <p:cTn id="69" dur="500"/>
                                        <p:tgtEl>
                                          <p:spTgt spid="24"/>
                                        </p:tgtEl>
                                      </p:cBhvr>
                                    </p:animEffect>
                                  </p:childTnLst>
                                </p:cTn>
                              </p:par>
                              <p:par>
                                <p:cTn id="73" presetID="22" presetClass="entr" presetSubtype="8" fill="hold" grpId="0" nodeType="withEffect">
                                  <p:stCondLst>
                                    <p:cond delay="160"/>
                                  </p:stCondLst>
                                  <p:childTnLst>
                                    <p:set>
                                      <p:cBhvr>
                                        <p:cTn id="71" dur="1" fill="hold">
                                          <p:stCondLst>
                                            <p:cond delay="0"/>
                                          </p:stCondLst>
                                        </p:cTn>
                                        <p:tgtEl>
                                          <p:spTgt spid="25"/>
                                        </p:tgtEl>
                                        <p:attrNameLst>
                                          <p:attrName>style.visibility</p:attrName>
                                        </p:attrNameLst>
                                      </p:cBhvr>
                                      <p:to>
                                        <p:strVal val="visible"/>
                                      </p:to>
                                    </p:set>
                                    <p:animEffect transition="in" filter="wipe(left)">
                                      <p:cBhvr>
                                        <p:cTn id="72" dur="500"/>
                                        <p:tgtEl>
                                          <p:spTgt spid="25"/>
                                        </p:tgtEl>
                                      </p:cBhvr>
                                    </p:animEffect>
                                  </p:childTnLst>
                                </p:cTn>
                              </p:par>
                              <p:par>
                                <p:cTn id="76" presetID="22" presetClass="entr" presetSubtype="8" fill="hold" grpId="0" nodeType="withEffect">
                                  <p:stCondLst>
                                    <p:cond delay="240"/>
                                  </p:stCondLst>
                                  <p:childTnLst>
                                    <p:set>
                                      <p:cBhvr>
                                        <p:cTn id="74" dur="1" fill="hold">
                                          <p:stCondLst>
                                            <p:cond delay="0"/>
                                          </p:stCondLst>
                                        </p:cTn>
                                        <p:tgtEl>
                                          <p:spTgt spid="26"/>
                                        </p:tgtEl>
                                        <p:attrNameLst>
                                          <p:attrName>style.visibility</p:attrName>
                                        </p:attrNameLst>
                                      </p:cBhvr>
                                      <p:to>
                                        <p:strVal val="visible"/>
                                      </p:to>
                                    </p:set>
                                    <p:animEffect transition="in" filter="wipe(left)">
                                      <p:cBhvr>
                                        <p:cTn id="75" dur="500"/>
                                        <p:tgtEl>
                                          <p:spTgt spid="26"/>
                                        </p:tgtEl>
                                      </p:cBhvr>
                                    </p:animEffect>
                                  </p:childTnLst>
                                </p:cTn>
                              </p:par>
                              <p:par>
                                <p:cTn id="79" presetID="22" presetClass="entr" presetSubtype="8" fill="hold" grpId="0" nodeType="withEffect">
                                  <p:stCondLst>
                                    <p:cond delay="320"/>
                                  </p:stCondLst>
                                  <p:childTnLst>
                                    <p:set>
                                      <p:cBhvr>
                                        <p:cTn id="77" dur="1" fill="hold">
                                          <p:stCondLst>
                                            <p:cond delay="0"/>
                                          </p:stCondLst>
                                        </p:cTn>
                                        <p:tgtEl>
                                          <p:spTgt spid="27"/>
                                        </p:tgtEl>
                                        <p:attrNameLst>
                                          <p:attrName>style.visibility</p:attrName>
                                        </p:attrNameLst>
                                      </p:cBhvr>
                                      <p:to>
                                        <p:strVal val="visible"/>
                                      </p:to>
                                    </p:set>
                                    <p:animEffect transition="in" filter="wipe(left)">
                                      <p:cBhvr>
                                        <p:cTn id="78" dur="500"/>
                                        <p:tgtEl>
                                          <p:spTgt spid="27"/>
                                        </p:tgtEl>
                                      </p:cBhvr>
                                    </p:animEffect>
                                  </p:childTnLst>
                                </p:cTn>
                              </p:par>
                              <p:par>
                                <p:cTn id="84" presetID="2" presetClass="entr" presetSubtype="4" fill="hold" grpId="0" nodeType="withEffect">
                                  <p:stCondLst>
                                    <p:cond delay="400"/>
                                  </p:stCondLst>
                                  <p:childTnLst>
                                    <p:set>
                                      <p:cBhvr>
                                        <p:cTn id="80" dur="1" fill="hold">
                                          <p:stCondLst>
                                            <p:cond delay="0"/>
                                          </p:stCondLst>
                                        </p:cTn>
                                        <p:tgtEl>
                                          <p:spTgt spid="28"/>
                                        </p:tgtEl>
                                        <p:attrNameLst>
                                          <p:attrName>style.visibility</p:attrName>
                                        </p:attrNameLst>
                                      </p:cBhvr>
                                      <p:to>
                                        <p:strVal val="visible"/>
                                      </p:to>
                                    </p:set>
                                    <p:anim calcmode="lin" valueType="num">
                                      <p:cBhvr additive="base">
                                        <p:cTn id="81" dur="500" fill="hold"/>
                                        <p:tgtEl>
                                          <p:spTgt spid="28"/>
                                        </p:tgtEl>
                                        <p:attrNameLst>
                                          <p:attrName>ppt_x</p:attrName>
                                        </p:attrNameLst>
                                      </p:cBhvr>
                                      <p:tavLst>
                                        <p:tav tm="0">
                                          <p:val>
                                            <p:strVal val="#ppt_x"/>
                                          </p:val>
                                        </p:tav>
                                        <p:tav tm="100000">
                                          <p:val>
                                            <p:strVal val="#ppt_x"/>
                                          </p:val>
                                        </p:tav>
                                      </p:tavLst>
                                    </p:anim>
                                    <p:anim calcmode="lin" valueType="num">
                                      <p:cBhvr additive="base">
                                        <p:cTn id="82" dur="500" fill="hold"/>
                                        <p:tgtEl>
                                          <p:spTgt spid="28"/>
                                        </p:tgtEl>
                                        <p:attrNameLst>
                                          <p:attrName>ppt_y</p:attrName>
                                        </p:attrNameLst>
                                      </p:cBhvr>
                                      <p:tavLst>
                                        <p:tav tm="0">
                                          <p:val>
                                            <p:strVal val="#ppt_y+0.1"/>
                                          </p:val>
                                        </p:tav>
                                        <p:tav tm="100000">
                                          <p:val>
                                            <p:strVal val="#ppt_y"/>
                                          </p:val>
                                        </p:tav>
                                      </p:tavLst>
                                    </p:anim>
                                    <p:animEffect transition="in" filter="fade">
                                      <p:cBhvr>
                                        <p:cTn id="83" dur="500"/>
                                        <p:tgtEl>
                                          <p:spTgt spid="28"/>
                                        </p:tgtEl>
                                      </p:cBhvr>
                                    </p:animEffect>
                                  </p:childTnLst>
                                </p:cTn>
                              </p:par>
                            </p:childTnLst>
                          </p:cTn>
                        </p:par>
                      </p:childTnLst>
                    </p:cTn>
                  </p:par>
                  <p:par>
                    <p:cTn id="85" fill="hold">
                      <p:stCondLst>
                        <p:cond delay="indefinite"/>
                      </p:stCondLst>
                      <p:childTnLst>
                        <p:par>
                          <p:cTn id="86" fill="hold">
                            <p:stCondLst>
                              <p:cond delay="0"/>
                            </p:stCondLst>
                            <p:childTnLst>
                              <p:par>
                                <p:cTn id="91" presetID="2" presetClass="entr" presetSubtype="4" fill="hold" grpId="0" nodeType="clickEffect">
                                  <p:stCondLst>
                                    <p:cond delay="0"/>
                                  </p:stCondLst>
                                  <p:childTnLst>
                                    <p:set>
                                      <p:cBhvr>
                                        <p:cTn id="87" dur="1" fill="hold">
                                          <p:stCondLst>
                                            <p:cond delay="0"/>
                                          </p:stCondLst>
                                        </p:cTn>
                                        <p:tgtEl>
                                          <p:spTgt spid="29"/>
                                        </p:tgtEl>
                                        <p:attrNameLst>
                                          <p:attrName>style.visibility</p:attrName>
                                        </p:attrNameLst>
                                      </p:cBhvr>
                                      <p:to>
                                        <p:strVal val="visible"/>
                                      </p:to>
                                    </p:set>
                                    <p:anim calcmode="lin" valueType="num">
                                      <p:cBhvr additive="base">
                                        <p:cTn id="88" dur="500" fill="hold"/>
                                        <p:tgtEl>
                                          <p:spTgt spid="29"/>
                                        </p:tgtEl>
                                        <p:attrNameLst>
                                          <p:attrName>ppt_x</p:attrName>
                                        </p:attrNameLst>
                                      </p:cBhvr>
                                      <p:tavLst>
                                        <p:tav tm="0">
                                          <p:val>
                                            <p:strVal val="#ppt_x"/>
                                          </p:val>
                                        </p:tav>
                                        <p:tav tm="100000">
                                          <p:val>
                                            <p:strVal val="#ppt_x"/>
                                          </p:val>
                                        </p:tav>
                                      </p:tavLst>
                                    </p:anim>
                                    <p:anim calcmode="lin" valueType="num">
                                      <p:cBhvr additive="base">
                                        <p:cTn id="89" dur="500" fill="hold"/>
                                        <p:tgtEl>
                                          <p:spTgt spid="29"/>
                                        </p:tgtEl>
                                        <p:attrNameLst>
                                          <p:attrName>ppt_y</p:attrName>
                                        </p:attrNameLst>
                                      </p:cBhvr>
                                      <p:tavLst>
                                        <p:tav tm="0">
                                          <p:val>
                                            <p:strVal val="#ppt_y+0.1"/>
                                          </p:val>
                                        </p:tav>
                                        <p:tav tm="100000">
                                          <p:val>
                                            <p:strVal val="#ppt_y"/>
                                          </p:val>
                                        </p:tav>
                                      </p:tavLst>
                                    </p:anim>
                                    <p:animEffect transition="in" filter="fade">
                                      <p:cBhvr>
                                        <p:cTn id="90" dur="500"/>
                                        <p:tgtEl>
                                          <p:spTgt spid="29"/>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30"/>
                                        </p:tgtEl>
                                        <p:attrNameLst>
                                          <p:attrName>style.visibility</p:attrName>
                                        </p:attrNameLst>
                                      </p:cBhvr>
                                      <p:to>
                                        <p:strVal val="visible"/>
                                      </p:to>
                                    </p:set>
                                    <p:anim calcmode="lin" valueType="num">
                                      <p:cBhvr additive="base">
                                        <p:cTn id="93" dur="500" fill="hold"/>
                                        <p:tgtEl>
                                          <p:spTgt spid="30"/>
                                        </p:tgtEl>
                                        <p:attrNameLst>
                                          <p:attrName>ppt_x</p:attrName>
                                        </p:attrNameLst>
                                      </p:cBhvr>
                                      <p:tavLst>
                                        <p:tav tm="0">
                                          <p:val>
                                            <p:strVal val="#ppt_x"/>
                                          </p:val>
                                        </p:tav>
                                        <p:tav tm="100000">
                                          <p:val>
                                            <p:strVal val="#ppt_x"/>
                                          </p:val>
                                        </p:tav>
                                      </p:tavLst>
                                    </p:anim>
                                    <p:anim calcmode="lin" valueType="num">
                                      <p:cBhvr additive="base">
                                        <p:cTn id="94" dur="500" fill="hold"/>
                                        <p:tgtEl>
                                          <p:spTgt spid="30"/>
                                        </p:tgtEl>
                                        <p:attrNameLst>
                                          <p:attrName>ppt_y</p:attrName>
                                        </p:attrNameLst>
                                      </p:cBhvr>
                                      <p:tavLst>
                                        <p:tav tm="0">
                                          <p:val>
                                            <p:strVal val="#ppt_y+0.1"/>
                                          </p:val>
                                        </p:tav>
                                        <p:tav tm="100000">
                                          <p:val>
                                            <p:strVal val="#ppt_y"/>
                                          </p:val>
                                        </p:tav>
                                      </p:tavLst>
                                    </p:anim>
                                    <p:animEffect transition="in" filter="fade">
                                      <p:cBhvr>
                                        <p:cTn id="95" dur="500"/>
                                        <p:tgtEl>
                                          <p:spTgt spid="30"/>
                                        </p:tgtEl>
                                      </p:cBhvr>
                                    </p:animEffect>
                                  </p:childTnLst>
                                </p:cTn>
                              </p:par>
                              <p:par>
                                <p:cTn id="101" presetID="2" presetClass="entr" presetSubtype="4" fill="hold" grpId="0" nodeType="withEffect">
                                  <p:stCondLst>
                                    <p:cond delay="0"/>
                                  </p:stCondLst>
                                  <p:childTnLst>
                                    <p:set>
                                      <p:cBhvr>
                                        <p:cTn id="97" dur="1" fill="hold">
                                          <p:stCondLst>
                                            <p:cond delay="0"/>
                                          </p:stCondLst>
                                        </p:cTn>
                                        <p:tgtEl>
                                          <p:spTgt spid="31"/>
                                        </p:tgtEl>
                                        <p:attrNameLst>
                                          <p:attrName>style.visibility</p:attrName>
                                        </p:attrNameLst>
                                      </p:cBhvr>
                                      <p:to>
                                        <p:strVal val="visible"/>
                                      </p:to>
                                    </p:set>
                                    <p:anim calcmode="lin" valueType="num">
                                      <p:cBhvr additive="base">
                                        <p:cTn id="98" dur="500" fill="hold"/>
                                        <p:tgtEl>
                                          <p:spTgt spid="31"/>
                                        </p:tgtEl>
                                        <p:attrNameLst>
                                          <p:attrName>ppt_x</p:attrName>
                                        </p:attrNameLst>
                                      </p:cBhvr>
                                      <p:tavLst>
                                        <p:tav tm="0">
                                          <p:val>
                                            <p:strVal val="#ppt_x"/>
                                          </p:val>
                                        </p:tav>
                                        <p:tav tm="100000">
                                          <p:val>
                                            <p:strVal val="#ppt_x"/>
                                          </p:val>
                                        </p:tav>
                                      </p:tavLst>
                                    </p:anim>
                                    <p:anim calcmode="lin" valueType="num">
                                      <p:cBhvr additive="base">
                                        <p:cTn id="99" dur="500" fill="hold"/>
                                        <p:tgtEl>
                                          <p:spTgt spid="31"/>
                                        </p:tgtEl>
                                        <p:attrNameLst>
                                          <p:attrName>ppt_y</p:attrName>
                                        </p:attrNameLst>
                                      </p:cBhvr>
                                      <p:tavLst>
                                        <p:tav tm="0">
                                          <p:val>
                                            <p:strVal val="#ppt_y+0.1"/>
                                          </p:val>
                                        </p:tav>
                                        <p:tav tm="100000">
                                          <p:val>
                                            <p:strVal val="#ppt_y"/>
                                          </p:val>
                                        </p:tav>
                                      </p:tavLst>
                                    </p:anim>
                                    <p:animEffect transition="in" filter="fade">
                                      <p:cBhvr>
                                        <p:cTn id="10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What This Course Covers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All the mechanics of Kafka</a:t>
            </a:r>
          </a:p>
        </p:txBody>
      </p:sp>
      <p:sp>
        <p:nvSpPr>
          <p:cNvPr id="11" name="a1u_card10"/>
          <p:cNvSpPr/>
          <p:nvPr/>
        </p:nvSpPr>
        <p:spPr>
          <a:xfrm>
            <a:off x="457200" y="1280160"/>
            <a:ext cx="2615184" cy="1097280"/>
          </a:xfrm>
          <a:prstGeom prst="roundRect">
            <a:avLst>
              <a:gd name="adj" fmla="val 1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80160"/>
            <a:ext cx="2615184"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tt12"/>
          <p:cNvSpPr txBox="1"/>
          <p:nvPr/>
        </p:nvSpPr>
        <p:spPr>
          <a:xfrm>
            <a:off x="603504" y="1389888"/>
            <a:ext cx="2340864" cy="256032"/>
          </a:xfrm>
          <a:prstGeom prst="rect">
            <a:avLst/>
          </a:prstGeom>
          <a:noFill/>
        </p:spPr>
        <p:txBody>
          <a:bodyPr wrap="square" lIns="0" tIns="0" rIns="0" bIns="0" anchor="ctr">
            <a:spAutoFit/>
          </a:bodyPr>
          <a:lstStyle/>
          <a:p>
            <a:pPr algn="l"/>
            <a:r>
              <a:rPr sz="1150" b="1">
                <a:solidFill>
                  <a:srgbClr val="1C1917"/>
                </a:solidFill>
                <a:latin typeface="Segoe UI"/>
              </a:rPr>
              <a:t>Putting data in</a:t>
            </a:r>
          </a:p>
        </p:txBody>
      </p:sp>
      <p:sp>
        <p:nvSpPr>
          <p:cNvPr id="14" name="a1ud60_tb13"/>
          <p:cNvSpPr txBox="1"/>
          <p:nvPr/>
        </p:nvSpPr>
        <p:spPr>
          <a:xfrm>
            <a:off x="603504" y="1682495"/>
            <a:ext cx="2340864" cy="640080"/>
          </a:xfrm>
          <a:prstGeom prst="rect">
            <a:avLst/>
          </a:prstGeom>
          <a:noFill/>
        </p:spPr>
        <p:txBody>
          <a:bodyPr wrap="square" lIns="0" tIns="0" rIns="0" bIns="0" anchor="t">
            <a:spAutoFit/>
          </a:bodyPr>
          <a:lstStyle/>
          <a:p>
            <a:pPr algn="l"/>
            <a:r>
              <a:rPr sz="950" b="0">
                <a:solidFill>
                  <a:srgbClr val="44403C"/>
                </a:solidFill>
                <a:latin typeface="Segoe UI"/>
              </a:rPr>
              <a:t>writing events into Kafka</a:t>
            </a:r>
          </a:p>
        </p:txBody>
      </p:sp>
      <p:sp>
        <p:nvSpPr>
          <p:cNvPr id="15" name="a1u_card14"/>
          <p:cNvSpPr/>
          <p:nvPr/>
        </p:nvSpPr>
        <p:spPr>
          <a:xfrm>
            <a:off x="3264408" y="1280160"/>
            <a:ext cx="2615184" cy="1097280"/>
          </a:xfrm>
          <a:prstGeom prst="roundRect">
            <a:avLst>
              <a:gd name="adj" fmla="val 1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_acc15"/>
          <p:cNvSpPr/>
          <p:nvPr/>
        </p:nvSpPr>
        <p:spPr>
          <a:xfrm>
            <a:off x="3264408" y="1280160"/>
            <a:ext cx="2615184"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_tt16"/>
          <p:cNvSpPr txBox="1"/>
          <p:nvPr/>
        </p:nvSpPr>
        <p:spPr>
          <a:xfrm>
            <a:off x="3410712" y="1389888"/>
            <a:ext cx="2340864" cy="256032"/>
          </a:xfrm>
          <a:prstGeom prst="rect">
            <a:avLst/>
          </a:prstGeom>
          <a:noFill/>
        </p:spPr>
        <p:txBody>
          <a:bodyPr wrap="square" lIns="0" tIns="0" rIns="0" bIns="0" anchor="ctr">
            <a:spAutoFit/>
          </a:bodyPr>
          <a:lstStyle/>
          <a:p>
            <a:pPr algn="l"/>
            <a:r>
              <a:rPr sz="1150" b="1">
                <a:solidFill>
                  <a:srgbClr val="1C1917"/>
                </a:solidFill>
                <a:latin typeface="Segoe UI"/>
              </a:rPr>
              <a:t>Reading data out</a:t>
            </a:r>
          </a:p>
        </p:txBody>
      </p:sp>
      <p:sp>
        <p:nvSpPr>
          <p:cNvPr id="18" name="a1ud60_tb17"/>
          <p:cNvSpPr txBox="1"/>
          <p:nvPr/>
        </p:nvSpPr>
        <p:spPr>
          <a:xfrm>
            <a:off x="3410712" y="1682495"/>
            <a:ext cx="2340864" cy="640080"/>
          </a:xfrm>
          <a:prstGeom prst="rect">
            <a:avLst/>
          </a:prstGeom>
          <a:noFill/>
        </p:spPr>
        <p:txBody>
          <a:bodyPr wrap="square" lIns="0" tIns="0" rIns="0" bIns="0" anchor="t">
            <a:spAutoFit/>
          </a:bodyPr>
          <a:lstStyle/>
          <a:p>
            <a:pPr algn="l"/>
            <a:r>
              <a:rPr sz="950" b="0">
                <a:solidFill>
                  <a:srgbClr val="44403C"/>
                </a:solidFill>
                <a:latin typeface="Segoe UI"/>
              </a:rPr>
              <a:t>getting events back out of Kafka</a:t>
            </a:r>
          </a:p>
        </p:txBody>
      </p:sp>
      <p:sp>
        <p:nvSpPr>
          <p:cNvPr id="19" name="a1u_card18"/>
          <p:cNvSpPr/>
          <p:nvPr/>
        </p:nvSpPr>
        <p:spPr>
          <a:xfrm>
            <a:off x="6071616" y="1280160"/>
            <a:ext cx="2615184" cy="1097280"/>
          </a:xfrm>
          <a:prstGeom prst="roundRect">
            <a:avLst>
              <a:gd name="adj" fmla="val 1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_acc19"/>
          <p:cNvSpPr/>
          <p:nvPr/>
        </p:nvSpPr>
        <p:spPr>
          <a:xfrm>
            <a:off x="6071616" y="1280160"/>
            <a:ext cx="2615184" cy="457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_tt20"/>
          <p:cNvSpPr txBox="1"/>
          <p:nvPr/>
        </p:nvSpPr>
        <p:spPr>
          <a:xfrm>
            <a:off x="6217920" y="1389888"/>
            <a:ext cx="2340864" cy="256032"/>
          </a:xfrm>
          <a:prstGeom prst="rect">
            <a:avLst/>
          </a:prstGeom>
          <a:noFill/>
        </p:spPr>
        <p:txBody>
          <a:bodyPr wrap="square" lIns="0" tIns="0" rIns="0" bIns="0" anchor="ctr">
            <a:spAutoFit/>
          </a:bodyPr>
          <a:lstStyle/>
          <a:p>
            <a:pPr algn="l"/>
            <a:r>
              <a:rPr sz="1150" b="1">
                <a:solidFill>
                  <a:srgbClr val="1C1917"/>
                </a:solidFill>
                <a:latin typeface="Segoe UI"/>
              </a:rPr>
              <a:t>How events are structured</a:t>
            </a:r>
          </a:p>
        </p:txBody>
      </p:sp>
      <p:sp>
        <p:nvSpPr>
          <p:cNvPr id="22" name="a1ud60_tb21"/>
          <p:cNvSpPr txBox="1"/>
          <p:nvPr/>
        </p:nvSpPr>
        <p:spPr>
          <a:xfrm>
            <a:off x="6217920" y="1682495"/>
            <a:ext cx="2340864" cy="640080"/>
          </a:xfrm>
          <a:prstGeom prst="rect">
            <a:avLst/>
          </a:prstGeom>
          <a:noFill/>
        </p:spPr>
        <p:txBody>
          <a:bodyPr wrap="square" lIns="0" tIns="0" rIns="0" bIns="0" anchor="t">
            <a:spAutoFit/>
          </a:bodyPr>
          <a:lstStyle/>
          <a:p>
            <a:pPr algn="l"/>
            <a:r>
              <a:rPr sz="950" b="0">
                <a:solidFill>
                  <a:srgbClr val="44403C"/>
                </a:solidFill>
                <a:latin typeface="Segoe UI"/>
              </a:rPr>
              <a:t>what an event looks like inside Kafka</a:t>
            </a:r>
          </a:p>
        </p:txBody>
      </p:sp>
      <p:sp>
        <p:nvSpPr>
          <p:cNvPr id="23" name="a2u_card22"/>
          <p:cNvSpPr/>
          <p:nvPr/>
        </p:nvSpPr>
        <p:spPr>
          <a:xfrm>
            <a:off x="457200" y="2514600"/>
            <a:ext cx="4023360" cy="1097280"/>
          </a:xfrm>
          <a:prstGeom prst="roundRect">
            <a:avLst>
              <a:gd name="adj" fmla="val 1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2u_acc23"/>
          <p:cNvSpPr/>
          <p:nvPr/>
        </p:nvSpPr>
        <p:spPr>
          <a:xfrm>
            <a:off x="457200" y="2514600"/>
            <a:ext cx="4023360"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2u_tt24"/>
          <p:cNvSpPr txBox="1"/>
          <p:nvPr/>
        </p:nvSpPr>
        <p:spPr>
          <a:xfrm>
            <a:off x="603504" y="2624328"/>
            <a:ext cx="3749040" cy="256032"/>
          </a:xfrm>
          <a:prstGeom prst="rect">
            <a:avLst/>
          </a:prstGeom>
          <a:noFill/>
        </p:spPr>
        <p:txBody>
          <a:bodyPr wrap="square" lIns="0" tIns="0" rIns="0" bIns="0" anchor="ctr">
            <a:spAutoFit/>
          </a:bodyPr>
          <a:lstStyle/>
          <a:p>
            <a:pPr algn="l"/>
            <a:r>
              <a:rPr sz="1150" b="1">
                <a:solidFill>
                  <a:srgbClr val="1C1917"/>
                </a:solidFill>
                <a:latin typeface="Segoe UI"/>
              </a:rPr>
              <a:t>Storage and replication</a:t>
            </a:r>
          </a:p>
        </p:txBody>
      </p:sp>
      <p:sp>
        <p:nvSpPr>
          <p:cNvPr id="26" name="a2ud60_tb25"/>
          <p:cNvSpPr txBox="1"/>
          <p:nvPr/>
        </p:nvSpPr>
        <p:spPr>
          <a:xfrm>
            <a:off x="603504" y="2916936"/>
            <a:ext cx="3749040" cy="640080"/>
          </a:xfrm>
          <a:prstGeom prst="rect">
            <a:avLst/>
          </a:prstGeom>
          <a:noFill/>
        </p:spPr>
        <p:txBody>
          <a:bodyPr wrap="square" lIns="0" tIns="0" rIns="0" bIns="0" anchor="t">
            <a:spAutoFit/>
          </a:bodyPr>
          <a:lstStyle/>
          <a:p>
            <a:pPr algn="l"/>
            <a:r>
              <a:rPr sz="950" b="0">
                <a:solidFill>
                  <a:srgbClr val="44403C"/>
                </a:solidFill>
                <a:latin typeface="Segoe UI"/>
              </a:rPr>
              <a:t>how Kafka keeps events, and keeps copies of them</a:t>
            </a:r>
          </a:p>
        </p:txBody>
      </p:sp>
      <p:sp>
        <p:nvSpPr>
          <p:cNvPr id="27" name="a2u_card26"/>
          <p:cNvSpPr/>
          <p:nvPr/>
        </p:nvSpPr>
        <p:spPr>
          <a:xfrm>
            <a:off x="4663440" y="2514600"/>
            <a:ext cx="4023360" cy="1097280"/>
          </a:xfrm>
          <a:prstGeom prst="roundRect">
            <a:avLst>
              <a:gd name="adj" fmla="val 1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_acc27"/>
          <p:cNvSpPr/>
          <p:nvPr/>
        </p:nvSpPr>
        <p:spPr>
          <a:xfrm>
            <a:off x="4663440" y="2514600"/>
            <a:ext cx="4023360" cy="4572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2u_tt28"/>
          <p:cNvSpPr txBox="1"/>
          <p:nvPr/>
        </p:nvSpPr>
        <p:spPr>
          <a:xfrm>
            <a:off x="4809744" y="2624328"/>
            <a:ext cx="3749040" cy="256032"/>
          </a:xfrm>
          <a:prstGeom prst="rect">
            <a:avLst/>
          </a:prstGeom>
          <a:noFill/>
        </p:spPr>
        <p:txBody>
          <a:bodyPr wrap="square" lIns="0" tIns="0" rIns="0" bIns="0" anchor="ctr">
            <a:spAutoFit/>
          </a:bodyPr>
          <a:lstStyle/>
          <a:p>
            <a:pPr algn="l"/>
            <a:r>
              <a:rPr sz="1150" b="1">
                <a:solidFill>
                  <a:srgbClr val="1C1917"/>
                </a:solidFill>
                <a:latin typeface="Segoe UI"/>
              </a:rPr>
              <a:t>Apache Kafka vs the cloud</a:t>
            </a:r>
          </a:p>
        </p:txBody>
      </p:sp>
      <p:sp>
        <p:nvSpPr>
          <p:cNvPr id="30" name="a2ud60_tb29"/>
          <p:cNvSpPr txBox="1"/>
          <p:nvPr/>
        </p:nvSpPr>
        <p:spPr>
          <a:xfrm>
            <a:off x="4809744" y="2916936"/>
            <a:ext cx="3749040" cy="640080"/>
          </a:xfrm>
          <a:prstGeom prst="rect">
            <a:avLst/>
          </a:prstGeom>
          <a:noFill/>
        </p:spPr>
        <p:txBody>
          <a:bodyPr wrap="square" lIns="0" tIns="0" rIns="0" bIns="0" anchor="t">
            <a:spAutoFit/>
          </a:bodyPr>
          <a:lstStyle/>
          <a:p>
            <a:pPr algn="l"/>
            <a:r>
              <a:rPr sz="950" b="0">
                <a:solidFill>
                  <a:srgbClr val="44403C"/>
                </a:solidFill>
                <a:latin typeface="Segoe UI"/>
              </a:rPr>
              <a:t>open-source Kafka compared with cloud-native Kafka services such as Confluent Cloud</a:t>
            </a:r>
          </a:p>
        </p:txBody>
      </p:sp>
      <p:sp>
        <p:nvSpPr>
          <p:cNvPr id="31" name="a3u_nb30"/>
          <p:cNvSpPr/>
          <p:nvPr/>
        </p:nvSpPr>
        <p:spPr>
          <a:xfrm>
            <a:off x="457200" y="3767328"/>
            <a:ext cx="8229600" cy="640080"/>
          </a:xfrm>
          <a:prstGeom prst="roundRect">
            <a:avLst>
              <a:gd name="adj" fmla="val 11428"/>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3u_nacc31"/>
          <p:cNvSpPr/>
          <p:nvPr/>
        </p:nvSpPr>
        <p:spPr>
          <a:xfrm>
            <a:off x="457200" y="3767328"/>
            <a:ext cx="54864" cy="64008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3u_nt32"/>
          <p:cNvSpPr txBox="1"/>
          <p:nvPr/>
        </p:nvSpPr>
        <p:spPr>
          <a:xfrm>
            <a:off x="658368" y="3767328"/>
            <a:ext cx="7827264" cy="640080"/>
          </a:xfrm>
          <a:prstGeom prst="rect">
            <a:avLst/>
          </a:prstGeom>
          <a:noFill/>
        </p:spPr>
        <p:txBody>
          <a:bodyPr wrap="square" lIns="0" tIns="0" rIns="0" bIns="0" anchor="ctr">
            <a:spAutoFit/>
          </a:bodyPr>
          <a:lstStyle/>
          <a:p>
            <a:pPr algn="l"/>
            <a:r>
              <a:rPr sz="950" b="1">
                <a:solidFill>
                  <a:srgbClr val="C2410C"/>
                </a:solidFill>
                <a:latin typeface="Segoe UI"/>
              </a:rPr>
              <a:t>NEXT  </a:t>
            </a:r>
            <a:r>
              <a:rPr sz="950" b="0">
                <a:solidFill>
                  <a:srgbClr val="44403C"/>
                </a:solidFill>
                <a:latin typeface="Segoe UI"/>
              </a:rPr>
              <a:t>And this is only the start: Kafka is the foundation of modern data systems, and there is much more to learn after this course.</a:t>
            </a:r>
          </a:p>
        </p:txBody>
      </p:sp>
      <p:sp>
        <p:nvSpPr>
          <p:cNvPr id="34" name="ft33"/>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09</a:t>
            </a:r>
          </a:p>
        </p:txBody>
      </p:sp>
      <p:sp>
        <p:nvSpPr>
          <p:cNvPr id="35" name="ft34"/>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ft35"/>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Introduction</a:t>
            </a:r>
          </a:p>
        </p:txBody>
      </p:sp>
      <p:sp>
        <p:nvSpPr>
          <p:cNvPr id="37" name="ft36"/>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ppt_y+0.1"/>
                                          </p:val>
                                        </p:tav>
                                        <p:tav tm="100000">
                                          <p:val>
                                            <p:strVal val="#ppt_y"/>
                                          </p:val>
                                        </p:tav>
                                      </p:tavLst>
                                    </p:anim>
                                    <p:animEffect transition="in" filter="fade">
                                      <p:cBhvr>
                                        <p:cTn id="23" dur="500"/>
                                        <p:tgtEl>
                                          <p:spTgt spid="15"/>
                                        </p:tgtEl>
                                      </p:cBhvr>
                                    </p:animEffect>
                                  </p:childTnLst>
                                </p:cTn>
                              </p:par>
                              <p:par>
                                <p:cTn id="29" presetID="2" presetClass="entr" presetSubtype="4"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ppt_x"/>
                                          </p:val>
                                        </p:tav>
                                        <p:tav tm="100000">
                                          <p:val>
                                            <p:strVal val="#ppt_x"/>
                                          </p:val>
                                        </p:tav>
                                      </p:tavLst>
                                    </p:anim>
                                    <p:anim calcmode="lin" valueType="num">
                                      <p:cBhvr additive="base">
                                        <p:cTn id="27" dur="500" fill="hold"/>
                                        <p:tgtEl>
                                          <p:spTgt spid="16"/>
                                        </p:tgtEl>
                                        <p:attrNameLst>
                                          <p:attrName>ppt_y</p:attrName>
                                        </p:attrNameLst>
                                      </p:cBhvr>
                                      <p:tavLst>
                                        <p:tav tm="0">
                                          <p:val>
                                            <p:strVal val="#ppt_y+0.1"/>
                                          </p:val>
                                        </p:tav>
                                        <p:tav tm="100000">
                                          <p:val>
                                            <p:strVal val="#ppt_y"/>
                                          </p:val>
                                        </p:tav>
                                      </p:tavLst>
                                    </p:anim>
                                    <p:animEffect transition="in" filter="fade">
                                      <p:cBhvr>
                                        <p:cTn id="28" dur="500"/>
                                        <p:tgtEl>
                                          <p:spTgt spid="16"/>
                                        </p:tgtEl>
                                      </p:cBhvr>
                                    </p:animEffect>
                                  </p:childTnLst>
                                </p:cTn>
                              </p:par>
                              <p:par>
                                <p:cTn id="34" presetID="2" presetClass="entr" presetSubtype="4"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ppt_y+0.1"/>
                                          </p:val>
                                        </p:tav>
                                        <p:tav tm="100000">
                                          <p:val>
                                            <p:strVal val="#ppt_y"/>
                                          </p:val>
                                        </p:tav>
                                      </p:tavLst>
                                    </p:anim>
                                    <p:animEffect transition="in" filter="fade">
                                      <p:cBhvr>
                                        <p:cTn id="33" dur="500"/>
                                        <p:tgtEl>
                                          <p:spTgt spid="17"/>
                                        </p:tgtEl>
                                      </p:cBhvr>
                                    </p:animEffect>
                                  </p:childTnLst>
                                </p:cTn>
                              </p:par>
                              <p:par>
                                <p:cTn id="39" presetID="2" presetClass="entr" presetSubtype="4"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 calcmode="lin" valueType="num">
                                      <p:cBhvr additive="base">
                                        <p:cTn id="36" dur="500" fill="hold"/>
                                        <p:tgtEl>
                                          <p:spTgt spid="19"/>
                                        </p:tgtEl>
                                        <p:attrNameLst>
                                          <p:attrName>ppt_x</p:attrName>
                                        </p:attrNameLst>
                                      </p:cBhvr>
                                      <p:tavLst>
                                        <p:tav tm="0">
                                          <p:val>
                                            <p:strVal val="#ppt_x"/>
                                          </p:val>
                                        </p:tav>
                                        <p:tav tm="100000">
                                          <p:val>
                                            <p:strVal val="#ppt_x"/>
                                          </p:val>
                                        </p:tav>
                                      </p:tavLst>
                                    </p:anim>
                                    <p:anim calcmode="lin" valueType="num">
                                      <p:cBhvr additive="base">
                                        <p:cTn id="37" dur="500" fill="hold"/>
                                        <p:tgtEl>
                                          <p:spTgt spid="19"/>
                                        </p:tgtEl>
                                        <p:attrNameLst>
                                          <p:attrName>ppt_y</p:attrName>
                                        </p:attrNameLst>
                                      </p:cBhvr>
                                      <p:tavLst>
                                        <p:tav tm="0">
                                          <p:val>
                                            <p:strVal val="#ppt_y+0.1"/>
                                          </p:val>
                                        </p:tav>
                                        <p:tav tm="100000">
                                          <p:val>
                                            <p:strVal val="#ppt_y"/>
                                          </p:val>
                                        </p:tav>
                                      </p:tavLst>
                                    </p:anim>
                                    <p:animEffect transition="in" filter="fade">
                                      <p:cBhvr>
                                        <p:cTn id="38" dur="500"/>
                                        <p:tgtEl>
                                          <p:spTgt spid="19"/>
                                        </p:tgtEl>
                                      </p:cBhvr>
                                    </p:animEffect>
                                  </p:childTnLst>
                                </p:cTn>
                              </p:par>
                              <p:par>
                                <p:cTn id="44" presetID="2" presetClass="entr" presetSubtype="4"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 calcmode="lin" valueType="num">
                                      <p:cBhvr additive="base">
                                        <p:cTn id="41" dur="500" fill="hold"/>
                                        <p:tgtEl>
                                          <p:spTgt spid="20"/>
                                        </p:tgtEl>
                                        <p:attrNameLst>
                                          <p:attrName>ppt_x</p:attrName>
                                        </p:attrNameLst>
                                      </p:cBhvr>
                                      <p:tavLst>
                                        <p:tav tm="0">
                                          <p:val>
                                            <p:strVal val="#ppt_x"/>
                                          </p:val>
                                        </p:tav>
                                        <p:tav tm="100000">
                                          <p:val>
                                            <p:strVal val="#ppt_x"/>
                                          </p:val>
                                        </p:tav>
                                      </p:tavLst>
                                    </p:anim>
                                    <p:anim calcmode="lin" valueType="num">
                                      <p:cBhvr additive="base">
                                        <p:cTn id="42" dur="500" fill="hold"/>
                                        <p:tgtEl>
                                          <p:spTgt spid="20"/>
                                        </p:tgtEl>
                                        <p:attrNameLst>
                                          <p:attrName>ppt_y</p:attrName>
                                        </p:attrNameLst>
                                      </p:cBhvr>
                                      <p:tavLst>
                                        <p:tav tm="0">
                                          <p:val>
                                            <p:strVal val="#ppt_y+0.1"/>
                                          </p:val>
                                        </p:tav>
                                        <p:tav tm="100000">
                                          <p:val>
                                            <p:strVal val="#ppt_y"/>
                                          </p:val>
                                        </p:tav>
                                      </p:tavLst>
                                    </p:anim>
                                    <p:animEffect transition="in" filter="fade">
                                      <p:cBhvr>
                                        <p:cTn id="43" dur="500"/>
                                        <p:tgtEl>
                                          <p:spTgt spid="20"/>
                                        </p:tgtEl>
                                      </p:cBhvr>
                                    </p:animEffect>
                                  </p:childTnLst>
                                </p:cTn>
                              </p:par>
                              <p:par>
                                <p:cTn id="49" presetID="2" presetClass="entr" presetSubtype="4"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 calcmode="lin" valueType="num">
                                      <p:cBhvr additive="base">
                                        <p:cTn id="46" dur="500" fill="hold"/>
                                        <p:tgtEl>
                                          <p:spTgt spid="21"/>
                                        </p:tgtEl>
                                        <p:attrNameLst>
                                          <p:attrName>ppt_x</p:attrName>
                                        </p:attrNameLst>
                                      </p:cBhvr>
                                      <p:tavLst>
                                        <p:tav tm="0">
                                          <p:val>
                                            <p:strVal val="#ppt_x"/>
                                          </p:val>
                                        </p:tav>
                                        <p:tav tm="100000">
                                          <p:val>
                                            <p:strVal val="#ppt_x"/>
                                          </p:val>
                                        </p:tav>
                                      </p:tavLst>
                                    </p:anim>
                                    <p:anim calcmode="lin" valueType="num">
                                      <p:cBhvr additive="base">
                                        <p:cTn id="47" dur="500" fill="hold"/>
                                        <p:tgtEl>
                                          <p:spTgt spid="21"/>
                                        </p:tgtEl>
                                        <p:attrNameLst>
                                          <p:attrName>ppt_y</p:attrName>
                                        </p:attrNameLst>
                                      </p:cBhvr>
                                      <p:tavLst>
                                        <p:tav tm="0">
                                          <p:val>
                                            <p:strVal val="#ppt_y+0.1"/>
                                          </p:val>
                                        </p:tav>
                                        <p:tav tm="100000">
                                          <p:val>
                                            <p:strVal val="#ppt_y"/>
                                          </p:val>
                                        </p:tav>
                                      </p:tavLst>
                                    </p:anim>
                                    <p:animEffect transition="in" filter="fade">
                                      <p:cBhvr>
                                        <p:cTn id="48" dur="500"/>
                                        <p:tgtEl>
                                          <p:spTgt spid="21"/>
                                        </p:tgtEl>
                                      </p:cBhvr>
                                    </p:animEffect>
                                  </p:childTnLst>
                                </p:cTn>
                              </p:par>
                              <p:par>
                                <p:cTn id="54" presetID="2" presetClass="entr" presetSubtype="4" fill="hold" grpId="0" nodeType="withEffect">
                                  <p:stCondLst>
                                    <p:cond delay="6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ppt_x</p:attrName>
                                        </p:attrNameLst>
                                      </p:cBhvr>
                                      <p:tavLst>
                                        <p:tav tm="0">
                                          <p:val>
                                            <p:strVal val="#ppt_x"/>
                                          </p:val>
                                        </p:tav>
                                        <p:tav tm="100000">
                                          <p:val>
                                            <p:strVal val="#ppt_x"/>
                                          </p:val>
                                        </p:tav>
                                      </p:tavLst>
                                    </p:anim>
                                    <p:anim calcmode="lin" valueType="num">
                                      <p:cBhvr additive="base">
                                        <p:cTn id="52" dur="500" fill="hold"/>
                                        <p:tgtEl>
                                          <p:spTgt spid="14"/>
                                        </p:tgtEl>
                                        <p:attrNameLst>
                                          <p:attrName>ppt_y</p:attrName>
                                        </p:attrNameLst>
                                      </p:cBhvr>
                                      <p:tavLst>
                                        <p:tav tm="0">
                                          <p:val>
                                            <p:strVal val="#ppt_y+0.1"/>
                                          </p:val>
                                        </p:tav>
                                        <p:tav tm="100000">
                                          <p:val>
                                            <p:strVal val="#ppt_y"/>
                                          </p:val>
                                        </p:tav>
                                      </p:tavLst>
                                    </p:anim>
                                    <p:animEffect transition="in" filter="fade">
                                      <p:cBhvr>
                                        <p:cTn id="53" dur="500"/>
                                        <p:tgtEl>
                                          <p:spTgt spid="14"/>
                                        </p:tgtEl>
                                      </p:cBhvr>
                                    </p:animEffect>
                                  </p:childTnLst>
                                </p:cTn>
                              </p:par>
                              <p:par>
                                <p:cTn id="59" presetID="2" presetClass="entr" presetSubtype="4" fill="hold" grpId="0" nodeType="withEffect">
                                  <p:stCondLst>
                                    <p:cond delay="60"/>
                                  </p:stCondLst>
                                  <p:childTnLst>
                                    <p:set>
                                      <p:cBhvr>
                                        <p:cTn id="55" dur="1" fill="hold">
                                          <p:stCondLst>
                                            <p:cond delay="0"/>
                                          </p:stCondLst>
                                        </p:cTn>
                                        <p:tgtEl>
                                          <p:spTgt spid="18"/>
                                        </p:tgtEl>
                                        <p:attrNameLst>
                                          <p:attrName>style.visibility</p:attrName>
                                        </p:attrNameLst>
                                      </p:cBhvr>
                                      <p:to>
                                        <p:strVal val="visible"/>
                                      </p:to>
                                    </p:set>
                                    <p:anim calcmode="lin" valueType="num">
                                      <p:cBhvr additive="base">
                                        <p:cTn id="56" dur="500" fill="hold"/>
                                        <p:tgtEl>
                                          <p:spTgt spid="18"/>
                                        </p:tgtEl>
                                        <p:attrNameLst>
                                          <p:attrName>ppt_x</p:attrName>
                                        </p:attrNameLst>
                                      </p:cBhvr>
                                      <p:tavLst>
                                        <p:tav tm="0">
                                          <p:val>
                                            <p:strVal val="#ppt_x"/>
                                          </p:val>
                                        </p:tav>
                                        <p:tav tm="100000">
                                          <p:val>
                                            <p:strVal val="#ppt_x"/>
                                          </p:val>
                                        </p:tav>
                                      </p:tavLst>
                                    </p:anim>
                                    <p:anim calcmode="lin" valueType="num">
                                      <p:cBhvr additive="base">
                                        <p:cTn id="57" dur="500" fill="hold"/>
                                        <p:tgtEl>
                                          <p:spTgt spid="18"/>
                                        </p:tgtEl>
                                        <p:attrNameLst>
                                          <p:attrName>ppt_y</p:attrName>
                                        </p:attrNameLst>
                                      </p:cBhvr>
                                      <p:tavLst>
                                        <p:tav tm="0">
                                          <p:val>
                                            <p:strVal val="#ppt_y+0.1"/>
                                          </p:val>
                                        </p:tav>
                                        <p:tav tm="100000">
                                          <p:val>
                                            <p:strVal val="#ppt_y"/>
                                          </p:val>
                                        </p:tav>
                                      </p:tavLst>
                                    </p:anim>
                                    <p:animEffect transition="in" filter="fade">
                                      <p:cBhvr>
                                        <p:cTn id="58" dur="500"/>
                                        <p:tgtEl>
                                          <p:spTgt spid="18"/>
                                        </p:tgtEl>
                                      </p:cBhvr>
                                    </p:animEffect>
                                  </p:childTnLst>
                                </p:cTn>
                              </p:par>
                              <p:par>
                                <p:cTn id="64" presetID="2" presetClass="entr" presetSubtype="4" fill="hold" grpId="0" nodeType="withEffect">
                                  <p:stCondLst>
                                    <p:cond delay="6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childTnLst>
                          </p:cTn>
                        </p:par>
                      </p:childTnLst>
                    </p:cTn>
                  </p:par>
                  <p:par>
                    <p:cTn id="65" fill="hold">
                      <p:stCondLst>
                        <p:cond delay="indefinite"/>
                      </p:stCondLst>
                      <p:childTnLst>
                        <p:par>
                          <p:cTn id="66" fill="hold">
                            <p:stCondLst>
                              <p:cond delay="0"/>
                            </p:stCondLst>
                            <p:childTnLst>
                              <p:par>
                                <p:cTn id="71" presetID="2" presetClass="entr" presetSubtype="4" fill="hold" grpId="0" nodeType="clickEffect">
                                  <p:stCondLst>
                                    <p:cond delay="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par>
                                <p:cTn id="76" presetID="2" presetClass="entr" presetSubtype="4"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par>
                                <p:cTn id="81" presetID="2" presetClass="entr" presetSubtype="4"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ppt_y+0.1"/>
                                          </p:val>
                                        </p:tav>
                                        <p:tav tm="100000">
                                          <p:val>
                                            <p:strVal val="#ppt_y"/>
                                          </p:val>
                                        </p:tav>
                                      </p:tavLst>
                                    </p:anim>
                                    <p:animEffect transition="in" filter="fade">
                                      <p:cBhvr>
                                        <p:cTn id="80" dur="500"/>
                                        <p:tgtEl>
                                          <p:spTgt spid="25"/>
                                        </p:tgtEl>
                                      </p:cBhvr>
                                    </p:animEffect>
                                  </p:childTnLst>
                                </p:cTn>
                              </p:par>
                              <p:par>
                                <p:cTn id="86" presetID="2" presetClass="entr" presetSubtype="4"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 calcmode="lin" valueType="num">
                                      <p:cBhvr additive="base">
                                        <p:cTn id="83" dur="500" fill="hold"/>
                                        <p:tgtEl>
                                          <p:spTgt spid="27"/>
                                        </p:tgtEl>
                                        <p:attrNameLst>
                                          <p:attrName>ppt_x</p:attrName>
                                        </p:attrNameLst>
                                      </p:cBhvr>
                                      <p:tavLst>
                                        <p:tav tm="0">
                                          <p:val>
                                            <p:strVal val="#ppt_x"/>
                                          </p:val>
                                        </p:tav>
                                        <p:tav tm="100000">
                                          <p:val>
                                            <p:strVal val="#ppt_x"/>
                                          </p:val>
                                        </p:tav>
                                      </p:tavLst>
                                    </p:anim>
                                    <p:anim calcmode="lin" valueType="num">
                                      <p:cBhvr additive="base">
                                        <p:cTn id="84" dur="500" fill="hold"/>
                                        <p:tgtEl>
                                          <p:spTgt spid="27"/>
                                        </p:tgtEl>
                                        <p:attrNameLst>
                                          <p:attrName>ppt_y</p:attrName>
                                        </p:attrNameLst>
                                      </p:cBhvr>
                                      <p:tavLst>
                                        <p:tav tm="0">
                                          <p:val>
                                            <p:strVal val="#ppt_y+0.1"/>
                                          </p:val>
                                        </p:tav>
                                        <p:tav tm="100000">
                                          <p:val>
                                            <p:strVal val="#ppt_y"/>
                                          </p:val>
                                        </p:tav>
                                      </p:tavLst>
                                    </p:anim>
                                    <p:animEffect transition="in" filter="fade">
                                      <p:cBhvr>
                                        <p:cTn id="85" dur="500"/>
                                        <p:tgtEl>
                                          <p:spTgt spid="27"/>
                                        </p:tgtEl>
                                      </p:cBhvr>
                                    </p:animEffect>
                                  </p:childTnLst>
                                </p:cTn>
                              </p:par>
                              <p:par>
                                <p:cTn id="91" presetID="2" presetClass="entr" presetSubtype="4"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 calcmode="lin" valueType="num">
                                      <p:cBhvr additive="base">
                                        <p:cTn id="88" dur="500" fill="hold"/>
                                        <p:tgtEl>
                                          <p:spTgt spid="28"/>
                                        </p:tgtEl>
                                        <p:attrNameLst>
                                          <p:attrName>ppt_x</p:attrName>
                                        </p:attrNameLst>
                                      </p:cBhvr>
                                      <p:tavLst>
                                        <p:tav tm="0">
                                          <p:val>
                                            <p:strVal val="#ppt_x"/>
                                          </p:val>
                                        </p:tav>
                                        <p:tav tm="100000">
                                          <p:val>
                                            <p:strVal val="#ppt_x"/>
                                          </p:val>
                                        </p:tav>
                                      </p:tavLst>
                                    </p:anim>
                                    <p:anim calcmode="lin" valueType="num">
                                      <p:cBhvr additive="base">
                                        <p:cTn id="89" dur="500" fill="hold"/>
                                        <p:tgtEl>
                                          <p:spTgt spid="28"/>
                                        </p:tgtEl>
                                        <p:attrNameLst>
                                          <p:attrName>ppt_y</p:attrName>
                                        </p:attrNameLst>
                                      </p:cBhvr>
                                      <p:tavLst>
                                        <p:tav tm="0">
                                          <p:val>
                                            <p:strVal val="#ppt_y+0.1"/>
                                          </p:val>
                                        </p:tav>
                                        <p:tav tm="100000">
                                          <p:val>
                                            <p:strVal val="#ppt_y"/>
                                          </p:val>
                                        </p:tav>
                                      </p:tavLst>
                                    </p:anim>
                                    <p:animEffect transition="in" filter="fade">
                                      <p:cBhvr>
                                        <p:cTn id="90" dur="500"/>
                                        <p:tgtEl>
                                          <p:spTgt spid="28"/>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29"/>
                                        </p:tgtEl>
                                        <p:attrNameLst>
                                          <p:attrName>style.visibility</p:attrName>
                                        </p:attrNameLst>
                                      </p:cBhvr>
                                      <p:to>
                                        <p:strVal val="visible"/>
                                      </p:to>
                                    </p:set>
                                    <p:anim calcmode="lin" valueType="num">
                                      <p:cBhvr additive="base">
                                        <p:cTn id="93" dur="500" fill="hold"/>
                                        <p:tgtEl>
                                          <p:spTgt spid="29"/>
                                        </p:tgtEl>
                                        <p:attrNameLst>
                                          <p:attrName>ppt_x</p:attrName>
                                        </p:attrNameLst>
                                      </p:cBhvr>
                                      <p:tavLst>
                                        <p:tav tm="0">
                                          <p:val>
                                            <p:strVal val="#ppt_x"/>
                                          </p:val>
                                        </p:tav>
                                        <p:tav tm="100000">
                                          <p:val>
                                            <p:strVal val="#ppt_x"/>
                                          </p:val>
                                        </p:tav>
                                      </p:tavLst>
                                    </p:anim>
                                    <p:anim calcmode="lin" valueType="num">
                                      <p:cBhvr additive="base">
                                        <p:cTn id="94" dur="500" fill="hold"/>
                                        <p:tgtEl>
                                          <p:spTgt spid="29"/>
                                        </p:tgtEl>
                                        <p:attrNameLst>
                                          <p:attrName>ppt_y</p:attrName>
                                        </p:attrNameLst>
                                      </p:cBhvr>
                                      <p:tavLst>
                                        <p:tav tm="0">
                                          <p:val>
                                            <p:strVal val="#ppt_y+0.1"/>
                                          </p:val>
                                        </p:tav>
                                        <p:tav tm="100000">
                                          <p:val>
                                            <p:strVal val="#ppt_y"/>
                                          </p:val>
                                        </p:tav>
                                      </p:tavLst>
                                    </p:anim>
                                    <p:animEffect transition="in" filter="fade">
                                      <p:cBhvr>
                                        <p:cTn id="95" dur="500"/>
                                        <p:tgtEl>
                                          <p:spTgt spid="29"/>
                                        </p:tgtEl>
                                      </p:cBhvr>
                                    </p:animEffect>
                                  </p:childTnLst>
                                </p:cTn>
                              </p:par>
                              <p:par>
                                <p:cTn id="101" presetID="2" presetClass="entr" presetSubtype="4" fill="hold" grpId="0" nodeType="withEffect">
                                  <p:stCondLst>
                                    <p:cond delay="60"/>
                                  </p:stCondLst>
                                  <p:childTnLst>
                                    <p:set>
                                      <p:cBhvr>
                                        <p:cTn id="97" dur="1" fill="hold">
                                          <p:stCondLst>
                                            <p:cond delay="0"/>
                                          </p:stCondLst>
                                        </p:cTn>
                                        <p:tgtEl>
                                          <p:spTgt spid="26"/>
                                        </p:tgtEl>
                                        <p:attrNameLst>
                                          <p:attrName>style.visibility</p:attrName>
                                        </p:attrNameLst>
                                      </p:cBhvr>
                                      <p:to>
                                        <p:strVal val="visible"/>
                                      </p:to>
                                    </p:set>
                                    <p:anim calcmode="lin" valueType="num">
                                      <p:cBhvr additive="base">
                                        <p:cTn id="98" dur="500" fill="hold"/>
                                        <p:tgtEl>
                                          <p:spTgt spid="26"/>
                                        </p:tgtEl>
                                        <p:attrNameLst>
                                          <p:attrName>ppt_x</p:attrName>
                                        </p:attrNameLst>
                                      </p:cBhvr>
                                      <p:tavLst>
                                        <p:tav tm="0">
                                          <p:val>
                                            <p:strVal val="#ppt_x"/>
                                          </p:val>
                                        </p:tav>
                                        <p:tav tm="100000">
                                          <p:val>
                                            <p:strVal val="#ppt_x"/>
                                          </p:val>
                                        </p:tav>
                                      </p:tavLst>
                                    </p:anim>
                                    <p:anim calcmode="lin" valueType="num">
                                      <p:cBhvr additive="base">
                                        <p:cTn id="99" dur="500" fill="hold"/>
                                        <p:tgtEl>
                                          <p:spTgt spid="26"/>
                                        </p:tgtEl>
                                        <p:attrNameLst>
                                          <p:attrName>ppt_y</p:attrName>
                                        </p:attrNameLst>
                                      </p:cBhvr>
                                      <p:tavLst>
                                        <p:tav tm="0">
                                          <p:val>
                                            <p:strVal val="#ppt_y+0.1"/>
                                          </p:val>
                                        </p:tav>
                                        <p:tav tm="100000">
                                          <p:val>
                                            <p:strVal val="#ppt_y"/>
                                          </p:val>
                                        </p:tav>
                                      </p:tavLst>
                                    </p:anim>
                                    <p:animEffect transition="in" filter="fade">
                                      <p:cBhvr>
                                        <p:cTn id="100" dur="500"/>
                                        <p:tgtEl>
                                          <p:spTgt spid="26"/>
                                        </p:tgtEl>
                                      </p:cBhvr>
                                    </p:animEffect>
                                  </p:childTnLst>
                                </p:cTn>
                              </p:par>
                              <p:par>
                                <p:cTn id="106" presetID="2" presetClass="entr" presetSubtype="4" fill="hold" grpId="0" nodeType="withEffect">
                                  <p:stCondLst>
                                    <p:cond delay="6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ppt_x"/>
                                          </p:val>
                                        </p:tav>
                                        <p:tav tm="100000">
                                          <p:val>
                                            <p:strVal val="#ppt_x"/>
                                          </p:val>
                                        </p:tav>
                                      </p:tavLst>
                                    </p:anim>
                                    <p:anim calcmode="lin" valueType="num">
                                      <p:cBhvr additive="base">
                                        <p:cTn id="104" dur="500" fill="hold"/>
                                        <p:tgtEl>
                                          <p:spTgt spid="30"/>
                                        </p:tgtEl>
                                        <p:attrNameLst>
                                          <p:attrName>ppt_y</p:attrName>
                                        </p:attrNameLst>
                                      </p:cBhvr>
                                      <p:tavLst>
                                        <p:tav tm="0">
                                          <p:val>
                                            <p:strVal val="#ppt_y+0.1"/>
                                          </p:val>
                                        </p:tav>
                                        <p:tav tm="100000">
                                          <p:val>
                                            <p:strVal val="#ppt_y"/>
                                          </p:val>
                                        </p:tav>
                                      </p:tavLst>
                                    </p:anim>
                                    <p:animEffect transition="in" filter="fade">
                                      <p:cBhvr>
                                        <p:cTn id="105" dur="500"/>
                                        <p:tgtEl>
                                          <p:spTgt spid="30"/>
                                        </p:tgtEl>
                                      </p:cBhvr>
                                    </p:animEffect>
                                  </p:childTnLst>
                                </p:cTn>
                              </p:par>
                            </p:childTnLst>
                          </p:cTn>
                        </p:par>
                      </p:childTnLst>
                    </p:cTn>
                  </p:par>
                  <p:par>
                    <p:cTn id="107" fill="hold">
                      <p:stCondLst>
                        <p:cond delay="indefinite"/>
                      </p:stCondLst>
                      <p:childTnLst>
                        <p:par>
                          <p:cTn id="108" fill="hold">
                            <p:stCondLst>
                              <p:cond delay="0"/>
                            </p:stCondLst>
                            <p:childTnLst>
                              <p:par>
                                <p:cTn id="113" presetID="2" presetClass="entr" presetSubtype="4" fill="hold" grpId="0" nodeType="clickEffect">
                                  <p:stCondLst>
                                    <p:cond delay="0"/>
                                  </p:stCondLst>
                                  <p:childTnLst>
                                    <p:set>
                                      <p:cBhvr>
                                        <p:cTn id="109" dur="1" fill="hold">
                                          <p:stCondLst>
                                            <p:cond delay="0"/>
                                          </p:stCondLst>
                                        </p:cTn>
                                        <p:tgtEl>
                                          <p:spTgt spid="31"/>
                                        </p:tgtEl>
                                        <p:attrNameLst>
                                          <p:attrName>style.visibility</p:attrName>
                                        </p:attrNameLst>
                                      </p:cBhvr>
                                      <p:to>
                                        <p:strVal val="visible"/>
                                      </p:to>
                                    </p:set>
                                    <p:anim calcmode="lin" valueType="num">
                                      <p:cBhvr additive="base">
                                        <p:cTn id="110" dur="500" fill="hold"/>
                                        <p:tgtEl>
                                          <p:spTgt spid="31"/>
                                        </p:tgtEl>
                                        <p:attrNameLst>
                                          <p:attrName>ppt_x</p:attrName>
                                        </p:attrNameLst>
                                      </p:cBhvr>
                                      <p:tavLst>
                                        <p:tav tm="0">
                                          <p:val>
                                            <p:strVal val="#ppt_x"/>
                                          </p:val>
                                        </p:tav>
                                        <p:tav tm="100000">
                                          <p:val>
                                            <p:strVal val="#ppt_x"/>
                                          </p:val>
                                        </p:tav>
                                      </p:tavLst>
                                    </p:anim>
                                    <p:anim calcmode="lin" valueType="num">
                                      <p:cBhvr additive="base">
                                        <p:cTn id="111" dur="500" fill="hold"/>
                                        <p:tgtEl>
                                          <p:spTgt spid="31"/>
                                        </p:tgtEl>
                                        <p:attrNameLst>
                                          <p:attrName>ppt_y</p:attrName>
                                        </p:attrNameLst>
                                      </p:cBhvr>
                                      <p:tavLst>
                                        <p:tav tm="0">
                                          <p:val>
                                            <p:strVal val="#ppt_y+0.1"/>
                                          </p:val>
                                        </p:tav>
                                        <p:tav tm="100000">
                                          <p:val>
                                            <p:strVal val="#ppt_y"/>
                                          </p:val>
                                        </p:tav>
                                      </p:tavLst>
                                    </p:anim>
                                    <p:animEffect transition="in" filter="fade">
                                      <p:cBhvr>
                                        <p:cTn id="112" dur="500"/>
                                        <p:tgtEl>
                                          <p:spTgt spid="31"/>
                                        </p:tgtEl>
                                      </p:cBhvr>
                                    </p:animEffect>
                                  </p:childTnLst>
                                </p:cTn>
                              </p:par>
                              <p:par>
                                <p:cTn id="118" presetID="2" presetClass="entr" presetSubtype="4" fill="hold" grpId="0" nodeType="withEffect">
                                  <p:stCondLst>
                                    <p:cond delay="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500" fill="hold"/>
                                        <p:tgtEl>
                                          <p:spTgt spid="32"/>
                                        </p:tgtEl>
                                        <p:attrNameLst>
                                          <p:attrName>ppt_x</p:attrName>
                                        </p:attrNameLst>
                                      </p:cBhvr>
                                      <p:tavLst>
                                        <p:tav tm="0">
                                          <p:val>
                                            <p:strVal val="#ppt_x"/>
                                          </p:val>
                                        </p:tav>
                                        <p:tav tm="100000">
                                          <p:val>
                                            <p:strVal val="#ppt_x"/>
                                          </p:val>
                                        </p:tav>
                                      </p:tavLst>
                                    </p:anim>
                                    <p:anim calcmode="lin" valueType="num">
                                      <p:cBhvr additive="base">
                                        <p:cTn id="116" dur="500" fill="hold"/>
                                        <p:tgtEl>
                                          <p:spTgt spid="32"/>
                                        </p:tgtEl>
                                        <p:attrNameLst>
                                          <p:attrName>ppt_y</p:attrName>
                                        </p:attrNameLst>
                                      </p:cBhvr>
                                      <p:tavLst>
                                        <p:tav tm="0">
                                          <p:val>
                                            <p:strVal val="#ppt_y+0.1"/>
                                          </p:val>
                                        </p:tav>
                                        <p:tav tm="100000">
                                          <p:val>
                                            <p:strVal val="#ppt_y"/>
                                          </p:val>
                                        </p:tav>
                                      </p:tavLst>
                                    </p:anim>
                                    <p:animEffect transition="in" filter="fade">
                                      <p:cBhvr>
                                        <p:cTn id="117" dur="500"/>
                                        <p:tgtEl>
                                          <p:spTgt spid="32"/>
                                        </p:tgtEl>
                                      </p:cBhvr>
                                    </p:animEffect>
                                  </p:childTnLst>
                                </p:cTn>
                              </p:par>
                              <p:par>
                                <p:cTn id="123" presetID="2" presetClass="entr" presetSubtype="4" fill="hold" grpId="0" nodeType="withEffect">
                                  <p:stCondLst>
                                    <p:cond delay="0"/>
                                  </p:stCondLst>
                                  <p:childTnLst>
                                    <p:set>
                                      <p:cBhvr>
                                        <p:cTn id="119" dur="1" fill="hold">
                                          <p:stCondLst>
                                            <p:cond delay="0"/>
                                          </p:stCondLst>
                                        </p:cTn>
                                        <p:tgtEl>
                                          <p:spTgt spid="33"/>
                                        </p:tgtEl>
                                        <p:attrNameLst>
                                          <p:attrName>style.visibility</p:attrName>
                                        </p:attrNameLst>
                                      </p:cBhvr>
                                      <p:to>
                                        <p:strVal val="visible"/>
                                      </p:to>
                                    </p:set>
                                    <p:anim calcmode="lin" valueType="num">
                                      <p:cBhvr additive="base">
                                        <p:cTn id="120" dur="500" fill="hold"/>
                                        <p:tgtEl>
                                          <p:spTgt spid="33"/>
                                        </p:tgtEl>
                                        <p:attrNameLst>
                                          <p:attrName>ppt_x</p:attrName>
                                        </p:attrNameLst>
                                      </p:cBhvr>
                                      <p:tavLst>
                                        <p:tav tm="0">
                                          <p:val>
                                            <p:strVal val="#ppt_x"/>
                                          </p:val>
                                        </p:tav>
                                        <p:tav tm="100000">
                                          <p:val>
                                            <p:strVal val="#ppt_x"/>
                                          </p:val>
                                        </p:tav>
                                      </p:tavLst>
                                    </p:anim>
                                    <p:anim calcmode="lin" valueType="num">
                                      <p:cBhvr additive="base">
                                        <p:cTn id="121" dur="500" fill="hold"/>
                                        <p:tgtEl>
                                          <p:spTgt spid="33"/>
                                        </p:tgtEl>
                                        <p:attrNameLst>
                                          <p:attrName>ppt_y</p:attrName>
                                        </p:attrNameLst>
                                      </p:cBhvr>
                                      <p:tavLst>
                                        <p:tav tm="0">
                                          <p:val>
                                            <p:strVal val="#ppt_y+0.1"/>
                                          </p:val>
                                        </p:tav>
                                        <p:tav tm="100000">
                                          <p:val>
                                            <p:strVal val="#ppt_y"/>
                                          </p:val>
                                        </p:tav>
                                      </p:tavLst>
                                    </p:anim>
                                    <p:animEffect transition="in" filter="fade">
                                      <p:cBhvr>
                                        <p:cTn id="12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Kafka at Massive Scale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Kafka runs at some of the biggest companies in the world</a:t>
            </a:r>
          </a:p>
        </p:txBody>
      </p:sp>
      <p:sp>
        <p:nvSpPr>
          <p:cNvPr id="11" name="a1u_card10"/>
          <p:cNvSpPr/>
          <p:nvPr/>
        </p:nvSpPr>
        <p:spPr>
          <a:xfrm>
            <a:off x="457200" y="1325880"/>
            <a:ext cx="2615184" cy="1554480"/>
          </a:xfrm>
          <a:prstGeom prst="roundRect">
            <a:avLst>
              <a:gd name="adj" fmla="val 7058"/>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325880"/>
            <a:ext cx="2615184"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big12"/>
          <p:cNvSpPr txBox="1"/>
          <p:nvPr/>
        </p:nvSpPr>
        <p:spPr>
          <a:xfrm>
            <a:off x="594360" y="1508760"/>
            <a:ext cx="2340864" cy="603504"/>
          </a:xfrm>
          <a:prstGeom prst="rect">
            <a:avLst/>
          </a:prstGeom>
          <a:noFill/>
        </p:spPr>
        <p:txBody>
          <a:bodyPr wrap="square" lIns="0" tIns="0" rIns="0" bIns="0" anchor="ctr">
            <a:spAutoFit/>
          </a:bodyPr>
          <a:lstStyle/>
          <a:p>
            <a:pPr algn="ctr"/>
            <a:r>
              <a:rPr sz="3050" b="0">
                <a:solidFill>
                  <a:srgbClr val="EA580C"/>
                </a:solidFill>
                <a:latin typeface="Bahnschrift SemiBold"/>
              </a:rPr>
              <a:t>Millions</a:t>
            </a:r>
          </a:p>
        </p:txBody>
      </p:sp>
      <p:sp>
        <p:nvSpPr>
          <p:cNvPr id="14" name="a1ud100_cap13"/>
          <p:cNvSpPr txBox="1"/>
          <p:nvPr/>
        </p:nvSpPr>
        <p:spPr>
          <a:xfrm>
            <a:off x="594360" y="2194560"/>
            <a:ext cx="2340864" cy="365760"/>
          </a:xfrm>
          <a:prstGeom prst="rect">
            <a:avLst/>
          </a:prstGeom>
          <a:noFill/>
        </p:spPr>
        <p:txBody>
          <a:bodyPr wrap="square" lIns="0" tIns="0" rIns="0" bIns="0" anchor="ctr">
            <a:spAutoFit/>
          </a:bodyPr>
          <a:lstStyle/>
          <a:p>
            <a:pPr algn="ctr"/>
            <a:r>
              <a:rPr sz="1150" b="0">
                <a:solidFill>
                  <a:srgbClr val="1C1917"/>
                </a:solidFill>
                <a:latin typeface="Segoe UI"/>
              </a:rPr>
              <a:t>of events per second</a:t>
            </a:r>
          </a:p>
        </p:txBody>
      </p:sp>
      <p:sp>
        <p:nvSpPr>
          <p:cNvPr id="15" name="a2u_card14"/>
          <p:cNvSpPr/>
          <p:nvPr/>
        </p:nvSpPr>
        <p:spPr>
          <a:xfrm>
            <a:off x="3264408" y="1325880"/>
            <a:ext cx="2615184" cy="1554480"/>
          </a:xfrm>
          <a:prstGeom prst="roundRect">
            <a:avLst>
              <a:gd name="adj" fmla="val 7058"/>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2u_acc15"/>
          <p:cNvSpPr/>
          <p:nvPr/>
        </p:nvSpPr>
        <p:spPr>
          <a:xfrm>
            <a:off x="3264408" y="1325880"/>
            <a:ext cx="2615184" cy="548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2u_big16"/>
          <p:cNvSpPr txBox="1"/>
          <p:nvPr/>
        </p:nvSpPr>
        <p:spPr>
          <a:xfrm>
            <a:off x="3401568" y="1508760"/>
            <a:ext cx="2340864" cy="603504"/>
          </a:xfrm>
          <a:prstGeom prst="rect">
            <a:avLst/>
          </a:prstGeom>
          <a:noFill/>
        </p:spPr>
        <p:txBody>
          <a:bodyPr wrap="square" lIns="0" tIns="0" rIns="0" bIns="0" anchor="ctr">
            <a:spAutoFit/>
          </a:bodyPr>
          <a:lstStyle/>
          <a:p>
            <a:pPr algn="ctr"/>
            <a:r>
              <a:rPr sz="3050" b="0">
                <a:solidFill>
                  <a:srgbClr val="0E7490"/>
                </a:solidFill>
                <a:latin typeface="Bahnschrift SemiBold"/>
              </a:rPr>
              <a:t>Billions</a:t>
            </a:r>
          </a:p>
        </p:txBody>
      </p:sp>
      <p:sp>
        <p:nvSpPr>
          <p:cNvPr id="18" name="a2ud100_cap17"/>
          <p:cNvSpPr txBox="1"/>
          <p:nvPr/>
        </p:nvSpPr>
        <p:spPr>
          <a:xfrm>
            <a:off x="3401568" y="2194560"/>
            <a:ext cx="2340864" cy="365760"/>
          </a:xfrm>
          <a:prstGeom prst="rect">
            <a:avLst/>
          </a:prstGeom>
          <a:noFill/>
        </p:spPr>
        <p:txBody>
          <a:bodyPr wrap="square" lIns="0" tIns="0" rIns="0" bIns="0" anchor="ctr">
            <a:spAutoFit/>
          </a:bodyPr>
          <a:lstStyle/>
          <a:p>
            <a:pPr algn="ctr"/>
            <a:r>
              <a:rPr sz="1150" b="0">
                <a:solidFill>
                  <a:srgbClr val="1C1917"/>
                </a:solidFill>
                <a:latin typeface="Segoe UI"/>
              </a:rPr>
              <a:t>of events per hour</a:t>
            </a:r>
          </a:p>
        </p:txBody>
      </p:sp>
      <p:sp>
        <p:nvSpPr>
          <p:cNvPr id="19" name="a3u_card18"/>
          <p:cNvSpPr/>
          <p:nvPr/>
        </p:nvSpPr>
        <p:spPr>
          <a:xfrm>
            <a:off x="6071616" y="1325880"/>
            <a:ext cx="2615184" cy="1554480"/>
          </a:xfrm>
          <a:prstGeom prst="roundRect">
            <a:avLst>
              <a:gd name="adj" fmla="val 7058"/>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3u_acc19"/>
          <p:cNvSpPr/>
          <p:nvPr/>
        </p:nvSpPr>
        <p:spPr>
          <a:xfrm>
            <a:off x="6071616" y="1325880"/>
            <a:ext cx="2615184" cy="54864"/>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3u_big20"/>
          <p:cNvSpPr txBox="1"/>
          <p:nvPr/>
        </p:nvSpPr>
        <p:spPr>
          <a:xfrm>
            <a:off x="6208776" y="1508760"/>
            <a:ext cx="2340864" cy="603504"/>
          </a:xfrm>
          <a:prstGeom prst="rect">
            <a:avLst/>
          </a:prstGeom>
          <a:noFill/>
        </p:spPr>
        <p:txBody>
          <a:bodyPr wrap="square" lIns="0" tIns="0" rIns="0" bIns="0" anchor="ctr">
            <a:spAutoFit/>
          </a:bodyPr>
          <a:lstStyle/>
          <a:p>
            <a:pPr algn="ctr"/>
            <a:r>
              <a:rPr sz="3050" b="0">
                <a:solidFill>
                  <a:srgbClr val="A16207"/>
                </a:solidFill>
                <a:latin typeface="Bahnschrift SemiBold"/>
              </a:rPr>
              <a:t>Trillions</a:t>
            </a:r>
          </a:p>
        </p:txBody>
      </p:sp>
      <p:sp>
        <p:nvSpPr>
          <p:cNvPr id="22" name="a3ud100_cap21"/>
          <p:cNvSpPr txBox="1"/>
          <p:nvPr/>
        </p:nvSpPr>
        <p:spPr>
          <a:xfrm>
            <a:off x="6208776" y="2194560"/>
            <a:ext cx="2340864" cy="365760"/>
          </a:xfrm>
          <a:prstGeom prst="rect">
            <a:avLst/>
          </a:prstGeom>
          <a:noFill/>
        </p:spPr>
        <p:txBody>
          <a:bodyPr wrap="square" lIns="0" tIns="0" rIns="0" bIns="0" anchor="ctr">
            <a:spAutoFit/>
          </a:bodyPr>
          <a:lstStyle/>
          <a:p>
            <a:pPr algn="ctr"/>
            <a:r>
              <a:rPr sz="1150" b="0">
                <a:solidFill>
                  <a:srgbClr val="1C1917"/>
                </a:solidFill>
                <a:latin typeface="Segoe UI"/>
              </a:rPr>
              <a:t>of events per day</a:t>
            </a:r>
          </a:p>
        </p:txBody>
      </p:sp>
      <p:sp>
        <p:nvSpPr>
          <p:cNvPr id="23" name="a4u_nb22"/>
          <p:cNvSpPr/>
          <p:nvPr/>
        </p:nvSpPr>
        <p:spPr>
          <a:xfrm>
            <a:off x="457200" y="3154680"/>
            <a:ext cx="8229600" cy="731520"/>
          </a:xfrm>
          <a:prstGeom prst="roundRect">
            <a:avLst>
              <a:gd name="adj" fmla="val 1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4u_nacc23"/>
          <p:cNvSpPr/>
          <p:nvPr/>
        </p:nvSpPr>
        <p:spPr>
          <a:xfrm>
            <a:off x="457200" y="3154680"/>
            <a:ext cx="54864" cy="7315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4u_nt24"/>
          <p:cNvSpPr txBox="1"/>
          <p:nvPr/>
        </p:nvSpPr>
        <p:spPr>
          <a:xfrm>
            <a:off x="658368" y="3154680"/>
            <a:ext cx="7827264" cy="731520"/>
          </a:xfrm>
          <a:prstGeom prst="rect">
            <a:avLst/>
          </a:prstGeom>
          <a:noFill/>
        </p:spPr>
        <p:txBody>
          <a:bodyPr wrap="square" lIns="0" tIns="0" rIns="0" bIns="0" anchor="ctr">
            <a:spAutoFit/>
          </a:bodyPr>
          <a:lstStyle/>
          <a:p>
            <a:pPr algn="l"/>
            <a:r>
              <a:rPr sz="1000" b="1">
                <a:solidFill>
                  <a:srgbClr val="C2410C"/>
                </a:solidFill>
                <a:latin typeface="Segoe UI"/>
              </a:rPr>
              <a:t>i  </a:t>
            </a:r>
            <a:r>
              <a:rPr sz="1000" b="0">
                <a:solidFill>
                  <a:srgbClr val="44403C"/>
                </a:solidFill>
                <a:latin typeface="Segoe UI"/>
              </a:rPr>
              <a:t>Those are the largest users - and a very large number of companies run Kafka in production today.</a:t>
            </a:r>
          </a:p>
        </p:txBody>
      </p:sp>
      <p:sp>
        <p:nvSpPr>
          <p:cNvPr id="26" name="ft25"/>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10</a:t>
            </a:r>
          </a:p>
        </p:txBody>
      </p:sp>
      <p:sp>
        <p:nvSpPr>
          <p:cNvPr id="27" name="ft26"/>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ft27"/>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Introduction</a:t>
            </a:r>
          </a:p>
        </p:txBody>
      </p:sp>
      <p:sp>
        <p:nvSpPr>
          <p:cNvPr id="29" name="ft28"/>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31" presetID="2" presetClass="entr" presetSubtype="4"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ppt_y+0.1"/>
                                          </p:val>
                                        </p:tav>
                                        <p:tav tm="100000">
                                          <p:val>
                                            <p:strVal val="#ppt_y"/>
                                          </p:val>
                                        </p:tav>
                                      </p:tavLst>
                                    </p:anim>
                                    <p:animEffect transition="in" filter="fade">
                                      <p:cBhvr>
                                        <p:cTn id="30" dur="500"/>
                                        <p:tgtEl>
                                          <p:spTgt spid="15"/>
                                        </p:tgtEl>
                                      </p:cBhvr>
                                    </p:animEffect>
                                  </p:childTnLst>
                                </p:cTn>
                              </p:par>
                              <p:par>
                                <p:cTn id="36" presetID="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ppt_y+0.1"/>
                                          </p:val>
                                        </p:tav>
                                        <p:tav tm="100000">
                                          <p:val>
                                            <p:strVal val="#ppt_y"/>
                                          </p:val>
                                        </p:tav>
                                      </p:tavLst>
                                    </p:anim>
                                    <p:animEffect transition="in" filter="fade">
                                      <p:cBhvr>
                                        <p:cTn id="35" dur="500"/>
                                        <p:tgtEl>
                                          <p:spTgt spid="16"/>
                                        </p:tgtEl>
                                      </p:cBhvr>
                                    </p:animEffect>
                                  </p:childTnLst>
                                </p:cTn>
                              </p:par>
                              <p:par>
                                <p:cTn id="41" presetID="2" presetClass="entr" presetSubtype="4"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ppt_y+0.1"/>
                                          </p:val>
                                        </p:tav>
                                        <p:tav tm="100000">
                                          <p:val>
                                            <p:strVal val="#ppt_y"/>
                                          </p:val>
                                        </p:tav>
                                      </p:tavLst>
                                    </p:anim>
                                    <p:animEffect transition="in" filter="fade">
                                      <p:cBhvr>
                                        <p:cTn id="40" dur="500"/>
                                        <p:tgtEl>
                                          <p:spTgt spid="17"/>
                                        </p:tgtEl>
                                      </p:cBhvr>
                                    </p:animEffect>
                                  </p:childTnLst>
                                </p:cTn>
                              </p:par>
                              <p:par>
                                <p:cTn id="46" presetID="2" presetClass="entr" presetSubtype="4" fill="hold" grpId="0" nodeType="withEffect">
                                  <p:stCondLst>
                                    <p:cond delay="10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ppt_y+0.1"/>
                                          </p:val>
                                        </p:tav>
                                        <p:tav tm="100000">
                                          <p:val>
                                            <p:strVal val="#ppt_y"/>
                                          </p:val>
                                        </p:tav>
                                      </p:tavLst>
                                    </p:anim>
                                    <p:animEffect transition="in" filter="fade">
                                      <p:cBhvr>
                                        <p:cTn id="45"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53" presetID="2" presetClass="entr" presetSubtype="4" fill="hold" grpId="0" nodeType="click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fill="hold"/>
                                        <p:tgtEl>
                                          <p:spTgt spid="19"/>
                                        </p:tgtEl>
                                        <p:attrNameLst>
                                          <p:attrName>ppt_x</p:attrName>
                                        </p:attrNameLst>
                                      </p:cBhvr>
                                      <p:tavLst>
                                        <p:tav tm="0">
                                          <p:val>
                                            <p:strVal val="#ppt_x"/>
                                          </p:val>
                                        </p:tav>
                                        <p:tav tm="100000">
                                          <p:val>
                                            <p:strVal val="#ppt_x"/>
                                          </p:val>
                                        </p:tav>
                                      </p:tavLst>
                                    </p:anim>
                                    <p:anim calcmode="lin" valueType="num">
                                      <p:cBhvr additive="base">
                                        <p:cTn id="51" dur="500" fill="hold"/>
                                        <p:tgtEl>
                                          <p:spTgt spid="19"/>
                                        </p:tgtEl>
                                        <p:attrNameLst>
                                          <p:attrName>ppt_y</p:attrName>
                                        </p:attrNameLst>
                                      </p:cBhvr>
                                      <p:tavLst>
                                        <p:tav tm="0">
                                          <p:val>
                                            <p:strVal val="#ppt_y+0.1"/>
                                          </p:val>
                                        </p:tav>
                                        <p:tav tm="100000">
                                          <p:val>
                                            <p:strVal val="#ppt_y"/>
                                          </p:val>
                                        </p:tav>
                                      </p:tavLst>
                                    </p:anim>
                                    <p:animEffect transition="in" filter="fade">
                                      <p:cBhvr>
                                        <p:cTn id="52" dur="500"/>
                                        <p:tgtEl>
                                          <p:spTgt spid="19"/>
                                        </p:tgtEl>
                                      </p:cBhvr>
                                    </p:animEffect>
                                  </p:childTnLst>
                                </p:cTn>
                              </p:par>
                              <p:par>
                                <p:cTn id="58" presetID="2" presetClass="entr" presetSubtype="4"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ppt_x"/>
                                          </p:val>
                                        </p:tav>
                                        <p:tav tm="100000">
                                          <p:val>
                                            <p:strVal val="#ppt_x"/>
                                          </p:val>
                                        </p:tav>
                                      </p:tavLst>
                                    </p:anim>
                                    <p:anim calcmode="lin" valueType="num">
                                      <p:cBhvr additive="base">
                                        <p:cTn id="56" dur="500" fill="hold"/>
                                        <p:tgtEl>
                                          <p:spTgt spid="20"/>
                                        </p:tgtEl>
                                        <p:attrNameLst>
                                          <p:attrName>ppt_y</p:attrName>
                                        </p:attrNameLst>
                                      </p:cBhvr>
                                      <p:tavLst>
                                        <p:tav tm="0">
                                          <p:val>
                                            <p:strVal val="#ppt_y+0.1"/>
                                          </p:val>
                                        </p:tav>
                                        <p:tav tm="100000">
                                          <p:val>
                                            <p:strVal val="#ppt_y"/>
                                          </p:val>
                                        </p:tav>
                                      </p:tavLst>
                                    </p:anim>
                                    <p:animEffect transition="in" filter="fade">
                                      <p:cBhvr>
                                        <p:cTn id="57" dur="500"/>
                                        <p:tgtEl>
                                          <p:spTgt spid="20"/>
                                        </p:tgtEl>
                                      </p:cBhvr>
                                    </p:animEffect>
                                  </p:childTnLst>
                                </p:cTn>
                              </p:par>
                              <p:par>
                                <p:cTn id="63" presetID="2" presetClass="entr" presetSubtype="4"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 calcmode="lin" valueType="num">
                                      <p:cBhvr additive="base">
                                        <p:cTn id="60" dur="500" fill="hold"/>
                                        <p:tgtEl>
                                          <p:spTgt spid="21"/>
                                        </p:tgtEl>
                                        <p:attrNameLst>
                                          <p:attrName>ppt_x</p:attrName>
                                        </p:attrNameLst>
                                      </p:cBhvr>
                                      <p:tavLst>
                                        <p:tav tm="0">
                                          <p:val>
                                            <p:strVal val="#ppt_x"/>
                                          </p:val>
                                        </p:tav>
                                        <p:tav tm="100000">
                                          <p:val>
                                            <p:strVal val="#ppt_x"/>
                                          </p:val>
                                        </p:tav>
                                      </p:tavLst>
                                    </p:anim>
                                    <p:anim calcmode="lin" valueType="num">
                                      <p:cBhvr additive="base">
                                        <p:cTn id="61" dur="500" fill="hold"/>
                                        <p:tgtEl>
                                          <p:spTgt spid="21"/>
                                        </p:tgtEl>
                                        <p:attrNameLst>
                                          <p:attrName>ppt_y</p:attrName>
                                        </p:attrNameLst>
                                      </p:cBhvr>
                                      <p:tavLst>
                                        <p:tav tm="0">
                                          <p:val>
                                            <p:strVal val="#ppt_y+0.1"/>
                                          </p:val>
                                        </p:tav>
                                        <p:tav tm="100000">
                                          <p:val>
                                            <p:strVal val="#ppt_y"/>
                                          </p:val>
                                        </p:tav>
                                      </p:tavLst>
                                    </p:anim>
                                    <p:animEffect transition="in" filter="fade">
                                      <p:cBhvr>
                                        <p:cTn id="62" dur="500"/>
                                        <p:tgtEl>
                                          <p:spTgt spid="21"/>
                                        </p:tgtEl>
                                      </p:cBhvr>
                                    </p:animEffect>
                                  </p:childTnLst>
                                </p:cTn>
                              </p:par>
                              <p:par>
                                <p:cTn id="68" presetID="2" presetClass="entr" presetSubtype="4" fill="hold" grpId="0" nodeType="withEffect">
                                  <p:stCondLst>
                                    <p:cond delay="100"/>
                                  </p:stCondLst>
                                  <p:childTnLst>
                                    <p:set>
                                      <p:cBhvr>
                                        <p:cTn id="64" dur="1" fill="hold">
                                          <p:stCondLst>
                                            <p:cond delay="0"/>
                                          </p:stCondLst>
                                        </p:cTn>
                                        <p:tgtEl>
                                          <p:spTgt spid="22"/>
                                        </p:tgtEl>
                                        <p:attrNameLst>
                                          <p:attrName>style.visibility</p:attrName>
                                        </p:attrNameLst>
                                      </p:cBhvr>
                                      <p:to>
                                        <p:strVal val="visible"/>
                                      </p:to>
                                    </p:set>
                                    <p:anim calcmode="lin" valueType="num">
                                      <p:cBhvr additive="base">
                                        <p:cTn id="65" dur="500" fill="hold"/>
                                        <p:tgtEl>
                                          <p:spTgt spid="22"/>
                                        </p:tgtEl>
                                        <p:attrNameLst>
                                          <p:attrName>ppt_x</p:attrName>
                                        </p:attrNameLst>
                                      </p:cBhvr>
                                      <p:tavLst>
                                        <p:tav tm="0">
                                          <p:val>
                                            <p:strVal val="#ppt_x"/>
                                          </p:val>
                                        </p:tav>
                                        <p:tav tm="100000">
                                          <p:val>
                                            <p:strVal val="#ppt_x"/>
                                          </p:val>
                                        </p:tav>
                                      </p:tavLst>
                                    </p:anim>
                                    <p:anim calcmode="lin" valueType="num">
                                      <p:cBhvr additive="base">
                                        <p:cTn id="66" dur="500" fill="hold"/>
                                        <p:tgtEl>
                                          <p:spTgt spid="22"/>
                                        </p:tgtEl>
                                        <p:attrNameLst>
                                          <p:attrName>ppt_y</p:attrName>
                                        </p:attrNameLst>
                                      </p:cBhvr>
                                      <p:tavLst>
                                        <p:tav tm="0">
                                          <p:val>
                                            <p:strVal val="#ppt_y+0.1"/>
                                          </p:val>
                                        </p:tav>
                                        <p:tav tm="100000">
                                          <p:val>
                                            <p:strVal val="#ppt_y"/>
                                          </p:val>
                                        </p:tav>
                                      </p:tavLst>
                                    </p:anim>
                                    <p:animEffect transition="in" filter="fade">
                                      <p:cBhvr>
                                        <p:cTn id="67" dur="500"/>
                                        <p:tgtEl>
                                          <p:spTgt spid="22"/>
                                        </p:tgtEl>
                                      </p:cBhvr>
                                    </p:animEffect>
                                  </p:childTnLst>
                                </p:cTn>
                              </p:par>
                            </p:childTnLst>
                          </p:cTn>
                        </p:par>
                      </p:childTnLst>
                    </p:cTn>
                  </p:par>
                  <p:par>
                    <p:cTn id="69" fill="hold">
                      <p:stCondLst>
                        <p:cond delay="indefinite"/>
                      </p:stCondLst>
                      <p:childTnLst>
                        <p:par>
                          <p:cTn id="70" fill="hold">
                            <p:stCondLst>
                              <p:cond delay="0"/>
                            </p:stCondLst>
                            <p:childTnLst>
                              <p:par>
                                <p:cTn id="75" presetID="2" presetClass="entr" presetSubtype="4" fill="hold" grpId="0" nodeType="clickEffect">
                                  <p:stCondLst>
                                    <p:cond delay="0"/>
                                  </p:stCondLst>
                                  <p:childTnLst>
                                    <p:set>
                                      <p:cBhvr>
                                        <p:cTn id="71" dur="1" fill="hold">
                                          <p:stCondLst>
                                            <p:cond delay="0"/>
                                          </p:stCondLst>
                                        </p:cTn>
                                        <p:tgtEl>
                                          <p:spTgt spid="23"/>
                                        </p:tgtEl>
                                        <p:attrNameLst>
                                          <p:attrName>style.visibility</p:attrName>
                                        </p:attrNameLst>
                                      </p:cBhvr>
                                      <p:to>
                                        <p:strVal val="visible"/>
                                      </p:to>
                                    </p:set>
                                    <p:anim calcmode="lin" valueType="num">
                                      <p:cBhvr additive="base">
                                        <p:cTn id="72" dur="500" fill="hold"/>
                                        <p:tgtEl>
                                          <p:spTgt spid="23"/>
                                        </p:tgtEl>
                                        <p:attrNameLst>
                                          <p:attrName>ppt_x</p:attrName>
                                        </p:attrNameLst>
                                      </p:cBhvr>
                                      <p:tavLst>
                                        <p:tav tm="0">
                                          <p:val>
                                            <p:strVal val="#ppt_x"/>
                                          </p:val>
                                        </p:tav>
                                        <p:tav tm="100000">
                                          <p:val>
                                            <p:strVal val="#ppt_x"/>
                                          </p:val>
                                        </p:tav>
                                      </p:tavLst>
                                    </p:anim>
                                    <p:anim calcmode="lin" valueType="num">
                                      <p:cBhvr additive="base">
                                        <p:cTn id="73" dur="500" fill="hold"/>
                                        <p:tgtEl>
                                          <p:spTgt spid="23"/>
                                        </p:tgtEl>
                                        <p:attrNameLst>
                                          <p:attrName>ppt_y</p:attrName>
                                        </p:attrNameLst>
                                      </p:cBhvr>
                                      <p:tavLst>
                                        <p:tav tm="0">
                                          <p:val>
                                            <p:strVal val="#ppt_y+0.1"/>
                                          </p:val>
                                        </p:tav>
                                        <p:tav tm="100000">
                                          <p:val>
                                            <p:strVal val="#ppt_y"/>
                                          </p:val>
                                        </p:tav>
                                      </p:tavLst>
                                    </p:anim>
                                    <p:animEffect transition="in" filter="fade">
                                      <p:cBhvr>
                                        <p:cTn id="74" dur="500"/>
                                        <p:tgtEl>
                                          <p:spTgt spid="23"/>
                                        </p:tgtEl>
                                      </p:cBhvr>
                                    </p:animEffect>
                                  </p:childTnLst>
                                </p:cTn>
                              </p:par>
                              <p:par>
                                <p:cTn id="80" presetID="2" presetClass="entr" presetSubtype="4"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 calcmode="lin" valueType="num">
                                      <p:cBhvr additive="base">
                                        <p:cTn id="77" dur="500" fill="hold"/>
                                        <p:tgtEl>
                                          <p:spTgt spid="24"/>
                                        </p:tgtEl>
                                        <p:attrNameLst>
                                          <p:attrName>ppt_x</p:attrName>
                                        </p:attrNameLst>
                                      </p:cBhvr>
                                      <p:tavLst>
                                        <p:tav tm="0">
                                          <p:val>
                                            <p:strVal val="#ppt_x"/>
                                          </p:val>
                                        </p:tav>
                                        <p:tav tm="100000">
                                          <p:val>
                                            <p:strVal val="#ppt_x"/>
                                          </p:val>
                                        </p:tav>
                                      </p:tavLst>
                                    </p:anim>
                                    <p:anim calcmode="lin" valueType="num">
                                      <p:cBhvr additive="base">
                                        <p:cTn id="78" dur="500" fill="hold"/>
                                        <p:tgtEl>
                                          <p:spTgt spid="24"/>
                                        </p:tgtEl>
                                        <p:attrNameLst>
                                          <p:attrName>ppt_y</p:attrName>
                                        </p:attrNameLst>
                                      </p:cBhvr>
                                      <p:tavLst>
                                        <p:tav tm="0">
                                          <p:val>
                                            <p:strVal val="#ppt_y+0.1"/>
                                          </p:val>
                                        </p:tav>
                                        <p:tav tm="100000">
                                          <p:val>
                                            <p:strVal val="#ppt_y"/>
                                          </p:val>
                                        </p:tav>
                                      </p:tavLst>
                                    </p:anim>
                                    <p:animEffect transition="in" filter="fade">
                                      <p:cBhvr>
                                        <p:cTn id="79" dur="500"/>
                                        <p:tgtEl>
                                          <p:spTgt spid="24"/>
                                        </p:tgtEl>
                                      </p:cBhvr>
                                    </p:animEffect>
                                  </p:childTnLst>
                                </p:cTn>
                              </p:par>
                              <p:par>
                                <p:cTn id="85" presetID="2" presetClass="entr" presetSubtype="4"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anim calcmode="lin" valueType="num">
                                      <p:cBhvr additive="base">
                                        <p:cTn id="82" dur="500" fill="hold"/>
                                        <p:tgtEl>
                                          <p:spTgt spid="25"/>
                                        </p:tgtEl>
                                        <p:attrNameLst>
                                          <p:attrName>ppt_x</p:attrName>
                                        </p:attrNameLst>
                                      </p:cBhvr>
                                      <p:tavLst>
                                        <p:tav tm="0">
                                          <p:val>
                                            <p:strVal val="#ppt_x"/>
                                          </p:val>
                                        </p:tav>
                                        <p:tav tm="100000">
                                          <p:val>
                                            <p:strVal val="#ppt_x"/>
                                          </p:val>
                                        </p:tav>
                                      </p:tavLst>
                                    </p:anim>
                                    <p:anim calcmode="lin" valueType="num">
                                      <p:cBhvr additive="base">
                                        <p:cTn id="83" dur="500" fill="hold"/>
                                        <p:tgtEl>
                                          <p:spTgt spid="25"/>
                                        </p:tgtEl>
                                        <p:attrNameLst>
                                          <p:attrName>ppt_y</p:attrName>
                                        </p:attrNameLst>
                                      </p:cBhvr>
                                      <p:tavLst>
                                        <p:tav tm="0">
                                          <p:val>
                                            <p:strVal val="#ppt_y+0.1"/>
                                          </p:val>
                                        </p:tav>
                                        <p:tav tm="100000">
                                          <p:val>
                                            <p:strVal val="#ppt_y"/>
                                          </p:val>
                                        </p:tav>
                                      </p:tavLst>
                                    </p:anim>
                                    <p:animEffect transition="in" filter="fade">
                                      <p:cBhvr>
                                        <p:cTn id="8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A Data Streaming Platform Is Emerging</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whole ecosystem of tools and components is growing on top of Kafka</a:t>
            </a:r>
          </a:p>
        </p:txBody>
      </p:sp>
      <p:sp>
        <p:nvSpPr>
          <p:cNvPr id="11" name="a2u_card10"/>
          <p:cNvSpPr/>
          <p:nvPr/>
        </p:nvSpPr>
        <p:spPr>
          <a:xfrm>
            <a:off x="457200" y="1874519"/>
            <a:ext cx="2615184" cy="1371600"/>
          </a:xfrm>
          <a:prstGeom prst="roundRect">
            <a:avLst>
              <a:gd name="adj" fmla="val 8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2u_acc11"/>
          <p:cNvSpPr/>
          <p:nvPr/>
        </p:nvSpPr>
        <p:spPr>
          <a:xfrm>
            <a:off x="457200" y="1874519"/>
            <a:ext cx="2615184"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2u_tt12"/>
          <p:cNvSpPr txBox="1"/>
          <p:nvPr/>
        </p:nvSpPr>
        <p:spPr>
          <a:xfrm>
            <a:off x="603504" y="1984248"/>
            <a:ext cx="2340864" cy="256032"/>
          </a:xfrm>
          <a:prstGeom prst="rect">
            <a:avLst/>
          </a:prstGeom>
          <a:noFill/>
        </p:spPr>
        <p:txBody>
          <a:bodyPr wrap="square" lIns="0" tIns="0" rIns="0" bIns="0" anchor="ctr">
            <a:spAutoFit/>
          </a:bodyPr>
          <a:lstStyle/>
          <a:p>
            <a:pPr algn="l"/>
            <a:r>
              <a:rPr sz="1250" b="1">
                <a:solidFill>
                  <a:srgbClr val="1C1917"/>
                </a:solidFill>
                <a:latin typeface="Segoe UI"/>
              </a:rPr>
              <a:t>Stream processing</a:t>
            </a:r>
          </a:p>
        </p:txBody>
      </p:sp>
      <p:sp>
        <p:nvSpPr>
          <p:cNvPr id="14" name="a2ud60_tb13"/>
          <p:cNvSpPr txBox="1"/>
          <p:nvPr/>
        </p:nvSpPr>
        <p:spPr>
          <a:xfrm>
            <a:off x="603504" y="2276856"/>
            <a:ext cx="2340864" cy="914400"/>
          </a:xfrm>
          <a:prstGeom prst="rect">
            <a:avLst/>
          </a:prstGeom>
          <a:noFill/>
        </p:spPr>
        <p:txBody>
          <a:bodyPr wrap="square" lIns="0" tIns="0" rIns="0" bIns="0" anchor="t">
            <a:spAutoFit/>
          </a:bodyPr>
          <a:lstStyle/>
          <a:p>
            <a:pPr algn="l"/>
            <a:r>
              <a:rPr sz="1000" b="0">
                <a:solidFill>
                  <a:srgbClr val="44403C"/>
                </a:solidFill>
                <a:latin typeface="Segoe UI"/>
              </a:rPr>
              <a:t>real-time computation on all these events</a:t>
            </a:r>
          </a:p>
        </p:txBody>
      </p:sp>
      <p:sp>
        <p:nvSpPr>
          <p:cNvPr id="15" name="a2u_card14"/>
          <p:cNvSpPr/>
          <p:nvPr/>
        </p:nvSpPr>
        <p:spPr>
          <a:xfrm>
            <a:off x="3264408" y="1874519"/>
            <a:ext cx="2615184" cy="1371600"/>
          </a:xfrm>
          <a:prstGeom prst="roundRect">
            <a:avLst>
              <a:gd name="adj" fmla="val 8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2u_acc15"/>
          <p:cNvSpPr/>
          <p:nvPr/>
        </p:nvSpPr>
        <p:spPr>
          <a:xfrm>
            <a:off x="3264408" y="1874519"/>
            <a:ext cx="2615184" cy="457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2u_tt16"/>
          <p:cNvSpPr txBox="1"/>
          <p:nvPr/>
        </p:nvSpPr>
        <p:spPr>
          <a:xfrm>
            <a:off x="3410712" y="1984248"/>
            <a:ext cx="2340864" cy="256032"/>
          </a:xfrm>
          <a:prstGeom prst="rect">
            <a:avLst/>
          </a:prstGeom>
          <a:noFill/>
        </p:spPr>
        <p:txBody>
          <a:bodyPr wrap="square" lIns="0" tIns="0" rIns="0" bIns="0" anchor="ctr">
            <a:spAutoFit/>
          </a:bodyPr>
          <a:lstStyle/>
          <a:p>
            <a:pPr algn="l"/>
            <a:r>
              <a:rPr sz="1250" b="1">
                <a:solidFill>
                  <a:srgbClr val="1C1917"/>
                </a:solidFill>
                <a:latin typeface="Segoe UI"/>
              </a:rPr>
              <a:t>Governance</a:t>
            </a:r>
          </a:p>
        </p:txBody>
      </p:sp>
      <p:sp>
        <p:nvSpPr>
          <p:cNvPr id="18" name="a2ud60_tb17"/>
          <p:cNvSpPr txBox="1"/>
          <p:nvPr/>
        </p:nvSpPr>
        <p:spPr>
          <a:xfrm>
            <a:off x="3410712" y="2276856"/>
            <a:ext cx="2340864" cy="914400"/>
          </a:xfrm>
          <a:prstGeom prst="rect">
            <a:avLst/>
          </a:prstGeom>
          <a:noFill/>
        </p:spPr>
        <p:txBody>
          <a:bodyPr wrap="square" lIns="0" tIns="0" rIns="0" bIns="0" anchor="t">
            <a:spAutoFit/>
          </a:bodyPr>
          <a:lstStyle/>
          <a:p>
            <a:pPr algn="l"/>
            <a:r>
              <a:rPr sz="1000" b="0">
                <a:solidFill>
                  <a:srgbClr val="44403C"/>
                </a:solidFill>
                <a:latin typeface="Segoe UI"/>
              </a:rPr>
              <a:t>control and rules for the event data</a:t>
            </a:r>
          </a:p>
        </p:txBody>
      </p:sp>
      <p:sp>
        <p:nvSpPr>
          <p:cNvPr id="19" name="a2u_card18"/>
          <p:cNvSpPr/>
          <p:nvPr/>
        </p:nvSpPr>
        <p:spPr>
          <a:xfrm>
            <a:off x="6071616" y="1874519"/>
            <a:ext cx="2615184" cy="1371600"/>
          </a:xfrm>
          <a:prstGeom prst="roundRect">
            <a:avLst>
              <a:gd name="adj" fmla="val 8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2u_acc19"/>
          <p:cNvSpPr/>
          <p:nvPr/>
        </p:nvSpPr>
        <p:spPr>
          <a:xfrm>
            <a:off x="6071616" y="1874519"/>
            <a:ext cx="2615184"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_tt20"/>
          <p:cNvSpPr txBox="1"/>
          <p:nvPr/>
        </p:nvSpPr>
        <p:spPr>
          <a:xfrm>
            <a:off x="6217920" y="1984248"/>
            <a:ext cx="2340864" cy="256032"/>
          </a:xfrm>
          <a:prstGeom prst="rect">
            <a:avLst/>
          </a:prstGeom>
          <a:noFill/>
        </p:spPr>
        <p:txBody>
          <a:bodyPr wrap="square" lIns="0" tIns="0" rIns="0" bIns="0" anchor="ctr">
            <a:spAutoFit/>
          </a:bodyPr>
          <a:lstStyle/>
          <a:p>
            <a:pPr algn="l"/>
            <a:r>
              <a:rPr sz="1250" b="1">
                <a:solidFill>
                  <a:srgbClr val="1C1917"/>
                </a:solidFill>
                <a:latin typeface="Segoe UI"/>
              </a:rPr>
              <a:t>Connectivity</a:t>
            </a:r>
          </a:p>
        </p:txBody>
      </p:sp>
      <p:sp>
        <p:nvSpPr>
          <p:cNvPr id="22" name="a2ud60_tb21"/>
          <p:cNvSpPr txBox="1"/>
          <p:nvPr/>
        </p:nvSpPr>
        <p:spPr>
          <a:xfrm>
            <a:off x="6217920" y="2276856"/>
            <a:ext cx="2340864" cy="914400"/>
          </a:xfrm>
          <a:prstGeom prst="rect">
            <a:avLst/>
          </a:prstGeom>
          <a:noFill/>
        </p:spPr>
        <p:txBody>
          <a:bodyPr wrap="square" lIns="0" tIns="0" rIns="0" bIns="0" anchor="t">
            <a:spAutoFit/>
          </a:bodyPr>
          <a:lstStyle/>
          <a:p>
            <a:pPr algn="l"/>
            <a:r>
              <a:rPr sz="1000" b="0">
                <a:solidFill>
                  <a:srgbClr val="44403C"/>
                </a:solidFill>
                <a:latin typeface="Segoe UI"/>
              </a:rPr>
              <a:t>connecting Kafka with systems that are not Kafka</a:t>
            </a:r>
          </a:p>
        </p:txBody>
      </p:sp>
      <p:sp>
        <p:nvSpPr>
          <p:cNvPr id="23" name="a3u_roof22"/>
          <p:cNvSpPr/>
          <p:nvPr/>
        </p:nvSpPr>
        <p:spPr>
          <a:xfrm>
            <a:off x="457200" y="1280160"/>
            <a:ext cx="8229600" cy="457200"/>
          </a:xfrm>
          <a:prstGeom prst="roundRect">
            <a:avLst>
              <a:gd name="adj" fmla="val 16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3u_rooft23"/>
          <p:cNvSpPr txBox="1"/>
          <p:nvPr/>
        </p:nvSpPr>
        <p:spPr>
          <a:xfrm>
            <a:off x="548640" y="1280160"/>
            <a:ext cx="8046720" cy="457200"/>
          </a:xfrm>
          <a:prstGeom prst="rect">
            <a:avLst/>
          </a:prstGeom>
          <a:noFill/>
        </p:spPr>
        <p:txBody>
          <a:bodyPr wrap="square" lIns="0" tIns="0" rIns="0" bIns="0" anchor="ctr">
            <a:spAutoFit/>
          </a:bodyPr>
          <a:lstStyle/>
          <a:p>
            <a:pPr algn="ctr"/>
            <a:r>
              <a:rPr sz="1300" b="1">
                <a:solidFill>
                  <a:srgbClr val="FFFFFF"/>
                </a:solidFill>
                <a:latin typeface="Segoe UI"/>
              </a:rPr>
              <a:t>DATA STREAMING PLATFORM</a:t>
            </a:r>
          </a:p>
        </p:txBody>
      </p:sp>
      <p:sp>
        <p:nvSpPr>
          <p:cNvPr id="25" name="a1u_base24"/>
          <p:cNvSpPr/>
          <p:nvPr/>
        </p:nvSpPr>
        <p:spPr>
          <a:xfrm>
            <a:off x="457200" y="3383280"/>
            <a:ext cx="8229600" cy="502920"/>
          </a:xfrm>
          <a:prstGeom prst="roundRect">
            <a:avLst>
              <a:gd name="adj" fmla="val 14545"/>
            </a:avLst>
          </a:prstGeom>
          <a:solidFill>
            <a:srgbClr val="D9F2F7"/>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1u_baset25"/>
          <p:cNvSpPr txBox="1"/>
          <p:nvPr/>
        </p:nvSpPr>
        <p:spPr>
          <a:xfrm>
            <a:off x="548640" y="3383280"/>
            <a:ext cx="8046720" cy="502920"/>
          </a:xfrm>
          <a:prstGeom prst="rect">
            <a:avLst/>
          </a:prstGeom>
          <a:noFill/>
        </p:spPr>
        <p:txBody>
          <a:bodyPr wrap="square" lIns="0" tIns="0" rIns="0" bIns="0" anchor="ctr">
            <a:spAutoFit/>
          </a:bodyPr>
          <a:lstStyle/>
          <a:p>
            <a:pPr algn="ctr"/>
            <a:r>
              <a:rPr sz="1300" b="1">
                <a:solidFill>
                  <a:srgbClr val="0E7490"/>
                </a:solidFill>
                <a:latin typeface="Segoe UI"/>
              </a:rPr>
              <a:t>Apache Kafka</a:t>
            </a:r>
          </a:p>
        </p:txBody>
      </p:sp>
      <p:sp>
        <p:nvSpPr>
          <p:cNvPr id="27" name="a4u_nb26"/>
          <p:cNvSpPr/>
          <p:nvPr/>
        </p:nvSpPr>
        <p:spPr>
          <a:xfrm>
            <a:off x="457200" y="4041648"/>
            <a:ext cx="8229600" cy="502920"/>
          </a:xfrm>
          <a:prstGeom prst="roundRect">
            <a:avLst>
              <a:gd name="adj" fmla="val 14545"/>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4u_nacc27"/>
          <p:cNvSpPr/>
          <p:nvPr/>
        </p:nvSpPr>
        <p:spPr>
          <a:xfrm>
            <a:off x="457200" y="4041648"/>
            <a:ext cx="54864" cy="5029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4u_nt28"/>
          <p:cNvSpPr txBox="1"/>
          <p:nvPr/>
        </p:nvSpPr>
        <p:spPr>
          <a:xfrm>
            <a:off x="658368" y="4041648"/>
            <a:ext cx="7827264" cy="502920"/>
          </a:xfrm>
          <a:prstGeom prst="rect">
            <a:avLst/>
          </a:prstGeom>
          <a:noFill/>
        </p:spPr>
        <p:txBody>
          <a:bodyPr wrap="square" lIns="0" tIns="0" rIns="0" bIns="0" anchor="ctr">
            <a:spAutoFit/>
          </a:bodyPr>
          <a:lstStyle/>
          <a:p>
            <a:pPr algn="l"/>
            <a:r>
              <a:rPr sz="950" b="1">
                <a:solidFill>
                  <a:srgbClr val="C2410C"/>
                </a:solidFill>
                <a:latin typeface="Segoe UI"/>
              </a:rPr>
              <a:t>i  </a:t>
            </a:r>
            <a:r>
              <a:rPr sz="950" b="0">
                <a:solidFill>
                  <a:srgbClr val="44403C"/>
                </a:solidFill>
                <a:latin typeface="Segoe UI"/>
              </a:rPr>
              <a:t>It has taken shape since Kafka began - and it is still growing.</a:t>
            </a:r>
          </a:p>
        </p:txBody>
      </p:sp>
      <p:sp>
        <p:nvSpPr>
          <p:cNvPr id="30" name="ft29"/>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11</a:t>
            </a:r>
          </a:p>
        </p:txBody>
      </p:sp>
      <p:sp>
        <p:nvSpPr>
          <p:cNvPr id="31" name="ft30"/>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ft31"/>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Introduction</a:t>
            </a:r>
          </a:p>
        </p:txBody>
      </p:sp>
      <p:sp>
        <p:nvSpPr>
          <p:cNvPr id="33" name="ft32"/>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25"/>
                                        </p:tgtEl>
                                        <p:attrNameLst>
                                          <p:attrName>style.visibility</p:attrName>
                                        </p:attrNameLst>
                                      </p:cBhvr>
                                      <p:to>
                                        <p:strVal val="visible"/>
                                      </p:to>
                                    </p:set>
                                    <p:anim calcmode="lin" valueType="num">
                                      <p:cBhvr additive="base">
                                        <p:cTn id="6" dur="500" fill="hold"/>
                                        <p:tgtEl>
                                          <p:spTgt spid="25"/>
                                        </p:tgtEl>
                                        <p:attrNameLst>
                                          <p:attrName>ppt_x</p:attrName>
                                        </p:attrNameLst>
                                      </p:cBhvr>
                                      <p:tavLst>
                                        <p:tav tm="0">
                                          <p:val>
                                            <p:strVal val="#ppt_x"/>
                                          </p:val>
                                        </p:tav>
                                        <p:tav tm="100000">
                                          <p:val>
                                            <p:strVal val="#ppt_x"/>
                                          </p:val>
                                        </p:tav>
                                      </p:tavLst>
                                    </p:anim>
                                    <p:anim calcmode="lin" valueType="num">
                                      <p:cBhvr additive="base">
                                        <p:cTn id="7" dur="500" fill="hold"/>
                                        <p:tgtEl>
                                          <p:spTgt spid="25"/>
                                        </p:tgtEl>
                                        <p:attrNameLst>
                                          <p:attrName>ppt_y</p:attrName>
                                        </p:attrNameLst>
                                      </p:cBhvr>
                                      <p:tavLst>
                                        <p:tav tm="0">
                                          <p:val>
                                            <p:strVal val="#ppt_y+0.1"/>
                                          </p:val>
                                        </p:tav>
                                        <p:tav tm="100000">
                                          <p:val>
                                            <p:strVal val="#ppt_y"/>
                                          </p:val>
                                        </p:tav>
                                      </p:tavLst>
                                    </p:anim>
                                    <p:animEffect transition="in" filter="fade">
                                      <p:cBhvr>
                                        <p:cTn id="8" dur="500"/>
                                        <p:tgtEl>
                                          <p:spTgt spid="25"/>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ppt_x"/>
                                          </p:val>
                                        </p:tav>
                                        <p:tav tm="100000">
                                          <p:val>
                                            <p:strVal val="#ppt_x"/>
                                          </p:val>
                                        </p:tav>
                                      </p:tavLst>
                                    </p:anim>
                                    <p:anim calcmode="lin" valueType="num">
                                      <p:cBhvr additive="base">
                                        <p:cTn id="12" dur="500" fill="hold"/>
                                        <p:tgtEl>
                                          <p:spTgt spid="26"/>
                                        </p:tgtEl>
                                        <p:attrNameLst>
                                          <p:attrName>ppt_y</p:attrName>
                                        </p:attrNameLst>
                                      </p:cBhvr>
                                      <p:tavLst>
                                        <p:tav tm="0">
                                          <p:val>
                                            <p:strVal val="#ppt_y+0.1"/>
                                          </p:val>
                                        </p:tav>
                                        <p:tav tm="100000">
                                          <p:val>
                                            <p:strVal val="#ppt_y"/>
                                          </p:val>
                                        </p:tav>
                                      </p:tavLst>
                                    </p:anim>
                                    <p:animEffect transition="in" filter="fade">
                                      <p:cBhvr>
                                        <p:cTn id="13" dur="500"/>
                                        <p:tgtEl>
                                          <p:spTgt spid="26"/>
                                        </p:tgtEl>
                                      </p:cBhvr>
                                    </p:animEffect>
                                  </p:childTnLst>
                                </p:cTn>
                              </p:par>
                            </p:childTnLst>
                          </p:cTn>
                        </p:par>
                      </p:childTnLst>
                    </p:cTn>
                  </p:par>
                  <p:par>
                    <p:cTn id="15" fill="hold">
                      <p:stCondLst>
                        <p:cond delay="indefinite"/>
                      </p:stCondLst>
                      <p:childTnLst>
                        <p:par>
                          <p:cTn id="16" fill="hold">
                            <p:stCondLst>
                              <p:cond delay="0"/>
                            </p:stCondLst>
                            <p:childTnLst>
                              <p:par>
                                <p:cTn id="21" presetID="2" presetClass="entr" presetSubtype="4"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ppt_x"/>
                                          </p:val>
                                        </p:tav>
                                        <p:tav tm="100000">
                                          <p:val>
                                            <p:strVal val="#ppt_x"/>
                                          </p:val>
                                        </p:tav>
                                      </p:tavLst>
                                    </p:anim>
                                    <p:anim calcmode="lin" valueType="num">
                                      <p:cBhvr additive="base">
                                        <p:cTn id="19" dur="500" fill="hold"/>
                                        <p:tgtEl>
                                          <p:spTgt spid="11"/>
                                        </p:tgtEl>
                                        <p:attrNameLst>
                                          <p:attrName>ppt_y</p:attrName>
                                        </p:attrNameLst>
                                      </p:cBhvr>
                                      <p:tavLst>
                                        <p:tav tm="0">
                                          <p:val>
                                            <p:strVal val="#ppt_y+0.1"/>
                                          </p:val>
                                        </p:tav>
                                        <p:tav tm="100000">
                                          <p:val>
                                            <p:strVal val="#ppt_y"/>
                                          </p:val>
                                        </p:tav>
                                      </p:tavLst>
                                    </p:anim>
                                    <p:animEffect transition="in" filter="fade">
                                      <p:cBhvr>
                                        <p:cTn id="20" dur="500"/>
                                        <p:tgtEl>
                                          <p:spTgt spid="11"/>
                                        </p:tgtEl>
                                      </p:cBhvr>
                                    </p:animEffect>
                                  </p:childTnLst>
                                </p:cTn>
                              </p:par>
                              <p:par>
                                <p:cTn id="26" presetID="2" presetClass="entr" presetSubtype="4"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ppt_y+0.1"/>
                                          </p:val>
                                        </p:tav>
                                        <p:tav tm="100000">
                                          <p:val>
                                            <p:strVal val="#ppt_y"/>
                                          </p:val>
                                        </p:tav>
                                      </p:tavLst>
                                    </p:anim>
                                    <p:animEffect transition="in" filter="fade">
                                      <p:cBhvr>
                                        <p:cTn id="25" dur="500"/>
                                        <p:tgtEl>
                                          <p:spTgt spid="12"/>
                                        </p:tgtEl>
                                      </p:cBhvr>
                                    </p:animEffect>
                                  </p:childTnLst>
                                </p:cTn>
                              </p:par>
                              <p:par>
                                <p:cTn id="31" presetID="2" presetClass="entr" presetSubtype="4"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additive="base">
                                        <p:cTn id="28" dur="500" fill="hold"/>
                                        <p:tgtEl>
                                          <p:spTgt spid="13"/>
                                        </p:tgtEl>
                                        <p:attrNameLst>
                                          <p:attrName>ppt_x</p:attrName>
                                        </p:attrNameLst>
                                      </p:cBhvr>
                                      <p:tavLst>
                                        <p:tav tm="0">
                                          <p:val>
                                            <p:strVal val="#ppt_x"/>
                                          </p:val>
                                        </p:tav>
                                        <p:tav tm="100000">
                                          <p:val>
                                            <p:strVal val="#ppt_x"/>
                                          </p:val>
                                        </p:tav>
                                      </p:tavLst>
                                    </p:anim>
                                    <p:anim calcmode="lin" valueType="num">
                                      <p:cBhvr additive="base">
                                        <p:cTn id="29" dur="500" fill="hold"/>
                                        <p:tgtEl>
                                          <p:spTgt spid="13"/>
                                        </p:tgtEl>
                                        <p:attrNameLst>
                                          <p:attrName>ppt_y</p:attrName>
                                        </p:attrNameLst>
                                      </p:cBhvr>
                                      <p:tavLst>
                                        <p:tav tm="0">
                                          <p:val>
                                            <p:strVal val="#ppt_y+0.1"/>
                                          </p:val>
                                        </p:tav>
                                        <p:tav tm="100000">
                                          <p:val>
                                            <p:strVal val="#ppt_y"/>
                                          </p:val>
                                        </p:tav>
                                      </p:tavLst>
                                    </p:anim>
                                    <p:animEffect transition="in" filter="fade">
                                      <p:cBhvr>
                                        <p:cTn id="30" dur="500"/>
                                        <p:tgtEl>
                                          <p:spTgt spid="13"/>
                                        </p:tgtEl>
                                      </p:cBhvr>
                                    </p:animEffect>
                                  </p:childTnLst>
                                </p:cTn>
                              </p:par>
                              <p:par>
                                <p:cTn id="36" presetID="2" presetClass="entr" presetSubtype="4"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fill="hold"/>
                                        <p:tgtEl>
                                          <p:spTgt spid="15"/>
                                        </p:tgtEl>
                                        <p:attrNameLst>
                                          <p:attrName>ppt_x</p:attrName>
                                        </p:attrNameLst>
                                      </p:cBhvr>
                                      <p:tavLst>
                                        <p:tav tm="0">
                                          <p:val>
                                            <p:strVal val="#ppt_x"/>
                                          </p:val>
                                        </p:tav>
                                        <p:tav tm="100000">
                                          <p:val>
                                            <p:strVal val="#ppt_x"/>
                                          </p:val>
                                        </p:tav>
                                      </p:tavLst>
                                    </p:anim>
                                    <p:anim calcmode="lin" valueType="num">
                                      <p:cBhvr additive="base">
                                        <p:cTn id="34" dur="500" fill="hold"/>
                                        <p:tgtEl>
                                          <p:spTgt spid="15"/>
                                        </p:tgtEl>
                                        <p:attrNameLst>
                                          <p:attrName>ppt_y</p:attrName>
                                        </p:attrNameLst>
                                      </p:cBhvr>
                                      <p:tavLst>
                                        <p:tav tm="0">
                                          <p:val>
                                            <p:strVal val="#ppt_y+0.1"/>
                                          </p:val>
                                        </p:tav>
                                        <p:tav tm="100000">
                                          <p:val>
                                            <p:strVal val="#ppt_y"/>
                                          </p:val>
                                        </p:tav>
                                      </p:tavLst>
                                    </p:anim>
                                    <p:animEffect transition="in" filter="fade">
                                      <p:cBhvr>
                                        <p:cTn id="35" dur="500"/>
                                        <p:tgtEl>
                                          <p:spTgt spid="15"/>
                                        </p:tgtEl>
                                      </p:cBhvr>
                                    </p:animEffect>
                                  </p:childTnLst>
                                </p:cTn>
                              </p:par>
                              <p:par>
                                <p:cTn id="41" presetID="2" presetClass="entr" presetSubtype="4"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 calcmode="lin" valueType="num">
                                      <p:cBhvr additive="base">
                                        <p:cTn id="38" dur="500" fill="hold"/>
                                        <p:tgtEl>
                                          <p:spTgt spid="16"/>
                                        </p:tgtEl>
                                        <p:attrNameLst>
                                          <p:attrName>ppt_x</p:attrName>
                                        </p:attrNameLst>
                                      </p:cBhvr>
                                      <p:tavLst>
                                        <p:tav tm="0">
                                          <p:val>
                                            <p:strVal val="#ppt_x"/>
                                          </p:val>
                                        </p:tav>
                                        <p:tav tm="100000">
                                          <p:val>
                                            <p:strVal val="#ppt_x"/>
                                          </p:val>
                                        </p:tav>
                                      </p:tavLst>
                                    </p:anim>
                                    <p:anim calcmode="lin" valueType="num">
                                      <p:cBhvr additive="base">
                                        <p:cTn id="39" dur="500" fill="hold"/>
                                        <p:tgtEl>
                                          <p:spTgt spid="16"/>
                                        </p:tgtEl>
                                        <p:attrNameLst>
                                          <p:attrName>ppt_y</p:attrName>
                                        </p:attrNameLst>
                                      </p:cBhvr>
                                      <p:tavLst>
                                        <p:tav tm="0">
                                          <p:val>
                                            <p:strVal val="#ppt_y+0.1"/>
                                          </p:val>
                                        </p:tav>
                                        <p:tav tm="100000">
                                          <p:val>
                                            <p:strVal val="#ppt_y"/>
                                          </p:val>
                                        </p:tav>
                                      </p:tavLst>
                                    </p:anim>
                                    <p:animEffect transition="in" filter="fade">
                                      <p:cBhvr>
                                        <p:cTn id="40" dur="500"/>
                                        <p:tgtEl>
                                          <p:spTgt spid="16"/>
                                        </p:tgtEl>
                                      </p:cBhvr>
                                    </p:animEffect>
                                  </p:childTnLst>
                                </p:cTn>
                              </p:par>
                              <p:par>
                                <p:cTn id="46" presetID="2" presetClass="entr" presetSubtype="4"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ppt_x"/>
                                          </p:val>
                                        </p:tav>
                                        <p:tav tm="100000">
                                          <p:val>
                                            <p:strVal val="#ppt_x"/>
                                          </p:val>
                                        </p:tav>
                                      </p:tavLst>
                                    </p:anim>
                                    <p:anim calcmode="lin" valueType="num">
                                      <p:cBhvr additive="base">
                                        <p:cTn id="44" dur="500" fill="hold"/>
                                        <p:tgtEl>
                                          <p:spTgt spid="17"/>
                                        </p:tgtEl>
                                        <p:attrNameLst>
                                          <p:attrName>ppt_y</p:attrName>
                                        </p:attrNameLst>
                                      </p:cBhvr>
                                      <p:tavLst>
                                        <p:tav tm="0">
                                          <p:val>
                                            <p:strVal val="#ppt_y+0.1"/>
                                          </p:val>
                                        </p:tav>
                                        <p:tav tm="100000">
                                          <p:val>
                                            <p:strVal val="#ppt_y"/>
                                          </p:val>
                                        </p:tav>
                                      </p:tavLst>
                                    </p:anim>
                                    <p:animEffect transition="in" filter="fade">
                                      <p:cBhvr>
                                        <p:cTn id="45" dur="500"/>
                                        <p:tgtEl>
                                          <p:spTgt spid="17"/>
                                        </p:tgtEl>
                                      </p:cBhvr>
                                    </p:animEffect>
                                  </p:childTnLst>
                                </p:cTn>
                              </p:par>
                              <p:par>
                                <p:cTn id="51" presetID="2" presetClass="entr" presetSubtype="4"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 calcmode="lin" valueType="num">
                                      <p:cBhvr additive="base">
                                        <p:cTn id="48" dur="500" fill="hold"/>
                                        <p:tgtEl>
                                          <p:spTgt spid="19"/>
                                        </p:tgtEl>
                                        <p:attrNameLst>
                                          <p:attrName>ppt_x</p:attrName>
                                        </p:attrNameLst>
                                      </p:cBhvr>
                                      <p:tavLst>
                                        <p:tav tm="0">
                                          <p:val>
                                            <p:strVal val="#ppt_x"/>
                                          </p:val>
                                        </p:tav>
                                        <p:tav tm="100000">
                                          <p:val>
                                            <p:strVal val="#ppt_x"/>
                                          </p:val>
                                        </p:tav>
                                      </p:tavLst>
                                    </p:anim>
                                    <p:anim calcmode="lin" valueType="num">
                                      <p:cBhvr additive="base">
                                        <p:cTn id="49" dur="500" fill="hold"/>
                                        <p:tgtEl>
                                          <p:spTgt spid="19"/>
                                        </p:tgtEl>
                                        <p:attrNameLst>
                                          <p:attrName>ppt_y</p:attrName>
                                        </p:attrNameLst>
                                      </p:cBhvr>
                                      <p:tavLst>
                                        <p:tav tm="0">
                                          <p:val>
                                            <p:strVal val="#ppt_y+0.1"/>
                                          </p:val>
                                        </p:tav>
                                        <p:tav tm="100000">
                                          <p:val>
                                            <p:strVal val="#ppt_y"/>
                                          </p:val>
                                        </p:tav>
                                      </p:tavLst>
                                    </p:anim>
                                    <p:animEffect transition="in" filter="fade">
                                      <p:cBhvr>
                                        <p:cTn id="50" dur="500"/>
                                        <p:tgtEl>
                                          <p:spTgt spid="19"/>
                                        </p:tgtEl>
                                      </p:cBhvr>
                                    </p:animEffect>
                                  </p:childTnLst>
                                </p:cTn>
                              </p:par>
                              <p:par>
                                <p:cTn id="56" presetID="2" presetClass="entr" presetSubtype="4"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fill="hold"/>
                                        <p:tgtEl>
                                          <p:spTgt spid="20"/>
                                        </p:tgtEl>
                                        <p:attrNameLst>
                                          <p:attrName>ppt_x</p:attrName>
                                        </p:attrNameLst>
                                      </p:cBhvr>
                                      <p:tavLst>
                                        <p:tav tm="0">
                                          <p:val>
                                            <p:strVal val="#ppt_x"/>
                                          </p:val>
                                        </p:tav>
                                        <p:tav tm="100000">
                                          <p:val>
                                            <p:strVal val="#ppt_x"/>
                                          </p:val>
                                        </p:tav>
                                      </p:tavLst>
                                    </p:anim>
                                    <p:anim calcmode="lin" valueType="num">
                                      <p:cBhvr additive="base">
                                        <p:cTn id="54" dur="500" fill="hold"/>
                                        <p:tgtEl>
                                          <p:spTgt spid="20"/>
                                        </p:tgtEl>
                                        <p:attrNameLst>
                                          <p:attrName>ppt_y</p:attrName>
                                        </p:attrNameLst>
                                      </p:cBhvr>
                                      <p:tavLst>
                                        <p:tav tm="0">
                                          <p:val>
                                            <p:strVal val="#ppt_y+0.1"/>
                                          </p:val>
                                        </p:tav>
                                        <p:tav tm="100000">
                                          <p:val>
                                            <p:strVal val="#ppt_y"/>
                                          </p:val>
                                        </p:tav>
                                      </p:tavLst>
                                    </p:anim>
                                    <p:animEffect transition="in" filter="fade">
                                      <p:cBhvr>
                                        <p:cTn id="55" dur="500"/>
                                        <p:tgtEl>
                                          <p:spTgt spid="20"/>
                                        </p:tgtEl>
                                      </p:cBhvr>
                                    </p:animEffect>
                                  </p:childTnLst>
                                </p:cTn>
                              </p:par>
                              <p:par>
                                <p:cTn id="61" presetID="2" presetClass="entr" presetSubtype="4"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fill="hold"/>
                                        <p:tgtEl>
                                          <p:spTgt spid="21"/>
                                        </p:tgtEl>
                                        <p:attrNameLst>
                                          <p:attrName>ppt_x</p:attrName>
                                        </p:attrNameLst>
                                      </p:cBhvr>
                                      <p:tavLst>
                                        <p:tav tm="0">
                                          <p:val>
                                            <p:strVal val="#ppt_x"/>
                                          </p:val>
                                        </p:tav>
                                        <p:tav tm="100000">
                                          <p:val>
                                            <p:strVal val="#ppt_x"/>
                                          </p:val>
                                        </p:tav>
                                      </p:tavLst>
                                    </p:anim>
                                    <p:anim calcmode="lin" valueType="num">
                                      <p:cBhvr additive="base">
                                        <p:cTn id="59" dur="500" fill="hold"/>
                                        <p:tgtEl>
                                          <p:spTgt spid="21"/>
                                        </p:tgtEl>
                                        <p:attrNameLst>
                                          <p:attrName>ppt_y</p:attrName>
                                        </p:attrNameLst>
                                      </p:cBhvr>
                                      <p:tavLst>
                                        <p:tav tm="0">
                                          <p:val>
                                            <p:strVal val="#ppt_y+0.1"/>
                                          </p:val>
                                        </p:tav>
                                        <p:tav tm="100000">
                                          <p:val>
                                            <p:strVal val="#ppt_y"/>
                                          </p:val>
                                        </p:tav>
                                      </p:tavLst>
                                    </p:anim>
                                    <p:animEffect transition="in" filter="fade">
                                      <p:cBhvr>
                                        <p:cTn id="60" dur="500"/>
                                        <p:tgtEl>
                                          <p:spTgt spid="21"/>
                                        </p:tgtEl>
                                      </p:cBhvr>
                                    </p:animEffect>
                                  </p:childTnLst>
                                </p:cTn>
                              </p:par>
                              <p:par>
                                <p:cTn id="66" presetID="2" presetClass="entr" presetSubtype="4" fill="hold" grpId="0" nodeType="withEffect">
                                  <p:stCondLst>
                                    <p:cond delay="60"/>
                                  </p:stCondLst>
                                  <p:childTnLst>
                                    <p:set>
                                      <p:cBhvr>
                                        <p:cTn id="62" dur="1" fill="hold">
                                          <p:stCondLst>
                                            <p:cond delay="0"/>
                                          </p:stCondLst>
                                        </p:cTn>
                                        <p:tgtEl>
                                          <p:spTgt spid="14"/>
                                        </p:tgtEl>
                                        <p:attrNameLst>
                                          <p:attrName>style.visibility</p:attrName>
                                        </p:attrNameLst>
                                      </p:cBhvr>
                                      <p:to>
                                        <p:strVal val="visible"/>
                                      </p:to>
                                    </p:set>
                                    <p:anim calcmode="lin" valueType="num">
                                      <p:cBhvr additive="base">
                                        <p:cTn id="63" dur="500" fill="hold"/>
                                        <p:tgtEl>
                                          <p:spTgt spid="14"/>
                                        </p:tgtEl>
                                        <p:attrNameLst>
                                          <p:attrName>ppt_x</p:attrName>
                                        </p:attrNameLst>
                                      </p:cBhvr>
                                      <p:tavLst>
                                        <p:tav tm="0">
                                          <p:val>
                                            <p:strVal val="#ppt_x"/>
                                          </p:val>
                                        </p:tav>
                                        <p:tav tm="100000">
                                          <p:val>
                                            <p:strVal val="#ppt_x"/>
                                          </p:val>
                                        </p:tav>
                                      </p:tavLst>
                                    </p:anim>
                                    <p:anim calcmode="lin" valueType="num">
                                      <p:cBhvr additive="base">
                                        <p:cTn id="64" dur="500" fill="hold"/>
                                        <p:tgtEl>
                                          <p:spTgt spid="14"/>
                                        </p:tgtEl>
                                        <p:attrNameLst>
                                          <p:attrName>ppt_y</p:attrName>
                                        </p:attrNameLst>
                                      </p:cBhvr>
                                      <p:tavLst>
                                        <p:tav tm="0">
                                          <p:val>
                                            <p:strVal val="#ppt_y+0.1"/>
                                          </p:val>
                                        </p:tav>
                                        <p:tav tm="100000">
                                          <p:val>
                                            <p:strVal val="#ppt_y"/>
                                          </p:val>
                                        </p:tav>
                                      </p:tavLst>
                                    </p:anim>
                                    <p:animEffect transition="in" filter="fade">
                                      <p:cBhvr>
                                        <p:cTn id="65" dur="500"/>
                                        <p:tgtEl>
                                          <p:spTgt spid="14"/>
                                        </p:tgtEl>
                                      </p:cBhvr>
                                    </p:animEffect>
                                  </p:childTnLst>
                                </p:cTn>
                              </p:par>
                              <p:par>
                                <p:cTn id="71" presetID="2" presetClass="entr" presetSubtype="4" fill="hold" grpId="0" nodeType="withEffect">
                                  <p:stCondLst>
                                    <p:cond delay="60"/>
                                  </p:stCondLst>
                                  <p:childTnLst>
                                    <p:set>
                                      <p:cBhvr>
                                        <p:cTn id="67" dur="1" fill="hold">
                                          <p:stCondLst>
                                            <p:cond delay="0"/>
                                          </p:stCondLst>
                                        </p:cTn>
                                        <p:tgtEl>
                                          <p:spTgt spid="18"/>
                                        </p:tgtEl>
                                        <p:attrNameLst>
                                          <p:attrName>style.visibility</p:attrName>
                                        </p:attrNameLst>
                                      </p:cBhvr>
                                      <p:to>
                                        <p:strVal val="visible"/>
                                      </p:to>
                                    </p:set>
                                    <p:anim calcmode="lin" valueType="num">
                                      <p:cBhvr additive="base">
                                        <p:cTn id="68" dur="500" fill="hold"/>
                                        <p:tgtEl>
                                          <p:spTgt spid="18"/>
                                        </p:tgtEl>
                                        <p:attrNameLst>
                                          <p:attrName>ppt_x</p:attrName>
                                        </p:attrNameLst>
                                      </p:cBhvr>
                                      <p:tavLst>
                                        <p:tav tm="0">
                                          <p:val>
                                            <p:strVal val="#ppt_x"/>
                                          </p:val>
                                        </p:tav>
                                        <p:tav tm="100000">
                                          <p:val>
                                            <p:strVal val="#ppt_x"/>
                                          </p:val>
                                        </p:tav>
                                      </p:tavLst>
                                    </p:anim>
                                    <p:anim calcmode="lin" valueType="num">
                                      <p:cBhvr additive="base">
                                        <p:cTn id="69" dur="500" fill="hold"/>
                                        <p:tgtEl>
                                          <p:spTgt spid="18"/>
                                        </p:tgtEl>
                                        <p:attrNameLst>
                                          <p:attrName>ppt_y</p:attrName>
                                        </p:attrNameLst>
                                      </p:cBhvr>
                                      <p:tavLst>
                                        <p:tav tm="0">
                                          <p:val>
                                            <p:strVal val="#ppt_y+0.1"/>
                                          </p:val>
                                        </p:tav>
                                        <p:tav tm="100000">
                                          <p:val>
                                            <p:strVal val="#ppt_y"/>
                                          </p:val>
                                        </p:tav>
                                      </p:tavLst>
                                    </p:anim>
                                    <p:animEffect transition="in" filter="fade">
                                      <p:cBhvr>
                                        <p:cTn id="70" dur="500"/>
                                        <p:tgtEl>
                                          <p:spTgt spid="18"/>
                                        </p:tgtEl>
                                      </p:cBhvr>
                                    </p:animEffect>
                                  </p:childTnLst>
                                </p:cTn>
                              </p:par>
                              <p:par>
                                <p:cTn id="76" presetID="2" presetClass="entr" presetSubtype="4" fill="hold" grpId="0" nodeType="withEffect">
                                  <p:stCondLst>
                                    <p:cond delay="60"/>
                                  </p:stCondLst>
                                  <p:childTnLst>
                                    <p:set>
                                      <p:cBhvr>
                                        <p:cTn id="72" dur="1" fill="hold">
                                          <p:stCondLst>
                                            <p:cond delay="0"/>
                                          </p:stCondLst>
                                        </p:cTn>
                                        <p:tgtEl>
                                          <p:spTgt spid="22"/>
                                        </p:tgtEl>
                                        <p:attrNameLst>
                                          <p:attrName>style.visibility</p:attrName>
                                        </p:attrNameLst>
                                      </p:cBhvr>
                                      <p:to>
                                        <p:strVal val="visible"/>
                                      </p:to>
                                    </p:set>
                                    <p:anim calcmode="lin" valueType="num">
                                      <p:cBhvr additive="base">
                                        <p:cTn id="73" dur="500" fill="hold"/>
                                        <p:tgtEl>
                                          <p:spTgt spid="22"/>
                                        </p:tgtEl>
                                        <p:attrNameLst>
                                          <p:attrName>ppt_x</p:attrName>
                                        </p:attrNameLst>
                                      </p:cBhvr>
                                      <p:tavLst>
                                        <p:tav tm="0">
                                          <p:val>
                                            <p:strVal val="#ppt_x"/>
                                          </p:val>
                                        </p:tav>
                                        <p:tav tm="100000">
                                          <p:val>
                                            <p:strVal val="#ppt_x"/>
                                          </p:val>
                                        </p:tav>
                                      </p:tavLst>
                                    </p:anim>
                                    <p:anim calcmode="lin" valueType="num">
                                      <p:cBhvr additive="base">
                                        <p:cTn id="74" dur="500" fill="hold"/>
                                        <p:tgtEl>
                                          <p:spTgt spid="22"/>
                                        </p:tgtEl>
                                        <p:attrNameLst>
                                          <p:attrName>ppt_y</p:attrName>
                                        </p:attrNameLst>
                                      </p:cBhvr>
                                      <p:tavLst>
                                        <p:tav tm="0">
                                          <p:val>
                                            <p:strVal val="#ppt_y+0.1"/>
                                          </p:val>
                                        </p:tav>
                                        <p:tav tm="100000">
                                          <p:val>
                                            <p:strVal val="#ppt_y"/>
                                          </p:val>
                                        </p:tav>
                                      </p:tavLst>
                                    </p:anim>
                                    <p:animEffect transition="in" filter="fade">
                                      <p:cBhvr>
                                        <p:cTn id="75" dur="500"/>
                                        <p:tgtEl>
                                          <p:spTgt spid="22"/>
                                        </p:tgtEl>
                                      </p:cBhvr>
                                    </p:animEffect>
                                  </p:childTnLst>
                                </p:cTn>
                              </p:par>
                            </p:childTnLst>
                          </p:cTn>
                        </p:par>
                      </p:childTnLst>
                    </p:cTn>
                  </p:par>
                  <p:par>
                    <p:cTn id="77" fill="hold">
                      <p:stCondLst>
                        <p:cond delay="indefinite"/>
                      </p:stCondLst>
                      <p:childTnLst>
                        <p:par>
                          <p:cTn id="78" fill="hold">
                            <p:stCondLst>
                              <p:cond delay="0"/>
                            </p:stCondLst>
                            <p:childTnLst>
                              <p:par>
                                <p:cTn id="83" presetID="2" presetClass="entr" presetSubtype="4" fill="hold" grpId="0" nodeType="clickEffect">
                                  <p:stCondLst>
                                    <p:cond delay="0"/>
                                  </p:stCondLst>
                                  <p:childTnLst>
                                    <p:set>
                                      <p:cBhvr>
                                        <p:cTn id="79" dur="1" fill="hold">
                                          <p:stCondLst>
                                            <p:cond delay="0"/>
                                          </p:stCondLst>
                                        </p:cTn>
                                        <p:tgtEl>
                                          <p:spTgt spid="23"/>
                                        </p:tgtEl>
                                        <p:attrNameLst>
                                          <p:attrName>style.visibility</p:attrName>
                                        </p:attrNameLst>
                                      </p:cBhvr>
                                      <p:to>
                                        <p:strVal val="visible"/>
                                      </p:to>
                                    </p:set>
                                    <p:anim calcmode="lin" valueType="num">
                                      <p:cBhvr additive="base">
                                        <p:cTn id="80" dur="500" fill="hold"/>
                                        <p:tgtEl>
                                          <p:spTgt spid="23"/>
                                        </p:tgtEl>
                                        <p:attrNameLst>
                                          <p:attrName>ppt_x</p:attrName>
                                        </p:attrNameLst>
                                      </p:cBhvr>
                                      <p:tavLst>
                                        <p:tav tm="0">
                                          <p:val>
                                            <p:strVal val="#ppt_x"/>
                                          </p:val>
                                        </p:tav>
                                        <p:tav tm="100000">
                                          <p:val>
                                            <p:strVal val="#ppt_x"/>
                                          </p:val>
                                        </p:tav>
                                      </p:tavLst>
                                    </p:anim>
                                    <p:anim calcmode="lin" valueType="num">
                                      <p:cBhvr additive="base">
                                        <p:cTn id="81" dur="500" fill="hold"/>
                                        <p:tgtEl>
                                          <p:spTgt spid="23"/>
                                        </p:tgtEl>
                                        <p:attrNameLst>
                                          <p:attrName>ppt_y</p:attrName>
                                        </p:attrNameLst>
                                      </p:cBhvr>
                                      <p:tavLst>
                                        <p:tav tm="0">
                                          <p:val>
                                            <p:strVal val="#ppt_y+0.1"/>
                                          </p:val>
                                        </p:tav>
                                        <p:tav tm="100000">
                                          <p:val>
                                            <p:strVal val="#ppt_y"/>
                                          </p:val>
                                        </p:tav>
                                      </p:tavLst>
                                    </p:anim>
                                    <p:animEffect transition="in" filter="fade">
                                      <p:cBhvr>
                                        <p:cTn id="82" dur="500"/>
                                        <p:tgtEl>
                                          <p:spTgt spid="23"/>
                                        </p:tgtEl>
                                      </p:cBhvr>
                                    </p:animEffect>
                                  </p:childTnLst>
                                </p:cTn>
                              </p:par>
                              <p:par>
                                <p:cTn id="88" presetID="2" presetClass="entr" presetSubtype="4" fill="hold" grpId="0" nodeType="withEffect">
                                  <p:stCondLst>
                                    <p:cond delay="0"/>
                                  </p:stCondLst>
                                  <p:childTnLst>
                                    <p:set>
                                      <p:cBhvr>
                                        <p:cTn id="84" dur="1" fill="hold">
                                          <p:stCondLst>
                                            <p:cond delay="0"/>
                                          </p:stCondLst>
                                        </p:cTn>
                                        <p:tgtEl>
                                          <p:spTgt spid="24"/>
                                        </p:tgtEl>
                                        <p:attrNameLst>
                                          <p:attrName>style.visibility</p:attrName>
                                        </p:attrNameLst>
                                      </p:cBhvr>
                                      <p:to>
                                        <p:strVal val="visible"/>
                                      </p:to>
                                    </p:set>
                                    <p:anim calcmode="lin" valueType="num">
                                      <p:cBhvr additive="base">
                                        <p:cTn id="85" dur="500" fill="hold"/>
                                        <p:tgtEl>
                                          <p:spTgt spid="24"/>
                                        </p:tgtEl>
                                        <p:attrNameLst>
                                          <p:attrName>ppt_x</p:attrName>
                                        </p:attrNameLst>
                                      </p:cBhvr>
                                      <p:tavLst>
                                        <p:tav tm="0">
                                          <p:val>
                                            <p:strVal val="#ppt_x"/>
                                          </p:val>
                                        </p:tav>
                                        <p:tav tm="100000">
                                          <p:val>
                                            <p:strVal val="#ppt_x"/>
                                          </p:val>
                                        </p:tav>
                                      </p:tavLst>
                                    </p:anim>
                                    <p:anim calcmode="lin" valueType="num">
                                      <p:cBhvr additive="base">
                                        <p:cTn id="86" dur="500" fill="hold"/>
                                        <p:tgtEl>
                                          <p:spTgt spid="24"/>
                                        </p:tgtEl>
                                        <p:attrNameLst>
                                          <p:attrName>ppt_y</p:attrName>
                                        </p:attrNameLst>
                                      </p:cBhvr>
                                      <p:tavLst>
                                        <p:tav tm="0">
                                          <p:val>
                                            <p:strVal val="#ppt_y+0.1"/>
                                          </p:val>
                                        </p:tav>
                                        <p:tav tm="100000">
                                          <p:val>
                                            <p:strVal val="#ppt_y"/>
                                          </p:val>
                                        </p:tav>
                                      </p:tavLst>
                                    </p:anim>
                                    <p:animEffect transition="in" filter="fade">
                                      <p:cBhvr>
                                        <p:cTn id="87" dur="500"/>
                                        <p:tgtEl>
                                          <p:spTgt spid="24"/>
                                        </p:tgtEl>
                                      </p:cBhvr>
                                    </p:animEffect>
                                  </p:childTnLst>
                                </p:cTn>
                              </p:par>
                            </p:childTnLst>
                          </p:cTn>
                        </p:par>
                      </p:childTnLst>
                    </p:cTn>
                  </p:par>
                  <p:par>
                    <p:cTn id="89" fill="hold">
                      <p:stCondLst>
                        <p:cond delay="indefinite"/>
                      </p:stCondLst>
                      <p:childTnLst>
                        <p:par>
                          <p:cTn id="90" fill="hold">
                            <p:stCondLst>
                              <p:cond delay="0"/>
                            </p:stCondLst>
                            <p:childTnLst>
                              <p:par>
                                <p:cTn id="95" presetID="2" presetClass="entr" presetSubtype="4" fill="hold" grpId="0" nodeType="clickEffect">
                                  <p:stCondLst>
                                    <p:cond delay="0"/>
                                  </p:stCondLst>
                                  <p:childTnLst>
                                    <p:set>
                                      <p:cBhvr>
                                        <p:cTn id="91" dur="1" fill="hold">
                                          <p:stCondLst>
                                            <p:cond delay="0"/>
                                          </p:stCondLst>
                                        </p:cTn>
                                        <p:tgtEl>
                                          <p:spTgt spid="27"/>
                                        </p:tgtEl>
                                        <p:attrNameLst>
                                          <p:attrName>style.visibility</p:attrName>
                                        </p:attrNameLst>
                                      </p:cBhvr>
                                      <p:to>
                                        <p:strVal val="visible"/>
                                      </p:to>
                                    </p:set>
                                    <p:anim calcmode="lin" valueType="num">
                                      <p:cBhvr additive="base">
                                        <p:cTn id="92" dur="500" fill="hold"/>
                                        <p:tgtEl>
                                          <p:spTgt spid="27"/>
                                        </p:tgtEl>
                                        <p:attrNameLst>
                                          <p:attrName>ppt_x</p:attrName>
                                        </p:attrNameLst>
                                      </p:cBhvr>
                                      <p:tavLst>
                                        <p:tav tm="0">
                                          <p:val>
                                            <p:strVal val="#ppt_x"/>
                                          </p:val>
                                        </p:tav>
                                        <p:tav tm="100000">
                                          <p:val>
                                            <p:strVal val="#ppt_x"/>
                                          </p:val>
                                        </p:tav>
                                      </p:tavLst>
                                    </p:anim>
                                    <p:anim calcmode="lin" valueType="num">
                                      <p:cBhvr additive="base">
                                        <p:cTn id="93" dur="500" fill="hold"/>
                                        <p:tgtEl>
                                          <p:spTgt spid="27"/>
                                        </p:tgtEl>
                                        <p:attrNameLst>
                                          <p:attrName>ppt_y</p:attrName>
                                        </p:attrNameLst>
                                      </p:cBhvr>
                                      <p:tavLst>
                                        <p:tav tm="0">
                                          <p:val>
                                            <p:strVal val="#ppt_y+0.1"/>
                                          </p:val>
                                        </p:tav>
                                        <p:tav tm="100000">
                                          <p:val>
                                            <p:strVal val="#ppt_y"/>
                                          </p:val>
                                        </p:tav>
                                      </p:tavLst>
                                    </p:anim>
                                    <p:animEffect transition="in" filter="fade">
                                      <p:cBhvr>
                                        <p:cTn id="94" dur="500"/>
                                        <p:tgtEl>
                                          <p:spTgt spid="27"/>
                                        </p:tgtEl>
                                      </p:cBhvr>
                                    </p:animEffect>
                                  </p:childTnLst>
                                </p:cTn>
                              </p:par>
                              <p:par>
                                <p:cTn id="100" presetID="2" presetClass="entr" presetSubtype="4" fill="hold" grpId="0" nodeType="withEffect">
                                  <p:stCondLst>
                                    <p:cond delay="0"/>
                                  </p:stCondLst>
                                  <p:childTnLst>
                                    <p:set>
                                      <p:cBhvr>
                                        <p:cTn id="96" dur="1" fill="hold">
                                          <p:stCondLst>
                                            <p:cond delay="0"/>
                                          </p:stCondLst>
                                        </p:cTn>
                                        <p:tgtEl>
                                          <p:spTgt spid="28"/>
                                        </p:tgtEl>
                                        <p:attrNameLst>
                                          <p:attrName>style.visibility</p:attrName>
                                        </p:attrNameLst>
                                      </p:cBhvr>
                                      <p:to>
                                        <p:strVal val="visible"/>
                                      </p:to>
                                    </p:set>
                                    <p:anim calcmode="lin" valueType="num">
                                      <p:cBhvr additive="base">
                                        <p:cTn id="97" dur="500" fill="hold"/>
                                        <p:tgtEl>
                                          <p:spTgt spid="28"/>
                                        </p:tgtEl>
                                        <p:attrNameLst>
                                          <p:attrName>ppt_x</p:attrName>
                                        </p:attrNameLst>
                                      </p:cBhvr>
                                      <p:tavLst>
                                        <p:tav tm="0">
                                          <p:val>
                                            <p:strVal val="#ppt_x"/>
                                          </p:val>
                                        </p:tav>
                                        <p:tav tm="100000">
                                          <p:val>
                                            <p:strVal val="#ppt_x"/>
                                          </p:val>
                                        </p:tav>
                                      </p:tavLst>
                                    </p:anim>
                                    <p:anim calcmode="lin" valueType="num">
                                      <p:cBhvr additive="base">
                                        <p:cTn id="98" dur="500" fill="hold"/>
                                        <p:tgtEl>
                                          <p:spTgt spid="28"/>
                                        </p:tgtEl>
                                        <p:attrNameLst>
                                          <p:attrName>ppt_y</p:attrName>
                                        </p:attrNameLst>
                                      </p:cBhvr>
                                      <p:tavLst>
                                        <p:tav tm="0">
                                          <p:val>
                                            <p:strVal val="#ppt_y+0.1"/>
                                          </p:val>
                                        </p:tav>
                                        <p:tav tm="100000">
                                          <p:val>
                                            <p:strVal val="#ppt_y"/>
                                          </p:val>
                                        </p:tav>
                                      </p:tavLst>
                                    </p:anim>
                                    <p:animEffect transition="in" filter="fade">
                                      <p:cBhvr>
                                        <p:cTn id="99" dur="500"/>
                                        <p:tgtEl>
                                          <p:spTgt spid="28"/>
                                        </p:tgtEl>
                                      </p:cBhvr>
                                    </p:animEffect>
                                  </p:childTnLst>
                                </p:cTn>
                              </p:par>
                              <p:par>
                                <p:cTn id="105" presetID="2" presetClass="entr" presetSubtype="4" fill="hold" grpId="0" nodeType="withEffect">
                                  <p:stCondLst>
                                    <p:cond delay="0"/>
                                  </p:stCondLst>
                                  <p:childTnLst>
                                    <p:set>
                                      <p:cBhvr>
                                        <p:cTn id="101" dur="1" fill="hold">
                                          <p:stCondLst>
                                            <p:cond delay="0"/>
                                          </p:stCondLst>
                                        </p:cTn>
                                        <p:tgtEl>
                                          <p:spTgt spid="29"/>
                                        </p:tgtEl>
                                        <p:attrNameLst>
                                          <p:attrName>style.visibility</p:attrName>
                                        </p:attrNameLst>
                                      </p:cBhvr>
                                      <p:to>
                                        <p:strVal val="visible"/>
                                      </p:to>
                                    </p:set>
                                    <p:anim calcmode="lin" valueType="num">
                                      <p:cBhvr additive="base">
                                        <p:cTn id="102" dur="500" fill="hold"/>
                                        <p:tgtEl>
                                          <p:spTgt spid="29"/>
                                        </p:tgtEl>
                                        <p:attrNameLst>
                                          <p:attrName>ppt_x</p:attrName>
                                        </p:attrNameLst>
                                      </p:cBhvr>
                                      <p:tavLst>
                                        <p:tav tm="0">
                                          <p:val>
                                            <p:strVal val="#ppt_x"/>
                                          </p:val>
                                        </p:tav>
                                        <p:tav tm="100000">
                                          <p:val>
                                            <p:strVal val="#ppt_x"/>
                                          </p:val>
                                        </p:tav>
                                      </p:tavLst>
                                    </p:anim>
                                    <p:anim calcmode="lin" valueType="num">
                                      <p:cBhvr additive="base">
                                        <p:cTn id="103" dur="500" fill="hold"/>
                                        <p:tgtEl>
                                          <p:spTgt spid="29"/>
                                        </p:tgtEl>
                                        <p:attrNameLst>
                                          <p:attrName>ppt_y</p:attrName>
                                        </p:attrNameLst>
                                      </p:cBhvr>
                                      <p:tavLst>
                                        <p:tav tm="0">
                                          <p:val>
                                            <p:strVal val="#ppt_y+0.1"/>
                                          </p:val>
                                        </p:tav>
                                        <p:tav tm="100000">
                                          <p:val>
                                            <p:strVal val="#ppt_y"/>
                                          </p:val>
                                        </p:tav>
                                      </p:tavLst>
                                    </p:anim>
                                    <p:animEffect transition="in" filter="fade">
                                      <p:cBhvr>
                                        <p:cTn id="10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What's Ahead: Ten More Modules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After this introduction, the course continues with ten more modules</a:t>
            </a:r>
          </a:p>
        </p:txBody>
      </p:sp>
      <p:sp>
        <p:nvSpPr>
          <p:cNvPr id="11" name="a1u_card10"/>
          <p:cNvSpPr/>
          <p:nvPr/>
        </p:nvSpPr>
        <p:spPr>
          <a:xfrm>
            <a:off x="457200" y="1325880"/>
            <a:ext cx="1257300" cy="1143000"/>
          </a:xfrm>
          <a:prstGeom prst="roundRect">
            <a:avLst>
              <a:gd name="adj" fmla="val 96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325880"/>
            <a:ext cx="1257300"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mn12"/>
          <p:cNvSpPr txBox="1"/>
          <p:nvPr/>
        </p:nvSpPr>
        <p:spPr>
          <a:xfrm>
            <a:off x="548640" y="1435607"/>
            <a:ext cx="1074420" cy="329184"/>
          </a:xfrm>
          <a:prstGeom prst="rect">
            <a:avLst/>
          </a:prstGeom>
          <a:noFill/>
        </p:spPr>
        <p:txBody>
          <a:bodyPr wrap="square" lIns="0" tIns="0" rIns="0" bIns="0" anchor="ctr">
            <a:spAutoFit/>
          </a:bodyPr>
          <a:lstStyle/>
          <a:p>
            <a:pPr algn="l"/>
            <a:r>
              <a:rPr sz="1650" b="1">
                <a:solidFill>
                  <a:srgbClr val="EA580C"/>
                </a:solidFill>
                <a:latin typeface="Segoe UI"/>
              </a:rPr>
              <a:t>1</a:t>
            </a:r>
          </a:p>
        </p:txBody>
      </p:sp>
      <p:sp>
        <p:nvSpPr>
          <p:cNvPr id="14" name="a1u_mt13"/>
          <p:cNvSpPr txBox="1"/>
          <p:nvPr/>
        </p:nvSpPr>
        <p:spPr>
          <a:xfrm>
            <a:off x="548640" y="1783080"/>
            <a:ext cx="1074420" cy="402336"/>
          </a:xfrm>
          <a:prstGeom prst="rect">
            <a:avLst/>
          </a:prstGeom>
          <a:noFill/>
        </p:spPr>
        <p:txBody>
          <a:bodyPr wrap="square" lIns="0" tIns="0" rIns="0" bIns="0" anchor="t">
            <a:spAutoFit/>
          </a:bodyPr>
          <a:lstStyle/>
          <a:p>
            <a:pPr algn="l"/>
            <a:r>
              <a:rPr sz="950" b="1">
                <a:solidFill>
                  <a:srgbClr val="1C1917"/>
                </a:solidFill>
                <a:latin typeface="Segoe UI"/>
              </a:rPr>
              <a:t>Introduction</a:t>
            </a:r>
          </a:p>
        </p:txBody>
      </p:sp>
      <p:sp>
        <p:nvSpPr>
          <p:cNvPr id="15" name="a1u_pill14"/>
          <p:cNvSpPr/>
          <p:nvPr/>
        </p:nvSpPr>
        <p:spPr>
          <a:xfrm>
            <a:off x="548640" y="2176272"/>
            <a:ext cx="1005840" cy="201168"/>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750" b="1">
                <a:solidFill>
                  <a:srgbClr val="FFFFFF"/>
                </a:solidFill>
                <a:latin typeface="Consolas"/>
              </a:rPr>
              <a:t>YOU ARE HERE</a:t>
            </a:r>
          </a:p>
        </p:txBody>
      </p:sp>
      <p:sp>
        <p:nvSpPr>
          <p:cNvPr id="16" name="a1ud90_card15"/>
          <p:cNvSpPr/>
          <p:nvPr/>
        </p:nvSpPr>
        <p:spPr>
          <a:xfrm>
            <a:off x="1851660" y="1325880"/>
            <a:ext cx="1257300" cy="1143000"/>
          </a:xfrm>
          <a:prstGeom prst="roundRect">
            <a:avLst>
              <a:gd name="adj" fmla="val 96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90_acc16"/>
          <p:cNvSpPr/>
          <p:nvPr/>
        </p:nvSpPr>
        <p:spPr>
          <a:xfrm>
            <a:off x="1851660" y="1325880"/>
            <a:ext cx="1257300"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ud90_mn17"/>
          <p:cNvSpPr txBox="1"/>
          <p:nvPr/>
        </p:nvSpPr>
        <p:spPr>
          <a:xfrm>
            <a:off x="1943100" y="1435607"/>
            <a:ext cx="1074420" cy="329184"/>
          </a:xfrm>
          <a:prstGeom prst="rect">
            <a:avLst/>
          </a:prstGeom>
          <a:noFill/>
        </p:spPr>
        <p:txBody>
          <a:bodyPr wrap="square" lIns="0" tIns="0" rIns="0" bIns="0" anchor="ctr">
            <a:spAutoFit/>
          </a:bodyPr>
          <a:lstStyle/>
          <a:p>
            <a:pPr algn="l"/>
            <a:r>
              <a:rPr sz="1650" b="1">
                <a:solidFill>
                  <a:srgbClr val="0E7490"/>
                </a:solidFill>
                <a:latin typeface="Segoe UI"/>
              </a:rPr>
              <a:t>2</a:t>
            </a:r>
          </a:p>
        </p:txBody>
      </p:sp>
      <p:sp>
        <p:nvSpPr>
          <p:cNvPr id="19" name="a1ud90_mt18"/>
          <p:cNvSpPr txBox="1"/>
          <p:nvPr/>
        </p:nvSpPr>
        <p:spPr>
          <a:xfrm>
            <a:off x="1943100" y="1783080"/>
            <a:ext cx="1074420" cy="402336"/>
          </a:xfrm>
          <a:prstGeom prst="rect">
            <a:avLst/>
          </a:prstGeom>
          <a:noFill/>
        </p:spPr>
        <p:txBody>
          <a:bodyPr wrap="square" lIns="0" tIns="0" rIns="0" bIns="0" anchor="t">
            <a:spAutoFit/>
          </a:bodyPr>
          <a:lstStyle/>
          <a:p>
            <a:pPr algn="l"/>
            <a:r>
              <a:rPr sz="950" b="1">
                <a:solidFill>
                  <a:srgbClr val="1C1917"/>
                </a:solidFill>
                <a:latin typeface="Segoe UI"/>
              </a:rPr>
              <a:t>Topics</a:t>
            </a:r>
          </a:p>
        </p:txBody>
      </p:sp>
      <p:sp>
        <p:nvSpPr>
          <p:cNvPr id="20" name="a1ud180_card19"/>
          <p:cNvSpPr/>
          <p:nvPr/>
        </p:nvSpPr>
        <p:spPr>
          <a:xfrm>
            <a:off x="3246120" y="1325880"/>
            <a:ext cx="1257300" cy="1143000"/>
          </a:xfrm>
          <a:prstGeom prst="roundRect">
            <a:avLst>
              <a:gd name="adj" fmla="val 96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180_acc20"/>
          <p:cNvSpPr/>
          <p:nvPr/>
        </p:nvSpPr>
        <p:spPr>
          <a:xfrm>
            <a:off x="3246120" y="1325880"/>
            <a:ext cx="1257300"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1ud180_mn21"/>
          <p:cNvSpPr txBox="1"/>
          <p:nvPr/>
        </p:nvSpPr>
        <p:spPr>
          <a:xfrm>
            <a:off x="3337560" y="1435607"/>
            <a:ext cx="1074420" cy="329184"/>
          </a:xfrm>
          <a:prstGeom prst="rect">
            <a:avLst/>
          </a:prstGeom>
          <a:noFill/>
        </p:spPr>
        <p:txBody>
          <a:bodyPr wrap="square" lIns="0" tIns="0" rIns="0" bIns="0" anchor="ctr">
            <a:spAutoFit/>
          </a:bodyPr>
          <a:lstStyle/>
          <a:p>
            <a:pPr algn="l"/>
            <a:r>
              <a:rPr sz="1650" b="1">
                <a:solidFill>
                  <a:srgbClr val="0E7490"/>
                </a:solidFill>
                <a:latin typeface="Segoe UI"/>
              </a:rPr>
              <a:t>3</a:t>
            </a:r>
          </a:p>
        </p:txBody>
      </p:sp>
      <p:sp>
        <p:nvSpPr>
          <p:cNvPr id="23" name="a1ud180_mt22"/>
          <p:cNvSpPr txBox="1"/>
          <p:nvPr/>
        </p:nvSpPr>
        <p:spPr>
          <a:xfrm>
            <a:off x="3337560" y="1783080"/>
            <a:ext cx="1074420" cy="402336"/>
          </a:xfrm>
          <a:prstGeom prst="rect">
            <a:avLst/>
          </a:prstGeom>
          <a:noFill/>
        </p:spPr>
        <p:txBody>
          <a:bodyPr wrap="square" lIns="0" tIns="0" rIns="0" bIns="0" anchor="t">
            <a:spAutoFit/>
          </a:bodyPr>
          <a:lstStyle/>
          <a:p>
            <a:pPr algn="l"/>
            <a:r>
              <a:rPr sz="950" b="1">
                <a:solidFill>
                  <a:srgbClr val="1C1917"/>
                </a:solidFill>
                <a:latin typeface="Segoe UI"/>
              </a:rPr>
              <a:t>Partitions</a:t>
            </a:r>
          </a:p>
        </p:txBody>
      </p:sp>
      <p:sp>
        <p:nvSpPr>
          <p:cNvPr id="24" name="a1ud270_card23"/>
          <p:cNvSpPr/>
          <p:nvPr/>
        </p:nvSpPr>
        <p:spPr>
          <a:xfrm>
            <a:off x="4640579" y="1325880"/>
            <a:ext cx="1257300" cy="1143000"/>
          </a:xfrm>
          <a:prstGeom prst="roundRect">
            <a:avLst>
              <a:gd name="adj" fmla="val 96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1ud270_acc24"/>
          <p:cNvSpPr/>
          <p:nvPr/>
        </p:nvSpPr>
        <p:spPr>
          <a:xfrm>
            <a:off x="4640579" y="1325880"/>
            <a:ext cx="1257300"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1ud270_mn25"/>
          <p:cNvSpPr txBox="1"/>
          <p:nvPr/>
        </p:nvSpPr>
        <p:spPr>
          <a:xfrm>
            <a:off x="4732019" y="1435607"/>
            <a:ext cx="1074420" cy="329184"/>
          </a:xfrm>
          <a:prstGeom prst="rect">
            <a:avLst/>
          </a:prstGeom>
          <a:noFill/>
        </p:spPr>
        <p:txBody>
          <a:bodyPr wrap="square" lIns="0" tIns="0" rIns="0" bIns="0" anchor="ctr">
            <a:spAutoFit/>
          </a:bodyPr>
          <a:lstStyle/>
          <a:p>
            <a:pPr algn="l"/>
            <a:r>
              <a:rPr sz="1650" b="1">
                <a:solidFill>
                  <a:srgbClr val="0E7490"/>
                </a:solidFill>
                <a:latin typeface="Segoe UI"/>
              </a:rPr>
              <a:t>4</a:t>
            </a:r>
          </a:p>
        </p:txBody>
      </p:sp>
      <p:sp>
        <p:nvSpPr>
          <p:cNvPr id="27" name="a1ud270_mt26"/>
          <p:cNvSpPr txBox="1"/>
          <p:nvPr/>
        </p:nvSpPr>
        <p:spPr>
          <a:xfrm>
            <a:off x="4732019" y="1783080"/>
            <a:ext cx="1074420" cy="402336"/>
          </a:xfrm>
          <a:prstGeom prst="rect">
            <a:avLst/>
          </a:prstGeom>
          <a:noFill/>
        </p:spPr>
        <p:txBody>
          <a:bodyPr wrap="square" lIns="0" tIns="0" rIns="0" bIns="0" anchor="t">
            <a:spAutoFit/>
          </a:bodyPr>
          <a:lstStyle/>
          <a:p>
            <a:pPr algn="l"/>
            <a:r>
              <a:rPr sz="950" b="1">
                <a:solidFill>
                  <a:srgbClr val="1C1917"/>
                </a:solidFill>
                <a:latin typeface="Segoe UI"/>
              </a:rPr>
              <a:t>Brokers</a:t>
            </a:r>
          </a:p>
        </p:txBody>
      </p:sp>
      <p:sp>
        <p:nvSpPr>
          <p:cNvPr id="28" name="a1ud360_card27"/>
          <p:cNvSpPr/>
          <p:nvPr/>
        </p:nvSpPr>
        <p:spPr>
          <a:xfrm>
            <a:off x="6035040" y="1325880"/>
            <a:ext cx="1257300" cy="1143000"/>
          </a:xfrm>
          <a:prstGeom prst="roundRect">
            <a:avLst>
              <a:gd name="adj" fmla="val 96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1ud360_acc28"/>
          <p:cNvSpPr/>
          <p:nvPr/>
        </p:nvSpPr>
        <p:spPr>
          <a:xfrm>
            <a:off x="6035040" y="1325880"/>
            <a:ext cx="1257300"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1ud360_mn29"/>
          <p:cNvSpPr txBox="1"/>
          <p:nvPr/>
        </p:nvSpPr>
        <p:spPr>
          <a:xfrm>
            <a:off x="6126479" y="1435607"/>
            <a:ext cx="1074420" cy="329184"/>
          </a:xfrm>
          <a:prstGeom prst="rect">
            <a:avLst/>
          </a:prstGeom>
          <a:noFill/>
        </p:spPr>
        <p:txBody>
          <a:bodyPr wrap="square" lIns="0" tIns="0" rIns="0" bIns="0" anchor="ctr">
            <a:spAutoFit/>
          </a:bodyPr>
          <a:lstStyle/>
          <a:p>
            <a:pPr algn="l"/>
            <a:r>
              <a:rPr sz="1650" b="1">
                <a:solidFill>
                  <a:srgbClr val="0E7490"/>
                </a:solidFill>
                <a:latin typeface="Segoe UI"/>
              </a:rPr>
              <a:t>5</a:t>
            </a:r>
          </a:p>
        </p:txBody>
      </p:sp>
      <p:sp>
        <p:nvSpPr>
          <p:cNvPr id="31" name="a1ud360_mt30"/>
          <p:cNvSpPr txBox="1"/>
          <p:nvPr/>
        </p:nvSpPr>
        <p:spPr>
          <a:xfrm>
            <a:off x="6126479" y="1783080"/>
            <a:ext cx="1074420" cy="402336"/>
          </a:xfrm>
          <a:prstGeom prst="rect">
            <a:avLst/>
          </a:prstGeom>
          <a:noFill/>
        </p:spPr>
        <p:txBody>
          <a:bodyPr wrap="square" lIns="0" tIns="0" rIns="0" bIns="0" anchor="t">
            <a:spAutoFit/>
          </a:bodyPr>
          <a:lstStyle/>
          <a:p>
            <a:pPr algn="l"/>
            <a:r>
              <a:rPr sz="950" b="1">
                <a:solidFill>
                  <a:srgbClr val="1C1917"/>
                </a:solidFill>
                <a:latin typeface="Segoe UI"/>
              </a:rPr>
              <a:t>Replication</a:t>
            </a:r>
          </a:p>
        </p:txBody>
      </p:sp>
      <p:sp>
        <p:nvSpPr>
          <p:cNvPr id="32" name="a1ud450_card31"/>
          <p:cNvSpPr/>
          <p:nvPr/>
        </p:nvSpPr>
        <p:spPr>
          <a:xfrm>
            <a:off x="7429500" y="1325880"/>
            <a:ext cx="1257300" cy="1143000"/>
          </a:xfrm>
          <a:prstGeom prst="roundRect">
            <a:avLst>
              <a:gd name="adj" fmla="val 96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1ud450_acc32"/>
          <p:cNvSpPr/>
          <p:nvPr/>
        </p:nvSpPr>
        <p:spPr>
          <a:xfrm>
            <a:off x="7429500" y="1325880"/>
            <a:ext cx="1257300" cy="457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1ud450_mn33"/>
          <p:cNvSpPr txBox="1"/>
          <p:nvPr/>
        </p:nvSpPr>
        <p:spPr>
          <a:xfrm>
            <a:off x="7520940" y="1435607"/>
            <a:ext cx="1074420" cy="329184"/>
          </a:xfrm>
          <a:prstGeom prst="rect">
            <a:avLst/>
          </a:prstGeom>
          <a:noFill/>
        </p:spPr>
        <p:txBody>
          <a:bodyPr wrap="square" lIns="0" tIns="0" rIns="0" bIns="0" anchor="ctr">
            <a:spAutoFit/>
          </a:bodyPr>
          <a:lstStyle/>
          <a:p>
            <a:pPr algn="l"/>
            <a:r>
              <a:rPr sz="1650" b="1">
                <a:solidFill>
                  <a:srgbClr val="A16207"/>
                </a:solidFill>
                <a:latin typeface="Segoe UI"/>
              </a:rPr>
              <a:t>6</a:t>
            </a:r>
          </a:p>
        </p:txBody>
      </p:sp>
      <p:sp>
        <p:nvSpPr>
          <p:cNvPr id="35" name="a1ud450_mt34"/>
          <p:cNvSpPr txBox="1"/>
          <p:nvPr/>
        </p:nvSpPr>
        <p:spPr>
          <a:xfrm>
            <a:off x="7520940" y="1783080"/>
            <a:ext cx="1074420" cy="402336"/>
          </a:xfrm>
          <a:prstGeom prst="rect">
            <a:avLst/>
          </a:prstGeom>
          <a:noFill/>
        </p:spPr>
        <p:txBody>
          <a:bodyPr wrap="square" lIns="0" tIns="0" rIns="0" bIns="0" anchor="t">
            <a:spAutoFit/>
          </a:bodyPr>
          <a:lstStyle/>
          <a:p>
            <a:pPr algn="l"/>
            <a:r>
              <a:rPr sz="950" b="1">
                <a:solidFill>
                  <a:srgbClr val="1C1917"/>
                </a:solidFill>
                <a:latin typeface="Segoe UI"/>
              </a:rPr>
              <a:t>Producers</a:t>
            </a:r>
          </a:p>
        </p:txBody>
      </p:sp>
      <p:sp>
        <p:nvSpPr>
          <p:cNvPr id="36" name="a1ud450_pill35"/>
          <p:cNvSpPr/>
          <p:nvPr/>
        </p:nvSpPr>
        <p:spPr>
          <a:xfrm>
            <a:off x="7520940" y="2176272"/>
            <a:ext cx="868680" cy="201168"/>
          </a:xfrm>
          <a:prstGeom prst="roundRect">
            <a:avLst>
              <a:gd name="adj" fmla="val 50000"/>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750" b="1">
                <a:solidFill>
                  <a:srgbClr val="A16207"/>
                </a:solidFill>
                <a:latin typeface="Consolas"/>
              </a:rPr>
              <a:t>HANDS-ON</a:t>
            </a:r>
          </a:p>
        </p:txBody>
      </p:sp>
      <p:sp>
        <p:nvSpPr>
          <p:cNvPr id="37" name="a2u_card36"/>
          <p:cNvSpPr/>
          <p:nvPr/>
        </p:nvSpPr>
        <p:spPr>
          <a:xfrm>
            <a:off x="457200" y="2743200"/>
            <a:ext cx="1257300" cy="1143000"/>
          </a:xfrm>
          <a:prstGeom prst="roundRect">
            <a:avLst>
              <a:gd name="adj" fmla="val 96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2u_acc37"/>
          <p:cNvSpPr/>
          <p:nvPr/>
        </p:nvSpPr>
        <p:spPr>
          <a:xfrm>
            <a:off x="457200" y="2743200"/>
            <a:ext cx="1257300" cy="457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2u_mn38"/>
          <p:cNvSpPr txBox="1"/>
          <p:nvPr/>
        </p:nvSpPr>
        <p:spPr>
          <a:xfrm>
            <a:off x="548640" y="2852928"/>
            <a:ext cx="1074420" cy="329184"/>
          </a:xfrm>
          <a:prstGeom prst="rect">
            <a:avLst/>
          </a:prstGeom>
          <a:noFill/>
        </p:spPr>
        <p:txBody>
          <a:bodyPr wrap="square" lIns="0" tIns="0" rIns="0" bIns="0" anchor="ctr">
            <a:spAutoFit/>
          </a:bodyPr>
          <a:lstStyle/>
          <a:p>
            <a:pPr algn="l"/>
            <a:r>
              <a:rPr sz="1650" b="1">
                <a:solidFill>
                  <a:srgbClr val="A16207"/>
                </a:solidFill>
                <a:latin typeface="Segoe UI"/>
              </a:rPr>
              <a:t>7</a:t>
            </a:r>
          </a:p>
        </p:txBody>
      </p:sp>
      <p:sp>
        <p:nvSpPr>
          <p:cNvPr id="40" name="a2u_mt39"/>
          <p:cNvSpPr txBox="1"/>
          <p:nvPr/>
        </p:nvSpPr>
        <p:spPr>
          <a:xfrm>
            <a:off x="548640" y="3200400"/>
            <a:ext cx="1074420" cy="402336"/>
          </a:xfrm>
          <a:prstGeom prst="rect">
            <a:avLst/>
          </a:prstGeom>
          <a:noFill/>
        </p:spPr>
        <p:txBody>
          <a:bodyPr wrap="square" lIns="0" tIns="0" rIns="0" bIns="0" anchor="t">
            <a:spAutoFit/>
          </a:bodyPr>
          <a:lstStyle/>
          <a:p>
            <a:pPr algn="l"/>
            <a:r>
              <a:rPr sz="950" b="1">
                <a:solidFill>
                  <a:srgbClr val="1C1917"/>
                </a:solidFill>
                <a:latin typeface="Segoe UI"/>
              </a:rPr>
              <a:t>Consumers</a:t>
            </a:r>
          </a:p>
        </p:txBody>
      </p:sp>
      <p:sp>
        <p:nvSpPr>
          <p:cNvPr id="41" name="a2u_pill40"/>
          <p:cNvSpPr/>
          <p:nvPr/>
        </p:nvSpPr>
        <p:spPr>
          <a:xfrm>
            <a:off x="548640" y="3593592"/>
            <a:ext cx="868680" cy="201168"/>
          </a:xfrm>
          <a:prstGeom prst="roundRect">
            <a:avLst>
              <a:gd name="adj" fmla="val 50000"/>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750" b="1">
                <a:solidFill>
                  <a:srgbClr val="A16207"/>
                </a:solidFill>
                <a:latin typeface="Consolas"/>
              </a:rPr>
              <a:t>HANDS-ON</a:t>
            </a:r>
          </a:p>
        </p:txBody>
      </p:sp>
      <p:sp>
        <p:nvSpPr>
          <p:cNvPr id="42" name="a2ud90_card41"/>
          <p:cNvSpPr/>
          <p:nvPr/>
        </p:nvSpPr>
        <p:spPr>
          <a:xfrm>
            <a:off x="1851660" y="2743200"/>
            <a:ext cx="1257300" cy="1143000"/>
          </a:xfrm>
          <a:prstGeom prst="roundRect">
            <a:avLst>
              <a:gd name="adj" fmla="val 96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2ud90_acc42"/>
          <p:cNvSpPr/>
          <p:nvPr/>
        </p:nvSpPr>
        <p:spPr>
          <a:xfrm>
            <a:off x="1851660" y="2743200"/>
            <a:ext cx="1257300"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2ud90_mn43"/>
          <p:cNvSpPr txBox="1"/>
          <p:nvPr/>
        </p:nvSpPr>
        <p:spPr>
          <a:xfrm>
            <a:off x="1943100" y="2852928"/>
            <a:ext cx="1074420" cy="329184"/>
          </a:xfrm>
          <a:prstGeom prst="rect">
            <a:avLst/>
          </a:prstGeom>
          <a:noFill/>
        </p:spPr>
        <p:txBody>
          <a:bodyPr wrap="square" lIns="0" tIns="0" rIns="0" bIns="0" anchor="ctr">
            <a:spAutoFit/>
          </a:bodyPr>
          <a:lstStyle/>
          <a:p>
            <a:pPr algn="l"/>
            <a:r>
              <a:rPr sz="1650" b="1">
                <a:solidFill>
                  <a:srgbClr val="4F46E5"/>
                </a:solidFill>
                <a:latin typeface="Segoe UI"/>
              </a:rPr>
              <a:t>8</a:t>
            </a:r>
          </a:p>
        </p:txBody>
      </p:sp>
      <p:sp>
        <p:nvSpPr>
          <p:cNvPr id="45" name="a2ud90_mt44"/>
          <p:cNvSpPr txBox="1"/>
          <p:nvPr/>
        </p:nvSpPr>
        <p:spPr>
          <a:xfrm>
            <a:off x="1943100" y="3200400"/>
            <a:ext cx="1074420" cy="402336"/>
          </a:xfrm>
          <a:prstGeom prst="rect">
            <a:avLst/>
          </a:prstGeom>
          <a:noFill/>
        </p:spPr>
        <p:txBody>
          <a:bodyPr wrap="square" lIns="0" tIns="0" rIns="0" bIns="0" anchor="t">
            <a:spAutoFit/>
          </a:bodyPr>
          <a:lstStyle/>
          <a:p>
            <a:pPr algn="l"/>
            <a:r>
              <a:rPr sz="950" b="1">
                <a:solidFill>
                  <a:srgbClr val="1C1917"/>
                </a:solidFill>
                <a:latin typeface="Segoe UI"/>
              </a:rPr>
              <a:t>Schema Registry</a:t>
            </a:r>
          </a:p>
        </p:txBody>
      </p:sp>
      <p:sp>
        <p:nvSpPr>
          <p:cNvPr id="46" name="a2ud90_pill45"/>
          <p:cNvSpPr/>
          <p:nvPr/>
        </p:nvSpPr>
        <p:spPr>
          <a:xfrm>
            <a:off x="1943100" y="3593592"/>
            <a:ext cx="868680" cy="201168"/>
          </a:xfrm>
          <a:prstGeom prst="roundRect">
            <a:avLst>
              <a:gd name="adj" fmla="val 50000"/>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750" b="1">
                <a:solidFill>
                  <a:srgbClr val="A16207"/>
                </a:solidFill>
                <a:latin typeface="Consolas"/>
              </a:rPr>
              <a:t>HANDS-ON</a:t>
            </a:r>
          </a:p>
        </p:txBody>
      </p:sp>
      <p:sp>
        <p:nvSpPr>
          <p:cNvPr id="47" name="a2ud180_card46"/>
          <p:cNvSpPr/>
          <p:nvPr/>
        </p:nvSpPr>
        <p:spPr>
          <a:xfrm>
            <a:off x="3246120" y="2743200"/>
            <a:ext cx="1257300" cy="1143000"/>
          </a:xfrm>
          <a:prstGeom prst="roundRect">
            <a:avLst>
              <a:gd name="adj" fmla="val 96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2ud180_acc47"/>
          <p:cNvSpPr/>
          <p:nvPr/>
        </p:nvSpPr>
        <p:spPr>
          <a:xfrm>
            <a:off x="3246120" y="2743200"/>
            <a:ext cx="1257300"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2ud180_mn48"/>
          <p:cNvSpPr txBox="1"/>
          <p:nvPr/>
        </p:nvSpPr>
        <p:spPr>
          <a:xfrm>
            <a:off x="3337560" y="2852928"/>
            <a:ext cx="1074420" cy="329184"/>
          </a:xfrm>
          <a:prstGeom prst="rect">
            <a:avLst/>
          </a:prstGeom>
          <a:noFill/>
        </p:spPr>
        <p:txBody>
          <a:bodyPr wrap="square" lIns="0" tIns="0" rIns="0" bIns="0" anchor="ctr">
            <a:spAutoFit/>
          </a:bodyPr>
          <a:lstStyle/>
          <a:p>
            <a:pPr algn="l"/>
            <a:r>
              <a:rPr sz="1650" b="1">
                <a:solidFill>
                  <a:srgbClr val="4F46E5"/>
                </a:solidFill>
                <a:latin typeface="Segoe UI"/>
              </a:rPr>
              <a:t>9</a:t>
            </a:r>
          </a:p>
        </p:txBody>
      </p:sp>
      <p:sp>
        <p:nvSpPr>
          <p:cNvPr id="50" name="a2ud180_mt49"/>
          <p:cNvSpPr txBox="1"/>
          <p:nvPr/>
        </p:nvSpPr>
        <p:spPr>
          <a:xfrm>
            <a:off x="3337560" y="3200400"/>
            <a:ext cx="1074420" cy="402336"/>
          </a:xfrm>
          <a:prstGeom prst="rect">
            <a:avLst/>
          </a:prstGeom>
          <a:noFill/>
        </p:spPr>
        <p:txBody>
          <a:bodyPr wrap="square" lIns="0" tIns="0" rIns="0" bIns="0" anchor="t">
            <a:spAutoFit/>
          </a:bodyPr>
          <a:lstStyle/>
          <a:p>
            <a:pPr algn="l"/>
            <a:r>
              <a:rPr sz="950" b="1">
                <a:solidFill>
                  <a:srgbClr val="1C1917"/>
                </a:solidFill>
                <a:latin typeface="Segoe UI"/>
              </a:rPr>
              <a:t>Kafka Connect</a:t>
            </a:r>
          </a:p>
        </p:txBody>
      </p:sp>
      <p:sp>
        <p:nvSpPr>
          <p:cNvPr id="51" name="a2ud180_pill50"/>
          <p:cNvSpPr/>
          <p:nvPr/>
        </p:nvSpPr>
        <p:spPr>
          <a:xfrm>
            <a:off x="3337560" y="3593592"/>
            <a:ext cx="868680" cy="201168"/>
          </a:xfrm>
          <a:prstGeom prst="roundRect">
            <a:avLst>
              <a:gd name="adj" fmla="val 50000"/>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750" b="1">
                <a:solidFill>
                  <a:srgbClr val="A16207"/>
                </a:solidFill>
                <a:latin typeface="Consolas"/>
              </a:rPr>
              <a:t>HANDS-ON</a:t>
            </a:r>
          </a:p>
        </p:txBody>
      </p:sp>
      <p:sp>
        <p:nvSpPr>
          <p:cNvPr id="52" name="a2ud270_card51"/>
          <p:cNvSpPr/>
          <p:nvPr/>
        </p:nvSpPr>
        <p:spPr>
          <a:xfrm>
            <a:off x="4640579" y="2743200"/>
            <a:ext cx="1257300" cy="1143000"/>
          </a:xfrm>
          <a:prstGeom prst="roundRect">
            <a:avLst>
              <a:gd name="adj" fmla="val 96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a2ud270_acc52"/>
          <p:cNvSpPr/>
          <p:nvPr/>
        </p:nvSpPr>
        <p:spPr>
          <a:xfrm>
            <a:off x="4640579" y="2743200"/>
            <a:ext cx="1257300"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2ud270_mn53"/>
          <p:cNvSpPr txBox="1"/>
          <p:nvPr/>
        </p:nvSpPr>
        <p:spPr>
          <a:xfrm>
            <a:off x="4732019" y="2852928"/>
            <a:ext cx="1074420" cy="329184"/>
          </a:xfrm>
          <a:prstGeom prst="rect">
            <a:avLst/>
          </a:prstGeom>
          <a:noFill/>
        </p:spPr>
        <p:txBody>
          <a:bodyPr wrap="square" lIns="0" tIns="0" rIns="0" bIns="0" anchor="ctr">
            <a:spAutoFit/>
          </a:bodyPr>
          <a:lstStyle/>
          <a:p>
            <a:pPr algn="l"/>
            <a:r>
              <a:rPr sz="1650" b="1">
                <a:solidFill>
                  <a:srgbClr val="4F46E5"/>
                </a:solidFill>
                <a:latin typeface="Segoe UI"/>
              </a:rPr>
              <a:t>10</a:t>
            </a:r>
          </a:p>
        </p:txBody>
      </p:sp>
      <p:sp>
        <p:nvSpPr>
          <p:cNvPr id="55" name="a2ud270_mt54"/>
          <p:cNvSpPr txBox="1"/>
          <p:nvPr/>
        </p:nvSpPr>
        <p:spPr>
          <a:xfrm>
            <a:off x="4732019" y="3200400"/>
            <a:ext cx="1074420" cy="402336"/>
          </a:xfrm>
          <a:prstGeom prst="rect">
            <a:avLst/>
          </a:prstGeom>
          <a:noFill/>
        </p:spPr>
        <p:txBody>
          <a:bodyPr wrap="square" lIns="0" tIns="0" rIns="0" bIns="0" anchor="t">
            <a:spAutoFit/>
          </a:bodyPr>
          <a:lstStyle/>
          <a:p>
            <a:pPr algn="l"/>
            <a:r>
              <a:rPr sz="950" b="1">
                <a:solidFill>
                  <a:srgbClr val="1C1917"/>
                </a:solidFill>
                <a:latin typeface="Segoe UI"/>
              </a:rPr>
              <a:t>Stream Processing</a:t>
            </a:r>
          </a:p>
        </p:txBody>
      </p:sp>
      <p:sp>
        <p:nvSpPr>
          <p:cNvPr id="56" name="a2ud270_pill55"/>
          <p:cNvSpPr/>
          <p:nvPr/>
        </p:nvSpPr>
        <p:spPr>
          <a:xfrm>
            <a:off x="4732019" y="3593592"/>
            <a:ext cx="868680" cy="201168"/>
          </a:xfrm>
          <a:prstGeom prst="roundRect">
            <a:avLst>
              <a:gd name="adj" fmla="val 50000"/>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750" b="1">
                <a:solidFill>
                  <a:srgbClr val="A16207"/>
                </a:solidFill>
                <a:latin typeface="Consolas"/>
              </a:rPr>
              <a:t>HANDS-ON</a:t>
            </a:r>
          </a:p>
        </p:txBody>
      </p:sp>
      <p:sp>
        <p:nvSpPr>
          <p:cNvPr id="57" name="a2ud360_card56"/>
          <p:cNvSpPr/>
          <p:nvPr/>
        </p:nvSpPr>
        <p:spPr>
          <a:xfrm>
            <a:off x="6035040" y="2743200"/>
            <a:ext cx="1257300" cy="1143000"/>
          </a:xfrm>
          <a:prstGeom prst="roundRect">
            <a:avLst>
              <a:gd name="adj" fmla="val 96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a2ud360_acc57"/>
          <p:cNvSpPr/>
          <p:nvPr/>
        </p:nvSpPr>
        <p:spPr>
          <a:xfrm>
            <a:off x="6035040" y="2743200"/>
            <a:ext cx="1257300" cy="4572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a2ud360_mn58"/>
          <p:cNvSpPr txBox="1"/>
          <p:nvPr/>
        </p:nvSpPr>
        <p:spPr>
          <a:xfrm>
            <a:off x="6126479" y="2852928"/>
            <a:ext cx="1074420" cy="329184"/>
          </a:xfrm>
          <a:prstGeom prst="rect">
            <a:avLst/>
          </a:prstGeom>
          <a:noFill/>
        </p:spPr>
        <p:txBody>
          <a:bodyPr wrap="square" lIns="0" tIns="0" rIns="0" bIns="0" anchor="ctr">
            <a:spAutoFit/>
          </a:bodyPr>
          <a:lstStyle/>
          <a:p>
            <a:pPr algn="l"/>
            <a:r>
              <a:rPr sz="1650" b="1">
                <a:solidFill>
                  <a:srgbClr val="15803D"/>
                </a:solidFill>
                <a:latin typeface="Segoe UI"/>
              </a:rPr>
              <a:t>11</a:t>
            </a:r>
          </a:p>
        </p:txBody>
      </p:sp>
      <p:sp>
        <p:nvSpPr>
          <p:cNvPr id="60" name="a2ud360_mt59"/>
          <p:cNvSpPr txBox="1"/>
          <p:nvPr/>
        </p:nvSpPr>
        <p:spPr>
          <a:xfrm>
            <a:off x="6126479" y="3200400"/>
            <a:ext cx="1074420" cy="402336"/>
          </a:xfrm>
          <a:prstGeom prst="rect">
            <a:avLst/>
          </a:prstGeom>
          <a:noFill/>
        </p:spPr>
        <p:txBody>
          <a:bodyPr wrap="square" lIns="0" tIns="0" rIns="0" bIns="0" anchor="t">
            <a:spAutoFit/>
          </a:bodyPr>
          <a:lstStyle/>
          <a:p>
            <a:pPr algn="l"/>
            <a:r>
              <a:rPr sz="950" b="1">
                <a:solidFill>
                  <a:srgbClr val="1C1917"/>
                </a:solidFill>
                <a:latin typeface="Segoe UI"/>
              </a:rPr>
              <a:t>Confluent's offerings</a:t>
            </a:r>
          </a:p>
        </p:txBody>
      </p:sp>
      <p:sp>
        <p:nvSpPr>
          <p:cNvPr id="61" name="a3u_nb60"/>
          <p:cNvSpPr/>
          <p:nvPr/>
        </p:nvSpPr>
        <p:spPr>
          <a:xfrm>
            <a:off x="457200" y="4206240"/>
            <a:ext cx="8229600" cy="411480"/>
          </a:xfrm>
          <a:prstGeom prst="roundRect">
            <a:avLst>
              <a:gd name="adj" fmla="val 17777"/>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a3u_nacc61"/>
          <p:cNvSpPr/>
          <p:nvPr/>
        </p:nvSpPr>
        <p:spPr>
          <a:xfrm>
            <a:off x="457200" y="4206240"/>
            <a:ext cx="54864" cy="41148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a3u_nt62"/>
          <p:cNvSpPr txBox="1"/>
          <p:nvPr/>
        </p:nvSpPr>
        <p:spPr>
          <a:xfrm>
            <a:off x="658368" y="4206240"/>
            <a:ext cx="7827264" cy="411480"/>
          </a:xfrm>
          <a:prstGeom prst="rect">
            <a:avLst/>
          </a:prstGeom>
          <a:noFill/>
        </p:spPr>
        <p:txBody>
          <a:bodyPr wrap="square" lIns="0" tIns="0" rIns="0" bIns="0" anchor="ctr">
            <a:spAutoFit/>
          </a:bodyPr>
          <a:lstStyle/>
          <a:p>
            <a:pPr algn="l"/>
            <a:r>
              <a:rPr sz="1000" b="1">
                <a:solidFill>
                  <a:srgbClr val="0E7490"/>
                </a:solidFill>
                <a:latin typeface="Segoe UI"/>
              </a:rPr>
              <a:t>GO  </a:t>
            </a:r>
            <a:r>
              <a:rPr sz="1000" b="0">
                <a:solidFill>
                  <a:srgbClr val="44403C"/>
                </a:solidFill>
                <a:latin typeface="Segoe UI"/>
              </a:rPr>
              <a:t>Let's get started - next up: Topics.</a:t>
            </a:r>
          </a:p>
        </p:txBody>
      </p:sp>
      <p:sp>
        <p:nvSpPr>
          <p:cNvPr id="64" name="ft63"/>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12</a:t>
            </a:r>
          </a:p>
        </p:txBody>
      </p:sp>
      <p:sp>
        <p:nvSpPr>
          <p:cNvPr id="65" name="ft64"/>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ft65"/>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Introduction</a:t>
            </a:r>
          </a:p>
        </p:txBody>
      </p:sp>
      <p:sp>
        <p:nvSpPr>
          <p:cNvPr id="67" name="ft66"/>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9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9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9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9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18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18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18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18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par>
                                <p:cTn id="74" presetID="2" presetClass="entr" presetSubtype="4" fill="hold" grpId="0" nodeType="withEffect">
                                  <p:stCondLst>
                                    <p:cond delay="27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ppt_y+0.1"/>
                                          </p:val>
                                        </p:tav>
                                        <p:tav tm="100000">
                                          <p:val>
                                            <p:strVal val="#ppt_y"/>
                                          </p:val>
                                        </p:tav>
                                      </p:tavLst>
                                    </p:anim>
                                    <p:animEffect transition="in" filter="fade">
                                      <p:cBhvr>
                                        <p:cTn id="73" dur="500"/>
                                        <p:tgtEl>
                                          <p:spTgt spid="24"/>
                                        </p:tgtEl>
                                      </p:cBhvr>
                                    </p:animEffect>
                                  </p:childTnLst>
                                </p:cTn>
                              </p:par>
                              <p:par>
                                <p:cTn id="79" presetID="2" presetClass="entr" presetSubtype="4" fill="hold" grpId="0" nodeType="withEffect">
                                  <p:stCondLst>
                                    <p:cond delay="27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ppt_x</p:attrName>
                                        </p:attrNameLst>
                                      </p:cBhvr>
                                      <p:tavLst>
                                        <p:tav tm="0">
                                          <p:val>
                                            <p:strVal val="#ppt_x"/>
                                          </p:val>
                                        </p:tav>
                                        <p:tav tm="100000">
                                          <p:val>
                                            <p:strVal val="#ppt_x"/>
                                          </p:val>
                                        </p:tav>
                                      </p:tavLst>
                                    </p:anim>
                                    <p:anim calcmode="lin" valueType="num">
                                      <p:cBhvr additive="base">
                                        <p:cTn id="77" dur="500" fill="hold"/>
                                        <p:tgtEl>
                                          <p:spTgt spid="25"/>
                                        </p:tgtEl>
                                        <p:attrNameLst>
                                          <p:attrName>ppt_y</p:attrName>
                                        </p:attrNameLst>
                                      </p:cBhvr>
                                      <p:tavLst>
                                        <p:tav tm="0">
                                          <p:val>
                                            <p:strVal val="#ppt_y+0.1"/>
                                          </p:val>
                                        </p:tav>
                                        <p:tav tm="100000">
                                          <p:val>
                                            <p:strVal val="#ppt_y"/>
                                          </p:val>
                                        </p:tav>
                                      </p:tavLst>
                                    </p:anim>
                                    <p:animEffect transition="in" filter="fade">
                                      <p:cBhvr>
                                        <p:cTn id="78" dur="500"/>
                                        <p:tgtEl>
                                          <p:spTgt spid="25"/>
                                        </p:tgtEl>
                                      </p:cBhvr>
                                    </p:animEffect>
                                  </p:childTnLst>
                                </p:cTn>
                              </p:par>
                              <p:par>
                                <p:cTn id="84" presetID="2" presetClass="entr" presetSubtype="4" fill="hold" grpId="0" nodeType="withEffect">
                                  <p:stCondLst>
                                    <p:cond delay="27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ppt_y+0.1"/>
                                          </p:val>
                                        </p:tav>
                                        <p:tav tm="100000">
                                          <p:val>
                                            <p:strVal val="#ppt_y"/>
                                          </p:val>
                                        </p:tav>
                                      </p:tavLst>
                                    </p:anim>
                                    <p:animEffect transition="in" filter="fade">
                                      <p:cBhvr>
                                        <p:cTn id="83" dur="500"/>
                                        <p:tgtEl>
                                          <p:spTgt spid="26"/>
                                        </p:tgtEl>
                                      </p:cBhvr>
                                    </p:animEffect>
                                  </p:childTnLst>
                                </p:cTn>
                              </p:par>
                              <p:par>
                                <p:cTn id="89" presetID="2" presetClass="entr" presetSubtype="4" fill="hold" grpId="0" nodeType="withEffect">
                                  <p:stCondLst>
                                    <p:cond delay="27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ppt_y+0.1"/>
                                          </p:val>
                                        </p:tav>
                                        <p:tav tm="100000">
                                          <p:val>
                                            <p:strVal val="#ppt_y"/>
                                          </p:val>
                                        </p:tav>
                                      </p:tavLst>
                                    </p:anim>
                                    <p:animEffect transition="in" filter="fade">
                                      <p:cBhvr>
                                        <p:cTn id="88" dur="500"/>
                                        <p:tgtEl>
                                          <p:spTgt spid="27"/>
                                        </p:tgtEl>
                                      </p:cBhvr>
                                    </p:animEffect>
                                  </p:childTnLst>
                                </p:cTn>
                              </p:par>
                              <p:par>
                                <p:cTn id="94" presetID="2" presetClass="entr" presetSubtype="4" fill="hold" grpId="0" nodeType="withEffect">
                                  <p:stCondLst>
                                    <p:cond delay="36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ppt_y+0.1"/>
                                          </p:val>
                                        </p:tav>
                                        <p:tav tm="100000">
                                          <p:val>
                                            <p:strVal val="#ppt_y"/>
                                          </p:val>
                                        </p:tav>
                                      </p:tavLst>
                                    </p:anim>
                                    <p:animEffect transition="in" filter="fade">
                                      <p:cBhvr>
                                        <p:cTn id="93" dur="500"/>
                                        <p:tgtEl>
                                          <p:spTgt spid="28"/>
                                        </p:tgtEl>
                                      </p:cBhvr>
                                    </p:animEffect>
                                  </p:childTnLst>
                                </p:cTn>
                              </p:par>
                              <p:par>
                                <p:cTn id="99" presetID="2" presetClass="entr" presetSubtype="4" fill="hold" grpId="0" nodeType="withEffect">
                                  <p:stCondLst>
                                    <p:cond delay="360"/>
                                  </p:stCondLst>
                                  <p:childTnLst>
                                    <p:set>
                                      <p:cBhvr>
                                        <p:cTn id="95" dur="1" fill="hold">
                                          <p:stCondLst>
                                            <p:cond delay="0"/>
                                          </p:stCondLst>
                                        </p:cTn>
                                        <p:tgtEl>
                                          <p:spTgt spid="29"/>
                                        </p:tgtEl>
                                        <p:attrNameLst>
                                          <p:attrName>style.visibility</p:attrName>
                                        </p:attrNameLst>
                                      </p:cBhvr>
                                      <p:to>
                                        <p:strVal val="visible"/>
                                      </p:to>
                                    </p:set>
                                    <p:anim calcmode="lin" valueType="num">
                                      <p:cBhvr additive="base">
                                        <p:cTn id="96" dur="500" fill="hold"/>
                                        <p:tgtEl>
                                          <p:spTgt spid="29"/>
                                        </p:tgtEl>
                                        <p:attrNameLst>
                                          <p:attrName>ppt_x</p:attrName>
                                        </p:attrNameLst>
                                      </p:cBhvr>
                                      <p:tavLst>
                                        <p:tav tm="0">
                                          <p:val>
                                            <p:strVal val="#ppt_x"/>
                                          </p:val>
                                        </p:tav>
                                        <p:tav tm="100000">
                                          <p:val>
                                            <p:strVal val="#ppt_x"/>
                                          </p:val>
                                        </p:tav>
                                      </p:tavLst>
                                    </p:anim>
                                    <p:anim calcmode="lin" valueType="num">
                                      <p:cBhvr additive="base">
                                        <p:cTn id="97" dur="500" fill="hold"/>
                                        <p:tgtEl>
                                          <p:spTgt spid="29"/>
                                        </p:tgtEl>
                                        <p:attrNameLst>
                                          <p:attrName>ppt_y</p:attrName>
                                        </p:attrNameLst>
                                      </p:cBhvr>
                                      <p:tavLst>
                                        <p:tav tm="0">
                                          <p:val>
                                            <p:strVal val="#ppt_y+0.1"/>
                                          </p:val>
                                        </p:tav>
                                        <p:tav tm="100000">
                                          <p:val>
                                            <p:strVal val="#ppt_y"/>
                                          </p:val>
                                        </p:tav>
                                      </p:tavLst>
                                    </p:anim>
                                    <p:animEffect transition="in" filter="fade">
                                      <p:cBhvr>
                                        <p:cTn id="98" dur="500"/>
                                        <p:tgtEl>
                                          <p:spTgt spid="29"/>
                                        </p:tgtEl>
                                      </p:cBhvr>
                                    </p:animEffect>
                                  </p:childTnLst>
                                </p:cTn>
                              </p:par>
                              <p:par>
                                <p:cTn id="104" presetID="2" presetClass="entr" presetSubtype="4" fill="hold" grpId="0" nodeType="withEffect">
                                  <p:stCondLst>
                                    <p:cond delay="360"/>
                                  </p:stCondLst>
                                  <p:childTnLst>
                                    <p:set>
                                      <p:cBhvr>
                                        <p:cTn id="100" dur="1" fill="hold">
                                          <p:stCondLst>
                                            <p:cond delay="0"/>
                                          </p:stCondLst>
                                        </p:cTn>
                                        <p:tgtEl>
                                          <p:spTgt spid="30"/>
                                        </p:tgtEl>
                                        <p:attrNameLst>
                                          <p:attrName>style.visibility</p:attrName>
                                        </p:attrNameLst>
                                      </p:cBhvr>
                                      <p:to>
                                        <p:strVal val="visible"/>
                                      </p:to>
                                    </p:set>
                                    <p:anim calcmode="lin" valueType="num">
                                      <p:cBhvr additive="base">
                                        <p:cTn id="101" dur="500" fill="hold"/>
                                        <p:tgtEl>
                                          <p:spTgt spid="30"/>
                                        </p:tgtEl>
                                        <p:attrNameLst>
                                          <p:attrName>ppt_x</p:attrName>
                                        </p:attrNameLst>
                                      </p:cBhvr>
                                      <p:tavLst>
                                        <p:tav tm="0">
                                          <p:val>
                                            <p:strVal val="#ppt_x"/>
                                          </p:val>
                                        </p:tav>
                                        <p:tav tm="100000">
                                          <p:val>
                                            <p:strVal val="#ppt_x"/>
                                          </p:val>
                                        </p:tav>
                                      </p:tavLst>
                                    </p:anim>
                                    <p:anim calcmode="lin" valueType="num">
                                      <p:cBhvr additive="base">
                                        <p:cTn id="102" dur="500" fill="hold"/>
                                        <p:tgtEl>
                                          <p:spTgt spid="30"/>
                                        </p:tgtEl>
                                        <p:attrNameLst>
                                          <p:attrName>ppt_y</p:attrName>
                                        </p:attrNameLst>
                                      </p:cBhvr>
                                      <p:tavLst>
                                        <p:tav tm="0">
                                          <p:val>
                                            <p:strVal val="#ppt_y+0.1"/>
                                          </p:val>
                                        </p:tav>
                                        <p:tav tm="100000">
                                          <p:val>
                                            <p:strVal val="#ppt_y"/>
                                          </p:val>
                                        </p:tav>
                                      </p:tavLst>
                                    </p:anim>
                                    <p:animEffect transition="in" filter="fade">
                                      <p:cBhvr>
                                        <p:cTn id="103" dur="500"/>
                                        <p:tgtEl>
                                          <p:spTgt spid="30"/>
                                        </p:tgtEl>
                                      </p:cBhvr>
                                    </p:animEffect>
                                  </p:childTnLst>
                                </p:cTn>
                              </p:par>
                              <p:par>
                                <p:cTn id="109" presetID="2" presetClass="entr" presetSubtype="4" fill="hold" grpId="0" nodeType="withEffect">
                                  <p:stCondLst>
                                    <p:cond delay="360"/>
                                  </p:stCondLst>
                                  <p:childTnLst>
                                    <p:set>
                                      <p:cBhvr>
                                        <p:cTn id="105" dur="1" fill="hold">
                                          <p:stCondLst>
                                            <p:cond delay="0"/>
                                          </p:stCondLst>
                                        </p:cTn>
                                        <p:tgtEl>
                                          <p:spTgt spid="31"/>
                                        </p:tgtEl>
                                        <p:attrNameLst>
                                          <p:attrName>style.visibility</p:attrName>
                                        </p:attrNameLst>
                                      </p:cBhvr>
                                      <p:to>
                                        <p:strVal val="visible"/>
                                      </p:to>
                                    </p:set>
                                    <p:anim calcmode="lin" valueType="num">
                                      <p:cBhvr additive="base">
                                        <p:cTn id="106" dur="500" fill="hold"/>
                                        <p:tgtEl>
                                          <p:spTgt spid="31"/>
                                        </p:tgtEl>
                                        <p:attrNameLst>
                                          <p:attrName>ppt_x</p:attrName>
                                        </p:attrNameLst>
                                      </p:cBhvr>
                                      <p:tavLst>
                                        <p:tav tm="0">
                                          <p:val>
                                            <p:strVal val="#ppt_x"/>
                                          </p:val>
                                        </p:tav>
                                        <p:tav tm="100000">
                                          <p:val>
                                            <p:strVal val="#ppt_x"/>
                                          </p:val>
                                        </p:tav>
                                      </p:tavLst>
                                    </p:anim>
                                    <p:anim calcmode="lin" valueType="num">
                                      <p:cBhvr additive="base">
                                        <p:cTn id="107" dur="500" fill="hold"/>
                                        <p:tgtEl>
                                          <p:spTgt spid="31"/>
                                        </p:tgtEl>
                                        <p:attrNameLst>
                                          <p:attrName>ppt_y</p:attrName>
                                        </p:attrNameLst>
                                      </p:cBhvr>
                                      <p:tavLst>
                                        <p:tav tm="0">
                                          <p:val>
                                            <p:strVal val="#ppt_y+0.1"/>
                                          </p:val>
                                        </p:tav>
                                        <p:tav tm="100000">
                                          <p:val>
                                            <p:strVal val="#ppt_y"/>
                                          </p:val>
                                        </p:tav>
                                      </p:tavLst>
                                    </p:anim>
                                    <p:animEffect transition="in" filter="fade">
                                      <p:cBhvr>
                                        <p:cTn id="108" dur="500"/>
                                        <p:tgtEl>
                                          <p:spTgt spid="31"/>
                                        </p:tgtEl>
                                      </p:cBhvr>
                                    </p:animEffect>
                                  </p:childTnLst>
                                </p:cTn>
                              </p:par>
                              <p:par>
                                <p:cTn id="114" presetID="2" presetClass="entr" presetSubtype="4" fill="hold" grpId="0" nodeType="withEffect">
                                  <p:stCondLst>
                                    <p:cond delay="450"/>
                                  </p:stCondLst>
                                  <p:childTnLst>
                                    <p:set>
                                      <p:cBhvr>
                                        <p:cTn id="110" dur="1" fill="hold">
                                          <p:stCondLst>
                                            <p:cond delay="0"/>
                                          </p:stCondLst>
                                        </p:cTn>
                                        <p:tgtEl>
                                          <p:spTgt spid="32"/>
                                        </p:tgtEl>
                                        <p:attrNameLst>
                                          <p:attrName>style.visibility</p:attrName>
                                        </p:attrNameLst>
                                      </p:cBhvr>
                                      <p:to>
                                        <p:strVal val="visible"/>
                                      </p:to>
                                    </p:set>
                                    <p:anim calcmode="lin" valueType="num">
                                      <p:cBhvr additive="base">
                                        <p:cTn id="111" dur="500" fill="hold"/>
                                        <p:tgtEl>
                                          <p:spTgt spid="32"/>
                                        </p:tgtEl>
                                        <p:attrNameLst>
                                          <p:attrName>ppt_x</p:attrName>
                                        </p:attrNameLst>
                                      </p:cBhvr>
                                      <p:tavLst>
                                        <p:tav tm="0">
                                          <p:val>
                                            <p:strVal val="#ppt_x"/>
                                          </p:val>
                                        </p:tav>
                                        <p:tav tm="100000">
                                          <p:val>
                                            <p:strVal val="#ppt_x"/>
                                          </p:val>
                                        </p:tav>
                                      </p:tavLst>
                                    </p:anim>
                                    <p:anim calcmode="lin" valueType="num">
                                      <p:cBhvr additive="base">
                                        <p:cTn id="112" dur="500" fill="hold"/>
                                        <p:tgtEl>
                                          <p:spTgt spid="32"/>
                                        </p:tgtEl>
                                        <p:attrNameLst>
                                          <p:attrName>ppt_y</p:attrName>
                                        </p:attrNameLst>
                                      </p:cBhvr>
                                      <p:tavLst>
                                        <p:tav tm="0">
                                          <p:val>
                                            <p:strVal val="#ppt_y+0.1"/>
                                          </p:val>
                                        </p:tav>
                                        <p:tav tm="100000">
                                          <p:val>
                                            <p:strVal val="#ppt_y"/>
                                          </p:val>
                                        </p:tav>
                                      </p:tavLst>
                                    </p:anim>
                                    <p:animEffect transition="in" filter="fade">
                                      <p:cBhvr>
                                        <p:cTn id="113" dur="500"/>
                                        <p:tgtEl>
                                          <p:spTgt spid="32"/>
                                        </p:tgtEl>
                                      </p:cBhvr>
                                    </p:animEffect>
                                  </p:childTnLst>
                                </p:cTn>
                              </p:par>
                              <p:par>
                                <p:cTn id="119" presetID="2" presetClass="entr" presetSubtype="4" fill="hold" grpId="0" nodeType="withEffect">
                                  <p:stCondLst>
                                    <p:cond delay="450"/>
                                  </p:stCondLst>
                                  <p:childTnLst>
                                    <p:set>
                                      <p:cBhvr>
                                        <p:cTn id="115" dur="1" fill="hold">
                                          <p:stCondLst>
                                            <p:cond delay="0"/>
                                          </p:stCondLst>
                                        </p:cTn>
                                        <p:tgtEl>
                                          <p:spTgt spid="33"/>
                                        </p:tgtEl>
                                        <p:attrNameLst>
                                          <p:attrName>style.visibility</p:attrName>
                                        </p:attrNameLst>
                                      </p:cBhvr>
                                      <p:to>
                                        <p:strVal val="visible"/>
                                      </p:to>
                                    </p:set>
                                    <p:anim calcmode="lin" valueType="num">
                                      <p:cBhvr additive="base">
                                        <p:cTn id="116" dur="500" fill="hold"/>
                                        <p:tgtEl>
                                          <p:spTgt spid="33"/>
                                        </p:tgtEl>
                                        <p:attrNameLst>
                                          <p:attrName>ppt_x</p:attrName>
                                        </p:attrNameLst>
                                      </p:cBhvr>
                                      <p:tavLst>
                                        <p:tav tm="0">
                                          <p:val>
                                            <p:strVal val="#ppt_x"/>
                                          </p:val>
                                        </p:tav>
                                        <p:tav tm="100000">
                                          <p:val>
                                            <p:strVal val="#ppt_x"/>
                                          </p:val>
                                        </p:tav>
                                      </p:tavLst>
                                    </p:anim>
                                    <p:anim calcmode="lin" valueType="num">
                                      <p:cBhvr additive="base">
                                        <p:cTn id="117" dur="500" fill="hold"/>
                                        <p:tgtEl>
                                          <p:spTgt spid="33"/>
                                        </p:tgtEl>
                                        <p:attrNameLst>
                                          <p:attrName>ppt_y</p:attrName>
                                        </p:attrNameLst>
                                      </p:cBhvr>
                                      <p:tavLst>
                                        <p:tav tm="0">
                                          <p:val>
                                            <p:strVal val="#ppt_y+0.1"/>
                                          </p:val>
                                        </p:tav>
                                        <p:tav tm="100000">
                                          <p:val>
                                            <p:strVal val="#ppt_y"/>
                                          </p:val>
                                        </p:tav>
                                      </p:tavLst>
                                    </p:anim>
                                    <p:animEffect transition="in" filter="fade">
                                      <p:cBhvr>
                                        <p:cTn id="118" dur="500"/>
                                        <p:tgtEl>
                                          <p:spTgt spid="33"/>
                                        </p:tgtEl>
                                      </p:cBhvr>
                                    </p:animEffect>
                                  </p:childTnLst>
                                </p:cTn>
                              </p:par>
                              <p:par>
                                <p:cTn id="124" presetID="2" presetClass="entr" presetSubtype="4" fill="hold" grpId="0" nodeType="withEffect">
                                  <p:stCondLst>
                                    <p:cond delay="450"/>
                                  </p:stCondLst>
                                  <p:childTnLst>
                                    <p:set>
                                      <p:cBhvr>
                                        <p:cTn id="120" dur="1" fill="hold">
                                          <p:stCondLst>
                                            <p:cond delay="0"/>
                                          </p:stCondLst>
                                        </p:cTn>
                                        <p:tgtEl>
                                          <p:spTgt spid="34"/>
                                        </p:tgtEl>
                                        <p:attrNameLst>
                                          <p:attrName>style.visibility</p:attrName>
                                        </p:attrNameLst>
                                      </p:cBhvr>
                                      <p:to>
                                        <p:strVal val="visible"/>
                                      </p:to>
                                    </p:set>
                                    <p:anim calcmode="lin" valueType="num">
                                      <p:cBhvr additive="base">
                                        <p:cTn id="121" dur="500" fill="hold"/>
                                        <p:tgtEl>
                                          <p:spTgt spid="34"/>
                                        </p:tgtEl>
                                        <p:attrNameLst>
                                          <p:attrName>ppt_x</p:attrName>
                                        </p:attrNameLst>
                                      </p:cBhvr>
                                      <p:tavLst>
                                        <p:tav tm="0">
                                          <p:val>
                                            <p:strVal val="#ppt_x"/>
                                          </p:val>
                                        </p:tav>
                                        <p:tav tm="100000">
                                          <p:val>
                                            <p:strVal val="#ppt_x"/>
                                          </p:val>
                                        </p:tav>
                                      </p:tavLst>
                                    </p:anim>
                                    <p:anim calcmode="lin" valueType="num">
                                      <p:cBhvr additive="base">
                                        <p:cTn id="122" dur="500" fill="hold"/>
                                        <p:tgtEl>
                                          <p:spTgt spid="34"/>
                                        </p:tgtEl>
                                        <p:attrNameLst>
                                          <p:attrName>ppt_y</p:attrName>
                                        </p:attrNameLst>
                                      </p:cBhvr>
                                      <p:tavLst>
                                        <p:tav tm="0">
                                          <p:val>
                                            <p:strVal val="#ppt_y+0.1"/>
                                          </p:val>
                                        </p:tav>
                                        <p:tav tm="100000">
                                          <p:val>
                                            <p:strVal val="#ppt_y"/>
                                          </p:val>
                                        </p:tav>
                                      </p:tavLst>
                                    </p:anim>
                                    <p:animEffect transition="in" filter="fade">
                                      <p:cBhvr>
                                        <p:cTn id="123" dur="500"/>
                                        <p:tgtEl>
                                          <p:spTgt spid="34"/>
                                        </p:tgtEl>
                                      </p:cBhvr>
                                    </p:animEffect>
                                  </p:childTnLst>
                                </p:cTn>
                              </p:par>
                              <p:par>
                                <p:cTn id="129" presetID="2" presetClass="entr" presetSubtype="4" fill="hold" grpId="0" nodeType="withEffect">
                                  <p:stCondLst>
                                    <p:cond delay="450"/>
                                  </p:stCondLst>
                                  <p:childTnLst>
                                    <p:set>
                                      <p:cBhvr>
                                        <p:cTn id="125" dur="1" fill="hold">
                                          <p:stCondLst>
                                            <p:cond delay="0"/>
                                          </p:stCondLst>
                                        </p:cTn>
                                        <p:tgtEl>
                                          <p:spTgt spid="35"/>
                                        </p:tgtEl>
                                        <p:attrNameLst>
                                          <p:attrName>style.visibility</p:attrName>
                                        </p:attrNameLst>
                                      </p:cBhvr>
                                      <p:to>
                                        <p:strVal val="visible"/>
                                      </p:to>
                                    </p:set>
                                    <p:anim calcmode="lin" valueType="num">
                                      <p:cBhvr additive="base">
                                        <p:cTn id="126" dur="500" fill="hold"/>
                                        <p:tgtEl>
                                          <p:spTgt spid="35"/>
                                        </p:tgtEl>
                                        <p:attrNameLst>
                                          <p:attrName>ppt_x</p:attrName>
                                        </p:attrNameLst>
                                      </p:cBhvr>
                                      <p:tavLst>
                                        <p:tav tm="0">
                                          <p:val>
                                            <p:strVal val="#ppt_x"/>
                                          </p:val>
                                        </p:tav>
                                        <p:tav tm="100000">
                                          <p:val>
                                            <p:strVal val="#ppt_x"/>
                                          </p:val>
                                        </p:tav>
                                      </p:tavLst>
                                    </p:anim>
                                    <p:anim calcmode="lin" valueType="num">
                                      <p:cBhvr additive="base">
                                        <p:cTn id="127" dur="500" fill="hold"/>
                                        <p:tgtEl>
                                          <p:spTgt spid="35"/>
                                        </p:tgtEl>
                                        <p:attrNameLst>
                                          <p:attrName>ppt_y</p:attrName>
                                        </p:attrNameLst>
                                      </p:cBhvr>
                                      <p:tavLst>
                                        <p:tav tm="0">
                                          <p:val>
                                            <p:strVal val="#ppt_y+0.1"/>
                                          </p:val>
                                        </p:tav>
                                        <p:tav tm="100000">
                                          <p:val>
                                            <p:strVal val="#ppt_y"/>
                                          </p:val>
                                        </p:tav>
                                      </p:tavLst>
                                    </p:anim>
                                    <p:animEffect transition="in" filter="fade">
                                      <p:cBhvr>
                                        <p:cTn id="128" dur="500"/>
                                        <p:tgtEl>
                                          <p:spTgt spid="35"/>
                                        </p:tgtEl>
                                      </p:cBhvr>
                                    </p:animEffect>
                                  </p:childTnLst>
                                </p:cTn>
                              </p:par>
                              <p:par>
                                <p:cTn id="134" presetID="2" presetClass="entr" presetSubtype="4" fill="hold" grpId="0" nodeType="withEffect">
                                  <p:stCondLst>
                                    <p:cond delay="450"/>
                                  </p:stCondLst>
                                  <p:childTnLst>
                                    <p:set>
                                      <p:cBhvr>
                                        <p:cTn id="130" dur="1" fill="hold">
                                          <p:stCondLst>
                                            <p:cond delay="0"/>
                                          </p:stCondLst>
                                        </p:cTn>
                                        <p:tgtEl>
                                          <p:spTgt spid="36"/>
                                        </p:tgtEl>
                                        <p:attrNameLst>
                                          <p:attrName>style.visibility</p:attrName>
                                        </p:attrNameLst>
                                      </p:cBhvr>
                                      <p:to>
                                        <p:strVal val="visible"/>
                                      </p:to>
                                    </p:set>
                                    <p:anim calcmode="lin" valueType="num">
                                      <p:cBhvr additive="base">
                                        <p:cTn id="131" dur="500" fill="hold"/>
                                        <p:tgtEl>
                                          <p:spTgt spid="36"/>
                                        </p:tgtEl>
                                        <p:attrNameLst>
                                          <p:attrName>ppt_x</p:attrName>
                                        </p:attrNameLst>
                                      </p:cBhvr>
                                      <p:tavLst>
                                        <p:tav tm="0">
                                          <p:val>
                                            <p:strVal val="#ppt_x"/>
                                          </p:val>
                                        </p:tav>
                                        <p:tav tm="100000">
                                          <p:val>
                                            <p:strVal val="#ppt_x"/>
                                          </p:val>
                                        </p:tav>
                                      </p:tavLst>
                                    </p:anim>
                                    <p:anim calcmode="lin" valueType="num">
                                      <p:cBhvr additive="base">
                                        <p:cTn id="132" dur="500" fill="hold"/>
                                        <p:tgtEl>
                                          <p:spTgt spid="36"/>
                                        </p:tgtEl>
                                        <p:attrNameLst>
                                          <p:attrName>ppt_y</p:attrName>
                                        </p:attrNameLst>
                                      </p:cBhvr>
                                      <p:tavLst>
                                        <p:tav tm="0">
                                          <p:val>
                                            <p:strVal val="#ppt_y+0.1"/>
                                          </p:val>
                                        </p:tav>
                                        <p:tav tm="100000">
                                          <p:val>
                                            <p:strVal val="#ppt_y"/>
                                          </p:val>
                                        </p:tav>
                                      </p:tavLst>
                                    </p:anim>
                                    <p:animEffect transition="in" filter="fade">
                                      <p:cBhvr>
                                        <p:cTn id="133" dur="500"/>
                                        <p:tgtEl>
                                          <p:spTgt spid="36"/>
                                        </p:tgtEl>
                                      </p:cBhvr>
                                    </p:animEffect>
                                  </p:childTnLst>
                                </p:cTn>
                              </p:par>
                            </p:childTnLst>
                          </p:cTn>
                        </p:par>
                      </p:childTnLst>
                    </p:cTn>
                  </p:par>
                  <p:par>
                    <p:cTn id="135" fill="hold">
                      <p:stCondLst>
                        <p:cond delay="indefinite"/>
                      </p:stCondLst>
                      <p:childTnLst>
                        <p:par>
                          <p:cTn id="136" fill="hold">
                            <p:stCondLst>
                              <p:cond delay="0"/>
                            </p:stCondLst>
                            <p:childTnLst>
                              <p:par>
                                <p:cTn id="141" presetID="2" presetClass="entr" presetSubtype="4" fill="hold" grpId="0" nodeType="clickEffect">
                                  <p:stCondLst>
                                    <p:cond delay="0"/>
                                  </p:stCondLst>
                                  <p:childTnLst>
                                    <p:set>
                                      <p:cBhvr>
                                        <p:cTn id="137" dur="1" fill="hold">
                                          <p:stCondLst>
                                            <p:cond delay="0"/>
                                          </p:stCondLst>
                                        </p:cTn>
                                        <p:tgtEl>
                                          <p:spTgt spid="37"/>
                                        </p:tgtEl>
                                        <p:attrNameLst>
                                          <p:attrName>style.visibility</p:attrName>
                                        </p:attrNameLst>
                                      </p:cBhvr>
                                      <p:to>
                                        <p:strVal val="visible"/>
                                      </p:to>
                                    </p:set>
                                    <p:anim calcmode="lin" valueType="num">
                                      <p:cBhvr additive="base">
                                        <p:cTn id="138" dur="500" fill="hold"/>
                                        <p:tgtEl>
                                          <p:spTgt spid="37"/>
                                        </p:tgtEl>
                                        <p:attrNameLst>
                                          <p:attrName>ppt_x</p:attrName>
                                        </p:attrNameLst>
                                      </p:cBhvr>
                                      <p:tavLst>
                                        <p:tav tm="0">
                                          <p:val>
                                            <p:strVal val="#ppt_x"/>
                                          </p:val>
                                        </p:tav>
                                        <p:tav tm="100000">
                                          <p:val>
                                            <p:strVal val="#ppt_x"/>
                                          </p:val>
                                        </p:tav>
                                      </p:tavLst>
                                    </p:anim>
                                    <p:anim calcmode="lin" valueType="num">
                                      <p:cBhvr additive="base">
                                        <p:cTn id="139" dur="500" fill="hold"/>
                                        <p:tgtEl>
                                          <p:spTgt spid="37"/>
                                        </p:tgtEl>
                                        <p:attrNameLst>
                                          <p:attrName>ppt_y</p:attrName>
                                        </p:attrNameLst>
                                      </p:cBhvr>
                                      <p:tavLst>
                                        <p:tav tm="0">
                                          <p:val>
                                            <p:strVal val="#ppt_y+0.1"/>
                                          </p:val>
                                        </p:tav>
                                        <p:tav tm="100000">
                                          <p:val>
                                            <p:strVal val="#ppt_y"/>
                                          </p:val>
                                        </p:tav>
                                      </p:tavLst>
                                    </p:anim>
                                    <p:animEffect transition="in" filter="fade">
                                      <p:cBhvr>
                                        <p:cTn id="140" dur="500"/>
                                        <p:tgtEl>
                                          <p:spTgt spid="37"/>
                                        </p:tgtEl>
                                      </p:cBhvr>
                                    </p:animEffect>
                                  </p:childTnLst>
                                </p:cTn>
                              </p:par>
                              <p:par>
                                <p:cTn id="146" presetID="2" presetClass="entr" presetSubtype="4" fill="hold" grpId="0" nodeType="withEffect">
                                  <p:stCondLst>
                                    <p:cond delay="0"/>
                                  </p:stCondLst>
                                  <p:childTnLst>
                                    <p:set>
                                      <p:cBhvr>
                                        <p:cTn id="142" dur="1" fill="hold">
                                          <p:stCondLst>
                                            <p:cond delay="0"/>
                                          </p:stCondLst>
                                        </p:cTn>
                                        <p:tgtEl>
                                          <p:spTgt spid="38"/>
                                        </p:tgtEl>
                                        <p:attrNameLst>
                                          <p:attrName>style.visibility</p:attrName>
                                        </p:attrNameLst>
                                      </p:cBhvr>
                                      <p:to>
                                        <p:strVal val="visible"/>
                                      </p:to>
                                    </p:set>
                                    <p:anim calcmode="lin" valueType="num">
                                      <p:cBhvr additive="base">
                                        <p:cTn id="143" dur="500" fill="hold"/>
                                        <p:tgtEl>
                                          <p:spTgt spid="38"/>
                                        </p:tgtEl>
                                        <p:attrNameLst>
                                          <p:attrName>ppt_x</p:attrName>
                                        </p:attrNameLst>
                                      </p:cBhvr>
                                      <p:tavLst>
                                        <p:tav tm="0">
                                          <p:val>
                                            <p:strVal val="#ppt_x"/>
                                          </p:val>
                                        </p:tav>
                                        <p:tav tm="100000">
                                          <p:val>
                                            <p:strVal val="#ppt_x"/>
                                          </p:val>
                                        </p:tav>
                                      </p:tavLst>
                                    </p:anim>
                                    <p:anim calcmode="lin" valueType="num">
                                      <p:cBhvr additive="base">
                                        <p:cTn id="144" dur="500" fill="hold"/>
                                        <p:tgtEl>
                                          <p:spTgt spid="38"/>
                                        </p:tgtEl>
                                        <p:attrNameLst>
                                          <p:attrName>ppt_y</p:attrName>
                                        </p:attrNameLst>
                                      </p:cBhvr>
                                      <p:tavLst>
                                        <p:tav tm="0">
                                          <p:val>
                                            <p:strVal val="#ppt_y+0.1"/>
                                          </p:val>
                                        </p:tav>
                                        <p:tav tm="100000">
                                          <p:val>
                                            <p:strVal val="#ppt_y"/>
                                          </p:val>
                                        </p:tav>
                                      </p:tavLst>
                                    </p:anim>
                                    <p:animEffect transition="in" filter="fade">
                                      <p:cBhvr>
                                        <p:cTn id="145" dur="500"/>
                                        <p:tgtEl>
                                          <p:spTgt spid="38"/>
                                        </p:tgtEl>
                                      </p:cBhvr>
                                    </p:animEffect>
                                  </p:childTnLst>
                                </p:cTn>
                              </p:par>
                              <p:par>
                                <p:cTn id="151" presetID="2" presetClass="entr" presetSubtype="4" fill="hold" grpId="0" nodeType="withEffect">
                                  <p:stCondLst>
                                    <p:cond delay="0"/>
                                  </p:stCondLst>
                                  <p:childTnLst>
                                    <p:set>
                                      <p:cBhvr>
                                        <p:cTn id="147" dur="1" fill="hold">
                                          <p:stCondLst>
                                            <p:cond delay="0"/>
                                          </p:stCondLst>
                                        </p:cTn>
                                        <p:tgtEl>
                                          <p:spTgt spid="39"/>
                                        </p:tgtEl>
                                        <p:attrNameLst>
                                          <p:attrName>style.visibility</p:attrName>
                                        </p:attrNameLst>
                                      </p:cBhvr>
                                      <p:to>
                                        <p:strVal val="visible"/>
                                      </p:to>
                                    </p:set>
                                    <p:anim calcmode="lin" valueType="num">
                                      <p:cBhvr additive="base">
                                        <p:cTn id="148" dur="500" fill="hold"/>
                                        <p:tgtEl>
                                          <p:spTgt spid="39"/>
                                        </p:tgtEl>
                                        <p:attrNameLst>
                                          <p:attrName>ppt_x</p:attrName>
                                        </p:attrNameLst>
                                      </p:cBhvr>
                                      <p:tavLst>
                                        <p:tav tm="0">
                                          <p:val>
                                            <p:strVal val="#ppt_x"/>
                                          </p:val>
                                        </p:tav>
                                        <p:tav tm="100000">
                                          <p:val>
                                            <p:strVal val="#ppt_x"/>
                                          </p:val>
                                        </p:tav>
                                      </p:tavLst>
                                    </p:anim>
                                    <p:anim calcmode="lin" valueType="num">
                                      <p:cBhvr additive="base">
                                        <p:cTn id="149" dur="500" fill="hold"/>
                                        <p:tgtEl>
                                          <p:spTgt spid="39"/>
                                        </p:tgtEl>
                                        <p:attrNameLst>
                                          <p:attrName>ppt_y</p:attrName>
                                        </p:attrNameLst>
                                      </p:cBhvr>
                                      <p:tavLst>
                                        <p:tav tm="0">
                                          <p:val>
                                            <p:strVal val="#ppt_y+0.1"/>
                                          </p:val>
                                        </p:tav>
                                        <p:tav tm="100000">
                                          <p:val>
                                            <p:strVal val="#ppt_y"/>
                                          </p:val>
                                        </p:tav>
                                      </p:tavLst>
                                    </p:anim>
                                    <p:animEffect transition="in" filter="fade">
                                      <p:cBhvr>
                                        <p:cTn id="150" dur="500"/>
                                        <p:tgtEl>
                                          <p:spTgt spid="39"/>
                                        </p:tgtEl>
                                      </p:cBhvr>
                                    </p:animEffect>
                                  </p:childTnLst>
                                </p:cTn>
                              </p:par>
                              <p:par>
                                <p:cTn id="156" presetID="2" presetClass="entr" presetSubtype="4" fill="hold" grpId="0" nodeType="withEffect">
                                  <p:stCondLst>
                                    <p:cond delay="0"/>
                                  </p:stCondLst>
                                  <p:childTnLst>
                                    <p:set>
                                      <p:cBhvr>
                                        <p:cTn id="152" dur="1" fill="hold">
                                          <p:stCondLst>
                                            <p:cond delay="0"/>
                                          </p:stCondLst>
                                        </p:cTn>
                                        <p:tgtEl>
                                          <p:spTgt spid="40"/>
                                        </p:tgtEl>
                                        <p:attrNameLst>
                                          <p:attrName>style.visibility</p:attrName>
                                        </p:attrNameLst>
                                      </p:cBhvr>
                                      <p:to>
                                        <p:strVal val="visible"/>
                                      </p:to>
                                    </p:set>
                                    <p:anim calcmode="lin" valueType="num">
                                      <p:cBhvr additive="base">
                                        <p:cTn id="153" dur="500" fill="hold"/>
                                        <p:tgtEl>
                                          <p:spTgt spid="40"/>
                                        </p:tgtEl>
                                        <p:attrNameLst>
                                          <p:attrName>ppt_x</p:attrName>
                                        </p:attrNameLst>
                                      </p:cBhvr>
                                      <p:tavLst>
                                        <p:tav tm="0">
                                          <p:val>
                                            <p:strVal val="#ppt_x"/>
                                          </p:val>
                                        </p:tav>
                                        <p:tav tm="100000">
                                          <p:val>
                                            <p:strVal val="#ppt_x"/>
                                          </p:val>
                                        </p:tav>
                                      </p:tavLst>
                                    </p:anim>
                                    <p:anim calcmode="lin" valueType="num">
                                      <p:cBhvr additive="base">
                                        <p:cTn id="154" dur="500" fill="hold"/>
                                        <p:tgtEl>
                                          <p:spTgt spid="40"/>
                                        </p:tgtEl>
                                        <p:attrNameLst>
                                          <p:attrName>ppt_y</p:attrName>
                                        </p:attrNameLst>
                                      </p:cBhvr>
                                      <p:tavLst>
                                        <p:tav tm="0">
                                          <p:val>
                                            <p:strVal val="#ppt_y+0.1"/>
                                          </p:val>
                                        </p:tav>
                                        <p:tav tm="100000">
                                          <p:val>
                                            <p:strVal val="#ppt_y"/>
                                          </p:val>
                                        </p:tav>
                                      </p:tavLst>
                                    </p:anim>
                                    <p:animEffect transition="in" filter="fade">
                                      <p:cBhvr>
                                        <p:cTn id="155" dur="500"/>
                                        <p:tgtEl>
                                          <p:spTgt spid="40"/>
                                        </p:tgtEl>
                                      </p:cBhvr>
                                    </p:animEffect>
                                  </p:childTnLst>
                                </p:cTn>
                              </p:par>
                              <p:par>
                                <p:cTn id="161" presetID="2" presetClass="entr" presetSubtype="4" fill="hold" grpId="0" nodeType="withEffect">
                                  <p:stCondLst>
                                    <p:cond delay="0"/>
                                  </p:stCondLst>
                                  <p:childTnLst>
                                    <p:set>
                                      <p:cBhvr>
                                        <p:cTn id="157" dur="1" fill="hold">
                                          <p:stCondLst>
                                            <p:cond delay="0"/>
                                          </p:stCondLst>
                                        </p:cTn>
                                        <p:tgtEl>
                                          <p:spTgt spid="41"/>
                                        </p:tgtEl>
                                        <p:attrNameLst>
                                          <p:attrName>style.visibility</p:attrName>
                                        </p:attrNameLst>
                                      </p:cBhvr>
                                      <p:to>
                                        <p:strVal val="visible"/>
                                      </p:to>
                                    </p:set>
                                    <p:anim calcmode="lin" valueType="num">
                                      <p:cBhvr additive="base">
                                        <p:cTn id="158" dur="500" fill="hold"/>
                                        <p:tgtEl>
                                          <p:spTgt spid="41"/>
                                        </p:tgtEl>
                                        <p:attrNameLst>
                                          <p:attrName>ppt_x</p:attrName>
                                        </p:attrNameLst>
                                      </p:cBhvr>
                                      <p:tavLst>
                                        <p:tav tm="0">
                                          <p:val>
                                            <p:strVal val="#ppt_x"/>
                                          </p:val>
                                        </p:tav>
                                        <p:tav tm="100000">
                                          <p:val>
                                            <p:strVal val="#ppt_x"/>
                                          </p:val>
                                        </p:tav>
                                      </p:tavLst>
                                    </p:anim>
                                    <p:anim calcmode="lin" valueType="num">
                                      <p:cBhvr additive="base">
                                        <p:cTn id="159" dur="500" fill="hold"/>
                                        <p:tgtEl>
                                          <p:spTgt spid="41"/>
                                        </p:tgtEl>
                                        <p:attrNameLst>
                                          <p:attrName>ppt_y</p:attrName>
                                        </p:attrNameLst>
                                      </p:cBhvr>
                                      <p:tavLst>
                                        <p:tav tm="0">
                                          <p:val>
                                            <p:strVal val="#ppt_y+0.1"/>
                                          </p:val>
                                        </p:tav>
                                        <p:tav tm="100000">
                                          <p:val>
                                            <p:strVal val="#ppt_y"/>
                                          </p:val>
                                        </p:tav>
                                      </p:tavLst>
                                    </p:anim>
                                    <p:animEffect transition="in" filter="fade">
                                      <p:cBhvr>
                                        <p:cTn id="160" dur="500"/>
                                        <p:tgtEl>
                                          <p:spTgt spid="41"/>
                                        </p:tgtEl>
                                      </p:cBhvr>
                                    </p:animEffect>
                                  </p:childTnLst>
                                </p:cTn>
                              </p:par>
                              <p:par>
                                <p:cTn id="166" presetID="2" presetClass="entr" presetSubtype="4" fill="hold" grpId="0" nodeType="withEffect">
                                  <p:stCondLst>
                                    <p:cond delay="90"/>
                                  </p:stCondLst>
                                  <p:childTnLst>
                                    <p:set>
                                      <p:cBhvr>
                                        <p:cTn id="162" dur="1" fill="hold">
                                          <p:stCondLst>
                                            <p:cond delay="0"/>
                                          </p:stCondLst>
                                        </p:cTn>
                                        <p:tgtEl>
                                          <p:spTgt spid="42"/>
                                        </p:tgtEl>
                                        <p:attrNameLst>
                                          <p:attrName>style.visibility</p:attrName>
                                        </p:attrNameLst>
                                      </p:cBhvr>
                                      <p:to>
                                        <p:strVal val="visible"/>
                                      </p:to>
                                    </p:set>
                                    <p:anim calcmode="lin" valueType="num">
                                      <p:cBhvr additive="base">
                                        <p:cTn id="163" dur="500" fill="hold"/>
                                        <p:tgtEl>
                                          <p:spTgt spid="42"/>
                                        </p:tgtEl>
                                        <p:attrNameLst>
                                          <p:attrName>ppt_x</p:attrName>
                                        </p:attrNameLst>
                                      </p:cBhvr>
                                      <p:tavLst>
                                        <p:tav tm="0">
                                          <p:val>
                                            <p:strVal val="#ppt_x"/>
                                          </p:val>
                                        </p:tav>
                                        <p:tav tm="100000">
                                          <p:val>
                                            <p:strVal val="#ppt_x"/>
                                          </p:val>
                                        </p:tav>
                                      </p:tavLst>
                                    </p:anim>
                                    <p:anim calcmode="lin" valueType="num">
                                      <p:cBhvr additive="base">
                                        <p:cTn id="164" dur="500" fill="hold"/>
                                        <p:tgtEl>
                                          <p:spTgt spid="42"/>
                                        </p:tgtEl>
                                        <p:attrNameLst>
                                          <p:attrName>ppt_y</p:attrName>
                                        </p:attrNameLst>
                                      </p:cBhvr>
                                      <p:tavLst>
                                        <p:tav tm="0">
                                          <p:val>
                                            <p:strVal val="#ppt_y+0.1"/>
                                          </p:val>
                                        </p:tav>
                                        <p:tav tm="100000">
                                          <p:val>
                                            <p:strVal val="#ppt_y"/>
                                          </p:val>
                                        </p:tav>
                                      </p:tavLst>
                                    </p:anim>
                                    <p:animEffect transition="in" filter="fade">
                                      <p:cBhvr>
                                        <p:cTn id="165" dur="500"/>
                                        <p:tgtEl>
                                          <p:spTgt spid="42"/>
                                        </p:tgtEl>
                                      </p:cBhvr>
                                    </p:animEffect>
                                  </p:childTnLst>
                                </p:cTn>
                              </p:par>
                              <p:par>
                                <p:cTn id="171" presetID="2" presetClass="entr" presetSubtype="4" fill="hold" grpId="0" nodeType="withEffect">
                                  <p:stCondLst>
                                    <p:cond delay="90"/>
                                  </p:stCondLst>
                                  <p:childTnLst>
                                    <p:set>
                                      <p:cBhvr>
                                        <p:cTn id="167" dur="1" fill="hold">
                                          <p:stCondLst>
                                            <p:cond delay="0"/>
                                          </p:stCondLst>
                                        </p:cTn>
                                        <p:tgtEl>
                                          <p:spTgt spid="43"/>
                                        </p:tgtEl>
                                        <p:attrNameLst>
                                          <p:attrName>style.visibility</p:attrName>
                                        </p:attrNameLst>
                                      </p:cBhvr>
                                      <p:to>
                                        <p:strVal val="visible"/>
                                      </p:to>
                                    </p:set>
                                    <p:anim calcmode="lin" valueType="num">
                                      <p:cBhvr additive="base">
                                        <p:cTn id="168" dur="500" fill="hold"/>
                                        <p:tgtEl>
                                          <p:spTgt spid="43"/>
                                        </p:tgtEl>
                                        <p:attrNameLst>
                                          <p:attrName>ppt_x</p:attrName>
                                        </p:attrNameLst>
                                      </p:cBhvr>
                                      <p:tavLst>
                                        <p:tav tm="0">
                                          <p:val>
                                            <p:strVal val="#ppt_x"/>
                                          </p:val>
                                        </p:tav>
                                        <p:tav tm="100000">
                                          <p:val>
                                            <p:strVal val="#ppt_x"/>
                                          </p:val>
                                        </p:tav>
                                      </p:tavLst>
                                    </p:anim>
                                    <p:anim calcmode="lin" valueType="num">
                                      <p:cBhvr additive="base">
                                        <p:cTn id="169" dur="500" fill="hold"/>
                                        <p:tgtEl>
                                          <p:spTgt spid="43"/>
                                        </p:tgtEl>
                                        <p:attrNameLst>
                                          <p:attrName>ppt_y</p:attrName>
                                        </p:attrNameLst>
                                      </p:cBhvr>
                                      <p:tavLst>
                                        <p:tav tm="0">
                                          <p:val>
                                            <p:strVal val="#ppt_y+0.1"/>
                                          </p:val>
                                        </p:tav>
                                        <p:tav tm="100000">
                                          <p:val>
                                            <p:strVal val="#ppt_y"/>
                                          </p:val>
                                        </p:tav>
                                      </p:tavLst>
                                    </p:anim>
                                    <p:animEffect transition="in" filter="fade">
                                      <p:cBhvr>
                                        <p:cTn id="170" dur="500"/>
                                        <p:tgtEl>
                                          <p:spTgt spid="43"/>
                                        </p:tgtEl>
                                      </p:cBhvr>
                                    </p:animEffect>
                                  </p:childTnLst>
                                </p:cTn>
                              </p:par>
                              <p:par>
                                <p:cTn id="176" presetID="2" presetClass="entr" presetSubtype="4" fill="hold" grpId="0" nodeType="withEffect">
                                  <p:stCondLst>
                                    <p:cond delay="90"/>
                                  </p:stCondLst>
                                  <p:childTnLst>
                                    <p:set>
                                      <p:cBhvr>
                                        <p:cTn id="172" dur="1" fill="hold">
                                          <p:stCondLst>
                                            <p:cond delay="0"/>
                                          </p:stCondLst>
                                        </p:cTn>
                                        <p:tgtEl>
                                          <p:spTgt spid="44"/>
                                        </p:tgtEl>
                                        <p:attrNameLst>
                                          <p:attrName>style.visibility</p:attrName>
                                        </p:attrNameLst>
                                      </p:cBhvr>
                                      <p:to>
                                        <p:strVal val="visible"/>
                                      </p:to>
                                    </p:set>
                                    <p:anim calcmode="lin" valueType="num">
                                      <p:cBhvr additive="base">
                                        <p:cTn id="173" dur="500" fill="hold"/>
                                        <p:tgtEl>
                                          <p:spTgt spid="44"/>
                                        </p:tgtEl>
                                        <p:attrNameLst>
                                          <p:attrName>ppt_x</p:attrName>
                                        </p:attrNameLst>
                                      </p:cBhvr>
                                      <p:tavLst>
                                        <p:tav tm="0">
                                          <p:val>
                                            <p:strVal val="#ppt_x"/>
                                          </p:val>
                                        </p:tav>
                                        <p:tav tm="100000">
                                          <p:val>
                                            <p:strVal val="#ppt_x"/>
                                          </p:val>
                                        </p:tav>
                                      </p:tavLst>
                                    </p:anim>
                                    <p:anim calcmode="lin" valueType="num">
                                      <p:cBhvr additive="base">
                                        <p:cTn id="174" dur="500" fill="hold"/>
                                        <p:tgtEl>
                                          <p:spTgt spid="44"/>
                                        </p:tgtEl>
                                        <p:attrNameLst>
                                          <p:attrName>ppt_y</p:attrName>
                                        </p:attrNameLst>
                                      </p:cBhvr>
                                      <p:tavLst>
                                        <p:tav tm="0">
                                          <p:val>
                                            <p:strVal val="#ppt_y+0.1"/>
                                          </p:val>
                                        </p:tav>
                                        <p:tav tm="100000">
                                          <p:val>
                                            <p:strVal val="#ppt_y"/>
                                          </p:val>
                                        </p:tav>
                                      </p:tavLst>
                                    </p:anim>
                                    <p:animEffect transition="in" filter="fade">
                                      <p:cBhvr>
                                        <p:cTn id="175" dur="500"/>
                                        <p:tgtEl>
                                          <p:spTgt spid="44"/>
                                        </p:tgtEl>
                                      </p:cBhvr>
                                    </p:animEffect>
                                  </p:childTnLst>
                                </p:cTn>
                              </p:par>
                              <p:par>
                                <p:cTn id="181" presetID="2" presetClass="entr" presetSubtype="4" fill="hold" grpId="0" nodeType="withEffect">
                                  <p:stCondLst>
                                    <p:cond delay="90"/>
                                  </p:stCondLst>
                                  <p:childTnLst>
                                    <p:set>
                                      <p:cBhvr>
                                        <p:cTn id="177" dur="1" fill="hold">
                                          <p:stCondLst>
                                            <p:cond delay="0"/>
                                          </p:stCondLst>
                                        </p:cTn>
                                        <p:tgtEl>
                                          <p:spTgt spid="45"/>
                                        </p:tgtEl>
                                        <p:attrNameLst>
                                          <p:attrName>style.visibility</p:attrName>
                                        </p:attrNameLst>
                                      </p:cBhvr>
                                      <p:to>
                                        <p:strVal val="visible"/>
                                      </p:to>
                                    </p:set>
                                    <p:anim calcmode="lin" valueType="num">
                                      <p:cBhvr additive="base">
                                        <p:cTn id="178" dur="500" fill="hold"/>
                                        <p:tgtEl>
                                          <p:spTgt spid="45"/>
                                        </p:tgtEl>
                                        <p:attrNameLst>
                                          <p:attrName>ppt_x</p:attrName>
                                        </p:attrNameLst>
                                      </p:cBhvr>
                                      <p:tavLst>
                                        <p:tav tm="0">
                                          <p:val>
                                            <p:strVal val="#ppt_x"/>
                                          </p:val>
                                        </p:tav>
                                        <p:tav tm="100000">
                                          <p:val>
                                            <p:strVal val="#ppt_x"/>
                                          </p:val>
                                        </p:tav>
                                      </p:tavLst>
                                    </p:anim>
                                    <p:anim calcmode="lin" valueType="num">
                                      <p:cBhvr additive="base">
                                        <p:cTn id="179" dur="500" fill="hold"/>
                                        <p:tgtEl>
                                          <p:spTgt spid="45"/>
                                        </p:tgtEl>
                                        <p:attrNameLst>
                                          <p:attrName>ppt_y</p:attrName>
                                        </p:attrNameLst>
                                      </p:cBhvr>
                                      <p:tavLst>
                                        <p:tav tm="0">
                                          <p:val>
                                            <p:strVal val="#ppt_y+0.1"/>
                                          </p:val>
                                        </p:tav>
                                        <p:tav tm="100000">
                                          <p:val>
                                            <p:strVal val="#ppt_y"/>
                                          </p:val>
                                        </p:tav>
                                      </p:tavLst>
                                    </p:anim>
                                    <p:animEffect transition="in" filter="fade">
                                      <p:cBhvr>
                                        <p:cTn id="180" dur="500"/>
                                        <p:tgtEl>
                                          <p:spTgt spid="45"/>
                                        </p:tgtEl>
                                      </p:cBhvr>
                                    </p:animEffect>
                                  </p:childTnLst>
                                </p:cTn>
                              </p:par>
                              <p:par>
                                <p:cTn id="186" presetID="2" presetClass="entr" presetSubtype="4" fill="hold" grpId="0" nodeType="withEffect">
                                  <p:stCondLst>
                                    <p:cond delay="90"/>
                                  </p:stCondLst>
                                  <p:childTnLst>
                                    <p:set>
                                      <p:cBhvr>
                                        <p:cTn id="182" dur="1" fill="hold">
                                          <p:stCondLst>
                                            <p:cond delay="0"/>
                                          </p:stCondLst>
                                        </p:cTn>
                                        <p:tgtEl>
                                          <p:spTgt spid="46"/>
                                        </p:tgtEl>
                                        <p:attrNameLst>
                                          <p:attrName>style.visibility</p:attrName>
                                        </p:attrNameLst>
                                      </p:cBhvr>
                                      <p:to>
                                        <p:strVal val="visible"/>
                                      </p:to>
                                    </p:set>
                                    <p:anim calcmode="lin" valueType="num">
                                      <p:cBhvr additive="base">
                                        <p:cTn id="183" dur="500" fill="hold"/>
                                        <p:tgtEl>
                                          <p:spTgt spid="46"/>
                                        </p:tgtEl>
                                        <p:attrNameLst>
                                          <p:attrName>ppt_x</p:attrName>
                                        </p:attrNameLst>
                                      </p:cBhvr>
                                      <p:tavLst>
                                        <p:tav tm="0">
                                          <p:val>
                                            <p:strVal val="#ppt_x"/>
                                          </p:val>
                                        </p:tav>
                                        <p:tav tm="100000">
                                          <p:val>
                                            <p:strVal val="#ppt_x"/>
                                          </p:val>
                                        </p:tav>
                                      </p:tavLst>
                                    </p:anim>
                                    <p:anim calcmode="lin" valueType="num">
                                      <p:cBhvr additive="base">
                                        <p:cTn id="184" dur="500" fill="hold"/>
                                        <p:tgtEl>
                                          <p:spTgt spid="46"/>
                                        </p:tgtEl>
                                        <p:attrNameLst>
                                          <p:attrName>ppt_y</p:attrName>
                                        </p:attrNameLst>
                                      </p:cBhvr>
                                      <p:tavLst>
                                        <p:tav tm="0">
                                          <p:val>
                                            <p:strVal val="#ppt_y+0.1"/>
                                          </p:val>
                                        </p:tav>
                                        <p:tav tm="100000">
                                          <p:val>
                                            <p:strVal val="#ppt_y"/>
                                          </p:val>
                                        </p:tav>
                                      </p:tavLst>
                                    </p:anim>
                                    <p:animEffect transition="in" filter="fade">
                                      <p:cBhvr>
                                        <p:cTn id="185" dur="500"/>
                                        <p:tgtEl>
                                          <p:spTgt spid="46"/>
                                        </p:tgtEl>
                                      </p:cBhvr>
                                    </p:animEffect>
                                  </p:childTnLst>
                                </p:cTn>
                              </p:par>
                              <p:par>
                                <p:cTn id="191" presetID="2" presetClass="entr" presetSubtype="4" fill="hold" grpId="0" nodeType="withEffect">
                                  <p:stCondLst>
                                    <p:cond delay="180"/>
                                  </p:stCondLst>
                                  <p:childTnLst>
                                    <p:set>
                                      <p:cBhvr>
                                        <p:cTn id="187" dur="1" fill="hold">
                                          <p:stCondLst>
                                            <p:cond delay="0"/>
                                          </p:stCondLst>
                                        </p:cTn>
                                        <p:tgtEl>
                                          <p:spTgt spid="47"/>
                                        </p:tgtEl>
                                        <p:attrNameLst>
                                          <p:attrName>style.visibility</p:attrName>
                                        </p:attrNameLst>
                                      </p:cBhvr>
                                      <p:to>
                                        <p:strVal val="visible"/>
                                      </p:to>
                                    </p:set>
                                    <p:anim calcmode="lin" valueType="num">
                                      <p:cBhvr additive="base">
                                        <p:cTn id="188" dur="500" fill="hold"/>
                                        <p:tgtEl>
                                          <p:spTgt spid="47"/>
                                        </p:tgtEl>
                                        <p:attrNameLst>
                                          <p:attrName>ppt_x</p:attrName>
                                        </p:attrNameLst>
                                      </p:cBhvr>
                                      <p:tavLst>
                                        <p:tav tm="0">
                                          <p:val>
                                            <p:strVal val="#ppt_x"/>
                                          </p:val>
                                        </p:tav>
                                        <p:tav tm="100000">
                                          <p:val>
                                            <p:strVal val="#ppt_x"/>
                                          </p:val>
                                        </p:tav>
                                      </p:tavLst>
                                    </p:anim>
                                    <p:anim calcmode="lin" valueType="num">
                                      <p:cBhvr additive="base">
                                        <p:cTn id="189" dur="500" fill="hold"/>
                                        <p:tgtEl>
                                          <p:spTgt spid="47"/>
                                        </p:tgtEl>
                                        <p:attrNameLst>
                                          <p:attrName>ppt_y</p:attrName>
                                        </p:attrNameLst>
                                      </p:cBhvr>
                                      <p:tavLst>
                                        <p:tav tm="0">
                                          <p:val>
                                            <p:strVal val="#ppt_y+0.1"/>
                                          </p:val>
                                        </p:tav>
                                        <p:tav tm="100000">
                                          <p:val>
                                            <p:strVal val="#ppt_y"/>
                                          </p:val>
                                        </p:tav>
                                      </p:tavLst>
                                    </p:anim>
                                    <p:animEffect transition="in" filter="fade">
                                      <p:cBhvr>
                                        <p:cTn id="190" dur="500"/>
                                        <p:tgtEl>
                                          <p:spTgt spid="47"/>
                                        </p:tgtEl>
                                      </p:cBhvr>
                                    </p:animEffect>
                                  </p:childTnLst>
                                </p:cTn>
                              </p:par>
                              <p:par>
                                <p:cTn id="196" presetID="2" presetClass="entr" presetSubtype="4" fill="hold" grpId="0" nodeType="withEffect">
                                  <p:stCondLst>
                                    <p:cond delay="180"/>
                                  </p:stCondLst>
                                  <p:childTnLst>
                                    <p:set>
                                      <p:cBhvr>
                                        <p:cTn id="192" dur="1" fill="hold">
                                          <p:stCondLst>
                                            <p:cond delay="0"/>
                                          </p:stCondLst>
                                        </p:cTn>
                                        <p:tgtEl>
                                          <p:spTgt spid="48"/>
                                        </p:tgtEl>
                                        <p:attrNameLst>
                                          <p:attrName>style.visibility</p:attrName>
                                        </p:attrNameLst>
                                      </p:cBhvr>
                                      <p:to>
                                        <p:strVal val="visible"/>
                                      </p:to>
                                    </p:set>
                                    <p:anim calcmode="lin" valueType="num">
                                      <p:cBhvr additive="base">
                                        <p:cTn id="193" dur="500" fill="hold"/>
                                        <p:tgtEl>
                                          <p:spTgt spid="48"/>
                                        </p:tgtEl>
                                        <p:attrNameLst>
                                          <p:attrName>ppt_x</p:attrName>
                                        </p:attrNameLst>
                                      </p:cBhvr>
                                      <p:tavLst>
                                        <p:tav tm="0">
                                          <p:val>
                                            <p:strVal val="#ppt_x"/>
                                          </p:val>
                                        </p:tav>
                                        <p:tav tm="100000">
                                          <p:val>
                                            <p:strVal val="#ppt_x"/>
                                          </p:val>
                                        </p:tav>
                                      </p:tavLst>
                                    </p:anim>
                                    <p:anim calcmode="lin" valueType="num">
                                      <p:cBhvr additive="base">
                                        <p:cTn id="194" dur="500" fill="hold"/>
                                        <p:tgtEl>
                                          <p:spTgt spid="48"/>
                                        </p:tgtEl>
                                        <p:attrNameLst>
                                          <p:attrName>ppt_y</p:attrName>
                                        </p:attrNameLst>
                                      </p:cBhvr>
                                      <p:tavLst>
                                        <p:tav tm="0">
                                          <p:val>
                                            <p:strVal val="#ppt_y+0.1"/>
                                          </p:val>
                                        </p:tav>
                                        <p:tav tm="100000">
                                          <p:val>
                                            <p:strVal val="#ppt_y"/>
                                          </p:val>
                                        </p:tav>
                                      </p:tavLst>
                                    </p:anim>
                                    <p:animEffect transition="in" filter="fade">
                                      <p:cBhvr>
                                        <p:cTn id="195" dur="500"/>
                                        <p:tgtEl>
                                          <p:spTgt spid="48"/>
                                        </p:tgtEl>
                                      </p:cBhvr>
                                    </p:animEffect>
                                  </p:childTnLst>
                                </p:cTn>
                              </p:par>
                              <p:par>
                                <p:cTn id="201" presetID="2" presetClass="entr" presetSubtype="4" fill="hold" grpId="0" nodeType="withEffect">
                                  <p:stCondLst>
                                    <p:cond delay="180"/>
                                  </p:stCondLst>
                                  <p:childTnLst>
                                    <p:set>
                                      <p:cBhvr>
                                        <p:cTn id="197" dur="1" fill="hold">
                                          <p:stCondLst>
                                            <p:cond delay="0"/>
                                          </p:stCondLst>
                                        </p:cTn>
                                        <p:tgtEl>
                                          <p:spTgt spid="49"/>
                                        </p:tgtEl>
                                        <p:attrNameLst>
                                          <p:attrName>style.visibility</p:attrName>
                                        </p:attrNameLst>
                                      </p:cBhvr>
                                      <p:to>
                                        <p:strVal val="visible"/>
                                      </p:to>
                                    </p:set>
                                    <p:anim calcmode="lin" valueType="num">
                                      <p:cBhvr additive="base">
                                        <p:cTn id="198" dur="500" fill="hold"/>
                                        <p:tgtEl>
                                          <p:spTgt spid="49"/>
                                        </p:tgtEl>
                                        <p:attrNameLst>
                                          <p:attrName>ppt_x</p:attrName>
                                        </p:attrNameLst>
                                      </p:cBhvr>
                                      <p:tavLst>
                                        <p:tav tm="0">
                                          <p:val>
                                            <p:strVal val="#ppt_x"/>
                                          </p:val>
                                        </p:tav>
                                        <p:tav tm="100000">
                                          <p:val>
                                            <p:strVal val="#ppt_x"/>
                                          </p:val>
                                        </p:tav>
                                      </p:tavLst>
                                    </p:anim>
                                    <p:anim calcmode="lin" valueType="num">
                                      <p:cBhvr additive="base">
                                        <p:cTn id="199" dur="500" fill="hold"/>
                                        <p:tgtEl>
                                          <p:spTgt spid="49"/>
                                        </p:tgtEl>
                                        <p:attrNameLst>
                                          <p:attrName>ppt_y</p:attrName>
                                        </p:attrNameLst>
                                      </p:cBhvr>
                                      <p:tavLst>
                                        <p:tav tm="0">
                                          <p:val>
                                            <p:strVal val="#ppt_y+0.1"/>
                                          </p:val>
                                        </p:tav>
                                        <p:tav tm="100000">
                                          <p:val>
                                            <p:strVal val="#ppt_y"/>
                                          </p:val>
                                        </p:tav>
                                      </p:tavLst>
                                    </p:anim>
                                    <p:animEffect transition="in" filter="fade">
                                      <p:cBhvr>
                                        <p:cTn id="200" dur="500"/>
                                        <p:tgtEl>
                                          <p:spTgt spid="49"/>
                                        </p:tgtEl>
                                      </p:cBhvr>
                                    </p:animEffect>
                                  </p:childTnLst>
                                </p:cTn>
                              </p:par>
                              <p:par>
                                <p:cTn id="206" presetID="2" presetClass="entr" presetSubtype="4" fill="hold" grpId="0" nodeType="withEffect">
                                  <p:stCondLst>
                                    <p:cond delay="180"/>
                                  </p:stCondLst>
                                  <p:childTnLst>
                                    <p:set>
                                      <p:cBhvr>
                                        <p:cTn id="202" dur="1" fill="hold">
                                          <p:stCondLst>
                                            <p:cond delay="0"/>
                                          </p:stCondLst>
                                        </p:cTn>
                                        <p:tgtEl>
                                          <p:spTgt spid="50"/>
                                        </p:tgtEl>
                                        <p:attrNameLst>
                                          <p:attrName>style.visibility</p:attrName>
                                        </p:attrNameLst>
                                      </p:cBhvr>
                                      <p:to>
                                        <p:strVal val="visible"/>
                                      </p:to>
                                    </p:set>
                                    <p:anim calcmode="lin" valueType="num">
                                      <p:cBhvr additive="base">
                                        <p:cTn id="203" dur="500" fill="hold"/>
                                        <p:tgtEl>
                                          <p:spTgt spid="50"/>
                                        </p:tgtEl>
                                        <p:attrNameLst>
                                          <p:attrName>ppt_x</p:attrName>
                                        </p:attrNameLst>
                                      </p:cBhvr>
                                      <p:tavLst>
                                        <p:tav tm="0">
                                          <p:val>
                                            <p:strVal val="#ppt_x"/>
                                          </p:val>
                                        </p:tav>
                                        <p:tav tm="100000">
                                          <p:val>
                                            <p:strVal val="#ppt_x"/>
                                          </p:val>
                                        </p:tav>
                                      </p:tavLst>
                                    </p:anim>
                                    <p:anim calcmode="lin" valueType="num">
                                      <p:cBhvr additive="base">
                                        <p:cTn id="204" dur="500" fill="hold"/>
                                        <p:tgtEl>
                                          <p:spTgt spid="50"/>
                                        </p:tgtEl>
                                        <p:attrNameLst>
                                          <p:attrName>ppt_y</p:attrName>
                                        </p:attrNameLst>
                                      </p:cBhvr>
                                      <p:tavLst>
                                        <p:tav tm="0">
                                          <p:val>
                                            <p:strVal val="#ppt_y+0.1"/>
                                          </p:val>
                                        </p:tav>
                                        <p:tav tm="100000">
                                          <p:val>
                                            <p:strVal val="#ppt_y"/>
                                          </p:val>
                                        </p:tav>
                                      </p:tavLst>
                                    </p:anim>
                                    <p:animEffect transition="in" filter="fade">
                                      <p:cBhvr>
                                        <p:cTn id="205" dur="500"/>
                                        <p:tgtEl>
                                          <p:spTgt spid="50"/>
                                        </p:tgtEl>
                                      </p:cBhvr>
                                    </p:animEffect>
                                  </p:childTnLst>
                                </p:cTn>
                              </p:par>
                              <p:par>
                                <p:cTn id="211" presetID="2" presetClass="entr" presetSubtype="4" fill="hold" grpId="0" nodeType="withEffect">
                                  <p:stCondLst>
                                    <p:cond delay="180"/>
                                  </p:stCondLst>
                                  <p:childTnLst>
                                    <p:set>
                                      <p:cBhvr>
                                        <p:cTn id="207" dur="1" fill="hold">
                                          <p:stCondLst>
                                            <p:cond delay="0"/>
                                          </p:stCondLst>
                                        </p:cTn>
                                        <p:tgtEl>
                                          <p:spTgt spid="51"/>
                                        </p:tgtEl>
                                        <p:attrNameLst>
                                          <p:attrName>style.visibility</p:attrName>
                                        </p:attrNameLst>
                                      </p:cBhvr>
                                      <p:to>
                                        <p:strVal val="visible"/>
                                      </p:to>
                                    </p:set>
                                    <p:anim calcmode="lin" valueType="num">
                                      <p:cBhvr additive="base">
                                        <p:cTn id="208" dur="500" fill="hold"/>
                                        <p:tgtEl>
                                          <p:spTgt spid="51"/>
                                        </p:tgtEl>
                                        <p:attrNameLst>
                                          <p:attrName>ppt_x</p:attrName>
                                        </p:attrNameLst>
                                      </p:cBhvr>
                                      <p:tavLst>
                                        <p:tav tm="0">
                                          <p:val>
                                            <p:strVal val="#ppt_x"/>
                                          </p:val>
                                        </p:tav>
                                        <p:tav tm="100000">
                                          <p:val>
                                            <p:strVal val="#ppt_x"/>
                                          </p:val>
                                        </p:tav>
                                      </p:tavLst>
                                    </p:anim>
                                    <p:anim calcmode="lin" valueType="num">
                                      <p:cBhvr additive="base">
                                        <p:cTn id="209" dur="500" fill="hold"/>
                                        <p:tgtEl>
                                          <p:spTgt spid="51"/>
                                        </p:tgtEl>
                                        <p:attrNameLst>
                                          <p:attrName>ppt_y</p:attrName>
                                        </p:attrNameLst>
                                      </p:cBhvr>
                                      <p:tavLst>
                                        <p:tav tm="0">
                                          <p:val>
                                            <p:strVal val="#ppt_y+0.1"/>
                                          </p:val>
                                        </p:tav>
                                        <p:tav tm="100000">
                                          <p:val>
                                            <p:strVal val="#ppt_y"/>
                                          </p:val>
                                        </p:tav>
                                      </p:tavLst>
                                    </p:anim>
                                    <p:animEffect transition="in" filter="fade">
                                      <p:cBhvr>
                                        <p:cTn id="210" dur="500"/>
                                        <p:tgtEl>
                                          <p:spTgt spid="51"/>
                                        </p:tgtEl>
                                      </p:cBhvr>
                                    </p:animEffect>
                                  </p:childTnLst>
                                </p:cTn>
                              </p:par>
                              <p:par>
                                <p:cTn id="216" presetID="2" presetClass="entr" presetSubtype="4" fill="hold" grpId="0" nodeType="withEffect">
                                  <p:stCondLst>
                                    <p:cond delay="270"/>
                                  </p:stCondLst>
                                  <p:childTnLst>
                                    <p:set>
                                      <p:cBhvr>
                                        <p:cTn id="212" dur="1" fill="hold">
                                          <p:stCondLst>
                                            <p:cond delay="0"/>
                                          </p:stCondLst>
                                        </p:cTn>
                                        <p:tgtEl>
                                          <p:spTgt spid="52"/>
                                        </p:tgtEl>
                                        <p:attrNameLst>
                                          <p:attrName>style.visibility</p:attrName>
                                        </p:attrNameLst>
                                      </p:cBhvr>
                                      <p:to>
                                        <p:strVal val="visible"/>
                                      </p:to>
                                    </p:set>
                                    <p:anim calcmode="lin" valueType="num">
                                      <p:cBhvr additive="base">
                                        <p:cTn id="213" dur="500" fill="hold"/>
                                        <p:tgtEl>
                                          <p:spTgt spid="52"/>
                                        </p:tgtEl>
                                        <p:attrNameLst>
                                          <p:attrName>ppt_x</p:attrName>
                                        </p:attrNameLst>
                                      </p:cBhvr>
                                      <p:tavLst>
                                        <p:tav tm="0">
                                          <p:val>
                                            <p:strVal val="#ppt_x"/>
                                          </p:val>
                                        </p:tav>
                                        <p:tav tm="100000">
                                          <p:val>
                                            <p:strVal val="#ppt_x"/>
                                          </p:val>
                                        </p:tav>
                                      </p:tavLst>
                                    </p:anim>
                                    <p:anim calcmode="lin" valueType="num">
                                      <p:cBhvr additive="base">
                                        <p:cTn id="214" dur="500" fill="hold"/>
                                        <p:tgtEl>
                                          <p:spTgt spid="52"/>
                                        </p:tgtEl>
                                        <p:attrNameLst>
                                          <p:attrName>ppt_y</p:attrName>
                                        </p:attrNameLst>
                                      </p:cBhvr>
                                      <p:tavLst>
                                        <p:tav tm="0">
                                          <p:val>
                                            <p:strVal val="#ppt_y+0.1"/>
                                          </p:val>
                                        </p:tav>
                                        <p:tav tm="100000">
                                          <p:val>
                                            <p:strVal val="#ppt_y"/>
                                          </p:val>
                                        </p:tav>
                                      </p:tavLst>
                                    </p:anim>
                                    <p:animEffect transition="in" filter="fade">
                                      <p:cBhvr>
                                        <p:cTn id="215" dur="500"/>
                                        <p:tgtEl>
                                          <p:spTgt spid="52"/>
                                        </p:tgtEl>
                                      </p:cBhvr>
                                    </p:animEffect>
                                  </p:childTnLst>
                                </p:cTn>
                              </p:par>
                              <p:par>
                                <p:cTn id="221" presetID="2" presetClass="entr" presetSubtype="4" fill="hold" grpId="0" nodeType="withEffect">
                                  <p:stCondLst>
                                    <p:cond delay="270"/>
                                  </p:stCondLst>
                                  <p:childTnLst>
                                    <p:set>
                                      <p:cBhvr>
                                        <p:cTn id="217" dur="1" fill="hold">
                                          <p:stCondLst>
                                            <p:cond delay="0"/>
                                          </p:stCondLst>
                                        </p:cTn>
                                        <p:tgtEl>
                                          <p:spTgt spid="53"/>
                                        </p:tgtEl>
                                        <p:attrNameLst>
                                          <p:attrName>style.visibility</p:attrName>
                                        </p:attrNameLst>
                                      </p:cBhvr>
                                      <p:to>
                                        <p:strVal val="visible"/>
                                      </p:to>
                                    </p:set>
                                    <p:anim calcmode="lin" valueType="num">
                                      <p:cBhvr additive="base">
                                        <p:cTn id="218" dur="500" fill="hold"/>
                                        <p:tgtEl>
                                          <p:spTgt spid="53"/>
                                        </p:tgtEl>
                                        <p:attrNameLst>
                                          <p:attrName>ppt_x</p:attrName>
                                        </p:attrNameLst>
                                      </p:cBhvr>
                                      <p:tavLst>
                                        <p:tav tm="0">
                                          <p:val>
                                            <p:strVal val="#ppt_x"/>
                                          </p:val>
                                        </p:tav>
                                        <p:tav tm="100000">
                                          <p:val>
                                            <p:strVal val="#ppt_x"/>
                                          </p:val>
                                        </p:tav>
                                      </p:tavLst>
                                    </p:anim>
                                    <p:anim calcmode="lin" valueType="num">
                                      <p:cBhvr additive="base">
                                        <p:cTn id="219" dur="500" fill="hold"/>
                                        <p:tgtEl>
                                          <p:spTgt spid="53"/>
                                        </p:tgtEl>
                                        <p:attrNameLst>
                                          <p:attrName>ppt_y</p:attrName>
                                        </p:attrNameLst>
                                      </p:cBhvr>
                                      <p:tavLst>
                                        <p:tav tm="0">
                                          <p:val>
                                            <p:strVal val="#ppt_y+0.1"/>
                                          </p:val>
                                        </p:tav>
                                        <p:tav tm="100000">
                                          <p:val>
                                            <p:strVal val="#ppt_y"/>
                                          </p:val>
                                        </p:tav>
                                      </p:tavLst>
                                    </p:anim>
                                    <p:animEffect transition="in" filter="fade">
                                      <p:cBhvr>
                                        <p:cTn id="220" dur="500"/>
                                        <p:tgtEl>
                                          <p:spTgt spid="53"/>
                                        </p:tgtEl>
                                      </p:cBhvr>
                                    </p:animEffect>
                                  </p:childTnLst>
                                </p:cTn>
                              </p:par>
                              <p:par>
                                <p:cTn id="226" presetID="2" presetClass="entr" presetSubtype="4" fill="hold" grpId="0" nodeType="withEffect">
                                  <p:stCondLst>
                                    <p:cond delay="270"/>
                                  </p:stCondLst>
                                  <p:childTnLst>
                                    <p:set>
                                      <p:cBhvr>
                                        <p:cTn id="222" dur="1" fill="hold">
                                          <p:stCondLst>
                                            <p:cond delay="0"/>
                                          </p:stCondLst>
                                        </p:cTn>
                                        <p:tgtEl>
                                          <p:spTgt spid="54"/>
                                        </p:tgtEl>
                                        <p:attrNameLst>
                                          <p:attrName>style.visibility</p:attrName>
                                        </p:attrNameLst>
                                      </p:cBhvr>
                                      <p:to>
                                        <p:strVal val="visible"/>
                                      </p:to>
                                    </p:set>
                                    <p:anim calcmode="lin" valueType="num">
                                      <p:cBhvr additive="base">
                                        <p:cTn id="223" dur="500" fill="hold"/>
                                        <p:tgtEl>
                                          <p:spTgt spid="54"/>
                                        </p:tgtEl>
                                        <p:attrNameLst>
                                          <p:attrName>ppt_x</p:attrName>
                                        </p:attrNameLst>
                                      </p:cBhvr>
                                      <p:tavLst>
                                        <p:tav tm="0">
                                          <p:val>
                                            <p:strVal val="#ppt_x"/>
                                          </p:val>
                                        </p:tav>
                                        <p:tav tm="100000">
                                          <p:val>
                                            <p:strVal val="#ppt_x"/>
                                          </p:val>
                                        </p:tav>
                                      </p:tavLst>
                                    </p:anim>
                                    <p:anim calcmode="lin" valueType="num">
                                      <p:cBhvr additive="base">
                                        <p:cTn id="224" dur="500" fill="hold"/>
                                        <p:tgtEl>
                                          <p:spTgt spid="54"/>
                                        </p:tgtEl>
                                        <p:attrNameLst>
                                          <p:attrName>ppt_y</p:attrName>
                                        </p:attrNameLst>
                                      </p:cBhvr>
                                      <p:tavLst>
                                        <p:tav tm="0">
                                          <p:val>
                                            <p:strVal val="#ppt_y+0.1"/>
                                          </p:val>
                                        </p:tav>
                                        <p:tav tm="100000">
                                          <p:val>
                                            <p:strVal val="#ppt_y"/>
                                          </p:val>
                                        </p:tav>
                                      </p:tavLst>
                                    </p:anim>
                                    <p:animEffect transition="in" filter="fade">
                                      <p:cBhvr>
                                        <p:cTn id="225" dur="500"/>
                                        <p:tgtEl>
                                          <p:spTgt spid="54"/>
                                        </p:tgtEl>
                                      </p:cBhvr>
                                    </p:animEffect>
                                  </p:childTnLst>
                                </p:cTn>
                              </p:par>
                              <p:par>
                                <p:cTn id="231" presetID="2" presetClass="entr" presetSubtype="4" fill="hold" grpId="0" nodeType="withEffect">
                                  <p:stCondLst>
                                    <p:cond delay="270"/>
                                  </p:stCondLst>
                                  <p:childTnLst>
                                    <p:set>
                                      <p:cBhvr>
                                        <p:cTn id="227" dur="1" fill="hold">
                                          <p:stCondLst>
                                            <p:cond delay="0"/>
                                          </p:stCondLst>
                                        </p:cTn>
                                        <p:tgtEl>
                                          <p:spTgt spid="55"/>
                                        </p:tgtEl>
                                        <p:attrNameLst>
                                          <p:attrName>style.visibility</p:attrName>
                                        </p:attrNameLst>
                                      </p:cBhvr>
                                      <p:to>
                                        <p:strVal val="visible"/>
                                      </p:to>
                                    </p:set>
                                    <p:anim calcmode="lin" valueType="num">
                                      <p:cBhvr additive="base">
                                        <p:cTn id="228" dur="500" fill="hold"/>
                                        <p:tgtEl>
                                          <p:spTgt spid="55"/>
                                        </p:tgtEl>
                                        <p:attrNameLst>
                                          <p:attrName>ppt_x</p:attrName>
                                        </p:attrNameLst>
                                      </p:cBhvr>
                                      <p:tavLst>
                                        <p:tav tm="0">
                                          <p:val>
                                            <p:strVal val="#ppt_x"/>
                                          </p:val>
                                        </p:tav>
                                        <p:tav tm="100000">
                                          <p:val>
                                            <p:strVal val="#ppt_x"/>
                                          </p:val>
                                        </p:tav>
                                      </p:tavLst>
                                    </p:anim>
                                    <p:anim calcmode="lin" valueType="num">
                                      <p:cBhvr additive="base">
                                        <p:cTn id="229" dur="500" fill="hold"/>
                                        <p:tgtEl>
                                          <p:spTgt spid="55"/>
                                        </p:tgtEl>
                                        <p:attrNameLst>
                                          <p:attrName>ppt_y</p:attrName>
                                        </p:attrNameLst>
                                      </p:cBhvr>
                                      <p:tavLst>
                                        <p:tav tm="0">
                                          <p:val>
                                            <p:strVal val="#ppt_y+0.1"/>
                                          </p:val>
                                        </p:tav>
                                        <p:tav tm="100000">
                                          <p:val>
                                            <p:strVal val="#ppt_y"/>
                                          </p:val>
                                        </p:tav>
                                      </p:tavLst>
                                    </p:anim>
                                    <p:animEffect transition="in" filter="fade">
                                      <p:cBhvr>
                                        <p:cTn id="230" dur="500"/>
                                        <p:tgtEl>
                                          <p:spTgt spid="55"/>
                                        </p:tgtEl>
                                      </p:cBhvr>
                                    </p:animEffect>
                                  </p:childTnLst>
                                </p:cTn>
                              </p:par>
                              <p:par>
                                <p:cTn id="236" presetID="2" presetClass="entr" presetSubtype="4" fill="hold" grpId="0" nodeType="withEffect">
                                  <p:stCondLst>
                                    <p:cond delay="270"/>
                                  </p:stCondLst>
                                  <p:childTnLst>
                                    <p:set>
                                      <p:cBhvr>
                                        <p:cTn id="232" dur="1" fill="hold">
                                          <p:stCondLst>
                                            <p:cond delay="0"/>
                                          </p:stCondLst>
                                        </p:cTn>
                                        <p:tgtEl>
                                          <p:spTgt spid="56"/>
                                        </p:tgtEl>
                                        <p:attrNameLst>
                                          <p:attrName>style.visibility</p:attrName>
                                        </p:attrNameLst>
                                      </p:cBhvr>
                                      <p:to>
                                        <p:strVal val="visible"/>
                                      </p:to>
                                    </p:set>
                                    <p:anim calcmode="lin" valueType="num">
                                      <p:cBhvr additive="base">
                                        <p:cTn id="233" dur="500" fill="hold"/>
                                        <p:tgtEl>
                                          <p:spTgt spid="56"/>
                                        </p:tgtEl>
                                        <p:attrNameLst>
                                          <p:attrName>ppt_x</p:attrName>
                                        </p:attrNameLst>
                                      </p:cBhvr>
                                      <p:tavLst>
                                        <p:tav tm="0">
                                          <p:val>
                                            <p:strVal val="#ppt_x"/>
                                          </p:val>
                                        </p:tav>
                                        <p:tav tm="100000">
                                          <p:val>
                                            <p:strVal val="#ppt_x"/>
                                          </p:val>
                                        </p:tav>
                                      </p:tavLst>
                                    </p:anim>
                                    <p:anim calcmode="lin" valueType="num">
                                      <p:cBhvr additive="base">
                                        <p:cTn id="234" dur="500" fill="hold"/>
                                        <p:tgtEl>
                                          <p:spTgt spid="56"/>
                                        </p:tgtEl>
                                        <p:attrNameLst>
                                          <p:attrName>ppt_y</p:attrName>
                                        </p:attrNameLst>
                                      </p:cBhvr>
                                      <p:tavLst>
                                        <p:tav tm="0">
                                          <p:val>
                                            <p:strVal val="#ppt_y+0.1"/>
                                          </p:val>
                                        </p:tav>
                                        <p:tav tm="100000">
                                          <p:val>
                                            <p:strVal val="#ppt_y"/>
                                          </p:val>
                                        </p:tav>
                                      </p:tavLst>
                                    </p:anim>
                                    <p:animEffect transition="in" filter="fade">
                                      <p:cBhvr>
                                        <p:cTn id="235" dur="500"/>
                                        <p:tgtEl>
                                          <p:spTgt spid="56"/>
                                        </p:tgtEl>
                                      </p:cBhvr>
                                    </p:animEffect>
                                  </p:childTnLst>
                                </p:cTn>
                              </p:par>
                              <p:par>
                                <p:cTn id="241" presetID="2" presetClass="entr" presetSubtype="4" fill="hold" grpId="0" nodeType="withEffect">
                                  <p:stCondLst>
                                    <p:cond delay="360"/>
                                  </p:stCondLst>
                                  <p:childTnLst>
                                    <p:set>
                                      <p:cBhvr>
                                        <p:cTn id="237" dur="1" fill="hold">
                                          <p:stCondLst>
                                            <p:cond delay="0"/>
                                          </p:stCondLst>
                                        </p:cTn>
                                        <p:tgtEl>
                                          <p:spTgt spid="57"/>
                                        </p:tgtEl>
                                        <p:attrNameLst>
                                          <p:attrName>style.visibility</p:attrName>
                                        </p:attrNameLst>
                                      </p:cBhvr>
                                      <p:to>
                                        <p:strVal val="visible"/>
                                      </p:to>
                                    </p:set>
                                    <p:anim calcmode="lin" valueType="num">
                                      <p:cBhvr additive="base">
                                        <p:cTn id="238" dur="500" fill="hold"/>
                                        <p:tgtEl>
                                          <p:spTgt spid="57"/>
                                        </p:tgtEl>
                                        <p:attrNameLst>
                                          <p:attrName>ppt_x</p:attrName>
                                        </p:attrNameLst>
                                      </p:cBhvr>
                                      <p:tavLst>
                                        <p:tav tm="0">
                                          <p:val>
                                            <p:strVal val="#ppt_x"/>
                                          </p:val>
                                        </p:tav>
                                        <p:tav tm="100000">
                                          <p:val>
                                            <p:strVal val="#ppt_x"/>
                                          </p:val>
                                        </p:tav>
                                      </p:tavLst>
                                    </p:anim>
                                    <p:anim calcmode="lin" valueType="num">
                                      <p:cBhvr additive="base">
                                        <p:cTn id="239" dur="500" fill="hold"/>
                                        <p:tgtEl>
                                          <p:spTgt spid="57"/>
                                        </p:tgtEl>
                                        <p:attrNameLst>
                                          <p:attrName>ppt_y</p:attrName>
                                        </p:attrNameLst>
                                      </p:cBhvr>
                                      <p:tavLst>
                                        <p:tav tm="0">
                                          <p:val>
                                            <p:strVal val="#ppt_y+0.1"/>
                                          </p:val>
                                        </p:tav>
                                        <p:tav tm="100000">
                                          <p:val>
                                            <p:strVal val="#ppt_y"/>
                                          </p:val>
                                        </p:tav>
                                      </p:tavLst>
                                    </p:anim>
                                    <p:animEffect transition="in" filter="fade">
                                      <p:cBhvr>
                                        <p:cTn id="240" dur="500"/>
                                        <p:tgtEl>
                                          <p:spTgt spid="57"/>
                                        </p:tgtEl>
                                      </p:cBhvr>
                                    </p:animEffect>
                                  </p:childTnLst>
                                </p:cTn>
                              </p:par>
                              <p:par>
                                <p:cTn id="246" presetID="2" presetClass="entr" presetSubtype="4" fill="hold" grpId="0" nodeType="withEffect">
                                  <p:stCondLst>
                                    <p:cond delay="360"/>
                                  </p:stCondLst>
                                  <p:childTnLst>
                                    <p:set>
                                      <p:cBhvr>
                                        <p:cTn id="242" dur="1" fill="hold">
                                          <p:stCondLst>
                                            <p:cond delay="0"/>
                                          </p:stCondLst>
                                        </p:cTn>
                                        <p:tgtEl>
                                          <p:spTgt spid="58"/>
                                        </p:tgtEl>
                                        <p:attrNameLst>
                                          <p:attrName>style.visibility</p:attrName>
                                        </p:attrNameLst>
                                      </p:cBhvr>
                                      <p:to>
                                        <p:strVal val="visible"/>
                                      </p:to>
                                    </p:set>
                                    <p:anim calcmode="lin" valueType="num">
                                      <p:cBhvr additive="base">
                                        <p:cTn id="243" dur="500" fill="hold"/>
                                        <p:tgtEl>
                                          <p:spTgt spid="58"/>
                                        </p:tgtEl>
                                        <p:attrNameLst>
                                          <p:attrName>ppt_x</p:attrName>
                                        </p:attrNameLst>
                                      </p:cBhvr>
                                      <p:tavLst>
                                        <p:tav tm="0">
                                          <p:val>
                                            <p:strVal val="#ppt_x"/>
                                          </p:val>
                                        </p:tav>
                                        <p:tav tm="100000">
                                          <p:val>
                                            <p:strVal val="#ppt_x"/>
                                          </p:val>
                                        </p:tav>
                                      </p:tavLst>
                                    </p:anim>
                                    <p:anim calcmode="lin" valueType="num">
                                      <p:cBhvr additive="base">
                                        <p:cTn id="244" dur="500" fill="hold"/>
                                        <p:tgtEl>
                                          <p:spTgt spid="58"/>
                                        </p:tgtEl>
                                        <p:attrNameLst>
                                          <p:attrName>ppt_y</p:attrName>
                                        </p:attrNameLst>
                                      </p:cBhvr>
                                      <p:tavLst>
                                        <p:tav tm="0">
                                          <p:val>
                                            <p:strVal val="#ppt_y+0.1"/>
                                          </p:val>
                                        </p:tav>
                                        <p:tav tm="100000">
                                          <p:val>
                                            <p:strVal val="#ppt_y"/>
                                          </p:val>
                                        </p:tav>
                                      </p:tavLst>
                                    </p:anim>
                                    <p:animEffect transition="in" filter="fade">
                                      <p:cBhvr>
                                        <p:cTn id="245" dur="500"/>
                                        <p:tgtEl>
                                          <p:spTgt spid="58"/>
                                        </p:tgtEl>
                                      </p:cBhvr>
                                    </p:animEffect>
                                  </p:childTnLst>
                                </p:cTn>
                              </p:par>
                              <p:par>
                                <p:cTn id="251" presetID="2" presetClass="entr" presetSubtype="4" fill="hold" grpId="0" nodeType="withEffect">
                                  <p:stCondLst>
                                    <p:cond delay="360"/>
                                  </p:stCondLst>
                                  <p:childTnLst>
                                    <p:set>
                                      <p:cBhvr>
                                        <p:cTn id="247" dur="1" fill="hold">
                                          <p:stCondLst>
                                            <p:cond delay="0"/>
                                          </p:stCondLst>
                                        </p:cTn>
                                        <p:tgtEl>
                                          <p:spTgt spid="59"/>
                                        </p:tgtEl>
                                        <p:attrNameLst>
                                          <p:attrName>style.visibility</p:attrName>
                                        </p:attrNameLst>
                                      </p:cBhvr>
                                      <p:to>
                                        <p:strVal val="visible"/>
                                      </p:to>
                                    </p:set>
                                    <p:anim calcmode="lin" valueType="num">
                                      <p:cBhvr additive="base">
                                        <p:cTn id="248" dur="500" fill="hold"/>
                                        <p:tgtEl>
                                          <p:spTgt spid="59"/>
                                        </p:tgtEl>
                                        <p:attrNameLst>
                                          <p:attrName>ppt_x</p:attrName>
                                        </p:attrNameLst>
                                      </p:cBhvr>
                                      <p:tavLst>
                                        <p:tav tm="0">
                                          <p:val>
                                            <p:strVal val="#ppt_x"/>
                                          </p:val>
                                        </p:tav>
                                        <p:tav tm="100000">
                                          <p:val>
                                            <p:strVal val="#ppt_x"/>
                                          </p:val>
                                        </p:tav>
                                      </p:tavLst>
                                    </p:anim>
                                    <p:anim calcmode="lin" valueType="num">
                                      <p:cBhvr additive="base">
                                        <p:cTn id="249" dur="500" fill="hold"/>
                                        <p:tgtEl>
                                          <p:spTgt spid="59"/>
                                        </p:tgtEl>
                                        <p:attrNameLst>
                                          <p:attrName>ppt_y</p:attrName>
                                        </p:attrNameLst>
                                      </p:cBhvr>
                                      <p:tavLst>
                                        <p:tav tm="0">
                                          <p:val>
                                            <p:strVal val="#ppt_y+0.1"/>
                                          </p:val>
                                        </p:tav>
                                        <p:tav tm="100000">
                                          <p:val>
                                            <p:strVal val="#ppt_y"/>
                                          </p:val>
                                        </p:tav>
                                      </p:tavLst>
                                    </p:anim>
                                    <p:animEffect transition="in" filter="fade">
                                      <p:cBhvr>
                                        <p:cTn id="250" dur="500"/>
                                        <p:tgtEl>
                                          <p:spTgt spid="59"/>
                                        </p:tgtEl>
                                      </p:cBhvr>
                                    </p:animEffect>
                                  </p:childTnLst>
                                </p:cTn>
                              </p:par>
                              <p:par>
                                <p:cTn id="256" presetID="2" presetClass="entr" presetSubtype="4" fill="hold" grpId="0" nodeType="withEffect">
                                  <p:stCondLst>
                                    <p:cond delay="360"/>
                                  </p:stCondLst>
                                  <p:childTnLst>
                                    <p:set>
                                      <p:cBhvr>
                                        <p:cTn id="252" dur="1" fill="hold">
                                          <p:stCondLst>
                                            <p:cond delay="0"/>
                                          </p:stCondLst>
                                        </p:cTn>
                                        <p:tgtEl>
                                          <p:spTgt spid="60"/>
                                        </p:tgtEl>
                                        <p:attrNameLst>
                                          <p:attrName>style.visibility</p:attrName>
                                        </p:attrNameLst>
                                      </p:cBhvr>
                                      <p:to>
                                        <p:strVal val="visible"/>
                                      </p:to>
                                    </p:set>
                                    <p:anim calcmode="lin" valueType="num">
                                      <p:cBhvr additive="base">
                                        <p:cTn id="253" dur="500" fill="hold"/>
                                        <p:tgtEl>
                                          <p:spTgt spid="60"/>
                                        </p:tgtEl>
                                        <p:attrNameLst>
                                          <p:attrName>ppt_x</p:attrName>
                                        </p:attrNameLst>
                                      </p:cBhvr>
                                      <p:tavLst>
                                        <p:tav tm="0">
                                          <p:val>
                                            <p:strVal val="#ppt_x"/>
                                          </p:val>
                                        </p:tav>
                                        <p:tav tm="100000">
                                          <p:val>
                                            <p:strVal val="#ppt_x"/>
                                          </p:val>
                                        </p:tav>
                                      </p:tavLst>
                                    </p:anim>
                                    <p:anim calcmode="lin" valueType="num">
                                      <p:cBhvr additive="base">
                                        <p:cTn id="254" dur="500" fill="hold"/>
                                        <p:tgtEl>
                                          <p:spTgt spid="60"/>
                                        </p:tgtEl>
                                        <p:attrNameLst>
                                          <p:attrName>ppt_y</p:attrName>
                                        </p:attrNameLst>
                                      </p:cBhvr>
                                      <p:tavLst>
                                        <p:tav tm="0">
                                          <p:val>
                                            <p:strVal val="#ppt_y+0.1"/>
                                          </p:val>
                                        </p:tav>
                                        <p:tav tm="100000">
                                          <p:val>
                                            <p:strVal val="#ppt_y"/>
                                          </p:val>
                                        </p:tav>
                                      </p:tavLst>
                                    </p:anim>
                                    <p:animEffect transition="in" filter="fade">
                                      <p:cBhvr>
                                        <p:cTn id="255" dur="500"/>
                                        <p:tgtEl>
                                          <p:spTgt spid="60"/>
                                        </p:tgtEl>
                                      </p:cBhvr>
                                    </p:animEffect>
                                  </p:childTnLst>
                                </p:cTn>
                              </p:par>
                            </p:childTnLst>
                          </p:cTn>
                        </p:par>
                      </p:childTnLst>
                    </p:cTn>
                  </p:par>
                  <p:par>
                    <p:cTn id="257" fill="hold">
                      <p:stCondLst>
                        <p:cond delay="indefinite"/>
                      </p:stCondLst>
                      <p:childTnLst>
                        <p:par>
                          <p:cTn id="258" fill="hold">
                            <p:stCondLst>
                              <p:cond delay="0"/>
                            </p:stCondLst>
                            <p:childTnLst>
                              <p:par>
                                <p:cTn id="263" presetID="2" presetClass="entr" presetSubtype="4" fill="hold" grpId="0" nodeType="clickEffect">
                                  <p:stCondLst>
                                    <p:cond delay="0"/>
                                  </p:stCondLst>
                                  <p:childTnLst>
                                    <p:set>
                                      <p:cBhvr>
                                        <p:cTn id="259" dur="1" fill="hold">
                                          <p:stCondLst>
                                            <p:cond delay="0"/>
                                          </p:stCondLst>
                                        </p:cTn>
                                        <p:tgtEl>
                                          <p:spTgt spid="61"/>
                                        </p:tgtEl>
                                        <p:attrNameLst>
                                          <p:attrName>style.visibility</p:attrName>
                                        </p:attrNameLst>
                                      </p:cBhvr>
                                      <p:to>
                                        <p:strVal val="visible"/>
                                      </p:to>
                                    </p:set>
                                    <p:anim calcmode="lin" valueType="num">
                                      <p:cBhvr additive="base">
                                        <p:cTn id="260" dur="500" fill="hold"/>
                                        <p:tgtEl>
                                          <p:spTgt spid="61"/>
                                        </p:tgtEl>
                                        <p:attrNameLst>
                                          <p:attrName>ppt_x</p:attrName>
                                        </p:attrNameLst>
                                      </p:cBhvr>
                                      <p:tavLst>
                                        <p:tav tm="0">
                                          <p:val>
                                            <p:strVal val="#ppt_x"/>
                                          </p:val>
                                        </p:tav>
                                        <p:tav tm="100000">
                                          <p:val>
                                            <p:strVal val="#ppt_x"/>
                                          </p:val>
                                        </p:tav>
                                      </p:tavLst>
                                    </p:anim>
                                    <p:anim calcmode="lin" valueType="num">
                                      <p:cBhvr additive="base">
                                        <p:cTn id="261" dur="500" fill="hold"/>
                                        <p:tgtEl>
                                          <p:spTgt spid="61"/>
                                        </p:tgtEl>
                                        <p:attrNameLst>
                                          <p:attrName>ppt_y</p:attrName>
                                        </p:attrNameLst>
                                      </p:cBhvr>
                                      <p:tavLst>
                                        <p:tav tm="0">
                                          <p:val>
                                            <p:strVal val="#ppt_y+0.1"/>
                                          </p:val>
                                        </p:tav>
                                        <p:tav tm="100000">
                                          <p:val>
                                            <p:strVal val="#ppt_y"/>
                                          </p:val>
                                        </p:tav>
                                      </p:tavLst>
                                    </p:anim>
                                    <p:animEffect transition="in" filter="fade">
                                      <p:cBhvr>
                                        <p:cTn id="262" dur="500"/>
                                        <p:tgtEl>
                                          <p:spTgt spid="61"/>
                                        </p:tgtEl>
                                      </p:cBhvr>
                                    </p:animEffect>
                                  </p:childTnLst>
                                </p:cTn>
                              </p:par>
                              <p:par>
                                <p:cTn id="268" presetID="2" presetClass="entr" presetSubtype="4" fill="hold" grpId="0" nodeType="withEffect">
                                  <p:stCondLst>
                                    <p:cond delay="0"/>
                                  </p:stCondLst>
                                  <p:childTnLst>
                                    <p:set>
                                      <p:cBhvr>
                                        <p:cTn id="264" dur="1" fill="hold">
                                          <p:stCondLst>
                                            <p:cond delay="0"/>
                                          </p:stCondLst>
                                        </p:cTn>
                                        <p:tgtEl>
                                          <p:spTgt spid="62"/>
                                        </p:tgtEl>
                                        <p:attrNameLst>
                                          <p:attrName>style.visibility</p:attrName>
                                        </p:attrNameLst>
                                      </p:cBhvr>
                                      <p:to>
                                        <p:strVal val="visible"/>
                                      </p:to>
                                    </p:set>
                                    <p:anim calcmode="lin" valueType="num">
                                      <p:cBhvr additive="base">
                                        <p:cTn id="265" dur="500" fill="hold"/>
                                        <p:tgtEl>
                                          <p:spTgt spid="62"/>
                                        </p:tgtEl>
                                        <p:attrNameLst>
                                          <p:attrName>ppt_x</p:attrName>
                                        </p:attrNameLst>
                                      </p:cBhvr>
                                      <p:tavLst>
                                        <p:tav tm="0">
                                          <p:val>
                                            <p:strVal val="#ppt_x"/>
                                          </p:val>
                                        </p:tav>
                                        <p:tav tm="100000">
                                          <p:val>
                                            <p:strVal val="#ppt_x"/>
                                          </p:val>
                                        </p:tav>
                                      </p:tavLst>
                                    </p:anim>
                                    <p:anim calcmode="lin" valueType="num">
                                      <p:cBhvr additive="base">
                                        <p:cTn id="266" dur="500" fill="hold"/>
                                        <p:tgtEl>
                                          <p:spTgt spid="62"/>
                                        </p:tgtEl>
                                        <p:attrNameLst>
                                          <p:attrName>ppt_y</p:attrName>
                                        </p:attrNameLst>
                                      </p:cBhvr>
                                      <p:tavLst>
                                        <p:tav tm="0">
                                          <p:val>
                                            <p:strVal val="#ppt_y+0.1"/>
                                          </p:val>
                                        </p:tav>
                                        <p:tav tm="100000">
                                          <p:val>
                                            <p:strVal val="#ppt_y"/>
                                          </p:val>
                                        </p:tav>
                                      </p:tavLst>
                                    </p:anim>
                                    <p:animEffect transition="in" filter="fade">
                                      <p:cBhvr>
                                        <p:cTn id="267" dur="500"/>
                                        <p:tgtEl>
                                          <p:spTgt spid="62"/>
                                        </p:tgtEl>
                                      </p:cBhvr>
                                    </p:animEffect>
                                  </p:childTnLst>
                                </p:cTn>
                              </p:par>
                              <p:par>
                                <p:cTn id="273" presetID="2" presetClass="entr" presetSubtype="4" fill="hold" grpId="0" nodeType="withEffect">
                                  <p:stCondLst>
                                    <p:cond delay="0"/>
                                  </p:stCondLst>
                                  <p:childTnLst>
                                    <p:set>
                                      <p:cBhvr>
                                        <p:cTn id="269" dur="1" fill="hold">
                                          <p:stCondLst>
                                            <p:cond delay="0"/>
                                          </p:stCondLst>
                                        </p:cTn>
                                        <p:tgtEl>
                                          <p:spTgt spid="63"/>
                                        </p:tgtEl>
                                        <p:attrNameLst>
                                          <p:attrName>style.visibility</p:attrName>
                                        </p:attrNameLst>
                                      </p:cBhvr>
                                      <p:to>
                                        <p:strVal val="visible"/>
                                      </p:to>
                                    </p:set>
                                    <p:anim calcmode="lin" valueType="num">
                                      <p:cBhvr additive="base">
                                        <p:cTn id="270" dur="500" fill="hold"/>
                                        <p:tgtEl>
                                          <p:spTgt spid="63"/>
                                        </p:tgtEl>
                                        <p:attrNameLst>
                                          <p:attrName>ppt_x</p:attrName>
                                        </p:attrNameLst>
                                      </p:cBhvr>
                                      <p:tavLst>
                                        <p:tav tm="0">
                                          <p:val>
                                            <p:strVal val="#ppt_x"/>
                                          </p:val>
                                        </p:tav>
                                        <p:tav tm="100000">
                                          <p:val>
                                            <p:strVal val="#ppt_x"/>
                                          </p:val>
                                        </p:tav>
                                      </p:tavLst>
                                    </p:anim>
                                    <p:anim calcmode="lin" valueType="num">
                                      <p:cBhvr additive="base">
                                        <p:cTn id="271" dur="500" fill="hold"/>
                                        <p:tgtEl>
                                          <p:spTgt spid="63"/>
                                        </p:tgtEl>
                                        <p:attrNameLst>
                                          <p:attrName>ppt_y</p:attrName>
                                        </p:attrNameLst>
                                      </p:cBhvr>
                                      <p:tavLst>
                                        <p:tav tm="0">
                                          <p:val>
                                            <p:strVal val="#ppt_y+0.1"/>
                                          </p:val>
                                        </p:tav>
                                        <p:tav tm="100000">
                                          <p:val>
                                            <p:strVal val="#ppt_y"/>
                                          </p:val>
                                        </p:tav>
                                      </p:tavLst>
                                    </p:anim>
                                    <p:animEffect transition="in" filter="fade">
                                      <p:cBhvr>
                                        <p:cTn id="272"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7C2D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0f_h8"/>
          <p:cNvSpPr txBox="1"/>
          <p:nvPr/>
        </p:nvSpPr>
        <p:spPr>
          <a:xfrm>
            <a:off x="548640" y="384048"/>
            <a:ext cx="7315200" cy="640080"/>
          </a:xfrm>
          <a:prstGeom prst="rect">
            <a:avLst/>
          </a:prstGeom>
          <a:noFill/>
        </p:spPr>
        <p:txBody>
          <a:bodyPr wrap="square" lIns="0" tIns="0" rIns="0" bIns="0" anchor="ctr">
            <a:spAutoFit/>
          </a:bodyPr>
          <a:lstStyle/>
          <a:p>
            <a:pPr algn="l"/>
            <a:r>
              <a:rPr sz="3050" b="0">
                <a:solidFill>
                  <a:srgbClr val="FFFFFF"/>
                </a:solidFill>
                <a:latin typeface="Bahnschrift SemiBold"/>
              </a:rPr>
              <a:t>Summary</a:t>
            </a:r>
          </a:p>
        </p:txBody>
      </p:sp>
      <p:sp>
        <p:nvSpPr>
          <p:cNvPr id="10" name="a1u_n9"/>
          <p:cNvSpPr/>
          <p:nvPr/>
        </p:nvSpPr>
        <p:spPr>
          <a:xfrm>
            <a:off x="548640" y="1234440"/>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1u_nt10"/>
          <p:cNvSpPr txBox="1"/>
          <p:nvPr/>
        </p:nvSpPr>
        <p:spPr>
          <a:xfrm>
            <a:off x="548640" y="1234440"/>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1</a:t>
            </a:r>
          </a:p>
        </p:txBody>
      </p:sp>
      <p:sp>
        <p:nvSpPr>
          <p:cNvPr id="12" name="a1u_nb11"/>
          <p:cNvSpPr txBox="1"/>
          <p:nvPr/>
        </p:nvSpPr>
        <p:spPr>
          <a:xfrm>
            <a:off x="1133856" y="1188720"/>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Kafka is the foundation</a:t>
            </a:r>
          </a:p>
          <a:p>
            <a:pPr algn="l">
              <a:spcAft>
                <a:spcPts val="100"/>
              </a:spcAft>
            </a:pPr>
            <a:r>
              <a:rPr sz="1000" b="0">
                <a:solidFill>
                  <a:srgbClr val="D6D3D1"/>
                </a:solidFill>
                <a:latin typeface="Segoe UI"/>
              </a:rPr>
              <a:t>Pipelines, microservices and data integration build on it</a:t>
            </a:r>
          </a:p>
        </p:txBody>
      </p:sp>
      <p:sp>
        <p:nvSpPr>
          <p:cNvPr id="13" name="a1ud200_n12"/>
          <p:cNvSpPr/>
          <p:nvPr/>
        </p:nvSpPr>
        <p:spPr>
          <a:xfrm>
            <a:off x="548640" y="1892808"/>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200_nt13"/>
          <p:cNvSpPr txBox="1"/>
          <p:nvPr/>
        </p:nvSpPr>
        <p:spPr>
          <a:xfrm>
            <a:off x="548640" y="1892808"/>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2</a:t>
            </a:r>
          </a:p>
        </p:txBody>
      </p:sp>
      <p:sp>
        <p:nvSpPr>
          <p:cNvPr id="15" name="a1ud200_nb14"/>
          <p:cNvSpPr txBox="1"/>
          <p:nvPr/>
        </p:nvSpPr>
        <p:spPr>
          <a:xfrm>
            <a:off x="1133856" y="1847088"/>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Think events first</a:t>
            </a:r>
          </a:p>
          <a:p>
            <a:pPr algn="l">
              <a:spcAft>
                <a:spcPts val="100"/>
              </a:spcAft>
            </a:pPr>
            <a:r>
              <a:rPr sz="1000" b="0">
                <a:solidFill>
                  <a:srgbClr val="D6D3D1"/>
                </a:solidFill>
                <a:latin typeface="Segoe UI"/>
              </a:rPr>
              <a:t>Something that happens at a specific point in time</a:t>
            </a:r>
          </a:p>
        </p:txBody>
      </p:sp>
      <p:sp>
        <p:nvSpPr>
          <p:cNvPr id="16" name="a1ud400_n15"/>
          <p:cNvSpPr/>
          <p:nvPr/>
        </p:nvSpPr>
        <p:spPr>
          <a:xfrm>
            <a:off x="548640" y="2551176"/>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400_nt16"/>
          <p:cNvSpPr txBox="1"/>
          <p:nvPr/>
        </p:nvSpPr>
        <p:spPr>
          <a:xfrm>
            <a:off x="548640" y="2551176"/>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3</a:t>
            </a:r>
          </a:p>
        </p:txBody>
      </p:sp>
      <p:sp>
        <p:nvSpPr>
          <p:cNvPr id="18" name="a1ud400_nb17"/>
          <p:cNvSpPr txBox="1"/>
          <p:nvPr/>
        </p:nvSpPr>
        <p:spPr>
          <a:xfrm>
            <a:off x="1133856" y="2505456"/>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Do the work in real time</a:t>
            </a:r>
          </a:p>
          <a:p>
            <a:pPr algn="l">
              <a:spcAft>
                <a:spcPts val="100"/>
              </a:spcAft>
            </a:pPr>
            <a:r>
              <a:rPr sz="1000" b="0">
                <a:solidFill>
                  <a:srgbClr val="D6D3D1"/>
                </a:solidFill>
                <a:latin typeface="Segoe UI"/>
              </a:rPr>
              <a:t>Process each event as it happens, not in a later batch</a:t>
            </a:r>
          </a:p>
        </p:txBody>
      </p:sp>
      <p:sp>
        <p:nvSpPr>
          <p:cNvPr id="19" name="a1ud600_n18"/>
          <p:cNvSpPr/>
          <p:nvPr/>
        </p:nvSpPr>
        <p:spPr>
          <a:xfrm>
            <a:off x="548640" y="3209544"/>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600_nt19"/>
          <p:cNvSpPr txBox="1"/>
          <p:nvPr/>
        </p:nvSpPr>
        <p:spPr>
          <a:xfrm>
            <a:off x="548640" y="3209544"/>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4</a:t>
            </a:r>
          </a:p>
        </p:txBody>
      </p:sp>
      <p:sp>
        <p:nvSpPr>
          <p:cNvPr id="21" name="a1ud600_nb20"/>
          <p:cNvSpPr txBox="1"/>
          <p:nvPr/>
        </p:nvSpPr>
        <p:spPr>
          <a:xfrm>
            <a:off x="1133856" y="3163824"/>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Kafka remembers - and supports things</a:t>
            </a:r>
          </a:p>
          <a:p>
            <a:pPr algn="l">
              <a:spcAft>
                <a:spcPts val="100"/>
              </a:spcAft>
            </a:pPr>
            <a:r>
              <a:rPr sz="1000" b="0">
                <a:solidFill>
                  <a:srgbClr val="D6D3D1"/>
                </a:solidFill>
                <a:latin typeface="Segoe UI"/>
              </a:rPr>
              <a:t>Events are kept; their schemas are managed</a:t>
            </a:r>
          </a:p>
        </p:txBody>
      </p:sp>
      <p:sp>
        <p:nvSpPr>
          <p:cNvPr id="22" name="a1ud800_n21"/>
          <p:cNvSpPr/>
          <p:nvPr/>
        </p:nvSpPr>
        <p:spPr>
          <a:xfrm>
            <a:off x="548640" y="3867911"/>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800_nt22"/>
          <p:cNvSpPr txBox="1"/>
          <p:nvPr/>
        </p:nvSpPr>
        <p:spPr>
          <a:xfrm>
            <a:off x="548640" y="3867911"/>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5</a:t>
            </a:r>
          </a:p>
        </p:txBody>
      </p:sp>
      <p:sp>
        <p:nvSpPr>
          <p:cNvPr id="24" name="a1ud800_nb23"/>
          <p:cNvSpPr txBox="1"/>
          <p:nvPr/>
        </p:nvSpPr>
        <p:spPr>
          <a:xfrm>
            <a:off x="1133856" y="3822191"/>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A platform grows on top</a:t>
            </a:r>
          </a:p>
          <a:p>
            <a:pPr algn="l">
              <a:spcAft>
                <a:spcPts val="100"/>
              </a:spcAft>
            </a:pPr>
            <a:r>
              <a:rPr sz="1000" b="0">
                <a:solidFill>
                  <a:srgbClr val="D6D3D1"/>
                </a:solidFill>
                <a:latin typeface="Segoe UI"/>
              </a:rPr>
              <a:t>Stream processing, governance and connectivity</a:t>
            </a:r>
          </a:p>
        </p:txBody>
      </p:sp>
      <p:sp>
        <p:nvSpPr>
          <p:cNvPr id="25" name="a2u_next24"/>
          <p:cNvSpPr/>
          <p:nvPr/>
        </p:nvSpPr>
        <p:spPr>
          <a:xfrm>
            <a:off x="6263640" y="1234440"/>
            <a:ext cx="2423160" cy="1417320"/>
          </a:xfrm>
          <a:prstGeom prst="roundRect">
            <a:avLst>
              <a:gd name="adj" fmla="val 6451"/>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_nextt25"/>
          <p:cNvSpPr txBox="1"/>
          <p:nvPr/>
        </p:nvSpPr>
        <p:spPr>
          <a:xfrm>
            <a:off x="6446520" y="1353312"/>
            <a:ext cx="2103120" cy="1188720"/>
          </a:xfrm>
          <a:prstGeom prst="rect">
            <a:avLst/>
          </a:prstGeom>
          <a:noFill/>
        </p:spPr>
        <p:txBody>
          <a:bodyPr wrap="square" lIns="0" tIns="0" rIns="0" bIns="0" anchor="t">
            <a:spAutoFit/>
          </a:bodyPr>
          <a:lstStyle/>
          <a:p>
            <a:pPr algn="l">
              <a:spcAft>
                <a:spcPts val="400"/>
              </a:spcAft>
            </a:pPr>
            <a:r>
              <a:rPr sz="850" b="1" spc="220">
                <a:solidFill>
                  <a:srgbClr val="FB923C"/>
                </a:solidFill>
                <a:latin typeface="Segoe UI"/>
              </a:rPr>
              <a:t>UP NEXT</a:t>
            </a:r>
          </a:p>
          <a:p>
            <a:pPr algn="l">
              <a:spcAft>
                <a:spcPts val="400"/>
              </a:spcAft>
            </a:pPr>
            <a:r>
              <a:rPr sz="1050" b="0">
                <a:solidFill>
                  <a:srgbClr val="E7E5E4"/>
                </a:solidFill>
                <a:latin typeface="Segoe UI"/>
              </a:rPr>
              <a:t>Module 2 - Topics</a:t>
            </a:r>
          </a:p>
        </p:txBody>
      </p:sp>
      <p:sp>
        <p:nvSpPr>
          <p:cNvPr id="27" name="a3u_src26"/>
          <p:cNvSpPr/>
          <p:nvPr/>
        </p:nvSpPr>
        <p:spPr>
          <a:xfrm>
            <a:off x="6263640" y="2834640"/>
            <a:ext cx="2423160" cy="1417320"/>
          </a:xfrm>
          <a:prstGeom prst="roundRect">
            <a:avLst>
              <a:gd name="adj" fmla="val 6451"/>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3u_srct27"/>
          <p:cNvSpPr txBox="1"/>
          <p:nvPr/>
        </p:nvSpPr>
        <p:spPr>
          <a:xfrm>
            <a:off x="6446520" y="2953512"/>
            <a:ext cx="2103120" cy="1188720"/>
          </a:xfrm>
          <a:prstGeom prst="rect">
            <a:avLst/>
          </a:prstGeom>
          <a:noFill/>
        </p:spPr>
        <p:txBody>
          <a:bodyPr wrap="square" lIns="0" tIns="0" rIns="0" bIns="0" anchor="t">
            <a:spAutoFit/>
          </a:bodyPr>
          <a:lstStyle/>
          <a:p>
            <a:pPr algn="l">
              <a:spcAft>
                <a:spcPts val="400"/>
              </a:spcAft>
            </a:pPr>
            <a:r>
              <a:rPr sz="850" b="1" spc="220">
                <a:solidFill>
                  <a:srgbClr val="FB923C"/>
                </a:solidFill>
                <a:latin typeface="Segoe UI"/>
              </a:rPr>
              <a:t>SOURCE</a:t>
            </a:r>
          </a:p>
          <a:p>
            <a:pPr algn="l">
              <a:spcAft>
                <a:spcPts val="400"/>
              </a:spcAft>
            </a:pPr>
            <a:r>
              <a:rPr sz="850" b="0">
                <a:solidFill>
                  <a:srgbClr val="D6D3D1"/>
                </a:solidFill>
                <a:latin typeface="Segoe UI"/>
              </a:rPr>
              <a:t>Apache Kafka 101, Introduction - Tim Berglund, Confluent Developer (developer.confluent.io)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4" presetID="2" presetClass="entr" presetSubtype="4"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ppt_y+0.1"/>
                                          </p:val>
                                        </p:tav>
                                        <p:tav tm="100000">
                                          <p:val>
                                            <p:strVal val="#ppt_y"/>
                                          </p:val>
                                        </p:tav>
                                      </p:tavLst>
                                    </p:anim>
                                    <p:animEffect transition="in" filter="fade">
                                      <p:cBhvr>
                                        <p:cTn id="13" dur="500"/>
                                        <p:tgtEl>
                                          <p:spTgt spid="10"/>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ppt_x"/>
                                          </p:val>
                                        </p:tav>
                                        <p:tav tm="100000">
                                          <p:val>
                                            <p:strVal val="#ppt_x"/>
                                          </p:val>
                                        </p:tav>
                                      </p:tavLst>
                                    </p:anim>
                                    <p:anim calcmode="lin" valueType="num">
                                      <p:cBhvr additive="base">
                                        <p:cTn id="17" dur="500" fill="hold"/>
                                        <p:tgtEl>
                                          <p:spTgt spid="11"/>
                                        </p:tgtEl>
                                        <p:attrNameLst>
                                          <p:attrName>ppt_y</p:attrName>
                                        </p:attrNameLst>
                                      </p:cBhvr>
                                      <p:tavLst>
                                        <p:tav tm="0">
                                          <p:val>
                                            <p:strVal val="#ppt_y+0.1"/>
                                          </p:val>
                                        </p:tav>
                                        <p:tav tm="100000">
                                          <p:val>
                                            <p:strVal val="#ppt_y"/>
                                          </p:val>
                                        </p:tav>
                                      </p:tavLst>
                                    </p:anim>
                                    <p:animEffect transition="in" filter="fade">
                                      <p:cBhvr>
                                        <p:cTn id="18" dur="500"/>
                                        <p:tgtEl>
                                          <p:spTgt spid="11"/>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ppt_y+0.1"/>
                                          </p:val>
                                        </p:tav>
                                        <p:tav tm="100000">
                                          <p:val>
                                            <p:strVal val="#ppt_y"/>
                                          </p:val>
                                        </p:tav>
                                      </p:tavLst>
                                    </p:anim>
                                    <p:animEffect transition="in" filter="fade">
                                      <p:cBhvr>
                                        <p:cTn id="23" dur="500"/>
                                        <p:tgtEl>
                                          <p:spTgt spid="12"/>
                                        </p:tgtEl>
                                      </p:cBhvr>
                                    </p:animEffect>
                                  </p:childTnLst>
                                </p:cTn>
                              </p:par>
                              <p:par>
                                <p:cTn id="29" presetID="2" presetClass="entr" presetSubtype="4" fill="hold" grpId="0" nodeType="withEffect">
                                  <p:stCondLst>
                                    <p:cond delay="20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ppt_x"/>
                                          </p:val>
                                        </p:tav>
                                        <p:tav tm="100000">
                                          <p:val>
                                            <p:strVal val="#ppt_x"/>
                                          </p:val>
                                        </p:tav>
                                      </p:tavLst>
                                    </p:anim>
                                    <p:anim calcmode="lin" valueType="num">
                                      <p:cBhvr additive="base">
                                        <p:cTn id="27" dur="500" fill="hold"/>
                                        <p:tgtEl>
                                          <p:spTgt spid="13"/>
                                        </p:tgtEl>
                                        <p:attrNameLst>
                                          <p:attrName>ppt_y</p:attrName>
                                        </p:attrNameLst>
                                      </p:cBhvr>
                                      <p:tavLst>
                                        <p:tav tm="0">
                                          <p:val>
                                            <p:strVal val="#ppt_y+0.1"/>
                                          </p:val>
                                        </p:tav>
                                        <p:tav tm="100000">
                                          <p:val>
                                            <p:strVal val="#ppt_y"/>
                                          </p:val>
                                        </p:tav>
                                      </p:tavLst>
                                    </p:anim>
                                    <p:animEffect transition="in" filter="fade">
                                      <p:cBhvr>
                                        <p:cTn id="28" dur="500"/>
                                        <p:tgtEl>
                                          <p:spTgt spid="13"/>
                                        </p:tgtEl>
                                      </p:cBhvr>
                                    </p:animEffect>
                                  </p:childTnLst>
                                </p:cTn>
                              </p:par>
                              <p:par>
                                <p:cTn id="34" presetID="2" presetClass="entr" presetSubtype="4" fill="hold" grpId="0" nodeType="withEffect">
                                  <p:stCondLst>
                                    <p:cond delay="20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ppt_y+0.1"/>
                                          </p:val>
                                        </p:tav>
                                        <p:tav tm="100000">
                                          <p:val>
                                            <p:strVal val="#ppt_y"/>
                                          </p:val>
                                        </p:tav>
                                      </p:tavLst>
                                    </p:anim>
                                    <p:animEffect transition="in" filter="fade">
                                      <p:cBhvr>
                                        <p:cTn id="33" dur="500"/>
                                        <p:tgtEl>
                                          <p:spTgt spid="14"/>
                                        </p:tgtEl>
                                      </p:cBhvr>
                                    </p:animEffect>
                                  </p:childTnLst>
                                </p:cTn>
                              </p:par>
                              <p:par>
                                <p:cTn id="39" presetID="2" presetClass="entr" presetSubtype="4" fill="hold" grpId="0" nodeType="withEffect">
                                  <p:stCondLst>
                                    <p:cond delay="20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fill="hold"/>
                                        <p:tgtEl>
                                          <p:spTgt spid="15"/>
                                        </p:tgtEl>
                                        <p:attrNameLst>
                                          <p:attrName>ppt_x</p:attrName>
                                        </p:attrNameLst>
                                      </p:cBhvr>
                                      <p:tavLst>
                                        <p:tav tm="0">
                                          <p:val>
                                            <p:strVal val="#ppt_x"/>
                                          </p:val>
                                        </p:tav>
                                        <p:tav tm="100000">
                                          <p:val>
                                            <p:strVal val="#ppt_x"/>
                                          </p:val>
                                        </p:tav>
                                      </p:tavLst>
                                    </p:anim>
                                    <p:anim calcmode="lin" valueType="num">
                                      <p:cBhvr additive="base">
                                        <p:cTn id="37" dur="500" fill="hold"/>
                                        <p:tgtEl>
                                          <p:spTgt spid="15"/>
                                        </p:tgtEl>
                                        <p:attrNameLst>
                                          <p:attrName>ppt_y</p:attrName>
                                        </p:attrNameLst>
                                      </p:cBhvr>
                                      <p:tavLst>
                                        <p:tav tm="0">
                                          <p:val>
                                            <p:strVal val="#ppt_y+0.1"/>
                                          </p:val>
                                        </p:tav>
                                        <p:tav tm="100000">
                                          <p:val>
                                            <p:strVal val="#ppt_y"/>
                                          </p:val>
                                        </p:tav>
                                      </p:tavLst>
                                    </p:anim>
                                    <p:animEffect transition="in" filter="fade">
                                      <p:cBhvr>
                                        <p:cTn id="38" dur="500"/>
                                        <p:tgtEl>
                                          <p:spTgt spid="15"/>
                                        </p:tgtEl>
                                      </p:cBhvr>
                                    </p:animEffect>
                                  </p:childTnLst>
                                </p:cTn>
                              </p:par>
                              <p:par>
                                <p:cTn id="44" presetID="2" presetClass="entr" presetSubtype="4" fill="hold" grpId="0" nodeType="withEffect">
                                  <p:stCondLst>
                                    <p:cond delay="40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ppt_y+0.1"/>
                                          </p:val>
                                        </p:tav>
                                        <p:tav tm="100000">
                                          <p:val>
                                            <p:strVal val="#ppt_y"/>
                                          </p:val>
                                        </p:tav>
                                      </p:tavLst>
                                    </p:anim>
                                    <p:animEffect transition="in" filter="fade">
                                      <p:cBhvr>
                                        <p:cTn id="43" dur="500"/>
                                        <p:tgtEl>
                                          <p:spTgt spid="16"/>
                                        </p:tgtEl>
                                      </p:cBhvr>
                                    </p:animEffect>
                                  </p:childTnLst>
                                </p:cTn>
                              </p:par>
                              <p:par>
                                <p:cTn id="49" presetID="2" presetClass="entr" presetSubtype="4" fill="hold" grpId="0" nodeType="withEffect">
                                  <p:stCondLst>
                                    <p:cond delay="400"/>
                                  </p:stCondLst>
                                  <p:childTnLst>
                                    <p:set>
                                      <p:cBhvr>
                                        <p:cTn id="45" dur="1" fill="hold">
                                          <p:stCondLst>
                                            <p:cond delay="0"/>
                                          </p:stCondLst>
                                        </p:cTn>
                                        <p:tgtEl>
                                          <p:spTgt spid="17"/>
                                        </p:tgtEl>
                                        <p:attrNameLst>
                                          <p:attrName>style.visibility</p:attrName>
                                        </p:attrNameLst>
                                      </p:cBhvr>
                                      <p:to>
                                        <p:strVal val="visible"/>
                                      </p:to>
                                    </p:set>
                                    <p:anim calcmode="lin" valueType="num">
                                      <p:cBhvr additive="base">
                                        <p:cTn id="46" dur="500" fill="hold"/>
                                        <p:tgtEl>
                                          <p:spTgt spid="17"/>
                                        </p:tgtEl>
                                        <p:attrNameLst>
                                          <p:attrName>ppt_x</p:attrName>
                                        </p:attrNameLst>
                                      </p:cBhvr>
                                      <p:tavLst>
                                        <p:tav tm="0">
                                          <p:val>
                                            <p:strVal val="#ppt_x"/>
                                          </p:val>
                                        </p:tav>
                                        <p:tav tm="100000">
                                          <p:val>
                                            <p:strVal val="#ppt_x"/>
                                          </p:val>
                                        </p:tav>
                                      </p:tavLst>
                                    </p:anim>
                                    <p:anim calcmode="lin" valueType="num">
                                      <p:cBhvr additive="base">
                                        <p:cTn id="47" dur="500" fill="hold"/>
                                        <p:tgtEl>
                                          <p:spTgt spid="17"/>
                                        </p:tgtEl>
                                        <p:attrNameLst>
                                          <p:attrName>ppt_y</p:attrName>
                                        </p:attrNameLst>
                                      </p:cBhvr>
                                      <p:tavLst>
                                        <p:tav tm="0">
                                          <p:val>
                                            <p:strVal val="#ppt_y+0.1"/>
                                          </p:val>
                                        </p:tav>
                                        <p:tav tm="100000">
                                          <p:val>
                                            <p:strVal val="#ppt_y"/>
                                          </p:val>
                                        </p:tav>
                                      </p:tavLst>
                                    </p:anim>
                                    <p:animEffect transition="in" filter="fade">
                                      <p:cBhvr>
                                        <p:cTn id="48" dur="500"/>
                                        <p:tgtEl>
                                          <p:spTgt spid="17"/>
                                        </p:tgtEl>
                                      </p:cBhvr>
                                    </p:animEffect>
                                  </p:childTnLst>
                                </p:cTn>
                              </p:par>
                              <p:par>
                                <p:cTn id="54" presetID="2" presetClass="entr" presetSubtype="4" fill="hold" grpId="0" nodeType="withEffect">
                                  <p:stCondLst>
                                    <p:cond delay="40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ppt_y+0.1"/>
                                          </p:val>
                                        </p:tav>
                                        <p:tav tm="100000">
                                          <p:val>
                                            <p:strVal val="#ppt_y"/>
                                          </p:val>
                                        </p:tav>
                                      </p:tavLst>
                                    </p:anim>
                                    <p:animEffect transition="in" filter="fade">
                                      <p:cBhvr>
                                        <p:cTn id="53" dur="500"/>
                                        <p:tgtEl>
                                          <p:spTgt spid="18"/>
                                        </p:tgtEl>
                                      </p:cBhvr>
                                    </p:animEffect>
                                  </p:childTnLst>
                                </p:cTn>
                              </p:par>
                              <p:par>
                                <p:cTn id="59" presetID="2" presetClass="entr" presetSubtype="4" fill="hold" grpId="0" nodeType="withEffect">
                                  <p:stCondLst>
                                    <p:cond delay="600"/>
                                  </p:stCondLst>
                                  <p:childTnLst>
                                    <p:set>
                                      <p:cBhvr>
                                        <p:cTn id="55" dur="1" fill="hold">
                                          <p:stCondLst>
                                            <p:cond delay="0"/>
                                          </p:stCondLst>
                                        </p:cTn>
                                        <p:tgtEl>
                                          <p:spTgt spid="19"/>
                                        </p:tgtEl>
                                        <p:attrNameLst>
                                          <p:attrName>style.visibility</p:attrName>
                                        </p:attrNameLst>
                                      </p:cBhvr>
                                      <p:to>
                                        <p:strVal val="visible"/>
                                      </p:to>
                                    </p:set>
                                    <p:anim calcmode="lin" valueType="num">
                                      <p:cBhvr additive="base">
                                        <p:cTn id="56" dur="500" fill="hold"/>
                                        <p:tgtEl>
                                          <p:spTgt spid="19"/>
                                        </p:tgtEl>
                                        <p:attrNameLst>
                                          <p:attrName>ppt_x</p:attrName>
                                        </p:attrNameLst>
                                      </p:cBhvr>
                                      <p:tavLst>
                                        <p:tav tm="0">
                                          <p:val>
                                            <p:strVal val="#ppt_x"/>
                                          </p:val>
                                        </p:tav>
                                        <p:tav tm="100000">
                                          <p:val>
                                            <p:strVal val="#ppt_x"/>
                                          </p:val>
                                        </p:tav>
                                      </p:tavLst>
                                    </p:anim>
                                    <p:anim calcmode="lin" valueType="num">
                                      <p:cBhvr additive="base">
                                        <p:cTn id="57" dur="500" fill="hold"/>
                                        <p:tgtEl>
                                          <p:spTgt spid="19"/>
                                        </p:tgtEl>
                                        <p:attrNameLst>
                                          <p:attrName>ppt_y</p:attrName>
                                        </p:attrNameLst>
                                      </p:cBhvr>
                                      <p:tavLst>
                                        <p:tav tm="0">
                                          <p:val>
                                            <p:strVal val="#ppt_y+0.1"/>
                                          </p:val>
                                        </p:tav>
                                        <p:tav tm="100000">
                                          <p:val>
                                            <p:strVal val="#ppt_y"/>
                                          </p:val>
                                        </p:tav>
                                      </p:tavLst>
                                    </p:anim>
                                    <p:animEffect transition="in" filter="fade">
                                      <p:cBhvr>
                                        <p:cTn id="58" dur="500"/>
                                        <p:tgtEl>
                                          <p:spTgt spid="19"/>
                                        </p:tgtEl>
                                      </p:cBhvr>
                                    </p:animEffect>
                                  </p:childTnLst>
                                </p:cTn>
                              </p:par>
                              <p:par>
                                <p:cTn id="64" presetID="2" presetClass="entr" presetSubtype="4" fill="hold" grpId="0" nodeType="withEffect">
                                  <p:stCondLst>
                                    <p:cond delay="600"/>
                                  </p:stCondLst>
                                  <p:childTnLst>
                                    <p:set>
                                      <p:cBhvr>
                                        <p:cTn id="60" dur="1" fill="hold">
                                          <p:stCondLst>
                                            <p:cond delay="0"/>
                                          </p:stCondLst>
                                        </p:cTn>
                                        <p:tgtEl>
                                          <p:spTgt spid="20"/>
                                        </p:tgtEl>
                                        <p:attrNameLst>
                                          <p:attrName>style.visibility</p:attrName>
                                        </p:attrNameLst>
                                      </p:cBhvr>
                                      <p:to>
                                        <p:strVal val="visible"/>
                                      </p:to>
                                    </p:set>
                                    <p:anim calcmode="lin" valueType="num">
                                      <p:cBhvr additive="base">
                                        <p:cTn id="61" dur="500" fill="hold"/>
                                        <p:tgtEl>
                                          <p:spTgt spid="20"/>
                                        </p:tgtEl>
                                        <p:attrNameLst>
                                          <p:attrName>ppt_x</p:attrName>
                                        </p:attrNameLst>
                                      </p:cBhvr>
                                      <p:tavLst>
                                        <p:tav tm="0">
                                          <p:val>
                                            <p:strVal val="#ppt_x"/>
                                          </p:val>
                                        </p:tav>
                                        <p:tav tm="100000">
                                          <p:val>
                                            <p:strVal val="#ppt_x"/>
                                          </p:val>
                                        </p:tav>
                                      </p:tavLst>
                                    </p:anim>
                                    <p:anim calcmode="lin" valueType="num">
                                      <p:cBhvr additive="base">
                                        <p:cTn id="62" dur="500" fill="hold"/>
                                        <p:tgtEl>
                                          <p:spTgt spid="20"/>
                                        </p:tgtEl>
                                        <p:attrNameLst>
                                          <p:attrName>ppt_y</p:attrName>
                                        </p:attrNameLst>
                                      </p:cBhvr>
                                      <p:tavLst>
                                        <p:tav tm="0">
                                          <p:val>
                                            <p:strVal val="#ppt_y+0.1"/>
                                          </p:val>
                                        </p:tav>
                                        <p:tav tm="100000">
                                          <p:val>
                                            <p:strVal val="#ppt_y"/>
                                          </p:val>
                                        </p:tav>
                                      </p:tavLst>
                                    </p:anim>
                                    <p:animEffect transition="in" filter="fade">
                                      <p:cBhvr>
                                        <p:cTn id="63" dur="500"/>
                                        <p:tgtEl>
                                          <p:spTgt spid="20"/>
                                        </p:tgtEl>
                                      </p:cBhvr>
                                    </p:animEffect>
                                  </p:childTnLst>
                                </p:cTn>
                              </p:par>
                              <p:par>
                                <p:cTn id="69" presetID="2" presetClass="entr" presetSubtype="4" fill="hold" grpId="0" nodeType="withEffect">
                                  <p:stCondLst>
                                    <p:cond delay="600"/>
                                  </p:stCondLst>
                                  <p:childTnLst>
                                    <p:set>
                                      <p:cBhvr>
                                        <p:cTn id="65" dur="1" fill="hold">
                                          <p:stCondLst>
                                            <p:cond delay="0"/>
                                          </p:stCondLst>
                                        </p:cTn>
                                        <p:tgtEl>
                                          <p:spTgt spid="21"/>
                                        </p:tgtEl>
                                        <p:attrNameLst>
                                          <p:attrName>style.visibility</p:attrName>
                                        </p:attrNameLst>
                                      </p:cBhvr>
                                      <p:to>
                                        <p:strVal val="visible"/>
                                      </p:to>
                                    </p:set>
                                    <p:anim calcmode="lin" valueType="num">
                                      <p:cBhvr additive="base">
                                        <p:cTn id="66" dur="500" fill="hold"/>
                                        <p:tgtEl>
                                          <p:spTgt spid="21"/>
                                        </p:tgtEl>
                                        <p:attrNameLst>
                                          <p:attrName>ppt_x</p:attrName>
                                        </p:attrNameLst>
                                      </p:cBhvr>
                                      <p:tavLst>
                                        <p:tav tm="0">
                                          <p:val>
                                            <p:strVal val="#ppt_x"/>
                                          </p:val>
                                        </p:tav>
                                        <p:tav tm="100000">
                                          <p:val>
                                            <p:strVal val="#ppt_x"/>
                                          </p:val>
                                        </p:tav>
                                      </p:tavLst>
                                    </p:anim>
                                    <p:anim calcmode="lin" valueType="num">
                                      <p:cBhvr additive="base">
                                        <p:cTn id="67" dur="500" fill="hold"/>
                                        <p:tgtEl>
                                          <p:spTgt spid="21"/>
                                        </p:tgtEl>
                                        <p:attrNameLst>
                                          <p:attrName>ppt_y</p:attrName>
                                        </p:attrNameLst>
                                      </p:cBhvr>
                                      <p:tavLst>
                                        <p:tav tm="0">
                                          <p:val>
                                            <p:strVal val="#ppt_y+0.1"/>
                                          </p:val>
                                        </p:tav>
                                        <p:tav tm="100000">
                                          <p:val>
                                            <p:strVal val="#ppt_y"/>
                                          </p:val>
                                        </p:tav>
                                      </p:tavLst>
                                    </p:anim>
                                    <p:animEffect transition="in" filter="fade">
                                      <p:cBhvr>
                                        <p:cTn id="68" dur="500"/>
                                        <p:tgtEl>
                                          <p:spTgt spid="21"/>
                                        </p:tgtEl>
                                      </p:cBhvr>
                                    </p:animEffect>
                                  </p:childTnLst>
                                </p:cTn>
                              </p:par>
                              <p:par>
                                <p:cTn id="74" presetID="2" presetClass="entr" presetSubtype="4" fill="hold" grpId="0" nodeType="withEffect">
                                  <p:stCondLst>
                                    <p:cond delay="80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ppt_x"/>
                                          </p:val>
                                        </p:tav>
                                        <p:tav tm="100000">
                                          <p:val>
                                            <p:strVal val="#ppt_x"/>
                                          </p:val>
                                        </p:tav>
                                      </p:tavLst>
                                    </p:anim>
                                    <p:anim calcmode="lin" valueType="num">
                                      <p:cBhvr additive="base">
                                        <p:cTn id="72" dur="500" fill="hold"/>
                                        <p:tgtEl>
                                          <p:spTgt spid="22"/>
                                        </p:tgtEl>
                                        <p:attrNameLst>
                                          <p:attrName>ppt_y</p:attrName>
                                        </p:attrNameLst>
                                      </p:cBhvr>
                                      <p:tavLst>
                                        <p:tav tm="0">
                                          <p:val>
                                            <p:strVal val="#ppt_y+0.1"/>
                                          </p:val>
                                        </p:tav>
                                        <p:tav tm="100000">
                                          <p:val>
                                            <p:strVal val="#ppt_y"/>
                                          </p:val>
                                        </p:tav>
                                      </p:tavLst>
                                    </p:anim>
                                    <p:animEffect transition="in" filter="fade">
                                      <p:cBhvr>
                                        <p:cTn id="73" dur="500"/>
                                        <p:tgtEl>
                                          <p:spTgt spid="22"/>
                                        </p:tgtEl>
                                      </p:cBhvr>
                                    </p:animEffect>
                                  </p:childTnLst>
                                </p:cTn>
                              </p:par>
                              <p:par>
                                <p:cTn id="79" presetID="2" presetClass="entr" presetSubtype="4" fill="hold" grpId="0" nodeType="withEffect">
                                  <p:stCondLst>
                                    <p:cond delay="800"/>
                                  </p:stCondLst>
                                  <p:childTnLst>
                                    <p:set>
                                      <p:cBhvr>
                                        <p:cTn id="75" dur="1" fill="hold">
                                          <p:stCondLst>
                                            <p:cond delay="0"/>
                                          </p:stCondLst>
                                        </p:cTn>
                                        <p:tgtEl>
                                          <p:spTgt spid="23"/>
                                        </p:tgtEl>
                                        <p:attrNameLst>
                                          <p:attrName>style.visibility</p:attrName>
                                        </p:attrNameLst>
                                      </p:cBhvr>
                                      <p:to>
                                        <p:strVal val="visible"/>
                                      </p:to>
                                    </p:set>
                                    <p:anim calcmode="lin" valueType="num">
                                      <p:cBhvr additive="base">
                                        <p:cTn id="76" dur="500" fill="hold"/>
                                        <p:tgtEl>
                                          <p:spTgt spid="23"/>
                                        </p:tgtEl>
                                        <p:attrNameLst>
                                          <p:attrName>ppt_x</p:attrName>
                                        </p:attrNameLst>
                                      </p:cBhvr>
                                      <p:tavLst>
                                        <p:tav tm="0">
                                          <p:val>
                                            <p:strVal val="#ppt_x"/>
                                          </p:val>
                                        </p:tav>
                                        <p:tav tm="100000">
                                          <p:val>
                                            <p:strVal val="#ppt_x"/>
                                          </p:val>
                                        </p:tav>
                                      </p:tavLst>
                                    </p:anim>
                                    <p:anim calcmode="lin" valueType="num">
                                      <p:cBhvr additive="base">
                                        <p:cTn id="77" dur="500" fill="hold"/>
                                        <p:tgtEl>
                                          <p:spTgt spid="23"/>
                                        </p:tgtEl>
                                        <p:attrNameLst>
                                          <p:attrName>ppt_y</p:attrName>
                                        </p:attrNameLst>
                                      </p:cBhvr>
                                      <p:tavLst>
                                        <p:tav tm="0">
                                          <p:val>
                                            <p:strVal val="#ppt_y+0.1"/>
                                          </p:val>
                                        </p:tav>
                                        <p:tav tm="100000">
                                          <p:val>
                                            <p:strVal val="#ppt_y"/>
                                          </p:val>
                                        </p:tav>
                                      </p:tavLst>
                                    </p:anim>
                                    <p:animEffect transition="in" filter="fade">
                                      <p:cBhvr>
                                        <p:cTn id="78" dur="500"/>
                                        <p:tgtEl>
                                          <p:spTgt spid="23"/>
                                        </p:tgtEl>
                                      </p:cBhvr>
                                    </p:animEffect>
                                  </p:childTnLst>
                                </p:cTn>
                              </p:par>
                              <p:par>
                                <p:cTn id="84" presetID="2" presetClass="entr" presetSubtype="4" fill="hold" grpId="0" nodeType="withEffect">
                                  <p:stCondLst>
                                    <p:cond delay="800"/>
                                  </p:stCondLst>
                                  <p:childTnLst>
                                    <p:set>
                                      <p:cBhvr>
                                        <p:cTn id="80" dur="1" fill="hold">
                                          <p:stCondLst>
                                            <p:cond delay="0"/>
                                          </p:stCondLst>
                                        </p:cTn>
                                        <p:tgtEl>
                                          <p:spTgt spid="24"/>
                                        </p:tgtEl>
                                        <p:attrNameLst>
                                          <p:attrName>style.visibility</p:attrName>
                                        </p:attrNameLst>
                                      </p:cBhvr>
                                      <p:to>
                                        <p:strVal val="visible"/>
                                      </p:to>
                                    </p:set>
                                    <p:anim calcmode="lin" valueType="num">
                                      <p:cBhvr additive="base">
                                        <p:cTn id="81" dur="500" fill="hold"/>
                                        <p:tgtEl>
                                          <p:spTgt spid="24"/>
                                        </p:tgtEl>
                                        <p:attrNameLst>
                                          <p:attrName>ppt_x</p:attrName>
                                        </p:attrNameLst>
                                      </p:cBhvr>
                                      <p:tavLst>
                                        <p:tav tm="0">
                                          <p:val>
                                            <p:strVal val="#ppt_x"/>
                                          </p:val>
                                        </p:tav>
                                        <p:tav tm="100000">
                                          <p:val>
                                            <p:strVal val="#ppt_x"/>
                                          </p:val>
                                        </p:tav>
                                      </p:tavLst>
                                    </p:anim>
                                    <p:anim calcmode="lin" valueType="num">
                                      <p:cBhvr additive="base">
                                        <p:cTn id="82" dur="500" fill="hold"/>
                                        <p:tgtEl>
                                          <p:spTgt spid="24"/>
                                        </p:tgtEl>
                                        <p:attrNameLst>
                                          <p:attrName>ppt_y</p:attrName>
                                        </p:attrNameLst>
                                      </p:cBhvr>
                                      <p:tavLst>
                                        <p:tav tm="0">
                                          <p:val>
                                            <p:strVal val="#ppt_y+0.1"/>
                                          </p:val>
                                        </p:tav>
                                        <p:tav tm="100000">
                                          <p:val>
                                            <p:strVal val="#ppt_y"/>
                                          </p:val>
                                        </p:tav>
                                      </p:tavLst>
                                    </p:anim>
                                    <p:animEffect transition="in" filter="fade">
                                      <p:cBhvr>
                                        <p:cTn id="83" dur="500"/>
                                        <p:tgtEl>
                                          <p:spTgt spid="24"/>
                                        </p:tgtEl>
                                      </p:cBhvr>
                                    </p:animEffect>
                                  </p:childTnLst>
                                </p:cTn>
                              </p:par>
                            </p:childTnLst>
                          </p:cTn>
                        </p:par>
                      </p:childTnLst>
                    </p:cTn>
                  </p:par>
                  <p:par>
                    <p:cTn id="85" fill="hold">
                      <p:stCondLst>
                        <p:cond delay="indefinite"/>
                      </p:stCondLst>
                      <p:childTnLst>
                        <p:par>
                          <p:cTn id="86" fill="hold">
                            <p:stCondLst>
                              <p:cond delay="0"/>
                            </p:stCondLst>
                            <p:childTnLst>
                              <p:par>
                                <p:cTn id="91" presetID="2" presetClass="entr" presetSubtype="4" fill="hold" grpId="0" nodeType="clickEffect">
                                  <p:stCondLst>
                                    <p:cond delay="0"/>
                                  </p:stCondLst>
                                  <p:childTnLst>
                                    <p:set>
                                      <p:cBhvr>
                                        <p:cTn id="87" dur="1" fill="hold">
                                          <p:stCondLst>
                                            <p:cond delay="0"/>
                                          </p:stCondLst>
                                        </p:cTn>
                                        <p:tgtEl>
                                          <p:spTgt spid="25"/>
                                        </p:tgtEl>
                                        <p:attrNameLst>
                                          <p:attrName>style.visibility</p:attrName>
                                        </p:attrNameLst>
                                      </p:cBhvr>
                                      <p:to>
                                        <p:strVal val="visible"/>
                                      </p:to>
                                    </p:set>
                                    <p:anim calcmode="lin" valueType="num">
                                      <p:cBhvr additive="base">
                                        <p:cTn id="88" dur="500" fill="hold"/>
                                        <p:tgtEl>
                                          <p:spTgt spid="25"/>
                                        </p:tgtEl>
                                        <p:attrNameLst>
                                          <p:attrName>ppt_x</p:attrName>
                                        </p:attrNameLst>
                                      </p:cBhvr>
                                      <p:tavLst>
                                        <p:tav tm="0">
                                          <p:val>
                                            <p:strVal val="#ppt_x"/>
                                          </p:val>
                                        </p:tav>
                                        <p:tav tm="100000">
                                          <p:val>
                                            <p:strVal val="#ppt_x"/>
                                          </p:val>
                                        </p:tav>
                                      </p:tavLst>
                                    </p:anim>
                                    <p:anim calcmode="lin" valueType="num">
                                      <p:cBhvr additive="base">
                                        <p:cTn id="89" dur="500" fill="hold"/>
                                        <p:tgtEl>
                                          <p:spTgt spid="25"/>
                                        </p:tgtEl>
                                        <p:attrNameLst>
                                          <p:attrName>ppt_y</p:attrName>
                                        </p:attrNameLst>
                                      </p:cBhvr>
                                      <p:tavLst>
                                        <p:tav tm="0">
                                          <p:val>
                                            <p:strVal val="#ppt_y+0.1"/>
                                          </p:val>
                                        </p:tav>
                                        <p:tav tm="100000">
                                          <p:val>
                                            <p:strVal val="#ppt_y"/>
                                          </p:val>
                                        </p:tav>
                                      </p:tavLst>
                                    </p:anim>
                                    <p:animEffect transition="in" filter="fade">
                                      <p:cBhvr>
                                        <p:cTn id="90" dur="500"/>
                                        <p:tgtEl>
                                          <p:spTgt spid="25"/>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26"/>
                                        </p:tgtEl>
                                        <p:attrNameLst>
                                          <p:attrName>style.visibility</p:attrName>
                                        </p:attrNameLst>
                                      </p:cBhvr>
                                      <p:to>
                                        <p:strVal val="visible"/>
                                      </p:to>
                                    </p:set>
                                    <p:anim calcmode="lin" valueType="num">
                                      <p:cBhvr additive="base">
                                        <p:cTn id="93" dur="500" fill="hold"/>
                                        <p:tgtEl>
                                          <p:spTgt spid="26"/>
                                        </p:tgtEl>
                                        <p:attrNameLst>
                                          <p:attrName>ppt_x</p:attrName>
                                        </p:attrNameLst>
                                      </p:cBhvr>
                                      <p:tavLst>
                                        <p:tav tm="0">
                                          <p:val>
                                            <p:strVal val="#ppt_x"/>
                                          </p:val>
                                        </p:tav>
                                        <p:tav tm="100000">
                                          <p:val>
                                            <p:strVal val="#ppt_x"/>
                                          </p:val>
                                        </p:tav>
                                      </p:tavLst>
                                    </p:anim>
                                    <p:anim calcmode="lin" valueType="num">
                                      <p:cBhvr additive="base">
                                        <p:cTn id="94" dur="500" fill="hold"/>
                                        <p:tgtEl>
                                          <p:spTgt spid="26"/>
                                        </p:tgtEl>
                                        <p:attrNameLst>
                                          <p:attrName>ppt_y</p:attrName>
                                        </p:attrNameLst>
                                      </p:cBhvr>
                                      <p:tavLst>
                                        <p:tav tm="0">
                                          <p:val>
                                            <p:strVal val="#ppt_y+0.1"/>
                                          </p:val>
                                        </p:tav>
                                        <p:tav tm="100000">
                                          <p:val>
                                            <p:strVal val="#ppt_y"/>
                                          </p:val>
                                        </p:tav>
                                      </p:tavLst>
                                    </p:anim>
                                    <p:animEffect transition="in" filter="fade">
                                      <p:cBhvr>
                                        <p:cTn id="95" dur="500"/>
                                        <p:tgtEl>
                                          <p:spTgt spid="26"/>
                                        </p:tgtEl>
                                      </p:cBhvr>
                                    </p:animEffect>
                                  </p:childTnLst>
                                </p:cTn>
                              </p:par>
                            </p:childTnLst>
                          </p:cTn>
                        </p:par>
                      </p:childTnLst>
                    </p:cTn>
                  </p:par>
                  <p:par>
                    <p:cTn id="97" fill="hold">
                      <p:stCondLst>
                        <p:cond delay="indefinite"/>
                      </p:stCondLst>
                      <p:childTnLst>
                        <p:par>
                          <p:cTn id="98" fill="hold">
                            <p:stCondLst>
                              <p:cond delay="0"/>
                            </p:stCondLst>
                            <p:childTnLst>
                              <p:par>
                                <p:cTn id="103" presetID="2" presetClass="entr" presetSubtype="4" fill="hold" grpId="0" nodeType="clickEffect">
                                  <p:stCondLst>
                                    <p:cond delay="0"/>
                                  </p:stCondLst>
                                  <p:childTnLst>
                                    <p:set>
                                      <p:cBhvr>
                                        <p:cTn id="99" dur="1" fill="hold">
                                          <p:stCondLst>
                                            <p:cond delay="0"/>
                                          </p:stCondLst>
                                        </p:cTn>
                                        <p:tgtEl>
                                          <p:spTgt spid="27"/>
                                        </p:tgtEl>
                                        <p:attrNameLst>
                                          <p:attrName>style.visibility</p:attrName>
                                        </p:attrNameLst>
                                      </p:cBhvr>
                                      <p:to>
                                        <p:strVal val="visible"/>
                                      </p:to>
                                    </p:set>
                                    <p:anim calcmode="lin" valueType="num">
                                      <p:cBhvr additive="base">
                                        <p:cTn id="100" dur="500" fill="hold"/>
                                        <p:tgtEl>
                                          <p:spTgt spid="27"/>
                                        </p:tgtEl>
                                        <p:attrNameLst>
                                          <p:attrName>ppt_x</p:attrName>
                                        </p:attrNameLst>
                                      </p:cBhvr>
                                      <p:tavLst>
                                        <p:tav tm="0">
                                          <p:val>
                                            <p:strVal val="#ppt_x"/>
                                          </p:val>
                                        </p:tav>
                                        <p:tav tm="100000">
                                          <p:val>
                                            <p:strVal val="#ppt_x"/>
                                          </p:val>
                                        </p:tav>
                                      </p:tavLst>
                                    </p:anim>
                                    <p:anim calcmode="lin" valueType="num">
                                      <p:cBhvr additive="base">
                                        <p:cTn id="101" dur="500" fill="hold"/>
                                        <p:tgtEl>
                                          <p:spTgt spid="27"/>
                                        </p:tgtEl>
                                        <p:attrNameLst>
                                          <p:attrName>ppt_y</p:attrName>
                                        </p:attrNameLst>
                                      </p:cBhvr>
                                      <p:tavLst>
                                        <p:tav tm="0">
                                          <p:val>
                                            <p:strVal val="#ppt_y+0.1"/>
                                          </p:val>
                                        </p:tav>
                                        <p:tav tm="100000">
                                          <p:val>
                                            <p:strVal val="#ppt_y"/>
                                          </p:val>
                                        </p:tav>
                                      </p:tavLst>
                                    </p:anim>
                                    <p:animEffect transition="in" filter="fade">
                                      <p:cBhvr>
                                        <p:cTn id="102" dur="500"/>
                                        <p:tgtEl>
                                          <p:spTgt spid="27"/>
                                        </p:tgtEl>
                                      </p:cBhvr>
                                    </p:animEffect>
                                  </p:childTnLst>
                                </p:cTn>
                              </p:par>
                              <p:par>
                                <p:cTn id="108" presetID="2" presetClass="entr" presetSubtype="4" fill="hold" grpId="0" nodeType="withEffect">
                                  <p:stCondLst>
                                    <p:cond delay="0"/>
                                  </p:stCondLst>
                                  <p:childTnLst>
                                    <p:set>
                                      <p:cBhvr>
                                        <p:cTn id="104" dur="1" fill="hold">
                                          <p:stCondLst>
                                            <p:cond delay="0"/>
                                          </p:stCondLst>
                                        </p:cTn>
                                        <p:tgtEl>
                                          <p:spTgt spid="28"/>
                                        </p:tgtEl>
                                        <p:attrNameLst>
                                          <p:attrName>style.visibility</p:attrName>
                                        </p:attrNameLst>
                                      </p:cBhvr>
                                      <p:to>
                                        <p:strVal val="visible"/>
                                      </p:to>
                                    </p:set>
                                    <p:anim calcmode="lin" valueType="num">
                                      <p:cBhvr additive="base">
                                        <p:cTn id="105" dur="500" fill="hold"/>
                                        <p:tgtEl>
                                          <p:spTgt spid="28"/>
                                        </p:tgtEl>
                                        <p:attrNameLst>
                                          <p:attrName>ppt_x</p:attrName>
                                        </p:attrNameLst>
                                      </p:cBhvr>
                                      <p:tavLst>
                                        <p:tav tm="0">
                                          <p:val>
                                            <p:strVal val="#ppt_x"/>
                                          </p:val>
                                        </p:tav>
                                        <p:tav tm="100000">
                                          <p:val>
                                            <p:strVal val="#ppt_x"/>
                                          </p:val>
                                        </p:tav>
                                      </p:tavLst>
                                    </p:anim>
                                    <p:anim calcmode="lin" valueType="num">
                                      <p:cBhvr additive="base">
                                        <p:cTn id="106" dur="500" fill="hold"/>
                                        <p:tgtEl>
                                          <p:spTgt spid="28"/>
                                        </p:tgtEl>
                                        <p:attrNameLst>
                                          <p:attrName>ppt_y</p:attrName>
                                        </p:attrNameLst>
                                      </p:cBhvr>
                                      <p:tavLst>
                                        <p:tav tm="0">
                                          <p:val>
                                            <p:strVal val="#ppt_y+0.1"/>
                                          </p:val>
                                        </p:tav>
                                        <p:tav tm="100000">
                                          <p:val>
                                            <p:strVal val="#ppt_y"/>
                                          </p:val>
                                        </p:tav>
                                      </p:tavLst>
                                    </p:anim>
                                    <p:animEffect transition="in" filter="fade">
                                      <p:cBhvr>
                                        <p:cTn id="10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